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72" r:id="rId1"/>
  </p:sldMasterIdLst>
  <p:notesMasterIdLst>
    <p:notesMasterId r:id="rId42"/>
  </p:notesMasterIdLst>
  <p:sldIdLst>
    <p:sldId id="403" r:id="rId2"/>
    <p:sldId id="579" r:id="rId3"/>
    <p:sldId id="542" r:id="rId4"/>
    <p:sldId id="353" r:id="rId5"/>
    <p:sldId id="354" r:id="rId6"/>
    <p:sldId id="602" r:id="rId7"/>
    <p:sldId id="603" r:id="rId8"/>
    <p:sldId id="360" r:id="rId9"/>
    <p:sldId id="604" r:id="rId10"/>
    <p:sldId id="605" r:id="rId11"/>
    <p:sldId id="366" r:id="rId12"/>
    <p:sldId id="608" r:id="rId13"/>
    <p:sldId id="609" r:id="rId14"/>
    <p:sldId id="612" r:id="rId15"/>
    <p:sldId id="610" r:id="rId16"/>
    <p:sldId id="356" r:id="rId17"/>
    <p:sldId id="613" r:id="rId18"/>
    <p:sldId id="368" r:id="rId19"/>
    <p:sldId id="369" r:id="rId20"/>
    <p:sldId id="370" r:id="rId21"/>
    <p:sldId id="372" r:id="rId22"/>
    <p:sldId id="373" r:id="rId23"/>
    <p:sldId id="374" r:id="rId24"/>
    <p:sldId id="377" r:id="rId25"/>
    <p:sldId id="378" r:id="rId26"/>
    <p:sldId id="614" r:id="rId27"/>
    <p:sldId id="376" r:id="rId28"/>
    <p:sldId id="380" r:id="rId29"/>
    <p:sldId id="568" r:id="rId30"/>
    <p:sldId id="381" r:id="rId31"/>
    <p:sldId id="382" r:id="rId32"/>
    <p:sldId id="383" r:id="rId33"/>
    <p:sldId id="384" r:id="rId34"/>
    <p:sldId id="392" r:id="rId35"/>
    <p:sldId id="395" r:id="rId36"/>
    <p:sldId id="397" r:id="rId37"/>
    <p:sldId id="398" r:id="rId38"/>
    <p:sldId id="389" r:id="rId39"/>
    <p:sldId id="399" r:id="rId40"/>
    <p:sldId id="401" r:id="rId41"/>
  </p:sldIdLst>
  <p:sldSz cx="12192000" cy="6858000"/>
  <p:notesSz cx="6858000" cy="9144000"/>
  <p:photoAlbum/>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win" initials="m" lastIdx="0" clrIdx="0">
    <p:extLst>
      <p:ext uri="{19B8F6BF-5375-455C-9EA6-DF929625EA0E}">
        <p15:presenceInfo xmlns:p15="http://schemas.microsoft.com/office/powerpoint/2012/main" userId="michaelw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CC"/>
    <a:srgbClr val="008000"/>
    <a:srgbClr val="990033"/>
    <a:srgbClr val="000078"/>
    <a:srgbClr val="000099"/>
    <a:srgbClr val="FF9900"/>
    <a:srgbClr val="006699"/>
    <a:srgbClr val="0066CC"/>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1243" autoAdjust="0"/>
  </p:normalViewPr>
  <p:slideViewPr>
    <p:cSldViewPr>
      <p:cViewPr varScale="1">
        <p:scale>
          <a:sx n="114" d="100"/>
          <a:sy n="114" d="100"/>
        </p:scale>
        <p:origin x="300" y="84"/>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2-10-06T03:09:15.215"/>
    </inkml:context>
    <inkml:brush xml:id="br0">
      <inkml:brushProperty name="width" value="0.05292" units="cm"/>
      <inkml:brushProperty name="height" value="0.05292" units="cm"/>
      <inkml:brushProperty name="color" value="#FF0000"/>
    </inkml:brush>
  </inkml:definitions>
  <inkml:trace contextRef="#ctx0" brushRef="#br0">14658 11924 0,'18'18'16,"-1"-18"-1,1-18 17,-1 0-17,19-52 1,-36 34-16,70-34 16,-34-1-1,-1 18 1,0 18-1,-17 17 1,35-17 0,0 18-1,0-19 1,17 19 0,-17-1 15,-18 0-16,36 18 1,35-35 0,-18 17-1,53 1 1,-18-18 0,36 35-1,-18-18 1,-53 18-1,-35-18 1,18 1 0,-18 17-1,17-18 1,19 0 0,16 1 15,-52-1-16,0-17 1,0 17 0,-18-17-1,1 17 1,17 18 0,-18-17-1,18-1 1,17 0-1,1 1 1,0-1 0,34 0-1,-34 1 1,-36 17-16,-17 0 16,17 0-1,18 0-15,-18 0 31,1-18-15,-1 18 0,18 0-1,0 0-15,-18 0 16,106 0 0,-17 0-1,17 0 1,0 0-1,-53 35 1,0-17 0,-35-18-16,35 18 15,-35-18 1,0 17 0,0 19-1,35-19 1,18 18 15,106 36-15,-71-36-1,-53 1 1,18-1 0,-53-17-1,-18-1-15,53 18 16,-35 1-1,18-19 1,-18 19 0,17-1-1,1 18 1,17 35 0,0 0-1,-35 0 16,18-17-15,17 17 0,-35-35-1,-18-18 1,0 36 0,1-36-1,-1 0 1,-35-17-1,17 35 1,-17-18 0,0 36-1,18-18 1,-18 35 0,0-53-1,0 1 16,0-1-31,0 35 32,-18-52-32,1 17 15,-18 36 1,-1-36 0,-17-17-1,0 35 1,-52 17-1,16-17 1,-16 0 0,16-18-1,36-17-15,-35 17 16,18-35 0,-18 18-1,-36-18 1,18 0 15,18 0-15,0 0-1,70 0-15,-35 0 16,0 0 0,18-18-1,-18 1 1,18 17-1,-18-18 1,35 18 0,-17-18-1,-35-17 1,17 35 0,0-18 15,17-17-16,19 35 17,-1 0-17,18-18 1,-35-17 0,17 35-1,-17-17 1,35-1-1,-35 0 1,17 18 0,-17-17-1,-1-1 1,-16 0 0,16 18 15,-70-17-16,89 17-15,-1 0 16,-17-18-16,17 18 16,-17-18-1,-18 1 1,35 17 0,-35 0-1,1 0 1,-1 0-1,17 0 1,-17 0 0,1 0-1,-19 0 1,-17 0 0,0 0-1,-18 0 1,70 0-1,-69 0-15,34 0 32,1 0-17,-1 0 1,-17 17 0,35 19-1,-18-19 1,18 1-1,-17 0 1,-18-1 0,70 1-16,-17 0 15,-1-1-15,19-17 16,-71 35 0,35-17-1,35 0 1,-17-1 15,17-17-15,-17 36-1,-18-36 1,-18 35 0,18-17-1,-17 17 1,17-35-1,0 18 1,35-18-16,1 17 16,-36-17-1,-18 0 1,-34 18 0,-37-18-1,19 0 1,-1 0 15,-17 0-15,106 0-1,0 0-15,0 0 16,17 0 0,0 0-1,1-18 1,-1 1-1,-17-19 1,35 19 0,-36-1-1,19 0 1,-1 1 0,0-19 15,18 19-16,-17-1-15,17 0 16,0 1 0,-18-18-16,18 17 15,-17 0 1,17 1-16,0-1 16,0-17-1,0-1 1,0 1-1,0 0 1,0 0 0,0-18-1,0 0 1,0 0 0,0 18-1,0-1 1,0 1-1,0-36 1,0 19 15,0-19-15,0 18 0,0 0-1,0 0 1,0 18-1,0 0 1,0-1 0,0 1-1,0 18-15,0-1 16,0-35 0,0 18-1,0 17 16,0 0-15,0 1 15,0-1-15,0 0 0,0 1 124,0-1-140,0 1 16,0-1-1</inkml:trace>
  <inkml:trace contextRef="#ctx0" brushRef="#br0" timeOffset="1">20391 13247 0,'0'17'62,"-36"19"-46,19 34-16,-19 1 15,1-1-15,-53 107 16,35-36 0,35-18-1,-17-70 1,0-17-1,35-1 17,0-18-17</inkml:trace>
  <inkml:trace contextRef="#ctx0" brushRef="#br0" timeOffset="2">20391 13388 0,'35'0'110,"-18"0"-110,19 0 15,52 35 1,35 53 0,-17-17-1,53 17 1,-18-17 0,-53-36-1</inkml:trace>
  <inkml:trace contextRef="#ctx0" brushRef="#br0" timeOffset="3">20267 13776 0,'18'0'78,"17"0"-78,-17 0 15,17 0-15,18 0 32,-36 0-32,1 0 0,0 0 140,35 0-108,-36 0-32,1-18 156,0 18-156,34 0 15,-16 0 1,17 0 0</inkml:trace>
  <inkml:trace contextRef="#ctx0" brushRef="#br0" timeOffset="4">20302 14058 0,'0'0'0,"0"18"0,0 35 31,0-36-31,-17 36 15,17 35 1,0 1 0,0-1-1,0 0 1</inkml:trace>
  <inkml:trace contextRef="#ctx0" brushRef="#br0" timeOffset="5">20320 14058 0,'0'0'16,"0"-17"-1,0-1 48,35 18-32,1 0-15,16 0-16,107 0 15,-35 0 1,-71 0 0,0 0-16,-36 0 156,-17 18-140,0-1-1,-70 89 16,34-88-31,-17 52 16,0-17 0,36-35-1,-1-1 48,-35 36-32,18-35-15,-18 0-1,35-1 1,1-17 0,-1 0 30,18 18-46,-17-18 16,-1 0 15,0 0-15,1 0 15,34 0 172,36 0-187,-35 0 0</inkml:trace>
  <inkml:trace contextRef="#ctx0" brushRef="#br0" timeOffset="6">21184 13212 0,'0'-18'47,"18"18"-16,0 0-15,-1 35-1,1-17-15,-1-18 16,-17 17 0,18 1 46</inkml:trace>
  <inkml:trace contextRef="#ctx0" brushRef="#br0" timeOffset="7">21819 13176 0,'-17'0'109,"-19"18"-109,1 17 16,-88 18-1,52 0 1,1-35 0,52-18-1,0 17 1,1 1 0,-19 0 15,19-18-31,17 17 0,-36 1 15,19-18 1,-1 17 0,0-17-16,1 18 15,-1 0 1,1-18 0,52 0 202,0 0-218,18 0 16,0 0-16,70 0 31,1 0-15,-36 0-1,-17 0 1,-36 0 0</inkml:trace>
  <inkml:trace contextRef="#ctx0" brushRef="#br0" timeOffset="8">20920 13988 0,'-18'17'15,"36"-17"32,-1 0-47,1 0 16,53 0 0,52 0-1,0 0 1,36 0-1,106 0 1,-195 0 0,1 0-1,-36 0-15,-17 0 16,-1 0 156,89 0-157,-70 0 1,52 0 0,-71 0-1</inkml:trace>
  <inkml:trace contextRef="#ctx0" brushRef="#br0" timeOffset="9">21396 13635 0,'-18'35'109,"-17"142"-77,35-107-32,-18-17 15,1 18 1,17-19-16,-36 90 16,19-19-1,17-35 1,0-52-1</inkml:trace>
  <inkml:trace contextRef="#ctx0" brushRef="#br0" timeOffset="10">21713 13600 0,'0'35'141,"0"18"-126,0 70 1,0 18 0,0-35-1,-17 0 1,-1-18-1,-17 18 1,17-18 0,1-35-16,17-35 15,-18 17-15,18 0 16,0 1 0,0-19-1,-18 19 16,18-19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C1CFD0-2C92-4D21-A7EF-6209A8D582FF}" type="datetimeFigureOut">
              <a:rPr lang="en-US" smtClean="0"/>
              <a:t>12/13/2023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0660C4-AC12-4019-82B9-40EB2BC385B8}" type="slidenum">
              <a:rPr lang="en-US" smtClean="0"/>
              <a:t>‹#›</a:t>
            </a:fld>
            <a:endParaRPr lang="en-US"/>
          </a:p>
        </p:txBody>
      </p:sp>
    </p:spTree>
    <p:extLst>
      <p:ext uri="{BB962C8B-B14F-4D97-AF65-F5344CB8AC3E}">
        <p14:creationId xmlns:p14="http://schemas.microsoft.com/office/powerpoint/2010/main" val="195958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FF5F13-DCE7-4DF9-9006-591BFA8490A5}" type="slidenum">
              <a:rPr lang="en-US" altLang="zh-CN"/>
              <a:pPr/>
              <a:t>2</a:t>
            </a:fld>
            <a:endParaRPr lang="en-US" altLang="zh-CN"/>
          </a:p>
        </p:txBody>
      </p:sp>
      <p:sp>
        <p:nvSpPr>
          <p:cNvPr id="454658" name="Rectangle 2"/>
          <p:cNvSpPr>
            <a:spLocks noGrp="1" noRot="1" noChangeAspect="1" noChangeArrowheads="1" noTextEdit="1"/>
          </p:cNvSpPr>
          <p:nvPr>
            <p:ph type="sldImg"/>
          </p:nvPr>
        </p:nvSpPr>
        <p:spPr>
          <a:ln/>
        </p:spPr>
      </p:sp>
      <p:sp>
        <p:nvSpPr>
          <p:cNvPr id="454659" name="Rectangle 3"/>
          <p:cNvSpPr>
            <a:spLocks noGrp="1" noChangeArrowheads="1"/>
          </p:cNvSpPr>
          <p:nvPr>
            <p:ph type="body" idx="1"/>
          </p:nvPr>
        </p:nvSpPr>
        <p:spPr/>
        <p:txBody>
          <a:bodyPr/>
          <a:lstStyle/>
          <a:p>
            <a:r>
              <a:rPr lang="zh-CN" altLang="en-US"/>
              <a:t>我们先介绍查询处理步骤，然后介绍查询优化技术，查询优化分为代数优化和物理优化；</a:t>
            </a:r>
          </a:p>
          <a:p>
            <a:r>
              <a:rPr lang="zh-CN" altLang="en-US"/>
              <a:t>目的是让大家初步了解</a:t>
            </a:r>
            <a:r>
              <a:rPr lang="en-US" altLang="zh-CN"/>
              <a:t>RDBMS</a:t>
            </a:r>
            <a:r>
              <a:rPr lang="zh-CN" altLang="en-US"/>
              <a:t>查询处理的基本步骤，查询优化的概念，基本方法和技术，为数据库应用开发中利用查询优化技术来提高查询效率和系统性能打基础</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F0660C4-AC12-4019-82B9-40EB2BC385B8}" type="slidenum">
              <a:rPr lang="en-US" smtClean="0"/>
              <a:t>22</a:t>
            </a:fld>
            <a:endParaRPr lang="en-US"/>
          </a:p>
        </p:txBody>
      </p:sp>
    </p:spTree>
    <p:extLst>
      <p:ext uri="{BB962C8B-B14F-4D97-AF65-F5344CB8AC3E}">
        <p14:creationId xmlns:p14="http://schemas.microsoft.com/office/powerpoint/2010/main" val="3714408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99508" y="437764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CA9B98F-A32D-449F-A16D-8074457670E9}"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30F3CF-6A31-4749-83AB-AF293E4C68B0}" type="slidenum">
              <a:rPr lang="en-US" smtClean="0"/>
              <a:pPr/>
              <a:t>‹#›</a:t>
            </a:fld>
            <a:endParaRPr lang="en-US" dirty="0"/>
          </a:p>
        </p:txBody>
      </p:sp>
      <p:sp>
        <p:nvSpPr>
          <p:cNvPr id="7" name="矩形 6">
            <a:extLst>
              <a:ext uri="{FF2B5EF4-FFF2-40B4-BE49-F238E27FC236}">
                <a16:creationId xmlns:a16="http://schemas.microsoft.com/office/drawing/2014/main" id="{2B68CA98-A398-4530-9020-4D4DB6439D6A}"/>
              </a:ext>
            </a:extLst>
          </p:cNvPr>
          <p:cNvSpPr/>
          <p:nvPr/>
        </p:nvSpPr>
        <p:spPr>
          <a:xfrm>
            <a:off x="0" y="1724896"/>
            <a:ext cx="12192000" cy="2138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a:extLst>
              <a:ext uri="{FF2B5EF4-FFF2-40B4-BE49-F238E27FC236}">
                <a16:creationId xmlns:a16="http://schemas.microsoft.com/office/drawing/2014/main" id="{9AFCF4C2-E096-4262-8ECB-78D0989EDE7A}"/>
              </a:ext>
            </a:extLst>
          </p:cNvPr>
          <p:cNvGrpSpPr/>
          <p:nvPr/>
        </p:nvGrpSpPr>
        <p:grpSpPr>
          <a:xfrm>
            <a:off x="4688155" y="5875923"/>
            <a:ext cx="342764" cy="342764"/>
            <a:chOff x="4688155" y="5875923"/>
            <a:chExt cx="342764" cy="342764"/>
          </a:xfrm>
        </p:grpSpPr>
        <p:sp>
          <p:nvSpPr>
            <p:cNvPr id="9" name="椭圆 8">
              <a:extLst>
                <a:ext uri="{FF2B5EF4-FFF2-40B4-BE49-F238E27FC236}">
                  <a16:creationId xmlns:a16="http://schemas.microsoft.com/office/drawing/2014/main" id="{CF0BDC3B-A6A3-45D0-B9DB-DF2D639EE734}"/>
                </a:ext>
              </a:extLst>
            </p:cNvPr>
            <p:cNvSpPr/>
            <p:nvPr/>
          </p:nvSpPr>
          <p:spPr>
            <a:xfrm>
              <a:off x="4688155"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C57D6A93-2E21-4CEE-8B0C-82D273459889}"/>
                </a:ext>
              </a:extLst>
            </p:cNvPr>
            <p:cNvGrpSpPr/>
            <p:nvPr/>
          </p:nvGrpSpPr>
          <p:grpSpPr>
            <a:xfrm>
              <a:off x="4763028" y="5947390"/>
              <a:ext cx="193018" cy="199830"/>
              <a:chOff x="5753100" y="3041650"/>
              <a:chExt cx="682626" cy="771526"/>
            </a:xfrm>
            <a:solidFill>
              <a:schemeClr val="accent1"/>
            </a:solidFill>
          </p:grpSpPr>
          <p:sp>
            <p:nvSpPr>
              <p:cNvPr id="11" name="Oval 202">
                <a:extLst>
                  <a:ext uri="{FF2B5EF4-FFF2-40B4-BE49-F238E27FC236}">
                    <a16:creationId xmlns:a16="http://schemas.microsoft.com/office/drawing/2014/main" id="{2F0A091A-AD4E-45CF-AFEB-14261F9539CF}"/>
                  </a:ext>
                </a:extLst>
              </p:cNvPr>
              <p:cNvSpPr>
                <a:spLocks noChangeArrowheads="1"/>
              </p:cNvSpPr>
              <p:nvPr/>
            </p:nvSpPr>
            <p:spPr bwMode="auto">
              <a:xfrm>
                <a:off x="5908675" y="3041650"/>
                <a:ext cx="119063" cy="1476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203">
                <a:extLst>
                  <a:ext uri="{FF2B5EF4-FFF2-40B4-BE49-F238E27FC236}">
                    <a16:creationId xmlns:a16="http://schemas.microsoft.com/office/drawing/2014/main" id="{D6D7EDDD-D438-4D26-8D11-489580AAB1B0}"/>
                  </a:ext>
                </a:extLst>
              </p:cNvPr>
              <p:cNvSpPr/>
              <p:nvPr/>
            </p:nvSpPr>
            <p:spPr bwMode="auto">
              <a:xfrm>
                <a:off x="6103938" y="3413125"/>
                <a:ext cx="46038" cy="84138"/>
              </a:xfrm>
              <a:custGeom>
                <a:avLst/>
                <a:gdLst>
                  <a:gd name="T0" fmla="*/ 2 w 12"/>
                  <a:gd name="T1" fmla="*/ 22 h 22"/>
                  <a:gd name="T2" fmla="*/ 10 w 12"/>
                  <a:gd name="T3" fmla="*/ 22 h 22"/>
                  <a:gd name="T4" fmla="*/ 12 w 12"/>
                  <a:gd name="T5" fmla="*/ 20 h 22"/>
                  <a:gd name="T6" fmla="*/ 12 w 12"/>
                  <a:gd name="T7" fmla="*/ 2 h 22"/>
                  <a:gd name="T8" fmla="*/ 10 w 12"/>
                  <a:gd name="T9" fmla="*/ 0 h 22"/>
                  <a:gd name="T10" fmla="*/ 2 w 12"/>
                  <a:gd name="T11" fmla="*/ 0 h 22"/>
                  <a:gd name="T12" fmla="*/ 0 w 12"/>
                  <a:gd name="T13" fmla="*/ 2 h 22"/>
                  <a:gd name="T14" fmla="*/ 0 w 12"/>
                  <a:gd name="T15" fmla="*/ 20 h 22"/>
                  <a:gd name="T16" fmla="*/ 2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2" y="22"/>
                    </a:moveTo>
                    <a:cubicBezTo>
                      <a:pt x="10" y="22"/>
                      <a:pt x="10" y="22"/>
                      <a:pt x="10" y="22"/>
                    </a:cubicBezTo>
                    <a:cubicBezTo>
                      <a:pt x="11" y="22"/>
                      <a:pt x="12" y="21"/>
                      <a:pt x="12" y="20"/>
                    </a:cubicBezTo>
                    <a:cubicBezTo>
                      <a:pt x="12" y="2"/>
                      <a:pt x="12" y="2"/>
                      <a:pt x="12" y="2"/>
                    </a:cubicBezTo>
                    <a:cubicBezTo>
                      <a:pt x="12" y="1"/>
                      <a:pt x="11" y="0"/>
                      <a:pt x="10" y="0"/>
                    </a:cubicBezTo>
                    <a:cubicBezTo>
                      <a:pt x="2" y="0"/>
                      <a:pt x="2" y="0"/>
                      <a:pt x="2" y="0"/>
                    </a:cubicBezTo>
                    <a:cubicBezTo>
                      <a:pt x="1" y="0"/>
                      <a:pt x="0" y="1"/>
                      <a:pt x="0" y="2"/>
                    </a:cubicBezTo>
                    <a:cubicBezTo>
                      <a:pt x="0" y="20"/>
                      <a:pt x="0" y="20"/>
                      <a:pt x="0" y="20"/>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204">
                <a:extLst>
                  <a:ext uri="{FF2B5EF4-FFF2-40B4-BE49-F238E27FC236}">
                    <a16:creationId xmlns:a16="http://schemas.microsoft.com/office/drawing/2014/main" id="{63ABB64B-5B7B-41F3-908D-85AF1C674D97}"/>
                  </a:ext>
                </a:extLst>
              </p:cNvPr>
              <p:cNvSpPr/>
              <p:nvPr/>
            </p:nvSpPr>
            <p:spPr bwMode="auto">
              <a:xfrm>
                <a:off x="6313488" y="3413125"/>
                <a:ext cx="46038" cy="84138"/>
              </a:xfrm>
              <a:custGeom>
                <a:avLst/>
                <a:gdLst>
                  <a:gd name="T0" fmla="*/ 3 w 12"/>
                  <a:gd name="T1" fmla="*/ 22 h 22"/>
                  <a:gd name="T2" fmla="*/ 10 w 12"/>
                  <a:gd name="T3" fmla="*/ 22 h 22"/>
                  <a:gd name="T4" fmla="*/ 12 w 12"/>
                  <a:gd name="T5" fmla="*/ 20 h 22"/>
                  <a:gd name="T6" fmla="*/ 12 w 12"/>
                  <a:gd name="T7" fmla="*/ 2 h 22"/>
                  <a:gd name="T8" fmla="*/ 10 w 12"/>
                  <a:gd name="T9" fmla="*/ 0 h 22"/>
                  <a:gd name="T10" fmla="*/ 3 w 12"/>
                  <a:gd name="T11" fmla="*/ 0 h 22"/>
                  <a:gd name="T12" fmla="*/ 0 w 12"/>
                  <a:gd name="T13" fmla="*/ 2 h 22"/>
                  <a:gd name="T14" fmla="*/ 0 w 12"/>
                  <a:gd name="T15" fmla="*/ 20 h 22"/>
                  <a:gd name="T16" fmla="*/ 3 w 12"/>
                  <a:gd name="T17"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22">
                    <a:moveTo>
                      <a:pt x="3" y="22"/>
                    </a:moveTo>
                    <a:cubicBezTo>
                      <a:pt x="10" y="22"/>
                      <a:pt x="10" y="22"/>
                      <a:pt x="10" y="22"/>
                    </a:cubicBezTo>
                    <a:cubicBezTo>
                      <a:pt x="12" y="22"/>
                      <a:pt x="12" y="21"/>
                      <a:pt x="12" y="20"/>
                    </a:cubicBezTo>
                    <a:cubicBezTo>
                      <a:pt x="12" y="2"/>
                      <a:pt x="12" y="2"/>
                      <a:pt x="12" y="2"/>
                    </a:cubicBezTo>
                    <a:cubicBezTo>
                      <a:pt x="12" y="1"/>
                      <a:pt x="12" y="0"/>
                      <a:pt x="10" y="0"/>
                    </a:cubicBezTo>
                    <a:cubicBezTo>
                      <a:pt x="3" y="0"/>
                      <a:pt x="3" y="0"/>
                      <a:pt x="3" y="0"/>
                    </a:cubicBezTo>
                    <a:cubicBezTo>
                      <a:pt x="1" y="0"/>
                      <a:pt x="0" y="1"/>
                      <a:pt x="0" y="2"/>
                    </a:cubicBezTo>
                    <a:cubicBezTo>
                      <a:pt x="0" y="20"/>
                      <a:pt x="0" y="20"/>
                      <a:pt x="0" y="20"/>
                    </a:cubicBezTo>
                    <a:cubicBezTo>
                      <a:pt x="0" y="21"/>
                      <a:pt x="1" y="22"/>
                      <a:pt x="3"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205">
                <a:extLst>
                  <a:ext uri="{FF2B5EF4-FFF2-40B4-BE49-F238E27FC236}">
                    <a16:creationId xmlns:a16="http://schemas.microsoft.com/office/drawing/2014/main" id="{0DC5A647-E6DF-4675-9E56-B3AFBA405D95}"/>
                  </a:ext>
                </a:extLst>
              </p:cNvPr>
              <p:cNvSpPr>
                <a:spLocks noEditPoints="1"/>
              </p:cNvSpPr>
              <p:nvPr/>
            </p:nvSpPr>
            <p:spPr bwMode="auto">
              <a:xfrm>
                <a:off x="6030913" y="3444875"/>
                <a:ext cx="404813" cy="360363"/>
              </a:xfrm>
              <a:custGeom>
                <a:avLst/>
                <a:gdLst>
                  <a:gd name="T0" fmla="*/ 94 w 106"/>
                  <a:gd name="T1" fmla="*/ 0 h 95"/>
                  <a:gd name="T2" fmla="*/ 91 w 106"/>
                  <a:gd name="T3" fmla="*/ 0 h 95"/>
                  <a:gd name="T4" fmla="*/ 91 w 106"/>
                  <a:gd name="T5" fmla="*/ 12 h 95"/>
                  <a:gd name="T6" fmla="*/ 84 w 106"/>
                  <a:gd name="T7" fmla="*/ 18 h 95"/>
                  <a:gd name="T8" fmla="*/ 77 w 106"/>
                  <a:gd name="T9" fmla="*/ 18 h 95"/>
                  <a:gd name="T10" fmla="*/ 70 w 106"/>
                  <a:gd name="T11" fmla="*/ 12 h 95"/>
                  <a:gd name="T12" fmla="*/ 70 w 106"/>
                  <a:gd name="T13" fmla="*/ 0 h 95"/>
                  <a:gd name="T14" fmla="*/ 36 w 106"/>
                  <a:gd name="T15" fmla="*/ 0 h 95"/>
                  <a:gd name="T16" fmla="*/ 36 w 106"/>
                  <a:gd name="T17" fmla="*/ 12 h 95"/>
                  <a:gd name="T18" fmla="*/ 29 w 106"/>
                  <a:gd name="T19" fmla="*/ 18 h 95"/>
                  <a:gd name="T20" fmla="*/ 21 w 106"/>
                  <a:gd name="T21" fmla="*/ 18 h 95"/>
                  <a:gd name="T22" fmla="*/ 15 w 106"/>
                  <a:gd name="T23" fmla="*/ 12 h 95"/>
                  <a:gd name="T24" fmla="*/ 15 w 106"/>
                  <a:gd name="T25" fmla="*/ 0 h 95"/>
                  <a:gd name="T26" fmla="*/ 12 w 106"/>
                  <a:gd name="T27" fmla="*/ 0 h 95"/>
                  <a:gd name="T28" fmla="*/ 0 w 106"/>
                  <a:gd name="T29" fmla="*/ 13 h 95"/>
                  <a:gd name="T30" fmla="*/ 0 w 106"/>
                  <a:gd name="T31" fmla="*/ 36 h 95"/>
                  <a:gd name="T32" fmla="*/ 0 w 106"/>
                  <a:gd name="T33" fmla="*/ 83 h 95"/>
                  <a:gd name="T34" fmla="*/ 12 w 106"/>
                  <a:gd name="T35" fmla="*/ 95 h 95"/>
                  <a:gd name="T36" fmla="*/ 94 w 106"/>
                  <a:gd name="T37" fmla="*/ 95 h 95"/>
                  <a:gd name="T38" fmla="*/ 106 w 106"/>
                  <a:gd name="T39" fmla="*/ 83 h 95"/>
                  <a:gd name="T40" fmla="*/ 106 w 106"/>
                  <a:gd name="T41" fmla="*/ 36 h 95"/>
                  <a:gd name="T42" fmla="*/ 106 w 106"/>
                  <a:gd name="T43" fmla="*/ 13 h 95"/>
                  <a:gd name="T44" fmla="*/ 94 w 106"/>
                  <a:gd name="T45" fmla="*/ 0 h 95"/>
                  <a:gd name="T46" fmla="*/ 98 w 106"/>
                  <a:gd name="T47" fmla="*/ 83 h 95"/>
                  <a:gd name="T48" fmla="*/ 94 w 106"/>
                  <a:gd name="T49" fmla="*/ 88 h 95"/>
                  <a:gd name="T50" fmla="*/ 12 w 106"/>
                  <a:gd name="T51" fmla="*/ 88 h 95"/>
                  <a:gd name="T52" fmla="*/ 8 w 106"/>
                  <a:gd name="T53" fmla="*/ 83 h 95"/>
                  <a:gd name="T54" fmla="*/ 8 w 106"/>
                  <a:gd name="T55" fmla="*/ 36 h 95"/>
                  <a:gd name="T56" fmla="*/ 98 w 106"/>
                  <a:gd name="T57" fmla="*/ 36 h 95"/>
                  <a:gd name="T58" fmla="*/ 98 w 106"/>
                  <a:gd name="T59" fmla="*/ 83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6" h="95">
                    <a:moveTo>
                      <a:pt x="94" y="0"/>
                    </a:moveTo>
                    <a:cubicBezTo>
                      <a:pt x="91" y="0"/>
                      <a:pt x="91" y="0"/>
                      <a:pt x="91" y="0"/>
                    </a:cubicBezTo>
                    <a:cubicBezTo>
                      <a:pt x="91" y="12"/>
                      <a:pt x="91" y="12"/>
                      <a:pt x="91" y="12"/>
                    </a:cubicBezTo>
                    <a:cubicBezTo>
                      <a:pt x="91" y="15"/>
                      <a:pt x="88" y="18"/>
                      <a:pt x="84" y="18"/>
                    </a:cubicBezTo>
                    <a:cubicBezTo>
                      <a:pt x="77" y="18"/>
                      <a:pt x="77" y="18"/>
                      <a:pt x="77" y="18"/>
                    </a:cubicBezTo>
                    <a:cubicBezTo>
                      <a:pt x="73" y="18"/>
                      <a:pt x="70" y="15"/>
                      <a:pt x="70" y="12"/>
                    </a:cubicBezTo>
                    <a:cubicBezTo>
                      <a:pt x="70" y="0"/>
                      <a:pt x="70" y="0"/>
                      <a:pt x="70" y="0"/>
                    </a:cubicBezTo>
                    <a:cubicBezTo>
                      <a:pt x="36" y="0"/>
                      <a:pt x="36" y="0"/>
                      <a:pt x="36" y="0"/>
                    </a:cubicBezTo>
                    <a:cubicBezTo>
                      <a:pt x="36" y="12"/>
                      <a:pt x="36" y="12"/>
                      <a:pt x="36" y="12"/>
                    </a:cubicBezTo>
                    <a:cubicBezTo>
                      <a:pt x="36" y="15"/>
                      <a:pt x="33" y="18"/>
                      <a:pt x="29" y="18"/>
                    </a:cubicBezTo>
                    <a:cubicBezTo>
                      <a:pt x="21" y="18"/>
                      <a:pt x="21" y="18"/>
                      <a:pt x="21" y="18"/>
                    </a:cubicBezTo>
                    <a:cubicBezTo>
                      <a:pt x="18" y="18"/>
                      <a:pt x="15" y="15"/>
                      <a:pt x="15" y="12"/>
                    </a:cubicBezTo>
                    <a:cubicBezTo>
                      <a:pt x="15" y="0"/>
                      <a:pt x="15" y="0"/>
                      <a:pt x="15" y="0"/>
                    </a:cubicBezTo>
                    <a:cubicBezTo>
                      <a:pt x="12" y="0"/>
                      <a:pt x="12" y="0"/>
                      <a:pt x="12" y="0"/>
                    </a:cubicBezTo>
                    <a:cubicBezTo>
                      <a:pt x="5" y="0"/>
                      <a:pt x="0" y="6"/>
                      <a:pt x="0" y="13"/>
                    </a:cubicBezTo>
                    <a:cubicBezTo>
                      <a:pt x="0" y="36"/>
                      <a:pt x="0" y="36"/>
                      <a:pt x="0" y="36"/>
                    </a:cubicBezTo>
                    <a:cubicBezTo>
                      <a:pt x="0" y="83"/>
                      <a:pt x="0" y="83"/>
                      <a:pt x="0" y="83"/>
                    </a:cubicBezTo>
                    <a:cubicBezTo>
                      <a:pt x="0" y="90"/>
                      <a:pt x="5" y="95"/>
                      <a:pt x="12" y="95"/>
                    </a:cubicBezTo>
                    <a:cubicBezTo>
                      <a:pt x="94" y="95"/>
                      <a:pt x="94" y="95"/>
                      <a:pt x="94" y="95"/>
                    </a:cubicBezTo>
                    <a:cubicBezTo>
                      <a:pt x="100" y="95"/>
                      <a:pt x="106" y="90"/>
                      <a:pt x="106" y="83"/>
                    </a:cubicBezTo>
                    <a:cubicBezTo>
                      <a:pt x="106" y="36"/>
                      <a:pt x="106" y="36"/>
                      <a:pt x="106" y="36"/>
                    </a:cubicBezTo>
                    <a:cubicBezTo>
                      <a:pt x="106" y="13"/>
                      <a:pt x="106" y="13"/>
                      <a:pt x="106" y="13"/>
                    </a:cubicBezTo>
                    <a:cubicBezTo>
                      <a:pt x="106" y="6"/>
                      <a:pt x="100" y="0"/>
                      <a:pt x="94" y="0"/>
                    </a:cubicBezTo>
                    <a:close/>
                    <a:moveTo>
                      <a:pt x="98" y="83"/>
                    </a:moveTo>
                    <a:cubicBezTo>
                      <a:pt x="98" y="86"/>
                      <a:pt x="96" y="88"/>
                      <a:pt x="94" y="88"/>
                    </a:cubicBezTo>
                    <a:cubicBezTo>
                      <a:pt x="12" y="88"/>
                      <a:pt x="12" y="88"/>
                      <a:pt x="12" y="88"/>
                    </a:cubicBezTo>
                    <a:cubicBezTo>
                      <a:pt x="10" y="88"/>
                      <a:pt x="8" y="86"/>
                      <a:pt x="8" y="83"/>
                    </a:cubicBezTo>
                    <a:cubicBezTo>
                      <a:pt x="8" y="36"/>
                      <a:pt x="8" y="36"/>
                      <a:pt x="8" y="36"/>
                    </a:cubicBezTo>
                    <a:cubicBezTo>
                      <a:pt x="98" y="36"/>
                      <a:pt x="98" y="36"/>
                      <a:pt x="98" y="36"/>
                    </a:cubicBezTo>
                    <a:lnTo>
                      <a:pt x="98" y="8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Rectangle 206">
                <a:extLst>
                  <a:ext uri="{FF2B5EF4-FFF2-40B4-BE49-F238E27FC236}">
                    <a16:creationId xmlns:a16="http://schemas.microsoft.com/office/drawing/2014/main" id="{D0010BBB-DFB9-4175-A76B-C3B2B09AB3A1}"/>
                  </a:ext>
                </a:extLst>
              </p:cNvPr>
              <p:cNvSpPr>
                <a:spLocks noChangeArrowheads="1"/>
              </p:cNvSpPr>
              <p:nvPr/>
            </p:nvSpPr>
            <p:spPr bwMode="auto">
              <a:xfrm>
                <a:off x="608488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6" name="Rectangle 207">
                <a:extLst>
                  <a:ext uri="{FF2B5EF4-FFF2-40B4-BE49-F238E27FC236}">
                    <a16:creationId xmlns:a16="http://schemas.microsoft.com/office/drawing/2014/main" id="{AB3A1A45-8B07-40C8-B06D-85B240A9F309}"/>
                  </a:ext>
                </a:extLst>
              </p:cNvPr>
              <p:cNvSpPr>
                <a:spLocks noChangeArrowheads="1"/>
              </p:cNvSpPr>
              <p:nvPr/>
            </p:nvSpPr>
            <p:spPr bwMode="auto">
              <a:xfrm>
                <a:off x="6191250"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7" name="Rectangle 208">
                <a:extLst>
                  <a:ext uri="{FF2B5EF4-FFF2-40B4-BE49-F238E27FC236}">
                    <a16:creationId xmlns:a16="http://schemas.microsoft.com/office/drawing/2014/main" id="{50D6D5DE-227B-4BD8-8872-55F14BF1F98A}"/>
                  </a:ext>
                </a:extLst>
              </p:cNvPr>
              <p:cNvSpPr>
                <a:spLocks noChangeArrowheads="1"/>
              </p:cNvSpPr>
              <p:nvPr/>
            </p:nvSpPr>
            <p:spPr bwMode="auto">
              <a:xfrm>
                <a:off x="6294438" y="3611563"/>
                <a:ext cx="79375" cy="301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8" name="Rectangle 209">
                <a:extLst>
                  <a:ext uri="{FF2B5EF4-FFF2-40B4-BE49-F238E27FC236}">
                    <a16:creationId xmlns:a16="http://schemas.microsoft.com/office/drawing/2014/main" id="{2129D8C0-5574-4981-A473-54A4DA5BBC51}"/>
                  </a:ext>
                </a:extLst>
              </p:cNvPr>
              <p:cNvSpPr>
                <a:spLocks noChangeArrowheads="1"/>
              </p:cNvSpPr>
              <p:nvPr/>
            </p:nvSpPr>
            <p:spPr bwMode="auto">
              <a:xfrm>
                <a:off x="608488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9" name="Rectangle 210">
                <a:extLst>
                  <a:ext uri="{FF2B5EF4-FFF2-40B4-BE49-F238E27FC236}">
                    <a16:creationId xmlns:a16="http://schemas.microsoft.com/office/drawing/2014/main" id="{42C482E4-5992-4F76-A4FC-FAEA3959B45C}"/>
                  </a:ext>
                </a:extLst>
              </p:cNvPr>
              <p:cNvSpPr>
                <a:spLocks noChangeArrowheads="1"/>
              </p:cNvSpPr>
              <p:nvPr/>
            </p:nvSpPr>
            <p:spPr bwMode="auto">
              <a:xfrm>
                <a:off x="6191250"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 name="Rectangle 211">
                <a:extLst>
                  <a:ext uri="{FF2B5EF4-FFF2-40B4-BE49-F238E27FC236}">
                    <a16:creationId xmlns:a16="http://schemas.microsoft.com/office/drawing/2014/main" id="{608FABB8-F614-48FA-B8BA-76252847C955}"/>
                  </a:ext>
                </a:extLst>
              </p:cNvPr>
              <p:cNvSpPr>
                <a:spLocks noChangeArrowheads="1"/>
              </p:cNvSpPr>
              <p:nvPr/>
            </p:nvSpPr>
            <p:spPr bwMode="auto">
              <a:xfrm>
                <a:off x="6294438" y="3663950"/>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1" name="Rectangle 212">
                <a:extLst>
                  <a:ext uri="{FF2B5EF4-FFF2-40B4-BE49-F238E27FC236}">
                    <a16:creationId xmlns:a16="http://schemas.microsoft.com/office/drawing/2014/main" id="{BE49BF88-4A04-43E2-8944-E6471A990D7B}"/>
                  </a:ext>
                </a:extLst>
              </p:cNvPr>
              <p:cNvSpPr>
                <a:spLocks noChangeArrowheads="1"/>
              </p:cNvSpPr>
              <p:nvPr/>
            </p:nvSpPr>
            <p:spPr bwMode="auto">
              <a:xfrm>
                <a:off x="608488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2" name="Rectangle 213">
                <a:extLst>
                  <a:ext uri="{FF2B5EF4-FFF2-40B4-BE49-F238E27FC236}">
                    <a16:creationId xmlns:a16="http://schemas.microsoft.com/office/drawing/2014/main" id="{1F29B5A7-F2A1-4F35-A35C-004039DDA113}"/>
                  </a:ext>
                </a:extLst>
              </p:cNvPr>
              <p:cNvSpPr>
                <a:spLocks noChangeArrowheads="1"/>
              </p:cNvSpPr>
              <p:nvPr/>
            </p:nvSpPr>
            <p:spPr bwMode="auto">
              <a:xfrm>
                <a:off x="6191250"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Rectangle 214">
                <a:extLst>
                  <a:ext uri="{FF2B5EF4-FFF2-40B4-BE49-F238E27FC236}">
                    <a16:creationId xmlns:a16="http://schemas.microsoft.com/office/drawing/2014/main" id="{7A1C70A7-03A0-4142-914C-A675EEB0F1BA}"/>
                  </a:ext>
                </a:extLst>
              </p:cNvPr>
              <p:cNvSpPr>
                <a:spLocks noChangeArrowheads="1"/>
              </p:cNvSpPr>
              <p:nvPr/>
            </p:nvSpPr>
            <p:spPr bwMode="auto">
              <a:xfrm>
                <a:off x="6294438" y="3713163"/>
                <a:ext cx="79375" cy="269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4" name="Rectangle 215">
                <a:extLst>
                  <a:ext uri="{FF2B5EF4-FFF2-40B4-BE49-F238E27FC236}">
                    <a16:creationId xmlns:a16="http://schemas.microsoft.com/office/drawing/2014/main" id="{95C51AC2-93C4-4847-869B-B822FA435768}"/>
                  </a:ext>
                </a:extLst>
              </p:cNvPr>
              <p:cNvSpPr>
                <a:spLocks noChangeArrowheads="1"/>
              </p:cNvSpPr>
              <p:nvPr/>
            </p:nvSpPr>
            <p:spPr bwMode="auto">
              <a:xfrm>
                <a:off x="5965825" y="33988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 name="Freeform 216">
                <a:extLst>
                  <a:ext uri="{FF2B5EF4-FFF2-40B4-BE49-F238E27FC236}">
                    <a16:creationId xmlns:a16="http://schemas.microsoft.com/office/drawing/2014/main" id="{E4FB0AFD-8DFA-47AF-A756-6E3640B92A98}"/>
                  </a:ext>
                </a:extLst>
              </p:cNvPr>
              <p:cNvSpPr>
                <a:spLocks noEditPoints="1"/>
              </p:cNvSpPr>
              <p:nvPr/>
            </p:nvSpPr>
            <p:spPr bwMode="auto">
              <a:xfrm>
                <a:off x="5753100" y="3208338"/>
                <a:ext cx="427038" cy="604838"/>
              </a:xfrm>
              <a:custGeom>
                <a:avLst/>
                <a:gdLst>
                  <a:gd name="T0" fmla="*/ 111 w 112"/>
                  <a:gd name="T1" fmla="*/ 23 h 159"/>
                  <a:gd name="T2" fmla="*/ 106 w 112"/>
                  <a:gd name="T3" fmla="*/ 19 h 159"/>
                  <a:gd name="T4" fmla="*/ 83 w 112"/>
                  <a:gd name="T5" fmla="*/ 2 h 159"/>
                  <a:gd name="T6" fmla="*/ 77 w 112"/>
                  <a:gd name="T7" fmla="*/ 0 h 159"/>
                  <a:gd name="T8" fmla="*/ 70 w 112"/>
                  <a:gd name="T9" fmla="*/ 0 h 159"/>
                  <a:gd name="T10" fmla="*/ 68 w 112"/>
                  <a:gd name="T11" fmla="*/ 10 h 159"/>
                  <a:gd name="T12" fmla="*/ 56 w 112"/>
                  <a:gd name="T13" fmla="*/ 50 h 159"/>
                  <a:gd name="T14" fmla="*/ 56 w 112"/>
                  <a:gd name="T15" fmla="*/ 51 h 159"/>
                  <a:gd name="T16" fmla="*/ 56 w 112"/>
                  <a:gd name="T17" fmla="*/ 50 h 159"/>
                  <a:gd name="T18" fmla="*/ 45 w 112"/>
                  <a:gd name="T19" fmla="*/ 10 h 159"/>
                  <a:gd name="T20" fmla="*/ 43 w 112"/>
                  <a:gd name="T21" fmla="*/ 0 h 159"/>
                  <a:gd name="T22" fmla="*/ 35 w 112"/>
                  <a:gd name="T23" fmla="*/ 0 h 159"/>
                  <a:gd name="T24" fmla="*/ 28 w 112"/>
                  <a:gd name="T25" fmla="*/ 4 h 159"/>
                  <a:gd name="T26" fmla="*/ 0 w 112"/>
                  <a:gd name="T27" fmla="*/ 44 h 159"/>
                  <a:gd name="T28" fmla="*/ 0 w 112"/>
                  <a:gd name="T29" fmla="*/ 44 h 159"/>
                  <a:gd name="T30" fmla="*/ 0 w 112"/>
                  <a:gd name="T31" fmla="*/ 45 h 159"/>
                  <a:gd name="T32" fmla="*/ 2 w 112"/>
                  <a:gd name="T33" fmla="*/ 48 h 159"/>
                  <a:gd name="T34" fmla="*/ 9 w 112"/>
                  <a:gd name="T35" fmla="*/ 61 h 159"/>
                  <a:gd name="T36" fmla="*/ 29 w 112"/>
                  <a:gd name="T37" fmla="*/ 72 h 159"/>
                  <a:gd name="T38" fmla="*/ 29 w 112"/>
                  <a:gd name="T39" fmla="*/ 84 h 159"/>
                  <a:gd name="T40" fmla="*/ 34 w 112"/>
                  <a:gd name="T41" fmla="*/ 159 h 159"/>
                  <a:gd name="T42" fmla="*/ 55 w 112"/>
                  <a:gd name="T43" fmla="*/ 84 h 159"/>
                  <a:gd name="T44" fmla="*/ 60 w 112"/>
                  <a:gd name="T45" fmla="*/ 159 h 159"/>
                  <a:gd name="T46" fmla="*/ 67 w 112"/>
                  <a:gd name="T47" fmla="*/ 145 h 159"/>
                  <a:gd name="T48" fmla="*/ 76 w 112"/>
                  <a:gd name="T49" fmla="*/ 59 h 159"/>
                  <a:gd name="T50" fmla="*/ 110 w 112"/>
                  <a:gd name="T51" fmla="*/ 41 h 159"/>
                  <a:gd name="T52" fmla="*/ 112 w 112"/>
                  <a:gd name="T53" fmla="*/ 24 h 159"/>
                  <a:gd name="T54" fmla="*/ 27 w 112"/>
                  <a:gd name="T55" fmla="*/ 51 h 159"/>
                  <a:gd name="T56" fmla="*/ 21 w 112"/>
                  <a:gd name="T57" fmla="*/ 40 h 159"/>
                  <a:gd name="T58" fmla="*/ 30 w 112"/>
                  <a:gd name="T59" fmla="*/ 55 h 159"/>
                  <a:gd name="T60" fmla="*/ 68 w 112"/>
                  <a:gd name="T61" fmla="*/ 39 h 159"/>
                  <a:gd name="T62" fmla="*/ 82 w 112"/>
                  <a:gd name="T63" fmla="*/ 25 h 159"/>
                  <a:gd name="T64" fmla="*/ 88 w 112"/>
                  <a:gd name="T65" fmla="*/ 3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2" h="159">
                    <a:moveTo>
                      <a:pt x="112" y="24"/>
                    </a:moveTo>
                    <a:cubicBezTo>
                      <a:pt x="111" y="23"/>
                      <a:pt x="111" y="23"/>
                      <a:pt x="111" y="23"/>
                    </a:cubicBezTo>
                    <a:cubicBezTo>
                      <a:pt x="110" y="22"/>
                      <a:pt x="110" y="22"/>
                      <a:pt x="110" y="22"/>
                    </a:cubicBezTo>
                    <a:cubicBezTo>
                      <a:pt x="106" y="19"/>
                      <a:pt x="106" y="19"/>
                      <a:pt x="106" y="19"/>
                    </a:cubicBezTo>
                    <a:cubicBezTo>
                      <a:pt x="98" y="13"/>
                      <a:pt x="98" y="13"/>
                      <a:pt x="98" y="13"/>
                    </a:cubicBezTo>
                    <a:cubicBezTo>
                      <a:pt x="83" y="2"/>
                      <a:pt x="83" y="2"/>
                      <a:pt x="83" y="2"/>
                    </a:cubicBezTo>
                    <a:cubicBezTo>
                      <a:pt x="81" y="1"/>
                      <a:pt x="80" y="0"/>
                      <a:pt x="78" y="0"/>
                    </a:cubicBezTo>
                    <a:cubicBezTo>
                      <a:pt x="78" y="0"/>
                      <a:pt x="78" y="0"/>
                      <a:pt x="77" y="0"/>
                    </a:cubicBezTo>
                    <a:cubicBezTo>
                      <a:pt x="75" y="0"/>
                      <a:pt x="72" y="0"/>
                      <a:pt x="70" y="0"/>
                    </a:cubicBezTo>
                    <a:cubicBezTo>
                      <a:pt x="70" y="0"/>
                      <a:pt x="70" y="0"/>
                      <a:pt x="70" y="0"/>
                    </a:cubicBezTo>
                    <a:cubicBezTo>
                      <a:pt x="76" y="5"/>
                      <a:pt x="76" y="5"/>
                      <a:pt x="76" y="5"/>
                    </a:cubicBezTo>
                    <a:cubicBezTo>
                      <a:pt x="68" y="10"/>
                      <a:pt x="68" y="10"/>
                      <a:pt x="68" y="10"/>
                    </a:cubicBezTo>
                    <a:cubicBezTo>
                      <a:pt x="72" y="16"/>
                      <a:pt x="72" y="16"/>
                      <a:pt x="72" y="16"/>
                    </a:cubicBezTo>
                    <a:cubicBezTo>
                      <a:pt x="56" y="50"/>
                      <a:pt x="56" y="50"/>
                      <a:pt x="56" y="50"/>
                    </a:cubicBezTo>
                    <a:cubicBezTo>
                      <a:pt x="57" y="51"/>
                      <a:pt x="57" y="51"/>
                      <a:pt x="57" y="51"/>
                    </a:cubicBezTo>
                    <a:cubicBezTo>
                      <a:pt x="56" y="51"/>
                      <a:pt x="56" y="51"/>
                      <a:pt x="56" y="51"/>
                    </a:cubicBezTo>
                    <a:cubicBezTo>
                      <a:pt x="56" y="51"/>
                      <a:pt x="56" y="51"/>
                      <a:pt x="56" y="51"/>
                    </a:cubicBezTo>
                    <a:cubicBezTo>
                      <a:pt x="56" y="50"/>
                      <a:pt x="56" y="50"/>
                      <a:pt x="56" y="50"/>
                    </a:cubicBezTo>
                    <a:cubicBezTo>
                      <a:pt x="41" y="16"/>
                      <a:pt x="41" y="16"/>
                      <a:pt x="41" y="16"/>
                    </a:cubicBezTo>
                    <a:cubicBezTo>
                      <a:pt x="45" y="10"/>
                      <a:pt x="45" y="10"/>
                      <a:pt x="45" y="10"/>
                    </a:cubicBezTo>
                    <a:cubicBezTo>
                      <a:pt x="36" y="5"/>
                      <a:pt x="36" y="5"/>
                      <a:pt x="36" y="5"/>
                    </a:cubicBezTo>
                    <a:cubicBezTo>
                      <a:pt x="43" y="0"/>
                      <a:pt x="43" y="0"/>
                      <a:pt x="43" y="0"/>
                    </a:cubicBezTo>
                    <a:cubicBezTo>
                      <a:pt x="43" y="0"/>
                      <a:pt x="43" y="0"/>
                      <a:pt x="43" y="0"/>
                    </a:cubicBezTo>
                    <a:cubicBezTo>
                      <a:pt x="41" y="0"/>
                      <a:pt x="38" y="0"/>
                      <a:pt x="35" y="0"/>
                    </a:cubicBezTo>
                    <a:cubicBezTo>
                      <a:pt x="35" y="0"/>
                      <a:pt x="35" y="0"/>
                      <a:pt x="35" y="0"/>
                    </a:cubicBezTo>
                    <a:cubicBezTo>
                      <a:pt x="32" y="1"/>
                      <a:pt x="30" y="2"/>
                      <a:pt x="28" y="4"/>
                    </a:cubicBezTo>
                    <a:cubicBezTo>
                      <a:pt x="1" y="32"/>
                      <a:pt x="1" y="32"/>
                      <a:pt x="1" y="32"/>
                    </a:cubicBezTo>
                    <a:cubicBezTo>
                      <a:pt x="0" y="44"/>
                      <a:pt x="0" y="44"/>
                      <a:pt x="0" y="44"/>
                    </a:cubicBezTo>
                    <a:cubicBezTo>
                      <a:pt x="0" y="44"/>
                      <a:pt x="0" y="44"/>
                      <a:pt x="0" y="44"/>
                    </a:cubicBezTo>
                    <a:cubicBezTo>
                      <a:pt x="0" y="44"/>
                      <a:pt x="0" y="44"/>
                      <a:pt x="0" y="44"/>
                    </a:cubicBezTo>
                    <a:cubicBezTo>
                      <a:pt x="0" y="44"/>
                      <a:pt x="0" y="44"/>
                      <a:pt x="0" y="44"/>
                    </a:cubicBezTo>
                    <a:cubicBezTo>
                      <a:pt x="0" y="45"/>
                      <a:pt x="0" y="45"/>
                      <a:pt x="0" y="45"/>
                    </a:cubicBezTo>
                    <a:cubicBezTo>
                      <a:pt x="1" y="46"/>
                      <a:pt x="1" y="46"/>
                      <a:pt x="1" y="46"/>
                    </a:cubicBezTo>
                    <a:cubicBezTo>
                      <a:pt x="2" y="48"/>
                      <a:pt x="2" y="48"/>
                      <a:pt x="2" y="48"/>
                    </a:cubicBezTo>
                    <a:cubicBezTo>
                      <a:pt x="4" y="52"/>
                      <a:pt x="4" y="52"/>
                      <a:pt x="4" y="52"/>
                    </a:cubicBezTo>
                    <a:cubicBezTo>
                      <a:pt x="9" y="61"/>
                      <a:pt x="9" y="61"/>
                      <a:pt x="9" y="61"/>
                    </a:cubicBezTo>
                    <a:cubicBezTo>
                      <a:pt x="18" y="78"/>
                      <a:pt x="18" y="78"/>
                      <a:pt x="18" y="78"/>
                    </a:cubicBezTo>
                    <a:cubicBezTo>
                      <a:pt x="22" y="76"/>
                      <a:pt x="26" y="74"/>
                      <a:pt x="29" y="72"/>
                    </a:cubicBezTo>
                    <a:cubicBezTo>
                      <a:pt x="29" y="76"/>
                      <a:pt x="29" y="80"/>
                      <a:pt x="29" y="83"/>
                    </a:cubicBezTo>
                    <a:cubicBezTo>
                      <a:pt x="29" y="83"/>
                      <a:pt x="29" y="84"/>
                      <a:pt x="29" y="84"/>
                    </a:cubicBezTo>
                    <a:cubicBezTo>
                      <a:pt x="30" y="84"/>
                      <a:pt x="31" y="84"/>
                      <a:pt x="31" y="84"/>
                    </a:cubicBezTo>
                    <a:cubicBezTo>
                      <a:pt x="34" y="159"/>
                      <a:pt x="34" y="159"/>
                      <a:pt x="34" y="159"/>
                    </a:cubicBezTo>
                    <a:cubicBezTo>
                      <a:pt x="55" y="159"/>
                      <a:pt x="55" y="159"/>
                      <a:pt x="55" y="159"/>
                    </a:cubicBezTo>
                    <a:cubicBezTo>
                      <a:pt x="56" y="137"/>
                      <a:pt x="56" y="99"/>
                      <a:pt x="55" y="84"/>
                    </a:cubicBezTo>
                    <a:cubicBezTo>
                      <a:pt x="56" y="84"/>
                      <a:pt x="57" y="84"/>
                      <a:pt x="58" y="84"/>
                    </a:cubicBezTo>
                    <a:cubicBezTo>
                      <a:pt x="60" y="159"/>
                      <a:pt x="60" y="159"/>
                      <a:pt x="60" y="159"/>
                    </a:cubicBezTo>
                    <a:cubicBezTo>
                      <a:pt x="74" y="159"/>
                      <a:pt x="74" y="159"/>
                      <a:pt x="74" y="159"/>
                    </a:cubicBezTo>
                    <a:cubicBezTo>
                      <a:pt x="70" y="156"/>
                      <a:pt x="67" y="151"/>
                      <a:pt x="67" y="145"/>
                    </a:cubicBezTo>
                    <a:cubicBezTo>
                      <a:pt x="67" y="75"/>
                      <a:pt x="67" y="75"/>
                      <a:pt x="67" y="75"/>
                    </a:cubicBezTo>
                    <a:cubicBezTo>
                      <a:pt x="67" y="68"/>
                      <a:pt x="71" y="62"/>
                      <a:pt x="76" y="59"/>
                    </a:cubicBezTo>
                    <a:cubicBezTo>
                      <a:pt x="77" y="60"/>
                      <a:pt x="78" y="61"/>
                      <a:pt x="78" y="62"/>
                    </a:cubicBezTo>
                    <a:cubicBezTo>
                      <a:pt x="110" y="41"/>
                      <a:pt x="110" y="41"/>
                      <a:pt x="110" y="41"/>
                    </a:cubicBezTo>
                    <a:cubicBezTo>
                      <a:pt x="111" y="40"/>
                      <a:pt x="111" y="40"/>
                      <a:pt x="111" y="40"/>
                    </a:cubicBezTo>
                    <a:lnTo>
                      <a:pt x="112" y="24"/>
                    </a:lnTo>
                    <a:close/>
                    <a:moveTo>
                      <a:pt x="30" y="55"/>
                    </a:moveTo>
                    <a:cubicBezTo>
                      <a:pt x="27" y="51"/>
                      <a:pt x="27" y="51"/>
                      <a:pt x="27" y="51"/>
                    </a:cubicBezTo>
                    <a:cubicBezTo>
                      <a:pt x="22" y="43"/>
                      <a:pt x="22" y="43"/>
                      <a:pt x="22" y="43"/>
                    </a:cubicBezTo>
                    <a:cubicBezTo>
                      <a:pt x="21" y="40"/>
                      <a:pt x="21" y="40"/>
                      <a:pt x="21" y="40"/>
                    </a:cubicBezTo>
                    <a:cubicBezTo>
                      <a:pt x="31" y="28"/>
                      <a:pt x="31" y="28"/>
                      <a:pt x="31" y="28"/>
                    </a:cubicBezTo>
                    <a:cubicBezTo>
                      <a:pt x="30" y="37"/>
                      <a:pt x="30" y="46"/>
                      <a:pt x="30" y="55"/>
                    </a:cubicBezTo>
                    <a:close/>
                    <a:moveTo>
                      <a:pt x="70" y="41"/>
                    </a:moveTo>
                    <a:cubicBezTo>
                      <a:pt x="68" y="39"/>
                      <a:pt x="68" y="39"/>
                      <a:pt x="68" y="39"/>
                    </a:cubicBezTo>
                    <a:cubicBezTo>
                      <a:pt x="82" y="30"/>
                      <a:pt x="82" y="30"/>
                      <a:pt x="82" y="30"/>
                    </a:cubicBezTo>
                    <a:cubicBezTo>
                      <a:pt x="82" y="28"/>
                      <a:pt x="82" y="27"/>
                      <a:pt x="82" y="25"/>
                    </a:cubicBezTo>
                    <a:cubicBezTo>
                      <a:pt x="86" y="28"/>
                      <a:pt x="86" y="28"/>
                      <a:pt x="86" y="28"/>
                    </a:cubicBezTo>
                    <a:cubicBezTo>
                      <a:pt x="88" y="30"/>
                      <a:pt x="88" y="30"/>
                      <a:pt x="88" y="30"/>
                    </a:cubicBezTo>
                    <a:lnTo>
                      <a:pt x="70"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17">
                <a:extLst>
                  <a:ext uri="{FF2B5EF4-FFF2-40B4-BE49-F238E27FC236}">
                    <a16:creationId xmlns:a16="http://schemas.microsoft.com/office/drawing/2014/main" id="{7681A10F-763B-493B-994C-DB48180CB530}"/>
                  </a:ext>
                </a:extLst>
              </p:cNvPr>
              <p:cNvSpPr/>
              <p:nvPr/>
            </p:nvSpPr>
            <p:spPr bwMode="auto">
              <a:xfrm>
                <a:off x="5946775" y="3201988"/>
                <a:ext cx="42863" cy="44450"/>
              </a:xfrm>
              <a:custGeom>
                <a:avLst/>
                <a:gdLst>
                  <a:gd name="T0" fmla="*/ 22 w 27"/>
                  <a:gd name="T1" fmla="*/ 0 h 28"/>
                  <a:gd name="T2" fmla="*/ 27 w 27"/>
                  <a:gd name="T3" fmla="*/ 16 h 28"/>
                  <a:gd name="T4" fmla="*/ 12 w 27"/>
                  <a:gd name="T5" fmla="*/ 28 h 28"/>
                  <a:gd name="T6" fmla="*/ 0 w 27"/>
                  <a:gd name="T7" fmla="*/ 16 h 28"/>
                  <a:gd name="T8" fmla="*/ 5 w 27"/>
                  <a:gd name="T9" fmla="*/ 0 h 28"/>
                  <a:gd name="T10" fmla="*/ 22 w 27"/>
                  <a:gd name="T11" fmla="*/ 0 h 28"/>
                </a:gdLst>
                <a:ahLst/>
                <a:cxnLst>
                  <a:cxn ang="0">
                    <a:pos x="T0" y="T1"/>
                  </a:cxn>
                  <a:cxn ang="0">
                    <a:pos x="T2" y="T3"/>
                  </a:cxn>
                  <a:cxn ang="0">
                    <a:pos x="T4" y="T5"/>
                  </a:cxn>
                  <a:cxn ang="0">
                    <a:pos x="T6" y="T7"/>
                  </a:cxn>
                  <a:cxn ang="0">
                    <a:pos x="T8" y="T9"/>
                  </a:cxn>
                  <a:cxn ang="0">
                    <a:pos x="T10" y="T11"/>
                  </a:cxn>
                </a:cxnLst>
                <a:rect l="0" t="0" r="r" b="b"/>
                <a:pathLst>
                  <a:path w="27" h="28">
                    <a:moveTo>
                      <a:pt x="22" y="0"/>
                    </a:moveTo>
                    <a:lnTo>
                      <a:pt x="27" y="16"/>
                    </a:lnTo>
                    <a:lnTo>
                      <a:pt x="12" y="28"/>
                    </a:lnTo>
                    <a:lnTo>
                      <a:pt x="0" y="16"/>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18">
                <a:extLst>
                  <a:ext uri="{FF2B5EF4-FFF2-40B4-BE49-F238E27FC236}">
                    <a16:creationId xmlns:a16="http://schemas.microsoft.com/office/drawing/2014/main" id="{52EF81C8-1053-48B5-90C5-0CB1F16929B1}"/>
                  </a:ext>
                </a:extLst>
              </p:cNvPr>
              <p:cNvSpPr/>
              <p:nvPr/>
            </p:nvSpPr>
            <p:spPr bwMode="auto">
              <a:xfrm>
                <a:off x="5946775" y="3232150"/>
                <a:ext cx="42863" cy="185738"/>
              </a:xfrm>
              <a:custGeom>
                <a:avLst/>
                <a:gdLst>
                  <a:gd name="T0" fmla="*/ 22 w 27"/>
                  <a:gd name="T1" fmla="*/ 0 h 117"/>
                  <a:gd name="T2" fmla="*/ 27 w 27"/>
                  <a:gd name="T3" fmla="*/ 105 h 117"/>
                  <a:gd name="T4" fmla="*/ 12 w 27"/>
                  <a:gd name="T5" fmla="*/ 117 h 117"/>
                  <a:gd name="T6" fmla="*/ 0 w 27"/>
                  <a:gd name="T7" fmla="*/ 105 h 117"/>
                  <a:gd name="T8" fmla="*/ 5 w 27"/>
                  <a:gd name="T9" fmla="*/ 0 h 117"/>
                  <a:gd name="T10" fmla="*/ 22 w 27"/>
                  <a:gd name="T11" fmla="*/ 0 h 117"/>
                </a:gdLst>
                <a:ahLst/>
                <a:cxnLst>
                  <a:cxn ang="0">
                    <a:pos x="T0" y="T1"/>
                  </a:cxn>
                  <a:cxn ang="0">
                    <a:pos x="T2" y="T3"/>
                  </a:cxn>
                  <a:cxn ang="0">
                    <a:pos x="T4" y="T5"/>
                  </a:cxn>
                  <a:cxn ang="0">
                    <a:pos x="T6" y="T7"/>
                  </a:cxn>
                  <a:cxn ang="0">
                    <a:pos x="T8" y="T9"/>
                  </a:cxn>
                  <a:cxn ang="0">
                    <a:pos x="T10" y="T11"/>
                  </a:cxn>
                </a:cxnLst>
                <a:rect l="0" t="0" r="r" b="b"/>
                <a:pathLst>
                  <a:path w="27" h="117">
                    <a:moveTo>
                      <a:pt x="22" y="0"/>
                    </a:moveTo>
                    <a:lnTo>
                      <a:pt x="27" y="105"/>
                    </a:lnTo>
                    <a:lnTo>
                      <a:pt x="12" y="117"/>
                    </a:lnTo>
                    <a:lnTo>
                      <a:pt x="0" y="105"/>
                    </a:lnTo>
                    <a:lnTo>
                      <a:pt x="5" y="0"/>
                    </a:lnTo>
                    <a:lnTo>
                      <a:pt x="2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28" name="组合 27">
            <a:extLst>
              <a:ext uri="{FF2B5EF4-FFF2-40B4-BE49-F238E27FC236}">
                <a16:creationId xmlns:a16="http://schemas.microsoft.com/office/drawing/2014/main" id="{A0A7B8D9-00C8-461B-8C07-C40FC740B4E6}"/>
              </a:ext>
            </a:extLst>
          </p:cNvPr>
          <p:cNvGrpSpPr/>
          <p:nvPr/>
        </p:nvGrpSpPr>
        <p:grpSpPr>
          <a:xfrm>
            <a:off x="5306387" y="5875923"/>
            <a:ext cx="342764" cy="342764"/>
            <a:chOff x="5306387" y="5875923"/>
            <a:chExt cx="342764" cy="342764"/>
          </a:xfrm>
        </p:grpSpPr>
        <p:sp>
          <p:nvSpPr>
            <p:cNvPr id="29" name="椭圆 28">
              <a:extLst>
                <a:ext uri="{FF2B5EF4-FFF2-40B4-BE49-F238E27FC236}">
                  <a16:creationId xmlns:a16="http://schemas.microsoft.com/office/drawing/2014/main" id="{713CE592-4EAD-4944-A286-E51D3A308F83}"/>
                </a:ext>
              </a:extLst>
            </p:cNvPr>
            <p:cNvSpPr/>
            <p:nvPr/>
          </p:nvSpPr>
          <p:spPr>
            <a:xfrm>
              <a:off x="5306387"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a:extLst>
                <a:ext uri="{FF2B5EF4-FFF2-40B4-BE49-F238E27FC236}">
                  <a16:creationId xmlns:a16="http://schemas.microsoft.com/office/drawing/2014/main" id="{F5FC36AF-6731-43C7-B468-EE7FDCB57E01}"/>
                </a:ext>
              </a:extLst>
            </p:cNvPr>
            <p:cNvGrpSpPr/>
            <p:nvPr/>
          </p:nvGrpSpPr>
          <p:grpSpPr>
            <a:xfrm>
              <a:off x="5370562" y="5961635"/>
              <a:ext cx="214413" cy="171339"/>
              <a:chOff x="5738813" y="3144838"/>
              <a:chExt cx="711200" cy="568325"/>
            </a:xfrm>
            <a:solidFill>
              <a:schemeClr val="accent1"/>
            </a:solidFill>
          </p:grpSpPr>
          <p:sp>
            <p:nvSpPr>
              <p:cNvPr id="31" name="Freeform 103">
                <a:extLst>
                  <a:ext uri="{FF2B5EF4-FFF2-40B4-BE49-F238E27FC236}">
                    <a16:creationId xmlns:a16="http://schemas.microsoft.com/office/drawing/2014/main" id="{B0CD356E-E0A2-49E4-8270-523C0D2BEAB1}"/>
                  </a:ext>
                </a:extLst>
              </p:cNvPr>
              <p:cNvSpPr/>
              <p:nvPr/>
            </p:nvSpPr>
            <p:spPr bwMode="auto">
              <a:xfrm>
                <a:off x="5821363" y="3159126"/>
                <a:ext cx="533400" cy="371475"/>
              </a:xfrm>
              <a:custGeom>
                <a:avLst/>
                <a:gdLst>
                  <a:gd name="T0" fmla="*/ 22 w 336"/>
                  <a:gd name="T1" fmla="*/ 234 h 234"/>
                  <a:gd name="T2" fmla="*/ 0 w 336"/>
                  <a:gd name="T3" fmla="*/ 215 h 234"/>
                  <a:gd name="T4" fmla="*/ 135 w 336"/>
                  <a:gd name="T5" fmla="*/ 56 h 234"/>
                  <a:gd name="T6" fmla="*/ 216 w 336"/>
                  <a:gd name="T7" fmla="*/ 126 h 234"/>
                  <a:gd name="T8" fmla="*/ 312 w 336"/>
                  <a:gd name="T9" fmla="*/ 0 h 234"/>
                  <a:gd name="T10" fmla="*/ 336 w 336"/>
                  <a:gd name="T11" fmla="*/ 17 h 234"/>
                  <a:gd name="T12" fmla="*/ 219 w 336"/>
                  <a:gd name="T13" fmla="*/ 171 h 234"/>
                  <a:gd name="T14" fmla="*/ 137 w 336"/>
                  <a:gd name="T15" fmla="*/ 99 h 234"/>
                  <a:gd name="T16" fmla="*/ 22 w 336"/>
                  <a:gd name="T17" fmla="*/ 234 h 234"/>
                  <a:gd name="T18" fmla="*/ 22 w 336"/>
                  <a:gd name="T19" fmla="*/ 234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6" h="234">
                    <a:moveTo>
                      <a:pt x="22" y="234"/>
                    </a:moveTo>
                    <a:lnTo>
                      <a:pt x="0" y="215"/>
                    </a:lnTo>
                    <a:lnTo>
                      <a:pt x="135" y="56"/>
                    </a:lnTo>
                    <a:lnTo>
                      <a:pt x="216" y="126"/>
                    </a:lnTo>
                    <a:lnTo>
                      <a:pt x="312" y="0"/>
                    </a:lnTo>
                    <a:lnTo>
                      <a:pt x="336" y="17"/>
                    </a:lnTo>
                    <a:lnTo>
                      <a:pt x="219" y="171"/>
                    </a:lnTo>
                    <a:lnTo>
                      <a:pt x="137" y="99"/>
                    </a:lnTo>
                    <a:lnTo>
                      <a:pt x="22" y="234"/>
                    </a:lnTo>
                    <a:lnTo>
                      <a:pt x="22" y="2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104">
                <a:extLst>
                  <a:ext uri="{FF2B5EF4-FFF2-40B4-BE49-F238E27FC236}">
                    <a16:creationId xmlns:a16="http://schemas.microsoft.com/office/drawing/2014/main" id="{7A574504-B751-47C3-BE54-02544A0E9B9D}"/>
                  </a:ext>
                </a:extLst>
              </p:cNvPr>
              <p:cNvSpPr/>
              <p:nvPr/>
            </p:nvSpPr>
            <p:spPr bwMode="auto">
              <a:xfrm>
                <a:off x="6248401" y="3148013"/>
                <a:ext cx="117475" cy="119063"/>
              </a:xfrm>
              <a:custGeom>
                <a:avLst/>
                <a:gdLst>
                  <a:gd name="T0" fmla="*/ 0 w 74"/>
                  <a:gd name="T1" fmla="*/ 0 h 75"/>
                  <a:gd name="T2" fmla="*/ 74 w 74"/>
                  <a:gd name="T3" fmla="*/ 0 h 75"/>
                  <a:gd name="T4" fmla="*/ 74 w 74"/>
                  <a:gd name="T5" fmla="*/ 75 h 75"/>
                  <a:gd name="T6" fmla="*/ 0 w 74"/>
                  <a:gd name="T7" fmla="*/ 0 h 75"/>
                </a:gdLst>
                <a:ahLst/>
                <a:cxnLst>
                  <a:cxn ang="0">
                    <a:pos x="T0" y="T1"/>
                  </a:cxn>
                  <a:cxn ang="0">
                    <a:pos x="T2" y="T3"/>
                  </a:cxn>
                  <a:cxn ang="0">
                    <a:pos x="T4" y="T5"/>
                  </a:cxn>
                  <a:cxn ang="0">
                    <a:pos x="T6" y="T7"/>
                  </a:cxn>
                </a:cxnLst>
                <a:rect l="0" t="0" r="r" b="b"/>
                <a:pathLst>
                  <a:path w="74" h="75">
                    <a:moveTo>
                      <a:pt x="0" y="0"/>
                    </a:moveTo>
                    <a:lnTo>
                      <a:pt x="74" y="0"/>
                    </a:lnTo>
                    <a:lnTo>
                      <a:pt x="74" y="75"/>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105">
                <a:extLst>
                  <a:ext uri="{FF2B5EF4-FFF2-40B4-BE49-F238E27FC236}">
                    <a16:creationId xmlns:a16="http://schemas.microsoft.com/office/drawing/2014/main" id="{56B0AF31-AE80-44B4-85A5-6071B641491E}"/>
                  </a:ext>
                </a:extLst>
              </p:cNvPr>
              <p:cNvSpPr/>
              <p:nvPr/>
            </p:nvSpPr>
            <p:spPr bwMode="auto">
              <a:xfrm>
                <a:off x="5738813" y="3144838"/>
                <a:ext cx="711200" cy="568325"/>
              </a:xfrm>
              <a:custGeom>
                <a:avLst/>
                <a:gdLst>
                  <a:gd name="T0" fmla="*/ 448 w 448"/>
                  <a:gd name="T1" fmla="*/ 358 h 358"/>
                  <a:gd name="T2" fmla="*/ 0 w 448"/>
                  <a:gd name="T3" fmla="*/ 358 h 358"/>
                  <a:gd name="T4" fmla="*/ 0 w 448"/>
                  <a:gd name="T5" fmla="*/ 0 h 358"/>
                  <a:gd name="T6" fmla="*/ 26 w 448"/>
                  <a:gd name="T7" fmla="*/ 0 h 358"/>
                  <a:gd name="T8" fmla="*/ 26 w 448"/>
                  <a:gd name="T9" fmla="*/ 334 h 358"/>
                  <a:gd name="T10" fmla="*/ 448 w 448"/>
                  <a:gd name="T11" fmla="*/ 334 h 358"/>
                  <a:gd name="T12" fmla="*/ 448 w 448"/>
                  <a:gd name="T13" fmla="*/ 358 h 358"/>
                  <a:gd name="T14" fmla="*/ 448 w 448"/>
                  <a:gd name="T15" fmla="*/ 358 h 3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358">
                    <a:moveTo>
                      <a:pt x="448" y="358"/>
                    </a:moveTo>
                    <a:lnTo>
                      <a:pt x="0" y="358"/>
                    </a:lnTo>
                    <a:lnTo>
                      <a:pt x="0" y="0"/>
                    </a:lnTo>
                    <a:lnTo>
                      <a:pt x="26" y="0"/>
                    </a:lnTo>
                    <a:lnTo>
                      <a:pt x="26" y="334"/>
                    </a:lnTo>
                    <a:lnTo>
                      <a:pt x="448" y="334"/>
                    </a:lnTo>
                    <a:lnTo>
                      <a:pt x="448" y="358"/>
                    </a:lnTo>
                    <a:lnTo>
                      <a:pt x="448" y="35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Rectangle 106">
                <a:extLst>
                  <a:ext uri="{FF2B5EF4-FFF2-40B4-BE49-F238E27FC236}">
                    <a16:creationId xmlns:a16="http://schemas.microsoft.com/office/drawing/2014/main" id="{342E43F6-202A-455C-8670-6B04C34EF7CE}"/>
                  </a:ext>
                </a:extLst>
              </p:cNvPr>
              <p:cNvSpPr>
                <a:spLocks noChangeArrowheads="1"/>
              </p:cNvSpPr>
              <p:nvPr/>
            </p:nvSpPr>
            <p:spPr bwMode="auto">
              <a:xfrm>
                <a:off x="5853113" y="3560763"/>
                <a:ext cx="79375" cy="1222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5" name="Rectangle 107">
                <a:extLst>
                  <a:ext uri="{FF2B5EF4-FFF2-40B4-BE49-F238E27FC236}">
                    <a16:creationId xmlns:a16="http://schemas.microsoft.com/office/drawing/2014/main" id="{81739738-E957-403C-B570-1CE7BC646BC3}"/>
                  </a:ext>
                </a:extLst>
              </p:cNvPr>
              <p:cNvSpPr>
                <a:spLocks noChangeArrowheads="1"/>
              </p:cNvSpPr>
              <p:nvPr/>
            </p:nvSpPr>
            <p:spPr bwMode="auto">
              <a:xfrm>
                <a:off x="5997576" y="3408363"/>
                <a:ext cx="79375" cy="274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6" name="Rectangle 108">
                <a:extLst>
                  <a:ext uri="{FF2B5EF4-FFF2-40B4-BE49-F238E27FC236}">
                    <a16:creationId xmlns:a16="http://schemas.microsoft.com/office/drawing/2014/main" id="{57107470-EA4C-498A-A756-A70AD23D82EC}"/>
                  </a:ext>
                </a:extLst>
              </p:cNvPr>
              <p:cNvSpPr>
                <a:spLocks noChangeArrowheads="1"/>
              </p:cNvSpPr>
              <p:nvPr/>
            </p:nvSpPr>
            <p:spPr bwMode="auto">
              <a:xfrm>
                <a:off x="6142038" y="3487738"/>
                <a:ext cx="79375" cy="1952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7" name="Rectangle 109">
                <a:extLst>
                  <a:ext uri="{FF2B5EF4-FFF2-40B4-BE49-F238E27FC236}">
                    <a16:creationId xmlns:a16="http://schemas.microsoft.com/office/drawing/2014/main" id="{C3AE1AD3-F23B-4D98-A1F9-207062ADCF80}"/>
                  </a:ext>
                </a:extLst>
              </p:cNvPr>
              <p:cNvSpPr>
                <a:spLocks noChangeArrowheads="1"/>
              </p:cNvSpPr>
              <p:nvPr/>
            </p:nvSpPr>
            <p:spPr bwMode="auto">
              <a:xfrm>
                <a:off x="6286501" y="3305176"/>
                <a:ext cx="79375" cy="377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grpSp>
      <p:grpSp>
        <p:nvGrpSpPr>
          <p:cNvPr id="38" name="组合 37">
            <a:extLst>
              <a:ext uri="{FF2B5EF4-FFF2-40B4-BE49-F238E27FC236}">
                <a16:creationId xmlns:a16="http://schemas.microsoft.com/office/drawing/2014/main" id="{3F8F588E-CC41-4DEC-BFD6-57015A7C8B67}"/>
              </a:ext>
            </a:extLst>
          </p:cNvPr>
          <p:cNvGrpSpPr/>
          <p:nvPr/>
        </p:nvGrpSpPr>
        <p:grpSpPr>
          <a:xfrm>
            <a:off x="5924618" y="5875923"/>
            <a:ext cx="342764" cy="342764"/>
            <a:chOff x="5924618" y="5875923"/>
            <a:chExt cx="342764" cy="342764"/>
          </a:xfrm>
        </p:grpSpPr>
        <p:sp>
          <p:nvSpPr>
            <p:cNvPr id="39" name="椭圆 38">
              <a:extLst>
                <a:ext uri="{FF2B5EF4-FFF2-40B4-BE49-F238E27FC236}">
                  <a16:creationId xmlns:a16="http://schemas.microsoft.com/office/drawing/2014/main" id="{C75AFBD7-DBC5-4AB1-85DF-0CCE65BAAA6F}"/>
                </a:ext>
              </a:extLst>
            </p:cNvPr>
            <p:cNvSpPr/>
            <p:nvPr/>
          </p:nvSpPr>
          <p:spPr>
            <a:xfrm>
              <a:off x="5924618"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0" name="组合 39">
              <a:extLst>
                <a:ext uri="{FF2B5EF4-FFF2-40B4-BE49-F238E27FC236}">
                  <a16:creationId xmlns:a16="http://schemas.microsoft.com/office/drawing/2014/main" id="{1954B2CE-4A66-4B5F-97D9-F427D33D9FE2}"/>
                </a:ext>
              </a:extLst>
            </p:cNvPr>
            <p:cNvGrpSpPr/>
            <p:nvPr/>
          </p:nvGrpSpPr>
          <p:grpSpPr>
            <a:xfrm>
              <a:off x="5999323" y="5949431"/>
              <a:ext cx="193355" cy="195748"/>
              <a:chOff x="5778500" y="3105150"/>
              <a:chExt cx="641350" cy="649288"/>
            </a:xfrm>
            <a:solidFill>
              <a:schemeClr val="accent1"/>
            </a:solidFill>
          </p:grpSpPr>
          <p:sp>
            <p:nvSpPr>
              <p:cNvPr id="41" name="Freeform 425">
                <a:extLst>
                  <a:ext uri="{FF2B5EF4-FFF2-40B4-BE49-F238E27FC236}">
                    <a16:creationId xmlns:a16="http://schemas.microsoft.com/office/drawing/2014/main" id="{B91F5DCD-DE23-4812-A1CD-2E7E844B7BDF}"/>
                  </a:ext>
                </a:extLst>
              </p:cNvPr>
              <p:cNvSpPr/>
              <p:nvPr/>
            </p:nvSpPr>
            <p:spPr bwMode="auto">
              <a:xfrm>
                <a:off x="5959475" y="3227388"/>
                <a:ext cx="217488" cy="438150"/>
              </a:xfrm>
              <a:custGeom>
                <a:avLst/>
                <a:gdLst>
                  <a:gd name="T0" fmla="*/ 36 w 137"/>
                  <a:gd name="T1" fmla="*/ 276 h 276"/>
                  <a:gd name="T2" fmla="*/ 101 w 137"/>
                  <a:gd name="T3" fmla="*/ 276 h 276"/>
                  <a:gd name="T4" fmla="*/ 101 w 137"/>
                  <a:gd name="T5" fmla="*/ 69 h 276"/>
                  <a:gd name="T6" fmla="*/ 137 w 137"/>
                  <a:gd name="T7" fmla="*/ 69 h 276"/>
                  <a:gd name="T8" fmla="*/ 67 w 137"/>
                  <a:gd name="T9" fmla="*/ 0 h 276"/>
                  <a:gd name="T10" fmla="*/ 0 w 137"/>
                  <a:gd name="T11" fmla="*/ 69 h 276"/>
                  <a:gd name="T12" fmla="*/ 36 w 137"/>
                  <a:gd name="T13" fmla="*/ 69 h 276"/>
                  <a:gd name="T14" fmla="*/ 36 w 137"/>
                  <a:gd name="T15" fmla="*/ 276 h 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276">
                    <a:moveTo>
                      <a:pt x="36" y="276"/>
                    </a:moveTo>
                    <a:lnTo>
                      <a:pt x="101" y="276"/>
                    </a:lnTo>
                    <a:lnTo>
                      <a:pt x="101" y="69"/>
                    </a:lnTo>
                    <a:lnTo>
                      <a:pt x="137" y="69"/>
                    </a:lnTo>
                    <a:lnTo>
                      <a:pt x="67" y="0"/>
                    </a:lnTo>
                    <a:lnTo>
                      <a:pt x="0" y="69"/>
                    </a:lnTo>
                    <a:lnTo>
                      <a:pt x="36" y="69"/>
                    </a:lnTo>
                    <a:lnTo>
                      <a:pt x="36" y="27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426">
                <a:extLst>
                  <a:ext uri="{FF2B5EF4-FFF2-40B4-BE49-F238E27FC236}">
                    <a16:creationId xmlns:a16="http://schemas.microsoft.com/office/drawing/2014/main" id="{F65B7A26-E792-47F9-85D2-F972294E4CF6}"/>
                  </a:ext>
                </a:extLst>
              </p:cNvPr>
              <p:cNvSpPr/>
              <p:nvPr/>
            </p:nvSpPr>
            <p:spPr bwMode="auto">
              <a:xfrm>
                <a:off x="5783263" y="3398838"/>
                <a:ext cx="214313" cy="266700"/>
              </a:xfrm>
              <a:custGeom>
                <a:avLst/>
                <a:gdLst>
                  <a:gd name="T0" fmla="*/ 36 w 135"/>
                  <a:gd name="T1" fmla="*/ 168 h 168"/>
                  <a:gd name="T2" fmla="*/ 98 w 135"/>
                  <a:gd name="T3" fmla="*/ 168 h 168"/>
                  <a:gd name="T4" fmla="*/ 98 w 135"/>
                  <a:gd name="T5" fmla="*/ 70 h 168"/>
                  <a:gd name="T6" fmla="*/ 135 w 135"/>
                  <a:gd name="T7" fmla="*/ 70 h 168"/>
                  <a:gd name="T8" fmla="*/ 67 w 135"/>
                  <a:gd name="T9" fmla="*/ 0 h 168"/>
                  <a:gd name="T10" fmla="*/ 0 w 135"/>
                  <a:gd name="T11" fmla="*/ 70 h 168"/>
                  <a:gd name="T12" fmla="*/ 36 w 135"/>
                  <a:gd name="T13" fmla="*/ 70 h 168"/>
                  <a:gd name="T14" fmla="*/ 36 w 135"/>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68">
                    <a:moveTo>
                      <a:pt x="36" y="168"/>
                    </a:moveTo>
                    <a:lnTo>
                      <a:pt x="98" y="168"/>
                    </a:lnTo>
                    <a:lnTo>
                      <a:pt x="98" y="70"/>
                    </a:lnTo>
                    <a:lnTo>
                      <a:pt x="135" y="70"/>
                    </a:lnTo>
                    <a:lnTo>
                      <a:pt x="67" y="0"/>
                    </a:lnTo>
                    <a:lnTo>
                      <a:pt x="0" y="70"/>
                    </a:lnTo>
                    <a:lnTo>
                      <a:pt x="36" y="70"/>
                    </a:lnTo>
                    <a:lnTo>
                      <a:pt x="36"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Rectangle 427">
                <a:extLst>
                  <a:ext uri="{FF2B5EF4-FFF2-40B4-BE49-F238E27FC236}">
                    <a16:creationId xmlns:a16="http://schemas.microsoft.com/office/drawing/2014/main" id="{C368463A-6A5A-49B0-9F7C-4CA26AD7ECE1}"/>
                  </a:ext>
                </a:extLst>
              </p:cNvPr>
              <p:cNvSpPr>
                <a:spLocks noChangeArrowheads="1"/>
              </p:cNvSpPr>
              <p:nvPr/>
            </p:nvSpPr>
            <p:spPr bwMode="auto">
              <a:xfrm>
                <a:off x="5778500" y="3692525"/>
                <a:ext cx="641350"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4" name="Oval 428">
                <a:extLst>
                  <a:ext uri="{FF2B5EF4-FFF2-40B4-BE49-F238E27FC236}">
                    <a16:creationId xmlns:a16="http://schemas.microsoft.com/office/drawing/2014/main" id="{108B0B09-358B-41FD-B6C9-E24FED2E5458}"/>
                  </a:ext>
                </a:extLst>
              </p:cNvPr>
              <p:cNvSpPr>
                <a:spLocks noChangeArrowheads="1"/>
              </p:cNvSpPr>
              <p:nvPr/>
            </p:nvSpPr>
            <p:spPr bwMode="auto">
              <a:xfrm>
                <a:off x="6248400" y="3105150"/>
                <a:ext cx="88900" cy="1095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9">
                <a:extLst>
                  <a:ext uri="{FF2B5EF4-FFF2-40B4-BE49-F238E27FC236}">
                    <a16:creationId xmlns:a16="http://schemas.microsoft.com/office/drawing/2014/main" id="{6AD36026-0647-4CF9-B6B8-8368B2AD47DE}"/>
                  </a:ext>
                </a:extLst>
              </p:cNvPr>
              <p:cNvSpPr/>
              <p:nvPr/>
            </p:nvSpPr>
            <p:spPr bwMode="auto">
              <a:xfrm>
                <a:off x="6188075" y="3222625"/>
                <a:ext cx="206375" cy="442913"/>
              </a:xfrm>
              <a:custGeom>
                <a:avLst/>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6">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46" name="组合 45">
            <a:extLst>
              <a:ext uri="{FF2B5EF4-FFF2-40B4-BE49-F238E27FC236}">
                <a16:creationId xmlns:a16="http://schemas.microsoft.com/office/drawing/2014/main" id="{9148CD87-D12B-4D5C-A1BE-E6F8ED1A1C58}"/>
              </a:ext>
            </a:extLst>
          </p:cNvPr>
          <p:cNvGrpSpPr/>
          <p:nvPr/>
        </p:nvGrpSpPr>
        <p:grpSpPr>
          <a:xfrm>
            <a:off x="6542850" y="5875923"/>
            <a:ext cx="342764" cy="342764"/>
            <a:chOff x="6542850" y="5875923"/>
            <a:chExt cx="342764" cy="342764"/>
          </a:xfrm>
        </p:grpSpPr>
        <p:sp>
          <p:nvSpPr>
            <p:cNvPr id="47" name="椭圆 46">
              <a:extLst>
                <a:ext uri="{FF2B5EF4-FFF2-40B4-BE49-F238E27FC236}">
                  <a16:creationId xmlns:a16="http://schemas.microsoft.com/office/drawing/2014/main" id="{E3BF3175-9BC8-4E76-8B89-97FB03BB8263}"/>
                </a:ext>
              </a:extLst>
            </p:cNvPr>
            <p:cNvSpPr/>
            <p:nvPr/>
          </p:nvSpPr>
          <p:spPr>
            <a:xfrm>
              <a:off x="6542850"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C06505D0-EA39-41E4-9510-2423A2335B4A}"/>
                </a:ext>
              </a:extLst>
            </p:cNvPr>
            <p:cNvGrpSpPr/>
            <p:nvPr/>
          </p:nvGrpSpPr>
          <p:grpSpPr>
            <a:xfrm>
              <a:off x="6626221" y="5960251"/>
              <a:ext cx="200055" cy="198141"/>
              <a:chOff x="5767388" y="3098800"/>
              <a:chExt cx="663575" cy="657225"/>
            </a:xfrm>
            <a:solidFill>
              <a:schemeClr val="accent1"/>
            </a:solidFill>
          </p:grpSpPr>
          <p:sp>
            <p:nvSpPr>
              <p:cNvPr id="49" name="Freeform 253">
                <a:extLst>
                  <a:ext uri="{FF2B5EF4-FFF2-40B4-BE49-F238E27FC236}">
                    <a16:creationId xmlns:a16="http://schemas.microsoft.com/office/drawing/2014/main" id="{D42B857E-69FF-447F-9286-4AAD220504FC}"/>
                  </a:ext>
                </a:extLst>
              </p:cNvPr>
              <p:cNvSpPr>
                <a:spLocks noEditPoints="1"/>
              </p:cNvSpPr>
              <p:nvPr/>
            </p:nvSpPr>
            <p:spPr bwMode="auto">
              <a:xfrm>
                <a:off x="5767388" y="3098800"/>
                <a:ext cx="663575" cy="519113"/>
              </a:xfrm>
              <a:custGeom>
                <a:avLst/>
                <a:gdLst>
                  <a:gd name="T0" fmla="*/ 165 w 174"/>
                  <a:gd name="T1" fmla="*/ 0 h 136"/>
                  <a:gd name="T2" fmla="*/ 9 w 174"/>
                  <a:gd name="T3" fmla="*/ 0 h 136"/>
                  <a:gd name="T4" fmla="*/ 0 w 174"/>
                  <a:gd name="T5" fmla="*/ 9 h 136"/>
                  <a:gd name="T6" fmla="*/ 0 w 174"/>
                  <a:gd name="T7" fmla="*/ 128 h 136"/>
                  <a:gd name="T8" fmla="*/ 9 w 174"/>
                  <a:gd name="T9" fmla="*/ 136 h 136"/>
                  <a:gd name="T10" fmla="*/ 50 w 174"/>
                  <a:gd name="T11" fmla="*/ 136 h 136"/>
                  <a:gd name="T12" fmla="*/ 41 w 174"/>
                  <a:gd name="T13" fmla="*/ 121 h 136"/>
                  <a:gd name="T14" fmla="*/ 17 w 174"/>
                  <a:gd name="T15" fmla="*/ 121 h 136"/>
                  <a:gd name="T16" fmla="*/ 17 w 174"/>
                  <a:gd name="T17" fmla="*/ 16 h 136"/>
                  <a:gd name="T18" fmla="*/ 157 w 174"/>
                  <a:gd name="T19" fmla="*/ 16 h 136"/>
                  <a:gd name="T20" fmla="*/ 157 w 174"/>
                  <a:gd name="T21" fmla="*/ 121 h 136"/>
                  <a:gd name="T22" fmla="*/ 133 w 174"/>
                  <a:gd name="T23" fmla="*/ 121 h 136"/>
                  <a:gd name="T24" fmla="*/ 133 w 174"/>
                  <a:gd name="T25" fmla="*/ 127 h 136"/>
                  <a:gd name="T26" fmla="*/ 131 w 174"/>
                  <a:gd name="T27" fmla="*/ 136 h 136"/>
                  <a:gd name="T28" fmla="*/ 165 w 174"/>
                  <a:gd name="T29" fmla="*/ 136 h 136"/>
                  <a:gd name="T30" fmla="*/ 174 w 174"/>
                  <a:gd name="T31" fmla="*/ 128 h 136"/>
                  <a:gd name="T32" fmla="*/ 174 w 174"/>
                  <a:gd name="T33" fmla="*/ 9 h 136"/>
                  <a:gd name="T34" fmla="*/ 165 w 174"/>
                  <a:gd name="T35" fmla="*/ 0 h 136"/>
                  <a:gd name="T36" fmla="*/ 8 w 174"/>
                  <a:gd name="T37" fmla="*/ 74 h 136"/>
                  <a:gd name="T38" fmla="*/ 3 w 174"/>
                  <a:gd name="T39" fmla="*/ 68 h 136"/>
                  <a:gd name="T40" fmla="*/ 8 w 174"/>
                  <a:gd name="T41" fmla="*/ 63 h 136"/>
                  <a:gd name="T42" fmla="*/ 14 w 174"/>
                  <a:gd name="T43" fmla="*/ 68 h 136"/>
                  <a:gd name="T44" fmla="*/ 8 w 174"/>
                  <a:gd name="T45" fmla="*/ 7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4" h="136">
                    <a:moveTo>
                      <a:pt x="165" y="0"/>
                    </a:moveTo>
                    <a:cubicBezTo>
                      <a:pt x="9" y="0"/>
                      <a:pt x="9" y="0"/>
                      <a:pt x="9" y="0"/>
                    </a:cubicBezTo>
                    <a:cubicBezTo>
                      <a:pt x="4" y="0"/>
                      <a:pt x="0" y="4"/>
                      <a:pt x="0" y="9"/>
                    </a:cubicBezTo>
                    <a:cubicBezTo>
                      <a:pt x="0" y="128"/>
                      <a:pt x="0" y="128"/>
                      <a:pt x="0" y="128"/>
                    </a:cubicBezTo>
                    <a:cubicBezTo>
                      <a:pt x="0" y="132"/>
                      <a:pt x="4" y="136"/>
                      <a:pt x="9" y="136"/>
                    </a:cubicBezTo>
                    <a:cubicBezTo>
                      <a:pt x="50" y="136"/>
                      <a:pt x="50" y="136"/>
                      <a:pt x="50" y="136"/>
                    </a:cubicBezTo>
                    <a:cubicBezTo>
                      <a:pt x="46" y="131"/>
                      <a:pt x="43" y="126"/>
                      <a:pt x="41" y="121"/>
                    </a:cubicBezTo>
                    <a:cubicBezTo>
                      <a:pt x="17" y="121"/>
                      <a:pt x="17" y="121"/>
                      <a:pt x="17" y="121"/>
                    </a:cubicBezTo>
                    <a:cubicBezTo>
                      <a:pt x="17" y="16"/>
                      <a:pt x="17" y="16"/>
                      <a:pt x="17" y="16"/>
                    </a:cubicBezTo>
                    <a:cubicBezTo>
                      <a:pt x="157" y="16"/>
                      <a:pt x="157" y="16"/>
                      <a:pt x="157" y="16"/>
                    </a:cubicBezTo>
                    <a:cubicBezTo>
                      <a:pt x="157" y="121"/>
                      <a:pt x="157" y="121"/>
                      <a:pt x="157" y="121"/>
                    </a:cubicBezTo>
                    <a:cubicBezTo>
                      <a:pt x="133" y="121"/>
                      <a:pt x="133" y="121"/>
                      <a:pt x="133" y="121"/>
                    </a:cubicBezTo>
                    <a:cubicBezTo>
                      <a:pt x="133" y="127"/>
                      <a:pt x="133" y="127"/>
                      <a:pt x="133" y="127"/>
                    </a:cubicBezTo>
                    <a:cubicBezTo>
                      <a:pt x="133" y="130"/>
                      <a:pt x="132" y="133"/>
                      <a:pt x="131" y="136"/>
                    </a:cubicBezTo>
                    <a:cubicBezTo>
                      <a:pt x="165" y="136"/>
                      <a:pt x="165" y="136"/>
                      <a:pt x="165" y="136"/>
                    </a:cubicBezTo>
                    <a:cubicBezTo>
                      <a:pt x="170" y="136"/>
                      <a:pt x="174" y="132"/>
                      <a:pt x="174" y="128"/>
                    </a:cubicBezTo>
                    <a:cubicBezTo>
                      <a:pt x="174" y="9"/>
                      <a:pt x="174" y="9"/>
                      <a:pt x="174" y="9"/>
                    </a:cubicBezTo>
                    <a:cubicBezTo>
                      <a:pt x="174" y="4"/>
                      <a:pt x="170" y="0"/>
                      <a:pt x="165" y="0"/>
                    </a:cubicBezTo>
                    <a:close/>
                    <a:moveTo>
                      <a:pt x="8" y="74"/>
                    </a:moveTo>
                    <a:cubicBezTo>
                      <a:pt x="5" y="74"/>
                      <a:pt x="3" y="71"/>
                      <a:pt x="3" y="68"/>
                    </a:cubicBezTo>
                    <a:cubicBezTo>
                      <a:pt x="3" y="65"/>
                      <a:pt x="5" y="63"/>
                      <a:pt x="8" y="63"/>
                    </a:cubicBezTo>
                    <a:cubicBezTo>
                      <a:pt x="11" y="63"/>
                      <a:pt x="14" y="65"/>
                      <a:pt x="14" y="68"/>
                    </a:cubicBezTo>
                    <a:cubicBezTo>
                      <a:pt x="14" y="71"/>
                      <a:pt x="11" y="74"/>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54">
                <a:extLst>
                  <a:ext uri="{FF2B5EF4-FFF2-40B4-BE49-F238E27FC236}">
                    <a16:creationId xmlns:a16="http://schemas.microsoft.com/office/drawing/2014/main" id="{0C92A0B8-18D5-496D-A0F7-C493E6DF8C99}"/>
                  </a:ext>
                </a:extLst>
              </p:cNvPr>
              <p:cNvSpPr/>
              <p:nvPr/>
            </p:nvSpPr>
            <p:spPr bwMode="auto">
              <a:xfrm>
                <a:off x="5913438" y="3235325"/>
                <a:ext cx="334963" cy="520700"/>
              </a:xfrm>
              <a:custGeom>
                <a:avLst/>
                <a:gdLst>
                  <a:gd name="T0" fmla="*/ 88 w 88"/>
                  <a:gd name="T1" fmla="*/ 72 h 136"/>
                  <a:gd name="T2" fmla="*/ 88 w 88"/>
                  <a:gd name="T3" fmla="*/ 69 h 136"/>
                  <a:gd name="T4" fmla="*/ 88 w 88"/>
                  <a:gd name="T5" fmla="*/ 47 h 136"/>
                  <a:gd name="T6" fmla="*/ 81 w 88"/>
                  <a:gd name="T7" fmla="*/ 40 h 136"/>
                  <a:gd name="T8" fmla="*/ 73 w 88"/>
                  <a:gd name="T9" fmla="*/ 47 h 136"/>
                  <a:gd name="T10" fmla="*/ 73 w 88"/>
                  <a:gd name="T11" fmla="*/ 49 h 136"/>
                  <a:gd name="T12" fmla="*/ 72 w 88"/>
                  <a:gd name="T13" fmla="*/ 48 h 136"/>
                  <a:gd name="T14" fmla="*/ 72 w 88"/>
                  <a:gd name="T15" fmla="*/ 37 h 136"/>
                  <a:gd name="T16" fmla="*/ 64 w 88"/>
                  <a:gd name="T17" fmla="*/ 30 h 136"/>
                  <a:gd name="T18" fmla="*/ 57 w 88"/>
                  <a:gd name="T19" fmla="*/ 37 h 136"/>
                  <a:gd name="T20" fmla="*/ 57 w 88"/>
                  <a:gd name="T21" fmla="*/ 43 h 136"/>
                  <a:gd name="T22" fmla="*/ 55 w 88"/>
                  <a:gd name="T23" fmla="*/ 43 h 136"/>
                  <a:gd name="T24" fmla="*/ 55 w 88"/>
                  <a:gd name="T25" fmla="*/ 31 h 136"/>
                  <a:gd name="T26" fmla="*/ 48 w 88"/>
                  <a:gd name="T27" fmla="*/ 24 h 136"/>
                  <a:gd name="T28" fmla="*/ 40 w 88"/>
                  <a:gd name="T29" fmla="*/ 31 h 136"/>
                  <a:gd name="T30" fmla="*/ 40 w 88"/>
                  <a:gd name="T31" fmla="*/ 40 h 136"/>
                  <a:gd name="T32" fmla="*/ 38 w 88"/>
                  <a:gd name="T33" fmla="*/ 41 h 136"/>
                  <a:gd name="T34" fmla="*/ 38 w 88"/>
                  <a:gd name="T35" fmla="*/ 7 h 136"/>
                  <a:gd name="T36" fmla="*/ 31 w 88"/>
                  <a:gd name="T37" fmla="*/ 0 h 136"/>
                  <a:gd name="T38" fmla="*/ 24 w 88"/>
                  <a:gd name="T39" fmla="*/ 7 h 136"/>
                  <a:gd name="T40" fmla="*/ 24 w 88"/>
                  <a:gd name="T41" fmla="*/ 67 h 136"/>
                  <a:gd name="T42" fmla="*/ 22 w 88"/>
                  <a:gd name="T43" fmla="*/ 56 h 136"/>
                  <a:gd name="T44" fmla="*/ 8 w 88"/>
                  <a:gd name="T45" fmla="*/ 40 h 136"/>
                  <a:gd name="T46" fmla="*/ 1 w 88"/>
                  <a:gd name="T47" fmla="*/ 46 h 136"/>
                  <a:gd name="T48" fmla="*/ 8 w 88"/>
                  <a:gd name="T49" fmla="*/ 73 h 136"/>
                  <a:gd name="T50" fmla="*/ 20 w 88"/>
                  <a:gd name="T51" fmla="*/ 98 h 136"/>
                  <a:gd name="T52" fmla="*/ 22 w 88"/>
                  <a:gd name="T53" fmla="*/ 101 h 136"/>
                  <a:gd name="T54" fmla="*/ 32 w 88"/>
                  <a:gd name="T55" fmla="*/ 111 h 136"/>
                  <a:gd name="T56" fmla="*/ 32 w 88"/>
                  <a:gd name="T57" fmla="*/ 136 h 136"/>
                  <a:gd name="T58" fmla="*/ 81 w 88"/>
                  <a:gd name="T59" fmla="*/ 136 h 136"/>
                  <a:gd name="T60" fmla="*/ 81 w 88"/>
                  <a:gd name="T61" fmla="*/ 110 h 136"/>
                  <a:gd name="T62" fmla="*/ 87 w 88"/>
                  <a:gd name="T63" fmla="*/ 91 h 136"/>
                  <a:gd name="T64" fmla="*/ 88 w 88"/>
                  <a:gd name="T65" fmla="*/ 72 h 136"/>
                  <a:gd name="T66" fmla="*/ 88 w 88"/>
                  <a:gd name="T67" fmla="*/ 72 h 136"/>
                  <a:gd name="T68" fmla="*/ 88 w 88"/>
                  <a:gd name="T69" fmla="*/ 72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8" h="136">
                    <a:moveTo>
                      <a:pt x="88" y="72"/>
                    </a:moveTo>
                    <a:cubicBezTo>
                      <a:pt x="88" y="71"/>
                      <a:pt x="88" y="70"/>
                      <a:pt x="88" y="69"/>
                    </a:cubicBezTo>
                    <a:cubicBezTo>
                      <a:pt x="88" y="47"/>
                      <a:pt x="88" y="47"/>
                      <a:pt x="88" y="47"/>
                    </a:cubicBezTo>
                    <a:cubicBezTo>
                      <a:pt x="88" y="43"/>
                      <a:pt x="85" y="40"/>
                      <a:pt x="81" y="40"/>
                    </a:cubicBezTo>
                    <a:cubicBezTo>
                      <a:pt x="77" y="40"/>
                      <a:pt x="73" y="43"/>
                      <a:pt x="73" y="47"/>
                    </a:cubicBezTo>
                    <a:cubicBezTo>
                      <a:pt x="73" y="49"/>
                      <a:pt x="73" y="49"/>
                      <a:pt x="73" y="49"/>
                    </a:cubicBezTo>
                    <a:cubicBezTo>
                      <a:pt x="73" y="49"/>
                      <a:pt x="72" y="48"/>
                      <a:pt x="72" y="48"/>
                    </a:cubicBezTo>
                    <a:cubicBezTo>
                      <a:pt x="72" y="37"/>
                      <a:pt x="72" y="37"/>
                      <a:pt x="72" y="37"/>
                    </a:cubicBezTo>
                    <a:cubicBezTo>
                      <a:pt x="72" y="33"/>
                      <a:pt x="68" y="30"/>
                      <a:pt x="64" y="30"/>
                    </a:cubicBezTo>
                    <a:cubicBezTo>
                      <a:pt x="60" y="30"/>
                      <a:pt x="57" y="33"/>
                      <a:pt x="57" y="37"/>
                    </a:cubicBezTo>
                    <a:cubicBezTo>
                      <a:pt x="57" y="43"/>
                      <a:pt x="57" y="43"/>
                      <a:pt x="57" y="43"/>
                    </a:cubicBezTo>
                    <a:cubicBezTo>
                      <a:pt x="56" y="43"/>
                      <a:pt x="56" y="43"/>
                      <a:pt x="55" y="43"/>
                    </a:cubicBezTo>
                    <a:cubicBezTo>
                      <a:pt x="55" y="31"/>
                      <a:pt x="55" y="31"/>
                      <a:pt x="55" y="31"/>
                    </a:cubicBezTo>
                    <a:cubicBezTo>
                      <a:pt x="55" y="27"/>
                      <a:pt x="52" y="24"/>
                      <a:pt x="48" y="24"/>
                    </a:cubicBezTo>
                    <a:cubicBezTo>
                      <a:pt x="44" y="24"/>
                      <a:pt x="40" y="27"/>
                      <a:pt x="40" y="31"/>
                    </a:cubicBezTo>
                    <a:cubicBezTo>
                      <a:pt x="40" y="40"/>
                      <a:pt x="40" y="40"/>
                      <a:pt x="40" y="40"/>
                    </a:cubicBezTo>
                    <a:cubicBezTo>
                      <a:pt x="40" y="40"/>
                      <a:pt x="39" y="40"/>
                      <a:pt x="38" y="41"/>
                    </a:cubicBezTo>
                    <a:cubicBezTo>
                      <a:pt x="38" y="7"/>
                      <a:pt x="38" y="7"/>
                      <a:pt x="38" y="7"/>
                    </a:cubicBezTo>
                    <a:cubicBezTo>
                      <a:pt x="38" y="3"/>
                      <a:pt x="35" y="0"/>
                      <a:pt x="31" y="0"/>
                    </a:cubicBezTo>
                    <a:cubicBezTo>
                      <a:pt x="27" y="0"/>
                      <a:pt x="24" y="3"/>
                      <a:pt x="24" y="7"/>
                    </a:cubicBezTo>
                    <a:cubicBezTo>
                      <a:pt x="24" y="67"/>
                      <a:pt x="24" y="67"/>
                      <a:pt x="24" y="67"/>
                    </a:cubicBezTo>
                    <a:cubicBezTo>
                      <a:pt x="22" y="63"/>
                      <a:pt x="22" y="59"/>
                      <a:pt x="22" y="56"/>
                    </a:cubicBezTo>
                    <a:cubicBezTo>
                      <a:pt x="19" y="44"/>
                      <a:pt x="12" y="39"/>
                      <a:pt x="8" y="40"/>
                    </a:cubicBezTo>
                    <a:cubicBezTo>
                      <a:pt x="7" y="40"/>
                      <a:pt x="0" y="43"/>
                      <a:pt x="1" y="46"/>
                    </a:cubicBezTo>
                    <a:cubicBezTo>
                      <a:pt x="2" y="48"/>
                      <a:pt x="7" y="60"/>
                      <a:pt x="8" y="73"/>
                    </a:cubicBezTo>
                    <a:cubicBezTo>
                      <a:pt x="8" y="82"/>
                      <a:pt x="14" y="91"/>
                      <a:pt x="20" y="98"/>
                    </a:cubicBezTo>
                    <a:cubicBezTo>
                      <a:pt x="20" y="99"/>
                      <a:pt x="21" y="100"/>
                      <a:pt x="22" y="101"/>
                    </a:cubicBezTo>
                    <a:cubicBezTo>
                      <a:pt x="32" y="111"/>
                      <a:pt x="32" y="111"/>
                      <a:pt x="32" y="111"/>
                    </a:cubicBezTo>
                    <a:cubicBezTo>
                      <a:pt x="32" y="136"/>
                      <a:pt x="32" y="136"/>
                      <a:pt x="32" y="136"/>
                    </a:cubicBezTo>
                    <a:cubicBezTo>
                      <a:pt x="81" y="136"/>
                      <a:pt x="81" y="136"/>
                      <a:pt x="81" y="136"/>
                    </a:cubicBezTo>
                    <a:cubicBezTo>
                      <a:pt x="81" y="110"/>
                      <a:pt x="81" y="110"/>
                      <a:pt x="81" y="110"/>
                    </a:cubicBezTo>
                    <a:cubicBezTo>
                      <a:pt x="85" y="104"/>
                      <a:pt x="87" y="97"/>
                      <a:pt x="87" y="91"/>
                    </a:cubicBezTo>
                    <a:cubicBezTo>
                      <a:pt x="88" y="85"/>
                      <a:pt x="88" y="78"/>
                      <a:pt x="88" y="72"/>
                    </a:cubicBezTo>
                    <a:cubicBezTo>
                      <a:pt x="88" y="72"/>
                      <a:pt x="88" y="72"/>
                      <a:pt x="88" y="72"/>
                    </a:cubicBezTo>
                    <a:cubicBezTo>
                      <a:pt x="88" y="72"/>
                      <a:pt x="88" y="72"/>
                      <a:pt x="88"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grpSp>
        <p:nvGrpSpPr>
          <p:cNvPr id="51" name="组合 50">
            <a:extLst>
              <a:ext uri="{FF2B5EF4-FFF2-40B4-BE49-F238E27FC236}">
                <a16:creationId xmlns:a16="http://schemas.microsoft.com/office/drawing/2014/main" id="{28A69667-C074-4130-B878-C9696CB90B22}"/>
              </a:ext>
            </a:extLst>
          </p:cNvPr>
          <p:cNvGrpSpPr/>
          <p:nvPr/>
        </p:nvGrpSpPr>
        <p:grpSpPr>
          <a:xfrm>
            <a:off x="7161082" y="5875923"/>
            <a:ext cx="342764" cy="342764"/>
            <a:chOff x="7161082" y="5875923"/>
            <a:chExt cx="342764" cy="342764"/>
          </a:xfrm>
        </p:grpSpPr>
        <p:sp>
          <p:nvSpPr>
            <p:cNvPr id="52" name="椭圆 51">
              <a:extLst>
                <a:ext uri="{FF2B5EF4-FFF2-40B4-BE49-F238E27FC236}">
                  <a16:creationId xmlns:a16="http://schemas.microsoft.com/office/drawing/2014/main" id="{091EA3C8-07DE-4A3E-9DF5-7E464F3C9B28}"/>
                </a:ext>
              </a:extLst>
            </p:cNvPr>
            <p:cNvSpPr/>
            <p:nvPr/>
          </p:nvSpPr>
          <p:spPr>
            <a:xfrm>
              <a:off x="7161082" y="5875923"/>
              <a:ext cx="342764" cy="342764"/>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a:extLst>
                <a:ext uri="{FF2B5EF4-FFF2-40B4-BE49-F238E27FC236}">
                  <a16:creationId xmlns:a16="http://schemas.microsoft.com/office/drawing/2014/main" id="{1366B173-583E-4E60-8585-FBA0D99DD8AA}"/>
                </a:ext>
              </a:extLst>
            </p:cNvPr>
            <p:cNvGrpSpPr>
              <a:grpSpLocks noChangeAspect="1"/>
            </p:cNvGrpSpPr>
            <p:nvPr/>
          </p:nvGrpSpPr>
          <p:grpSpPr>
            <a:xfrm flipH="1">
              <a:off x="7229508" y="5947390"/>
              <a:ext cx="205911" cy="199830"/>
              <a:chOff x="5719763" y="3063875"/>
              <a:chExt cx="752475" cy="730250"/>
            </a:xfrm>
            <a:solidFill>
              <a:schemeClr val="accent1"/>
            </a:solidFill>
          </p:grpSpPr>
          <p:sp>
            <p:nvSpPr>
              <p:cNvPr id="54" name="Oval 154">
                <a:extLst>
                  <a:ext uri="{FF2B5EF4-FFF2-40B4-BE49-F238E27FC236}">
                    <a16:creationId xmlns:a16="http://schemas.microsoft.com/office/drawing/2014/main" id="{F6500758-755F-441D-A869-1DE3F4A31344}"/>
                  </a:ext>
                </a:extLst>
              </p:cNvPr>
              <p:cNvSpPr>
                <a:spLocks noChangeArrowheads="1"/>
              </p:cNvSpPr>
              <p:nvPr/>
            </p:nvSpPr>
            <p:spPr bwMode="auto">
              <a:xfrm>
                <a:off x="6161088" y="3098800"/>
                <a:ext cx="95250" cy="1174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Rectangle 155">
                <a:extLst>
                  <a:ext uri="{FF2B5EF4-FFF2-40B4-BE49-F238E27FC236}">
                    <a16:creationId xmlns:a16="http://schemas.microsoft.com/office/drawing/2014/main" id="{513FA4C5-B132-4E85-B0EA-D9556FBF1EFD}"/>
                  </a:ext>
                </a:extLst>
              </p:cNvPr>
              <p:cNvSpPr>
                <a:spLocks noChangeArrowheads="1"/>
              </p:cNvSpPr>
              <p:nvPr/>
            </p:nvSpPr>
            <p:spPr bwMode="auto">
              <a:xfrm>
                <a:off x="6210301"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6" name="Freeform 156">
                <a:extLst>
                  <a:ext uri="{FF2B5EF4-FFF2-40B4-BE49-F238E27FC236}">
                    <a16:creationId xmlns:a16="http://schemas.microsoft.com/office/drawing/2014/main" id="{9122EC7F-A774-4371-87EE-B46FD6FC412C}"/>
                  </a:ext>
                </a:extLst>
              </p:cNvPr>
              <p:cNvSpPr/>
              <p:nvPr/>
            </p:nvSpPr>
            <p:spPr bwMode="auto">
              <a:xfrm>
                <a:off x="6191251" y="3235325"/>
                <a:ext cx="33338" cy="33338"/>
              </a:xfrm>
              <a:custGeom>
                <a:avLst/>
                <a:gdLst>
                  <a:gd name="T0" fmla="*/ 17 w 21"/>
                  <a:gd name="T1" fmla="*/ 0 h 21"/>
                  <a:gd name="T2" fmla="*/ 21 w 21"/>
                  <a:gd name="T3" fmla="*/ 12 h 21"/>
                  <a:gd name="T4" fmla="*/ 12 w 21"/>
                  <a:gd name="T5" fmla="*/ 21 h 21"/>
                  <a:gd name="T6" fmla="*/ 0 w 21"/>
                  <a:gd name="T7" fmla="*/ 12 h 21"/>
                  <a:gd name="T8" fmla="*/ 5 w 21"/>
                  <a:gd name="T9" fmla="*/ 0 h 21"/>
                  <a:gd name="T10" fmla="*/ 17 w 21"/>
                  <a:gd name="T11" fmla="*/ 0 h 21"/>
                </a:gdLst>
                <a:ahLst/>
                <a:cxnLst>
                  <a:cxn ang="0">
                    <a:pos x="T0" y="T1"/>
                  </a:cxn>
                  <a:cxn ang="0">
                    <a:pos x="T2" y="T3"/>
                  </a:cxn>
                  <a:cxn ang="0">
                    <a:pos x="T4" y="T5"/>
                  </a:cxn>
                  <a:cxn ang="0">
                    <a:pos x="T6" y="T7"/>
                  </a:cxn>
                  <a:cxn ang="0">
                    <a:pos x="T8" y="T9"/>
                  </a:cxn>
                  <a:cxn ang="0">
                    <a:pos x="T10" y="T11"/>
                  </a:cxn>
                </a:cxnLst>
                <a:rect l="0" t="0" r="r" b="b"/>
                <a:pathLst>
                  <a:path w="21" h="21">
                    <a:moveTo>
                      <a:pt x="17" y="0"/>
                    </a:moveTo>
                    <a:lnTo>
                      <a:pt x="21" y="12"/>
                    </a:lnTo>
                    <a:lnTo>
                      <a:pt x="12" y="21"/>
                    </a:lnTo>
                    <a:lnTo>
                      <a:pt x="0" y="12"/>
                    </a:lnTo>
                    <a:lnTo>
                      <a:pt x="5" y="0"/>
                    </a:lnTo>
                    <a:lnTo>
                      <a:pt x="17"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157">
                <a:extLst>
                  <a:ext uri="{FF2B5EF4-FFF2-40B4-BE49-F238E27FC236}">
                    <a16:creationId xmlns:a16="http://schemas.microsoft.com/office/drawing/2014/main" id="{9864FA0E-B9E6-4786-8FF4-750C43E41132}"/>
                  </a:ext>
                </a:extLst>
              </p:cNvPr>
              <p:cNvSpPr/>
              <p:nvPr/>
            </p:nvSpPr>
            <p:spPr bwMode="auto">
              <a:xfrm>
                <a:off x="6191251" y="3257550"/>
                <a:ext cx="33338" cy="141288"/>
              </a:xfrm>
              <a:custGeom>
                <a:avLst/>
                <a:gdLst>
                  <a:gd name="T0" fmla="*/ 19 w 21"/>
                  <a:gd name="T1" fmla="*/ 0 h 89"/>
                  <a:gd name="T2" fmla="*/ 21 w 21"/>
                  <a:gd name="T3" fmla="*/ 82 h 89"/>
                  <a:gd name="T4" fmla="*/ 12 w 21"/>
                  <a:gd name="T5" fmla="*/ 89 h 89"/>
                  <a:gd name="T6" fmla="*/ 0 w 21"/>
                  <a:gd name="T7" fmla="*/ 82 h 89"/>
                  <a:gd name="T8" fmla="*/ 5 w 21"/>
                  <a:gd name="T9" fmla="*/ 0 h 89"/>
                  <a:gd name="T10" fmla="*/ 19 w 21"/>
                  <a:gd name="T11" fmla="*/ 0 h 89"/>
                </a:gdLst>
                <a:ahLst/>
                <a:cxnLst>
                  <a:cxn ang="0">
                    <a:pos x="T0" y="T1"/>
                  </a:cxn>
                  <a:cxn ang="0">
                    <a:pos x="T2" y="T3"/>
                  </a:cxn>
                  <a:cxn ang="0">
                    <a:pos x="T4" y="T5"/>
                  </a:cxn>
                  <a:cxn ang="0">
                    <a:pos x="T6" y="T7"/>
                  </a:cxn>
                  <a:cxn ang="0">
                    <a:pos x="T8" y="T9"/>
                  </a:cxn>
                  <a:cxn ang="0">
                    <a:pos x="T10" y="T11"/>
                  </a:cxn>
                </a:cxnLst>
                <a:rect l="0" t="0" r="r" b="b"/>
                <a:pathLst>
                  <a:path w="21" h="89">
                    <a:moveTo>
                      <a:pt x="19" y="0"/>
                    </a:moveTo>
                    <a:lnTo>
                      <a:pt x="21" y="82"/>
                    </a:lnTo>
                    <a:lnTo>
                      <a:pt x="12" y="89"/>
                    </a:lnTo>
                    <a:lnTo>
                      <a:pt x="0" y="82"/>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Oval 158">
                <a:extLst>
                  <a:ext uri="{FF2B5EF4-FFF2-40B4-BE49-F238E27FC236}">
                    <a16:creationId xmlns:a16="http://schemas.microsoft.com/office/drawing/2014/main" id="{B28841C7-9E82-4417-99BB-F92212E43B5E}"/>
                  </a:ext>
                </a:extLst>
              </p:cNvPr>
              <p:cNvSpPr>
                <a:spLocks noChangeArrowheads="1"/>
              </p:cNvSpPr>
              <p:nvPr/>
            </p:nvSpPr>
            <p:spPr bwMode="auto">
              <a:xfrm>
                <a:off x="5856288" y="3063875"/>
                <a:ext cx="111125" cy="1333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Rectangle 159">
                <a:extLst>
                  <a:ext uri="{FF2B5EF4-FFF2-40B4-BE49-F238E27FC236}">
                    <a16:creationId xmlns:a16="http://schemas.microsoft.com/office/drawing/2014/main" id="{EDE2B556-B937-4681-8F4D-5D6729C0112F}"/>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0" name="Freeform 160">
                <a:extLst>
                  <a:ext uri="{FF2B5EF4-FFF2-40B4-BE49-F238E27FC236}">
                    <a16:creationId xmlns:a16="http://schemas.microsoft.com/office/drawing/2014/main" id="{B91E5A24-C608-4095-A701-FE7CE461A55E}"/>
                  </a:ext>
                </a:extLst>
              </p:cNvPr>
              <p:cNvSpPr/>
              <p:nvPr/>
            </p:nvSpPr>
            <p:spPr bwMode="auto">
              <a:xfrm>
                <a:off x="5722938" y="3322638"/>
                <a:ext cx="0" cy="3175"/>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Rectangle 161">
                <a:extLst>
                  <a:ext uri="{FF2B5EF4-FFF2-40B4-BE49-F238E27FC236}">
                    <a16:creationId xmlns:a16="http://schemas.microsoft.com/office/drawing/2014/main" id="{933295DC-B98B-4C5B-A4DA-02FB61541B8B}"/>
                  </a:ext>
                </a:extLst>
              </p:cNvPr>
              <p:cNvSpPr>
                <a:spLocks noChangeArrowheads="1"/>
              </p:cNvSpPr>
              <p:nvPr/>
            </p:nvSpPr>
            <p:spPr bwMode="auto">
              <a:xfrm>
                <a:off x="5913438" y="3387725"/>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2" name="Freeform 162">
                <a:extLst>
                  <a:ext uri="{FF2B5EF4-FFF2-40B4-BE49-F238E27FC236}">
                    <a16:creationId xmlns:a16="http://schemas.microsoft.com/office/drawing/2014/main" id="{F1DFDE6F-926B-44F2-B553-04294D280831}"/>
                  </a:ext>
                </a:extLst>
              </p:cNvPr>
              <p:cNvSpPr/>
              <p:nvPr/>
            </p:nvSpPr>
            <p:spPr bwMode="auto">
              <a:xfrm>
                <a:off x="5894388" y="3205163"/>
                <a:ext cx="34925" cy="41275"/>
              </a:xfrm>
              <a:custGeom>
                <a:avLst/>
                <a:gdLst>
                  <a:gd name="T0" fmla="*/ 19 w 22"/>
                  <a:gd name="T1" fmla="*/ 0 h 26"/>
                  <a:gd name="T2" fmla="*/ 22 w 22"/>
                  <a:gd name="T3" fmla="*/ 16 h 26"/>
                  <a:gd name="T4" fmla="*/ 12 w 22"/>
                  <a:gd name="T5" fmla="*/ 26 h 26"/>
                  <a:gd name="T6" fmla="*/ 0 w 22"/>
                  <a:gd name="T7" fmla="*/ 16 h 26"/>
                  <a:gd name="T8" fmla="*/ 5 w 22"/>
                  <a:gd name="T9" fmla="*/ 0 h 26"/>
                  <a:gd name="T10" fmla="*/ 19 w 22"/>
                  <a:gd name="T11" fmla="*/ 0 h 26"/>
                </a:gdLst>
                <a:ahLst/>
                <a:cxnLst>
                  <a:cxn ang="0">
                    <a:pos x="T0" y="T1"/>
                  </a:cxn>
                  <a:cxn ang="0">
                    <a:pos x="T2" y="T3"/>
                  </a:cxn>
                  <a:cxn ang="0">
                    <a:pos x="T4" y="T5"/>
                  </a:cxn>
                  <a:cxn ang="0">
                    <a:pos x="T6" y="T7"/>
                  </a:cxn>
                  <a:cxn ang="0">
                    <a:pos x="T8" y="T9"/>
                  </a:cxn>
                  <a:cxn ang="0">
                    <a:pos x="T10" y="T11"/>
                  </a:cxn>
                </a:cxnLst>
                <a:rect l="0" t="0" r="r" b="b"/>
                <a:pathLst>
                  <a:path w="22" h="26">
                    <a:moveTo>
                      <a:pt x="19" y="0"/>
                    </a:moveTo>
                    <a:lnTo>
                      <a:pt x="22" y="16"/>
                    </a:lnTo>
                    <a:lnTo>
                      <a:pt x="12" y="26"/>
                    </a:lnTo>
                    <a:lnTo>
                      <a:pt x="0" y="16"/>
                    </a:lnTo>
                    <a:lnTo>
                      <a:pt x="5" y="0"/>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163">
                <a:extLst>
                  <a:ext uri="{FF2B5EF4-FFF2-40B4-BE49-F238E27FC236}">
                    <a16:creationId xmlns:a16="http://schemas.microsoft.com/office/drawing/2014/main" id="{B106AAE0-C66A-4689-9FCA-B67ECD001860}"/>
                  </a:ext>
                </a:extLst>
              </p:cNvPr>
              <p:cNvSpPr/>
              <p:nvPr/>
            </p:nvSpPr>
            <p:spPr bwMode="auto">
              <a:xfrm>
                <a:off x="5891213" y="3235325"/>
                <a:ext cx="41275" cy="166688"/>
              </a:xfrm>
              <a:custGeom>
                <a:avLst/>
                <a:gdLst>
                  <a:gd name="T0" fmla="*/ 21 w 26"/>
                  <a:gd name="T1" fmla="*/ 0 h 105"/>
                  <a:gd name="T2" fmla="*/ 26 w 26"/>
                  <a:gd name="T3" fmla="*/ 96 h 105"/>
                  <a:gd name="T4" fmla="*/ 14 w 26"/>
                  <a:gd name="T5" fmla="*/ 105 h 105"/>
                  <a:gd name="T6" fmla="*/ 0 w 26"/>
                  <a:gd name="T7" fmla="*/ 96 h 105"/>
                  <a:gd name="T8" fmla="*/ 4 w 26"/>
                  <a:gd name="T9" fmla="*/ 0 h 105"/>
                  <a:gd name="T10" fmla="*/ 21 w 26"/>
                  <a:gd name="T11" fmla="*/ 0 h 105"/>
                </a:gdLst>
                <a:ahLst/>
                <a:cxnLst>
                  <a:cxn ang="0">
                    <a:pos x="T0" y="T1"/>
                  </a:cxn>
                  <a:cxn ang="0">
                    <a:pos x="T2" y="T3"/>
                  </a:cxn>
                  <a:cxn ang="0">
                    <a:pos x="T4" y="T5"/>
                  </a:cxn>
                  <a:cxn ang="0">
                    <a:pos x="T6" y="T7"/>
                  </a:cxn>
                  <a:cxn ang="0">
                    <a:pos x="T8" y="T9"/>
                  </a:cxn>
                  <a:cxn ang="0">
                    <a:pos x="T10" y="T11"/>
                  </a:cxn>
                </a:cxnLst>
                <a:rect l="0" t="0" r="r" b="b"/>
                <a:pathLst>
                  <a:path w="26" h="105">
                    <a:moveTo>
                      <a:pt x="21" y="0"/>
                    </a:moveTo>
                    <a:lnTo>
                      <a:pt x="26" y="96"/>
                    </a:lnTo>
                    <a:lnTo>
                      <a:pt x="14" y="105"/>
                    </a:lnTo>
                    <a:lnTo>
                      <a:pt x="0" y="96"/>
                    </a:lnTo>
                    <a:lnTo>
                      <a:pt x="4" y="0"/>
                    </a:lnTo>
                    <a:lnTo>
                      <a:pt x="2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164">
                <a:extLst>
                  <a:ext uri="{FF2B5EF4-FFF2-40B4-BE49-F238E27FC236}">
                    <a16:creationId xmlns:a16="http://schemas.microsoft.com/office/drawing/2014/main" id="{C483CAA4-3170-4899-9FBB-3B3F0EAC2678}"/>
                  </a:ext>
                </a:extLst>
              </p:cNvPr>
              <p:cNvSpPr>
                <a:spLocks noEditPoints="1"/>
              </p:cNvSpPr>
              <p:nvPr/>
            </p:nvSpPr>
            <p:spPr bwMode="auto">
              <a:xfrm>
                <a:off x="5719763" y="3211513"/>
                <a:ext cx="373063" cy="547688"/>
              </a:xfrm>
              <a:custGeom>
                <a:avLst/>
                <a:gdLst>
                  <a:gd name="T0" fmla="*/ 60 w 98"/>
                  <a:gd name="T1" fmla="*/ 74 h 144"/>
                  <a:gd name="T2" fmla="*/ 75 w 98"/>
                  <a:gd name="T3" fmla="*/ 57 h 144"/>
                  <a:gd name="T4" fmla="*/ 74 w 98"/>
                  <a:gd name="T5" fmla="*/ 36 h 144"/>
                  <a:gd name="T6" fmla="*/ 77 w 98"/>
                  <a:gd name="T7" fmla="*/ 40 h 144"/>
                  <a:gd name="T8" fmla="*/ 78 w 98"/>
                  <a:gd name="T9" fmla="*/ 57 h 144"/>
                  <a:gd name="T10" fmla="*/ 98 w 98"/>
                  <a:gd name="T11" fmla="*/ 57 h 144"/>
                  <a:gd name="T12" fmla="*/ 92 w 98"/>
                  <a:gd name="T13" fmla="*/ 31 h 144"/>
                  <a:gd name="T14" fmla="*/ 74 w 98"/>
                  <a:gd name="T15" fmla="*/ 4 h 144"/>
                  <a:gd name="T16" fmla="*/ 63 w 98"/>
                  <a:gd name="T17" fmla="*/ 0 h 144"/>
                  <a:gd name="T18" fmla="*/ 63 w 98"/>
                  <a:gd name="T19" fmla="*/ 0 h 144"/>
                  <a:gd name="T20" fmla="*/ 69 w 98"/>
                  <a:gd name="T21" fmla="*/ 5 h 144"/>
                  <a:gd name="T22" fmla="*/ 61 w 98"/>
                  <a:gd name="T23" fmla="*/ 9 h 144"/>
                  <a:gd name="T24" fmla="*/ 65 w 98"/>
                  <a:gd name="T25" fmla="*/ 15 h 144"/>
                  <a:gd name="T26" fmla="*/ 51 w 98"/>
                  <a:gd name="T27" fmla="*/ 46 h 144"/>
                  <a:gd name="T28" fmla="*/ 51 w 98"/>
                  <a:gd name="T29" fmla="*/ 46 h 144"/>
                  <a:gd name="T30" fmla="*/ 51 w 98"/>
                  <a:gd name="T31" fmla="*/ 46 h 144"/>
                  <a:gd name="T32" fmla="*/ 51 w 98"/>
                  <a:gd name="T33" fmla="*/ 46 h 144"/>
                  <a:gd name="T34" fmla="*/ 51 w 98"/>
                  <a:gd name="T35" fmla="*/ 46 h 144"/>
                  <a:gd name="T36" fmla="*/ 36 w 98"/>
                  <a:gd name="T37" fmla="*/ 15 h 144"/>
                  <a:gd name="T38" fmla="*/ 40 w 98"/>
                  <a:gd name="T39" fmla="*/ 9 h 144"/>
                  <a:gd name="T40" fmla="*/ 33 w 98"/>
                  <a:gd name="T41" fmla="*/ 5 h 144"/>
                  <a:gd name="T42" fmla="*/ 39 w 98"/>
                  <a:gd name="T43" fmla="*/ 0 h 144"/>
                  <a:gd name="T44" fmla="*/ 39 w 98"/>
                  <a:gd name="T45" fmla="*/ 0 h 144"/>
                  <a:gd name="T46" fmla="*/ 31 w 98"/>
                  <a:gd name="T47" fmla="*/ 0 h 144"/>
                  <a:gd name="T48" fmla="*/ 25 w 98"/>
                  <a:gd name="T49" fmla="*/ 3 h 144"/>
                  <a:gd name="T50" fmla="*/ 1 w 98"/>
                  <a:gd name="T51" fmla="*/ 29 h 144"/>
                  <a:gd name="T52" fmla="*/ 1 w 98"/>
                  <a:gd name="T53" fmla="*/ 29 h 144"/>
                  <a:gd name="T54" fmla="*/ 1 w 98"/>
                  <a:gd name="T55" fmla="*/ 30 h 144"/>
                  <a:gd name="T56" fmla="*/ 0 w 98"/>
                  <a:gd name="T57" fmla="*/ 40 h 144"/>
                  <a:gd name="T58" fmla="*/ 0 w 98"/>
                  <a:gd name="T59" fmla="*/ 41 h 144"/>
                  <a:gd name="T60" fmla="*/ 0 w 98"/>
                  <a:gd name="T61" fmla="*/ 42 h 144"/>
                  <a:gd name="T62" fmla="*/ 1 w 98"/>
                  <a:gd name="T63" fmla="*/ 44 h 144"/>
                  <a:gd name="T64" fmla="*/ 3 w 98"/>
                  <a:gd name="T65" fmla="*/ 48 h 144"/>
                  <a:gd name="T66" fmla="*/ 7 w 98"/>
                  <a:gd name="T67" fmla="*/ 55 h 144"/>
                  <a:gd name="T68" fmla="*/ 15 w 98"/>
                  <a:gd name="T69" fmla="*/ 71 h 144"/>
                  <a:gd name="T70" fmla="*/ 26 w 98"/>
                  <a:gd name="T71" fmla="*/ 65 h 144"/>
                  <a:gd name="T72" fmla="*/ 26 w 98"/>
                  <a:gd name="T73" fmla="*/ 75 h 144"/>
                  <a:gd name="T74" fmla="*/ 26 w 98"/>
                  <a:gd name="T75" fmla="*/ 76 h 144"/>
                  <a:gd name="T76" fmla="*/ 28 w 98"/>
                  <a:gd name="T77" fmla="*/ 76 h 144"/>
                  <a:gd name="T78" fmla="*/ 30 w 98"/>
                  <a:gd name="T79" fmla="*/ 144 h 144"/>
                  <a:gd name="T80" fmla="*/ 50 w 98"/>
                  <a:gd name="T81" fmla="*/ 144 h 144"/>
                  <a:gd name="T82" fmla="*/ 50 w 98"/>
                  <a:gd name="T83" fmla="*/ 76 h 144"/>
                  <a:gd name="T84" fmla="*/ 52 w 98"/>
                  <a:gd name="T85" fmla="*/ 76 h 144"/>
                  <a:gd name="T86" fmla="*/ 54 w 98"/>
                  <a:gd name="T87" fmla="*/ 144 h 144"/>
                  <a:gd name="T88" fmla="*/ 60 w 98"/>
                  <a:gd name="T89" fmla="*/ 144 h 144"/>
                  <a:gd name="T90" fmla="*/ 60 w 98"/>
                  <a:gd name="T91" fmla="*/ 74 h 144"/>
                  <a:gd name="T92" fmla="*/ 27 w 98"/>
                  <a:gd name="T93" fmla="*/ 50 h 144"/>
                  <a:gd name="T94" fmla="*/ 24 w 98"/>
                  <a:gd name="T95" fmla="*/ 46 h 144"/>
                  <a:gd name="T96" fmla="*/ 20 w 98"/>
                  <a:gd name="T97" fmla="*/ 39 h 144"/>
                  <a:gd name="T98" fmla="*/ 19 w 98"/>
                  <a:gd name="T99" fmla="*/ 36 h 144"/>
                  <a:gd name="T100" fmla="*/ 27 w 98"/>
                  <a:gd name="T101" fmla="*/ 26 h 144"/>
                  <a:gd name="T102" fmla="*/ 27 w 98"/>
                  <a:gd name="T103" fmla="*/ 5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44">
                    <a:moveTo>
                      <a:pt x="60" y="74"/>
                    </a:moveTo>
                    <a:cubicBezTo>
                      <a:pt x="60" y="66"/>
                      <a:pt x="66" y="58"/>
                      <a:pt x="75" y="57"/>
                    </a:cubicBezTo>
                    <a:cubicBezTo>
                      <a:pt x="75" y="50"/>
                      <a:pt x="75" y="43"/>
                      <a:pt x="74" y="36"/>
                    </a:cubicBezTo>
                    <a:cubicBezTo>
                      <a:pt x="77" y="40"/>
                      <a:pt x="77" y="40"/>
                      <a:pt x="77" y="40"/>
                    </a:cubicBezTo>
                    <a:cubicBezTo>
                      <a:pt x="78" y="41"/>
                      <a:pt x="78" y="49"/>
                      <a:pt x="78" y="57"/>
                    </a:cubicBezTo>
                    <a:cubicBezTo>
                      <a:pt x="98" y="57"/>
                      <a:pt x="98" y="57"/>
                      <a:pt x="98" y="57"/>
                    </a:cubicBezTo>
                    <a:cubicBezTo>
                      <a:pt x="98" y="50"/>
                      <a:pt x="98" y="43"/>
                      <a:pt x="92" y="31"/>
                    </a:cubicBezTo>
                    <a:cubicBezTo>
                      <a:pt x="74" y="4"/>
                      <a:pt x="74" y="4"/>
                      <a:pt x="74" y="4"/>
                    </a:cubicBezTo>
                    <a:cubicBezTo>
                      <a:pt x="71" y="0"/>
                      <a:pt x="64" y="0"/>
                      <a:pt x="63" y="0"/>
                    </a:cubicBezTo>
                    <a:cubicBezTo>
                      <a:pt x="63" y="0"/>
                      <a:pt x="63" y="0"/>
                      <a:pt x="63" y="0"/>
                    </a:cubicBezTo>
                    <a:cubicBezTo>
                      <a:pt x="69" y="5"/>
                      <a:pt x="69" y="5"/>
                      <a:pt x="69" y="5"/>
                    </a:cubicBezTo>
                    <a:cubicBezTo>
                      <a:pt x="61" y="9"/>
                      <a:pt x="61" y="9"/>
                      <a:pt x="61" y="9"/>
                    </a:cubicBezTo>
                    <a:cubicBezTo>
                      <a:pt x="65" y="15"/>
                      <a:pt x="65" y="15"/>
                      <a:pt x="65" y="15"/>
                    </a:cubicBezTo>
                    <a:cubicBezTo>
                      <a:pt x="51" y="46"/>
                      <a:pt x="51" y="46"/>
                      <a:pt x="51" y="46"/>
                    </a:cubicBezTo>
                    <a:cubicBezTo>
                      <a:pt x="51" y="46"/>
                      <a:pt x="51" y="46"/>
                      <a:pt x="51" y="46"/>
                    </a:cubicBezTo>
                    <a:cubicBezTo>
                      <a:pt x="51" y="46"/>
                      <a:pt x="51" y="46"/>
                      <a:pt x="51" y="46"/>
                    </a:cubicBezTo>
                    <a:cubicBezTo>
                      <a:pt x="51" y="46"/>
                      <a:pt x="51" y="46"/>
                      <a:pt x="51" y="46"/>
                    </a:cubicBezTo>
                    <a:cubicBezTo>
                      <a:pt x="51" y="46"/>
                      <a:pt x="51" y="46"/>
                      <a:pt x="51" y="46"/>
                    </a:cubicBezTo>
                    <a:cubicBezTo>
                      <a:pt x="36" y="15"/>
                      <a:pt x="36" y="15"/>
                      <a:pt x="36" y="15"/>
                    </a:cubicBezTo>
                    <a:cubicBezTo>
                      <a:pt x="40" y="9"/>
                      <a:pt x="40" y="9"/>
                      <a:pt x="40" y="9"/>
                    </a:cubicBezTo>
                    <a:cubicBezTo>
                      <a:pt x="33" y="5"/>
                      <a:pt x="33" y="5"/>
                      <a:pt x="33" y="5"/>
                    </a:cubicBezTo>
                    <a:cubicBezTo>
                      <a:pt x="39" y="0"/>
                      <a:pt x="39" y="0"/>
                      <a:pt x="39" y="0"/>
                    </a:cubicBezTo>
                    <a:cubicBezTo>
                      <a:pt x="39" y="0"/>
                      <a:pt x="39" y="0"/>
                      <a:pt x="39" y="0"/>
                    </a:cubicBezTo>
                    <a:cubicBezTo>
                      <a:pt x="36" y="0"/>
                      <a:pt x="31" y="0"/>
                      <a:pt x="31" y="0"/>
                    </a:cubicBezTo>
                    <a:cubicBezTo>
                      <a:pt x="29" y="1"/>
                      <a:pt x="27" y="2"/>
                      <a:pt x="25" y="3"/>
                    </a:cubicBezTo>
                    <a:cubicBezTo>
                      <a:pt x="1" y="29"/>
                      <a:pt x="1" y="29"/>
                      <a:pt x="1" y="29"/>
                    </a:cubicBezTo>
                    <a:cubicBezTo>
                      <a:pt x="1" y="29"/>
                      <a:pt x="1" y="29"/>
                      <a:pt x="1" y="29"/>
                    </a:cubicBezTo>
                    <a:cubicBezTo>
                      <a:pt x="1" y="30"/>
                      <a:pt x="1" y="30"/>
                      <a:pt x="1" y="30"/>
                    </a:cubicBezTo>
                    <a:cubicBezTo>
                      <a:pt x="1" y="31"/>
                      <a:pt x="0" y="40"/>
                      <a:pt x="0" y="40"/>
                    </a:cubicBezTo>
                    <a:cubicBezTo>
                      <a:pt x="0" y="41"/>
                      <a:pt x="0" y="41"/>
                      <a:pt x="0" y="41"/>
                    </a:cubicBezTo>
                    <a:cubicBezTo>
                      <a:pt x="0" y="42"/>
                      <a:pt x="0" y="42"/>
                      <a:pt x="0" y="42"/>
                    </a:cubicBezTo>
                    <a:cubicBezTo>
                      <a:pt x="1" y="44"/>
                      <a:pt x="1" y="44"/>
                      <a:pt x="1" y="44"/>
                    </a:cubicBezTo>
                    <a:cubicBezTo>
                      <a:pt x="3" y="48"/>
                      <a:pt x="3" y="48"/>
                      <a:pt x="3" y="48"/>
                    </a:cubicBezTo>
                    <a:cubicBezTo>
                      <a:pt x="7" y="55"/>
                      <a:pt x="7" y="55"/>
                      <a:pt x="7" y="55"/>
                    </a:cubicBezTo>
                    <a:cubicBezTo>
                      <a:pt x="15" y="71"/>
                      <a:pt x="15" y="71"/>
                      <a:pt x="15" y="71"/>
                    </a:cubicBezTo>
                    <a:cubicBezTo>
                      <a:pt x="19" y="69"/>
                      <a:pt x="23" y="67"/>
                      <a:pt x="26" y="65"/>
                    </a:cubicBezTo>
                    <a:cubicBezTo>
                      <a:pt x="26" y="69"/>
                      <a:pt x="26" y="72"/>
                      <a:pt x="26" y="75"/>
                    </a:cubicBezTo>
                    <a:cubicBezTo>
                      <a:pt x="26" y="76"/>
                      <a:pt x="26" y="76"/>
                      <a:pt x="26" y="76"/>
                    </a:cubicBezTo>
                    <a:cubicBezTo>
                      <a:pt x="27" y="76"/>
                      <a:pt x="27" y="76"/>
                      <a:pt x="28" y="76"/>
                    </a:cubicBezTo>
                    <a:cubicBezTo>
                      <a:pt x="30" y="144"/>
                      <a:pt x="30" y="144"/>
                      <a:pt x="30" y="144"/>
                    </a:cubicBezTo>
                    <a:cubicBezTo>
                      <a:pt x="50" y="144"/>
                      <a:pt x="50" y="144"/>
                      <a:pt x="50" y="144"/>
                    </a:cubicBezTo>
                    <a:cubicBezTo>
                      <a:pt x="50" y="124"/>
                      <a:pt x="50" y="89"/>
                      <a:pt x="50" y="76"/>
                    </a:cubicBezTo>
                    <a:cubicBezTo>
                      <a:pt x="50" y="76"/>
                      <a:pt x="51" y="76"/>
                      <a:pt x="52" y="76"/>
                    </a:cubicBezTo>
                    <a:cubicBezTo>
                      <a:pt x="54" y="144"/>
                      <a:pt x="54" y="144"/>
                      <a:pt x="54" y="144"/>
                    </a:cubicBezTo>
                    <a:cubicBezTo>
                      <a:pt x="60" y="144"/>
                      <a:pt x="60" y="144"/>
                      <a:pt x="60" y="144"/>
                    </a:cubicBezTo>
                    <a:lnTo>
                      <a:pt x="60" y="74"/>
                    </a:lnTo>
                    <a:close/>
                    <a:moveTo>
                      <a:pt x="27" y="50"/>
                    </a:moveTo>
                    <a:cubicBezTo>
                      <a:pt x="24" y="46"/>
                      <a:pt x="24" y="46"/>
                      <a:pt x="24" y="46"/>
                    </a:cubicBezTo>
                    <a:cubicBezTo>
                      <a:pt x="20" y="39"/>
                      <a:pt x="20" y="39"/>
                      <a:pt x="20" y="39"/>
                    </a:cubicBezTo>
                    <a:cubicBezTo>
                      <a:pt x="19" y="36"/>
                      <a:pt x="19" y="36"/>
                      <a:pt x="19" y="36"/>
                    </a:cubicBezTo>
                    <a:cubicBezTo>
                      <a:pt x="27" y="26"/>
                      <a:pt x="27" y="26"/>
                      <a:pt x="27" y="26"/>
                    </a:cubicBezTo>
                    <a:cubicBezTo>
                      <a:pt x="27" y="34"/>
                      <a:pt x="27" y="42"/>
                      <a:pt x="27" y="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165">
                <a:extLst>
                  <a:ext uri="{FF2B5EF4-FFF2-40B4-BE49-F238E27FC236}">
                    <a16:creationId xmlns:a16="http://schemas.microsoft.com/office/drawing/2014/main" id="{109D93F2-39D7-4720-A015-41D1E18020FB}"/>
                  </a:ext>
                </a:extLst>
              </p:cNvPr>
              <p:cNvSpPr/>
              <p:nvPr/>
            </p:nvSpPr>
            <p:spPr bwMode="auto">
              <a:xfrm>
                <a:off x="6099176" y="3230563"/>
                <a:ext cx="220663" cy="198438"/>
              </a:xfrm>
              <a:custGeom>
                <a:avLst/>
                <a:gdLst>
                  <a:gd name="T0" fmla="*/ 1 w 58"/>
                  <a:gd name="T1" fmla="*/ 52 h 52"/>
                  <a:gd name="T2" fmla="*/ 30 w 58"/>
                  <a:gd name="T3" fmla="*/ 52 h 52"/>
                  <a:gd name="T4" fmla="*/ 58 w 58"/>
                  <a:gd name="T5" fmla="*/ 52 h 52"/>
                  <a:gd name="T6" fmla="*/ 55 w 58"/>
                  <a:gd name="T7" fmla="*/ 8 h 52"/>
                  <a:gd name="T8" fmla="*/ 47 w 58"/>
                  <a:gd name="T9" fmla="*/ 0 h 52"/>
                  <a:gd name="T10" fmla="*/ 40 w 58"/>
                  <a:gd name="T11" fmla="*/ 0 h 52"/>
                  <a:gd name="T12" fmla="*/ 45 w 58"/>
                  <a:gd name="T13" fmla="*/ 4 h 52"/>
                  <a:gd name="T14" fmla="*/ 38 w 58"/>
                  <a:gd name="T15" fmla="*/ 8 h 52"/>
                  <a:gd name="T16" fmla="*/ 41 w 58"/>
                  <a:gd name="T17" fmla="*/ 13 h 52"/>
                  <a:gd name="T18" fmla="*/ 29 w 58"/>
                  <a:gd name="T19" fmla="*/ 41 h 52"/>
                  <a:gd name="T20" fmla="*/ 29 w 58"/>
                  <a:gd name="T21" fmla="*/ 41 h 52"/>
                  <a:gd name="T22" fmla="*/ 29 w 58"/>
                  <a:gd name="T23" fmla="*/ 41 h 52"/>
                  <a:gd name="T24" fmla="*/ 29 w 58"/>
                  <a:gd name="T25" fmla="*/ 41 h 52"/>
                  <a:gd name="T26" fmla="*/ 29 w 58"/>
                  <a:gd name="T27" fmla="*/ 41 h 52"/>
                  <a:gd name="T28" fmla="*/ 16 w 58"/>
                  <a:gd name="T29" fmla="*/ 13 h 52"/>
                  <a:gd name="T30" fmla="*/ 19 w 58"/>
                  <a:gd name="T31" fmla="*/ 8 h 52"/>
                  <a:gd name="T32" fmla="*/ 12 w 58"/>
                  <a:gd name="T33" fmla="*/ 4 h 52"/>
                  <a:gd name="T34" fmla="*/ 17 w 58"/>
                  <a:gd name="T35" fmla="*/ 0 h 52"/>
                  <a:gd name="T36" fmla="*/ 11 w 58"/>
                  <a:gd name="T37" fmla="*/ 0 h 52"/>
                  <a:gd name="T38" fmla="*/ 11 w 58"/>
                  <a:gd name="T39" fmla="*/ 0 h 52"/>
                  <a:gd name="T40" fmla="*/ 3 w 58"/>
                  <a:gd name="T41" fmla="*/ 8 h 52"/>
                  <a:gd name="T42" fmla="*/ 0 w 58"/>
                  <a:gd name="T43" fmla="*/ 52 h 52"/>
                  <a:gd name="T44" fmla="*/ 1 w 58"/>
                  <a:gd name="T45"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52">
                    <a:moveTo>
                      <a:pt x="1" y="52"/>
                    </a:moveTo>
                    <a:cubicBezTo>
                      <a:pt x="30" y="52"/>
                      <a:pt x="30" y="52"/>
                      <a:pt x="30" y="52"/>
                    </a:cubicBezTo>
                    <a:cubicBezTo>
                      <a:pt x="58" y="52"/>
                      <a:pt x="58" y="52"/>
                      <a:pt x="58" y="52"/>
                    </a:cubicBezTo>
                    <a:cubicBezTo>
                      <a:pt x="55" y="8"/>
                      <a:pt x="55" y="8"/>
                      <a:pt x="55" y="8"/>
                    </a:cubicBezTo>
                    <a:cubicBezTo>
                      <a:pt x="54" y="3"/>
                      <a:pt x="51" y="0"/>
                      <a:pt x="47" y="0"/>
                    </a:cubicBezTo>
                    <a:cubicBezTo>
                      <a:pt x="47" y="0"/>
                      <a:pt x="44" y="0"/>
                      <a:pt x="40" y="0"/>
                    </a:cubicBezTo>
                    <a:cubicBezTo>
                      <a:pt x="45" y="4"/>
                      <a:pt x="45" y="4"/>
                      <a:pt x="45" y="4"/>
                    </a:cubicBezTo>
                    <a:cubicBezTo>
                      <a:pt x="38" y="8"/>
                      <a:pt x="38" y="8"/>
                      <a:pt x="38" y="8"/>
                    </a:cubicBezTo>
                    <a:cubicBezTo>
                      <a:pt x="41" y="13"/>
                      <a:pt x="41" y="13"/>
                      <a:pt x="41" y="13"/>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16" y="13"/>
                      <a:pt x="16" y="13"/>
                      <a:pt x="16" y="13"/>
                    </a:cubicBezTo>
                    <a:cubicBezTo>
                      <a:pt x="19" y="8"/>
                      <a:pt x="19" y="8"/>
                      <a:pt x="19" y="8"/>
                    </a:cubicBezTo>
                    <a:cubicBezTo>
                      <a:pt x="12" y="4"/>
                      <a:pt x="12" y="4"/>
                      <a:pt x="12" y="4"/>
                    </a:cubicBezTo>
                    <a:cubicBezTo>
                      <a:pt x="17" y="0"/>
                      <a:pt x="17" y="0"/>
                      <a:pt x="17" y="0"/>
                    </a:cubicBezTo>
                    <a:cubicBezTo>
                      <a:pt x="13" y="0"/>
                      <a:pt x="11" y="0"/>
                      <a:pt x="11" y="0"/>
                    </a:cubicBezTo>
                    <a:cubicBezTo>
                      <a:pt x="11" y="0"/>
                      <a:pt x="11" y="0"/>
                      <a:pt x="11" y="0"/>
                    </a:cubicBezTo>
                    <a:cubicBezTo>
                      <a:pt x="7" y="0"/>
                      <a:pt x="3" y="3"/>
                      <a:pt x="3" y="8"/>
                    </a:cubicBezTo>
                    <a:cubicBezTo>
                      <a:pt x="0" y="52"/>
                      <a:pt x="0" y="52"/>
                      <a:pt x="0" y="52"/>
                    </a:cubicBezTo>
                    <a:lnTo>
                      <a:pt x="1"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166">
                <a:extLst>
                  <a:ext uri="{FF2B5EF4-FFF2-40B4-BE49-F238E27FC236}">
                    <a16:creationId xmlns:a16="http://schemas.microsoft.com/office/drawing/2014/main" id="{BEBD6132-55E7-4CA8-9C34-D78B3B190E1E}"/>
                  </a:ext>
                </a:extLst>
              </p:cNvPr>
              <p:cNvSpPr/>
              <p:nvPr/>
            </p:nvSpPr>
            <p:spPr bwMode="auto">
              <a:xfrm>
                <a:off x="6019801" y="3633788"/>
                <a:ext cx="111125" cy="103188"/>
              </a:xfrm>
              <a:custGeom>
                <a:avLst/>
                <a:gdLst>
                  <a:gd name="T0" fmla="*/ 27 w 29"/>
                  <a:gd name="T1" fmla="*/ 0 h 27"/>
                  <a:gd name="T2" fmla="*/ 26 w 29"/>
                  <a:gd name="T3" fmla="*/ 0 h 27"/>
                  <a:gd name="T4" fmla="*/ 1 w 29"/>
                  <a:gd name="T5" fmla="*/ 24 h 27"/>
                  <a:gd name="T6" fmla="*/ 1 w 29"/>
                  <a:gd name="T7" fmla="*/ 27 h 27"/>
                  <a:gd name="T8" fmla="*/ 2 w 29"/>
                  <a:gd name="T9" fmla="*/ 27 h 27"/>
                  <a:gd name="T10" fmla="*/ 4 w 29"/>
                  <a:gd name="T11" fmla="*/ 27 h 27"/>
                  <a:gd name="T12" fmla="*/ 29 w 29"/>
                  <a:gd name="T13" fmla="*/ 3 h 27"/>
                  <a:gd name="T14" fmla="*/ 29 w 29"/>
                  <a:gd name="T15" fmla="*/ 0 h 27"/>
                  <a:gd name="T16" fmla="*/ 27 w 29"/>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 h="27">
                    <a:moveTo>
                      <a:pt x="27" y="0"/>
                    </a:moveTo>
                    <a:cubicBezTo>
                      <a:pt x="26" y="0"/>
                      <a:pt x="26" y="0"/>
                      <a:pt x="26" y="0"/>
                    </a:cubicBezTo>
                    <a:cubicBezTo>
                      <a:pt x="1" y="24"/>
                      <a:pt x="1" y="24"/>
                      <a:pt x="1" y="24"/>
                    </a:cubicBezTo>
                    <a:cubicBezTo>
                      <a:pt x="0" y="25"/>
                      <a:pt x="0" y="26"/>
                      <a:pt x="1" y="27"/>
                    </a:cubicBezTo>
                    <a:cubicBezTo>
                      <a:pt x="1" y="27"/>
                      <a:pt x="2" y="27"/>
                      <a:pt x="2" y="27"/>
                    </a:cubicBezTo>
                    <a:cubicBezTo>
                      <a:pt x="3" y="27"/>
                      <a:pt x="3" y="27"/>
                      <a:pt x="4" y="27"/>
                    </a:cubicBezTo>
                    <a:cubicBezTo>
                      <a:pt x="29" y="3"/>
                      <a:pt x="29" y="3"/>
                      <a:pt x="29" y="3"/>
                    </a:cubicBezTo>
                    <a:cubicBezTo>
                      <a:pt x="29" y="3"/>
                      <a:pt x="29" y="1"/>
                      <a:pt x="29" y="0"/>
                    </a:cubicBezTo>
                    <a:cubicBezTo>
                      <a:pt x="28" y="0"/>
                      <a:pt x="28" y="0"/>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167">
                <a:extLst>
                  <a:ext uri="{FF2B5EF4-FFF2-40B4-BE49-F238E27FC236}">
                    <a16:creationId xmlns:a16="http://schemas.microsoft.com/office/drawing/2014/main" id="{20B37B38-C020-45B9-9974-0E3BD142BD6C}"/>
                  </a:ext>
                </a:extLst>
              </p:cNvPr>
              <p:cNvSpPr>
                <a:spLocks noEditPoints="1"/>
              </p:cNvSpPr>
              <p:nvPr/>
            </p:nvSpPr>
            <p:spPr bwMode="auto">
              <a:xfrm>
                <a:off x="5967413" y="3448050"/>
                <a:ext cx="504825" cy="346075"/>
              </a:xfrm>
              <a:custGeom>
                <a:avLst/>
                <a:gdLst>
                  <a:gd name="T0" fmla="*/ 128 w 133"/>
                  <a:gd name="T1" fmla="*/ 4 h 91"/>
                  <a:gd name="T2" fmla="*/ 118 w 133"/>
                  <a:gd name="T3" fmla="*/ 0 h 91"/>
                  <a:gd name="T4" fmla="*/ 15 w 133"/>
                  <a:gd name="T5" fmla="*/ 0 h 91"/>
                  <a:gd name="T6" fmla="*/ 5 w 133"/>
                  <a:gd name="T7" fmla="*/ 4 h 91"/>
                  <a:gd name="T8" fmla="*/ 0 w 133"/>
                  <a:gd name="T9" fmla="*/ 17 h 91"/>
                  <a:gd name="T10" fmla="*/ 0 w 133"/>
                  <a:gd name="T11" fmla="*/ 75 h 91"/>
                  <a:gd name="T12" fmla="*/ 15 w 133"/>
                  <a:gd name="T13" fmla="*/ 91 h 91"/>
                  <a:gd name="T14" fmla="*/ 118 w 133"/>
                  <a:gd name="T15" fmla="*/ 91 h 91"/>
                  <a:gd name="T16" fmla="*/ 133 w 133"/>
                  <a:gd name="T17" fmla="*/ 75 h 91"/>
                  <a:gd name="T18" fmla="*/ 133 w 133"/>
                  <a:gd name="T19" fmla="*/ 17 h 91"/>
                  <a:gd name="T20" fmla="*/ 128 w 133"/>
                  <a:gd name="T21" fmla="*/ 4 h 91"/>
                  <a:gd name="T22" fmla="*/ 66 w 133"/>
                  <a:gd name="T23" fmla="*/ 50 h 91"/>
                  <a:gd name="T24" fmla="*/ 17 w 133"/>
                  <a:gd name="T25" fmla="*/ 10 h 91"/>
                  <a:gd name="T26" fmla="*/ 115 w 133"/>
                  <a:gd name="T27" fmla="*/ 10 h 91"/>
                  <a:gd name="T28" fmla="*/ 66 w 133"/>
                  <a:gd name="T29" fmla="*/ 50 h 91"/>
                  <a:gd name="T30" fmla="*/ 123 w 133"/>
                  <a:gd name="T31" fmla="*/ 75 h 91"/>
                  <a:gd name="T32" fmla="*/ 118 w 133"/>
                  <a:gd name="T33" fmla="*/ 80 h 91"/>
                  <a:gd name="T34" fmla="*/ 15 w 133"/>
                  <a:gd name="T35" fmla="*/ 80 h 91"/>
                  <a:gd name="T36" fmla="*/ 10 w 133"/>
                  <a:gd name="T37" fmla="*/ 75 h 91"/>
                  <a:gd name="T38" fmla="*/ 10 w 133"/>
                  <a:gd name="T39" fmla="*/ 17 h 91"/>
                  <a:gd name="T40" fmla="*/ 62 w 133"/>
                  <a:gd name="T41" fmla="*/ 60 h 91"/>
                  <a:gd name="T42" fmla="*/ 66 w 133"/>
                  <a:gd name="T43" fmla="*/ 61 h 91"/>
                  <a:gd name="T44" fmla="*/ 70 w 133"/>
                  <a:gd name="T45" fmla="*/ 60 h 91"/>
                  <a:gd name="T46" fmla="*/ 123 w 133"/>
                  <a:gd name="T47" fmla="*/ 17 h 91"/>
                  <a:gd name="T48" fmla="*/ 123 w 133"/>
                  <a:gd name="T49" fmla="*/ 75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 h="91">
                    <a:moveTo>
                      <a:pt x="128" y="4"/>
                    </a:moveTo>
                    <a:cubicBezTo>
                      <a:pt x="125" y="1"/>
                      <a:pt x="121" y="0"/>
                      <a:pt x="118" y="0"/>
                    </a:cubicBezTo>
                    <a:cubicBezTo>
                      <a:pt x="15" y="0"/>
                      <a:pt x="15" y="0"/>
                      <a:pt x="15" y="0"/>
                    </a:cubicBezTo>
                    <a:cubicBezTo>
                      <a:pt x="12" y="0"/>
                      <a:pt x="8" y="1"/>
                      <a:pt x="5" y="4"/>
                    </a:cubicBezTo>
                    <a:cubicBezTo>
                      <a:pt x="3" y="6"/>
                      <a:pt x="0" y="11"/>
                      <a:pt x="0" y="17"/>
                    </a:cubicBezTo>
                    <a:cubicBezTo>
                      <a:pt x="0" y="75"/>
                      <a:pt x="0" y="75"/>
                      <a:pt x="0" y="75"/>
                    </a:cubicBezTo>
                    <a:cubicBezTo>
                      <a:pt x="0" y="84"/>
                      <a:pt x="7" y="91"/>
                      <a:pt x="15" y="91"/>
                    </a:cubicBezTo>
                    <a:cubicBezTo>
                      <a:pt x="118" y="91"/>
                      <a:pt x="118" y="91"/>
                      <a:pt x="118" y="91"/>
                    </a:cubicBezTo>
                    <a:cubicBezTo>
                      <a:pt x="126" y="91"/>
                      <a:pt x="133" y="84"/>
                      <a:pt x="133" y="75"/>
                    </a:cubicBezTo>
                    <a:cubicBezTo>
                      <a:pt x="133" y="17"/>
                      <a:pt x="133" y="17"/>
                      <a:pt x="133" y="17"/>
                    </a:cubicBezTo>
                    <a:cubicBezTo>
                      <a:pt x="133" y="11"/>
                      <a:pt x="130" y="6"/>
                      <a:pt x="128" y="4"/>
                    </a:cubicBezTo>
                    <a:close/>
                    <a:moveTo>
                      <a:pt x="66" y="50"/>
                    </a:moveTo>
                    <a:cubicBezTo>
                      <a:pt x="17" y="10"/>
                      <a:pt x="17" y="10"/>
                      <a:pt x="17" y="10"/>
                    </a:cubicBezTo>
                    <a:cubicBezTo>
                      <a:pt x="115" y="10"/>
                      <a:pt x="115" y="10"/>
                      <a:pt x="115" y="10"/>
                    </a:cubicBezTo>
                    <a:lnTo>
                      <a:pt x="66" y="50"/>
                    </a:lnTo>
                    <a:close/>
                    <a:moveTo>
                      <a:pt x="123" y="75"/>
                    </a:moveTo>
                    <a:cubicBezTo>
                      <a:pt x="123" y="78"/>
                      <a:pt x="120" y="80"/>
                      <a:pt x="118" y="80"/>
                    </a:cubicBezTo>
                    <a:cubicBezTo>
                      <a:pt x="15" y="80"/>
                      <a:pt x="15" y="80"/>
                      <a:pt x="15" y="80"/>
                    </a:cubicBezTo>
                    <a:cubicBezTo>
                      <a:pt x="12" y="80"/>
                      <a:pt x="10" y="78"/>
                      <a:pt x="10" y="75"/>
                    </a:cubicBezTo>
                    <a:cubicBezTo>
                      <a:pt x="10" y="17"/>
                      <a:pt x="10" y="17"/>
                      <a:pt x="10" y="17"/>
                    </a:cubicBezTo>
                    <a:cubicBezTo>
                      <a:pt x="62" y="60"/>
                      <a:pt x="62" y="60"/>
                      <a:pt x="62" y="60"/>
                    </a:cubicBezTo>
                    <a:cubicBezTo>
                      <a:pt x="64" y="61"/>
                      <a:pt x="65" y="61"/>
                      <a:pt x="66" y="61"/>
                    </a:cubicBezTo>
                    <a:cubicBezTo>
                      <a:pt x="68" y="61"/>
                      <a:pt x="69" y="61"/>
                      <a:pt x="70" y="60"/>
                    </a:cubicBezTo>
                    <a:cubicBezTo>
                      <a:pt x="123" y="17"/>
                      <a:pt x="123" y="17"/>
                      <a:pt x="123" y="17"/>
                    </a:cubicBezTo>
                    <a:lnTo>
                      <a:pt x="123" y="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168">
                <a:extLst>
                  <a:ext uri="{FF2B5EF4-FFF2-40B4-BE49-F238E27FC236}">
                    <a16:creationId xmlns:a16="http://schemas.microsoft.com/office/drawing/2014/main" id="{2C1234A7-26C6-4F13-B659-C466C5215F7E}"/>
                  </a:ext>
                </a:extLst>
              </p:cNvPr>
              <p:cNvSpPr/>
              <p:nvPr/>
            </p:nvSpPr>
            <p:spPr bwMode="auto">
              <a:xfrm>
                <a:off x="6305551" y="3633788"/>
                <a:ext cx="114300" cy="103188"/>
              </a:xfrm>
              <a:custGeom>
                <a:avLst/>
                <a:gdLst>
                  <a:gd name="T0" fmla="*/ 26 w 30"/>
                  <a:gd name="T1" fmla="*/ 27 h 27"/>
                  <a:gd name="T2" fmla="*/ 28 w 30"/>
                  <a:gd name="T3" fmla="*/ 27 h 27"/>
                  <a:gd name="T4" fmla="*/ 29 w 30"/>
                  <a:gd name="T5" fmla="*/ 27 h 27"/>
                  <a:gd name="T6" fmla="*/ 29 w 30"/>
                  <a:gd name="T7" fmla="*/ 24 h 27"/>
                  <a:gd name="T8" fmla="*/ 4 w 30"/>
                  <a:gd name="T9" fmla="*/ 0 h 27"/>
                  <a:gd name="T10" fmla="*/ 3 w 30"/>
                  <a:gd name="T11" fmla="*/ 0 h 27"/>
                  <a:gd name="T12" fmla="*/ 1 w 30"/>
                  <a:gd name="T13" fmla="*/ 0 h 27"/>
                  <a:gd name="T14" fmla="*/ 1 w 30"/>
                  <a:gd name="T15" fmla="*/ 3 h 27"/>
                  <a:gd name="T16" fmla="*/ 26 w 30"/>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27">
                    <a:moveTo>
                      <a:pt x="26" y="27"/>
                    </a:moveTo>
                    <a:cubicBezTo>
                      <a:pt x="26" y="27"/>
                      <a:pt x="27" y="27"/>
                      <a:pt x="28" y="27"/>
                    </a:cubicBezTo>
                    <a:cubicBezTo>
                      <a:pt x="28" y="27"/>
                      <a:pt x="29" y="27"/>
                      <a:pt x="29" y="27"/>
                    </a:cubicBezTo>
                    <a:cubicBezTo>
                      <a:pt x="30" y="26"/>
                      <a:pt x="30" y="25"/>
                      <a:pt x="29" y="24"/>
                    </a:cubicBezTo>
                    <a:cubicBezTo>
                      <a:pt x="4" y="0"/>
                      <a:pt x="4" y="0"/>
                      <a:pt x="4" y="0"/>
                    </a:cubicBezTo>
                    <a:cubicBezTo>
                      <a:pt x="4" y="0"/>
                      <a:pt x="3" y="0"/>
                      <a:pt x="3" y="0"/>
                    </a:cubicBezTo>
                    <a:cubicBezTo>
                      <a:pt x="2" y="0"/>
                      <a:pt x="2" y="0"/>
                      <a:pt x="1" y="0"/>
                    </a:cubicBezTo>
                    <a:cubicBezTo>
                      <a:pt x="0" y="1"/>
                      <a:pt x="0" y="3"/>
                      <a:pt x="1" y="3"/>
                    </a:cubicBezTo>
                    <a:lnTo>
                      <a:pt x="26" y="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169">
                <a:extLst>
                  <a:ext uri="{FF2B5EF4-FFF2-40B4-BE49-F238E27FC236}">
                    <a16:creationId xmlns:a16="http://schemas.microsoft.com/office/drawing/2014/main" id="{1019D8C7-0C18-438D-9A4C-3E06C9220552}"/>
                  </a:ext>
                </a:extLst>
              </p:cNvPr>
              <p:cNvSpPr/>
              <p:nvPr/>
            </p:nvSpPr>
            <p:spPr bwMode="auto">
              <a:xfrm>
                <a:off x="6016626" y="3413125"/>
                <a:ext cx="79375" cy="57150"/>
              </a:xfrm>
              <a:custGeom>
                <a:avLst/>
                <a:gdLst>
                  <a:gd name="T0" fmla="*/ 1 w 21"/>
                  <a:gd name="T1" fmla="*/ 15 h 15"/>
                  <a:gd name="T2" fmla="*/ 21 w 21"/>
                  <a:gd name="T3" fmla="*/ 14 h 15"/>
                  <a:gd name="T4" fmla="*/ 20 w 21"/>
                  <a:gd name="T5" fmla="*/ 0 h 15"/>
                  <a:gd name="T6" fmla="*/ 0 w 21"/>
                  <a:gd name="T7" fmla="*/ 0 h 15"/>
                  <a:gd name="T8" fmla="*/ 1 w 21"/>
                  <a:gd name="T9" fmla="*/ 15 h 15"/>
                </a:gdLst>
                <a:ahLst/>
                <a:cxnLst>
                  <a:cxn ang="0">
                    <a:pos x="T0" y="T1"/>
                  </a:cxn>
                  <a:cxn ang="0">
                    <a:pos x="T2" y="T3"/>
                  </a:cxn>
                  <a:cxn ang="0">
                    <a:pos x="T4" y="T5"/>
                  </a:cxn>
                  <a:cxn ang="0">
                    <a:pos x="T6" y="T7"/>
                  </a:cxn>
                  <a:cxn ang="0">
                    <a:pos x="T8" y="T9"/>
                  </a:cxn>
                </a:cxnLst>
                <a:rect l="0" t="0" r="r" b="b"/>
                <a:pathLst>
                  <a:path w="21" h="15">
                    <a:moveTo>
                      <a:pt x="1" y="15"/>
                    </a:moveTo>
                    <a:cubicBezTo>
                      <a:pt x="8" y="15"/>
                      <a:pt x="14" y="14"/>
                      <a:pt x="21" y="14"/>
                    </a:cubicBezTo>
                    <a:cubicBezTo>
                      <a:pt x="20" y="8"/>
                      <a:pt x="20" y="4"/>
                      <a:pt x="20" y="0"/>
                    </a:cubicBezTo>
                    <a:cubicBezTo>
                      <a:pt x="0" y="0"/>
                      <a:pt x="0" y="0"/>
                      <a:pt x="0" y="0"/>
                    </a:cubicBezTo>
                    <a:cubicBezTo>
                      <a:pt x="1" y="5"/>
                      <a:pt x="1" y="11"/>
                      <a:pt x="1"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sp>
        <p:nvSpPr>
          <p:cNvPr id="2" name="标题 1"/>
          <p:cNvSpPr>
            <a:spLocks noGrp="1"/>
          </p:cNvSpPr>
          <p:nvPr>
            <p:ph type="ctrTitle"/>
          </p:nvPr>
        </p:nvSpPr>
        <p:spPr>
          <a:xfrm>
            <a:off x="1523999" y="1122363"/>
            <a:ext cx="9477375" cy="2261733"/>
          </a:xfrm>
        </p:spPr>
        <p:txBody>
          <a:bodyPr anchor="b"/>
          <a:lstStyle>
            <a:lvl1pPr algn="ctr">
              <a:defRPr sz="6000">
                <a:solidFill>
                  <a:schemeClr val="bg1"/>
                </a:solidFill>
              </a:defRPr>
            </a:lvl1pPr>
          </a:lstStyle>
          <a:p>
            <a:r>
              <a:rPr lang="zh-CN" altLang="en-US"/>
              <a:t>单击此处编辑母版标题样式</a:t>
            </a:r>
          </a:p>
        </p:txBody>
      </p:sp>
    </p:spTree>
    <p:extLst>
      <p:ext uri="{BB962C8B-B14F-4D97-AF65-F5344CB8AC3E}">
        <p14:creationId xmlns:p14="http://schemas.microsoft.com/office/powerpoint/2010/main" val="391163733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14:presetBounceEnd="20000">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14:bounceEnd="20000">
                                          <p:cBhvr additive="base">
                                            <p:cTn id="10" dur="500" fill="hold"/>
                                            <p:tgtEl>
                                              <p:spTgt spid="8"/>
                                            </p:tgtEl>
                                            <p:attrNameLst>
                                              <p:attrName>ppt_x</p:attrName>
                                            </p:attrNameLst>
                                          </p:cBhvr>
                                          <p:tavLst>
                                            <p:tav tm="0">
                                              <p:val>
                                                <p:strVal val="#ppt_x"/>
                                              </p:val>
                                            </p:tav>
                                            <p:tav tm="100000">
                                              <p:val>
                                                <p:strVal val="#ppt_x"/>
                                              </p:val>
                                            </p:tav>
                                          </p:tavLst>
                                        </p:anim>
                                        <p:anim calcmode="lin" valueType="num" p14:bounceEnd="20000">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14:presetBounceEnd="20000">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14:bounceEnd="20000">
                                          <p:cBhvr additive="base">
                                            <p:cTn id="14" dur="500" fill="hold"/>
                                            <p:tgtEl>
                                              <p:spTgt spid="28"/>
                                            </p:tgtEl>
                                            <p:attrNameLst>
                                              <p:attrName>ppt_x</p:attrName>
                                            </p:attrNameLst>
                                          </p:cBhvr>
                                          <p:tavLst>
                                            <p:tav tm="0">
                                              <p:val>
                                                <p:strVal val="#ppt_x"/>
                                              </p:val>
                                            </p:tav>
                                            <p:tav tm="100000">
                                              <p:val>
                                                <p:strVal val="#ppt_x"/>
                                              </p:val>
                                            </p:tav>
                                          </p:tavLst>
                                        </p:anim>
                                        <p:anim calcmode="lin" valueType="num" p14:bounceEnd="20000">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14:presetBounceEnd="20000">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14:bounceEnd="20000">
                                          <p:cBhvr additive="base">
                                            <p:cTn id="18" dur="500" fill="hold"/>
                                            <p:tgtEl>
                                              <p:spTgt spid="38"/>
                                            </p:tgtEl>
                                            <p:attrNameLst>
                                              <p:attrName>ppt_x</p:attrName>
                                            </p:attrNameLst>
                                          </p:cBhvr>
                                          <p:tavLst>
                                            <p:tav tm="0">
                                              <p:val>
                                                <p:strVal val="#ppt_x"/>
                                              </p:val>
                                            </p:tav>
                                            <p:tav tm="100000">
                                              <p:val>
                                                <p:strVal val="#ppt_x"/>
                                              </p:val>
                                            </p:tav>
                                          </p:tavLst>
                                        </p:anim>
                                        <p:anim calcmode="lin" valueType="num" p14:bounceEnd="20000">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14:presetBounceEnd="20000">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14:bounceEnd="20000">
                                          <p:cBhvr additive="base">
                                            <p:cTn id="22" dur="500" fill="hold"/>
                                            <p:tgtEl>
                                              <p:spTgt spid="46"/>
                                            </p:tgtEl>
                                            <p:attrNameLst>
                                              <p:attrName>ppt_x</p:attrName>
                                            </p:attrNameLst>
                                          </p:cBhvr>
                                          <p:tavLst>
                                            <p:tav tm="0">
                                              <p:val>
                                                <p:strVal val="#ppt_x"/>
                                              </p:val>
                                            </p:tav>
                                            <p:tav tm="100000">
                                              <p:val>
                                                <p:strVal val="#ppt_x"/>
                                              </p:val>
                                            </p:tav>
                                          </p:tavLst>
                                        </p:anim>
                                        <p:anim calcmode="lin" valueType="num" p14:bounceEnd="20000">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14:presetBounceEnd="20000">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14:bounceEnd="20000">
                                          <p:cBhvr additive="base">
                                            <p:cTn id="26" dur="500" fill="hold"/>
                                            <p:tgtEl>
                                              <p:spTgt spid="51"/>
                                            </p:tgtEl>
                                            <p:attrNameLst>
                                              <p:attrName>ppt_x</p:attrName>
                                            </p:attrNameLst>
                                          </p:cBhvr>
                                          <p:tavLst>
                                            <p:tav tm="0">
                                              <p:val>
                                                <p:strVal val="#ppt_x"/>
                                              </p:val>
                                            </p:tav>
                                            <p:tav tm="100000">
                                              <p:val>
                                                <p:strVal val="#ppt_x"/>
                                              </p:val>
                                            </p:tav>
                                          </p:tavLst>
                                        </p:anim>
                                        <p:anim calcmode="lin" valueType="num" p14:bounceEnd="20000">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 presetClass="entr" presetSubtype="4" accel="22000" fill="hold" nodeType="withEffect">
                                      <p:stCondLst>
                                        <p:cond delay="2200"/>
                                      </p:stCondLst>
                                      <p:childTnLst>
                                        <p:set>
                                          <p:cBhvr>
                                            <p:cTn id="9" dur="1" fill="hold">
                                              <p:stCondLst>
                                                <p:cond delay="0"/>
                                              </p:stCondLst>
                                            </p:cTn>
                                            <p:tgtEl>
                                              <p:spTgt spid="8"/>
                                            </p:tgtEl>
                                            <p:attrNameLst>
                                              <p:attrName>style.visibility</p:attrName>
                                            </p:attrNameLst>
                                          </p:cBhvr>
                                          <p:to>
                                            <p:strVal val="visible"/>
                                          </p:to>
                                        </p:set>
                                        <p:anim calcmode="lin" valueType="num">
                                          <p:cBhvr additive="base">
                                            <p:cTn id="10" dur="500" fill="hold"/>
                                            <p:tgtEl>
                                              <p:spTgt spid="8"/>
                                            </p:tgtEl>
                                            <p:attrNameLst>
                                              <p:attrName>ppt_x</p:attrName>
                                            </p:attrNameLst>
                                          </p:cBhvr>
                                          <p:tavLst>
                                            <p:tav tm="0">
                                              <p:val>
                                                <p:strVal val="#ppt_x"/>
                                              </p:val>
                                            </p:tav>
                                            <p:tav tm="100000">
                                              <p:val>
                                                <p:strVal val="#ppt_x"/>
                                              </p:val>
                                            </p:tav>
                                          </p:tavLst>
                                        </p:anim>
                                        <p:anim calcmode="lin" valueType="num">
                                          <p:cBhvr additive="base">
                                            <p:cTn id="11" dur="500" fill="hold"/>
                                            <p:tgtEl>
                                              <p:spTgt spid="8"/>
                                            </p:tgtEl>
                                            <p:attrNameLst>
                                              <p:attrName>ppt_y</p:attrName>
                                            </p:attrNameLst>
                                          </p:cBhvr>
                                          <p:tavLst>
                                            <p:tav tm="0">
                                              <p:val>
                                                <p:strVal val="1+#ppt_h/2"/>
                                              </p:val>
                                            </p:tav>
                                            <p:tav tm="100000">
                                              <p:val>
                                                <p:strVal val="#ppt_y"/>
                                              </p:val>
                                            </p:tav>
                                          </p:tavLst>
                                        </p:anim>
                                      </p:childTnLst>
                                    </p:cTn>
                                  </p:par>
                                  <p:par>
                                    <p:cTn id="12" presetID="2" presetClass="entr" presetSubtype="4" accel="22000" fill="hold" nodeType="withEffect">
                                      <p:stCondLst>
                                        <p:cond delay="240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ppt_x"/>
                                              </p:val>
                                            </p:tav>
                                            <p:tav tm="100000">
                                              <p:val>
                                                <p:strVal val="#ppt_x"/>
                                              </p:val>
                                            </p:tav>
                                          </p:tavLst>
                                        </p:anim>
                                        <p:anim calcmode="lin" valueType="num">
                                          <p:cBhvr additive="base">
                                            <p:cTn id="15" dur="500" fill="hold"/>
                                            <p:tgtEl>
                                              <p:spTgt spid="28"/>
                                            </p:tgtEl>
                                            <p:attrNameLst>
                                              <p:attrName>ppt_y</p:attrName>
                                            </p:attrNameLst>
                                          </p:cBhvr>
                                          <p:tavLst>
                                            <p:tav tm="0">
                                              <p:val>
                                                <p:strVal val="1+#ppt_h/2"/>
                                              </p:val>
                                            </p:tav>
                                            <p:tav tm="100000">
                                              <p:val>
                                                <p:strVal val="#ppt_y"/>
                                              </p:val>
                                            </p:tav>
                                          </p:tavLst>
                                        </p:anim>
                                      </p:childTnLst>
                                    </p:cTn>
                                  </p:par>
                                  <p:par>
                                    <p:cTn id="16" presetID="2" presetClass="entr" presetSubtype="4" accel="22000" fill="hold" nodeType="withEffect">
                                      <p:stCondLst>
                                        <p:cond delay="2600"/>
                                      </p:stCondLst>
                                      <p:childTnLst>
                                        <p:set>
                                          <p:cBhvr>
                                            <p:cTn id="17" dur="1" fill="hold">
                                              <p:stCondLst>
                                                <p:cond delay="0"/>
                                              </p:stCondLst>
                                            </p:cTn>
                                            <p:tgtEl>
                                              <p:spTgt spid="38"/>
                                            </p:tgtEl>
                                            <p:attrNameLst>
                                              <p:attrName>style.visibility</p:attrName>
                                            </p:attrNameLst>
                                          </p:cBhvr>
                                          <p:to>
                                            <p:strVal val="visible"/>
                                          </p:to>
                                        </p:set>
                                        <p:anim calcmode="lin" valueType="num">
                                          <p:cBhvr additive="base">
                                            <p:cTn id="18" dur="500" fill="hold"/>
                                            <p:tgtEl>
                                              <p:spTgt spid="38"/>
                                            </p:tgtEl>
                                            <p:attrNameLst>
                                              <p:attrName>ppt_x</p:attrName>
                                            </p:attrNameLst>
                                          </p:cBhvr>
                                          <p:tavLst>
                                            <p:tav tm="0">
                                              <p:val>
                                                <p:strVal val="#ppt_x"/>
                                              </p:val>
                                            </p:tav>
                                            <p:tav tm="100000">
                                              <p:val>
                                                <p:strVal val="#ppt_x"/>
                                              </p:val>
                                            </p:tav>
                                          </p:tavLst>
                                        </p:anim>
                                        <p:anim calcmode="lin" valueType="num">
                                          <p:cBhvr additive="base">
                                            <p:cTn id="19" dur="500" fill="hold"/>
                                            <p:tgtEl>
                                              <p:spTgt spid="38"/>
                                            </p:tgtEl>
                                            <p:attrNameLst>
                                              <p:attrName>ppt_y</p:attrName>
                                            </p:attrNameLst>
                                          </p:cBhvr>
                                          <p:tavLst>
                                            <p:tav tm="0">
                                              <p:val>
                                                <p:strVal val="1+#ppt_h/2"/>
                                              </p:val>
                                            </p:tav>
                                            <p:tav tm="100000">
                                              <p:val>
                                                <p:strVal val="#ppt_y"/>
                                              </p:val>
                                            </p:tav>
                                          </p:tavLst>
                                        </p:anim>
                                      </p:childTnLst>
                                    </p:cTn>
                                  </p:par>
                                  <p:par>
                                    <p:cTn id="20" presetID="2" presetClass="entr" presetSubtype="4" accel="22000" fill="hold" nodeType="withEffect">
                                      <p:stCondLst>
                                        <p:cond delay="280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500" fill="hold"/>
                                            <p:tgtEl>
                                              <p:spTgt spid="46"/>
                                            </p:tgtEl>
                                            <p:attrNameLst>
                                              <p:attrName>ppt_x</p:attrName>
                                            </p:attrNameLst>
                                          </p:cBhvr>
                                          <p:tavLst>
                                            <p:tav tm="0">
                                              <p:val>
                                                <p:strVal val="#ppt_x"/>
                                              </p:val>
                                            </p:tav>
                                            <p:tav tm="100000">
                                              <p:val>
                                                <p:strVal val="#ppt_x"/>
                                              </p:val>
                                            </p:tav>
                                          </p:tavLst>
                                        </p:anim>
                                        <p:anim calcmode="lin" valueType="num">
                                          <p:cBhvr additive="base">
                                            <p:cTn id="23" dur="500" fill="hold"/>
                                            <p:tgtEl>
                                              <p:spTgt spid="46"/>
                                            </p:tgtEl>
                                            <p:attrNameLst>
                                              <p:attrName>ppt_y</p:attrName>
                                            </p:attrNameLst>
                                          </p:cBhvr>
                                          <p:tavLst>
                                            <p:tav tm="0">
                                              <p:val>
                                                <p:strVal val="1+#ppt_h/2"/>
                                              </p:val>
                                            </p:tav>
                                            <p:tav tm="100000">
                                              <p:val>
                                                <p:strVal val="#ppt_y"/>
                                              </p:val>
                                            </p:tav>
                                          </p:tavLst>
                                        </p:anim>
                                      </p:childTnLst>
                                    </p:cTn>
                                  </p:par>
                                  <p:par>
                                    <p:cTn id="24" presetID="2" presetClass="entr" presetSubtype="4" accel="22000" fill="hold" nodeType="withEffect">
                                      <p:stCondLst>
                                        <p:cond delay="3000"/>
                                      </p:stCondLst>
                                      <p:childTnLst>
                                        <p:set>
                                          <p:cBhvr>
                                            <p:cTn id="25" dur="1" fill="hold">
                                              <p:stCondLst>
                                                <p:cond delay="0"/>
                                              </p:stCondLst>
                                            </p:cTn>
                                            <p:tgtEl>
                                              <p:spTgt spid="51"/>
                                            </p:tgtEl>
                                            <p:attrNameLst>
                                              <p:attrName>style.visibility</p:attrName>
                                            </p:attrNameLst>
                                          </p:cBhvr>
                                          <p:to>
                                            <p:strVal val="visible"/>
                                          </p:to>
                                        </p:set>
                                        <p:anim calcmode="lin" valueType="num">
                                          <p:cBhvr additive="base">
                                            <p:cTn id="26" dur="500" fill="hold"/>
                                            <p:tgtEl>
                                              <p:spTgt spid="51"/>
                                            </p:tgtEl>
                                            <p:attrNameLst>
                                              <p:attrName>ppt_x</p:attrName>
                                            </p:attrNameLst>
                                          </p:cBhvr>
                                          <p:tavLst>
                                            <p:tav tm="0">
                                              <p:val>
                                                <p:strVal val="#ppt_x"/>
                                              </p:val>
                                            </p:tav>
                                            <p:tav tm="100000">
                                              <p:val>
                                                <p:strVal val="#ppt_x"/>
                                              </p:val>
                                            </p:tav>
                                          </p:tavLst>
                                        </p:anim>
                                        <p:anim calcmode="lin" valueType="num">
                                          <p:cBhvr additive="base">
                                            <p:cTn id="27"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281793" y="238579"/>
            <a:ext cx="9553575" cy="512536"/>
          </a:xfrm>
        </p:spPr>
        <p:txBody>
          <a:bodyPr>
            <a:noAutofit/>
          </a:bodyPr>
          <a:lstStyle>
            <a:lvl1pPr>
              <a:defRPr sz="4000" b="0">
                <a:solidFill>
                  <a:schemeClr val="accent1"/>
                </a:solidFill>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838200" y="1147082"/>
            <a:ext cx="10515600" cy="5233307"/>
          </a:xfrm>
        </p:spPr>
        <p:txBody>
          <a:bodyPr/>
          <a:lstStyle>
            <a:lvl1pPr>
              <a:lnSpc>
                <a:spcPct val="100000"/>
              </a:lnSpc>
              <a:spcBef>
                <a:spcPts val="600"/>
              </a:spcBef>
              <a:spcAft>
                <a:spcPts val="600"/>
              </a:spcAft>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日期占位符 3"/>
          <p:cNvSpPr>
            <a:spLocks noGrp="1"/>
          </p:cNvSpPr>
          <p:nvPr>
            <p:ph type="dt" sz="half" idx="10"/>
          </p:nvPr>
        </p:nvSpPr>
        <p:spPr/>
        <p:txBody>
          <a:bodyPr/>
          <a:lstStyle/>
          <a:p>
            <a:fld id="{01B92B5C-1985-464E-9994-6A52BBD32ECE}"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dirty="0"/>
          </a:p>
        </p:txBody>
      </p:sp>
      <p:grpSp>
        <p:nvGrpSpPr>
          <p:cNvPr id="7" name="组合 6">
            <a:extLst>
              <a:ext uri="{FF2B5EF4-FFF2-40B4-BE49-F238E27FC236}">
                <a16:creationId xmlns:a16="http://schemas.microsoft.com/office/drawing/2014/main" id="{B492DC46-649C-4371-BE00-7E12AB77B934}"/>
              </a:ext>
            </a:extLst>
          </p:cNvPr>
          <p:cNvGrpSpPr/>
          <p:nvPr/>
        </p:nvGrpSpPr>
        <p:grpSpPr>
          <a:xfrm>
            <a:off x="0" y="237055"/>
            <a:ext cx="1200150" cy="488496"/>
            <a:chOff x="0" y="254454"/>
            <a:chExt cx="1795510" cy="732518"/>
          </a:xfrm>
        </p:grpSpPr>
        <p:sp>
          <p:nvSpPr>
            <p:cNvPr id="8" name="矩形 1">
              <a:extLst>
                <a:ext uri="{FF2B5EF4-FFF2-40B4-BE49-F238E27FC236}">
                  <a16:creationId xmlns:a16="http://schemas.microsoft.com/office/drawing/2014/main" id="{84087D0E-5E69-4C4D-BBAF-B8A66AD85339}"/>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9" name="任意多边形 4">
              <a:extLst>
                <a:ext uri="{FF2B5EF4-FFF2-40B4-BE49-F238E27FC236}">
                  <a16:creationId xmlns:a16="http://schemas.microsoft.com/office/drawing/2014/main" id="{1E4C8D98-A40C-4A48-9EA3-A4B8C1C723EF}"/>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grpSp>
        <p:nvGrpSpPr>
          <p:cNvPr id="10" name="组合 9">
            <a:extLst>
              <a:ext uri="{FF2B5EF4-FFF2-40B4-BE49-F238E27FC236}">
                <a16:creationId xmlns:a16="http://schemas.microsoft.com/office/drawing/2014/main" id="{202F2469-59F2-4336-87AE-7A3ADA9B58E5}"/>
              </a:ext>
            </a:extLst>
          </p:cNvPr>
          <p:cNvGrpSpPr/>
          <p:nvPr/>
        </p:nvGrpSpPr>
        <p:grpSpPr>
          <a:xfrm>
            <a:off x="0" y="6575725"/>
            <a:ext cx="12195693" cy="282275"/>
            <a:chOff x="-3693" y="6575725"/>
            <a:chExt cx="12195693" cy="282275"/>
          </a:xfrm>
        </p:grpSpPr>
        <p:sp>
          <p:nvSpPr>
            <p:cNvPr id="11" name="矩形 19">
              <a:extLst>
                <a:ext uri="{FF2B5EF4-FFF2-40B4-BE49-F238E27FC236}">
                  <a16:creationId xmlns:a16="http://schemas.microsoft.com/office/drawing/2014/main" id="{13251B82-8654-4AE7-8DCF-E8C422C7F5B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2" name="文本框 11">
              <a:extLst>
                <a:ext uri="{FF2B5EF4-FFF2-40B4-BE49-F238E27FC236}">
                  <a16:creationId xmlns:a16="http://schemas.microsoft.com/office/drawing/2014/main" id="{DF7438A7-23DE-46F1-82DA-7D1E2B69C890}"/>
                </a:ext>
              </a:extLst>
            </p:cNvPr>
            <p:cNvSpPr txBox="1"/>
            <p:nvPr/>
          </p:nvSpPr>
          <p:spPr>
            <a:xfrm>
              <a:off x="9095014" y="6575725"/>
              <a:ext cx="2496912"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河南大学计算机与信息工程学院</a:t>
              </a:r>
            </a:p>
          </p:txBody>
        </p:sp>
        <p:sp>
          <p:nvSpPr>
            <p:cNvPr id="13" name="矩形 21">
              <a:extLst>
                <a:ext uri="{FF2B5EF4-FFF2-40B4-BE49-F238E27FC236}">
                  <a16:creationId xmlns:a16="http://schemas.microsoft.com/office/drawing/2014/main" id="{F591C9DB-985F-4F14-A901-B51657D6E773}"/>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6" name="灯片编号占位符 5"/>
          <p:cNvSpPr>
            <a:spLocks noGrp="1"/>
          </p:cNvSpPr>
          <p:nvPr>
            <p:ph type="sldNum" sz="quarter" idx="12"/>
          </p:nvPr>
        </p:nvSpPr>
        <p:spPr>
          <a:xfrm>
            <a:off x="10919732" y="6584496"/>
            <a:ext cx="1272268" cy="273504"/>
          </a:xfrm>
        </p:spPr>
        <p:txBody>
          <a:bodyPr/>
          <a:lstStyle>
            <a:lvl1pPr>
              <a:defRPr>
                <a:solidFill>
                  <a:schemeClr val="bg1"/>
                </a:solidFill>
              </a:defRPr>
            </a:lvl1p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172294219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1F4DE29-5E62-4F5B-9DF3-5DCEBFE68F57}"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84865594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53A3343A-59AE-4A2F-B3CD-6A009219BBEB}"/>
              </a:ext>
            </a:extLst>
          </p:cNvPr>
          <p:cNvGrpSpPr/>
          <p:nvPr/>
        </p:nvGrpSpPr>
        <p:grpSpPr>
          <a:xfrm>
            <a:off x="0" y="6575725"/>
            <a:ext cx="12195693" cy="282275"/>
            <a:chOff x="-3693" y="6575725"/>
            <a:chExt cx="12195693" cy="282275"/>
          </a:xfrm>
        </p:grpSpPr>
        <p:sp>
          <p:nvSpPr>
            <p:cNvPr id="12" name="矩形 19">
              <a:extLst>
                <a:ext uri="{FF2B5EF4-FFF2-40B4-BE49-F238E27FC236}">
                  <a16:creationId xmlns:a16="http://schemas.microsoft.com/office/drawing/2014/main" id="{77E6E2F6-076F-44AF-A427-D4E574D9DAD9}"/>
                </a:ext>
              </a:extLst>
            </p:cNvPr>
            <p:cNvSpPr/>
            <p:nvPr/>
          </p:nvSpPr>
          <p:spPr>
            <a:xfrm>
              <a:off x="-3693" y="6575725"/>
              <a:ext cx="9213008" cy="282275"/>
            </a:xfrm>
            <a:custGeom>
              <a:avLst/>
              <a:gdLst>
                <a:gd name="connsiteX0" fmla="*/ 0 w 9785869"/>
                <a:gd name="connsiteY0" fmla="*/ 0 h 282275"/>
                <a:gd name="connsiteX1" fmla="*/ 9785869 w 9785869"/>
                <a:gd name="connsiteY1" fmla="*/ 0 h 282275"/>
                <a:gd name="connsiteX2" fmla="*/ 9785869 w 9785869"/>
                <a:gd name="connsiteY2" fmla="*/ 282275 h 282275"/>
                <a:gd name="connsiteX3" fmla="*/ 0 w 9785869"/>
                <a:gd name="connsiteY3" fmla="*/ 282275 h 282275"/>
                <a:gd name="connsiteX4" fmla="*/ 0 w 9785869"/>
                <a:gd name="connsiteY4" fmla="*/ 0 h 282275"/>
                <a:gd name="connsiteX0-1" fmla="*/ 0 w 9785869"/>
                <a:gd name="connsiteY0-2" fmla="*/ 0 h 282275"/>
                <a:gd name="connsiteX1-3" fmla="*/ 9785869 w 9785869"/>
                <a:gd name="connsiteY1-4" fmla="*/ 0 h 282275"/>
                <a:gd name="connsiteX2-5" fmla="*/ 9500119 w 9785869"/>
                <a:gd name="connsiteY2-6" fmla="*/ 282275 h 282275"/>
                <a:gd name="connsiteX3-7" fmla="*/ 0 w 9785869"/>
                <a:gd name="connsiteY3-8" fmla="*/ 282275 h 282275"/>
                <a:gd name="connsiteX4-9" fmla="*/ 0 w 9785869"/>
                <a:gd name="connsiteY4-10" fmla="*/ 0 h 282275"/>
                <a:gd name="connsiteX0-11" fmla="*/ 0 w 9785869"/>
                <a:gd name="connsiteY0-12" fmla="*/ 0 h 282275"/>
                <a:gd name="connsiteX1-13" fmla="*/ 9785869 w 9785869"/>
                <a:gd name="connsiteY1-14" fmla="*/ 0 h 282275"/>
                <a:gd name="connsiteX2-15" fmla="*/ 9623944 w 9785869"/>
                <a:gd name="connsiteY2-16" fmla="*/ 263225 h 282275"/>
                <a:gd name="connsiteX3-17" fmla="*/ 0 w 9785869"/>
                <a:gd name="connsiteY3-18" fmla="*/ 282275 h 282275"/>
                <a:gd name="connsiteX4-19" fmla="*/ 0 w 9785869"/>
                <a:gd name="connsiteY4-20" fmla="*/ 0 h 282275"/>
                <a:gd name="connsiteX0-21" fmla="*/ 0 w 9785869"/>
                <a:gd name="connsiteY0-22" fmla="*/ 0 h 282275"/>
                <a:gd name="connsiteX1-23" fmla="*/ 9785869 w 9785869"/>
                <a:gd name="connsiteY1-24" fmla="*/ 0 h 282275"/>
                <a:gd name="connsiteX2-25" fmla="*/ 9633469 w 9785869"/>
                <a:gd name="connsiteY2-26" fmla="*/ 282275 h 282275"/>
                <a:gd name="connsiteX3-27" fmla="*/ 0 w 9785869"/>
                <a:gd name="connsiteY3-28" fmla="*/ 282275 h 282275"/>
                <a:gd name="connsiteX4-29" fmla="*/ 0 w 9785869"/>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785869" h="282275">
                  <a:moveTo>
                    <a:pt x="0" y="0"/>
                  </a:moveTo>
                  <a:lnTo>
                    <a:pt x="9785869" y="0"/>
                  </a:lnTo>
                  <a:lnTo>
                    <a:pt x="9633469" y="282275"/>
                  </a:lnTo>
                  <a:lnTo>
                    <a:pt x="0" y="28227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3" name="文本框 12">
              <a:extLst>
                <a:ext uri="{FF2B5EF4-FFF2-40B4-BE49-F238E27FC236}">
                  <a16:creationId xmlns:a16="http://schemas.microsoft.com/office/drawing/2014/main" id="{18A8A0EF-563C-449D-A72A-E94BE5F23A1B}"/>
                </a:ext>
              </a:extLst>
            </p:cNvPr>
            <p:cNvSpPr txBox="1"/>
            <p:nvPr/>
          </p:nvSpPr>
          <p:spPr>
            <a:xfrm>
              <a:off x="9095014" y="6575725"/>
              <a:ext cx="2496912" cy="276999"/>
            </a:xfrm>
            <a:prstGeom prst="rect">
              <a:avLst/>
            </a:prstGeom>
            <a:noFill/>
          </p:spPr>
          <p:txBody>
            <a:bodyPr wrap="square" rtlCol="0">
              <a:spAutoFit/>
            </a:bodyPr>
            <a:lstStyle/>
            <a:p>
              <a:pPr algn="dist"/>
              <a:r>
                <a:rPr lang="zh-CN" altLang="en-US" sz="1200" i="1" dirty="0">
                  <a:solidFill>
                    <a:schemeClr val="tx1">
                      <a:lumMod val="75000"/>
                      <a:lumOff val="25000"/>
                    </a:schemeClr>
                  </a:solidFill>
                </a:rPr>
                <a:t>河南大学计算机与信息工程学院</a:t>
              </a:r>
            </a:p>
          </p:txBody>
        </p:sp>
        <p:sp>
          <p:nvSpPr>
            <p:cNvPr id="14" name="矩形 21">
              <a:extLst>
                <a:ext uri="{FF2B5EF4-FFF2-40B4-BE49-F238E27FC236}">
                  <a16:creationId xmlns:a16="http://schemas.microsoft.com/office/drawing/2014/main" id="{2B584D5A-E13D-4D49-BE6D-6370F8729161}"/>
                </a:ext>
              </a:extLst>
            </p:cNvPr>
            <p:cNvSpPr/>
            <p:nvPr/>
          </p:nvSpPr>
          <p:spPr>
            <a:xfrm>
              <a:off x="11591925" y="6575725"/>
              <a:ext cx="600075" cy="282275"/>
            </a:xfrm>
            <a:custGeom>
              <a:avLst/>
              <a:gdLst>
                <a:gd name="connsiteX0" fmla="*/ 0 w 600075"/>
                <a:gd name="connsiteY0" fmla="*/ 0 h 282275"/>
                <a:gd name="connsiteX1" fmla="*/ 600075 w 600075"/>
                <a:gd name="connsiteY1" fmla="*/ 0 h 282275"/>
                <a:gd name="connsiteX2" fmla="*/ 600075 w 600075"/>
                <a:gd name="connsiteY2" fmla="*/ 282275 h 282275"/>
                <a:gd name="connsiteX3" fmla="*/ 0 w 600075"/>
                <a:gd name="connsiteY3" fmla="*/ 282275 h 282275"/>
                <a:gd name="connsiteX4" fmla="*/ 0 w 600075"/>
                <a:gd name="connsiteY4" fmla="*/ 0 h 282275"/>
                <a:gd name="connsiteX0-1" fmla="*/ 247650 w 600075"/>
                <a:gd name="connsiteY0-2" fmla="*/ 0 h 282275"/>
                <a:gd name="connsiteX1-3" fmla="*/ 600075 w 600075"/>
                <a:gd name="connsiteY1-4" fmla="*/ 0 h 282275"/>
                <a:gd name="connsiteX2-5" fmla="*/ 600075 w 600075"/>
                <a:gd name="connsiteY2-6" fmla="*/ 282275 h 282275"/>
                <a:gd name="connsiteX3-7" fmla="*/ 0 w 600075"/>
                <a:gd name="connsiteY3-8" fmla="*/ 282275 h 282275"/>
                <a:gd name="connsiteX4-9" fmla="*/ 247650 w 600075"/>
                <a:gd name="connsiteY4-10" fmla="*/ 0 h 282275"/>
                <a:gd name="connsiteX0-11" fmla="*/ 217170 w 600075"/>
                <a:gd name="connsiteY0-12" fmla="*/ 0 h 282275"/>
                <a:gd name="connsiteX1-13" fmla="*/ 600075 w 600075"/>
                <a:gd name="connsiteY1-14" fmla="*/ 0 h 282275"/>
                <a:gd name="connsiteX2-15" fmla="*/ 600075 w 600075"/>
                <a:gd name="connsiteY2-16" fmla="*/ 282275 h 282275"/>
                <a:gd name="connsiteX3-17" fmla="*/ 0 w 600075"/>
                <a:gd name="connsiteY3-18" fmla="*/ 282275 h 282275"/>
                <a:gd name="connsiteX4-19" fmla="*/ 217170 w 600075"/>
                <a:gd name="connsiteY4-20" fmla="*/ 0 h 282275"/>
                <a:gd name="connsiteX0-21" fmla="*/ 140970 w 600075"/>
                <a:gd name="connsiteY0-22" fmla="*/ 0 h 282275"/>
                <a:gd name="connsiteX1-23" fmla="*/ 600075 w 600075"/>
                <a:gd name="connsiteY1-24" fmla="*/ 0 h 282275"/>
                <a:gd name="connsiteX2-25" fmla="*/ 600075 w 600075"/>
                <a:gd name="connsiteY2-26" fmla="*/ 282275 h 282275"/>
                <a:gd name="connsiteX3-27" fmla="*/ 0 w 600075"/>
                <a:gd name="connsiteY3-28" fmla="*/ 282275 h 282275"/>
                <a:gd name="connsiteX4-29" fmla="*/ 140970 w 600075"/>
                <a:gd name="connsiteY4-30" fmla="*/ 0 h 2822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00075" h="282275">
                  <a:moveTo>
                    <a:pt x="140970" y="0"/>
                  </a:moveTo>
                  <a:lnTo>
                    <a:pt x="600075" y="0"/>
                  </a:lnTo>
                  <a:lnTo>
                    <a:pt x="600075" y="282275"/>
                  </a:lnTo>
                  <a:lnTo>
                    <a:pt x="0" y="282275"/>
                  </a:lnTo>
                  <a:lnTo>
                    <a:pt x="14097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3" name="内容占位符 2"/>
          <p:cNvSpPr>
            <a:spLocks noGrp="1"/>
          </p:cNvSpPr>
          <p:nvPr>
            <p:ph sz="half" idx="1"/>
          </p:nvPr>
        </p:nvSpPr>
        <p:spPr>
          <a:xfrm>
            <a:off x="838200" y="1204232"/>
            <a:ext cx="5181600" cy="5139418"/>
          </a:xfrm>
        </p:spPr>
        <p:txBody>
          <a:bodyPr/>
          <a:lstStyle>
            <a:lvl1pPr>
              <a:lnSpc>
                <a:spcPct val="100000"/>
              </a:lnSpc>
              <a:spcBef>
                <a:spcPts val="600"/>
              </a:spcBef>
              <a:spcAft>
                <a:spcPts val="600"/>
              </a:spcAft>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72200" y="1208314"/>
            <a:ext cx="5181600" cy="5139418"/>
          </a:xfrm>
        </p:spPr>
        <p:txBody>
          <a:bodyPr/>
          <a:lstStyle>
            <a:lvl1pPr>
              <a:lnSpc>
                <a:spcPct val="100000"/>
              </a:lnSpc>
              <a:spcBef>
                <a:spcPts val="600"/>
              </a:spcBef>
              <a:spcAft>
                <a:spcPts val="600"/>
              </a:spcAft>
              <a:defRPr/>
            </a:lvl1pPr>
            <a:lvl2pPr>
              <a:lnSpc>
                <a:spcPct val="100000"/>
              </a:lnSpc>
              <a:spcBef>
                <a:spcPts val="600"/>
              </a:spcBef>
              <a:spcAft>
                <a:spcPts val="600"/>
              </a:spcAft>
              <a:defRPr/>
            </a:lvl2pPr>
            <a:lvl3pPr>
              <a:lnSpc>
                <a:spcPct val="100000"/>
              </a:lnSpc>
              <a:spcBef>
                <a:spcPts val="600"/>
              </a:spcBef>
              <a:spcAft>
                <a:spcPts val="600"/>
              </a:spcAft>
              <a:defRPr/>
            </a:lvl3pPr>
            <a:lvl4pPr>
              <a:lnSpc>
                <a:spcPct val="100000"/>
              </a:lnSpc>
              <a:spcBef>
                <a:spcPts val="600"/>
              </a:spcBef>
              <a:spcAft>
                <a:spcPts val="600"/>
              </a:spcAft>
              <a:defRPr/>
            </a:lvl4pPr>
            <a:lvl5pPr>
              <a:lnSpc>
                <a:spcPct val="100000"/>
              </a:lnSpc>
              <a:spcBef>
                <a:spcPts val="600"/>
              </a:spcBef>
              <a:spcAft>
                <a:spcPts val="600"/>
              </a:spcAf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日期占位符 4"/>
          <p:cNvSpPr>
            <a:spLocks noGrp="1"/>
          </p:cNvSpPr>
          <p:nvPr>
            <p:ph type="dt" sz="half" idx="10"/>
          </p:nvPr>
        </p:nvSpPr>
        <p:spPr/>
        <p:txBody>
          <a:bodyPr/>
          <a:lstStyle/>
          <a:p>
            <a:fld id="{85F91FCD-4890-41F0-87A3-8C320F6D5DF6}"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9488261" y="6544129"/>
            <a:ext cx="2668360" cy="365125"/>
          </a:xfrm>
        </p:spPr>
        <p:txBody>
          <a:bodyPr/>
          <a:lstStyle>
            <a:lvl1pPr>
              <a:defRPr>
                <a:solidFill>
                  <a:schemeClr val="bg1"/>
                </a:solidFill>
              </a:defRPr>
            </a:lvl1pPr>
          </a:lstStyle>
          <a:p>
            <a:fld id="{6530F3CF-6A31-4749-83AB-AF293E4C68B0}" type="slidenum">
              <a:rPr lang="en-US" smtClean="0"/>
              <a:pPr/>
              <a:t>‹#›</a:t>
            </a:fld>
            <a:endParaRPr lang="en-US" dirty="0"/>
          </a:p>
        </p:txBody>
      </p:sp>
      <p:grpSp>
        <p:nvGrpSpPr>
          <p:cNvPr id="8" name="组合 7">
            <a:extLst>
              <a:ext uri="{FF2B5EF4-FFF2-40B4-BE49-F238E27FC236}">
                <a16:creationId xmlns:a16="http://schemas.microsoft.com/office/drawing/2014/main" id="{103E3B63-30D6-436B-84E4-2E5D5DE5788C}"/>
              </a:ext>
            </a:extLst>
          </p:cNvPr>
          <p:cNvGrpSpPr/>
          <p:nvPr/>
        </p:nvGrpSpPr>
        <p:grpSpPr>
          <a:xfrm>
            <a:off x="0" y="237055"/>
            <a:ext cx="1200150" cy="488496"/>
            <a:chOff x="0" y="254454"/>
            <a:chExt cx="1795510" cy="732518"/>
          </a:xfrm>
        </p:grpSpPr>
        <p:sp>
          <p:nvSpPr>
            <p:cNvPr id="9" name="矩形 1">
              <a:extLst>
                <a:ext uri="{FF2B5EF4-FFF2-40B4-BE49-F238E27FC236}">
                  <a16:creationId xmlns:a16="http://schemas.microsoft.com/office/drawing/2014/main" id="{BECDD563-4923-4C59-92AB-A46BE222C13D}"/>
                </a:ext>
              </a:extLst>
            </p:cNvPr>
            <p:cNvSpPr/>
            <p:nvPr/>
          </p:nvSpPr>
          <p:spPr>
            <a:xfrm>
              <a:off x="0" y="254454"/>
              <a:ext cx="1487837" cy="732518"/>
            </a:xfrm>
            <a:custGeom>
              <a:avLst/>
              <a:gdLst>
                <a:gd name="connsiteX0" fmla="*/ 0 w 1487837"/>
                <a:gd name="connsiteY0" fmla="*/ 0 h 914400"/>
                <a:gd name="connsiteX1" fmla="*/ 1487837 w 1487837"/>
                <a:gd name="connsiteY1" fmla="*/ 0 h 914400"/>
                <a:gd name="connsiteX2" fmla="*/ 1487837 w 1487837"/>
                <a:gd name="connsiteY2" fmla="*/ 914400 h 914400"/>
                <a:gd name="connsiteX3" fmla="*/ 0 w 1487837"/>
                <a:gd name="connsiteY3" fmla="*/ 914400 h 914400"/>
                <a:gd name="connsiteX4" fmla="*/ 0 w 1487837"/>
                <a:gd name="connsiteY4" fmla="*/ 0 h 914400"/>
                <a:gd name="connsiteX0-1" fmla="*/ 0 w 1487837"/>
                <a:gd name="connsiteY0-2" fmla="*/ 29029 h 943429"/>
                <a:gd name="connsiteX1-3" fmla="*/ 820180 w 1487837"/>
                <a:gd name="connsiteY1-4" fmla="*/ 0 h 943429"/>
                <a:gd name="connsiteX2-5" fmla="*/ 1487837 w 1487837"/>
                <a:gd name="connsiteY2-6" fmla="*/ 943429 h 943429"/>
                <a:gd name="connsiteX3-7" fmla="*/ 0 w 1487837"/>
                <a:gd name="connsiteY3-8" fmla="*/ 943429 h 943429"/>
                <a:gd name="connsiteX4-9" fmla="*/ 0 w 1487837"/>
                <a:gd name="connsiteY4-10" fmla="*/ 29029 h 943429"/>
                <a:gd name="connsiteX0-11" fmla="*/ 0 w 1487837"/>
                <a:gd name="connsiteY0-12" fmla="*/ 0 h 914400"/>
                <a:gd name="connsiteX1-13" fmla="*/ 820180 w 1487837"/>
                <a:gd name="connsiteY1-14" fmla="*/ 10659 h 914400"/>
                <a:gd name="connsiteX2-15" fmla="*/ 1487837 w 1487837"/>
                <a:gd name="connsiteY2-16" fmla="*/ 914400 h 914400"/>
                <a:gd name="connsiteX3-17" fmla="*/ 0 w 1487837"/>
                <a:gd name="connsiteY3-18" fmla="*/ 914400 h 914400"/>
                <a:gd name="connsiteX4-19" fmla="*/ 0 w 1487837"/>
                <a:gd name="connsiteY4-20" fmla="*/ 0 h 914400"/>
                <a:gd name="connsiteX0-21" fmla="*/ 0 w 1487837"/>
                <a:gd name="connsiteY0-22" fmla="*/ 0 h 914400"/>
                <a:gd name="connsiteX1-23" fmla="*/ 820180 w 1487837"/>
                <a:gd name="connsiteY1-24" fmla="*/ 2721 h 914400"/>
                <a:gd name="connsiteX2-25" fmla="*/ 1487837 w 1487837"/>
                <a:gd name="connsiteY2-26" fmla="*/ 914400 h 914400"/>
                <a:gd name="connsiteX3-27" fmla="*/ 0 w 1487837"/>
                <a:gd name="connsiteY3-28" fmla="*/ 914400 h 914400"/>
                <a:gd name="connsiteX4-29" fmla="*/ 0 w 1487837"/>
                <a:gd name="connsiteY4-30" fmla="*/ 0 h 914400"/>
                <a:gd name="connsiteX0-31" fmla="*/ 0 w 1487837"/>
                <a:gd name="connsiteY0-32" fmla="*/ 1248 h 915648"/>
                <a:gd name="connsiteX1-33" fmla="*/ 867805 w 1487837"/>
                <a:gd name="connsiteY1-34" fmla="*/ 0 h 915648"/>
                <a:gd name="connsiteX2-35" fmla="*/ 1487837 w 1487837"/>
                <a:gd name="connsiteY2-36" fmla="*/ 915648 h 915648"/>
                <a:gd name="connsiteX3-37" fmla="*/ 0 w 1487837"/>
                <a:gd name="connsiteY3-38" fmla="*/ 915648 h 915648"/>
                <a:gd name="connsiteX4-39" fmla="*/ 0 w 1487837"/>
                <a:gd name="connsiteY4-40" fmla="*/ 1248 h 91564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87837" h="915648">
                  <a:moveTo>
                    <a:pt x="0" y="1248"/>
                  </a:moveTo>
                  <a:lnTo>
                    <a:pt x="867805" y="0"/>
                  </a:lnTo>
                  <a:lnTo>
                    <a:pt x="1487837" y="915648"/>
                  </a:lnTo>
                  <a:lnTo>
                    <a:pt x="0" y="915648"/>
                  </a:lnTo>
                  <a:lnTo>
                    <a:pt x="0" y="124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0" name="任意多边形 4">
              <a:extLst>
                <a:ext uri="{FF2B5EF4-FFF2-40B4-BE49-F238E27FC236}">
                  <a16:creationId xmlns:a16="http://schemas.microsoft.com/office/drawing/2014/main" id="{CBA445E0-EF1F-4322-B5E9-96A323AF683A}"/>
                </a:ext>
              </a:extLst>
            </p:cNvPr>
            <p:cNvSpPr/>
            <p:nvPr/>
          </p:nvSpPr>
          <p:spPr>
            <a:xfrm>
              <a:off x="1010747" y="254454"/>
              <a:ext cx="784763" cy="732518"/>
            </a:xfrm>
            <a:custGeom>
              <a:avLst/>
              <a:gdLst>
                <a:gd name="connsiteX0" fmla="*/ 164731 w 784763"/>
                <a:gd name="connsiteY0" fmla="*/ 0 h 732518"/>
                <a:gd name="connsiteX1" fmla="*/ 784763 w 784763"/>
                <a:gd name="connsiteY1" fmla="*/ 732518 h 732518"/>
                <a:gd name="connsiteX2" fmla="*/ 619871 w 784763"/>
                <a:gd name="connsiteY2" fmla="*/ 732518 h 732518"/>
                <a:gd name="connsiteX3" fmla="*/ 0 w 784763"/>
                <a:gd name="connsiteY3" fmla="*/ 190 h 732518"/>
              </a:gdLst>
              <a:ahLst/>
              <a:cxnLst>
                <a:cxn ang="0">
                  <a:pos x="connsiteX0" y="connsiteY0"/>
                </a:cxn>
                <a:cxn ang="0">
                  <a:pos x="connsiteX1" y="connsiteY1"/>
                </a:cxn>
                <a:cxn ang="0">
                  <a:pos x="connsiteX2" y="connsiteY2"/>
                </a:cxn>
                <a:cxn ang="0">
                  <a:pos x="connsiteX3" y="connsiteY3"/>
                </a:cxn>
              </a:cxnLst>
              <a:rect l="l" t="t" r="r" b="b"/>
              <a:pathLst>
                <a:path w="784763" h="732518">
                  <a:moveTo>
                    <a:pt x="164731" y="0"/>
                  </a:moveTo>
                  <a:lnTo>
                    <a:pt x="784763" y="732518"/>
                  </a:lnTo>
                  <a:lnTo>
                    <a:pt x="619871" y="732518"/>
                  </a:lnTo>
                  <a:lnTo>
                    <a:pt x="0" y="1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grpSp>
      <p:sp>
        <p:nvSpPr>
          <p:cNvPr id="16" name="标题 1">
            <a:extLst>
              <a:ext uri="{FF2B5EF4-FFF2-40B4-BE49-F238E27FC236}">
                <a16:creationId xmlns:a16="http://schemas.microsoft.com/office/drawing/2014/main" id="{228A6188-E823-42CA-A942-9C975B55B7F1}"/>
              </a:ext>
            </a:extLst>
          </p:cNvPr>
          <p:cNvSpPr>
            <a:spLocks noGrp="1"/>
          </p:cNvSpPr>
          <p:nvPr>
            <p:ph type="title"/>
          </p:nvPr>
        </p:nvSpPr>
        <p:spPr>
          <a:xfrm>
            <a:off x="1281793" y="238579"/>
            <a:ext cx="9553575" cy="512536"/>
          </a:xfrm>
        </p:spPr>
        <p:txBody>
          <a:bodyPr>
            <a:noAutofit/>
          </a:bodyPr>
          <a:lstStyle>
            <a:lvl1pPr>
              <a:defRPr sz="4000" b="0">
                <a:solidFill>
                  <a:schemeClr val="accent1"/>
                </a:solidFill>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4269746853"/>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CFF45FF-9B57-47EC-93D3-167B42D12FC7}" type="datetime1">
              <a:rPr lang="zh-CN" altLang="en-US" smtClean="0"/>
              <a:t>2023/12/13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109156078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01C5D3A-D1CC-4837-A9BF-289192324C07}" type="datetime1">
              <a:rPr lang="zh-CN" altLang="en-US" smtClean="0"/>
              <a:t>2023/12/13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141593779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C72DFE-ADEC-4C3D-B0BD-FF8EFF404081}" type="datetime1">
              <a:rPr lang="zh-CN" altLang="en-US" smtClean="0"/>
              <a:t>2023/12/13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40593619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02CD34D9-2AB5-4C74-9A02-A01D6A33B092}"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1998946227"/>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FA75877-D5D1-455D-A148-32690FA48C4F}" type="datetime1">
              <a:rPr lang="zh-CN" altLang="en-US" smtClean="0"/>
              <a:t>2023/12/13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421822989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225A3A-E24D-406E-947E-8CC215A62C75}"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9969724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B42F575-1E14-40DE-A315-1C8F4BAF63B9}" type="datetime1">
              <a:rPr lang="zh-CN" altLang="en-US" smtClean="0"/>
              <a:t>2023/12/13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338331507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600200"/>
            <a:ext cx="53848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38589"/>
            <a:ext cx="53848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6"/>
          <p:cNvSpPr>
            <a:spLocks noGrp="1" noChangeArrowheads="1"/>
          </p:cNvSpPr>
          <p:nvPr>
            <p:ph type="sldNum" sz="quarter" idx="10"/>
          </p:nvPr>
        </p:nvSpPr>
        <p:spPr/>
        <p:txBody>
          <a:bodyPr/>
          <a:lstStyle>
            <a:lvl1pPr>
              <a:defRPr/>
            </a:lvl1pPr>
          </a:lstStyle>
          <a:p>
            <a:fld id="{D1E6B9A3-5572-41F7-B31C-D81069CE9CEA}" type="slidenum">
              <a:rPr lang="en-US" altLang="zh-CN" smtClean="0"/>
              <a:pPr/>
              <a:t>‹#›</a:t>
            </a:fld>
            <a:endParaRPr lang="en-US" altLang="zh-CN"/>
          </a:p>
        </p:txBody>
      </p:sp>
    </p:spTree>
    <p:extLst>
      <p:ext uri="{BB962C8B-B14F-4D97-AF65-F5344CB8AC3E}">
        <p14:creationId xmlns:p14="http://schemas.microsoft.com/office/powerpoint/2010/main" val="1363681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C5590A-D886-4962-AEDA-DC2589578889}" type="datetime1">
              <a:rPr lang="zh-CN" altLang="en-US" smtClean="0"/>
              <a:t>2023/12/13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30F3CF-6A31-4749-83AB-AF293E4C68B0}" type="slidenum">
              <a:rPr lang="en-US" smtClean="0"/>
              <a:pPr/>
              <a:t>‹#›</a:t>
            </a:fld>
            <a:endParaRPr lang="en-US" dirty="0"/>
          </a:p>
        </p:txBody>
      </p:sp>
    </p:spTree>
    <p:extLst>
      <p:ext uri="{BB962C8B-B14F-4D97-AF65-F5344CB8AC3E}">
        <p14:creationId xmlns:p14="http://schemas.microsoft.com/office/powerpoint/2010/main" val="3753529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opengauss.org/zh/docs/3.1.0/docs/Developerguide/Query%E6%89%A7%E8%A1%8C%E6%B5%81%E7%A8%8B.html"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hyperlink" Target="https://www.modb.pro/db/160703"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customXml" Target="../ink/ink1.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0.png"/><Relationship Id="rId4" Type="http://schemas.openxmlformats.org/officeDocument/2006/relationships/image" Target="../media/image1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3B3A9379-A7F0-473C-A8D9-BC37FEB8742C}"/>
              </a:ext>
            </a:extLst>
          </p:cNvPr>
          <p:cNvSpPr>
            <a:spLocks noGrp="1"/>
          </p:cNvSpPr>
          <p:nvPr>
            <p:ph type="subTitle" idx="1"/>
          </p:nvPr>
        </p:nvSpPr>
        <p:spPr/>
        <p:txBody>
          <a:bodyPr/>
          <a:lstStyle/>
          <a:p>
            <a:r>
              <a:rPr lang="zh-CN" altLang="en-US"/>
              <a:t>苗茹</a:t>
            </a:r>
            <a:endParaRPr lang="en-US" altLang="zh-CN"/>
          </a:p>
          <a:p>
            <a:r>
              <a:rPr lang="zh-CN" altLang="en-US"/>
              <a:t>河南大学计算机与信息工程学院</a:t>
            </a:r>
            <a:endParaRPr lang="en-US" altLang="zh-CN" dirty="0"/>
          </a:p>
        </p:txBody>
      </p:sp>
      <p:sp>
        <p:nvSpPr>
          <p:cNvPr id="2" name="标题 1">
            <a:extLst>
              <a:ext uri="{FF2B5EF4-FFF2-40B4-BE49-F238E27FC236}">
                <a16:creationId xmlns:a16="http://schemas.microsoft.com/office/drawing/2014/main" id="{1F55F539-9931-4D3D-AF16-2BD782C59D02}"/>
              </a:ext>
            </a:extLst>
          </p:cNvPr>
          <p:cNvSpPr>
            <a:spLocks noGrp="1"/>
          </p:cNvSpPr>
          <p:nvPr>
            <p:ph type="ctrTitle"/>
          </p:nvPr>
        </p:nvSpPr>
        <p:spPr>
          <a:xfrm>
            <a:off x="1447800" y="1447800"/>
            <a:ext cx="9477375" cy="2261733"/>
          </a:xfrm>
        </p:spPr>
        <p:txBody>
          <a:bodyPr/>
          <a:lstStyle/>
          <a:p>
            <a:r>
              <a:rPr lang="zh-CN" altLang="en-US" dirty="0"/>
              <a:t>第九章 </a:t>
            </a:r>
            <a:br>
              <a:rPr lang="zh-CN" altLang="en-US" dirty="0"/>
            </a:br>
            <a:r>
              <a:rPr lang="zh-CN" altLang="en-US" dirty="0"/>
              <a:t>关系查询处理与查询优化</a:t>
            </a:r>
          </a:p>
        </p:txBody>
      </p:sp>
      <p:sp>
        <p:nvSpPr>
          <p:cNvPr id="6" name="矩形 5">
            <a:extLst>
              <a:ext uri="{FF2B5EF4-FFF2-40B4-BE49-F238E27FC236}">
                <a16:creationId xmlns:a16="http://schemas.microsoft.com/office/drawing/2014/main" id="{A09BE498-7047-40C7-9402-B5B2F69DF31E}"/>
              </a:ext>
            </a:extLst>
          </p:cNvPr>
          <p:cNvSpPr/>
          <p:nvPr/>
        </p:nvSpPr>
        <p:spPr>
          <a:xfrm>
            <a:off x="208551" y="894417"/>
            <a:ext cx="4801314" cy="646331"/>
          </a:xfrm>
          <a:prstGeom prst="rect">
            <a:avLst/>
          </a:prstGeom>
        </p:spPr>
        <p:txBody>
          <a:bodyPr wrap="none">
            <a:spAutoFit/>
          </a:bodyPr>
          <a:lstStyle/>
          <a:p>
            <a:r>
              <a:rPr lang="zh-CN" altLang="en-US" sz="3600" dirty="0"/>
              <a:t>数据库系统原理及应用</a:t>
            </a:r>
          </a:p>
        </p:txBody>
      </p:sp>
    </p:spTree>
    <p:extLst>
      <p:ext uri="{BB962C8B-B14F-4D97-AF65-F5344CB8AC3E}">
        <p14:creationId xmlns:p14="http://schemas.microsoft.com/office/powerpoint/2010/main" val="13234939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373761">
            <a:extLst>
              <a:ext uri="{FF2B5EF4-FFF2-40B4-BE49-F238E27FC236}">
                <a16:creationId xmlns:a16="http://schemas.microsoft.com/office/drawing/2014/main" id="{A16AFB6F-B294-4323-9651-454493722E31}"/>
              </a:ext>
            </a:extLst>
          </p:cNvPr>
          <p:cNvSpPr>
            <a:spLocks noGrp="1" noChangeArrowheads="1"/>
          </p:cNvSpPr>
          <p:nvPr>
            <p:ph type="title"/>
          </p:nvPr>
        </p:nvSpPr>
        <p:spPr/>
        <p:txBody>
          <a:bodyPr/>
          <a:lstStyle/>
          <a:p>
            <a:r>
              <a:rPr lang="zh-CN" altLang="en-US"/>
              <a:t>第三篇 系统篇</a:t>
            </a:r>
            <a:endParaRPr lang="zh-CN" altLang="en-US" dirty="0"/>
          </a:p>
        </p:txBody>
      </p:sp>
      <p:sp>
        <p:nvSpPr>
          <p:cNvPr id="21507" name="文本占位符 373762">
            <a:extLst>
              <a:ext uri="{FF2B5EF4-FFF2-40B4-BE49-F238E27FC236}">
                <a16:creationId xmlns:a16="http://schemas.microsoft.com/office/drawing/2014/main" id="{82ACEA5D-FA67-4CB8-B176-998C8E830984}"/>
              </a:ext>
            </a:extLst>
          </p:cNvPr>
          <p:cNvSpPr>
            <a:spLocks noGrp="1" noChangeArrowheads="1"/>
          </p:cNvSpPr>
          <p:nvPr>
            <p:ph idx="1"/>
          </p:nvPr>
        </p:nvSpPr>
        <p:spPr/>
        <p:txBody>
          <a:bodyPr/>
          <a:lstStyle/>
          <a:p>
            <a:r>
              <a:rPr lang="zh-CN" altLang="en-US"/>
              <a:t>数据库管理系统中查询处理和事务管理的基本概念和基本知识</a:t>
            </a:r>
            <a:endParaRPr lang="en-US" altLang="zh-CN"/>
          </a:p>
          <a:p>
            <a:endParaRPr lang="en-US" altLang="zh-CN"/>
          </a:p>
          <a:p>
            <a:r>
              <a:rPr lang="zh-CN" altLang="en-US"/>
              <a:t>第</a:t>
            </a:r>
            <a:r>
              <a:rPr lang="en-US" altLang="zh-CN"/>
              <a:t>9</a:t>
            </a:r>
            <a:r>
              <a:rPr lang="zh-CN" altLang="en-US"/>
              <a:t>章 关系查询处理和查询优化</a:t>
            </a:r>
          </a:p>
          <a:p>
            <a:r>
              <a:rPr lang="zh-CN" altLang="en-US"/>
              <a:t>第</a:t>
            </a:r>
            <a:r>
              <a:rPr lang="en-US" altLang="zh-CN"/>
              <a:t>10</a:t>
            </a:r>
            <a:r>
              <a:rPr lang="zh-CN" altLang="en-US"/>
              <a:t>章 数据库恢复技术</a:t>
            </a:r>
          </a:p>
          <a:p>
            <a:r>
              <a:rPr lang="zh-CN" altLang="en-US"/>
              <a:t>第</a:t>
            </a:r>
            <a:r>
              <a:rPr lang="en-US" altLang="zh-CN"/>
              <a:t>11</a:t>
            </a:r>
            <a:r>
              <a:rPr lang="zh-CN" altLang="en-US"/>
              <a:t>章 并发控制</a:t>
            </a:r>
            <a:endParaRPr lang="en-US" altLang="zh-CN"/>
          </a:p>
          <a:p>
            <a:r>
              <a:rPr lang="en-US" altLang="zh-CN"/>
              <a:t>*</a:t>
            </a:r>
            <a:r>
              <a:rPr lang="zh-CN" altLang="en-US"/>
              <a:t>第</a:t>
            </a:r>
            <a:r>
              <a:rPr lang="en-US" altLang="zh-CN"/>
              <a:t>12</a:t>
            </a:r>
            <a:r>
              <a:rPr lang="zh-CN" altLang="en-US"/>
              <a:t>章 数据库管理系统</a:t>
            </a:r>
            <a:endParaRPr lang="zh-CN" altLang="en-US" dirty="0"/>
          </a:p>
        </p:txBody>
      </p:sp>
      <p:sp>
        <p:nvSpPr>
          <p:cNvPr id="2" name="灯片编号占位符 1">
            <a:extLst>
              <a:ext uri="{FF2B5EF4-FFF2-40B4-BE49-F238E27FC236}">
                <a16:creationId xmlns:a16="http://schemas.microsoft.com/office/drawing/2014/main" id="{F3EF1AC4-BA1F-47CE-9B05-169D598B3873}"/>
              </a:ext>
            </a:extLst>
          </p:cNvPr>
          <p:cNvSpPr>
            <a:spLocks noGrp="1"/>
          </p:cNvSpPr>
          <p:nvPr>
            <p:ph type="sldNum" sz="quarter" idx="12"/>
          </p:nvPr>
        </p:nvSpPr>
        <p:spPr/>
        <p:txBody>
          <a:bodyPr/>
          <a:lstStyle/>
          <a:p>
            <a:fld id="{47C9E101-E51D-431E-84FA-C029B8655B60}" type="slidenum">
              <a:rPr lang="zh-CN" altLang="en-US" smtClean="0"/>
              <a:pPr/>
              <a:t>1</a:t>
            </a:fld>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r>
              <a:rPr lang="zh-CN" altLang="en-US"/>
              <a:t>第九章  关系查询处理和查询优化</a:t>
            </a:r>
            <a:endParaRPr lang="zh-CN" altLang="en-US" dirty="0"/>
          </a:p>
        </p:txBody>
      </p:sp>
      <p:sp>
        <p:nvSpPr>
          <p:cNvPr id="336899" name="Rectangle 3"/>
          <p:cNvSpPr>
            <a:spLocks noGrp="1" noChangeArrowheads="1"/>
          </p:cNvSpPr>
          <p:nvPr>
            <p:ph idx="1"/>
          </p:nvPr>
        </p:nvSpPr>
        <p:spPr/>
        <p:txBody>
          <a:bodyPr/>
          <a:lstStyle/>
          <a:p>
            <a:r>
              <a:rPr lang="en-US" altLang="zh-CN"/>
              <a:t>9.1 </a:t>
            </a:r>
            <a:r>
              <a:rPr lang="zh-CN" altLang="en-US"/>
              <a:t>关系数据库系统的查询处理</a:t>
            </a:r>
          </a:p>
          <a:p>
            <a:r>
              <a:rPr lang="en-US" altLang="zh-CN"/>
              <a:t>9.2 </a:t>
            </a:r>
            <a:r>
              <a:rPr lang="zh-CN" altLang="en-US"/>
              <a:t>关系数据库系统的查询优化</a:t>
            </a:r>
          </a:p>
          <a:p>
            <a:r>
              <a:rPr lang="en-US" altLang="zh-CN"/>
              <a:t>9.3 </a:t>
            </a:r>
            <a:r>
              <a:rPr lang="zh-CN" altLang="en-US"/>
              <a:t>代数优化</a:t>
            </a:r>
          </a:p>
          <a:p>
            <a:r>
              <a:rPr lang="en-US" altLang="zh-CN"/>
              <a:t>9.4 </a:t>
            </a:r>
            <a:r>
              <a:rPr lang="zh-CN" altLang="en-US"/>
              <a:t>物理优化</a:t>
            </a:r>
          </a:p>
          <a:p>
            <a:r>
              <a:rPr lang="en-US" altLang="zh-CN"/>
              <a:t>9.5 </a:t>
            </a:r>
            <a:r>
              <a:rPr lang="zh-CN" altLang="en-US"/>
              <a:t>小结</a:t>
            </a:r>
            <a:endParaRPr lang="zh-CN" altLang="en-US" dirty="0"/>
          </a:p>
        </p:txBody>
      </p:sp>
      <p:sp>
        <p:nvSpPr>
          <p:cNvPr id="5" name="灯片编号占位符 5"/>
          <p:cNvSpPr>
            <a:spLocks noGrp="1"/>
          </p:cNvSpPr>
          <p:nvPr>
            <p:ph type="sldNum" sz="quarter" idx="12"/>
          </p:nvPr>
        </p:nvSpPr>
        <p:spPr/>
        <p:txBody>
          <a:bodyPr/>
          <a:lstStyle/>
          <a:p>
            <a:fld id="{1A403C32-87A7-46EA-AAC4-5BA9CAA38424}" type="slidenum">
              <a:rPr lang="en-US" altLang="zh-CN" smtClean="0"/>
              <a:pPr/>
              <a:t>2</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2705A673-F0A6-49E5-8F9E-DDE5C56E97AB}"/>
              </a:ext>
            </a:extLst>
          </p:cNvPr>
          <p:cNvSpPr>
            <a:spLocks noGrp="1"/>
          </p:cNvSpPr>
          <p:nvPr>
            <p:ph type="title"/>
          </p:nvPr>
        </p:nvSpPr>
        <p:spPr/>
        <p:txBody>
          <a:bodyPr/>
          <a:lstStyle/>
          <a:p>
            <a:r>
              <a:rPr lang="en-US" altLang="zh-CN"/>
              <a:t>9.1 </a:t>
            </a:r>
            <a:r>
              <a:rPr lang="zh-CN" altLang="en-US"/>
              <a:t>关系数据库系统的查询处理</a:t>
            </a:r>
            <a:endParaRPr lang="zh-CN" altLang="en-US" dirty="0"/>
          </a:p>
        </p:txBody>
      </p:sp>
      <p:sp>
        <p:nvSpPr>
          <p:cNvPr id="3" name="内容占位符 2">
            <a:extLst>
              <a:ext uri="{FF2B5EF4-FFF2-40B4-BE49-F238E27FC236}">
                <a16:creationId xmlns:a16="http://schemas.microsoft.com/office/drawing/2014/main" id="{3C855767-EAF2-4EE3-A3F7-967F9614211A}"/>
              </a:ext>
            </a:extLst>
          </p:cNvPr>
          <p:cNvSpPr>
            <a:spLocks noGrp="1"/>
          </p:cNvSpPr>
          <p:nvPr>
            <p:ph idx="1"/>
          </p:nvPr>
        </p:nvSpPr>
        <p:spPr/>
        <p:txBody>
          <a:bodyPr>
            <a:normAutofit fontScale="92500" lnSpcReduction="10000"/>
          </a:bodyPr>
          <a:lstStyle/>
          <a:p>
            <a:r>
              <a:rPr lang="zh-CN" altLang="en-US" dirty="0">
                <a:solidFill>
                  <a:srgbClr val="FF0000"/>
                </a:solidFill>
              </a:rPr>
              <a:t>查询处理</a:t>
            </a:r>
            <a:r>
              <a:rPr lang="en-US" altLang="zh-CN" dirty="0">
                <a:solidFill>
                  <a:srgbClr val="FF0000"/>
                </a:solidFill>
              </a:rPr>
              <a:t>(Query processing)</a:t>
            </a:r>
          </a:p>
          <a:p>
            <a:pPr lvl="1"/>
            <a:r>
              <a:rPr lang="zh-CN" altLang="en-US" dirty="0"/>
              <a:t>指</a:t>
            </a:r>
            <a:r>
              <a:rPr lang="en-US" altLang="zh-CN" dirty="0"/>
              <a:t>RDBMS</a:t>
            </a:r>
            <a:r>
              <a:rPr lang="zh-CN" altLang="en-US" dirty="0"/>
              <a:t>执行查询语句的过程。</a:t>
            </a:r>
          </a:p>
          <a:p>
            <a:pPr lvl="1"/>
            <a:r>
              <a:rPr lang="zh-CN" altLang="en-US" dirty="0"/>
              <a:t>任务</a:t>
            </a:r>
            <a:r>
              <a:rPr lang="en-US" altLang="zh-CN" dirty="0"/>
              <a:t>: </a:t>
            </a:r>
            <a:r>
              <a:rPr lang="zh-CN" altLang="en-US" dirty="0"/>
              <a:t>把用户提交给</a:t>
            </a:r>
            <a:r>
              <a:rPr lang="en-US" altLang="zh-CN" dirty="0"/>
              <a:t>RDBMS</a:t>
            </a:r>
            <a:r>
              <a:rPr lang="zh-CN" altLang="en-US" dirty="0"/>
              <a:t>的查询语句转换为高效的查询执行计划。</a:t>
            </a:r>
            <a:endParaRPr lang="en-US" altLang="zh-CN" dirty="0"/>
          </a:p>
          <a:p>
            <a:pPr lvl="1"/>
            <a:endParaRPr lang="zh-CN" altLang="en-US" dirty="0"/>
          </a:p>
          <a:p>
            <a:r>
              <a:rPr lang="zh-CN" altLang="en-US" dirty="0">
                <a:solidFill>
                  <a:srgbClr val="FF0000"/>
                </a:solidFill>
              </a:rPr>
              <a:t>代数优化</a:t>
            </a:r>
          </a:p>
          <a:p>
            <a:pPr lvl="1"/>
            <a:r>
              <a:rPr lang="zh-CN" altLang="en-US" dirty="0"/>
              <a:t>也称逻辑优化。</a:t>
            </a:r>
          </a:p>
          <a:p>
            <a:pPr lvl="1"/>
            <a:r>
              <a:rPr lang="zh-CN" altLang="en-US" dirty="0"/>
              <a:t>指关系代数表达式的优化。</a:t>
            </a:r>
            <a:endParaRPr lang="en-US" altLang="zh-CN" dirty="0"/>
          </a:p>
          <a:p>
            <a:pPr lvl="1"/>
            <a:endParaRPr lang="zh-CN" altLang="en-US" dirty="0"/>
          </a:p>
          <a:p>
            <a:r>
              <a:rPr lang="zh-CN" altLang="en-US" dirty="0">
                <a:solidFill>
                  <a:srgbClr val="FF0000"/>
                </a:solidFill>
              </a:rPr>
              <a:t>物理优化</a:t>
            </a:r>
          </a:p>
          <a:p>
            <a:pPr lvl="1"/>
            <a:r>
              <a:rPr lang="zh-CN" altLang="en-US" dirty="0"/>
              <a:t>也称非代数优化。</a:t>
            </a:r>
          </a:p>
          <a:p>
            <a:pPr lvl="1"/>
            <a:r>
              <a:rPr lang="zh-CN" altLang="en-US" dirty="0"/>
              <a:t>指存取路径和底层操作算法的选择进行的优化。</a:t>
            </a:r>
          </a:p>
        </p:txBody>
      </p:sp>
      <p:sp>
        <p:nvSpPr>
          <p:cNvPr id="4" name="灯片编号占位符 3">
            <a:extLst>
              <a:ext uri="{FF2B5EF4-FFF2-40B4-BE49-F238E27FC236}">
                <a16:creationId xmlns:a16="http://schemas.microsoft.com/office/drawing/2014/main" id="{09CB5353-E981-48AC-A244-D268B23CADBF}"/>
              </a:ext>
            </a:extLst>
          </p:cNvPr>
          <p:cNvSpPr>
            <a:spLocks noGrp="1"/>
          </p:cNvSpPr>
          <p:nvPr>
            <p:ph type="sldNum" sz="quarter" idx="12"/>
          </p:nvPr>
        </p:nvSpPr>
        <p:spPr/>
        <p:txBody>
          <a:bodyPr/>
          <a:lstStyle/>
          <a:p>
            <a:fld id="{E63F6D5D-9733-4D44-9C56-AEFEDD5A4BA7}" type="slidenum">
              <a:rPr lang="en-US" smtClean="0"/>
              <a:pPr/>
              <a:t>3</a:t>
            </a:fld>
            <a:endParaRPr lang="en-US" dirty="0"/>
          </a:p>
        </p:txBody>
      </p:sp>
    </p:spTree>
    <p:extLst>
      <p:ext uri="{BB962C8B-B14F-4D97-AF65-F5344CB8AC3E}">
        <p14:creationId xmlns:p14="http://schemas.microsoft.com/office/powerpoint/2010/main" val="89979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8BF222E-45A0-42AF-873C-39F1928B892C}"/>
              </a:ext>
            </a:extLst>
          </p:cNvPr>
          <p:cNvSpPr>
            <a:spLocks noGrp="1"/>
          </p:cNvSpPr>
          <p:nvPr>
            <p:ph type="sldNum" sz="quarter" idx="12"/>
          </p:nvPr>
        </p:nvSpPr>
        <p:spPr/>
        <p:txBody>
          <a:bodyPr/>
          <a:lstStyle/>
          <a:p>
            <a:fld id="{E63F6D5D-9733-4D44-9C56-AEFEDD5A4BA7}" type="slidenum">
              <a:rPr lang="en-US" smtClean="0"/>
              <a:pPr/>
              <a:t>4</a:t>
            </a:fld>
            <a:endParaRPr lang="en-US" dirty="0"/>
          </a:p>
        </p:txBody>
      </p:sp>
      <p:sp>
        <p:nvSpPr>
          <p:cNvPr id="5" name="Rectangle 4">
            <a:extLst>
              <a:ext uri="{FF2B5EF4-FFF2-40B4-BE49-F238E27FC236}">
                <a16:creationId xmlns:a16="http://schemas.microsoft.com/office/drawing/2014/main" id="{E98E20BD-5282-42C5-B5DC-65ACD5258FE7}"/>
              </a:ext>
            </a:extLst>
          </p:cNvPr>
          <p:cNvSpPr>
            <a:spLocks noChangeArrowheads="1"/>
          </p:cNvSpPr>
          <p:nvPr/>
        </p:nvSpPr>
        <p:spPr bwMode="auto">
          <a:xfrm>
            <a:off x="2715419" y="6204238"/>
            <a:ext cx="2000250" cy="358775"/>
          </a:xfrm>
          <a:prstGeom prst="rect">
            <a:avLst/>
          </a:prstGeom>
          <a:solidFill>
            <a:srgbClr val="FF99CC"/>
          </a:solidFill>
          <a:ln w="25400" algn="ctr">
            <a:solidFill>
              <a:srgbClr val="CC00FF"/>
            </a:solidFill>
            <a:prstDash val="sysDot"/>
            <a:miter lim="800000"/>
            <a:headEnd/>
            <a:tailEnd/>
          </a:ln>
        </p:spPr>
        <p:txBody>
          <a:bodyPr wrap="none" anchor="ct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1600" b="1" dirty="0">
                <a:solidFill>
                  <a:srgbClr val="0000FF"/>
                </a:solidFill>
                <a:latin typeface="微软雅黑" panose="020B0503020204020204" pitchFamily="34" charset="-122"/>
                <a:ea typeface="微软雅黑" panose="020B0503020204020204" pitchFamily="34" charset="-122"/>
              </a:rPr>
              <a:t>查询计划的执行代码</a:t>
            </a:r>
          </a:p>
        </p:txBody>
      </p:sp>
      <p:sp>
        <p:nvSpPr>
          <p:cNvPr id="6" name="Rectangle 5">
            <a:extLst>
              <a:ext uri="{FF2B5EF4-FFF2-40B4-BE49-F238E27FC236}">
                <a16:creationId xmlns:a16="http://schemas.microsoft.com/office/drawing/2014/main" id="{A2AF20AE-583B-4C6B-94C1-19F353C05DEC}"/>
              </a:ext>
            </a:extLst>
          </p:cNvPr>
          <p:cNvSpPr>
            <a:spLocks noChangeArrowheads="1"/>
          </p:cNvSpPr>
          <p:nvPr/>
        </p:nvSpPr>
        <p:spPr bwMode="auto">
          <a:xfrm>
            <a:off x="3009900" y="4270663"/>
            <a:ext cx="1466850" cy="576263"/>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zh-CN" altLang="en-US" sz="1600" b="1">
                <a:solidFill>
                  <a:srgbClr val="0000FF"/>
                </a:solidFill>
                <a:latin typeface="微软雅黑" panose="020B0503020204020204" pitchFamily="34" charset="-122"/>
                <a:ea typeface="微软雅黑" panose="020B0503020204020204" pitchFamily="34" charset="-122"/>
              </a:rPr>
              <a:t>代数优化</a:t>
            </a:r>
            <a:endParaRPr lang="en-US" altLang="zh-CN" sz="1600" b="1">
              <a:solidFill>
                <a:srgbClr val="0000FF"/>
              </a:solidFill>
              <a:latin typeface="微软雅黑" panose="020B0503020204020204" pitchFamily="34" charset="-122"/>
              <a:ea typeface="微软雅黑" panose="020B0503020204020204" pitchFamily="34" charset="-122"/>
            </a:endParaRPr>
          </a:p>
          <a:p>
            <a:r>
              <a:rPr lang="zh-CN" altLang="en-US" sz="1600" b="1">
                <a:solidFill>
                  <a:srgbClr val="0000FF"/>
                </a:solidFill>
                <a:latin typeface="微软雅黑" panose="020B0503020204020204" pitchFamily="34" charset="-122"/>
                <a:ea typeface="微软雅黑" panose="020B0503020204020204" pitchFamily="34" charset="-122"/>
              </a:rPr>
              <a:t>物理优化等</a:t>
            </a:r>
          </a:p>
        </p:txBody>
      </p:sp>
      <p:sp>
        <p:nvSpPr>
          <p:cNvPr id="7" name="TextBox 66">
            <a:extLst>
              <a:ext uri="{FF2B5EF4-FFF2-40B4-BE49-F238E27FC236}">
                <a16:creationId xmlns:a16="http://schemas.microsoft.com/office/drawing/2014/main" id="{06E56006-6DFB-43CF-8AD4-46899BEFF26A}"/>
              </a:ext>
            </a:extLst>
          </p:cNvPr>
          <p:cNvSpPr txBox="1">
            <a:spLocks noChangeArrowheads="1"/>
          </p:cNvSpPr>
          <p:nvPr/>
        </p:nvSpPr>
        <p:spPr bwMode="auto">
          <a:xfrm>
            <a:off x="3206461" y="1134935"/>
            <a:ext cx="10118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b="1" dirty="0">
                <a:solidFill>
                  <a:srgbClr val="0000FF"/>
                </a:solidFill>
                <a:latin typeface="微软雅黑" panose="020B0503020204020204" pitchFamily="34" charset="-122"/>
                <a:ea typeface="微软雅黑" panose="020B0503020204020204" pitchFamily="34" charset="-122"/>
              </a:rPr>
              <a:t>查询语句</a:t>
            </a:r>
          </a:p>
        </p:txBody>
      </p:sp>
      <p:sp>
        <p:nvSpPr>
          <p:cNvPr id="8" name="Line 16">
            <a:extLst>
              <a:ext uri="{FF2B5EF4-FFF2-40B4-BE49-F238E27FC236}">
                <a16:creationId xmlns:a16="http://schemas.microsoft.com/office/drawing/2014/main" id="{0DC71E46-E490-4C2A-B4FC-A5FFB3860CCF}"/>
              </a:ext>
            </a:extLst>
          </p:cNvPr>
          <p:cNvSpPr>
            <a:spLocks noChangeShapeType="1"/>
          </p:cNvSpPr>
          <p:nvPr/>
        </p:nvSpPr>
        <p:spPr bwMode="auto">
          <a:xfrm>
            <a:off x="3712367" y="1424382"/>
            <a:ext cx="1" cy="24428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等线 Light" panose="02010600030101010101" pitchFamily="2" charset="-122"/>
              <a:ea typeface="等线 Light" panose="02010600030101010101" pitchFamily="2" charset="-122"/>
            </a:endParaRPr>
          </a:p>
        </p:txBody>
      </p:sp>
      <p:sp>
        <p:nvSpPr>
          <p:cNvPr id="9" name="Rectangle 5">
            <a:extLst>
              <a:ext uri="{FF2B5EF4-FFF2-40B4-BE49-F238E27FC236}">
                <a16:creationId xmlns:a16="http://schemas.microsoft.com/office/drawing/2014/main" id="{09718F36-1C64-4E63-BB1D-235DAD6C9939}"/>
              </a:ext>
            </a:extLst>
          </p:cNvPr>
          <p:cNvSpPr>
            <a:spLocks noChangeArrowheads="1"/>
          </p:cNvSpPr>
          <p:nvPr/>
        </p:nvSpPr>
        <p:spPr bwMode="auto">
          <a:xfrm>
            <a:off x="2981325" y="1678276"/>
            <a:ext cx="1468438" cy="576262"/>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1600" b="1" dirty="0">
                <a:solidFill>
                  <a:srgbClr val="0000FF"/>
                </a:solidFill>
                <a:latin typeface="微软雅黑" panose="020B0503020204020204" pitchFamily="34" charset="-122"/>
                <a:ea typeface="微软雅黑" panose="020B0503020204020204" pitchFamily="34" charset="-122"/>
              </a:rPr>
              <a:t>词法分析</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eaLnBrk="1" hangingPunct="1"/>
            <a:r>
              <a:rPr lang="zh-CN" altLang="en-US" sz="1600" b="1" dirty="0">
                <a:solidFill>
                  <a:srgbClr val="0000FF"/>
                </a:solidFill>
                <a:latin typeface="微软雅黑" panose="020B0503020204020204" pitchFamily="34" charset="-122"/>
                <a:ea typeface="微软雅黑" panose="020B0503020204020204" pitchFamily="34" charset="-122"/>
              </a:rPr>
              <a:t>语法分析</a:t>
            </a:r>
          </a:p>
        </p:txBody>
      </p:sp>
      <p:sp>
        <p:nvSpPr>
          <p:cNvPr id="10" name="Rectangle 5">
            <a:extLst>
              <a:ext uri="{FF2B5EF4-FFF2-40B4-BE49-F238E27FC236}">
                <a16:creationId xmlns:a16="http://schemas.microsoft.com/office/drawing/2014/main" id="{BFF07F8A-2F60-4CC5-BCE0-ABB9CD35C8F5}"/>
              </a:ext>
            </a:extLst>
          </p:cNvPr>
          <p:cNvSpPr>
            <a:spLocks noChangeArrowheads="1"/>
          </p:cNvSpPr>
          <p:nvPr/>
        </p:nvSpPr>
        <p:spPr bwMode="auto">
          <a:xfrm>
            <a:off x="2936875" y="2470438"/>
            <a:ext cx="1584325" cy="1081088"/>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r>
              <a:rPr lang="zh-CN" altLang="en-US" sz="1600" b="1">
                <a:solidFill>
                  <a:srgbClr val="0000FF"/>
                </a:solidFill>
                <a:latin typeface="微软雅黑" panose="020B0503020204020204" pitchFamily="34" charset="-122"/>
                <a:ea typeface="微软雅黑" panose="020B0503020204020204" pitchFamily="34" charset="-122"/>
              </a:rPr>
              <a:t>语义分析</a:t>
            </a:r>
            <a:endParaRPr lang="en-US" altLang="zh-CN" sz="1600" b="1">
              <a:solidFill>
                <a:srgbClr val="0000FF"/>
              </a:solidFill>
              <a:latin typeface="微软雅黑" panose="020B0503020204020204" pitchFamily="34" charset="-122"/>
              <a:ea typeface="微软雅黑" panose="020B0503020204020204" pitchFamily="34" charset="-122"/>
            </a:endParaRPr>
          </a:p>
          <a:p>
            <a:pPr eaLnBrk="1" hangingPunct="1"/>
            <a:r>
              <a:rPr lang="zh-CN" altLang="en-US" sz="1600" b="1">
                <a:solidFill>
                  <a:srgbClr val="0000FF"/>
                </a:solidFill>
                <a:latin typeface="微软雅黑" panose="020B0503020204020204" pitchFamily="34" charset="-122"/>
                <a:ea typeface="微软雅黑" panose="020B0503020204020204" pitchFamily="34" charset="-122"/>
              </a:rPr>
              <a:t>符号名转换</a:t>
            </a:r>
            <a:endParaRPr lang="en-US" altLang="zh-CN" sz="1600" b="1">
              <a:solidFill>
                <a:srgbClr val="0000FF"/>
              </a:solidFill>
              <a:latin typeface="微软雅黑" panose="020B0503020204020204" pitchFamily="34" charset="-122"/>
              <a:ea typeface="微软雅黑" panose="020B0503020204020204" pitchFamily="34" charset="-122"/>
            </a:endParaRPr>
          </a:p>
          <a:p>
            <a:pPr eaLnBrk="1" hangingPunct="1"/>
            <a:r>
              <a:rPr lang="zh-CN" altLang="en-US" sz="1600" b="1">
                <a:solidFill>
                  <a:srgbClr val="0000FF"/>
                </a:solidFill>
                <a:latin typeface="微软雅黑" panose="020B0503020204020204" pitchFamily="34" charset="-122"/>
                <a:ea typeface="微软雅黑" panose="020B0503020204020204" pitchFamily="34" charset="-122"/>
              </a:rPr>
              <a:t>安全性检查</a:t>
            </a:r>
            <a:endParaRPr lang="en-US" altLang="zh-CN" sz="1600" b="1">
              <a:solidFill>
                <a:srgbClr val="0000FF"/>
              </a:solidFill>
              <a:latin typeface="微软雅黑" panose="020B0503020204020204" pitchFamily="34" charset="-122"/>
              <a:ea typeface="微软雅黑" panose="020B0503020204020204" pitchFamily="34" charset="-122"/>
            </a:endParaRPr>
          </a:p>
          <a:p>
            <a:pPr eaLnBrk="1" hangingPunct="1"/>
            <a:r>
              <a:rPr lang="zh-CN" altLang="en-US" sz="1600" b="1">
                <a:solidFill>
                  <a:srgbClr val="0000FF"/>
                </a:solidFill>
                <a:latin typeface="微软雅黑" panose="020B0503020204020204" pitchFamily="34" charset="-122"/>
                <a:ea typeface="微软雅黑" panose="020B0503020204020204" pitchFamily="34" charset="-122"/>
              </a:rPr>
              <a:t>完整性初步检查</a:t>
            </a:r>
          </a:p>
        </p:txBody>
      </p:sp>
      <p:sp>
        <p:nvSpPr>
          <p:cNvPr id="11" name="Rectangle 5">
            <a:extLst>
              <a:ext uri="{FF2B5EF4-FFF2-40B4-BE49-F238E27FC236}">
                <a16:creationId xmlns:a16="http://schemas.microsoft.com/office/drawing/2014/main" id="{5E6D0F99-62E3-457A-8182-EC0E50D7A9FA}"/>
              </a:ext>
            </a:extLst>
          </p:cNvPr>
          <p:cNvSpPr>
            <a:spLocks noChangeArrowheads="1"/>
          </p:cNvSpPr>
          <p:nvPr/>
        </p:nvSpPr>
        <p:spPr bwMode="auto">
          <a:xfrm>
            <a:off x="2960688" y="5639088"/>
            <a:ext cx="1560512" cy="360363"/>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1600" b="1">
                <a:solidFill>
                  <a:srgbClr val="0000FF"/>
                </a:solidFill>
                <a:latin typeface="微软雅黑" panose="020B0503020204020204" pitchFamily="34" charset="-122"/>
                <a:ea typeface="微软雅黑" panose="020B0503020204020204" pitchFamily="34" charset="-122"/>
              </a:rPr>
              <a:t>代码生成</a:t>
            </a:r>
          </a:p>
        </p:txBody>
      </p:sp>
      <p:sp>
        <p:nvSpPr>
          <p:cNvPr id="12" name="Rectangle 4">
            <a:extLst>
              <a:ext uri="{FF2B5EF4-FFF2-40B4-BE49-F238E27FC236}">
                <a16:creationId xmlns:a16="http://schemas.microsoft.com/office/drawing/2014/main" id="{2E61254F-2FEB-46E5-ADC1-2B1D6ACE2A97}"/>
              </a:ext>
            </a:extLst>
          </p:cNvPr>
          <p:cNvSpPr>
            <a:spLocks noChangeArrowheads="1"/>
          </p:cNvSpPr>
          <p:nvPr/>
        </p:nvSpPr>
        <p:spPr bwMode="auto">
          <a:xfrm>
            <a:off x="2971800" y="5062826"/>
            <a:ext cx="1549400" cy="358775"/>
          </a:xfrm>
          <a:prstGeom prst="rect">
            <a:avLst/>
          </a:prstGeom>
          <a:solidFill>
            <a:srgbClr val="FF99CC"/>
          </a:solidFill>
          <a:ln w="25400" algn="ctr">
            <a:solidFill>
              <a:srgbClr val="CC00FF"/>
            </a:solidFill>
            <a:prstDash val="sysDot"/>
            <a:miter lim="800000"/>
            <a:headEnd/>
            <a:tailEnd/>
          </a:ln>
        </p:spPr>
        <p:txBody>
          <a:bodyPr wrap="none" anchor="ct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zh-CN" altLang="en-US" sz="1600" b="1">
                <a:solidFill>
                  <a:srgbClr val="0000FF"/>
                </a:solidFill>
                <a:latin typeface="微软雅黑" panose="020B0503020204020204" pitchFamily="34" charset="-122"/>
                <a:ea typeface="微软雅黑" panose="020B0503020204020204" pitchFamily="34" charset="-122"/>
              </a:rPr>
              <a:t>查询执行计划</a:t>
            </a:r>
          </a:p>
        </p:txBody>
      </p:sp>
      <p:sp>
        <p:nvSpPr>
          <p:cNvPr id="13" name="Rectangle 4">
            <a:extLst>
              <a:ext uri="{FF2B5EF4-FFF2-40B4-BE49-F238E27FC236}">
                <a16:creationId xmlns:a16="http://schemas.microsoft.com/office/drawing/2014/main" id="{C51DDFB4-1C01-4368-8950-AD02EBFB15FA}"/>
              </a:ext>
            </a:extLst>
          </p:cNvPr>
          <p:cNvSpPr>
            <a:spLocks noChangeArrowheads="1"/>
          </p:cNvSpPr>
          <p:nvPr/>
        </p:nvSpPr>
        <p:spPr bwMode="auto">
          <a:xfrm>
            <a:off x="2794000" y="3829359"/>
            <a:ext cx="1921670" cy="209530"/>
          </a:xfrm>
          <a:prstGeom prst="rect">
            <a:avLst/>
          </a:prstGeom>
          <a:solidFill>
            <a:srgbClr val="FF99CC"/>
          </a:solidFill>
          <a:ln w="25400" algn="ctr">
            <a:solidFill>
              <a:srgbClr val="CC00FF"/>
            </a:solidFill>
            <a:prstDash val="sysDot"/>
            <a:miter lim="800000"/>
            <a:headEnd/>
            <a:tailEnd/>
          </a:ln>
        </p:spPr>
        <p:txBody>
          <a:bodyPr wrap="none" anchor="ctr"/>
          <a:lstStyle>
            <a:lvl1pPr marL="342900" indent="-342900"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zh-CN" altLang="en-US" sz="1600" b="1">
                <a:solidFill>
                  <a:srgbClr val="0000FF"/>
                </a:solidFill>
                <a:latin typeface="微软雅黑" panose="020B0503020204020204" pitchFamily="34" charset="-122"/>
                <a:ea typeface="微软雅黑" panose="020B0503020204020204" pitchFamily="34" charset="-122"/>
              </a:rPr>
              <a:t>查询树</a:t>
            </a:r>
            <a:r>
              <a:rPr lang="en-US" altLang="zh-CN" sz="1600" b="1">
                <a:solidFill>
                  <a:srgbClr val="0000FF"/>
                </a:solidFill>
                <a:latin typeface="微软雅黑" panose="020B0503020204020204" pitchFamily="34" charset="-122"/>
                <a:ea typeface="微软雅黑" panose="020B0503020204020204" pitchFamily="34" charset="-122"/>
              </a:rPr>
              <a:t>(query tree)</a:t>
            </a:r>
            <a:endParaRPr lang="zh-CN" altLang="en-US" sz="1600" b="1">
              <a:solidFill>
                <a:srgbClr val="0000FF"/>
              </a:solidFill>
              <a:latin typeface="微软雅黑" panose="020B0503020204020204" pitchFamily="34" charset="-122"/>
              <a:ea typeface="微软雅黑" panose="020B0503020204020204" pitchFamily="34" charset="-122"/>
            </a:endParaRPr>
          </a:p>
        </p:txBody>
      </p:sp>
      <p:sp>
        <p:nvSpPr>
          <p:cNvPr id="14" name="Line 16">
            <a:extLst>
              <a:ext uri="{FF2B5EF4-FFF2-40B4-BE49-F238E27FC236}">
                <a16:creationId xmlns:a16="http://schemas.microsoft.com/office/drawing/2014/main" id="{6AF5733F-E0AB-4E40-AB2D-016DCEECB230}"/>
              </a:ext>
            </a:extLst>
          </p:cNvPr>
          <p:cNvSpPr>
            <a:spLocks noChangeShapeType="1"/>
          </p:cNvSpPr>
          <p:nvPr/>
        </p:nvSpPr>
        <p:spPr bwMode="auto">
          <a:xfrm>
            <a:off x="3712367" y="2254537"/>
            <a:ext cx="13496" cy="21590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等线 Light" panose="02010600030101010101" pitchFamily="2" charset="-122"/>
              <a:ea typeface="等线 Light" panose="02010600030101010101" pitchFamily="2" charset="-122"/>
            </a:endParaRPr>
          </a:p>
        </p:txBody>
      </p:sp>
      <p:sp>
        <p:nvSpPr>
          <p:cNvPr id="15" name="Line 16">
            <a:extLst>
              <a:ext uri="{FF2B5EF4-FFF2-40B4-BE49-F238E27FC236}">
                <a16:creationId xmlns:a16="http://schemas.microsoft.com/office/drawing/2014/main" id="{EB02A804-63C3-4EBC-ACB0-61F7A52E412B}"/>
              </a:ext>
            </a:extLst>
          </p:cNvPr>
          <p:cNvSpPr>
            <a:spLocks noChangeShapeType="1"/>
          </p:cNvSpPr>
          <p:nvPr/>
        </p:nvSpPr>
        <p:spPr bwMode="auto">
          <a:xfrm flipH="1">
            <a:off x="3729038" y="3562638"/>
            <a:ext cx="3175" cy="2047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等线 Light" panose="02010600030101010101" pitchFamily="2" charset="-122"/>
              <a:ea typeface="等线 Light" panose="02010600030101010101" pitchFamily="2" charset="-122"/>
            </a:endParaRPr>
          </a:p>
        </p:txBody>
      </p:sp>
      <p:sp>
        <p:nvSpPr>
          <p:cNvPr id="16" name="Line 16">
            <a:extLst>
              <a:ext uri="{FF2B5EF4-FFF2-40B4-BE49-F238E27FC236}">
                <a16:creationId xmlns:a16="http://schemas.microsoft.com/office/drawing/2014/main" id="{C806A272-1522-4067-A95A-9D4EF5192508}"/>
              </a:ext>
            </a:extLst>
          </p:cNvPr>
          <p:cNvSpPr>
            <a:spLocks noChangeShapeType="1"/>
          </p:cNvSpPr>
          <p:nvPr/>
        </p:nvSpPr>
        <p:spPr bwMode="auto">
          <a:xfrm flipH="1">
            <a:off x="3729038" y="4065876"/>
            <a:ext cx="3175" cy="20478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等线 Light" panose="02010600030101010101" pitchFamily="2" charset="-122"/>
              <a:ea typeface="等线 Light" panose="02010600030101010101" pitchFamily="2" charset="-122"/>
            </a:endParaRPr>
          </a:p>
        </p:txBody>
      </p:sp>
      <p:sp>
        <p:nvSpPr>
          <p:cNvPr id="17" name="Line 16">
            <a:extLst>
              <a:ext uri="{FF2B5EF4-FFF2-40B4-BE49-F238E27FC236}">
                <a16:creationId xmlns:a16="http://schemas.microsoft.com/office/drawing/2014/main" id="{5486FCF5-DC21-4170-98CE-9AD222183AC8}"/>
              </a:ext>
            </a:extLst>
          </p:cNvPr>
          <p:cNvSpPr>
            <a:spLocks noChangeShapeType="1"/>
          </p:cNvSpPr>
          <p:nvPr/>
        </p:nvSpPr>
        <p:spPr bwMode="auto">
          <a:xfrm flipH="1">
            <a:off x="3729038" y="4858038"/>
            <a:ext cx="3175" cy="2047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等线 Light" panose="02010600030101010101" pitchFamily="2" charset="-122"/>
              <a:ea typeface="等线 Light" panose="02010600030101010101" pitchFamily="2" charset="-122"/>
            </a:endParaRPr>
          </a:p>
        </p:txBody>
      </p:sp>
      <p:sp>
        <p:nvSpPr>
          <p:cNvPr id="18" name="Line 16">
            <a:extLst>
              <a:ext uri="{FF2B5EF4-FFF2-40B4-BE49-F238E27FC236}">
                <a16:creationId xmlns:a16="http://schemas.microsoft.com/office/drawing/2014/main" id="{20C13C56-8691-4796-9671-AFAC3C1903A0}"/>
              </a:ext>
            </a:extLst>
          </p:cNvPr>
          <p:cNvSpPr>
            <a:spLocks noChangeShapeType="1"/>
          </p:cNvSpPr>
          <p:nvPr/>
        </p:nvSpPr>
        <p:spPr bwMode="auto">
          <a:xfrm flipH="1">
            <a:off x="3729038" y="5434301"/>
            <a:ext cx="3175" cy="204787"/>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等线 Light" panose="02010600030101010101" pitchFamily="2" charset="-122"/>
              <a:ea typeface="等线 Light" panose="02010600030101010101" pitchFamily="2" charset="-122"/>
            </a:endParaRPr>
          </a:p>
        </p:txBody>
      </p:sp>
      <p:sp>
        <p:nvSpPr>
          <p:cNvPr id="19" name="Line 16">
            <a:extLst>
              <a:ext uri="{FF2B5EF4-FFF2-40B4-BE49-F238E27FC236}">
                <a16:creationId xmlns:a16="http://schemas.microsoft.com/office/drawing/2014/main" id="{C7AEC25F-F4FA-4ADC-8F7B-41B3C95EDC97}"/>
              </a:ext>
            </a:extLst>
          </p:cNvPr>
          <p:cNvSpPr>
            <a:spLocks noChangeShapeType="1"/>
          </p:cNvSpPr>
          <p:nvPr/>
        </p:nvSpPr>
        <p:spPr bwMode="auto">
          <a:xfrm flipH="1">
            <a:off x="3729038" y="6010563"/>
            <a:ext cx="3175" cy="2047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latin typeface="等线 Light" panose="02010600030101010101" pitchFamily="2" charset="-122"/>
              <a:ea typeface="等线 Light" panose="02010600030101010101" pitchFamily="2" charset="-122"/>
            </a:endParaRPr>
          </a:p>
        </p:txBody>
      </p:sp>
      <p:sp>
        <p:nvSpPr>
          <p:cNvPr id="20" name="TextBox 79">
            <a:extLst>
              <a:ext uri="{FF2B5EF4-FFF2-40B4-BE49-F238E27FC236}">
                <a16:creationId xmlns:a16="http://schemas.microsoft.com/office/drawing/2014/main" id="{74392A7D-13A9-4F62-8F00-87CBEE2B47FB}"/>
              </a:ext>
            </a:extLst>
          </p:cNvPr>
          <p:cNvSpPr txBox="1">
            <a:spLocks noChangeArrowheads="1"/>
          </p:cNvSpPr>
          <p:nvPr/>
        </p:nvSpPr>
        <p:spPr bwMode="auto">
          <a:xfrm>
            <a:off x="4551363" y="1806843"/>
            <a:ext cx="13684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r" eaLnBrk="1" hangingPunct="1"/>
            <a:r>
              <a:rPr lang="zh-CN" altLang="en-US" b="1" u="sng" dirty="0">
                <a:solidFill>
                  <a:srgbClr val="0000FF"/>
                </a:solidFill>
                <a:uFill>
                  <a:solidFill>
                    <a:srgbClr val="FF0000"/>
                  </a:solidFill>
                </a:uFill>
                <a:latin typeface="微软雅黑" panose="020B0503020204020204" pitchFamily="34" charset="-122"/>
                <a:ea typeface="微软雅黑" panose="020B0503020204020204" pitchFamily="34" charset="-122"/>
              </a:rPr>
              <a:t>查询分析</a:t>
            </a:r>
          </a:p>
        </p:txBody>
      </p:sp>
      <p:sp>
        <p:nvSpPr>
          <p:cNvPr id="21" name="TextBox 80">
            <a:extLst>
              <a:ext uri="{FF2B5EF4-FFF2-40B4-BE49-F238E27FC236}">
                <a16:creationId xmlns:a16="http://schemas.microsoft.com/office/drawing/2014/main" id="{FFA2D4CB-E1DF-4CF4-B320-A2C68ECE91B1}"/>
              </a:ext>
            </a:extLst>
          </p:cNvPr>
          <p:cNvSpPr txBox="1">
            <a:spLocks noChangeArrowheads="1"/>
          </p:cNvSpPr>
          <p:nvPr/>
        </p:nvSpPr>
        <p:spPr bwMode="auto">
          <a:xfrm>
            <a:off x="4775200" y="2818101"/>
            <a:ext cx="1144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r" eaLnBrk="1" hangingPunct="1"/>
            <a:r>
              <a:rPr lang="zh-CN" altLang="en-US" b="1" u="sng" dirty="0">
                <a:solidFill>
                  <a:srgbClr val="0000FF"/>
                </a:solidFill>
                <a:uFill>
                  <a:solidFill>
                    <a:srgbClr val="FF0000"/>
                  </a:solidFill>
                </a:uFill>
                <a:latin typeface="微软雅黑" panose="020B0503020204020204" pitchFamily="34" charset="-122"/>
                <a:ea typeface="微软雅黑" panose="020B0503020204020204" pitchFamily="34" charset="-122"/>
              </a:rPr>
              <a:t>查询检查</a:t>
            </a:r>
          </a:p>
        </p:txBody>
      </p:sp>
      <p:sp>
        <p:nvSpPr>
          <p:cNvPr id="22" name="TextBox 81">
            <a:extLst>
              <a:ext uri="{FF2B5EF4-FFF2-40B4-BE49-F238E27FC236}">
                <a16:creationId xmlns:a16="http://schemas.microsoft.com/office/drawing/2014/main" id="{52A2C518-9439-44A1-844A-555BDB7E0308}"/>
              </a:ext>
            </a:extLst>
          </p:cNvPr>
          <p:cNvSpPr txBox="1">
            <a:spLocks noChangeArrowheads="1"/>
          </p:cNvSpPr>
          <p:nvPr/>
        </p:nvSpPr>
        <p:spPr bwMode="auto">
          <a:xfrm>
            <a:off x="4751388" y="4374128"/>
            <a:ext cx="1168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r" eaLnBrk="1" hangingPunct="1"/>
            <a:r>
              <a:rPr lang="zh-CN" altLang="en-US" b="1" u="sng" dirty="0">
                <a:solidFill>
                  <a:srgbClr val="0000FF"/>
                </a:solidFill>
                <a:uFill>
                  <a:solidFill>
                    <a:srgbClr val="FF0000"/>
                  </a:solidFill>
                </a:uFill>
                <a:latin typeface="微软雅黑" panose="020B0503020204020204" pitchFamily="34" charset="-122"/>
                <a:ea typeface="微软雅黑" panose="020B0503020204020204" pitchFamily="34" charset="-122"/>
              </a:rPr>
              <a:t>查询优化</a:t>
            </a:r>
          </a:p>
        </p:txBody>
      </p:sp>
      <p:sp>
        <p:nvSpPr>
          <p:cNvPr id="23" name="TextBox 82">
            <a:extLst>
              <a:ext uri="{FF2B5EF4-FFF2-40B4-BE49-F238E27FC236}">
                <a16:creationId xmlns:a16="http://schemas.microsoft.com/office/drawing/2014/main" id="{B856A977-9166-4F76-AA6B-829459812B69}"/>
              </a:ext>
            </a:extLst>
          </p:cNvPr>
          <p:cNvSpPr txBox="1">
            <a:spLocks noChangeArrowheads="1"/>
          </p:cNvSpPr>
          <p:nvPr/>
        </p:nvSpPr>
        <p:spPr bwMode="auto">
          <a:xfrm>
            <a:off x="4806950" y="5638800"/>
            <a:ext cx="11128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r" eaLnBrk="1" hangingPunct="1"/>
            <a:r>
              <a:rPr lang="zh-CN" altLang="en-US" b="1" u="sng" dirty="0">
                <a:solidFill>
                  <a:srgbClr val="0000FF"/>
                </a:solidFill>
                <a:uFill>
                  <a:solidFill>
                    <a:srgbClr val="FF0000"/>
                  </a:solidFill>
                </a:uFill>
                <a:latin typeface="微软雅黑" panose="020B0503020204020204" pitchFamily="34" charset="-122"/>
                <a:ea typeface="微软雅黑" panose="020B0503020204020204" pitchFamily="34" charset="-122"/>
              </a:rPr>
              <a:t>查询执行</a:t>
            </a:r>
          </a:p>
        </p:txBody>
      </p:sp>
      <p:sp>
        <p:nvSpPr>
          <p:cNvPr id="24" name="AutoShape 4">
            <a:extLst>
              <a:ext uri="{FF2B5EF4-FFF2-40B4-BE49-F238E27FC236}">
                <a16:creationId xmlns:a16="http://schemas.microsoft.com/office/drawing/2014/main" id="{70283A91-3393-4314-8C4F-161766FF2CA5}"/>
              </a:ext>
            </a:extLst>
          </p:cNvPr>
          <p:cNvSpPr>
            <a:spLocks noChangeArrowheads="1"/>
          </p:cNvSpPr>
          <p:nvPr/>
        </p:nvSpPr>
        <p:spPr bwMode="auto">
          <a:xfrm>
            <a:off x="622300" y="2510334"/>
            <a:ext cx="1206500" cy="954088"/>
          </a:xfrm>
          <a:prstGeom prst="flowChartMagneticDisk">
            <a:avLst/>
          </a:prstGeom>
          <a:solidFill>
            <a:schemeClr val="bg1">
              <a:lumMod val="95000"/>
            </a:schemeClr>
          </a:solidFill>
          <a:ln w="9525">
            <a:solidFill>
              <a:srgbClr val="000000"/>
            </a:solidFill>
            <a:round/>
            <a:headEnd/>
            <a:tailEnd/>
          </a:ln>
        </p:spPr>
        <p:txBody>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ctr" eaLnBrk="1" hangingPunct="1"/>
            <a:r>
              <a:rPr lang="zh-CN" altLang="en-US" sz="1600" b="1" dirty="0">
                <a:solidFill>
                  <a:srgbClr val="0000FF"/>
                </a:solidFill>
                <a:latin typeface="微软雅黑" panose="020B0503020204020204" pitchFamily="34" charset="-122"/>
                <a:ea typeface="微软雅黑" panose="020B0503020204020204" pitchFamily="34" charset="-122"/>
              </a:rPr>
              <a:t>数据库</a:t>
            </a:r>
            <a:endParaRPr lang="en-US" altLang="zh-CN" sz="1600" b="1" dirty="0">
              <a:solidFill>
                <a:srgbClr val="0000FF"/>
              </a:solidFill>
              <a:latin typeface="微软雅黑" panose="020B0503020204020204" pitchFamily="34" charset="-122"/>
              <a:ea typeface="微软雅黑" panose="020B0503020204020204" pitchFamily="34" charset="-122"/>
            </a:endParaRPr>
          </a:p>
          <a:p>
            <a:pPr algn="ctr" eaLnBrk="1" hangingPunct="1"/>
            <a:r>
              <a:rPr lang="zh-CN" altLang="en-US" sz="1600" b="1" dirty="0">
                <a:solidFill>
                  <a:srgbClr val="0000FF"/>
                </a:solidFill>
                <a:latin typeface="微软雅黑" panose="020B0503020204020204" pitchFamily="34" charset="-122"/>
                <a:ea typeface="微软雅黑" panose="020B0503020204020204" pitchFamily="34" charset="-122"/>
              </a:rPr>
              <a:t>数据字典</a:t>
            </a:r>
          </a:p>
        </p:txBody>
      </p:sp>
      <p:cxnSp>
        <p:nvCxnSpPr>
          <p:cNvPr id="25" name="直接箭头连接符 24">
            <a:extLst>
              <a:ext uri="{FF2B5EF4-FFF2-40B4-BE49-F238E27FC236}">
                <a16:creationId xmlns:a16="http://schemas.microsoft.com/office/drawing/2014/main" id="{92689266-C20D-4EF6-9ED9-B08284E7586F}"/>
              </a:ext>
            </a:extLst>
          </p:cNvPr>
          <p:cNvCxnSpPr>
            <a:cxnSpLocks noChangeShapeType="1"/>
            <a:stCxn id="24" idx="4"/>
            <a:endCxn id="10" idx="1"/>
          </p:cNvCxnSpPr>
          <p:nvPr/>
        </p:nvCxnSpPr>
        <p:spPr bwMode="auto">
          <a:xfrm>
            <a:off x="1828800" y="2987378"/>
            <a:ext cx="1108075" cy="23604"/>
          </a:xfrm>
          <a:prstGeom prst="straightConnector1">
            <a:avLst/>
          </a:prstGeom>
          <a:noFill/>
          <a:ln w="28575" algn="ctr">
            <a:solidFill>
              <a:srgbClr val="FF0000"/>
            </a:solidFill>
            <a:prstDash val="sysDash"/>
            <a:round/>
            <a:headEnd/>
            <a:tailEnd type="arrow" w="med" len="med"/>
          </a:ln>
          <a:extLst>
            <a:ext uri="{909E8E84-426E-40DD-AFC4-6F175D3DCCD1}">
              <a14:hiddenFill xmlns:a14="http://schemas.microsoft.com/office/drawing/2010/main">
                <a:noFill/>
              </a14:hiddenFill>
            </a:ext>
          </a:extLst>
        </p:spPr>
      </p:cxnSp>
      <p:cxnSp>
        <p:nvCxnSpPr>
          <p:cNvPr id="26" name="直接箭头连接符 25">
            <a:extLst>
              <a:ext uri="{FF2B5EF4-FFF2-40B4-BE49-F238E27FC236}">
                <a16:creationId xmlns:a16="http://schemas.microsoft.com/office/drawing/2014/main" id="{A0CA8599-7473-4E09-A96C-DC5E5878DD24}"/>
              </a:ext>
            </a:extLst>
          </p:cNvPr>
          <p:cNvCxnSpPr>
            <a:cxnSpLocks noChangeShapeType="1"/>
            <a:stCxn id="24" idx="4"/>
          </p:cNvCxnSpPr>
          <p:nvPr/>
        </p:nvCxnSpPr>
        <p:spPr bwMode="auto">
          <a:xfrm>
            <a:off x="1828800" y="2987378"/>
            <a:ext cx="1152525" cy="1508422"/>
          </a:xfrm>
          <a:prstGeom prst="straightConnector1">
            <a:avLst/>
          </a:prstGeom>
          <a:noFill/>
          <a:ln w="28575" algn="ctr">
            <a:solidFill>
              <a:srgbClr val="FF0000"/>
            </a:solidFill>
            <a:prstDash val="sysDash"/>
            <a:round/>
            <a:headEnd/>
            <a:tailEnd type="arrow" w="med" len="med"/>
          </a:ln>
          <a:extLst>
            <a:ext uri="{909E8E84-426E-40DD-AFC4-6F175D3DCCD1}">
              <a14:hiddenFill xmlns:a14="http://schemas.microsoft.com/office/drawing/2010/main">
                <a:noFill/>
              </a14:hiddenFill>
            </a:ext>
          </a:extLst>
        </p:spPr>
      </p:cxnSp>
      <p:cxnSp>
        <p:nvCxnSpPr>
          <p:cNvPr id="27" name="直接箭头连接符 26">
            <a:extLst>
              <a:ext uri="{FF2B5EF4-FFF2-40B4-BE49-F238E27FC236}">
                <a16:creationId xmlns:a16="http://schemas.microsoft.com/office/drawing/2014/main" id="{54315C14-2D41-49F2-963F-EDDC85412459}"/>
              </a:ext>
            </a:extLst>
          </p:cNvPr>
          <p:cNvCxnSpPr>
            <a:cxnSpLocks noChangeShapeType="1"/>
            <a:stCxn id="24" idx="4"/>
          </p:cNvCxnSpPr>
          <p:nvPr/>
        </p:nvCxnSpPr>
        <p:spPr bwMode="auto">
          <a:xfrm flipV="1">
            <a:off x="1828800" y="2002042"/>
            <a:ext cx="1131888" cy="985336"/>
          </a:xfrm>
          <a:prstGeom prst="straightConnector1">
            <a:avLst/>
          </a:prstGeom>
          <a:noFill/>
          <a:ln w="28575" algn="ctr">
            <a:solidFill>
              <a:srgbClr val="FF0000"/>
            </a:solidFill>
            <a:prstDash val="sysDash"/>
            <a:round/>
            <a:headEnd/>
            <a:tailEnd type="arrow" w="med" len="med"/>
          </a:ln>
          <a:extLst>
            <a:ext uri="{909E8E84-426E-40DD-AFC4-6F175D3DCCD1}">
              <a14:hiddenFill xmlns:a14="http://schemas.microsoft.com/office/drawing/2010/main">
                <a:noFill/>
              </a14:hiddenFill>
            </a:ext>
          </a:extLst>
        </p:spPr>
      </p:cxnSp>
      <p:sp>
        <p:nvSpPr>
          <p:cNvPr id="28" name="椭圆 27">
            <a:extLst>
              <a:ext uri="{FF2B5EF4-FFF2-40B4-BE49-F238E27FC236}">
                <a16:creationId xmlns:a16="http://schemas.microsoft.com/office/drawing/2014/main" id="{B57F0A90-0241-414E-B742-9BC302358F80}"/>
              </a:ext>
            </a:extLst>
          </p:cNvPr>
          <p:cNvSpPr/>
          <p:nvPr/>
        </p:nvSpPr>
        <p:spPr>
          <a:xfrm>
            <a:off x="622300" y="2510334"/>
            <a:ext cx="1206500" cy="307767"/>
          </a:xfrm>
          <a:prstGeom prst="ellipse">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线形标注 2 47">
            <a:extLst>
              <a:ext uri="{FF2B5EF4-FFF2-40B4-BE49-F238E27FC236}">
                <a16:creationId xmlns:a16="http://schemas.microsoft.com/office/drawing/2014/main" id="{0FFD71D3-4E7D-4FA6-A7E7-13A8C394294C}"/>
              </a:ext>
            </a:extLst>
          </p:cNvPr>
          <p:cNvSpPr/>
          <p:nvPr/>
        </p:nvSpPr>
        <p:spPr>
          <a:xfrm>
            <a:off x="6781800" y="1371600"/>
            <a:ext cx="4800600" cy="804574"/>
          </a:xfrm>
          <a:prstGeom prst="borderCallout2">
            <a:avLst>
              <a:gd name="adj1" fmla="val 47859"/>
              <a:gd name="adj2" fmla="val -85"/>
              <a:gd name="adj3" fmla="val 48742"/>
              <a:gd name="adj4" fmla="val -12170"/>
              <a:gd name="adj5" fmla="val 76499"/>
              <a:gd name="adj6" fmla="val -18976"/>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扫描查询语句</a:t>
            </a:r>
            <a:endParaRPr lang="en-US" altLang="zh-CN" sz="1600" dirty="0">
              <a:solidFill>
                <a:srgbClr val="CC00FF"/>
              </a:solidFill>
              <a:latin typeface="微软雅黑" panose="020B0503020204020204" pitchFamily="34" charset="-122"/>
              <a:ea typeface="微软雅黑" panose="020B0503020204020204" pitchFamily="34" charset="-122"/>
            </a:endParaRPr>
          </a:p>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词法分析：从语句中识别出语言符号，如关键词</a:t>
            </a:r>
            <a:endParaRPr lang="en-US" altLang="zh-CN" sz="1600" dirty="0">
              <a:solidFill>
                <a:srgbClr val="CC00FF"/>
              </a:solidFill>
              <a:latin typeface="微软雅黑" panose="020B0503020204020204" pitchFamily="34" charset="-122"/>
              <a:ea typeface="微软雅黑" panose="020B0503020204020204" pitchFamily="34" charset="-122"/>
            </a:endParaRPr>
          </a:p>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语法分析：语法检查</a:t>
            </a:r>
          </a:p>
        </p:txBody>
      </p:sp>
      <p:sp>
        <p:nvSpPr>
          <p:cNvPr id="30" name="线形标注 2 48">
            <a:extLst>
              <a:ext uri="{FF2B5EF4-FFF2-40B4-BE49-F238E27FC236}">
                <a16:creationId xmlns:a16="http://schemas.microsoft.com/office/drawing/2014/main" id="{C99EA572-5496-4A0A-9C2F-CDD411CCB1E1}"/>
              </a:ext>
            </a:extLst>
          </p:cNvPr>
          <p:cNvSpPr/>
          <p:nvPr/>
        </p:nvSpPr>
        <p:spPr>
          <a:xfrm>
            <a:off x="6781800" y="2383234"/>
            <a:ext cx="4800600" cy="804574"/>
          </a:xfrm>
          <a:prstGeom prst="borderCallout2">
            <a:avLst>
              <a:gd name="adj1" fmla="val 47859"/>
              <a:gd name="adj2" fmla="val -85"/>
              <a:gd name="adj3" fmla="val 48742"/>
              <a:gd name="adj4" fmla="val -12170"/>
              <a:gd name="adj5" fmla="val 77618"/>
              <a:gd name="adj6" fmla="val -19351"/>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对合法的查询语句进行语义检查</a:t>
            </a:r>
            <a:endParaRPr lang="en-US" altLang="zh-CN" sz="1600" dirty="0">
              <a:solidFill>
                <a:srgbClr val="CC00FF"/>
              </a:solidFill>
              <a:latin typeface="微软雅黑" panose="020B0503020204020204" pitchFamily="34" charset="-122"/>
              <a:ea typeface="微软雅黑" panose="020B0503020204020204" pitchFamily="34" charset="-122"/>
            </a:endParaRPr>
          </a:p>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关系代数表达式：</a:t>
            </a:r>
            <a:r>
              <a:rPr lang="en-US" altLang="zh-CN" sz="1600" dirty="0">
                <a:solidFill>
                  <a:srgbClr val="CC00FF"/>
                </a:solidFill>
                <a:latin typeface="微软雅黑" panose="020B0503020204020204" pitchFamily="34" charset="-122"/>
                <a:ea typeface="微软雅黑" panose="020B0503020204020204" pitchFamily="34" charset="-122"/>
              </a:rPr>
              <a:t>SQL</a:t>
            </a:r>
            <a:r>
              <a:rPr lang="zh-CN" altLang="en-US" sz="1600" dirty="0">
                <a:solidFill>
                  <a:srgbClr val="CC00FF"/>
                </a:solidFill>
                <a:latin typeface="微软雅黑" panose="020B0503020204020204" pitchFamily="34" charset="-122"/>
                <a:ea typeface="微软雅黑" panose="020B0503020204020204" pitchFamily="34" charset="-122"/>
              </a:rPr>
              <a:t>查询语句的内部表示</a:t>
            </a:r>
            <a:endParaRPr lang="en-US" altLang="zh-CN" sz="1600" dirty="0">
              <a:solidFill>
                <a:srgbClr val="CC00FF"/>
              </a:solidFill>
              <a:latin typeface="微软雅黑" panose="020B0503020204020204" pitchFamily="34" charset="-122"/>
              <a:ea typeface="微软雅黑" panose="020B0503020204020204" pitchFamily="34" charset="-122"/>
            </a:endParaRPr>
          </a:p>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用查询树（即语法分析树）替代关系代数表达式</a:t>
            </a:r>
            <a:endParaRPr lang="en-US" altLang="zh-CN" sz="1600" dirty="0">
              <a:solidFill>
                <a:srgbClr val="CC00FF"/>
              </a:solidFill>
              <a:latin typeface="微软雅黑" panose="020B0503020204020204" pitchFamily="34" charset="-122"/>
              <a:ea typeface="微软雅黑" panose="020B0503020204020204" pitchFamily="34" charset="-122"/>
            </a:endParaRPr>
          </a:p>
        </p:txBody>
      </p:sp>
      <p:sp>
        <p:nvSpPr>
          <p:cNvPr id="31" name="线形标注 2 49">
            <a:extLst>
              <a:ext uri="{FF2B5EF4-FFF2-40B4-BE49-F238E27FC236}">
                <a16:creationId xmlns:a16="http://schemas.microsoft.com/office/drawing/2014/main" id="{54672A8F-E23D-49DA-81FB-D0E0E7CE7495}"/>
              </a:ext>
            </a:extLst>
          </p:cNvPr>
          <p:cNvSpPr/>
          <p:nvPr/>
        </p:nvSpPr>
        <p:spPr>
          <a:xfrm>
            <a:off x="6781800" y="3367664"/>
            <a:ext cx="4800600" cy="1580068"/>
          </a:xfrm>
          <a:prstGeom prst="borderCallout2">
            <a:avLst>
              <a:gd name="adj1" fmla="val 47859"/>
              <a:gd name="adj2" fmla="val -85"/>
              <a:gd name="adj3" fmla="val 48742"/>
              <a:gd name="adj4" fmla="val -12170"/>
              <a:gd name="adj5" fmla="val 70035"/>
              <a:gd name="adj6" fmla="val -19914"/>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从众多可执行策略和操作算法中选择一个高效执行的查询处理策略。</a:t>
            </a:r>
            <a:endParaRPr lang="en-US" altLang="zh-CN" sz="1600" dirty="0">
              <a:solidFill>
                <a:srgbClr val="CC00FF"/>
              </a:solidFill>
              <a:latin typeface="微软雅黑" panose="020B0503020204020204" pitchFamily="34" charset="-122"/>
              <a:ea typeface="微软雅黑" panose="020B0503020204020204" pitchFamily="34" charset="-122"/>
            </a:endParaRPr>
          </a:p>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选择依据：</a:t>
            </a:r>
            <a:endParaRPr lang="en-US" altLang="zh-CN" sz="1600" dirty="0">
              <a:solidFill>
                <a:srgbClr val="CC00FF"/>
              </a:solidFill>
              <a:latin typeface="微软雅黑" panose="020B0503020204020204" pitchFamily="34" charset="-122"/>
              <a:ea typeface="微软雅黑" panose="020B0503020204020204" pitchFamily="34" charset="-122"/>
            </a:endParaRPr>
          </a:p>
          <a:p>
            <a:pPr marL="637200" lvl="1"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基于规则</a:t>
            </a:r>
            <a:r>
              <a:rPr lang="en-US" altLang="zh-CN" sz="1600" dirty="0">
                <a:solidFill>
                  <a:srgbClr val="CC00FF"/>
                </a:solidFill>
                <a:latin typeface="微软雅黑" panose="020B0503020204020204" pitchFamily="34" charset="-122"/>
                <a:ea typeface="微软雅黑" panose="020B0503020204020204" pitchFamily="34" charset="-122"/>
              </a:rPr>
              <a:t>(rule-based)</a:t>
            </a:r>
            <a:r>
              <a:rPr lang="zh-CN" altLang="en-US" sz="1600" dirty="0">
                <a:solidFill>
                  <a:srgbClr val="CC00FF"/>
                </a:solidFill>
                <a:latin typeface="微软雅黑" panose="020B0503020204020204" pitchFamily="34" charset="-122"/>
                <a:ea typeface="微软雅黑" panose="020B0503020204020204" pitchFamily="34" charset="-122"/>
              </a:rPr>
              <a:t>；</a:t>
            </a:r>
            <a:endParaRPr lang="en-US" altLang="zh-CN" sz="1600" dirty="0">
              <a:solidFill>
                <a:srgbClr val="CC00FF"/>
              </a:solidFill>
              <a:latin typeface="微软雅黑" panose="020B0503020204020204" pitchFamily="34" charset="-122"/>
              <a:ea typeface="微软雅黑" panose="020B0503020204020204" pitchFamily="34" charset="-122"/>
            </a:endParaRPr>
          </a:p>
          <a:p>
            <a:pPr marL="637200" lvl="1"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基于代价</a:t>
            </a:r>
            <a:r>
              <a:rPr lang="en-US" altLang="zh-CN" sz="1600" dirty="0">
                <a:solidFill>
                  <a:srgbClr val="CC00FF"/>
                </a:solidFill>
                <a:latin typeface="微软雅黑" panose="020B0503020204020204" pitchFamily="34" charset="-122"/>
                <a:ea typeface="微软雅黑" panose="020B0503020204020204" pitchFamily="34" charset="-122"/>
              </a:rPr>
              <a:t>(cost-based)</a:t>
            </a:r>
            <a:r>
              <a:rPr lang="zh-CN" altLang="en-US" sz="1600" dirty="0">
                <a:solidFill>
                  <a:srgbClr val="CC00FF"/>
                </a:solidFill>
                <a:latin typeface="微软雅黑" panose="020B0503020204020204" pitchFamily="34" charset="-122"/>
                <a:ea typeface="微软雅黑" panose="020B0503020204020204" pitchFamily="34" charset="-122"/>
              </a:rPr>
              <a:t>；</a:t>
            </a:r>
            <a:endParaRPr lang="en-US" altLang="zh-CN" sz="1600" dirty="0">
              <a:solidFill>
                <a:srgbClr val="CC00FF"/>
              </a:solidFill>
              <a:latin typeface="微软雅黑" panose="020B0503020204020204" pitchFamily="34" charset="-122"/>
              <a:ea typeface="微软雅黑" panose="020B0503020204020204" pitchFamily="34" charset="-122"/>
            </a:endParaRPr>
          </a:p>
          <a:p>
            <a:pPr marL="637200" lvl="1"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基于语义</a:t>
            </a:r>
            <a:r>
              <a:rPr lang="en-US" altLang="zh-CN" sz="1600" dirty="0">
                <a:solidFill>
                  <a:srgbClr val="CC00FF"/>
                </a:solidFill>
                <a:latin typeface="微软雅黑" panose="020B0503020204020204" pitchFamily="34" charset="-122"/>
                <a:ea typeface="微软雅黑" panose="020B0503020204020204" pitchFamily="34" charset="-122"/>
              </a:rPr>
              <a:t>(semantic-based)</a:t>
            </a:r>
          </a:p>
        </p:txBody>
      </p:sp>
      <p:sp>
        <p:nvSpPr>
          <p:cNvPr id="32" name="线形标注 2 50">
            <a:extLst>
              <a:ext uri="{FF2B5EF4-FFF2-40B4-BE49-F238E27FC236}">
                <a16:creationId xmlns:a16="http://schemas.microsoft.com/office/drawing/2014/main" id="{20EF6917-E3F2-4267-BAB2-1D785DDC737D}"/>
              </a:ext>
            </a:extLst>
          </p:cNvPr>
          <p:cNvSpPr/>
          <p:nvPr/>
        </p:nvSpPr>
        <p:spPr>
          <a:xfrm>
            <a:off x="6781800" y="5060148"/>
            <a:ext cx="4800600" cy="950415"/>
          </a:xfrm>
          <a:prstGeom prst="borderCallout2">
            <a:avLst>
              <a:gd name="adj1" fmla="val 47859"/>
              <a:gd name="adj2" fmla="val -85"/>
              <a:gd name="adj3" fmla="val 48742"/>
              <a:gd name="adj4" fmla="val -12170"/>
              <a:gd name="adj5" fmla="val 80465"/>
              <a:gd name="adj6" fmla="val -19351"/>
            </a:avLst>
          </a:prstGeom>
          <a:noFill/>
          <a:ln>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依据优化器得到的执行策略生成查询执行计划</a:t>
            </a:r>
            <a:endParaRPr lang="en-US" altLang="zh-CN" sz="1600" dirty="0">
              <a:solidFill>
                <a:srgbClr val="CC00FF"/>
              </a:solidFill>
              <a:latin typeface="微软雅黑" panose="020B0503020204020204" pitchFamily="34" charset="-122"/>
              <a:ea typeface="微软雅黑" panose="020B0503020204020204" pitchFamily="34" charset="-122"/>
            </a:endParaRPr>
          </a:p>
          <a:p>
            <a:pPr marL="180000" indent="-180000">
              <a:buFont typeface="Arial" panose="020B0604020202020204" pitchFamily="34" charset="0"/>
              <a:buChar char="•"/>
            </a:pPr>
            <a:r>
              <a:rPr lang="zh-CN" altLang="en-US" sz="1600" dirty="0">
                <a:solidFill>
                  <a:srgbClr val="CC00FF"/>
                </a:solidFill>
                <a:latin typeface="微软雅黑" panose="020B0503020204020204" pitchFamily="34" charset="-122"/>
                <a:ea typeface="微软雅黑" panose="020B0503020204020204" pitchFamily="34" charset="-122"/>
              </a:rPr>
              <a:t>由代码生成器</a:t>
            </a:r>
            <a:r>
              <a:rPr lang="en-US" altLang="zh-CN" sz="1600" dirty="0">
                <a:solidFill>
                  <a:srgbClr val="CC00FF"/>
                </a:solidFill>
                <a:latin typeface="微软雅黑" panose="020B0503020204020204" pitchFamily="34" charset="-122"/>
                <a:ea typeface="微软雅黑" panose="020B0503020204020204" pitchFamily="34" charset="-122"/>
              </a:rPr>
              <a:t>(code generator)</a:t>
            </a:r>
            <a:r>
              <a:rPr lang="zh-CN" altLang="en-US" sz="1600" dirty="0">
                <a:solidFill>
                  <a:srgbClr val="CC00FF"/>
                </a:solidFill>
                <a:latin typeface="微软雅黑" panose="020B0503020204020204" pitchFamily="34" charset="-122"/>
                <a:ea typeface="微软雅黑" panose="020B0503020204020204" pitchFamily="34" charset="-122"/>
              </a:rPr>
              <a:t>生成执行这个查询计划的代码，然后加以执行，回送查询结果</a:t>
            </a:r>
            <a:endParaRPr lang="en-US" altLang="zh-CN" sz="1600" dirty="0">
              <a:solidFill>
                <a:srgbClr val="CC00FF"/>
              </a:solidFill>
              <a:latin typeface="微软雅黑" panose="020B0503020204020204" pitchFamily="34" charset="-122"/>
              <a:ea typeface="微软雅黑" panose="020B0503020204020204" pitchFamily="34" charset="-122"/>
            </a:endParaRPr>
          </a:p>
        </p:txBody>
      </p:sp>
      <p:sp>
        <p:nvSpPr>
          <p:cNvPr id="33" name="标题 32">
            <a:extLst>
              <a:ext uri="{FF2B5EF4-FFF2-40B4-BE49-F238E27FC236}">
                <a16:creationId xmlns:a16="http://schemas.microsoft.com/office/drawing/2014/main" id="{CAD0FEBD-5881-4486-92B1-C25A1A8F31F7}"/>
              </a:ext>
            </a:extLst>
          </p:cNvPr>
          <p:cNvSpPr>
            <a:spLocks noGrp="1"/>
          </p:cNvSpPr>
          <p:nvPr>
            <p:ph type="title"/>
          </p:nvPr>
        </p:nvSpPr>
        <p:spPr/>
        <p:txBody>
          <a:bodyPr/>
          <a:lstStyle/>
          <a:p>
            <a:r>
              <a:rPr lang="en-US" altLang="zh-CN" dirty="0"/>
              <a:t>9.1.1  </a:t>
            </a:r>
            <a:r>
              <a:rPr lang="zh-CN" altLang="en-US" dirty="0"/>
              <a:t>查询处理步骤</a:t>
            </a:r>
          </a:p>
        </p:txBody>
      </p:sp>
    </p:spTree>
    <p:extLst>
      <p:ext uri="{BB962C8B-B14F-4D97-AF65-F5344CB8AC3E}">
        <p14:creationId xmlns:p14="http://schemas.microsoft.com/office/powerpoint/2010/main" val="105008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up)">
                                      <p:cBhvr>
                                        <p:cTn id="18" dur="500"/>
                                        <p:tgtEl>
                                          <p:spTgt spid="14"/>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up)">
                                      <p:cBhvr>
                                        <p:cTn id="26" dur="500"/>
                                        <p:tgtEl>
                                          <p:spTgt spid="15"/>
                                        </p:tgtEl>
                                      </p:cBhvr>
                                    </p:animEffect>
                                  </p:childTnLst>
                                </p:cTn>
                              </p:par>
                            </p:childTnLst>
                          </p:cTn>
                        </p:par>
                        <p:par>
                          <p:cTn id="27" fill="hold">
                            <p:stCondLst>
                              <p:cond delay="2500"/>
                            </p:stCondLst>
                            <p:childTnLst>
                              <p:par>
                                <p:cTn id="28" presetID="1" presetClass="entr" presetSubtype="0" fill="hold" grpId="0" nodeType="afterEffect">
                                  <p:stCondLst>
                                    <p:cond delay="0"/>
                                  </p:stCondLst>
                                  <p:childTnLst>
                                    <p:set>
                                      <p:cBhvr>
                                        <p:cTn id="29" dur="1" fill="hold">
                                          <p:stCondLst>
                                            <p:cond delay="0"/>
                                          </p:stCondLst>
                                        </p:cTn>
                                        <p:tgtEl>
                                          <p:spTgt spid="13"/>
                                        </p:tgtEl>
                                        <p:attrNameLst>
                                          <p:attrName>style.visibility</p:attrName>
                                        </p:attrNameLst>
                                      </p:cBhvr>
                                      <p:to>
                                        <p:strVal val="visible"/>
                                      </p:to>
                                    </p:set>
                                  </p:childTnLst>
                                </p:cTn>
                              </p:par>
                            </p:childTnLst>
                          </p:cTn>
                        </p:par>
                        <p:par>
                          <p:cTn id="30" fill="hold">
                            <p:stCondLst>
                              <p:cond delay="2500"/>
                            </p:stCondLst>
                            <p:childTnLst>
                              <p:par>
                                <p:cTn id="31" presetID="22" presetClass="entr" presetSubtype="1"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up)">
                                      <p:cBhvr>
                                        <p:cTn id="33" dur="500"/>
                                        <p:tgtEl>
                                          <p:spTgt spid="16"/>
                                        </p:tgtEl>
                                      </p:cBhvr>
                                    </p:animEffect>
                                  </p:childTnLst>
                                </p:cTn>
                              </p:par>
                            </p:childTnLst>
                          </p:cTn>
                        </p:par>
                        <p:par>
                          <p:cTn id="34" fill="hold">
                            <p:stCondLst>
                              <p:cond delay="3000"/>
                            </p:stCondLst>
                            <p:childTnLst>
                              <p:par>
                                <p:cTn id="35" presetID="22" presetClass="entr" presetSubtype="1" fill="hold" grpId="0"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childTnLst>
                          </p:cTn>
                        </p:par>
                        <p:par>
                          <p:cTn id="38" fill="hold">
                            <p:stCondLst>
                              <p:cond delay="3500"/>
                            </p:stCondLst>
                            <p:childTnLst>
                              <p:par>
                                <p:cTn id="39" presetID="22" presetClass="entr" presetSubtype="1" fill="hold" grpId="0"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up)">
                                      <p:cBhvr>
                                        <p:cTn id="41" dur="500"/>
                                        <p:tgtEl>
                                          <p:spTgt spid="17"/>
                                        </p:tgtEl>
                                      </p:cBhvr>
                                    </p:animEffect>
                                  </p:childTnLst>
                                </p:cTn>
                              </p:par>
                            </p:childTnLst>
                          </p:cTn>
                        </p:par>
                        <p:par>
                          <p:cTn id="42" fill="hold">
                            <p:stCondLst>
                              <p:cond delay="4000"/>
                            </p:stCondLst>
                            <p:childTnLst>
                              <p:par>
                                <p:cTn id="43" presetID="1" presetClass="entr" presetSubtype="0" fill="hold" grpId="0" nodeType="after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par>
                          <p:cTn id="45" fill="hold">
                            <p:stCondLst>
                              <p:cond delay="4000"/>
                            </p:stCondLst>
                            <p:childTnLst>
                              <p:par>
                                <p:cTn id="46" presetID="22" presetClass="entr" presetSubtype="1" fill="hold" grpId="0" nodeType="after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up)">
                                      <p:cBhvr>
                                        <p:cTn id="48" dur="500"/>
                                        <p:tgtEl>
                                          <p:spTgt spid="18"/>
                                        </p:tgtEl>
                                      </p:cBhvr>
                                    </p:animEffect>
                                  </p:childTnLst>
                                </p:cTn>
                              </p:par>
                            </p:childTnLst>
                          </p:cTn>
                        </p:par>
                        <p:par>
                          <p:cTn id="49" fill="hold">
                            <p:stCondLst>
                              <p:cond delay="4500"/>
                            </p:stCondLst>
                            <p:childTnLst>
                              <p:par>
                                <p:cTn id="50" presetID="22" presetClass="entr" presetSubtype="1"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wipe(up)">
                                      <p:cBhvr>
                                        <p:cTn id="52" dur="500"/>
                                        <p:tgtEl>
                                          <p:spTgt spid="11"/>
                                        </p:tgtEl>
                                      </p:cBhvr>
                                    </p:animEffect>
                                  </p:childTnLst>
                                </p:cTn>
                              </p:par>
                            </p:childTnLst>
                          </p:cTn>
                        </p:par>
                        <p:par>
                          <p:cTn id="53" fill="hold">
                            <p:stCondLst>
                              <p:cond delay="5000"/>
                            </p:stCondLst>
                            <p:childTnLst>
                              <p:par>
                                <p:cTn id="54" presetID="22" presetClass="entr" presetSubtype="1"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up)">
                                      <p:cBhvr>
                                        <p:cTn id="56" dur="500"/>
                                        <p:tgtEl>
                                          <p:spTgt spid="19"/>
                                        </p:tgtEl>
                                      </p:cBhvr>
                                    </p:animEffect>
                                  </p:childTnLst>
                                </p:cTn>
                              </p:par>
                            </p:childTnLst>
                          </p:cTn>
                        </p:par>
                        <p:par>
                          <p:cTn id="57" fill="hold">
                            <p:stCondLst>
                              <p:cond delay="5500"/>
                            </p:stCondLst>
                            <p:childTnLst>
                              <p:par>
                                <p:cTn id="58" presetID="1" presetClass="entr" presetSubtype="0" fill="hold" grpId="0" nodeType="afterEffect">
                                  <p:stCondLst>
                                    <p:cond delay="0"/>
                                  </p:stCondLst>
                                  <p:childTnLst>
                                    <p:set>
                                      <p:cBhvr>
                                        <p:cTn id="59" dur="1" fill="hold">
                                          <p:stCondLst>
                                            <p:cond delay="0"/>
                                          </p:stCondLst>
                                        </p:cTn>
                                        <p:tgtEl>
                                          <p:spTgt spid="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4"/>
                                        </p:tgtEl>
                                        <p:attrNameLst>
                                          <p:attrName>style.visibility</p:attrName>
                                        </p:attrNameLst>
                                      </p:cBhvr>
                                      <p:to>
                                        <p:strVal val="visible"/>
                                      </p:to>
                                    </p:set>
                                  </p:childTnLst>
                                </p:cTn>
                              </p:par>
                            </p:childTnLst>
                          </p:cTn>
                        </p:par>
                        <p:par>
                          <p:cTn id="64" fill="hold">
                            <p:stCondLst>
                              <p:cond delay="0"/>
                            </p:stCondLst>
                            <p:childTnLst>
                              <p:par>
                                <p:cTn id="65" presetID="22" presetClass="entr" presetSubtype="8" fill="hold"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wipe(left)">
                                      <p:cBhvr>
                                        <p:cTn id="71" dur="500"/>
                                        <p:tgtEl>
                                          <p:spTgt spid="25"/>
                                        </p:tgtEl>
                                      </p:cBhvr>
                                    </p:animEffect>
                                  </p:childTnLst>
                                </p:cTn>
                              </p:par>
                              <p:par>
                                <p:cTn id="72" presetID="1" presetClass="entr" presetSubtype="0" fill="hold" grpId="0" nodeType="withEffect">
                                  <p:stCondLst>
                                    <p:cond delay="0"/>
                                  </p:stCondLst>
                                  <p:childTnLst>
                                    <p:set>
                                      <p:cBhvr>
                                        <p:cTn id="73" dur="1" fill="hold">
                                          <p:stCondLst>
                                            <p:cond delay="0"/>
                                          </p:stCondLst>
                                        </p:cTn>
                                        <p:tgtEl>
                                          <p:spTgt spid="28"/>
                                        </p:tgtEl>
                                        <p:attrNameLst>
                                          <p:attrName>style.visibility</p:attrName>
                                        </p:attrNameLst>
                                      </p:cBhvr>
                                      <p:to>
                                        <p:strVal val="visible"/>
                                      </p:to>
                                    </p:set>
                                  </p:childTnLst>
                                </p:cTn>
                              </p:par>
                            </p:childTnLst>
                          </p:cTn>
                        </p:par>
                        <p:par>
                          <p:cTn id="74" fill="hold">
                            <p:stCondLst>
                              <p:cond delay="1000"/>
                            </p:stCondLst>
                            <p:childTnLst>
                              <p:par>
                                <p:cTn id="75" presetID="22" presetClass="entr" presetSubtype="8" fill="hold" nodeType="after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wipe(left)">
                                      <p:cBhvr>
                                        <p:cTn id="77" dur="500"/>
                                        <p:tgtEl>
                                          <p:spTgt spid="26"/>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childTnLst>
                                </p:cTn>
                              </p:par>
                            </p:childTnLst>
                          </p:cTn>
                        </p:par>
                        <p:par>
                          <p:cTn id="82" fill="hold">
                            <p:stCondLst>
                              <p:cond delay="0"/>
                            </p:stCondLst>
                            <p:childTnLst>
                              <p:par>
                                <p:cTn id="83" presetID="22" presetClass="entr" presetSubtype="8" fill="hold" grpId="0" nodeType="after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wipe(left)">
                                      <p:cBhvr>
                                        <p:cTn id="85" dur="500"/>
                                        <p:tgtEl>
                                          <p:spTgt spid="29"/>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21"/>
                                        </p:tgtEl>
                                        <p:attrNameLst>
                                          <p:attrName>style.visibility</p:attrName>
                                        </p:attrNameLst>
                                      </p:cBhvr>
                                      <p:to>
                                        <p:strVal val="visible"/>
                                      </p:to>
                                    </p:set>
                                  </p:childTnLst>
                                </p:cTn>
                              </p:par>
                            </p:childTnLst>
                          </p:cTn>
                        </p:par>
                        <p:par>
                          <p:cTn id="90" fill="hold">
                            <p:stCondLst>
                              <p:cond delay="0"/>
                            </p:stCondLst>
                            <p:childTnLst>
                              <p:par>
                                <p:cTn id="91" presetID="22" presetClass="entr" presetSubtype="8" fill="hold" grpId="0" nodeType="after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wipe(left)">
                                      <p:cBhvr>
                                        <p:cTn id="93" dur="500"/>
                                        <p:tgtEl>
                                          <p:spTgt spid="30"/>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22"/>
                                        </p:tgtEl>
                                        <p:attrNameLst>
                                          <p:attrName>style.visibility</p:attrName>
                                        </p:attrNameLst>
                                      </p:cBhvr>
                                      <p:to>
                                        <p:strVal val="visible"/>
                                      </p:to>
                                    </p:set>
                                  </p:childTnLst>
                                </p:cTn>
                              </p:par>
                            </p:childTnLst>
                          </p:cTn>
                        </p:par>
                        <p:par>
                          <p:cTn id="98" fill="hold">
                            <p:stCondLst>
                              <p:cond delay="0"/>
                            </p:stCondLst>
                            <p:childTnLst>
                              <p:par>
                                <p:cTn id="99" presetID="22" presetClass="entr" presetSubtype="8" fill="hold" grpId="0" nodeType="after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wipe(left)">
                                      <p:cBhvr>
                                        <p:cTn id="101" dur="500"/>
                                        <p:tgtEl>
                                          <p:spTgt spid="31"/>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23"/>
                                        </p:tgtEl>
                                        <p:attrNameLst>
                                          <p:attrName>style.visibility</p:attrName>
                                        </p:attrNameLst>
                                      </p:cBhvr>
                                      <p:to>
                                        <p:strVal val="visible"/>
                                      </p:to>
                                    </p:set>
                                  </p:childTnLst>
                                </p:cTn>
                              </p:par>
                            </p:childTnLst>
                          </p:cTn>
                        </p:par>
                        <p:par>
                          <p:cTn id="106" fill="hold">
                            <p:stCondLst>
                              <p:cond delay="0"/>
                            </p:stCondLst>
                            <p:childTnLst>
                              <p:par>
                                <p:cTn id="107" presetID="22" presetClass="entr" presetSubtype="8" fill="hold" grpId="0" nodeType="afterEffect">
                                  <p:stCondLst>
                                    <p:cond delay="0"/>
                                  </p:stCondLst>
                                  <p:childTnLst>
                                    <p:set>
                                      <p:cBhvr>
                                        <p:cTn id="108" dur="1" fill="hold">
                                          <p:stCondLst>
                                            <p:cond delay="0"/>
                                          </p:stCondLst>
                                        </p:cTn>
                                        <p:tgtEl>
                                          <p:spTgt spid="32"/>
                                        </p:tgtEl>
                                        <p:attrNameLst>
                                          <p:attrName>style.visibility</p:attrName>
                                        </p:attrNameLst>
                                      </p:cBhvr>
                                      <p:to>
                                        <p:strVal val="visible"/>
                                      </p:to>
                                    </p:set>
                                    <p:animEffect transition="in" filter="wipe(left)">
                                      <p:cBhvr>
                                        <p:cTn id="10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p:bldP spid="21" grpId="0"/>
      <p:bldP spid="22" grpId="0"/>
      <p:bldP spid="23" grpId="0"/>
      <p:bldP spid="24" grpId="0" animBg="1"/>
      <p:bldP spid="28" grpId="0" animBg="1"/>
      <p:bldP spid="29" grpId="0" animBg="1"/>
      <p:bldP spid="30" grpId="0" animBg="1"/>
      <p:bldP spid="31"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p:txBody>
          <a:bodyPr/>
          <a:lstStyle/>
          <a:p>
            <a:r>
              <a:rPr lang="en-US" altLang="zh-CN"/>
              <a:t>9.1.2 </a:t>
            </a:r>
            <a:r>
              <a:rPr lang="zh-CN" altLang="en-US"/>
              <a:t>实现查询操作的算法示例</a:t>
            </a:r>
          </a:p>
        </p:txBody>
      </p:sp>
      <p:sp>
        <p:nvSpPr>
          <p:cNvPr id="410627" name="Rectangle 3"/>
          <p:cNvSpPr>
            <a:spLocks noGrp="1" noChangeArrowheads="1"/>
          </p:cNvSpPr>
          <p:nvPr>
            <p:ph idx="1"/>
          </p:nvPr>
        </p:nvSpPr>
        <p:spPr/>
        <p:txBody>
          <a:bodyPr/>
          <a:lstStyle/>
          <a:p>
            <a:r>
              <a:rPr lang="zh-CN" altLang="en-US" dirty="0">
                <a:solidFill>
                  <a:srgbClr val="0000CC"/>
                </a:solidFill>
              </a:rPr>
              <a:t>一、选择操作的实现</a:t>
            </a:r>
          </a:p>
          <a:p>
            <a:r>
              <a:rPr lang="en-US" altLang="zh-CN" dirty="0"/>
              <a:t>[</a:t>
            </a:r>
            <a:r>
              <a:rPr lang="zh-CN" altLang="en-US" dirty="0"/>
              <a:t>例</a:t>
            </a:r>
            <a:r>
              <a:rPr lang="en-US" altLang="zh-CN" dirty="0"/>
              <a:t>1] select * from student where &lt;</a:t>
            </a:r>
            <a:r>
              <a:rPr lang="zh-CN" altLang="en-US" dirty="0"/>
              <a:t>条件表达式</a:t>
            </a:r>
            <a:r>
              <a:rPr lang="en-US" altLang="zh-CN" dirty="0"/>
              <a:t>&gt;</a:t>
            </a:r>
          </a:p>
          <a:p>
            <a:endParaRPr lang="en-US" altLang="zh-CN" dirty="0"/>
          </a:p>
          <a:p>
            <a:r>
              <a:rPr lang="en-US" altLang="zh-CN" dirty="0"/>
              <a:t>&lt;</a:t>
            </a:r>
            <a:r>
              <a:rPr lang="zh-CN" altLang="en-US" dirty="0"/>
              <a:t>条件表达式</a:t>
            </a:r>
            <a:r>
              <a:rPr lang="en-US" altLang="zh-CN" dirty="0"/>
              <a:t>&gt;</a:t>
            </a:r>
            <a:r>
              <a:rPr lang="zh-CN" altLang="en-US" dirty="0"/>
              <a:t>的几种情况：</a:t>
            </a:r>
          </a:p>
          <a:p>
            <a:pPr lvl="1"/>
            <a:r>
              <a:rPr lang="en-US" altLang="zh-CN" dirty="0"/>
              <a:t>C1</a:t>
            </a:r>
            <a:r>
              <a:rPr lang="zh-CN" altLang="en-US" dirty="0"/>
              <a:t>：无条件</a:t>
            </a:r>
          </a:p>
          <a:p>
            <a:pPr lvl="1"/>
            <a:r>
              <a:rPr lang="en-US" altLang="zh-CN" dirty="0"/>
              <a:t>C2</a:t>
            </a:r>
            <a:r>
              <a:rPr lang="zh-CN" altLang="en-US" dirty="0"/>
              <a:t>：</a:t>
            </a:r>
            <a:r>
              <a:rPr lang="en-US" altLang="zh-CN" dirty="0" err="1"/>
              <a:t>sno</a:t>
            </a:r>
            <a:r>
              <a:rPr lang="en-US" altLang="zh-CN" dirty="0"/>
              <a:t>=‘200215121’</a:t>
            </a:r>
          </a:p>
          <a:p>
            <a:pPr lvl="1"/>
            <a:r>
              <a:rPr lang="en-US" altLang="zh-CN" dirty="0"/>
              <a:t>C3</a:t>
            </a:r>
            <a:r>
              <a:rPr lang="zh-CN" altLang="en-US" dirty="0"/>
              <a:t>：</a:t>
            </a:r>
            <a:r>
              <a:rPr lang="en-US" altLang="zh-CN" dirty="0"/>
              <a:t>sage&gt;20</a:t>
            </a:r>
          </a:p>
          <a:p>
            <a:pPr lvl="1"/>
            <a:r>
              <a:rPr lang="en-US" altLang="zh-CN" dirty="0"/>
              <a:t>C4</a:t>
            </a:r>
            <a:r>
              <a:rPr lang="zh-CN" altLang="en-US" dirty="0"/>
              <a:t>：</a:t>
            </a:r>
            <a:r>
              <a:rPr lang="en-US" altLang="zh-CN" dirty="0" err="1"/>
              <a:t>sdept</a:t>
            </a:r>
            <a:r>
              <a:rPr lang="en-US" altLang="zh-CN" dirty="0"/>
              <a:t>=‘CS’ and sage&gt;20</a:t>
            </a:r>
          </a:p>
        </p:txBody>
      </p:sp>
      <p:sp>
        <p:nvSpPr>
          <p:cNvPr id="5" name="灯片编号占位符 5"/>
          <p:cNvSpPr>
            <a:spLocks noGrp="1"/>
          </p:cNvSpPr>
          <p:nvPr>
            <p:ph type="sldNum" sz="quarter" idx="12"/>
          </p:nvPr>
        </p:nvSpPr>
        <p:spPr/>
        <p:txBody>
          <a:bodyPr/>
          <a:lstStyle/>
          <a:p>
            <a:fld id="{57F09F12-A7CB-4DD9-AA2F-4903316F7703}" type="slidenum">
              <a:rPr lang="en-US" altLang="zh-CN" smtClean="0"/>
              <a:pPr/>
              <a:t>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0627">
                                            <p:txEl>
                                              <p:pRg st="3" end="3"/>
                                            </p:txEl>
                                          </p:spTgt>
                                        </p:tgtEl>
                                        <p:attrNameLst>
                                          <p:attrName>style.visibility</p:attrName>
                                        </p:attrNameLst>
                                      </p:cBhvr>
                                      <p:to>
                                        <p:strVal val="visible"/>
                                      </p:to>
                                    </p:set>
                                    <p:animEffect transition="in" filter="fade">
                                      <p:cBhvr>
                                        <p:cTn id="7" dur="1000"/>
                                        <p:tgtEl>
                                          <p:spTgt spid="410627">
                                            <p:txEl>
                                              <p:pRg st="3" end="3"/>
                                            </p:txEl>
                                          </p:spTgt>
                                        </p:tgtEl>
                                      </p:cBhvr>
                                    </p:animEffect>
                                    <p:anim calcmode="lin" valueType="num">
                                      <p:cBhvr>
                                        <p:cTn id="8" dur="1000" fill="hold"/>
                                        <p:tgtEl>
                                          <p:spTgt spid="41062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41062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10627">
                                            <p:txEl>
                                              <p:pRg st="4" end="4"/>
                                            </p:txEl>
                                          </p:spTgt>
                                        </p:tgtEl>
                                        <p:attrNameLst>
                                          <p:attrName>style.visibility</p:attrName>
                                        </p:attrNameLst>
                                      </p:cBhvr>
                                      <p:to>
                                        <p:strVal val="visible"/>
                                      </p:to>
                                    </p:set>
                                    <p:animEffect transition="in" filter="fade">
                                      <p:cBhvr>
                                        <p:cTn id="12" dur="1000"/>
                                        <p:tgtEl>
                                          <p:spTgt spid="410627">
                                            <p:txEl>
                                              <p:pRg st="4" end="4"/>
                                            </p:txEl>
                                          </p:spTgt>
                                        </p:tgtEl>
                                      </p:cBhvr>
                                    </p:animEffect>
                                    <p:anim calcmode="lin" valueType="num">
                                      <p:cBhvr>
                                        <p:cTn id="13" dur="1000" fill="hold"/>
                                        <p:tgtEl>
                                          <p:spTgt spid="41062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410627">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10627">
                                            <p:txEl>
                                              <p:pRg st="5" end="5"/>
                                            </p:txEl>
                                          </p:spTgt>
                                        </p:tgtEl>
                                        <p:attrNameLst>
                                          <p:attrName>style.visibility</p:attrName>
                                        </p:attrNameLst>
                                      </p:cBhvr>
                                      <p:to>
                                        <p:strVal val="visible"/>
                                      </p:to>
                                    </p:set>
                                    <p:animEffect transition="in" filter="fade">
                                      <p:cBhvr>
                                        <p:cTn id="17" dur="1000"/>
                                        <p:tgtEl>
                                          <p:spTgt spid="410627">
                                            <p:txEl>
                                              <p:pRg st="5" end="5"/>
                                            </p:txEl>
                                          </p:spTgt>
                                        </p:tgtEl>
                                      </p:cBhvr>
                                    </p:animEffect>
                                    <p:anim calcmode="lin" valueType="num">
                                      <p:cBhvr>
                                        <p:cTn id="18" dur="1000" fill="hold"/>
                                        <p:tgtEl>
                                          <p:spTgt spid="410627">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410627">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10627">
                                            <p:txEl>
                                              <p:pRg st="6" end="6"/>
                                            </p:txEl>
                                          </p:spTgt>
                                        </p:tgtEl>
                                        <p:attrNameLst>
                                          <p:attrName>style.visibility</p:attrName>
                                        </p:attrNameLst>
                                      </p:cBhvr>
                                      <p:to>
                                        <p:strVal val="visible"/>
                                      </p:to>
                                    </p:set>
                                    <p:animEffect transition="in" filter="fade">
                                      <p:cBhvr>
                                        <p:cTn id="22" dur="1000"/>
                                        <p:tgtEl>
                                          <p:spTgt spid="410627">
                                            <p:txEl>
                                              <p:pRg st="6" end="6"/>
                                            </p:txEl>
                                          </p:spTgt>
                                        </p:tgtEl>
                                      </p:cBhvr>
                                    </p:animEffect>
                                    <p:anim calcmode="lin" valueType="num">
                                      <p:cBhvr>
                                        <p:cTn id="23" dur="1000" fill="hold"/>
                                        <p:tgtEl>
                                          <p:spTgt spid="410627">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410627">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10627">
                                            <p:txEl>
                                              <p:pRg st="7" end="7"/>
                                            </p:txEl>
                                          </p:spTgt>
                                        </p:tgtEl>
                                        <p:attrNameLst>
                                          <p:attrName>style.visibility</p:attrName>
                                        </p:attrNameLst>
                                      </p:cBhvr>
                                      <p:to>
                                        <p:strVal val="visible"/>
                                      </p:to>
                                    </p:set>
                                    <p:animEffect transition="in" filter="fade">
                                      <p:cBhvr>
                                        <p:cTn id="27" dur="1000"/>
                                        <p:tgtEl>
                                          <p:spTgt spid="410627">
                                            <p:txEl>
                                              <p:pRg st="7" end="7"/>
                                            </p:txEl>
                                          </p:spTgt>
                                        </p:tgtEl>
                                      </p:cBhvr>
                                    </p:animEffect>
                                    <p:anim calcmode="lin" valueType="num">
                                      <p:cBhvr>
                                        <p:cTn id="28" dur="1000" fill="hold"/>
                                        <p:tgtEl>
                                          <p:spTgt spid="410627">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41062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EBBEEFE-EB0A-4E65-B19F-C36CF69A8B73}"/>
              </a:ext>
            </a:extLst>
          </p:cNvPr>
          <p:cNvSpPr>
            <a:spLocks noGrp="1"/>
          </p:cNvSpPr>
          <p:nvPr>
            <p:ph type="title"/>
          </p:nvPr>
        </p:nvSpPr>
        <p:spPr/>
        <p:txBody>
          <a:bodyPr/>
          <a:lstStyle/>
          <a:p>
            <a:r>
              <a:rPr lang="zh-CN" altLang="en-US"/>
              <a:t>实现查询操作的算法示例</a:t>
            </a:r>
          </a:p>
        </p:txBody>
      </p:sp>
      <p:sp>
        <p:nvSpPr>
          <p:cNvPr id="11" name="内容占位符 10">
            <a:extLst>
              <a:ext uri="{FF2B5EF4-FFF2-40B4-BE49-F238E27FC236}">
                <a16:creationId xmlns:a16="http://schemas.microsoft.com/office/drawing/2014/main" id="{F433D4AD-DBFD-4C77-BDB3-E05726E40082}"/>
              </a:ext>
            </a:extLst>
          </p:cNvPr>
          <p:cNvSpPr>
            <a:spLocks noGrp="1"/>
          </p:cNvSpPr>
          <p:nvPr>
            <p:ph idx="1"/>
          </p:nvPr>
        </p:nvSpPr>
        <p:spPr/>
        <p:txBody>
          <a:bodyPr/>
          <a:lstStyle/>
          <a:p>
            <a:r>
              <a:rPr lang="zh-CN" altLang="en-US" dirty="0">
                <a:solidFill>
                  <a:srgbClr val="0000CC"/>
                </a:solidFill>
              </a:rPr>
              <a:t>一、选择操作的实现算法 </a:t>
            </a:r>
          </a:p>
          <a:p>
            <a:pPr lvl="1"/>
            <a:r>
              <a:rPr lang="zh-CN" altLang="en-US" dirty="0">
                <a:solidFill>
                  <a:srgbClr val="FF0000"/>
                </a:solidFill>
              </a:rPr>
              <a:t>全表扫描方法 </a:t>
            </a:r>
            <a:r>
              <a:rPr lang="en-US" altLang="zh-CN" dirty="0">
                <a:solidFill>
                  <a:srgbClr val="FF0000"/>
                </a:solidFill>
              </a:rPr>
              <a:t>(Full Table Scan)</a:t>
            </a:r>
          </a:p>
          <a:p>
            <a:pPr lvl="2"/>
            <a:r>
              <a:rPr lang="zh-CN" altLang="en-US" dirty="0"/>
              <a:t>用于规模小的表，简单有效</a:t>
            </a:r>
          </a:p>
          <a:p>
            <a:pPr lvl="2"/>
            <a:r>
              <a:rPr lang="zh-CN" altLang="en-US" dirty="0"/>
              <a:t>用于大表，当选择率较低时，效率很低</a:t>
            </a:r>
            <a:endParaRPr lang="en-US" altLang="zh-CN" dirty="0"/>
          </a:p>
          <a:p>
            <a:pPr lvl="1"/>
            <a:endParaRPr lang="en-US" altLang="zh-CN" dirty="0"/>
          </a:p>
          <a:p>
            <a:pPr lvl="1"/>
            <a:r>
              <a:rPr lang="zh-CN" altLang="en-US" dirty="0"/>
              <a:t>假设可使用的内存为</a:t>
            </a:r>
            <a:r>
              <a:rPr lang="en-US" altLang="zh-CN" dirty="0"/>
              <a:t>M</a:t>
            </a:r>
            <a:r>
              <a:rPr lang="zh-CN" altLang="en-US" dirty="0"/>
              <a:t>块，</a:t>
            </a:r>
            <a:r>
              <a:rPr lang="zh-CN" altLang="en-US" dirty="0">
                <a:solidFill>
                  <a:srgbClr val="FF0000"/>
                </a:solidFill>
              </a:rPr>
              <a:t>全表扫描算法：</a:t>
            </a:r>
          </a:p>
          <a:p>
            <a:pPr lvl="2"/>
            <a:r>
              <a:rPr lang="zh-CN" altLang="en-US" dirty="0"/>
              <a:t>按照物理次序读</a:t>
            </a:r>
            <a:r>
              <a:rPr lang="en-US" altLang="zh-CN" dirty="0"/>
              <a:t>Student</a:t>
            </a:r>
            <a:r>
              <a:rPr lang="zh-CN" altLang="en-US" dirty="0"/>
              <a:t>的</a:t>
            </a:r>
            <a:r>
              <a:rPr lang="en-US" altLang="zh-CN" dirty="0"/>
              <a:t>M</a:t>
            </a:r>
            <a:r>
              <a:rPr lang="zh-CN" altLang="en-US" dirty="0"/>
              <a:t>块到内存</a:t>
            </a:r>
          </a:p>
          <a:p>
            <a:pPr lvl="2"/>
            <a:r>
              <a:rPr lang="zh-CN" altLang="en-US" dirty="0"/>
              <a:t>检查内存的每个元组</a:t>
            </a:r>
            <a:r>
              <a:rPr lang="en-US" altLang="zh-CN" dirty="0"/>
              <a:t>t</a:t>
            </a:r>
            <a:r>
              <a:rPr lang="zh-CN" altLang="en-US" dirty="0"/>
              <a:t>，如果满足选择条件，则输出</a:t>
            </a:r>
            <a:r>
              <a:rPr lang="en-US" altLang="zh-CN" dirty="0"/>
              <a:t>t</a:t>
            </a:r>
          </a:p>
          <a:p>
            <a:pPr lvl="2"/>
            <a:r>
              <a:rPr lang="zh-CN" altLang="en-US" dirty="0"/>
              <a:t>如果</a:t>
            </a:r>
            <a:r>
              <a:rPr lang="en-US" altLang="zh-CN" dirty="0"/>
              <a:t>student</a:t>
            </a:r>
            <a:r>
              <a:rPr lang="zh-CN" altLang="en-US" dirty="0"/>
              <a:t>还有其他块未被处理，重复①和②</a:t>
            </a:r>
            <a:endParaRPr lang="en-US" altLang="zh-CN" dirty="0"/>
          </a:p>
          <a:p>
            <a:endParaRPr lang="zh-CN" altLang="en-US" dirty="0"/>
          </a:p>
        </p:txBody>
      </p:sp>
      <p:sp>
        <p:nvSpPr>
          <p:cNvPr id="4" name="灯片编号占位符 3">
            <a:extLst>
              <a:ext uri="{FF2B5EF4-FFF2-40B4-BE49-F238E27FC236}">
                <a16:creationId xmlns:a16="http://schemas.microsoft.com/office/drawing/2014/main" id="{D080ED8C-C7A8-4870-B39D-1F74065DD702}"/>
              </a:ext>
            </a:extLst>
          </p:cNvPr>
          <p:cNvSpPr>
            <a:spLocks noGrp="1"/>
          </p:cNvSpPr>
          <p:nvPr>
            <p:ph type="sldNum" sz="quarter" idx="12"/>
          </p:nvPr>
        </p:nvSpPr>
        <p:spPr/>
        <p:txBody>
          <a:bodyPr/>
          <a:lstStyle/>
          <a:p>
            <a:fld id="{E63F6D5D-9733-4D44-9C56-AEFEDD5A4BA7}" type="slidenum">
              <a:rPr lang="en-US" smtClean="0"/>
              <a:pPr/>
              <a:t>6</a:t>
            </a:fld>
            <a:endParaRPr lang="en-US" dirty="0"/>
          </a:p>
        </p:txBody>
      </p:sp>
    </p:spTree>
    <p:extLst>
      <p:ext uri="{BB962C8B-B14F-4D97-AF65-F5344CB8AC3E}">
        <p14:creationId xmlns:p14="http://schemas.microsoft.com/office/powerpoint/2010/main" val="198889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EBBEEFE-EB0A-4E65-B19F-C36CF69A8B73}"/>
              </a:ext>
            </a:extLst>
          </p:cNvPr>
          <p:cNvSpPr>
            <a:spLocks noGrp="1"/>
          </p:cNvSpPr>
          <p:nvPr>
            <p:ph type="title"/>
          </p:nvPr>
        </p:nvSpPr>
        <p:spPr/>
        <p:txBody>
          <a:bodyPr/>
          <a:lstStyle/>
          <a:p>
            <a:r>
              <a:rPr lang="zh-CN" altLang="en-US"/>
              <a:t>实现查询操作的算法示例</a:t>
            </a:r>
            <a:endParaRPr lang="zh-CN" altLang="en-US" dirty="0"/>
          </a:p>
        </p:txBody>
      </p:sp>
      <p:sp>
        <p:nvSpPr>
          <p:cNvPr id="11" name="内容占位符 10">
            <a:extLst>
              <a:ext uri="{FF2B5EF4-FFF2-40B4-BE49-F238E27FC236}">
                <a16:creationId xmlns:a16="http://schemas.microsoft.com/office/drawing/2014/main" id="{F433D4AD-DBFD-4C77-BDB3-E05726E40082}"/>
              </a:ext>
            </a:extLst>
          </p:cNvPr>
          <p:cNvSpPr>
            <a:spLocks noGrp="1"/>
          </p:cNvSpPr>
          <p:nvPr>
            <p:ph idx="1"/>
          </p:nvPr>
        </p:nvSpPr>
        <p:spPr/>
        <p:txBody>
          <a:bodyPr/>
          <a:lstStyle/>
          <a:p>
            <a:r>
              <a:rPr lang="zh-CN" altLang="en-US" dirty="0">
                <a:solidFill>
                  <a:srgbClr val="0000CC"/>
                </a:solidFill>
              </a:rPr>
              <a:t>一、选择操作的实现算法 </a:t>
            </a:r>
          </a:p>
          <a:p>
            <a:pPr lvl="1"/>
            <a:r>
              <a:rPr lang="zh-CN" altLang="en-US" dirty="0">
                <a:solidFill>
                  <a:srgbClr val="FF0000"/>
                </a:solidFill>
              </a:rPr>
              <a:t>索引扫描方法 </a:t>
            </a:r>
            <a:r>
              <a:rPr lang="en-US" altLang="zh-CN" dirty="0">
                <a:solidFill>
                  <a:srgbClr val="FF0000"/>
                </a:solidFill>
              </a:rPr>
              <a:t>(Index Scan)</a:t>
            </a:r>
          </a:p>
          <a:p>
            <a:pPr lvl="2"/>
            <a:r>
              <a:rPr lang="zh-CN" altLang="en-US" dirty="0"/>
              <a:t>通过索引先找到满足条件的元组主码或元组指针，再通过元组指针直接在查询的基本表中找到元组。</a:t>
            </a:r>
            <a:endParaRPr lang="en-US" altLang="zh-CN" dirty="0"/>
          </a:p>
          <a:p>
            <a:pPr lvl="2"/>
            <a:r>
              <a:rPr lang="zh-CN" altLang="en-US" dirty="0"/>
              <a:t>当选择率较低时，性能优于全表扫描</a:t>
            </a:r>
          </a:p>
          <a:p>
            <a:pPr lvl="2"/>
            <a:r>
              <a:rPr lang="zh-CN" altLang="en-US" dirty="0"/>
              <a:t>当选择率较高或查找的元组均匀分布时，  性能低于全表扫描</a:t>
            </a:r>
          </a:p>
          <a:p>
            <a:endParaRPr lang="zh-CN" altLang="en-US" dirty="0"/>
          </a:p>
        </p:txBody>
      </p:sp>
      <p:sp>
        <p:nvSpPr>
          <p:cNvPr id="4" name="灯片编号占位符 3">
            <a:extLst>
              <a:ext uri="{FF2B5EF4-FFF2-40B4-BE49-F238E27FC236}">
                <a16:creationId xmlns:a16="http://schemas.microsoft.com/office/drawing/2014/main" id="{D080ED8C-C7A8-4870-B39D-1F74065DD702}"/>
              </a:ext>
            </a:extLst>
          </p:cNvPr>
          <p:cNvSpPr>
            <a:spLocks noGrp="1"/>
          </p:cNvSpPr>
          <p:nvPr>
            <p:ph type="sldNum" sz="quarter" idx="12"/>
          </p:nvPr>
        </p:nvSpPr>
        <p:spPr/>
        <p:txBody>
          <a:bodyPr/>
          <a:lstStyle/>
          <a:p>
            <a:fld id="{E63F6D5D-9733-4D44-9C56-AEFEDD5A4BA7}" type="slidenum">
              <a:rPr lang="en-US" smtClean="0"/>
              <a:pPr/>
              <a:t>7</a:t>
            </a:fld>
            <a:endParaRPr lang="en-US" dirty="0"/>
          </a:p>
        </p:txBody>
      </p:sp>
    </p:spTree>
    <p:extLst>
      <p:ext uri="{BB962C8B-B14F-4D97-AF65-F5344CB8AC3E}">
        <p14:creationId xmlns:p14="http://schemas.microsoft.com/office/powerpoint/2010/main" val="1069450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EBBEEFE-EB0A-4E65-B19F-C36CF69A8B73}"/>
              </a:ext>
            </a:extLst>
          </p:cNvPr>
          <p:cNvSpPr>
            <a:spLocks noGrp="1"/>
          </p:cNvSpPr>
          <p:nvPr>
            <p:ph type="title"/>
          </p:nvPr>
        </p:nvSpPr>
        <p:spPr/>
        <p:txBody>
          <a:bodyPr/>
          <a:lstStyle/>
          <a:p>
            <a:r>
              <a:rPr lang="en-US" altLang="zh-CN" dirty="0"/>
              <a:t>9.1.2 </a:t>
            </a:r>
            <a:r>
              <a:rPr lang="zh-CN" altLang="en-US" dirty="0"/>
              <a:t>实现查询操作的算法示例</a:t>
            </a:r>
          </a:p>
        </p:txBody>
      </p:sp>
      <p:sp>
        <p:nvSpPr>
          <p:cNvPr id="11" name="内容占位符 10">
            <a:extLst>
              <a:ext uri="{FF2B5EF4-FFF2-40B4-BE49-F238E27FC236}">
                <a16:creationId xmlns:a16="http://schemas.microsoft.com/office/drawing/2014/main" id="{F433D4AD-DBFD-4C77-BDB3-E05726E40082}"/>
              </a:ext>
            </a:extLst>
          </p:cNvPr>
          <p:cNvSpPr>
            <a:spLocks noGrp="1"/>
          </p:cNvSpPr>
          <p:nvPr>
            <p:ph idx="1"/>
          </p:nvPr>
        </p:nvSpPr>
        <p:spPr/>
        <p:txBody>
          <a:bodyPr/>
          <a:lstStyle/>
          <a:p>
            <a:r>
              <a:rPr lang="zh-CN" altLang="en-US" dirty="0">
                <a:solidFill>
                  <a:srgbClr val="0000CC"/>
                </a:solidFill>
              </a:rPr>
              <a:t>一、选择操作的实现算法 </a:t>
            </a:r>
          </a:p>
          <a:p>
            <a:pPr lvl="1"/>
            <a:r>
              <a:rPr lang="zh-CN" altLang="en-US" dirty="0">
                <a:solidFill>
                  <a:srgbClr val="0000FF"/>
                </a:solidFill>
              </a:rPr>
              <a:t>［例</a:t>
            </a:r>
            <a:r>
              <a:rPr lang="en-US" altLang="zh-CN" dirty="0">
                <a:solidFill>
                  <a:srgbClr val="0000FF"/>
                </a:solidFill>
              </a:rPr>
              <a:t>1-C2</a:t>
            </a:r>
            <a:r>
              <a:rPr lang="zh-CN" altLang="en-US" dirty="0">
                <a:solidFill>
                  <a:srgbClr val="0000FF"/>
                </a:solidFill>
              </a:rPr>
              <a:t>］</a:t>
            </a:r>
            <a:r>
              <a:rPr lang="zh-CN" altLang="en-US" dirty="0"/>
              <a:t>以</a:t>
            </a:r>
            <a:r>
              <a:rPr lang="en-US" altLang="zh-CN" dirty="0"/>
              <a:t>C2</a:t>
            </a:r>
            <a:r>
              <a:rPr lang="zh-CN" altLang="en-US" dirty="0"/>
              <a:t>为例，</a:t>
            </a:r>
            <a:r>
              <a:rPr lang="en-US" altLang="zh-CN" dirty="0" err="1"/>
              <a:t>Sno</a:t>
            </a:r>
            <a:r>
              <a:rPr lang="zh-CN" altLang="en-US" dirty="0"/>
              <a:t>＝‘</a:t>
            </a:r>
            <a:r>
              <a:rPr lang="en-US" altLang="zh-CN" dirty="0"/>
              <a:t>200215121’</a:t>
            </a:r>
            <a:r>
              <a:rPr lang="zh-CN" altLang="en-US" dirty="0"/>
              <a:t>，并且</a:t>
            </a:r>
            <a:r>
              <a:rPr lang="en-US" altLang="zh-CN" dirty="0" err="1">
                <a:solidFill>
                  <a:srgbClr val="FF0000"/>
                </a:solidFill>
              </a:rPr>
              <a:t>Sno</a:t>
            </a:r>
            <a:r>
              <a:rPr lang="zh-CN" altLang="en-US" dirty="0">
                <a:solidFill>
                  <a:srgbClr val="FF0000"/>
                </a:solidFill>
              </a:rPr>
              <a:t>上有索引</a:t>
            </a:r>
          </a:p>
          <a:p>
            <a:pPr lvl="2"/>
            <a:r>
              <a:rPr lang="zh-CN" altLang="en-US" dirty="0"/>
              <a:t>使用索引得到</a:t>
            </a:r>
            <a:r>
              <a:rPr lang="en-US" altLang="zh-CN" dirty="0" err="1"/>
              <a:t>Sno</a:t>
            </a:r>
            <a:r>
              <a:rPr lang="zh-CN" altLang="en-US" dirty="0"/>
              <a:t>为‘</a:t>
            </a:r>
            <a:r>
              <a:rPr lang="en-US" altLang="zh-CN" dirty="0"/>
              <a:t>200215121’ </a:t>
            </a:r>
            <a:r>
              <a:rPr lang="zh-CN" altLang="en-US" dirty="0"/>
              <a:t>元组的指针</a:t>
            </a:r>
          </a:p>
          <a:p>
            <a:pPr lvl="2"/>
            <a:r>
              <a:rPr lang="zh-CN" altLang="en-US" dirty="0"/>
              <a:t>通过元组指针在</a:t>
            </a:r>
            <a:r>
              <a:rPr lang="en-US" altLang="zh-CN" dirty="0"/>
              <a:t>student</a:t>
            </a:r>
            <a:r>
              <a:rPr lang="zh-CN" altLang="en-US" dirty="0"/>
              <a:t>表中检索到该学生</a:t>
            </a:r>
          </a:p>
          <a:p>
            <a:pPr lvl="1"/>
            <a:endParaRPr lang="zh-CN" altLang="en-US" dirty="0"/>
          </a:p>
          <a:p>
            <a:pPr lvl="1"/>
            <a:r>
              <a:rPr lang="zh-CN" altLang="en-US" dirty="0">
                <a:solidFill>
                  <a:srgbClr val="0000FF"/>
                </a:solidFill>
              </a:rPr>
              <a:t>［例</a:t>
            </a:r>
            <a:r>
              <a:rPr lang="en-US" altLang="zh-CN" dirty="0">
                <a:solidFill>
                  <a:srgbClr val="0000FF"/>
                </a:solidFill>
              </a:rPr>
              <a:t>1-C3</a:t>
            </a:r>
            <a:r>
              <a:rPr lang="zh-CN" altLang="en-US" dirty="0">
                <a:solidFill>
                  <a:srgbClr val="0000FF"/>
                </a:solidFill>
              </a:rPr>
              <a:t>］</a:t>
            </a:r>
            <a:r>
              <a:rPr lang="zh-CN" altLang="en-US" dirty="0"/>
              <a:t>以</a:t>
            </a:r>
            <a:r>
              <a:rPr lang="en-US" altLang="zh-CN" dirty="0"/>
              <a:t>C3</a:t>
            </a:r>
            <a:r>
              <a:rPr lang="zh-CN" altLang="en-US" dirty="0"/>
              <a:t>为例，</a:t>
            </a:r>
            <a:r>
              <a:rPr lang="en-US" altLang="zh-CN" dirty="0"/>
              <a:t>Sage&gt;20</a:t>
            </a:r>
            <a:r>
              <a:rPr lang="zh-CN" altLang="en-US" dirty="0"/>
              <a:t>，并且</a:t>
            </a:r>
            <a:r>
              <a:rPr lang="en-US" altLang="zh-CN" dirty="0">
                <a:solidFill>
                  <a:srgbClr val="FF0000"/>
                </a:solidFill>
              </a:rPr>
              <a:t>Sage</a:t>
            </a:r>
            <a:r>
              <a:rPr lang="zh-CN" altLang="en-US" dirty="0">
                <a:solidFill>
                  <a:srgbClr val="FF0000"/>
                </a:solidFill>
              </a:rPr>
              <a:t>上有</a:t>
            </a:r>
            <a:r>
              <a:rPr lang="en-US" altLang="zh-CN" dirty="0">
                <a:solidFill>
                  <a:srgbClr val="FF0000"/>
                </a:solidFill>
              </a:rPr>
              <a:t>B+</a:t>
            </a:r>
            <a:r>
              <a:rPr lang="zh-CN" altLang="en-US" dirty="0">
                <a:solidFill>
                  <a:srgbClr val="FF0000"/>
                </a:solidFill>
              </a:rPr>
              <a:t>树索引</a:t>
            </a:r>
          </a:p>
          <a:p>
            <a:pPr lvl="2"/>
            <a:r>
              <a:rPr lang="zh-CN" altLang="en-US" dirty="0"/>
              <a:t>使用</a:t>
            </a:r>
            <a:r>
              <a:rPr lang="en-US" altLang="zh-CN" dirty="0"/>
              <a:t>B+</a:t>
            </a:r>
            <a:r>
              <a:rPr lang="zh-CN" altLang="en-US" dirty="0"/>
              <a:t>树索引找到</a:t>
            </a:r>
            <a:r>
              <a:rPr lang="en-US" altLang="zh-CN" dirty="0"/>
              <a:t>Sage</a:t>
            </a:r>
            <a:r>
              <a:rPr lang="zh-CN" altLang="en-US" dirty="0"/>
              <a:t>＝</a:t>
            </a:r>
            <a:r>
              <a:rPr lang="en-US" altLang="zh-CN" dirty="0"/>
              <a:t>20</a:t>
            </a:r>
            <a:r>
              <a:rPr lang="zh-CN" altLang="en-US" dirty="0"/>
              <a:t>的索引项，以此为入口点在</a:t>
            </a:r>
            <a:r>
              <a:rPr lang="en-US" altLang="zh-CN" dirty="0"/>
              <a:t>B+</a:t>
            </a:r>
            <a:r>
              <a:rPr lang="zh-CN" altLang="en-US" dirty="0"/>
              <a:t>树的顺序集上得到</a:t>
            </a:r>
            <a:r>
              <a:rPr lang="en-US" altLang="zh-CN" dirty="0"/>
              <a:t>Sage&gt;20</a:t>
            </a:r>
            <a:r>
              <a:rPr lang="zh-CN" altLang="en-US" dirty="0"/>
              <a:t>的所有元组指针</a:t>
            </a:r>
          </a:p>
          <a:p>
            <a:pPr lvl="2"/>
            <a:r>
              <a:rPr lang="zh-CN" altLang="en-US" dirty="0"/>
              <a:t>通过这些元组指针到</a:t>
            </a:r>
            <a:r>
              <a:rPr lang="en-US" altLang="zh-CN" dirty="0"/>
              <a:t>student</a:t>
            </a:r>
            <a:r>
              <a:rPr lang="zh-CN" altLang="en-US" dirty="0"/>
              <a:t>表中检索到所有年龄大于</a:t>
            </a:r>
            <a:r>
              <a:rPr lang="en-US" altLang="zh-CN" dirty="0"/>
              <a:t>20</a:t>
            </a:r>
            <a:r>
              <a:rPr lang="zh-CN" altLang="en-US" dirty="0"/>
              <a:t>的学生。 </a:t>
            </a:r>
          </a:p>
        </p:txBody>
      </p:sp>
      <p:sp>
        <p:nvSpPr>
          <p:cNvPr id="4" name="灯片编号占位符 3">
            <a:extLst>
              <a:ext uri="{FF2B5EF4-FFF2-40B4-BE49-F238E27FC236}">
                <a16:creationId xmlns:a16="http://schemas.microsoft.com/office/drawing/2014/main" id="{D080ED8C-C7A8-4870-B39D-1F74065DD702}"/>
              </a:ext>
            </a:extLst>
          </p:cNvPr>
          <p:cNvSpPr>
            <a:spLocks noGrp="1"/>
          </p:cNvSpPr>
          <p:nvPr>
            <p:ph type="sldNum" sz="quarter" idx="12"/>
          </p:nvPr>
        </p:nvSpPr>
        <p:spPr/>
        <p:txBody>
          <a:bodyPr/>
          <a:lstStyle/>
          <a:p>
            <a:fld id="{E63F6D5D-9733-4D44-9C56-AEFEDD5A4BA7}" type="slidenum">
              <a:rPr lang="en-US" smtClean="0"/>
              <a:pPr/>
              <a:t>8</a:t>
            </a:fld>
            <a:endParaRPr lang="en-US" dirty="0"/>
          </a:p>
        </p:txBody>
      </p:sp>
    </p:spTree>
    <p:extLst>
      <p:ext uri="{BB962C8B-B14F-4D97-AF65-F5344CB8AC3E}">
        <p14:creationId xmlns:p14="http://schemas.microsoft.com/office/powerpoint/2010/main" val="3454074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4EBBEEFE-EB0A-4E65-B19F-C36CF69A8B73}"/>
              </a:ext>
            </a:extLst>
          </p:cNvPr>
          <p:cNvSpPr>
            <a:spLocks noGrp="1"/>
          </p:cNvSpPr>
          <p:nvPr>
            <p:ph type="title"/>
          </p:nvPr>
        </p:nvSpPr>
        <p:spPr/>
        <p:txBody>
          <a:bodyPr/>
          <a:lstStyle/>
          <a:p>
            <a:r>
              <a:rPr lang="en-US" altLang="zh-CN" dirty="0"/>
              <a:t>9.1.2 </a:t>
            </a:r>
            <a:r>
              <a:rPr lang="zh-CN" altLang="en-US" dirty="0"/>
              <a:t>实现查询操作的算法示例</a:t>
            </a:r>
          </a:p>
        </p:txBody>
      </p:sp>
      <p:sp>
        <p:nvSpPr>
          <p:cNvPr id="11" name="内容占位符 10">
            <a:extLst>
              <a:ext uri="{FF2B5EF4-FFF2-40B4-BE49-F238E27FC236}">
                <a16:creationId xmlns:a16="http://schemas.microsoft.com/office/drawing/2014/main" id="{F433D4AD-DBFD-4C77-BDB3-E05726E40082}"/>
              </a:ext>
            </a:extLst>
          </p:cNvPr>
          <p:cNvSpPr>
            <a:spLocks noGrp="1"/>
          </p:cNvSpPr>
          <p:nvPr>
            <p:ph idx="1"/>
          </p:nvPr>
        </p:nvSpPr>
        <p:spPr/>
        <p:txBody>
          <a:bodyPr>
            <a:normAutofit fontScale="92500" lnSpcReduction="10000"/>
          </a:bodyPr>
          <a:lstStyle/>
          <a:p>
            <a:r>
              <a:rPr lang="zh-CN" altLang="en-US" dirty="0">
                <a:solidFill>
                  <a:srgbClr val="0000CC"/>
                </a:solidFill>
              </a:rPr>
              <a:t>一、选择操作的实现算法 </a:t>
            </a:r>
          </a:p>
          <a:p>
            <a:pPr lvl="1"/>
            <a:r>
              <a:rPr lang="zh-CN" altLang="en-US" dirty="0">
                <a:solidFill>
                  <a:srgbClr val="0000FF"/>
                </a:solidFill>
              </a:rPr>
              <a:t>［例</a:t>
            </a:r>
            <a:r>
              <a:rPr lang="en-US" altLang="zh-CN" dirty="0">
                <a:solidFill>
                  <a:srgbClr val="0000FF"/>
                </a:solidFill>
              </a:rPr>
              <a:t>1-C4</a:t>
            </a:r>
            <a:r>
              <a:rPr lang="zh-CN" altLang="en-US" dirty="0">
                <a:solidFill>
                  <a:srgbClr val="0000FF"/>
                </a:solidFill>
              </a:rPr>
              <a:t>］</a:t>
            </a:r>
            <a:r>
              <a:rPr lang="zh-CN" altLang="en-US" dirty="0"/>
              <a:t>以</a:t>
            </a:r>
            <a:r>
              <a:rPr lang="en-US" altLang="zh-CN" dirty="0"/>
              <a:t>C4</a:t>
            </a:r>
            <a:r>
              <a:rPr lang="zh-CN" altLang="en-US" dirty="0"/>
              <a:t>为例，</a:t>
            </a:r>
            <a:r>
              <a:rPr lang="en-US" altLang="zh-CN" dirty="0" err="1"/>
              <a:t>Sdept</a:t>
            </a:r>
            <a:r>
              <a:rPr lang="zh-CN" altLang="en-US" dirty="0"/>
              <a:t>＝‘</a:t>
            </a:r>
            <a:r>
              <a:rPr lang="en-US" altLang="zh-CN" dirty="0"/>
              <a:t>CS’ AND Sage&gt;20</a:t>
            </a:r>
            <a:r>
              <a:rPr lang="zh-CN" altLang="en-US" dirty="0"/>
              <a:t>，如果</a:t>
            </a:r>
            <a:r>
              <a:rPr lang="en-US" altLang="zh-CN" dirty="0" err="1">
                <a:solidFill>
                  <a:srgbClr val="FF0000"/>
                </a:solidFill>
              </a:rPr>
              <a:t>Sdept</a:t>
            </a:r>
            <a:r>
              <a:rPr lang="zh-CN" altLang="en-US" dirty="0">
                <a:solidFill>
                  <a:srgbClr val="FF0000"/>
                </a:solidFill>
              </a:rPr>
              <a:t>和</a:t>
            </a:r>
            <a:r>
              <a:rPr lang="en-US" altLang="zh-CN" dirty="0">
                <a:solidFill>
                  <a:srgbClr val="FF0000"/>
                </a:solidFill>
              </a:rPr>
              <a:t>Sage</a:t>
            </a:r>
            <a:r>
              <a:rPr lang="zh-CN" altLang="en-US" dirty="0">
                <a:solidFill>
                  <a:srgbClr val="FF0000"/>
                </a:solidFill>
              </a:rPr>
              <a:t>上都有索引：</a:t>
            </a:r>
          </a:p>
          <a:p>
            <a:pPr lvl="2"/>
            <a:r>
              <a:rPr lang="zh-CN" altLang="en-US" dirty="0">
                <a:solidFill>
                  <a:srgbClr val="FF0000"/>
                </a:solidFill>
              </a:rPr>
              <a:t>算法一：</a:t>
            </a:r>
            <a:r>
              <a:rPr lang="zh-CN" altLang="en-US" dirty="0"/>
              <a:t>分别用上面两种方法分别找到</a:t>
            </a:r>
            <a:r>
              <a:rPr lang="en-US" altLang="zh-CN" dirty="0" err="1"/>
              <a:t>Sdept</a:t>
            </a:r>
            <a:r>
              <a:rPr lang="zh-CN" altLang="en-US" dirty="0"/>
              <a:t>＝‘</a:t>
            </a:r>
            <a:r>
              <a:rPr lang="en-US" altLang="zh-CN" dirty="0"/>
              <a:t>CS’</a:t>
            </a:r>
            <a:r>
              <a:rPr lang="zh-CN" altLang="en-US" dirty="0"/>
              <a:t>的一组元组指针和</a:t>
            </a:r>
            <a:r>
              <a:rPr lang="en-US" altLang="zh-CN" dirty="0"/>
              <a:t>Sage&gt;20</a:t>
            </a:r>
            <a:r>
              <a:rPr lang="zh-CN" altLang="en-US" dirty="0"/>
              <a:t>的另一组元组指针</a:t>
            </a:r>
          </a:p>
          <a:p>
            <a:pPr lvl="2"/>
            <a:r>
              <a:rPr lang="zh-CN" altLang="en-US" dirty="0"/>
              <a:t>求这</a:t>
            </a:r>
            <a:r>
              <a:rPr lang="en-US" altLang="zh-CN" dirty="0"/>
              <a:t>2</a:t>
            </a:r>
            <a:r>
              <a:rPr lang="zh-CN" altLang="en-US" dirty="0"/>
              <a:t>组指针的交集</a:t>
            </a:r>
          </a:p>
          <a:p>
            <a:pPr lvl="2"/>
            <a:r>
              <a:rPr lang="zh-CN" altLang="en-US" dirty="0"/>
              <a:t>到</a:t>
            </a:r>
            <a:r>
              <a:rPr lang="en-US" altLang="zh-CN" dirty="0"/>
              <a:t>student</a:t>
            </a:r>
            <a:r>
              <a:rPr lang="zh-CN" altLang="en-US" dirty="0"/>
              <a:t>表中检索</a:t>
            </a:r>
          </a:p>
          <a:p>
            <a:pPr lvl="2"/>
            <a:r>
              <a:rPr lang="zh-CN" altLang="en-US" dirty="0"/>
              <a:t>得到计算机系年龄大于</a:t>
            </a:r>
            <a:r>
              <a:rPr lang="en-US" altLang="zh-CN" dirty="0"/>
              <a:t>20</a:t>
            </a:r>
            <a:r>
              <a:rPr lang="zh-CN" altLang="en-US" dirty="0"/>
              <a:t>的学生</a:t>
            </a:r>
          </a:p>
          <a:p>
            <a:pPr lvl="2"/>
            <a:endParaRPr lang="zh-CN" altLang="en-US" dirty="0"/>
          </a:p>
          <a:p>
            <a:pPr lvl="2"/>
            <a:r>
              <a:rPr lang="zh-CN" altLang="en-US" dirty="0">
                <a:solidFill>
                  <a:srgbClr val="FF0000"/>
                </a:solidFill>
              </a:rPr>
              <a:t>算法二：</a:t>
            </a:r>
            <a:r>
              <a:rPr lang="zh-CN" altLang="en-US" dirty="0"/>
              <a:t>找到</a:t>
            </a:r>
            <a:r>
              <a:rPr lang="en-US" altLang="zh-CN" dirty="0" err="1"/>
              <a:t>Sdept</a:t>
            </a:r>
            <a:r>
              <a:rPr lang="zh-CN" altLang="en-US" dirty="0"/>
              <a:t>＝‘</a:t>
            </a:r>
            <a:r>
              <a:rPr lang="en-US" altLang="zh-CN" dirty="0"/>
              <a:t>CS’</a:t>
            </a:r>
            <a:r>
              <a:rPr lang="zh-CN" altLang="en-US" dirty="0"/>
              <a:t>的一组元组指针，</a:t>
            </a:r>
          </a:p>
          <a:p>
            <a:pPr lvl="2"/>
            <a:r>
              <a:rPr lang="zh-CN" altLang="en-US" dirty="0"/>
              <a:t>通过这些元组指针到</a:t>
            </a:r>
            <a:r>
              <a:rPr lang="en-US" altLang="zh-CN" dirty="0"/>
              <a:t>student</a:t>
            </a:r>
            <a:r>
              <a:rPr lang="zh-CN" altLang="en-US" dirty="0"/>
              <a:t>表中检索</a:t>
            </a:r>
          </a:p>
          <a:p>
            <a:pPr lvl="2"/>
            <a:r>
              <a:rPr lang="zh-CN" altLang="en-US" dirty="0"/>
              <a:t>对得到的元组检查另一些选择条件</a:t>
            </a:r>
            <a:r>
              <a:rPr lang="en-US" altLang="zh-CN" dirty="0"/>
              <a:t>(</a:t>
            </a:r>
            <a:r>
              <a:rPr lang="zh-CN" altLang="en-US" dirty="0"/>
              <a:t>如</a:t>
            </a:r>
            <a:r>
              <a:rPr lang="en-US" altLang="zh-CN" dirty="0"/>
              <a:t>Sage&gt;20)</a:t>
            </a:r>
            <a:r>
              <a:rPr lang="zh-CN" altLang="en-US" dirty="0"/>
              <a:t>是否满足</a:t>
            </a:r>
          </a:p>
          <a:p>
            <a:pPr lvl="2"/>
            <a:r>
              <a:rPr lang="zh-CN" altLang="en-US" dirty="0"/>
              <a:t>把满足条件的元组作为结果输出。 </a:t>
            </a:r>
          </a:p>
        </p:txBody>
      </p:sp>
      <p:sp>
        <p:nvSpPr>
          <p:cNvPr id="4" name="灯片编号占位符 3">
            <a:extLst>
              <a:ext uri="{FF2B5EF4-FFF2-40B4-BE49-F238E27FC236}">
                <a16:creationId xmlns:a16="http://schemas.microsoft.com/office/drawing/2014/main" id="{D080ED8C-C7A8-4870-B39D-1F74065DD702}"/>
              </a:ext>
            </a:extLst>
          </p:cNvPr>
          <p:cNvSpPr>
            <a:spLocks noGrp="1"/>
          </p:cNvSpPr>
          <p:nvPr>
            <p:ph type="sldNum" sz="quarter" idx="12"/>
          </p:nvPr>
        </p:nvSpPr>
        <p:spPr/>
        <p:txBody>
          <a:bodyPr/>
          <a:lstStyle/>
          <a:p>
            <a:fld id="{E63F6D5D-9733-4D44-9C56-AEFEDD5A4BA7}" type="slidenum">
              <a:rPr lang="en-US" smtClean="0"/>
              <a:pPr/>
              <a:t>9</a:t>
            </a:fld>
            <a:endParaRPr lang="en-US" dirty="0"/>
          </a:p>
        </p:txBody>
      </p:sp>
    </p:spTree>
    <p:extLst>
      <p:ext uri="{BB962C8B-B14F-4D97-AF65-F5344CB8AC3E}">
        <p14:creationId xmlns:p14="http://schemas.microsoft.com/office/powerpoint/2010/main" val="213134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1327F0B-9D12-447D-8FE7-130F29923AA0}"/>
              </a:ext>
            </a:extLst>
          </p:cNvPr>
          <p:cNvSpPr>
            <a:spLocks noGrp="1"/>
          </p:cNvSpPr>
          <p:nvPr>
            <p:ph idx="1"/>
          </p:nvPr>
        </p:nvSpPr>
        <p:spPr/>
        <p:txBody>
          <a:bodyPr/>
          <a:lstStyle/>
          <a:p>
            <a:r>
              <a:rPr lang="zh-CN" altLang="en-US" dirty="0">
                <a:solidFill>
                  <a:srgbClr val="0000CC"/>
                </a:solidFill>
              </a:rPr>
              <a:t>二、连接操作的实现算法</a:t>
            </a:r>
          </a:p>
          <a:p>
            <a:pPr lvl="1"/>
            <a:r>
              <a:rPr lang="zh-CN" altLang="en-US" dirty="0"/>
              <a:t>连接操作是查询处理中最常用和最耗时的操作之一</a:t>
            </a:r>
          </a:p>
          <a:p>
            <a:pPr lvl="1"/>
            <a:r>
              <a:rPr lang="zh-CN" altLang="en-US" dirty="0"/>
              <a:t>本节只讨论等值连接</a:t>
            </a:r>
            <a:r>
              <a:rPr lang="en-US" altLang="zh-CN" dirty="0"/>
              <a:t>(</a:t>
            </a:r>
            <a:r>
              <a:rPr lang="zh-CN" altLang="en-US" dirty="0"/>
              <a:t>或自然连接</a:t>
            </a:r>
            <a:r>
              <a:rPr lang="en-US" altLang="zh-CN" dirty="0"/>
              <a:t>)</a:t>
            </a:r>
            <a:r>
              <a:rPr lang="zh-CN" altLang="en-US" dirty="0"/>
              <a:t>最常用的实现算法</a:t>
            </a:r>
            <a:endParaRPr lang="en-US" altLang="zh-CN" dirty="0"/>
          </a:p>
          <a:p>
            <a:pPr marL="289225" lvl="1" indent="0">
              <a:buNone/>
            </a:pPr>
            <a:endParaRPr lang="zh-CN" altLang="en-US" sz="1200" dirty="0"/>
          </a:p>
          <a:p>
            <a:pPr marL="0" indent="0" algn="ctr">
              <a:buNone/>
            </a:pPr>
            <a:r>
              <a:rPr lang="en-US" altLang="zh-CN" sz="2600" dirty="0">
                <a:solidFill>
                  <a:srgbClr val="FF0000"/>
                </a:solidFill>
              </a:rPr>
              <a:t>[</a:t>
            </a:r>
            <a:r>
              <a:rPr lang="zh-CN" altLang="en-US" sz="2600" dirty="0">
                <a:solidFill>
                  <a:srgbClr val="FF0000"/>
                </a:solidFill>
              </a:rPr>
              <a:t>例</a:t>
            </a:r>
            <a:r>
              <a:rPr lang="en-US" altLang="zh-CN" sz="2600" dirty="0">
                <a:solidFill>
                  <a:srgbClr val="FF0000"/>
                </a:solidFill>
              </a:rPr>
              <a:t>9.2] SELECT * FROM Student, SC  WHERE </a:t>
            </a:r>
            <a:r>
              <a:rPr lang="en-US" altLang="zh-CN" sz="2600" dirty="0" err="1">
                <a:solidFill>
                  <a:srgbClr val="FF0000"/>
                </a:solidFill>
              </a:rPr>
              <a:t>Student.Sno</a:t>
            </a:r>
            <a:r>
              <a:rPr lang="en-US" altLang="zh-CN" sz="2600" dirty="0">
                <a:solidFill>
                  <a:srgbClr val="FF0000"/>
                </a:solidFill>
              </a:rPr>
              <a:t>=</a:t>
            </a:r>
            <a:r>
              <a:rPr lang="en-US" altLang="zh-CN" sz="2600" dirty="0" err="1">
                <a:solidFill>
                  <a:srgbClr val="FF0000"/>
                </a:solidFill>
              </a:rPr>
              <a:t>SC.Sno</a:t>
            </a:r>
            <a:r>
              <a:rPr lang="en-US" altLang="zh-CN" sz="2600" dirty="0">
                <a:solidFill>
                  <a:srgbClr val="FF0000"/>
                </a:solidFill>
              </a:rPr>
              <a:t>; </a:t>
            </a:r>
          </a:p>
          <a:p>
            <a:pPr marL="0" indent="0">
              <a:buNone/>
            </a:pPr>
            <a:endParaRPr lang="en-US" altLang="zh-CN" sz="2600" dirty="0">
              <a:solidFill>
                <a:srgbClr val="FF0000"/>
              </a:solidFill>
            </a:endParaRPr>
          </a:p>
          <a:p>
            <a:pPr marL="0" indent="0">
              <a:buNone/>
            </a:pPr>
            <a:endParaRPr lang="zh-CN" altLang="en-US" dirty="0"/>
          </a:p>
        </p:txBody>
      </p:sp>
      <p:sp>
        <p:nvSpPr>
          <p:cNvPr id="4" name="灯片编号占位符 3">
            <a:extLst>
              <a:ext uri="{FF2B5EF4-FFF2-40B4-BE49-F238E27FC236}">
                <a16:creationId xmlns:a16="http://schemas.microsoft.com/office/drawing/2014/main" id="{4DEA0061-39AA-4DCF-83E0-E2076002CDB5}"/>
              </a:ext>
            </a:extLst>
          </p:cNvPr>
          <p:cNvSpPr>
            <a:spLocks noGrp="1"/>
          </p:cNvSpPr>
          <p:nvPr>
            <p:ph type="sldNum" sz="quarter" idx="12"/>
          </p:nvPr>
        </p:nvSpPr>
        <p:spPr/>
        <p:txBody>
          <a:bodyPr/>
          <a:lstStyle/>
          <a:p>
            <a:fld id="{E63F6D5D-9733-4D44-9C56-AEFEDD5A4BA7}" type="slidenum">
              <a:rPr lang="en-US" smtClean="0"/>
              <a:pPr/>
              <a:t>10</a:t>
            </a:fld>
            <a:endParaRPr lang="en-US" dirty="0"/>
          </a:p>
        </p:txBody>
      </p:sp>
      <p:sp>
        <p:nvSpPr>
          <p:cNvPr id="6" name="文本框 5">
            <a:extLst>
              <a:ext uri="{FF2B5EF4-FFF2-40B4-BE49-F238E27FC236}">
                <a16:creationId xmlns:a16="http://schemas.microsoft.com/office/drawing/2014/main" id="{A98F0BD3-213F-4A18-9925-B57483429203}"/>
              </a:ext>
            </a:extLst>
          </p:cNvPr>
          <p:cNvSpPr txBox="1"/>
          <p:nvPr/>
        </p:nvSpPr>
        <p:spPr>
          <a:xfrm>
            <a:off x="990600" y="3962400"/>
            <a:ext cx="4876800" cy="2243050"/>
          </a:xfrm>
          <a:prstGeom prst="rect">
            <a:avLst/>
          </a:prstGeom>
          <a:noFill/>
        </p:spPr>
        <p:txBody>
          <a:bodyPr wrap="square" rtlCol="0">
            <a:spAutoFit/>
          </a:bodyPr>
          <a:lstStyle/>
          <a:p>
            <a:pPr marL="173038" indent="-173038">
              <a:lnSpc>
                <a:spcPct val="150000"/>
              </a:lnSpc>
              <a:buFont typeface="Arial" panose="020B0604020202020204" pitchFamily="34" charset="0"/>
              <a:buChar char="•"/>
            </a:pPr>
            <a:r>
              <a:rPr lang="zh-CN" altLang="en-US" sz="2400" dirty="0">
                <a:solidFill>
                  <a:srgbClr val="0000CC"/>
                </a:solidFill>
                <a:latin typeface="微软雅黑" panose="020B0503020204020204" pitchFamily="34" charset="-122"/>
                <a:ea typeface="微软雅黑" panose="020B0503020204020204" pitchFamily="34" charset="-122"/>
              </a:rPr>
              <a:t>嵌套循环算法</a:t>
            </a:r>
            <a:r>
              <a:rPr lang="en-US" altLang="zh-CN" sz="2400" dirty="0">
                <a:solidFill>
                  <a:srgbClr val="0000CC"/>
                </a:solidFill>
                <a:latin typeface="微软雅黑" panose="020B0503020204020204" pitchFamily="34" charset="-122"/>
                <a:ea typeface="微软雅黑" panose="020B0503020204020204" pitchFamily="34" charset="-122"/>
              </a:rPr>
              <a:t>(nested loop join)</a:t>
            </a:r>
          </a:p>
          <a:p>
            <a:pPr marL="173038" indent="-173038">
              <a:lnSpc>
                <a:spcPct val="150000"/>
              </a:lnSpc>
              <a:buFont typeface="Arial" panose="020B0604020202020204" pitchFamily="34" charset="0"/>
              <a:buChar char="•"/>
            </a:pPr>
            <a:r>
              <a:rPr lang="zh-CN" altLang="fr-FR" sz="2400" dirty="0">
                <a:solidFill>
                  <a:srgbClr val="0000CC"/>
                </a:solidFill>
                <a:latin typeface="微软雅黑" panose="020B0503020204020204" pitchFamily="34" charset="-122"/>
                <a:ea typeface="微软雅黑" panose="020B0503020204020204" pitchFamily="34" charset="-122"/>
              </a:rPr>
              <a:t>排序</a:t>
            </a:r>
            <a:r>
              <a:rPr lang="fr-FR" altLang="zh-CN" sz="2400" dirty="0">
                <a:solidFill>
                  <a:srgbClr val="0000CC"/>
                </a:solidFill>
                <a:latin typeface="微软雅黑" panose="020B0503020204020204" pitchFamily="34" charset="-122"/>
                <a:ea typeface="微软雅黑" panose="020B0503020204020204" pitchFamily="34" charset="-122"/>
              </a:rPr>
              <a:t>-</a:t>
            </a:r>
            <a:r>
              <a:rPr lang="zh-CN" altLang="fr-FR" sz="2400" dirty="0">
                <a:solidFill>
                  <a:srgbClr val="0000CC"/>
                </a:solidFill>
                <a:latin typeface="微软雅黑" panose="020B0503020204020204" pitchFamily="34" charset="-122"/>
                <a:ea typeface="微软雅黑" panose="020B0503020204020204" pitchFamily="34" charset="-122"/>
              </a:rPr>
              <a:t>合并算法</a:t>
            </a:r>
            <a:r>
              <a:rPr lang="fr-FR" altLang="zh-CN" sz="2400" dirty="0">
                <a:solidFill>
                  <a:srgbClr val="0000CC"/>
                </a:solidFill>
                <a:latin typeface="微软雅黑" panose="020B0503020204020204" pitchFamily="34" charset="-122"/>
                <a:ea typeface="微软雅黑" panose="020B0503020204020204" pitchFamily="34" charset="-122"/>
              </a:rPr>
              <a:t>(sort-merge join)</a:t>
            </a:r>
          </a:p>
          <a:p>
            <a:pPr marL="173038" indent="-173038">
              <a:lnSpc>
                <a:spcPct val="150000"/>
              </a:lnSpc>
              <a:buFont typeface="Arial" panose="020B0604020202020204" pitchFamily="34" charset="0"/>
              <a:buChar char="•"/>
            </a:pPr>
            <a:r>
              <a:rPr lang="zh-CN" altLang="en-US" sz="2400" dirty="0">
                <a:solidFill>
                  <a:srgbClr val="0000CC"/>
                </a:solidFill>
                <a:latin typeface="微软雅黑" panose="020B0503020204020204" pitchFamily="34" charset="-122"/>
                <a:ea typeface="微软雅黑" panose="020B0503020204020204" pitchFamily="34" charset="-122"/>
              </a:rPr>
              <a:t>索引连接</a:t>
            </a:r>
            <a:r>
              <a:rPr lang="en-US" altLang="zh-CN" sz="2400" dirty="0">
                <a:solidFill>
                  <a:srgbClr val="0000CC"/>
                </a:solidFill>
                <a:latin typeface="微软雅黑" panose="020B0503020204020204" pitchFamily="34" charset="-122"/>
                <a:ea typeface="微软雅黑" panose="020B0503020204020204" pitchFamily="34" charset="-122"/>
              </a:rPr>
              <a:t>(index join)</a:t>
            </a:r>
            <a:r>
              <a:rPr lang="zh-CN" altLang="en-US" sz="2400" dirty="0">
                <a:solidFill>
                  <a:srgbClr val="0000CC"/>
                </a:solidFill>
                <a:latin typeface="微软雅黑" panose="020B0503020204020204" pitchFamily="34" charset="-122"/>
                <a:ea typeface="微软雅黑" panose="020B0503020204020204" pitchFamily="34" charset="-122"/>
              </a:rPr>
              <a:t>算法 </a:t>
            </a:r>
            <a:endParaRPr lang="en-US" altLang="zh-CN" sz="2400" dirty="0">
              <a:solidFill>
                <a:srgbClr val="0000CC"/>
              </a:solidFill>
              <a:latin typeface="微软雅黑" panose="020B0503020204020204" pitchFamily="34" charset="-122"/>
              <a:ea typeface="微软雅黑" panose="020B0503020204020204" pitchFamily="34" charset="-122"/>
            </a:endParaRPr>
          </a:p>
          <a:p>
            <a:pPr marL="173038" indent="-173038">
              <a:lnSpc>
                <a:spcPct val="150000"/>
              </a:lnSpc>
              <a:buFont typeface="Arial" panose="020B0604020202020204" pitchFamily="34" charset="0"/>
              <a:buChar char="•"/>
            </a:pPr>
            <a:r>
              <a:rPr lang="en-US" altLang="zh-CN" sz="2400" dirty="0">
                <a:solidFill>
                  <a:srgbClr val="0000CC"/>
                </a:solidFill>
                <a:latin typeface="微软雅黑" panose="020B0503020204020204" pitchFamily="34" charset="-122"/>
                <a:ea typeface="微软雅黑" panose="020B0503020204020204" pitchFamily="34" charset="-122"/>
              </a:rPr>
              <a:t>Hash Join</a:t>
            </a:r>
            <a:r>
              <a:rPr lang="zh-CN" altLang="en-US" sz="2400" dirty="0">
                <a:solidFill>
                  <a:srgbClr val="0000CC"/>
                </a:solidFill>
                <a:latin typeface="微软雅黑" panose="020B0503020204020204" pitchFamily="34" charset="-122"/>
                <a:ea typeface="微软雅黑" panose="020B0503020204020204" pitchFamily="34" charset="-122"/>
              </a:rPr>
              <a:t>算法</a:t>
            </a:r>
          </a:p>
        </p:txBody>
      </p:sp>
      <p:sp>
        <p:nvSpPr>
          <p:cNvPr id="8" name="标题 7">
            <a:extLst>
              <a:ext uri="{FF2B5EF4-FFF2-40B4-BE49-F238E27FC236}">
                <a16:creationId xmlns:a16="http://schemas.microsoft.com/office/drawing/2014/main" id="{C205B790-45C7-42C3-9038-98D753C5D214}"/>
              </a:ext>
            </a:extLst>
          </p:cNvPr>
          <p:cNvSpPr>
            <a:spLocks noGrp="1"/>
          </p:cNvSpPr>
          <p:nvPr>
            <p:ph type="title"/>
          </p:nvPr>
        </p:nvSpPr>
        <p:spPr>
          <a:xfrm>
            <a:off x="1281113" y="238125"/>
            <a:ext cx="9553575" cy="512763"/>
          </a:xfrm>
        </p:spPr>
        <p:txBody>
          <a:bodyPr/>
          <a:lstStyle/>
          <a:p>
            <a:r>
              <a:rPr lang="en-US" altLang="zh-CN" dirty="0"/>
              <a:t>9.1.2 </a:t>
            </a:r>
            <a:r>
              <a:rPr lang="zh-CN" altLang="en-US" dirty="0"/>
              <a:t>实现查询操作的算法示例</a:t>
            </a:r>
          </a:p>
        </p:txBody>
      </p:sp>
    </p:spTree>
    <p:extLst>
      <p:ext uri="{BB962C8B-B14F-4D97-AF65-F5344CB8AC3E}">
        <p14:creationId xmlns:p14="http://schemas.microsoft.com/office/powerpoint/2010/main" val="356690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altLang="zh-CN"/>
              <a:t>9.1.2 </a:t>
            </a:r>
            <a:r>
              <a:rPr lang="zh-CN" altLang="en-US"/>
              <a:t>实现查询操作的算法示例</a:t>
            </a:r>
            <a:endParaRPr lang="zh-CN" altLang="en-US" dirty="0"/>
          </a:p>
        </p:txBody>
      </p:sp>
      <p:sp>
        <p:nvSpPr>
          <p:cNvPr id="14" name="内容占位符 13">
            <a:extLst>
              <a:ext uri="{FF2B5EF4-FFF2-40B4-BE49-F238E27FC236}">
                <a16:creationId xmlns:a16="http://schemas.microsoft.com/office/drawing/2014/main" id="{FA05DD1F-B80E-4A8F-BE8D-3B4E67C37E1E}"/>
              </a:ext>
            </a:extLst>
          </p:cNvPr>
          <p:cNvSpPr>
            <a:spLocks noGrp="1"/>
          </p:cNvSpPr>
          <p:nvPr>
            <p:ph idx="1"/>
          </p:nvPr>
        </p:nvSpPr>
        <p:spPr/>
        <p:txBody>
          <a:bodyPr/>
          <a:lstStyle/>
          <a:p>
            <a:r>
              <a:rPr lang="en-US" altLang="zh-CN"/>
              <a:t>1</a:t>
            </a:r>
            <a:r>
              <a:rPr lang="zh-CN" altLang="en-US"/>
              <a:t>、嵌套循环方法</a:t>
            </a:r>
          </a:p>
          <a:p>
            <a:endParaRPr lang="zh-CN" altLang="en-US" dirty="0"/>
          </a:p>
        </p:txBody>
      </p:sp>
      <p:sp>
        <p:nvSpPr>
          <p:cNvPr id="92" name="灯片编号占位符 7"/>
          <p:cNvSpPr>
            <a:spLocks noGrp="1"/>
          </p:cNvSpPr>
          <p:nvPr>
            <p:ph type="sldNum" sz="quarter" idx="12"/>
          </p:nvPr>
        </p:nvSpPr>
        <p:spPr/>
        <p:txBody>
          <a:bodyPr/>
          <a:lstStyle/>
          <a:p>
            <a:fld id="{1007686E-0948-44DB-A863-7559538E2661}" type="slidenum">
              <a:rPr lang="en-US" altLang="zh-CN" smtClean="0"/>
              <a:pPr/>
              <a:t>11</a:t>
            </a:fld>
            <a:endParaRPr lang="en-US" altLang="zh-CN"/>
          </a:p>
        </p:txBody>
      </p:sp>
      <p:graphicFrame>
        <p:nvGraphicFramePr>
          <p:cNvPr id="31" name="Group 4">
            <a:extLst>
              <a:ext uri="{FF2B5EF4-FFF2-40B4-BE49-F238E27FC236}">
                <a16:creationId xmlns:a16="http://schemas.microsoft.com/office/drawing/2014/main" id="{0DDDA659-7A09-4BE1-B366-A8C8BDE785A7}"/>
              </a:ext>
            </a:extLst>
          </p:cNvPr>
          <p:cNvGraphicFramePr>
            <a:graphicFrameLocks/>
          </p:cNvGraphicFramePr>
          <p:nvPr>
            <p:extLst>
              <p:ext uri="{D42A27DB-BD31-4B8C-83A1-F6EECF244321}">
                <p14:modId xmlns:p14="http://schemas.microsoft.com/office/powerpoint/2010/main" val="4222734971"/>
              </p:ext>
            </p:extLst>
          </p:nvPr>
        </p:nvGraphicFramePr>
        <p:xfrm>
          <a:off x="1397000" y="2376488"/>
          <a:ext cx="3455987" cy="2189164"/>
        </p:xfrm>
        <a:graphic>
          <a:graphicData uri="http://schemas.openxmlformats.org/drawingml/2006/table">
            <a:tbl>
              <a:tblPr/>
              <a:tblGrid>
                <a:gridCol w="692150">
                  <a:extLst>
                    <a:ext uri="{9D8B030D-6E8A-4147-A177-3AD203B41FA5}">
                      <a16:colId xmlns:a16="http://schemas.microsoft.com/office/drawing/2014/main" val="20000"/>
                    </a:ext>
                  </a:extLst>
                </a:gridCol>
                <a:gridCol w="690562">
                  <a:extLst>
                    <a:ext uri="{9D8B030D-6E8A-4147-A177-3AD203B41FA5}">
                      <a16:colId xmlns:a16="http://schemas.microsoft.com/office/drawing/2014/main" val="20001"/>
                    </a:ext>
                  </a:extLst>
                </a:gridCol>
                <a:gridCol w="712788">
                  <a:extLst>
                    <a:ext uri="{9D8B030D-6E8A-4147-A177-3AD203B41FA5}">
                      <a16:colId xmlns:a16="http://schemas.microsoft.com/office/drawing/2014/main" val="20002"/>
                    </a:ext>
                  </a:extLst>
                </a:gridCol>
                <a:gridCol w="668337">
                  <a:extLst>
                    <a:ext uri="{9D8B030D-6E8A-4147-A177-3AD203B41FA5}">
                      <a16:colId xmlns:a16="http://schemas.microsoft.com/office/drawing/2014/main" val="20003"/>
                    </a:ext>
                  </a:extLst>
                </a:gridCol>
                <a:gridCol w="692150">
                  <a:extLst>
                    <a:ext uri="{9D8B030D-6E8A-4147-A177-3AD203B41FA5}">
                      <a16:colId xmlns:a16="http://schemas.microsoft.com/office/drawing/2014/main" val="20004"/>
                    </a:ext>
                  </a:extLst>
                </a:gridCol>
              </a:tblGrid>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8080"/>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8080"/>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8080"/>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8080"/>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808080"/>
                    </a:solidFill>
                  </a:tcPr>
                </a:tc>
                <a:extLst>
                  <a:ext uri="{0D108BD9-81ED-4DB2-BD59-A6C34878D82A}">
                    <a16:rowId xmlns:a16="http://schemas.microsoft.com/office/drawing/2014/main" val="10000"/>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610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dirty="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32" name="Group 91">
            <a:extLst>
              <a:ext uri="{FF2B5EF4-FFF2-40B4-BE49-F238E27FC236}">
                <a16:creationId xmlns:a16="http://schemas.microsoft.com/office/drawing/2014/main" id="{F4BA43EA-CA1B-4863-9D73-4E8D60B3F3B4}"/>
              </a:ext>
            </a:extLst>
          </p:cNvPr>
          <p:cNvGraphicFramePr>
            <a:graphicFrameLocks/>
          </p:cNvGraphicFramePr>
          <p:nvPr>
            <p:extLst>
              <p:ext uri="{D42A27DB-BD31-4B8C-83A1-F6EECF244321}">
                <p14:modId xmlns:p14="http://schemas.microsoft.com/office/powerpoint/2010/main" val="389525607"/>
              </p:ext>
            </p:extLst>
          </p:nvPr>
        </p:nvGraphicFramePr>
        <p:xfrm>
          <a:off x="5562600" y="2133600"/>
          <a:ext cx="4038600" cy="3657600"/>
        </p:xfrm>
        <a:graphic>
          <a:graphicData uri="http://schemas.openxmlformats.org/drawingml/2006/table">
            <a:tbl>
              <a:tblPr/>
              <a:tblGrid>
                <a:gridCol w="10096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1009650">
                  <a:extLst>
                    <a:ext uri="{9D8B030D-6E8A-4147-A177-3AD203B41FA5}">
                      <a16:colId xmlns:a16="http://schemas.microsoft.com/office/drawing/2014/main" val="20002"/>
                    </a:ext>
                  </a:extLst>
                </a:gridCol>
                <a:gridCol w="1009650">
                  <a:extLst>
                    <a:ext uri="{9D8B030D-6E8A-4147-A177-3AD203B41FA5}">
                      <a16:colId xmlns:a16="http://schemas.microsoft.com/office/drawing/2014/main" val="20003"/>
                    </a:ext>
                  </a:extLst>
                </a:gridCol>
              </a:tblGrid>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folHlink"/>
                    </a:solidFill>
                  </a:tcPr>
                </a:tc>
                <a:extLst>
                  <a:ext uri="{0D108BD9-81ED-4DB2-BD59-A6C34878D82A}">
                    <a16:rowId xmlns:a16="http://schemas.microsoft.com/office/drawing/2014/main" val="10000"/>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3" name="AutoShape 83">
            <a:extLst>
              <a:ext uri="{FF2B5EF4-FFF2-40B4-BE49-F238E27FC236}">
                <a16:creationId xmlns:a16="http://schemas.microsoft.com/office/drawing/2014/main" id="{7E49BB6A-BDED-497E-BDD7-EF26C42471BA}"/>
              </a:ext>
            </a:extLst>
          </p:cNvPr>
          <p:cNvSpPr>
            <a:spLocks noChangeArrowheads="1"/>
          </p:cNvSpPr>
          <p:nvPr/>
        </p:nvSpPr>
        <p:spPr bwMode="auto">
          <a:xfrm>
            <a:off x="1674812" y="2997200"/>
            <a:ext cx="287338" cy="1441450"/>
          </a:xfrm>
          <a:prstGeom prst="downArrow">
            <a:avLst>
              <a:gd name="adj1" fmla="val 50000"/>
              <a:gd name="adj2" fmla="val 125414"/>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4" name="AutoShape 84">
            <a:extLst>
              <a:ext uri="{FF2B5EF4-FFF2-40B4-BE49-F238E27FC236}">
                <a16:creationId xmlns:a16="http://schemas.microsoft.com/office/drawing/2014/main" id="{7B3D6D6F-EB56-465C-B4F9-266273C25462}"/>
              </a:ext>
            </a:extLst>
          </p:cNvPr>
          <p:cNvSpPr>
            <a:spLocks noChangeArrowheads="1"/>
          </p:cNvSpPr>
          <p:nvPr/>
        </p:nvSpPr>
        <p:spPr bwMode="auto">
          <a:xfrm>
            <a:off x="6067425" y="3284538"/>
            <a:ext cx="287337" cy="1441450"/>
          </a:xfrm>
          <a:prstGeom prst="downArrow">
            <a:avLst>
              <a:gd name="adj1" fmla="val 50000"/>
              <a:gd name="adj2" fmla="val 125415"/>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p>
        </p:txBody>
      </p:sp>
      <p:sp>
        <p:nvSpPr>
          <p:cNvPr id="35" name="Line 85">
            <a:extLst>
              <a:ext uri="{FF2B5EF4-FFF2-40B4-BE49-F238E27FC236}">
                <a16:creationId xmlns:a16="http://schemas.microsoft.com/office/drawing/2014/main" id="{FB78B973-3D85-4463-B7D4-8FA41BBE0152}"/>
              </a:ext>
            </a:extLst>
          </p:cNvPr>
          <p:cNvSpPr>
            <a:spLocks noChangeShapeType="1"/>
          </p:cNvSpPr>
          <p:nvPr/>
        </p:nvSpPr>
        <p:spPr bwMode="auto">
          <a:xfrm flipV="1">
            <a:off x="4483100" y="2276475"/>
            <a:ext cx="1655762" cy="4318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86">
            <a:extLst>
              <a:ext uri="{FF2B5EF4-FFF2-40B4-BE49-F238E27FC236}">
                <a16:creationId xmlns:a16="http://schemas.microsoft.com/office/drawing/2014/main" id="{5A8DA660-E0C6-4A49-89AE-A0A378677A85}"/>
              </a:ext>
            </a:extLst>
          </p:cNvPr>
          <p:cNvSpPr>
            <a:spLocks noChangeShapeType="1"/>
          </p:cNvSpPr>
          <p:nvPr/>
        </p:nvSpPr>
        <p:spPr bwMode="auto">
          <a:xfrm>
            <a:off x="4483100" y="2708275"/>
            <a:ext cx="1655762" cy="144463"/>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87">
            <a:extLst>
              <a:ext uri="{FF2B5EF4-FFF2-40B4-BE49-F238E27FC236}">
                <a16:creationId xmlns:a16="http://schemas.microsoft.com/office/drawing/2014/main" id="{9A8B0136-45F3-4ED5-BDCE-1AC065C7B34B}"/>
              </a:ext>
            </a:extLst>
          </p:cNvPr>
          <p:cNvSpPr>
            <a:spLocks noChangeShapeType="1"/>
          </p:cNvSpPr>
          <p:nvPr/>
        </p:nvSpPr>
        <p:spPr bwMode="auto">
          <a:xfrm>
            <a:off x="4483100" y="2708275"/>
            <a:ext cx="1655762" cy="295275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88">
            <a:extLst>
              <a:ext uri="{FF2B5EF4-FFF2-40B4-BE49-F238E27FC236}">
                <a16:creationId xmlns:a16="http://schemas.microsoft.com/office/drawing/2014/main" id="{EA38C326-A9D2-4AF3-9662-7924EFFD0A96}"/>
              </a:ext>
            </a:extLst>
          </p:cNvPr>
          <p:cNvSpPr>
            <a:spLocks noChangeShapeType="1"/>
          </p:cNvSpPr>
          <p:nvPr/>
        </p:nvSpPr>
        <p:spPr bwMode="auto">
          <a:xfrm flipV="1">
            <a:off x="4483100" y="2276475"/>
            <a:ext cx="1655762" cy="936625"/>
          </a:xfrm>
          <a:prstGeom prst="line">
            <a:avLst/>
          </a:prstGeom>
          <a:noFill/>
          <a:ln w="5715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89">
            <a:extLst>
              <a:ext uri="{FF2B5EF4-FFF2-40B4-BE49-F238E27FC236}">
                <a16:creationId xmlns:a16="http://schemas.microsoft.com/office/drawing/2014/main" id="{EEC5009A-0F6C-44F6-8C38-5A32DE778696}"/>
              </a:ext>
            </a:extLst>
          </p:cNvPr>
          <p:cNvSpPr>
            <a:spLocks noChangeShapeType="1"/>
          </p:cNvSpPr>
          <p:nvPr/>
        </p:nvSpPr>
        <p:spPr bwMode="auto">
          <a:xfrm flipV="1">
            <a:off x="4483100" y="2852738"/>
            <a:ext cx="1655762" cy="360362"/>
          </a:xfrm>
          <a:prstGeom prst="line">
            <a:avLst/>
          </a:prstGeom>
          <a:noFill/>
          <a:ln w="5715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90">
            <a:extLst>
              <a:ext uri="{FF2B5EF4-FFF2-40B4-BE49-F238E27FC236}">
                <a16:creationId xmlns:a16="http://schemas.microsoft.com/office/drawing/2014/main" id="{ECE4B259-E837-4AB5-B4B4-9B186D62D5C6}"/>
              </a:ext>
            </a:extLst>
          </p:cNvPr>
          <p:cNvSpPr>
            <a:spLocks noChangeShapeType="1"/>
          </p:cNvSpPr>
          <p:nvPr/>
        </p:nvSpPr>
        <p:spPr bwMode="auto">
          <a:xfrm>
            <a:off x="4483100" y="3213100"/>
            <a:ext cx="1655762" cy="2376488"/>
          </a:xfrm>
          <a:prstGeom prst="line">
            <a:avLst/>
          </a:prstGeom>
          <a:noFill/>
          <a:ln w="57150">
            <a:solidFill>
              <a:srgbClr val="FF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up)">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wipe(up)">
                                      <p:cBhvr>
                                        <p:cTn id="17" dur="500"/>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35"/>
                                        </p:tgtEl>
                                        <p:attrNameLst>
                                          <p:attrName>style.visibility</p:attrName>
                                        </p:attrNameLst>
                                      </p:cBhvr>
                                      <p:to>
                                        <p:strVal val="hidden"/>
                                      </p:to>
                                    </p:set>
                                  </p:childTnLst>
                                </p:cTn>
                              </p:par>
                            </p:childTnLst>
                          </p:cTn>
                        </p:par>
                        <p:par>
                          <p:cTn id="22" fill="hold">
                            <p:stCondLst>
                              <p:cond delay="0"/>
                            </p:stCondLst>
                            <p:childTnLst>
                              <p:par>
                                <p:cTn id="23" presetID="1" presetClass="exit" presetSubtype="0" fill="hold" grpId="1" nodeType="afterEffect">
                                  <p:stCondLst>
                                    <p:cond delay="0"/>
                                  </p:stCondLst>
                                  <p:childTnLst>
                                    <p:set>
                                      <p:cBhvr>
                                        <p:cTn id="24" dur="1" fill="hold">
                                          <p:stCondLst>
                                            <p:cond delay="0"/>
                                          </p:stCondLst>
                                        </p:cTn>
                                        <p:tgtEl>
                                          <p:spTgt spid="36"/>
                                        </p:tgtEl>
                                        <p:attrNameLst>
                                          <p:attrName>style.visibility</p:attrName>
                                        </p:attrNameLst>
                                      </p:cBhvr>
                                      <p:to>
                                        <p:strVal val="hidden"/>
                                      </p:to>
                                    </p:set>
                                  </p:childTnLst>
                                </p:cTn>
                              </p:par>
                            </p:childTnLst>
                          </p:cTn>
                        </p:par>
                        <p:par>
                          <p:cTn id="25" fill="hold">
                            <p:stCondLst>
                              <p:cond delay="0"/>
                            </p:stCondLst>
                            <p:childTnLst>
                              <p:par>
                                <p:cTn id="26" presetID="1" presetClass="exit" presetSubtype="0" fill="hold" grpId="1" nodeType="afterEffect">
                                  <p:stCondLst>
                                    <p:cond delay="0"/>
                                  </p:stCondLst>
                                  <p:childTnLst>
                                    <p:set>
                                      <p:cBhvr>
                                        <p:cTn id="27" dur="1" fill="hold">
                                          <p:stCondLst>
                                            <p:cond delay="0"/>
                                          </p:stCondLst>
                                        </p:cTn>
                                        <p:tgtEl>
                                          <p:spTgt spid="3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down)">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wipe(down)">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up)">
                                      <p:cBhvr>
                                        <p:cTn id="42" dur="500"/>
                                        <p:tgtEl>
                                          <p:spTgt spid="4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38"/>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39"/>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altLang="zh-CN"/>
              <a:t>9.1.2 </a:t>
            </a:r>
            <a:r>
              <a:rPr lang="zh-CN" altLang="en-US"/>
              <a:t>实现查询操作的算法示例</a:t>
            </a:r>
          </a:p>
        </p:txBody>
      </p:sp>
      <p:sp>
        <p:nvSpPr>
          <p:cNvPr id="84" name="灯片编号占位符 7"/>
          <p:cNvSpPr>
            <a:spLocks noGrp="1"/>
          </p:cNvSpPr>
          <p:nvPr>
            <p:ph type="sldNum" sz="quarter" idx="12"/>
          </p:nvPr>
        </p:nvSpPr>
        <p:spPr/>
        <p:txBody>
          <a:bodyPr/>
          <a:lstStyle/>
          <a:p>
            <a:fld id="{30868E95-55E3-4D45-B5E5-94324C80D4AC}" type="slidenum">
              <a:rPr lang="en-US" altLang="zh-CN" smtClean="0"/>
              <a:pPr/>
              <a:t>12</a:t>
            </a:fld>
            <a:endParaRPr lang="en-US" altLang="zh-CN"/>
          </a:p>
        </p:txBody>
      </p:sp>
      <p:sp>
        <p:nvSpPr>
          <p:cNvPr id="8" name="内容占位符 7">
            <a:extLst>
              <a:ext uri="{FF2B5EF4-FFF2-40B4-BE49-F238E27FC236}">
                <a16:creationId xmlns:a16="http://schemas.microsoft.com/office/drawing/2014/main" id="{68091B62-75A3-4EC1-9AFA-7CB2DB3D9C66}"/>
              </a:ext>
            </a:extLst>
          </p:cNvPr>
          <p:cNvSpPr>
            <a:spLocks noGrp="1"/>
          </p:cNvSpPr>
          <p:nvPr>
            <p:ph idx="1"/>
          </p:nvPr>
        </p:nvSpPr>
        <p:spPr/>
        <p:txBody>
          <a:bodyPr/>
          <a:lstStyle/>
          <a:p>
            <a:r>
              <a:rPr lang="en-US" altLang="zh-CN" dirty="0"/>
              <a:t>2</a:t>
            </a:r>
            <a:r>
              <a:rPr lang="zh-CN" altLang="en-US" dirty="0"/>
              <a:t>、排序合并方法</a:t>
            </a:r>
          </a:p>
          <a:p>
            <a:endParaRPr lang="zh-CN" altLang="en-US" dirty="0"/>
          </a:p>
        </p:txBody>
      </p:sp>
      <p:graphicFrame>
        <p:nvGraphicFramePr>
          <p:cNvPr id="24" name="Group 89">
            <a:extLst>
              <a:ext uri="{FF2B5EF4-FFF2-40B4-BE49-F238E27FC236}">
                <a16:creationId xmlns:a16="http://schemas.microsoft.com/office/drawing/2014/main" id="{5FE314BC-B085-47A2-89BD-A4F35AE0A411}"/>
              </a:ext>
            </a:extLst>
          </p:cNvPr>
          <p:cNvGraphicFramePr>
            <a:graphicFrameLocks/>
          </p:cNvGraphicFramePr>
          <p:nvPr>
            <p:extLst>
              <p:ext uri="{D42A27DB-BD31-4B8C-83A1-F6EECF244321}">
                <p14:modId xmlns:p14="http://schemas.microsoft.com/office/powerpoint/2010/main" val="2292065032"/>
              </p:ext>
            </p:extLst>
          </p:nvPr>
        </p:nvGraphicFramePr>
        <p:xfrm>
          <a:off x="1201737" y="2300288"/>
          <a:ext cx="2663825" cy="2144714"/>
        </p:xfrm>
        <a:graphic>
          <a:graphicData uri="http://schemas.openxmlformats.org/drawingml/2006/table">
            <a:tbl>
              <a:tblPr/>
              <a:tblGrid>
                <a:gridCol w="1944688">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2">
                  <a:extLst>
                    <a:ext uri="{9D8B030D-6E8A-4147-A177-3AD203B41FA5}">
                      <a16:colId xmlns:a16="http://schemas.microsoft.com/office/drawing/2014/main" val="20002"/>
                    </a:ext>
                  </a:extLst>
                </a:gridCol>
              </a:tblGrid>
              <a:tr h="5032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610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25" name="Group 36">
            <a:extLst>
              <a:ext uri="{FF2B5EF4-FFF2-40B4-BE49-F238E27FC236}">
                <a16:creationId xmlns:a16="http://schemas.microsoft.com/office/drawing/2014/main" id="{0254E74A-BA5E-4C7D-981D-49AEBCFE9167}"/>
              </a:ext>
            </a:extLst>
          </p:cNvPr>
          <p:cNvGraphicFramePr>
            <a:graphicFrameLocks/>
          </p:cNvGraphicFramePr>
          <p:nvPr>
            <p:extLst>
              <p:ext uri="{D42A27DB-BD31-4B8C-83A1-F6EECF244321}">
                <p14:modId xmlns:p14="http://schemas.microsoft.com/office/powerpoint/2010/main" val="2118233807"/>
              </p:ext>
            </p:extLst>
          </p:nvPr>
        </p:nvGraphicFramePr>
        <p:xfrm>
          <a:off x="4800600" y="2057400"/>
          <a:ext cx="4038600" cy="3657600"/>
        </p:xfrm>
        <a:graphic>
          <a:graphicData uri="http://schemas.openxmlformats.org/drawingml/2006/table">
            <a:tbl>
              <a:tblPr/>
              <a:tblGrid>
                <a:gridCol w="208915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438150">
                  <a:extLst>
                    <a:ext uri="{9D8B030D-6E8A-4147-A177-3AD203B41FA5}">
                      <a16:colId xmlns:a16="http://schemas.microsoft.com/office/drawing/2014/main" val="20003"/>
                    </a:ext>
                  </a:extLst>
                </a:gridCol>
              </a:tblGrid>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6" name="Text Box 83">
            <a:extLst>
              <a:ext uri="{FF2B5EF4-FFF2-40B4-BE49-F238E27FC236}">
                <a16:creationId xmlns:a16="http://schemas.microsoft.com/office/drawing/2014/main" id="{496A130C-4F1B-4E98-B2D9-DAF8B90DD75A}"/>
              </a:ext>
            </a:extLst>
          </p:cNvPr>
          <p:cNvSpPr txBox="1">
            <a:spLocks noChangeArrowheads="1"/>
          </p:cNvSpPr>
          <p:nvPr/>
        </p:nvSpPr>
        <p:spPr bwMode="auto">
          <a:xfrm>
            <a:off x="1787525" y="1912938"/>
            <a:ext cx="84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pitchFamily="2" charset="-122"/>
              </a:rPr>
              <a:t>SNO</a:t>
            </a:r>
          </a:p>
        </p:txBody>
      </p:sp>
      <p:sp>
        <p:nvSpPr>
          <p:cNvPr id="27" name="Text Box 84">
            <a:extLst>
              <a:ext uri="{FF2B5EF4-FFF2-40B4-BE49-F238E27FC236}">
                <a16:creationId xmlns:a16="http://schemas.microsoft.com/office/drawing/2014/main" id="{68226630-EB98-480B-BB67-1DAD3318B3BF}"/>
              </a:ext>
            </a:extLst>
          </p:cNvPr>
          <p:cNvSpPr txBox="1">
            <a:spLocks noChangeArrowheads="1"/>
          </p:cNvSpPr>
          <p:nvPr/>
        </p:nvSpPr>
        <p:spPr bwMode="auto">
          <a:xfrm>
            <a:off x="5521325" y="1671638"/>
            <a:ext cx="84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pitchFamily="2" charset="-122"/>
              </a:rPr>
              <a:t>SNO</a:t>
            </a:r>
          </a:p>
        </p:txBody>
      </p:sp>
      <p:sp>
        <p:nvSpPr>
          <p:cNvPr id="28" name="Text Box 85">
            <a:extLst>
              <a:ext uri="{FF2B5EF4-FFF2-40B4-BE49-F238E27FC236}">
                <a16:creationId xmlns:a16="http://schemas.microsoft.com/office/drawing/2014/main" id="{EA018D93-181F-4A0C-8984-100500DCC2D5}"/>
              </a:ext>
            </a:extLst>
          </p:cNvPr>
          <p:cNvSpPr txBox="1">
            <a:spLocks noChangeArrowheads="1"/>
          </p:cNvSpPr>
          <p:nvPr/>
        </p:nvSpPr>
        <p:spPr bwMode="auto">
          <a:xfrm>
            <a:off x="6891337" y="1671638"/>
            <a:ext cx="862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pitchFamily="2" charset="-122"/>
              </a:rPr>
              <a:t>CNO</a:t>
            </a:r>
          </a:p>
        </p:txBody>
      </p:sp>
      <p:sp>
        <p:nvSpPr>
          <p:cNvPr id="29" name="Line 90">
            <a:extLst>
              <a:ext uri="{FF2B5EF4-FFF2-40B4-BE49-F238E27FC236}">
                <a16:creationId xmlns:a16="http://schemas.microsoft.com/office/drawing/2014/main" id="{25AD5CA0-BB18-4DD9-8010-249BD9704AC2}"/>
              </a:ext>
            </a:extLst>
          </p:cNvPr>
          <p:cNvSpPr>
            <a:spLocks noChangeShapeType="1"/>
          </p:cNvSpPr>
          <p:nvPr/>
        </p:nvSpPr>
        <p:spPr bwMode="auto">
          <a:xfrm>
            <a:off x="768350" y="2560638"/>
            <a:ext cx="431800" cy="0"/>
          </a:xfrm>
          <a:prstGeom prst="line">
            <a:avLst/>
          </a:prstGeom>
          <a:noFill/>
          <a:ln w="571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91">
            <a:extLst>
              <a:ext uri="{FF2B5EF4-FFF2-40B4-BE49-F238E27FC236}">
                <a16:creationId xmlns:a16="http://schemas.microsoft.com/office/drawing/2014/main" id="{F1100091-0AC8-45FD-B5DB-8F216E081230}"/>
              </a:ext>
            </a:extLst>
          </p:cNvPr>
          <p:cNvSpPr>
            <a:spLocks noChangeShapeType="1"/>
          </p:cNvSpPr>
          <p:nvPr/>
        </p:nvSpPr>
        <p:spPr bwMode="auto">
          <a:xfrm>
            <a:off x="4657725" y="3497263"/>
            <a:ext cx="0" cy="863600"/>
          </a:xfrm>
          <a:prstGeom prst="line">
            <a:avLst/>
          </a:prstGeom>
          <a:noFill/>
          <a:ln w="571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92">
            <a:extLst>
              <a:ext uri="{FF2B5EF4-FFF2-40B4-BE49-F238E27FC236}">
                <a16:creationId xmlns:a16="http://schemas.microsoft.com/office/drawing/2014/main" id="{42A2B21B-38EE-4EBD-9586-4819C50D821B}"/>
              </a:ext>
            </a:extLst>
          </p:cNvPr>
          <p:cNvSpPr>
            <a:spLocks noChangeShapeType="1"/>
          </p:cNvSpPr>
          <p:nvPr/>
        </p:nvSpPr>
        <p:spPr bwMode="auto">
          <a:xfrm>
            <a:off x="768350" y="3065463"/>
            <a:ext cx="431800" cy="0"/>
          </a:xfrm>
          <a:prstGeom prst="line">
            <a:avLst/>
          </a:prstGeom>
          <a:noFill/>
          <a:ln w="571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93">
            <a:extLst>
              <a:ext uri="{FF2B5EF4-FFF2-40B4-BE49-F238E27FC236}">
                <a16:creationId xmlns:a16="http://schemas.microsoft.com/office/drawing/2014/main" id="{9B47FBB7-4607-4048-B898-6FD868B95C52}"/>
              </a:ext>
            </a:extLst>
          </p:cNvPr>
          <p:cNvSpPr>
            <a:spLocks noChangeShapeType="1"/>
          </p:cNvSpPr>
          <p:nvPr/>
        </p:nvSpPr>
        <p:spPr bwMode="auto">
          <a:xfrm>
            <a:off x="4657725" y="2057400"/>
            <a:ext cx="0" cy="1368425"/>
          </a:xfrm>
          <a:prstGeom prst="line">
            <a:avLst/>
          </a:prstGeom>
          <a:noFill/>
          <a:ln w="571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94">
            <a:extLst>
              <a:ext uri="{FF2B5EF4-FFF2-40B4-BE49-F238E27FC236}">
                <a16:creationId xmlns:a16="http://schemas.microsoft.com/office/drawing/2014/main" id="{A668AD69-890E-4576-B647-A0B50CDD61D5}"/>
              </a:ext>
            </a:extLst>
          </p:cNvPr>
          <p:cNvSpPr>
            <a:spLocks noChangeShapeType="1"/>
          </p:cNvSpPr>
          <p:nvPr/>
        </p:nvSpPr>
        <p:spPr bwMode="auto">
          <a:xfrm>
            <a:off x="768350" y="3641725"/>
            <a:ext cx="431800" cy="0"/>
          </a:xfrm>
          <a:prstGeom prst="line">
            <a:avLst/>
          </a:prstGeom>
          <a:noFill/>
          <a:ln w="571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95">
            <a:extLst>
              <a:ext uri="{FF2B5EF4-FFF2-40B4-BE49-F238E27FC236}">
                <a16:creationId xmlns:a16="http://schemas.microsoft.com/office/drawing/2014/main" id="{D9262D1D-EA34-4C9C-8205-DF85D1AF6A04}"/>
              </a:ext>
            </a:extLst>
          </p:cNvPr>
          <p:cNvSpPr>
            <a:spLocks noChangeShapeType="1"/>
          </p:cNvSpPr>
          <p:nvPr/>
        </p:nvSpPr>
        <p:spPr bwMode="auto">
          <a:xfrm>
            <a:off x="768350" y="4144963"/>
            <a:ext cx="431800" cy="0"/>
          </a:xfrm>
          <a:prstGeom prst="line">
            <a:avLst/>
          </a:prstGeom>
          <a:noFill/>
          <a:ln w="571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96">
            <a:extLst>
              <a:ext uri="{FF2B5EF4-FFF2-40B4-BE49-F238E27FC236}">
                <a16:creationId xmlns:a16="http://schemas.microsoft.com/office/drawing/2014/main" id="{9F06F795-39ED-4EE2-934F-7BDCF672BB78}"/>
              </a:ext>
            </a:extLst>
          </p:cNvPr>
          <p:cNvSpPr>
            <a:spLocks noChangeShapeType="1"/>
          </p:cNvSpPr>
          <p:nvPr/>
        </p:nvSpPr>
        <p:spPr bwMode="auto">
          <a:xfrm>
            <a:off x="4657725" y="4418013"/>
            <a:ext cx="0" cy="1368425"/>
          </a:xfrm>
          <a:prstGeom prst="line">
            <a:avLst/>
          </a:prstGeom>
          <a:noFill/>
          <a:ln w="5715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up)">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1" nodeType="clickEffect">
                                  <p:stCondLst>
                                    <p:cond delay="0"/>
                                  </p:stCondLst>
                                  <p:childTnLst>
                                    <p:set>
                                      <p:cBhvr>
                                        <p:cTn id="15" dur="1" fill="hold">
                                          <p:stCondLst>
                                            <p:cond delay="0"/>
                                          </p:stCondLst>
                                        </p:cTn>
                                        <p:tgtEl>
                                          <p:spTgt spid="29"/>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2"/>
                                        </p:tgtEl>
                                        <p:attrNameLst>
                                          <p:attrName>style.visibility</p:attrName>
                                        </p:attrNameLst>
                                      </p:cBhvr>
                                      <p:to>
                                        <p:strVal val="hidden"/>
                                      </p:to>
                                    </p:set>
                                  </p:childTnLst>
                                </p:cTn>
                              </p:par>
                            </p:childTnLst>
                          </p:cTn>
                        </p:par>
                        <p:par>
                          <p:cTn id="23" fill="hold">
                            <p:stCondLst>
                              <p:cond delay="0"/>
                            </p:stCondLst>
                            <p:childTnLst>
                              <p:par>
                                <p:cTn id="24" presetID="22" presetClass="entr" presetSubtype="1" fill="hold" grpId="0"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wipe(up)">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1"/>
                                        </p:tgtEl>
                                        <p:attrNameLst>
                                          <p:attrName>style.visibility</p:attrName>
                                        </p:attrNameLst>
                                      </p:cBhvr>
                                      <p:to>
                                        <p:strVal val="hidden"/>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3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33"/>
                                        </p:tgtEl>
                                        <p:attrNameLst>
                                          <p:attrName>style.visibility</p:attrName>
                                        </p:attrNameLst>
                                      </p:cBhvr>
                                      <p:to>
                                        <p:strVal val="hidden"/>
                                      </p:to>
                                    </p:set>
                                  </p:childTnLst>
                                </p:cTn>
                              </p:par>
                            </p:childTnLst>
                          </p:cTn>
                        </p:par>
                        <p:par>
                          <p:cTn id="38" fill="hold">
                            <p:stCondLst>
                              <p:cond delay="0"/>
                            </p:stCondLst>
                            <p:childTnLst>
                              <p:par>
                                <p:cTn id="39" presetID="1"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30"/>
                                        </p:tgtEl>
                                        <p:attrNameLst>
                                          <p:attrName>style.visibility</p:attrName>
                                        </p:attrNameLst>
                                      </p:cBhvr>
                                      <p:to>
                                        <p:strVal val="hidden"/>
                                      </p:to>
                                    </p:set>
                                  </p:childTnLst>
                                </p:cTn>
                              </p:par>
                            </p:childTnLst>
                          </p:cTn>
                        </p:par>
                        <p:par>
                          <p:cTn id="45" fill="hold">
                            <p:stCondLst>
                              <p:cond delay="0"/>
                            </p:stCondLst>
                            <p:childTnLst>
                              <p:par>
                                <p:cTn id="46" presetID="22" presetClass="entr" presetSubtype="1" fill="hold" grpId="0" nodeType="after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wipe(up)">
                                      <p:cBhvr>
                                        <p:cTn id="4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altLang="zh-CN"/>
              <a:t>9.1.2 </a:t>
            </a:r>
            <a:r>
              <a:rPr lang="zh-CN" altLang="en-US"/>
              <a:t>实现查询操作的算法示例</a:t>
            </a:r>
          </a:p>
        </p:txBody>
      </p:sp>
      <p:sp>
        <p:nvSpPr>
          <p:cNvPr id="84" name="灯片编号占位符 7"/>
          <p:cNvSpPr>
            <a:spLocks noGrp="1"/>
          </p:cNvSpPr>
          <p:nvPr>
            <p:ph type="sldNum" sz="quarter" idx="12"/>
          </p:nvPr>
        </p:nvSpPr>
        <p:spPr/>
        <p:txBody>
          <a:bodyPr/>
          <a:lstStyle/>
          <a:p>
            <a:fld id="{30868E95-55E3-4D45-B5E5-94324C80D4AC}" type="slidenum">
              <a:rPr lang="en-US" altLang="zh-CN" smtClean="0"/>
              <a:pPr/>
              <a:t>13</a:t>
            </a:fld>
            <a:endParaRPr lang="en-US" altLang="zh-CN"/>
          </a:p>
        </p:txBody>
      </p:sp>
      <p:sp>
        <p:nvSpPr>
          <p:cNvPr id="8" name="内容占位符 7">
            <a:extLst>
              <a:ext uri="{FF2B5EF4-FFF2-40B4-BE49-F238E27FC236}">
                <a16:creationId xmlns:a16="http://schemas.microsoft.com/office/drawing/2014/main" id="{68091B62-75A3-4EC1-9AFA-7CB2DB3D9C66}"/>
              </a:ext>
            </a:extLst>
          </p:cNvPr>
          <p:cNvSpPr>
            <a:spLocks noGrp="1"/>
          </p:cNvSpPr>
          <p:nvPr>
            <p:ph idx="1"/>
          </p:nvPr>
        </p:nvSpPr>
        <p:spPr/>
        <p:txBody>
          <a:bodyPr/>
          <a:lstStyle/>
          <a:p>
            <a:pPr algn="just"/>
            <a:r>
              <a:rPr lang="en-US" altLang="zh-CN" dirty="0"/>
              <a:t>3</a:t>
            </a:r>
            <a:r>
              <a:rPr lang="zh-CN" altLang="en-US" dirty="0"/>
              <a:t>、索引连接方法</a:t>
            </a:r>
          </a:p>
          <a:p>
            <a:endParaRPr lang="zh-CN" altLang="en-US" dirty="0"/>
          </a:p>
        </p:txBody>
      </p:sp>
      <p:graphicFrame>
        <p:nvGraphicFramePr>
          <p:cNvPr id="5" name="Group 4">
            <a:extLst>
              <a:ext uri="{FF2B5EF4-FFF2-40B4-BE49-F238E27FC236}">
                <a16:creationId xmlns:a16="http://schemas.microsoft.com/office/drawing/2014/main" id="{B77A97CC-DD07-46B3-A70B-D6C10532860F}"/>
              </a:ext>
            </a:extLst>
          </p:cNvPr>
          <p:cNvGraphicFramePr>
            <a:graphicFrameLocks/>
          </p:cNvGraphicFramePr>
          <p:nvPr>
            <p:extLst>
              <p:ext uri="{D42A27DB-BD31-4B8C-83A1-F6EECF244321}">
                <p14:modId xmlns:p14="http://schemas.microsoft.com/office/powerpoint/2010/main" val="2857178293"/>
              </p:ext>
            </p:extLst>
          </p:nvPr>
        </p:nvGraphicFramePr>
        <p:xfrm>
          <a:off x="1058863" y="3033712"/>
          <a:ext cx="3455987" cy="2144714"/>
        </p:xfrm>
        <a:graphic>
          <a:graphicData uri="http://schemas.openxmlformats.org/drawingml/2006/table">
            <a:tbl>
              <a:tblPr/>
              <a:tblGrid>
                <a:gridCol w="1944687">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3">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360362">
                  <a:extLst>
                    <a:ext uri="{9D8B030D-6E8A-4147-A177-3AD203B41FA5}">
                      <a16:colId xmlns:a16="http://schemas.microsoft.com/office/drawing/2014/main" val="20004"/>
                    </a:ext>
                  </a:extLst>
                </a:gridCol>
              </a:tblGrid>
              <a:tr h="5032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610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6" name="Group 36">
            <a:extLst>
              <a:ext uri="{FF2B5EF4-FFF2-40B4-BE49-F238E27FC236}">
                <a16:creationId xmlns:a16="http://schemas.microsoft.com/office/drawing/2014/main" id="{55E47F9C-2B16-4161-816A-A81E0A9C44DB}"/>
              </a:ext>
            </a:extLst>
          </p:cNvPr>
          <p:cNvGraphicFramePr>
            <a:graphicFrameLocks/>
          </p:cNvGraphicFramePr>
          <p:nvPr>
            <p:extLst>
              <p:ext uri="{D42A27DB-BD31-4B8C-83A1-F6EECF244321}">
                <p14:modId xmlns:p14="http://schemas.microsoft.com/office/powerpoint/2010/main" val="1226634014"/>
              </p:ext>
            </p:extLst>
          </p:nvPr>
        </p:nvGraphicFramePr>
        <p:xfrm>
          <a:off x="5791200" y="1905000"/>
          <a:ext cx="4038600" cy="3657600"/>
        </p:xfrm>
        <a:graphic>
          <a:graphicData uri="http://schemas.openxmlformats.org/drawingml/2006/table">
            <a:tbl>
              <a:tblPr/>
              <a:tblGrid>
                <a:gridCol w="2089150">
                  <a:extLst>
                    <a:ext uri="{9D8B030D-6E8A-4147-A177-3AD203B41FA5}">
                      <a16:colId xmlns:a16="http://schemas.microsoft.com/office/drawing/2014/main" val="20000"/>
                    </a:ext>
                  </a:extLst>
                </a:gridCol>
                <a:gridCol w="86360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438150">
                  <a:extLst>
                    <a:ext uri="{9D8B030D-6E8A-4147-A177-3AD203B41FA5}">
                      <a16:colId xmlns:a16="http://schemas.microsoft.com/office/drawing/2014/main" val="20003"/>
                    </a:ext>
                  </a:extLst>
                </a:gridCol>
              </a:tblGrid>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3050">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7" name="Text Box 83">
            <a:extLst>
              <a:ext uri="{FF2B5EF4-FFF2-40B4-BE49-F238E27FC236}">
                <a16:creationId xmlns:a16="http://schemas.microsoft.com/office/drawing/2014/main" id="{39A00249-14A9-4238-96D2-24317C4CFB8E}"/>
              </a:ext>
            </a:extLst>
          </p:cNvPr>
          <p:cNvSpPr txBox="1">
            <a:spLocks noChangeArrowheads="1"/>
          </p:cNvSpPr>
          <p:nvPr/>
        </p:nvSpPr>
        <p:spPr bwMode="auto">
          <a:xfrm>
            <a:off x="1916113" y="2632075"/>
            <a:ext cx="84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pitchFamily="2" charset="-122"/>
              </a:rPr>
              <a:t>SNO</a:t>
            </a:r>
          </a:p>
        </p:txBody>
      </p:sp>
      <p:sp>
        <p:nvSpPr>
          <p:cNvPr id="9" name="Text Box 84">
            <a:extLst>
              <a:ext uri="{FF2B5EF4-FFF2-40B4-BE49-F238E27FC236}">
                <a16:creationId xmlns:a16="http://schemas.microsoft.com/office/drawing/2014/main" id="{3F77F602-B737-40A0-A2B9-EAC8EDD571A2}"/>
              </a:ext>
            </a:extLst>
          </p:cNvPr>
          <p:cNvSpPr txBox="1">
            <a:spLocks noChangeArrowheads="1"/>
          </p:cNvSpPr>
          <p:nvPr/>
        </p:nvSpPr>
        <p:spPr bwMode="auto">
          <a:xfrm>
            <a:off x="6345238" y="1404937"/>
            <a:ext cx="84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pitchFamily="2" charset="-122"/>
              </a:rPr>
              <a:t>SNO</a:t>
            </a:r>
          </a:p>
        </p:txBody>
      </p:sp>
      <p:sp>
        <p:nvSpPr>
          <p:cNvPr id="10" name="Text Box 85">
            <a:extLst>
              <a:ext uri="{FF2B5EF4-FFF2-40B4-BE49-F238E27FC236}">
                <a16:creationId xmlns:a16="http://schemas.microsoft.com/office/drawing/2014/main" id="{1760F59D-2A20-4D7A-9541-587D20D6EE66}"/>
              </a:ext>
            </a:extLst>
          </p:cNvPr>
          <p:cNvSpPr txBox="1">
            <a:spLocks noChangeArrowheads="1"/>
          </p:cNvSpPr>
          <p:nvPr/>
        </p:nvSpPr>
        <p:spPr bwMode="auto">
          <a:xfrm>
            <a:off x="7856538" y="1404937"/>
            <a:ext cx="862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ea typeface="宋体" pitchFamily="2" charset="-122"/>
              </a:rPr>
              <a:t>CNO</a:t>
            </a:r>
          </a:p>
        </p:txBody>
      </p:sp>
      <p:sp>
        <p:nvSpPr>
          <p:cNvPr id="11" name="Rectangle 86">
            <a:extLst>
              <a:ext uri="{FF2B5EF4-FFF2-40B4-BE49-F238E27FC236}">
                <a16:creationId xmlns:a16="http://schemas.microsoft.com/office/drawing/2014/main" id="{DE0CD0A9-FA6C-4C93-8AFF-994A006F972A}"/>
              </a:ext>
            </a:extLst>
          </p:cNvPr>
          <p:cNvSpPr>
            <a:spLocks noChangeArrowheads="1"/>
          </p:cNvSpPr>
          <p:nvPr/>
        </p:nvSpPr>
        <p:spPr bwMode="auto">
          <a:xfrm>
            <a:off x="3716338" y="2120900"/>
            <a:ext cx="1512887" cy="576262"/>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a:latin typeface="Verdana" pitchFamily="34" charset="0"/>
              </a:rPr>
              <a:t>索引表</a:t>
            </a:r>
          </a:p>
        </p:txBody>
      </p:sp>
      <p:sp>
        <p:nvSpPr>
          <p:cNvPr id="12" name="AutoShape 87">
            <a:extLst>
              <a:ext uri="{FF2B5EF4-FFF2-40B4-BE49-F238E27FC236}">
                <a16:creationId xmlns:a16="http://schemas.microsoft.com/office/drawing/2014/main" id="{83930279-777B-4381-9833-3ADCDE667066}"/>
              </a:ext>
            </a:extLst>
          </p:cNvPr>
          <p:cNvSpPr>
            <a:spLocks noChangeArrowheads="1"/>
          </p:cNvSpPr>
          <p:nvPr/>
        </p:nvSpPr>
        <p:spPr bwMode="auto">
          <a:xfrm>
            <a:off x="4364038" y="2700337"/>
            <a:ext cx="576262" cy="642938"/>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AutoShape 88">
            <a:extLst>
              <a:ext uri="{FF2B5EF4-FFF2-40B4-BE49-F238E27FC236}">
                <a16:creationId xmlns:a16="http://schemas.microsoft.com/office/drawing/2014/main" id="{24B94A02-9BAF-415F-9FAF-F0F9EFD11AB4}"/>
              </a:ext>
            </a:extLst>
          </p:cNvPr>
          <p:cNvSpPr>
            <a:spLocks noChangeArrowheads="1"/>
          </p:cNvSpPr>
          <p:nvPr/>
        </p:nvSpPr>
        <p:spPr bwMode="auto">
          <a:xfrm rot="415091" flipV="1">
            <a:off x="4940300" y="2344737"/>
            <a:ext cx="862013" cy="287338"/>
          </a:xfrm>
          <a:prstGeom prst="rightArrow">
            <a:avLst>
              <a:gd name="adj1" fmla="val 50000"/>
              <a:gd name="adj2" fmla="val 75000"/>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AutoShape 89">
            <a:extLst>
              <a:ext uri="{FF2B5EF4-FFF2-40B4-BE49-F238E27FC236}">
                <a16:creationId xmlns:a16="http://schemas.microsoft.com/office/drawing/2014/main" id="{1C2C1412-1D24-4D47-BF5E-27DB8EDF2FE1}"/>
              </a:ext>
            </a:extLst>
          </p:cNvPr>
          <p:cNvSpPr>
            <a:spLocks noChangeArrowheads="1"/>
          </p:cNvSpPr>
          <p:nvPr/>
        </p:nvSpPr>
        <p:spPr bwMode="auto">
          <a:xfrm rot="2386097" flipV="1">
            <a:off x="4911725" y="2695575"/>
            <a:ext cx="1006475" cy="288925"/>
          </a:xfrm>
          <a:prstGeom prst="rightArrow">
            <a:avLst>
              <a:gd name="adj1" fmla="val 50000"/>
              <a:gd name="adj2" fmla="val 87088"/>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AutoShape 90">
            <a:extLst>
              <a:ext uri="{FF2B5EF4-FFF2-40B4-BE49-F238E27FC236}">
                <a16:creationId xmlns:a16="http://schemas.microsoft.com/office/drawing/2014/main" id="{2DBDB901-5C69-4053-A61F-C454B1AA1C0F}"/>
              </a:ext>
            </a:extLst>
          </p:cNvPr>
          <p:cNvSpPr>
            <a:spLocks noChangeArrowheads="1"/>
          </p:cNvSpPr>
          <p:nvPr/>
        </p:nvSpPr>
        <p:spPr bwMode="auto">
          <a:xfrm rot="-27885007" flipH="1" flipV="1">
            <a:off x="3868738" y="3857625"/>
            <a:ext cx="3067050" cy="228600"/>
          </a:xfrm>
          <a:prstGeom prst="rightArrow">
            <a:avLst>
              <a:gd name="adj1" fmla="val 50000"/>
              <a:gd name="adj2" fmla="val 335417"/>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2741749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altLang="zh-CN"/>
              <a:t>9.1.2 </a:t>
            </a:r>
            <a:r>
              <a:rPr lang="zh-CN" altLang="en-US"/>
              <a:t>实现查询操作的算法示例</a:t>
            </a:r>
          </a:p>
        </p:txBody>
      </p:sp>
      <p:sp>
        <p:nvSpPr>
          <p:cNvPr id="8" name="内容占位符 7">
            <a:extLst>
              <a:ext uri="{FF2B5EF4-FFF2-40B4-BE49-F238E27FC236}">
                <a16:creationId xmlns:a16="http://schemas.microsoft.com/office/drawing/2014/main" id="{68091B62-75A3-4EC1-9AFA-7CB2DB3D9C66}"/>
              </a:ext>
            </a:extLst>
          </p:cNvPr>
          <p:cNvSpPr>
            <a:spLocks noGrp="1"/>
          </p:cNvSpPr>
          <p:nvPr>
            <p:ph idx="1"/>
          </p:nvPr>
        </p:nvSpPr>
        <p:spPr/>
        <p:txBody>
          <a:bodyPr/>
          <a:lstStyle/>
          <a:p>
            <a:r>
              <a:rPr lang="en-US" altLang="zh-CN" dirty="0"/>
              <a:t>4</a:t>
            </a:r>
            <a:r>
              <a:rPr lang="zh-CN" altLang="en-US" dirty="0"/>
              <a:t>、</a:t>
            </a:r>
            <a:r>
              <a:rPr lang="en-US" altLang="zh-CN" dirty="0"/>
              <a:t>Hash Join</a:t>
            </a:r>
            <a:r>
              <a:rPr lang="zh-CN" altLang="en-US" dirty="0"/>
              <a:t>方法</a:t>
            </a:r>
          </a:p>
          <a:p>
            <a:endParaRPr lang="zh-CN" altLang="en-US" dirty="0"/>
          </a:p>
        </p:txBody>
      </p:sp>
      <p:sp>
        <p:nvSpPr>
          <p:cNvPr id="84" name="灯片编号占位符 7"/>
          <p:cNvSpPr>
            <a:spLocks noGrp="1"/>
          </p:cNvSpPr>
          <p:nvPr>
            <p:ph type="sldNum" sz="quarter" idx="12"/>
          </p:nvPr>
        </p:nvSpPr>
        <p:spPr/>
        <p:txBody>
          <a:bodyPr/>
          <a:lstStyle/>
          <a:p>
            <a:fld id="{30868E95-55E3-4D45-B5E5-94324C80D4AC}" type="slidenum">
              <a:rPr lang="en-US" altLang="zh-CN" smtClean="0"/>
              <a:pPr/>
              <a:t>14</a:t>
            </a:fld>
            <a:endParaRPr lang="en-US" altLang="zh-CN"/>
          </a:p>
        </p:txBody>
      </p:sp>
      <p:graphicFrame>
        <p:nvGraphicFramePr>
          <p:cNvPr id="91" name="Group 4">
            <a:extLst>
              <a:ext uri="{FF2B5EF4-FFF2-40B4-BE49-F238E27FC236}">
                <a16:creationId xmlns:a16="http://schemas.microsoft.com/office/drawing/2014/main" id="{D1A202A4-C0C8-46EF-B386-96479AEB8F97}"/>
              </a:ext>
            </a:extLst>
          </p:cNvPr>
          <p:cNvGraphicFramePr>
            <a:graphicFrameLocks/>
          </p:cNvGraphicFramePr>
          <p:nvPr>
            <p:extLst>
              <p:ext uri="{D42A27DB-BD31-4B8C-83A1-F6EECF244321}">
                <p14:modId xmlns:p14="http://schemas.microsoft.com/office/powerpoint/2010/main" val="3407065092"/>
              </p:ext>
            </p:extLst>
          </p:nvPr>
        </p:nvGraphicFramePr>
        <p:xfrm>
          <a:off x="3454400" y="2246312"/>
          <a:ext cx="3455987" cy="2143127"/>
        </p:xfrm>
        <a:graphic>
          <a:graphicData uri="http://schemas.openxmlformats.org/drawingml/2006/table">
            <a:tbl>
              <a:tblPr/>
              <a:tblGrid>
                <a:gridCol w="1944687">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3">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360362">
                  <a:extLst>
                    <a:ext uri="{9D8B030D-6E8A-4147-A177-3AD203B41FA5}">
                      <a16:colId xmlns:a16="http://schemas.microsoft.com/office/drawing/2014/main" val="20004"/>
                    </a:ext>
                  </a:extLst>
                </a:gridCol>
              </a:tblGrid>
              <a:tr h="50323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4513">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7688">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r>
                        <a:rPr kumimoji="0" lang="en-US" altLang="zh-CN" sz="2400" b="1" i="0" u="none" strike="noStrike" cap="none" normalizeH="0" baseline="0">
                          <a:ln>
                            <a:noFill/>
                          </a:ln>
                          <a:solidFill>
                            <a:schemeClr val="tx1"/>
                          </a:solidFill>
                          <a:effectLst/>
                          <a:latin typeface="Arial" charset="0"/>
                          <a:ea typeface="楷体_GB2312" pitchFamily="49" charset="-122"/>
                        </a:rPr>
                        <a:t>200215124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3333FF"/>
                        </a:buClr>
                        <a:buSzPct val="75000"/>
                        <a:buFont typeface="Wingdings" pitchFamily="2" charset="2"/>
                        <a:buNone/>
                        <a:tabLst/>
                      </a:pPr>
                      <a:endParaRPr kumimoji="0" lang="zh-CN" altLang="zh-CN" sz="2400" b="1" i="0" u="none" strike="noStrike" cap="none" normalizeH="0" baseline="0">
                        <a:ln>
                          <a:noFill/>
                        </a:ln>
                        <a:solidFill>
                          <a:schemeClr val="tx1"/>
                        </a:solidFill>
                        <a:effectLst/>
                        <a:latin typeface="Arial"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2" name="Rectangle 36">
            <a:extLst>
              <a:ext uri="{FF2B5EF4-FFF2-40B4-BE49-F238E27FC236}">
                <a16:creationId xmlns:a16="http://schemas.microsoft.com/office/drawing/2014/main" id="{3E328433-21A6-41A5-938C-F99DA5FDF151}"/>
              </a:ext>
            </a:extLst>
          </p:cNvPr>
          <p:cNvSpPr>
            <a:spLocks noChangeArrowheads="1"/>
          </p:cNvSpPr>
          <p:nvPr/>
        </p:nvSpPr>
        <p:spPr bwMode="auto">
          <a:xfrm>
            <a:off x="11220450" y="4941887"/>
            <a:ext cx="438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93" name="Rectangle 37">
            <a:extLst>
              <a:ext uri="{FF2B5EF4-FFF2-40B4-BE49-F238E27FC236}">
                <a16:creationId xmlns:a16="http://schemas.microsoft.com/office/drawing/2014/main" id="{92808F89-3473-4095-836B-A6D865A772F3}"/>
              </a:ext>
            </a:extLst>
          </p:cNvPr>
          <p:cNvSpPr>
            <a:spLocks noChangeArrowheads="1"/>
          </p:cNvSpPr>
          <p:nvPr/>
        </p:nvSpPr>
        <p:spPr bwMode="auto">
          <a:xfrm>
            <a:off x="10572750" y="4941887"/>
            <a:ext cx="6477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94" name="Rectangle 38">
            <a:extLst>
              <a:ext uri="{FF2B5EF4-FFF2-40B4-BE49-F238E27FC236}">
                <a16:creationId xmlns:a16="http://schemas.microsoft.com/office/drawing/2014/main" id="{3580937E-A66E-43D1-AD6D-609ACD823F69}"/>
              </a:ext>
            </a:extLst>
          </p:cNvPr>
          <p:cNvSpPr>
            <a:spLocks noChangeArrowheads="1"/>
          </p:cNvSpPr>
          <p:nvPr/>
        </p:nvSpPr>
        <p:spPr bwMode="auto">
          <a:xfrm>
            <a:off x="9709150" y="4941887"/>
            <a:ext cx="8636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1</a:t>
            </a:r>
          </a:p>
        </p:txBody>
      </p:sp>
      <p:sp>
        <p:nvSpPr>
          <p:cNvPr id="95" name="Rectangle 39">
            <a:extLst>
              <a:ext uri="{FF2B5EF4-FFF2-40B4-BE49-F238E27FC236}">
                <a16:creationId xmlns:a16="http://schemas.microsoft.com/office/drawing/2014/main" id="{28D8D5DF-43F1-4A4D-8D4F-B8EAE799344D}"/>
              </a:ext>
            </a:extLst>
          </p:cNvPr>
          <p:cNvSpPr>
            <a:spLocks noChangeArrowheads="1"/>
          </p:cNvSpPr>
          <p:nvPr/>
        </p:nvSpPr>
        <p:spPr bwMode="auto">
          <a:xfrm>
            <a:off x="7620000" y="4941887"/>
            <a:ext cx="2089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200215123</a:t>
            </a:r>
          </a:p>
        </p:txBody>
      </p:sp>
      <p:sp>
        <p:nvSpPr>
          <p:cNvPr id="96" name="Rectangle 40">
            <a:extLst>
              <a:ext uri="{FF2B5EF4-FFF2-40B4-BE49-F238E27FC236}">
                <a16:creationId xmlns:a16="http://schemas.microsoft.com/office/drawing/2014/main" id="{FB820193-B3C9-45E5-9C3F-6A86F2ECBA60}"/>
              </a:ext>
            </a:extLst>
          </p:cNvPr>
          <p:cNvSpPr>
            <a:spLocks noChangeArrowheads="1"/>
          </p:cNvSpPr>
          <p:nvPr/>
        </p:nvSpPr>
        <p:spPr bwMode="auto">
          <a:xfrm>
            <a:off x="11220450" y="4486275"/>
            <a:ext cx="43815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97" name="Rectangle 41">
            <a:extLst>
              <a:ext uri="{FF2B5EF4-FFF2-40B4-BE49-F238E27FC236}">
                <a16:creationId xmlns:a16="http://schemas.microsoft.com/office/drawing/2014/main" id="{F40DDE0D-FA06-444E-A860-761E62367517}"/>
              </a:ext>
            </a:extLst>
          </p:cNvPr>
          <p:cNvSpPr>
            <a:spLocks noChangeArrowheads="1"/>
          </p:cNvSpPr>
          <p:nvPr/>
        </p:nvSpPr>
        <p:spPr bwMode="auto">
          <a:xfrm>
            <a:off x="10572750" y="4486275"/>
            <a:ext cx="6477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98" name="Rectangle 42">
            <a:extLst>
              <a:ext uri="{FF2B5EF4-FFF2-40B4-BE49-F238E27FC236}">
                <a16:creationId xmlns:a16="http://schemas.microsoft.com/office/drawing/2014/main" id="{83196299-9B4F-4D3D-8DBA-459D2C2A121C}"/>
              </a:ext>
            </a:extLst>
          </p:cNvPr>
          <p:cNvSpPr>
            <a:spLocks noChangeArrowheads="1"/>
          </p:cNvSpPr>
          <p:nvPr/>
        </p:nvSpPr>
        <p:spPr bwMode="auto">
          <a:xfrm>
            <a:off x="9709150" y="4486275"/>
            <a:ext cx="8636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3</a:t>
            </a:r>
          </a:p>
        </p:txBody>
      </p:sp>
      <p:sp>
        <p:nvSpPr>
          <p:cNvPr id="99" name="Rectangle 43">
            <a:extLst>
              <a:ext uri="{FF2B5EF4-FFF2-40B4-BE49-F238E27FC236}">
                <a16:creationId xmlns:a16="http://schemas.microsoft.com/office/drawing/2014/main" id="{0DF109A2-6B24-4FB8-9FB1-EA8EC4ADFA31}"/>
              </a:ext>
            </a:extLst>
          </p:cNvPr>
          <p:cNvSpPr>
            <a:spLocks noChangeArrowheads="1"/>
          </p:cNvSpPr>
          <p:nvPr/>
        </p:nvSpPr>
        <p:spPr bwMode="auto">
          <a:xfrm>
            <a:off x="7620000" y="4486275"/>
            <a:ext cx="208915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200215122</a:t>
            </a:r>
          </a:p>
        </p:txBody>
      </p:sp>
      <p:sp>
        <p:nvSpPr>
          <p:cNvPr id="100" name="Rectangle 44">
            <a:extLst>
              <a:ext uri="{FF2B5EF4-FFF2-40B4-BE49-F238E27FC236}">
                <a16:creationId xmlns:a16="http://schemas.microsoft.com/office/drawing/2014/main" id="{B7BED8CB-88A5-47D4-BA58-0F29B011426C}"/>
              </a:ext>
            </a:extLst>
          </p:cNvPr>
          <p:cNvSpPr>
            <a:spLocks noChangeArrowheads="1"/>
          </p:cNvSpPr>
          <p:nvPr/>
        </p:nvSpPr>
        <p:spPr bwMode="auto">
          <a:xfrm>
            <a:off x="11220450" y="4030662"/>
            <a:ext cx="438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01" name="Rectangle 45">
            <a:extLst>
              <a:ext uri="{FF2B5EF4-FFF2-40B4-BE49-F238E27FC236}">
                <a16:creationId xmlns:a16="http://schemas.microsoft.com/office/drawing/2014/main" id="{31E7C3D2-67EC-46D9-870B-948FC077076D}"/>
              </a:ext>
            </a:extLst>
          </p:cNvPr>
          <p:cNvSpPr>
            <a:spLocks noChangeArrowheads="1"/>
          </p:cNvSpPr>
          <p:nvPr/>
        </p:nvSpPr>
        <p:spPr bwMode="auto">
          <a:xfrm>
            <a:off x="10572750" y="4030662"/>
            <a:ext cx="6477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02" name="Rectangle 46">
            <a:extLst>
              <a:ext uri="{FF2B5EF4-FFF2-40B4-BE49-F238E27FC236}">
                <a16:creationId xmlns:a16="http://schemas.microsoft.com/office/drawing/2014/main" id="{6F7038D2-237D-4DE9-A5F8-29ACFA733C45}"/>
              </a:ext>
            </a:extLst>
          </p:cNvPr>
          <p:cNvSpPr>
            <a:spLocks noChangeArrowheads="1"/>
          </p:cNvSpPr>
          <p:nvPr/>
        </p:nvSpPr>
        <p:spPr bwMode="auto">
          <a:xfrm>
            <a:off x="9709150" y="4030662"/>
            <a:ext cx="8636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5</a:t>
            </a:r>
          </a:p>
        </p:txBody>
      </p:sp>
      <p:sp>
        <p:nvSpPr>
          <p:cNvPr id="103" name="Rectangle 47">
            <a:extLst>
              <a:ext uri="{FF2B5EF4-FFF2-40B4-BE49-F238E27FC236}">
                <a16:creationId xmlns:a16="http://schemas.microsoft.com/office/drawing/2014/main" id="{D5BFB242-1E5C-4AC7-9425-2ACE04949F72}"/>
              </a:ext>
            </a:extLst>
          </p:cNvPr>
          <p:cNvSpPr>
            <a:spLocks noChangeArrowheads="1"/>
          </p:cNvSpPr>
          <p:nvPr/>
        </p:nvSpPr>
        <p:spPr bwMode="auto">
          <a:xfrm>
            <a:off x="7620000" y="4030662"/>
            <a:ext cx="2089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200215121</a:t>
            </a:r>
          </a:p>
        </p:txBody>
      </p:sp>
      <p:sp>
        <p:nvSpPr>
          <p:cNvPr id="104" name="Rectangle 48">
            <a:extLst>
              <a:ext uri="{FF2B5EF4-FFF2-40B4-BE49-F238E27FC236}">
                <a16:creationId xmlns:a16="http://schemas.microsoft.com/office/drawing/2014/main" id="{0F590DBA-E9A0-47C7-A3B9-66BB94585006}"/>
              </a:ext>
            </a:extLst>
          </p:cNvPr>
          <p:cNvSpPr>
            <a:spLocks noChangeArrowheads="1"/>
          </p:cNvSpPr>
          <p:nvPr/>
        </p:nvSpPr>
        <p:spPr bwMode="auto">
          <a:xfrm>
            <a:off x="11220450" y="3575050"/>
            <a:ext cx="43815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05" name="Rectangle 49">
            <a:extLst>
              <a:ext uri="{FF2B5EF4-FFF2-40B4-BE49-F238E27FC236}">
                <a16:creationId xmlns:a16="http://schemas.microsoft.com/office/drawing/2014/main" id="{24028AAC-877A-4E32-ABE2-1BF5C45E10A4}"/>
              </a:ext>
            </a:extLst>
          </p:cNvPr>
          <p:cNvSpPr>
            <a:spLocks noChangeArrowheads="1"/>
          </p:cNvSpPr>
          <p:nvPr/>
        </p:nvSpPr>
        <p:spPr bwMode="auto">
          <a:xfrm>
            <a:off x="10572750" y="3575050"/>
            <a:ext cx="6477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06" name="Rectangle 50">
            <a:extLst>
              <a:ext uri="{FF2B5EF4-FFF2-40B4-BE49-F238E27FC236}">
                <a16:creationId xmlns:a16="http://schemas.microsoft.com/office/drawing/2014/main" id="{E2509792-70CB-48C3-A002-D99B0AEFFAC7}"/>
              </a:ext>
            </a:extLst>
          </p:cNvPr>
          <p:cNvSpPr>
            <a:spLocks noChangeArrowheads="1"/>
          </p:cNvSpPr>
          <p:nvPr/>
        </p:nvSpPr>
        <p:spPr bwMode="auto">
          <a:xfrm>
            <a:off x="9709150" y="3575050"/>
            <a:ext cx="8636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3</a:t>
            </a:r>
          </a:p>
        </p:txBody>
      </p:sp>
      <p:sp>
        <p:nvSpPr>
          <p:cNvPr id="107" name="Rectangle 51">
            <a:extLst>
              <a:ext uri="{FF2B5EF4-FFF2-40B4-BE49-F238E27FC236}">
                <a16:creationId xmlns:a16="http://schemas.microsoft.com/office/drawing/2014/main" id="{E3673884-8FBB-4C28-B599-E52A2F1EE437}"/>
              </a:ext>
            </a:extLst>
          </p:cNvPr>
          <p:cNvSpPr>
            <a:spLocks noChangeArrowheads="1"/>
          </p:cNvSpPr>
          <p:nvPr/>
        </p:nvSpPr>
        <p:spPr bwMode="auto">
          <a:xfrm>
            <a:off x="7620000" y="3575050"/>
            <a:ext cx="208915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200215122</a:t>
            </a:r>
          </a:p>
        </p:txBody>
      </p:sp>
      <p:sp>
        <p:nvSpPr>
          <p:cNvPr id="108" name="Rectangle 52">
            <a:extLst>
              <a:ext uri="{FF2B5EF4-FFF2-40B4-BE49-F238E27FC236}">
                <a16:creationId xmlns:a16="http://schemas.microsoft.com/office/drawing/2014/main" id="{870993BD-A3AD-4344-B32C-62320B34F066}"/>
              </a:ext>
            </a:extLst>
          </p:cNvPr>
          <p:cNvSpPr>
            <a:spLocks noChangeArrowheads="1"/>
          </p:cNvSpPr>
          <p:nvPr/>
        </p:nvSpPr>
        <p:spPr bwMode="auto">
          <a:xfrm>
            <a:off x="11220450" y="3119437"/>
            <a:ext cx="438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09" name="Rectangle 53">
            <a:extLst>
              <a:ext uri="{FF2B5EF4-FFF2-40B4-BE49-F238E27FC236}">
                <a16:creationId xmlns:a16="http://schemas.microsoft.com/office/drawing/2014/main" id="{8CA5CF2D-AD63-400D-B485-789B816C4FE2}"/>
              </a:ext>
            </a:extLst>
          </p:cNvPr>
          <p:cNvSpPr>
            <a:spLocks noChangeArrowheads="1"/>
          </p:cNvSpPr>
          <p:nvPr/>
        </p:nvSpPr>
        <p:spPr bwMode="auto">
          <a:xfrm>
            <a:off x="10572750" y="3119437"/>
            <a:ext cx="6477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10" name="Rectangle 54">
            <a:extLst>
              <a:ext uri="{FF2B5EF4-FFF2-40B4-BE49-F238E27FC236}">
                <a16:creationId xmlns:a16="http://schemas.microsoft.com/office/drawing/2014/main" id="{FDBEE113-A139-43E6-BE38-5DA9852659B9}"/>
              </a:ext>
            </a:extLst>
          </p:cNvPr>
          <p:cNvSpPr>
            <a:spLocks noChangeArrowheads="1"/>
          </p:cNvSpPr>
          <p:nvPr/>
        </p:nvSpPr>
        <p:spPr bwMode="auto">
          <a:xfrm>
            <a:off x="9709150" y="3119437"/>
            <a:ext cx="8636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2</a:t>
            </a:r>
          </a:p>
        </p:txBody>
      </p:sp>
      <p:sp>
        <p:nvSpPr>
          <p:cNvPr id="111" name="Rectangle 55">
            <a:extLst>
              <a:ext uri="{FF2B5EF4-FFF2-40B4-BE49-F238E27FC236}">
                <a16:creationId xmlns:a16="http://schemas.microsoft.com/office/drawing/2014/main" id="{DF7C80AF-FAA3-423E-AC0A-A4525B872083}"/>
              </a:ext>
            </a:extLst>
          </p:cNvPr>
          <p:cNvSpPr>
            <a:spLocks noChangeArrowheads="1"/>
          </p:cNvSpPr>
          <p:nvPr/>
        </p:nvSpPr>
        <p:spPr bwMode="auto">
          <a:xfrm>
            <a:off x="7620000" y="3119437"/>
            <a:ext cx="2089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200215121</a:t>
            </a:r>
          </a:p>
        </p:txBody>
      </p:sp>
      <p:sp>
        <p:nvSpPr>
          <p:cNvPr id="112" name="Rectangle 56">
            <a:extLst>
              <a:ext uri="{FF2B5EF4-FFF2-40B4-BE49-F238E27FC236}">
                <a16:creationId xmlns:a16="http://schemas.microsoft.com/office/drawing/2014/main" id="{754BB440-4A43-44C9-AB63-0E81105D53C7}"/>
              </a:ext>
            </a:extLst>
          </p:cNvPr>
          <p:cNvSpPr>
            <a:spLocks noChangeArrowheads="1"/>
          </p:cNvSpPr>
          <p:nvPr/>
        </p:nvSpPr>
        <p:spPr bwMode="auto">
          <a:xfrm>
            <a:off x="11220450" y="2663825"/>
            <a:ext cx="43815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13" name="Rectangle 57">
            <a:extLst>
              <a:ext uri="{FF2B5EF4-FFF2-40B4-BE49-F238E27FC236}">
                <a16:creationId xmlns:a16="http://schemas.microsoft.com/office/drawing/2014/main" id="{081C49F8-1857-484B-9447-ED8DD6E31F64}"/>
              </a:ext>
            </a:extLst>
          </p:cNvPr>
          <p:cNvSpPr>
            <a:spLocks noChangeArrowheads="1"/>
          </p:cNvSpPr>
          <p:nvPr/>
        </p:nvSpPr>
        <p:spPr bwMode="auto">
          <a:xfrm>
            <a:off x="10572750" y="2663825"/>
            <a:ext cx="6477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14" name="Rectangle 58">
            <a:extLst>
              <a:ext uri="{FF2B5EF4-FFF2-40B4-BE49-F238E27FC236}">
                <a16:creationId xmlns:a16="http://schemas.microsoft.com/office/drawing/2014/main" id="{9FF62CD5-F7CC-477E-9023-D3D372D7A1C6}"/>
              </a:ext>
            </a:extLst>
          </p:cNvPr>
          <p:cNvSpPr>
            <a:spLocks noChangeArrowheads="1"/>
          </p:cNvSpPr>
          <p:nvPr/>
        </p:nvSpPr>
        <p:spPr bwMode="auto">
          <a:xfrm>
            <a:off x="9709150" y="2663825"/>
            <a:ext cx="86360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1</a:t>
            </a:r>
          </a:p>
        </p:txBody>
      </p:sp>
      <p:sp>
        <p:nvSpPr>
          <p:cNvPr id="115" name="Rectangle 59">
            <a:extLst>
              <a:ext uri="{FF2B5EF4-FFF2-40B4-BE49-F238E27FC236}">
                <a16:creationId xmlns:a16="http://schemas.microsoft.com/office/drawing/2014/main" id="{2F4402EF-DCD1-4524-8004-DC886B2CCA45}"/>
              </a:ext>
            </a:extLst>
          </p:cNvPr>
          <p:cNvSpPr>
            <a:spLocks noChangeArrowheads="1"/>
          </p:cNvSpPr>
          <p:nvPr/>
        </p:nvSpPr>
        <p:spPr bwMode="auto">
          <a:xfrm>
            <a:off x="7620000" y="2663825"/>
            <a:ext cx="2089150" cy="455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200215123</a:t>
            </a:r>
          </a:p>
        </p:txBody>
      </p:sp>
      <p:sp>
        <p:nvSpPr>
          <p:cNvPr id="116" name="Rectangle 60">
            <a:extLst>
              <a:ext uri="{FF2B5EF4-FFF2-40B4-BE49-F238E27FC236}">
                <a16:creationId xmlns:a16="http://schemas.microsoft.com/office/drawing/2014/main" id="{59092CAD-0951-4A52-A9CD-2D4386E9EA58}"/>
              </a:ext>
            </a:extLst>
          </p:cNvPr>
          <p:cNvSpPr>
            <a:spLocks noChangeArrowheads="1"/>
          </p:cNvSpPr>
          <p:nvPr/>
        </p:nvSpPr>
        <p:spPr bwMode="auto">
          <a:xfrm>
            <a:off x="11220450" y="2208212"/>
            <a:ext cx="438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17" name="Rectangle 61">
            <a:extLst>
              <a:ext uri="{FF2B5EF4-FFF2-40B4-BE49-F238E27FC236}">
                <a16:creationId xmlns:a16="http://schemas.microsoft.com/office/drawing/2014/main" id="{356FD420-FBB5-4883-9C1A-F0DBAB3127D9}"/>
              </a:ext>
            </a:extLst>
          </p:cNvPr>
          <p:cNvSpPr>
            <a:spLocks noChangeArrowheads="1"/>
          </p:cNvSpPr>
          <p:nvPr/>
        </p:nvSpPr>
        <p:spPr bwMode="auto">
          <a:xfrm>
            <a:off x="10572750" y="2208212"/>
            <a:ext cx="6477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18" name="Rectangle 62">
            <a:extLst>
              <a:ext uri="{FF2B5EF4-FFF2-40B4-BE49-F238E27FC236}">
                <a16:creationId xmlns:a16="http://schemas.microsoft.com/office/drawing/2014/main" id="{876A4A8D-F629-4B54-A79E-902EAB446261}"/>
              </a:ext>
            </a:extLst>
          </p:cNvPr>
          <p:cNvSpPr>
            <a:spLocks noChangeArrowheads="1"/>
          </p:cNvSpPr>
          <p:nvPr/>
        </p:nvSpPr>
        <p:spPr bwMode="auto">
          <a:xfrm>
            <a:off x="9709150" y="2208212"/>
            <a:ext cx="86360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3</a:t>
            </a:r>
          </a:p>
        </p:txBody>
      </p:sp>
      <p:sp>
        <p:nvSpPr>
          <p:cNvPr id="119" name="Rectangle 63">
            <a:extLst>
              <a:ext uri="{FF2B5EF4-FFF2-40B4-BE49-F238E27FC236}">
                <a16:creationId xmlns:a16="http://schemas.microsoft.com/office/drawing/2014/main" id="{774146E3-FB51-4EE3-AD17-CE92EA702AD5}"/>
              </a:ext>
            </a:extLst>
          </p:cNvPr>
          <p:cNvSpPr>
            <a:spLocks noChangeArrowheads="1"/>
          </p:cNvSpPr>
          <p:nvPr/>
        </p:nvSpPr>
        <p:spPr bwMode="auto">
          <a:xfrm>
            <a:off x="7620000" y="2208212"/>
            <a:ext cx="2089150" cy="45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200215123</a:t>
            </a:r>
          </a:p>
        </p:txBody>
      </p:sp>
      <p:sp>
        <p:nvSpPr>
          <p:cNvPr id="120" name="Rectangle 64">
            <a:extLst>
              <a:ext uri="{FF2B5EF4-FFF2-40B4-BE49-F238E27FC236}">
                <a16:creationId xmlns:a16="http://schemas.microsoft.com/office/drawing/2014/main" id="{65B7F67E-5307-4C3A-AD57-BE6D8EBA48EE}"/>
              </a:ext>
            </a:extLst>
          </p:cNvPr>
          <p:cNvSpPr>
            <a:spLocks noChangeArrowheads="1"/>
          </p:cNvSpPr>
          <p:nvPr/>
        </p:nvSpPr>
        <p:spPr bwMode="auto">
          <a:xfrm>
            <a:off x="11220450" y="1752600"/>
            <a:ext cx="438150" cy="455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21" name="Rectangle 65">
            <a:extLst>
              <a:ext uri="{FF2B5EF4-FFF2-40B4-BE49-F238E27FC236}">
                <a16:creationId xmlns:a16="http://schemas.microsoft.com/office/drawing/2014/main" id="{0D60E394-F73E-4901-ABBB-2942EB73677C}"/>
              </a:ext>
            </a:extLst>
          </p:cNvPr>
          <p:cNvSpPr>
            <a:spLocks noChangeArrowheads="1"/>
          </p:cNvSpPr>
          <p:nvPr/>
        </p:nvSpPr>
        <p:spPr bwMode="auto">
          <a:xfrm>
            <a:off x="10572750" y="1752600"/>
            <a:ext cx="647700" cy="455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endParaRPr lang="zh-CN" altLang="zh-CN" sz="2400"/>
          </a:p>
        </p:txBody>
      </p:sp>
      <p:sp>
        <p:nvSpPr>
          <p:cNvPr id="122" name="Rectangle 66">
            <a:extLst>
              <a:ext uri="{FF2B5EF4-FFF2-40B4-BE49-F238E27FC236}">
                <a16:creationId xmlns:a16="http://schemas.microsoft.com/office/drawing/2014/main" id="{24182560-A476-4305-B061-2F00A05EC90A}"/>
              </a:ext>
            </a:extLst>
          </p:cNvPr>
          <p:cNvSpPr>
            <a:spLocks noChangeArrowheads="1"/>
          </p:cNvSpPr>
          <p:nvPr/>
        </p:nvSpPr>
        <p:spPr bwMode="auto">
          <a:xfrm>
            <a:off x="9709150" y="1752600"/>
            <a:ext cx="863600" cy="455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400"/>
              <a:t>2</a:t>
            </a:r>
          </a:p>
        </p:txBody>
      </p:sp>
      <p:sp>
        <p:nvSpPr>
          <p:cNvPr id="123" name="Rectangle 67">
            <a:extLst>
              <a:ext uri="{FF2B5EF4-FFF2-40B4-BE49-F238E27FC236}">
                <a16:creationId xmlns:a16="http://schemas.microsoft.com/office/drawing/2014/main" id="{9AE196AA-A731-47EC-AC22-32F7124CF34F}"/>
              </a:ext>
            </a:extLst>
          </p:cNvPr>
          <p:cNvSpPr>
            <a:spLocks noChangeArrowheads="1"/>
          </p:cNvSpPr>
          <p:nvPr/>
        </p:nvSpPr>
        <p:spPr bwMode="auto">
          <a:xfrm>
            <a:off x="7620000" y="1752600"/>
            <a:ext cx="2089150" cy="455612"/>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rgbClr val="3333FF"/>
              </a:buClr>
              <a:buSzPct val="75000"/>
              <a:buFont typeface="Wingdings" pitchFamily="2" charset="2"/>
              <a:buNone/>
            </a:pPr>
            <a:r>
              <a:rPr lang="en-US" altLang="zh-CN" sz="2000"/>
              <a:t>200215121</a:t>
            </a:r>
          </a:p>
        </p:txBody>
      </p:sp>
      <p:sp>
        <p:nvSpPr>
          <p:cNvPr id="124" name="Line 68">
            <a:extLst>
              <a:ext uri="{FF2B5EF4-FFF2-40B4-BE49-F238E27FC236}">
                <a16:creationId xmlns:a16="http://schemas.microsoft.com/office/drawing/2014/main" id="{ABE95940-13B8-4CC2-8CE8-7454489A7333}"/>
              </a:ext>
            </a:extLst>
          </p:cNvPr>
          <p:cNvSpPr>
            <a:spLocks noChangeShapeType="1"/>
          </p:cNvSpPr>
          <p:nvPr/>
        </p:nvSpPr>
        <p:spPr bwMode="auto">
          <a:xfrm>
            <a:off x="7620000" y="1752600"/>
            <a:ext cx="40386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 name="Line 69">
            <a:extLst>
              <a:ext uri="{FF2B5EF4-FFF2-40B4-BE49-F238E27FC236}">
                <a16:creationId xmlns:a16="http://schemas.microsoft.com/office/drawing/2014/main" id="{88A1A70E-B546-4A74-8B97-21812DA1956C}"/>
              </a:ext>
            </a:extLst>
          </p:cNvPr>
          <p:cNvSpPr>
            <a:spLocks noChangeShapeType="1"/>
          </p:cNvSpPr>
          <p:nvPr/>
        </p:nvSpPr>
        <p:spPr bwMode="auto">
          <a:xfrm>
            <a:off x="7620000" y="2208212"/>
            <a:ext cx="403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6" name="Line 70">
            <a:extLst>
              <a:ext uri="{FF2B5EF4-FFF2-40B4-BE49-F238E27FC236}">
                <a16:creationId xmlns:a16="http://schemas.microsoft.com/office/drawing/2014/main" id="{3D8AFBE0-2EDF-455B-B609-15CDAE55A2C8}"/>
              </a:ext>
            </a:extLst>
          </p:cNvPr>
          <p:cNvSpPr>
            <a:spLocks noChangeShapeType="1"/>
          </p:cNvSpPr>
          <p:nvPr/>
        </p:nvSpPr>
        <p:spPr bwMode="auto">
          <a:xfrm>
            <a:off x="7620000" y="2663825"/>
            <a:ext cx="403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7" name="Line 71">
            <a:extLst>
              <a:ext uri="{FF2B5EF4-FFF2-40B4-BE49-F238E27FC236}">
                <a16:creationId xmlns:a16="http://schemas.microsoft.com/office/drawing/2014/main" id="{17C7A154-474C-44B6-A2CC-17AC781CA498}"/>
              </a:ext>
            </a:extLst>
          </p:cNvPr>
          <p:cNvSpPr>
            <a:spLocks noChangeShapeType="1"/>
          </p:cNvSpPr>
          <p:nvPr/>
        </p:nvSpPr>
        <p:spPr bwMode="auto">
          <a:xfrm>
            <a:off x="7620000" y="3119437"/>
            <a:ext cx="403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8" name="Line 72">
            <a:extLst>
              <a:ext uri="{FF2B5EF4-FFF2-40B4-BE49-F238E27FC236}">
                <a16:creationId xmlns:a16="http://schemas.microsoft.com/office/drawing/2014/main" id="{5BD9AFEB-CB4A-452A-896C-BAA3BF31EAEF}"/>
              </a:ext>
            </a:extLst>
          </p:cNvPr>
          <p:cNvSpPr>
            <a:spLocks noChangeShapeType="1"/>
          </p:cNvSpPr>
          <p:nvPr/>
        </p:nvSpPr>
        <p:spPr bwMode="auto">
          <a:xfrm>
            <a:off x="7620000" y="3575050"/>
            <a:ext cx="403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 name="Line 73">
            <a:extLst>
              <a:ext uri="{FF2B5EF4-FFF2-40B4-BE49-F238E27FC236}">
                <a16:creationId xmlns:a16="http://schemas.microsoft.com/office/drawing/2014/main" id="{D5F1A3E3-0003-4287-A387-5B2C9A1EE108}"/>
              </a:ext>
            </a:extLst>
          </p:cNvPr>
          <p:cNvSpPr>
            <a:spLocks noChangeShapeType="1"/>
          </p:cNvSpPr>
          <p:nvPr/>
        </p:nvSpPr>
        <p:spPr bwMode="auto">
          <a:xfrm>
            <a:off x="7620000" y="4030662"/>
            <a:ext cx="403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 name="Line 74">
            <a:extLst>
              <a:ext uri="{FF2B5EF4-FFF2-40B4-BE49-F238E27FC236}">
                <a16:creationId xmlns:a16="http://schemas.microsoft.com/office/drawing/2014/main" id="{A27A110D-B3E6-4CC2-9520-27F90772968A}"/>
              </a:ext>
            </a:extLst>
          </p:cNvPr>
          <p:cNvSpPr>
            <a:spLocks noChangeShapeType="1"/>
          </p:cNvSpPr>
          <p:nvPr/>
        </p:nvSpPr>
        <p:spPr bwMode="auto">
          <a:xfrm>
            <a:off x="7620000" y="4486275"/>
            <a:ext cx="403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1" name="Line 75">
            <a:extLst>
              <a:ext uri="{FF2B5EF4-FFF2-40B4-BE49-F238E27FC236}">
                <a16:creationId xmlns:a16="http://schemas.microsoft.com/office/drawing/2014/main" id="{B9F0B5B1-C577-4E70-9A68-BD440A5E8C7E}"/>
              </a:ext>
            </a:extLst>
          </p:cNvPr>
          <p:cNvSpPr>
            <a:spLocks noChangeShapeType="1"/>
          </p:cNvSpPr>
          <p:nvPr/>
        </p:nvSpPr>
        <p:spPr bwMode="auto">
          <a:xfrm>
            <a:off x="7620000" y="4941887"/>
            <a:ext cx="4038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2" name="Line 76">
            <a:extLst>
              <a:ext uri="{FF2B5EF4-FFF2-40B4-BE49-F238E27FC236}">
                <a16:creationId xmlns:a16="http://schemas.microsoft.com/office/drawing/2014/main" id="{86425C1D-D565-4F9F-BF53-9593FAE34603}"/>
              </a:ext>
            </a:extLst>
          </p:cNvPr>
          <p:cNvSpPr>
            <a:spLocks noChangeShapeType="1"/>
          </p:cNvSpPr>
          <p:nvPr/>
        </p:nvSpPr>
        <p:spPr bwMode="auto">
          <a:xfrm>
            <a:off x="7620000" y="5397500"/>
            <a:ext cx="403860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 name="Line 77">
            <a:extLst>
              <a:ext uri="{FF2B5EF4-FFF2-40B4-BE49-F238E27FC236}">
                <a16:creationId xmlns:a16="http://schemas.microsoft.com/office/drawing/2014/main" id="{CC7F2834-64D3-4801-9B22-A975A84B2CFD}"/>
              </a:ext>
            </a:extLst>
          </p:cNvPr>
          <p:cNvSpPr>
            <a:spLocks noChangeShapeType="1"/>
          </p:cNvSpPr>
          <p:nvPr/>
        </p:nvSpPr>
        <p:spPr bwMode="auto">
          <a:xfrm>
            <a:off x="7620000" y="1752600"/>
            <a:ext cx="0" cy="36449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4" name="Line 78">
            <a:extLst>
              <a:ext uri="{FF2B5EF4-FFF2-40B4-BE49-F238E27FC236}">
                <a16:creationId xmlns:a16="http://schemas.microsoft.com/office/drawing/2014/main" id="{18A14A62-AF5C-411E-BBC1-D72329B2A76C}"/>
              </a:ext>
            </a:extLst>
          </p:cNvPr>
          <p:cNvSpPr>
            <a:spLocks noChangeShapeType="1"/>
          </p:cNvSpPr>
          <p:nvPr/>
        </p:nvSpPr>
        <p:spPr bwMode="auto">
          <a:xfrm>
            <a:off x="9709150" y="1752600"/>
            <a:ext cx="0" cy="3644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5" name="Line 79">
            <a:extLst>
              <a:ext uri="{FF2B5EF4-FFF2-40B4-BE49-F238E27FC236}">
                <a16:creationId xmlns:a16="http://schemas.microsoft.com/office/drawing/2014/main" id="{2EF254E5-4428-40C3-A86B-892407890FEA}"/>
              </a:ext>
            </a:extLst>
          </p:cNvPr>
          <p:cNvSpPr>
            <a:spLocks noChangeShapeType="1"/>
          </p:cNvSpPr>
          <p:nvPr/>
        </p:nvSpPr>
        <p:spPr bwMode="auto">
          <a:xfrm>
            <a:off x="10572750" y="1752600"/>
            <a:ext cx="0" cy="3644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6" name="Line 80">
            <a:extLst>
              <a:ext uri="{FF2B5EF4-FFF2-40B4-BE49-F238E27FC236}">
                <a16:creationId xmlns:a16="http://schemas.microsoft.com/office/drawing/2014/main" id="{B09240A4-B54D-4981-AFEE-4726D87441BF}"/>
              </a:ext>
            </a:extLst>
          </p:cNvPr>
          <p:cNvSpPr>
            <a:spLocks noChangeShapeType="1"/>
          </p:cNvSpPr>
          <p:nvPr/>
        </p:nvSpPr>
        <p:spPr bwMode="auto">
          <a:xfrm>
            <a:off x="11220450" y="1752600"/>
            <a:ext cx="0" cy="3644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7" name="Line 81">
            <a:extLst>
              <a:ext uri="{FF2B5EF4-FFF2-40B4-BE49-F238E27FC236}">
                <a16:creationId xmlns:a16="http://schemas.microsoft.com/office/drawing/2014/main" id="{48375CB6-D829-4648-A70C-E4ACA0E5BD71}"/>
              </a:ext>
            </a:extLst>
          </p:cNvPr>
          <p:cNvSpPr>
            <a:spLocks noChangeShapeType="1"/>
          </p:cNvSpPr>
          <p:nvPr/>
        </p:nvSpPr>
        <p:spPr bwMode="auto">
          <a:xfrm>
            <a:off x="11658600" y="1752600"/>
            <a:ext cx="0" cy="364490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8" name="Text Box 82">
            <a:extLst>
              <a:ext uri="{FF2B5EF4-FFF2-40B4-BE49-F238E27FC236}">
                <a16:creationId xmlns:a16="http://schemas.microsoft.com/office/drawing/2014/main" id="{91CFED0B-0A83-42AD-A8E4-99E5434B6257}"/>
              </a:ext>
            </a:extLst>
          </p:cNvPr>
          <p:cNvSpPr txBox="1">
            <a:spLocks noChangeArrowheads="1"/>
          </p:cNvSpPr>
          <p:nvPr/>
        </p:nvSpPr>
        <p:spPr bwMode="auto">
          <a:xfrm>
            <a:off x="3876675" y="1844675"/>
            <a:ext cx="91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Verdana" pitchFamily="34" charset="0"/>
                <a:ea typeface="宋体" pitchFamily="2" charset="-122"/>
              </a:rPr>
              <a:t>SNO</a:t>
            </a:r>
          </a:p>
        </p:txBody>
      </p:sp>
      <p:sp>
        <p:nvSpPr>
          <p:cNvPr id="139" name="Text Box 83">
            <a:extLst>
              <a:ext uri="{FF2B5EF4-FFF2-40B4-BE49-F238E27FC236}">
                <a16:creationId xmlns:a16="http://schemas.microsoft.com/office/drawing/2014/main" id="{66C17732-7EF8-4BE5-B05F-A5596494B90F}"/>
              </a:ext>
            </a:extLst>
          </p:cNvPr>
          <p:cNvSpPr txBox="1">
            <a:spLocks noChangeArrowheads="1"/>
          </p:cNvSpPr>
          <p:nvPr/>
        </p:nvSpPr>
        <p:spPr bwMode="auto">
          <a:xfrm>
            <a:off x="8269287" y="1339850"/>
            <a:ext cx="9175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Verdana" pitchFamily="34" charset="0"/>
                <a:ea typeface="宋体" pitchFamily="2" charset="-122"/>
              </a:rPr>
              <a:t>SNO</a:t>
            </a:r>
          </a:p>
        </p:txBody>
      </p:sp>
      <p:sp>
        <p:nvSpPr>
          <p:cNvPr id="140" name="Text Box 84">
            <a:extLst>
              <a:ext uri="{FF2B5EF4-FFF2-40B4-BE49-F238E27FC236}">
                <a16:creationId xmlns:a16="http://schemas.microsoft.com/office/drawing/2014/main" id="{67CC9B70-2DD1-4A04-865D-82A530D37392}"/>
              </a:ext>
            </a:extLst>
          </p:cNvPr>
          <p:cNvSpPr txBox="1">
            <a:spLocks noChangeArrowheads="1"/>
          </p:cNvSpPr>
          <p:nvPr/>
        </p:nvSpPr>
        <p:spPr bwMode="auto">
          <a:xfrm>
            <a:off x="9780587" y="1339850"/>
            <a:ext cx="922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a:latin typeface="Verdana" pitchFamily="34" charset="0"/>
                <a:ea typeface="宋体" pitchFamily="2" charset="-122"/>
              </a:rPr>
              <a:t>CNO</a:t>
            </a:r>
          </a:p>
        </p:txBody>
      </p:sp>
      <p:sp>
        <p:nvSpPr>
          <p:cNvPr id="141" name="AutoShape 85">
            <a:extLst>
              <a:ext uri="{FF2B5EF4-FFF2-40B4-BE49-F238E27FC236}">
                <a16:creationId xmlns:a16="http://schemas.microsoft.com/office/drawing/2014/main" id="{001E25AB-0916-4438-A690-A2047BE3100B}"/>
              </a:ext>
            </a:extLst>
          </p:cNvPr>
          <p:cNvSpPr>
            <a:spLocks noChangeArrowheads="1"/>
          </p:cNvSpPr>
          <p:nvPr/>
        </p:nvSpPr>
        <p:spPr bwMode="auto">
          <a:xfrm>
            <a:off x="3516312" y="5397500"/>
            <a:ext cx="792163" cy="1071562"/>
          </a:xfrm>
          <a:prstGeom prst="can">
            <a:avLst>
              <a:gd name="adj" fmla="val 33818"/>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 name="AutoShape 86">
            <a:extLst>
              <a:ext uri="{FF2B5EF4-FFF2-40B4-BE49-F238E27FC236}">
                <a16:creationId xmlns:a16="http://schemas.microsoft.com/office/drawing/2014/main" id="{E5F40917-A0A7-4CE3-95A1-5F620831AFBD}"/>
              </a:ext>
            </a:extLst>
          </p:cNvPr>
          <p:cNvSpPr>
            <a:spLocks noChangeArrowheads="1"/>
          </p:cNvSpPr>
          <p:nvPr/>
        </p:nvSpPr>
        <p:spPr bwMode="auto">
          <a:xfrm>
            <a:off x="4524375" y="5397500"/>
            <a:ext cx="792162" cy="1071562"/>
          </a:xfrm>
          <a:prstGeom prst="can">
            <a:avLst>
              <a:gd name="adj" fmla="val 33818"/>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 name="AutoShape 87">
            <a:extLst>
              <a:ext uri="{FF2B5EF4-FFF2-40B4-BE49-F238E27FC236}">
                <a16:creationId xmlns:a16="http://schemas.microsoft.com/office/drawing/2014/main" id="{49613029-1A31-4BF0-B509-85113E42FFFA}"/>
              </a:ext>
            </a:extLst>
          </p:cNvPr>
          <p:cNvSpPr>
            <a:spLocks noChangeArrowheads="1"/>
          </p:cNvSpPr>
          <p:nvPr/>
        </p:nvSpPr>
        <p:spPr bwMode="auto">
          <a:xfrm>
            <a:off x="5603875" y="5397500"/>
            <a:ext cx="792162" cy="1071562"/>
          </a:xfrm>
          <a:prstGeom prst="can">
            <a:avLst>
              <a:gd name="adj" fmla="val 33818"/>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4" name="AutoShape 88">
            <a:extLst>
              <a:ext uri="{FF2B5EF4-FFF2-40B4-BE49-F238E27FC236}">
                <a16:creationId xmlns:a16="http://schemas.microsoft.com/office/drawing/2014/main" id="{780DBD8D-0C3D-4E3B-B1CB-DB40AD404062}"/>
              </a:ext>
            </a:extLst>
          </p:cNvPr>
          <p:cNvSpPr>
            <a:spLocks noChangeArrowheads="1"/>
          </p:cNvSpPr>
          <p:nvPr/>
        </p:nvSpPr>
        <p:spPr bwMode="auto">
          <a:xfrm>
            <a:off x="6684962" y="5397500"/>
            <a:ext cx="792163" cy="1071562"/>
          </a:xfrm>
          <a:prstGeom prst="can">
            <a:avLst>
              <a:gd name="adj" fmla="val 33818"/>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45" name="AutoShape 89">
            <a:extLst>
              <a:ext uri="{FF2B5EF4-FFF2-40B4-BE49-F238E27FC236}">
                <a16:creationId xmlns:a16="http://schemas.microsoft.com/office/drawing/2014/main" id="{5B673648-BB52-461D-9D22-92DDFE661D0B}"/>
              </a:ext>
            </a:extLst>
          </p:cNvPr>
          <p:cNvCxnSpPr>
            <a:cxnSpLocks noChangeShapeType="1"/>
            <a:endCxn id="141" idx="1"/>
          </p:cNvCxnSpPr>
          <p:nvPr/>
        </p:nvCxnSpPr>
        <p:spPr bwMode="auto">
          <a:xfrm rot="10800000" flipH="1" flipV="1">
            <a:off x="3454400" y="2498725"/>
            <a:ext cx="458787" cy="2898775"/>
          </a:xfrm>
          <a:prstGeom prst="curvedConnector4">
            <a:avLst>
              <a:gd name="adj1" fmla="val -66093"/>
              <a:gd name="adj2" fmla="val 96713"/>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AutoShape 90">
            <a:extLst>
              <a:ext uri="{FF2B5EF4-FFF2-40B4-BE49-F238E27FC236}">
                <a16:creationId xmlns:a16="http://schemas.microsoft.com/office/drawing/2014/main" id="{E6F9983E-124E-4E96-911A-0C5A2E349BC8}"/>
              </a:ext>
            </a:extLst>
          </p:cNvPr>
          <p:cNvCxnSpPr>
            <a:cxnSpLocks noChangeShapeType="1"/>
            <a:endCxn id="142" idx="1"/>
          </p:cNvCxnSpPr>
          <p:nvPr/>
        </p:nvCxnSpPr>
        <p:spPr bwMode="auto">
          <a:xfrm rot="10800000" flipH="1" flipV="1">
            <a:off x="3454400" y="3024187"/>
            <a:ext cx="1466850" cy="2373313"/>
          </a:xfrm>
          <a:prstGeom prst="curvedConnector4">
            <a:avLst>
              <a:gd name="adj1" fmla="val -8662"/>
              <a:gd name="adj2" fmla="val 73912"/>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AutoShape 91">
            <a:extLst>
              <a:ext uri="{FF2B5EF4-FFF2-40B4-BE49-F238E27FC236}">
                <a16:creationId xmlns:a16="http://schemas.microsoft.com/office/drawing/2014/main" id="{0A7D507F-D8B7-400C-83BD-496763903DFE}"/>
              </a:ext>
            </a:extLst>
          </p:cNvPr>
          <p:cNvCxnSpPr>
            <a:cxnSpLocks noChangeShapeType="1"/>
            <a:endCxn id="144" idx="1"/>
          </p:cNvCxnSpPr>
          <p:nvPr/>
        </p:nvCxnSpPr>
        <p:spPr bwMode="auto">
          <a:xfrm>
            <a:off x="5399087" y="3570287"/>
            <a:ext cx="1682750" cy="1827213"/>
          </a:xfrm>
          <a:prstGeom prst="curvedConnector2">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AutoShape 92">
            <a:extLst>
              <a:ext uri="{FF2B5EF4-FFF2-40B4-BE49-F238E27FC236}">
                <a16:creationId xmlns:a16="http://schemas.microsoft.com/office/drawing/2014/main" id="{B31B3255-473B-464D-8BDE-5185C88ADFA8}"/>
              </a:ext>
            </a:extLst>
          </p:cNvPr>
          <p:cNvCxnSpPr>
            <a:cxnSpLocks noChangeShapeType="1"/>
            <a:endCxn id="143" idx="1"/>
          </p:cNvCxnSpPr>
          <p:nvPr/>
        </p:nvCxnSpPr>
        <p:spPr bwMode="auto">
          <a:xfrm>
            <a:off x="5399087" y="4116387"/>
            <a:ext cx="601663" cy="1281113"/>
          </a:xfrm>
          <a:prstGeom prst="curvedConnector2">
            <a:avLst/>
          </a:prstGeom>
          <a:noFill/>
          <a:ln w="571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9" name="Line 93">
            <a:hlinkClick r:id="" action="ppaction://noaction" highlightClick="1"/>
            <a:extLst>
              <a:ext uri="{FF2B5EF4-FFF2-40B4-BE49-F238E27FC236}">
                <a16:creationId xmlns:a16="http://schemas.microsoft.com/office/drawing/2014/main" id="{291E10C2-43E7-4CCE-A402-D31EF887F2F2}"/>
              </a:ext>
            </a:extLst>
          </p:cNvPr>
          <p:cNvSpPr>
            <a:spLocks noChangeShapeType="1"/>
          </p:cNvSpPr>
          <p:nvPr/>
        </p:nvSpPr>
        <p:spPr bwMode="auto">
          <a:xfrm flipH="1">
            <a:off x="4019550" y="1941512"/>
            <a:ext cx="3600450" cy="3529013"/>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0" name="Line 94">
            <a:hlinkClick r:id="" action="ppaction://noaction" highlightClick="1"/>
            <a:extLst>
              <a:ext uri="{FF2B5EF4-FFF2-40B4-BE49-F238E27FC236}">
                <a16:creationId xmlns:a16="http://schemas.microsoft.com/office/drawing/2014/main" id="{ACA146EB-A11C-48CE-BB0B-713B01CE2832}"/>
              </a:ext>
            </a:extLst>
          </p:cNvPr>
          <p:cNvSpPr>
            <a:spLocks noChangeShapeType="1"/>
          </p:cNvSpPr>
          <p:nvPr/>
        </p:nvSpPr>
        <p:spPr bwMode="auto">
          <a:xfrm flipH="1">
            <a:off x="3948112" y="3309937"/>
            <a:ext cx="3671888" cy="230505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1" name="Line 95">
            <a:hlinkClick r:id="" action="ppaction://noaction" highlightClick="1"/>
            <a:extLst>
              <a:ext uri="{FF2B5EF4-FFF2-40B4-BE49-F238E27FC236}">
                <a16:creationId xmlns:a16="http://schemas.microsoft.com/office/drawing/2014/main" id="{BB695E3B-1EBA-44E2-8013-EB3E0AE11F8B}"/>
              </a:ext>
            </a:extLst>
          </p:cNvPr>
          <p:cNvSpPr>
            <a:spLocks noChangeShapeType="1"/>
          </p:cNvSpPr>
          <p:nvPr/>
        </p:nvSpPr>
        <p:spPr bwMode="auto">
          <a:xfrm flipH="1">
            <a:off x="4019550" y="4246562"/>
            <a:ext cx="3600450" cy="1439863"/>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2" name="文本框 151">
            <a:extLst>
              <a:ext uri="{FF2B5EF4-FFF2-40B4-BE49-F238E27FC236}">
                <a16:creationId xmlns:a16="http://schemas.microsoft.com/office/drawing/2014/main" id="{ADB80570-403D-4FF9-9EE1-6010F2802F9E}"/>
              </a:ext>
            </a:extLst>
          </p:cNvPr>
          <p:cNvSpPr txBox="1"/>
          <p:nvPr/>
        </p:nvSpPr>
        <p:spPr>
          <a:xfrm>
            <a:off x="228600" y="1981200"/>
            <a:ext cx="3048000" cy="3416320"/>
          </a:xfrm>
          <a:prstGeom prst="rect">
            <a:avLst/>
          </a:prstGeom>
          <a:noFill/>
        </p:spPr>
        <p:txBody>
          <a:bodyPr wrap="square" rtlCol="0">
            <a:spAutoFit/>
          </a:bodyPr>
          <a:lstStyle/>
          <a:p>
            <a:pPr marL="173038" indent="-173038">
              <a:buFont typeface="Arial" panose="020B0604020202020204" pitchFamily="34" charset="0"/>
              <a:buChar char="•"/>
            </a:pPr>
            <a:r>
              <a:rPr lang="en-US" altLang="zh-CN" dirty="0">
                <a:solidFill>
                  <a:srgbClr val="0000CC"/>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划分阶段</a:t>
            </a:r>
            <a:r>
              <a:rPr lang="zh-CN" altLang="en-US" dirty="0">
                <a:solidFill>
                  <a:srgbClr val="0000CC"/>
                </a:solidFill>
                <a:latin typeface="微软雅黑" panose="020B0503020204020204" pitchFamily="34" charset="-122"/>
                <a:ea typeface="微软雅黑" panose="020B0503020204020204" pitchFamily="34" charset="-122"/>
              </a:rPr>
              <a:t>，即创建</a:t>
            </a:r>
            <a:r>
              <a:rPr lang="en-US" altLang="zh-CN" dirty="0">
                <a:solidFill>
                  <a:srgbClr val="0000CC"/>
                </a:solidFill>
                <a:latin typeface="微软雅黑" panose="020B0503020204020204" pitchFamily="34" charset="-122"/>
                <a:ea typeface="微软雅黑" panose="020B0503020204020204" pitchFamily="34" charset="-122"/>
              </a:rPr>
              <a:t>hash</a:t>
            </a:r>
            <a:r>
              <a:rPr lang="zh-CN" altLang="en-US" dirty="0">
                <a:solidFill>
                  <a:srgbClr val="0000CC"/>
                </a:solidFill>
                <a:latin typeface="微软雅黑" panose="020B0503020204020204" pitchFamily="34" charset="-122"/>
                <a:ea typeface="微软雅黑" panose="020B0503020204020204" pitchFamily="34" charset="-122"/>
              </a:rPr>
              <a:t>表：把小表中的元组按</a:t>
            </a:r>
            <a:r>
              <a:rPr lang="en-US" altLang="zh-CN" dirty="0">
                <a:solidFill>
                  <a:srgbClr val="0000CC"/>
                </a:solidFill>
                <a:latin typeface="微软雅黑" panose="020B0503020204020204" pitchFamily="34" charset="-122"/>
                <a:ea typeface="微软雅黑" panose="020B0503020204020204" pitchFamily="34" charset="-122"/>
              </a:rPr>
              <a:t>hash</a:t>
            </a:r>
            <a:r>
              <a:rPr lang="zh-CN" altLang="en-US" dirty="0">
                <a:solidFill>
                  <a:srgbClr val="0000CC"/>
                </a:solidFill>
                <a:latin typeface="微软雅黑" panose="020B0503020204020204" pitchFamily="34" charset="-122"/>
                <a:ea typeface="微软雅黑" panose="020B0503020204020204" pitchFamily="34" charset="-122"/>
              </a:rPr>
              <a:t>函数分散到</a:t>
            </a:r>
            <a:r>
              <a:rPr lang="en-US" altLang="zh-CN" dirty="0">
                <a:solidFill>
                  <a:srgbClr val="0000CC"/>
                </a:solidFill>
                <a:latin typeface="微软雅黑" panose="020B0503020204020204" pitchFamily="34" charset="-122"/>
                <a:ea typeface="微软雅黑" panose="020B0503020204020204" pitchFamily="34" charset="-122"/>
              </a:rPr>
              <a:t>hash</a:t>
            </a:r>
            <a:r>
              <a:rPr lang="zh-CN" altLang="en-US" dirty="0">
                <a:solidFill>
                  <a:srgbClr val="0000CC"/>
                </a:solidFill>
                <a:latin typeface="微软雅黑" panose="020B0503020204020204" pitchFamily="34" charset="-122"/>
                <a:ea typeface="微软雅黑" panose="020B0503020204020204" pitchFamily="34" charset="-122"/>
              </a:rPr>
              <a:t>表的桶中</a:t>
            </a:r>
          </a:p>
          <a:p>
            <a:pPr marL="173038" indent="-173038">
              <a:buFont typeface="Arial" panose="020B0604020202020204" pitchFamily="34" charset="0"/>
              <a:buChar char="•"/>
            </a:pPr>
            <a:r>
              <a:rPr lang="en-US" altLang="zh-CN" dirty="0">
                <a:solidFill>
                  <a:srgbClr val="0000CC"/>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试探阶段</a:t>
            </a:r>
            <a:r>
              <a:rPr lang="zh-CN" altLang="en-US" dirty="0">
                <a:solidFill>
                  <a:srgbClr val="0000CC"/>
                </a:solidFill>
                <a:latin typeface="微软雅黑" panose="020B0503020204020204" pitchFamily="34" charset="-122"/>
                <a:ea typeface="微软雅黑" panose="020B0503020204020204" pitchFamily="34" charset="-122"/>
              </a:rPr>
              <a:t>，即连接阶段：对另一张表按相同的</a:t>
            </a:r>
            <a:r>
              <a:rPr lang="en-US" altLang="zh-CN" dirty="0">
                <a:solidFill>
                  <a:srgbClr val="0000CC"/>
                </a:solidFill>
                <a:latin typeface="微软雅黑" panose="020B0503020204020204" pitchFamily="34" charset="-122"/>
                <a:ea typeface="微软雅黑" panose="020B0503020204020204" pitchFamily="34" charset="-122"/>
              </a:rPr>
              <a:t>hash</a:t>
            </a:r>
            <a:r>
              <a:rPr lang="zh-CN" altLang="en-US" dirty="0">
                <a:solidFill>
                  <a:srgbClr val="0000CC"/>
                </a:solidFill>
                <a:latin typeface="微软雅黑" panose="020B0503020204020204" pitchFamily="34" charset="-122"/>
                <a:ea typeface="微软雅黑" panose="020B0503020204020204" pitchFamily="34" charset="-122"/>
              </a:rPr>
              <a:t>函数处理，并放到适当的</a:t>
            </a:r>
            <a:r>
              <a:rPr lang="en-US" altLang="zh-CN" dirty="0">
                <a:solidFill>
                  <a:srgbClr val="0000CC"/>
                </a:solidFill>
                <a:latin typeface="微软雅黑" panose="020B0503020204020204" pitchFamily="34" charset="-122"/>
                <a:ea typeface="微软雅黑" panose="020B0503020204020204" pitchFamily="34" charset="-122"/>
              </a:rPr>
              <a:t>hash</a:t>
            </a:r>
            <a:r>
              <a:rPr lang="zh-CN" altLang="en-US" dirty="0">
                <a:solidFill>
                  <a:srgbClr val="0000CC"/>
                </a:solidFill>
                <a:latin typeface="微软雅黑" panose="020B0503020204020204" pitchFamily="34" charset="-122"/>
                <a:ea typeface="微软雅黑" panose="020B0503020204020204" pitchFamily="34" charset="-122"/>
              </a:rPr>
              <a:t>桶，然后把匹配的元组连接起来</a:t>
            </a:r>
          </a:p>
          <a:p>
            <a:pPr marL="173038" indent="-173038">
              <a:buFont typeface="Arial" panose="020B0604020202020204" pitchFamily="34" charset="0"/>
              <a:buChar char="•"/>
            </a:pPr>
            <a:r>
              <a:rPr lang="zh-CN" altLang="en-US" dirty="0">
                <a:solidFill>
                  <a:srgbClr val="0000CC"/>
                </a:solidFill>
                <a:latin typeface="微软雅黑" panose="020B0503020204020204" pitchFamily="34" charset="-122"/>
                <a:ea typeface="微软雅黑" panose="020B0503020204020204" pitchFamily="34" charset="-122"/>
              </a:rPr>
              <a:t>假设小表的</a:t>
            </a:r>
            <a:r>
              <a:rPr lang="en-US" altLang="zh-CN" dirty="0">
                <a:solidFill>
                  <a:srgbClr val="0000CC"/>
                </a:solidFill>
                <a:latin typeface="微软雅黑" panose="020B0503020204020204" pitchFamily="34" charset="-122"/>
                <a:ea typeface="微软雅黑" panose="020B0503020204020204" pitchFamily="34" charset="-122"/>
              </a:rPr>
              <a:t>hash</a:t>
            </a:r>
            <a:r>
              <a:rPr lang="zh-CN" altLang="en-US" dirty="0">
                <a:solidFill>
                  <a:srgbClr val="0000CC"/>
                </a:solidFill>
                <a:latin typeface="微软雅黑" panose="020B0503020204020204" pitchFamily="34" charset="-122"/>
                <a:ea typeface="微软雅黑" panose="020B0503020204020204" pitchFamily="34" charset="-122"/>
              </a:rPr>
              <a:t>值在划分阶段后可以完全放入内存的</a:t>
            </a:r>
            <a:r>
              <a:rPr lang="en-US" altLang="zh-CN" dirty="0">
                <a:solidFill>
                  <a:srgbClr val="0000CC"/>
                </a:solidFill>
                <a:latin typeface="微软雅黑" panose="020B0503020204020204" pitchFamily="34" charset="-122"/>
                <a:ea typeface="微软雅黑" panose="020B0503020204020204" pitchFamily="34" charset="-122"/>
              </a:rPr>
              <a:t>hash</a:t>
            </a:r>
            <a:r>
              <a:rPr lang="zh-CN" altLang="en-US" dirty="0">
                <a:solidFill>
                  <a:srgbClr val="0000CC"/>
                </a:solidFill>
                <a:latin typeface="微软雅黑" panose="020B0503020204020204" pitchFamily="34" charset="-122"/>
                <a:ea typeface="微软雅黑" panose="020B0503020204020204" pitchFamily="34" charset="-122"/>
              </a:rPr>
              <a:t>桶中</a:t>
            </a:r>
          </a:p>
        </p:txBody>
      </p:sp>
    </p:spTree>
    <p:extLst>
      <p:ext uri="{BB962C8B-B14F-4D97-AF65-F5344CB8AC3E}">
        <p14:creationId xmlns:p14="http://schemas.microsoft.com/office/powerpoint/2010/main" val="121293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1000"/>
                                        <p:tgtEl>
                                          <p:spTgt spid="152"/>
                                        </p:tgtEl>
                                      </p:cBhvr>
                                    </p:animEffect>
                                    <p:anim calcmode="lin" valueType="num">
                                      <p:cBhvr>
                                        <p:cTn id="8" dur="1000" fill="hold"/>
                                        <p:tgtEl>
                                          <p:spTgt spid="152"/>
                                        </p:tgtEl>
                                        <p:attrNameLst>
                                          <p:attrName>ppt_x</p:attrName>
                                        </p:attrNameLst>
                                      </p:cBhvr>
                                      <p:tavLst>
                                        <p:tav tm="0">
                                          <p:val>
                                            <p:strVal val="#ppt_x"/>
                                          </p:val>
                                        </p:tav>
                                        <p:tav tm="100000">
                                          <p:val>
                                            <p:strVal val="#ppt_x"/>
                                          </p:val>
                                        </p:tav>
                                      </p:tavLst>
                                    </p:anim>
                                    <p:anim calcmode="lin" valueType="num">
                                      <p:cBhvr>
                                        <p:cTn id="9" dur="1000" fill="hold"/>
                                        <p:tgtEl>
                                          <p:spTgt spid="1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45"/>
                                        </p:tgtEl>
                                        <p:attrNameLst>
                                          <p:attrName>style.visibility</p:attrName>
                                        </p:attrNameLst>
                                      </p:cBhvr>
                                      <p:to>
                                        <p:strVal val="visible"/>
                                      </p:to>
                                    </p:set>
                                    <p:animEffect transition="in" filter="wipe(up)">
                                      <p:cBhvr>
                                        <p:cTn id="14" dur="500"/>
                                        <p:tgtEl>
                                          <p:spTgt spid="14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46"/>
                                        </p:tgtEl>
                                        <p:attrNameLst>
                                          <p:attrName>style.visibility</p:attrName>
                                        </p:attrNameLst>
                                      </p:cBhvr>
                                      <p:to>
                                        <p:strVal val="visible"/>
                                      </p:to>
                                    </p:set>
                                    <p:animEffect transition="in" filter="wipe(up)">
                                      <p:cBhvr>
                                        <p:cTn id="19" dur="500"/>
                                        <p:tgtEl>
                                          <p:spTgt spid="14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148"/>
                                        </p:tgtEl>
                                        <p:attrNameLst>
                                          <p:attrName>style.visibility</p:attrName>
                                        </p:attrNameLst>
                                      </p:cBhvr>
                                      <p:to>
                                        <p:strVal val="visible"/>
                                      </p:to>
                                    </p:set>
                                    <p:animEffect transition="in" filter="wipe(up)">
                                      <p:cBhvr>
                                        <p:cTn id="24" dur="500"/>
                                        <p:tgtEl>
                                          <p:spTgt spid="14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147"/>
                                        </p:tgtEl>
                                        <p:attrNameLst>
                                          <p:attrName>style.visibility</p:attrName>
                                        </p:attrNameLst>
                                      </p:cBhvr>
                                      <p:to>
                                        <p:strVal val="visible"/>
                                      </p:to>
                                    </p:set>
                                    <p:animEffect transition="in" filter="wipe(up)">
                                      <p:cBhvr>
                                        <p:cTn id="29" dur="500"/>
                                        <p:tgtEl>
                                          <p:spTgt spid="147"/>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mph" presetSubtype="0" grpId="0" nodeType="clickEffect">
                                  <p:stCondLst>
                                    <p:cond delay="0"/>
                                  </p:stCondLst>
                                  <p:childTnLst>
                                    <p:set>
                                      <p:cBhvr override="childStyle">
                                        <p:cTn id="33" dur="indefinite" fill="hold"/>
                                        <p:tgtEl>
                                          <p:spTgt spid="123">
                                            <p:txEl>
                                              <p:charRg st="4294967295" end="4294967295"/>
                                            </p:txEl>
                                          </p:spTgt>
                                        </p:tgtEl>
                                        <p:attrNameLst>
                                          <p:attrName>style.color</p:attrName>
                                        </p:attrNameLst>
                                      </p:cBhvr>
                                      <p:to>
                                        <p:clrVal>
                                          <a:srgbClr val="3333FF"/>
                                        </p:clrVal>
                                      </p:to>
                                    </p:set>
                                    <p:set>
                                      <p:cBhvr override="childStyle">
                                        <p:cTn id="34" dur="indefinite" fill="hold"/>
                                        <p:tgtEl>
                                          <p:spTgt spid="123">
                                            <p:txEl>
                                              <p:charRg st="4294967295" end="4294967295"/>
                                            </p:txEl>
                                          </p:spTgt>
                                        </p:tgtEl>
                                        <p:attrNameLst>
                                          <p:attrName>style.fontStyle</p:attrName>
                                        </p:attrNameLst>
                                      </p:cBhvr>
                                      <p:to>
                                        <p:strVal val="italic"/>
                                      </p:to>
                                    </p:set>
                                    <p:set>
                                      <p:cBhvr>
                                        <p:cTn id="35" dur="indefinite" fill="hold"/>
                                        <p:tgtEl>
                                          <p:spTgt spid="123">
                                            <p:txEl>
                                              <p:charRg st="4294967295" end="4294967295"/>
                                            </p:txEl>
                                          </p:spTgt>
                                        </p:tgtEl>
                                        <p:attrNameLst>
                                          <p:attrName>style.fontWeight</p:attrName>
                                        </p:attrNameLst>
                                      </p:cBhvr>
                                      <p:to>
                                        <p:strVal val="bold"/>
                                      </p:to>
                                    </p:set>
                                    <p:set>
                                      <p:cBhvr>
                                        <p:cTn id="36" dur="indefinite" fill="hold"/>
                                        <p:tgtEl>
                                          <p:spTgt spid="123">
                                            <p:txEl>
                                              <p:charRg st="4294967295" end="4294967295"/>
                                            </p:txEl>
                                          </p:spTgt>
                                        </p:tgtEl>
                                        <p:attrNameLst>
                                          <p:attrName>style.textDecorationUnderline</p:attrName>
                                        </p:attrNameLst>
                                      </p:cBhvr>
                                      <p:to>
                                        <p:strVal val="true"/>
                                      </p:to>
                                    </p:set>
                                  </p:childTnLst>
                                </p:cTn>
                              </p:par>
                              <p:par>
                                <p:cTn id="37" presetID="31" presetClass="emph" presetSubtype="0" grpId="0" nodeType="withEffect">
                                  <p:stCondLst>
                                    <p:cond delay="0"/>
                                  </p:stCondLst>
                                  <p:childTnLst>
                                    <p:set>
                                      <p:cBhvr override="childStyle">
                                        <p:cTn id="38" dur="indefinite" fill="hold"/>
                                        <p:tgtEl>
                                          <p:spTgt spid="111"/>
                                        </p:tgtEl>
                                        <p:attrNameLst>
                                          <p:attrName>style.color</p:attrName>
                                        </p:attrNameLst>
                                      </p:cBhvr>
                                      <p:to>
                                        <p:clrVal>
                                          <a:srgbClr val="3333FF"/>
                                        </p:clrVal>
                                      </p:to>
                                    </p:set>
                                    <p:set>
                                      <p:cBhvr override="childStyle">
                                        <p:cTn id="39" dur="indefinite" fill="hold"/>
                                        <p:tgtEl>
                                          <p:spTgt spid="111"/>
                                        </p:tgtEl>
                                        <p:attrNameLst>
                                          <p:attrName>style.fontStyle</p:attrName>
                                        </p:attrNameLst>
                                      </p:cBhvr>
                                      <p:to>
                                        <p:strVal val="italic"/>
                                      </p:to>
                                    </p:set>
                                    <p:set>
                                      <p:cBhvr>
                                        <p:cTn id="40" dur="indefinite" fill="hold"/>
                                        <p:tgtEl>
                                          <p:spTgt spid="111"/>
                                        </p:tgtEl>
                                        <p:attrNameLst>
                                          <p:attrName>style.fontWeight</p:attrName>
                                        </p:attrNameLst>
                                      </p:cBhvr>
                                      <p:to>
                                        <p:strVal val="bold"/>
                                      </p:to>
                                    </p:set>
                                    <p:set>
                                      <p:cBhvr>
                                        <p:cTn id="41" dur="indefinite" fill="hold"/>
                                        <p:tgtEl>
                                          <p:spTgt spid="111"/>
                                        </p:tgtEl>
                                        <p:attrNameLst>
                                          <p:attrName>style.textDecorationUnderline</p:attrName>
                                        </p:attrNameLst>
                                      </p:cBhvr>
                                      <p:to>
                                        <p:strVal val="true"/>
                                      </p:to>
                                    </p:set>
                                  </p:childTnLst>
                                </p:cTn>
                              </p:par>
                              <p:par>
                                <p:cTn id="42" presetID="31" presetClass="emph" presetSubtype="0" grpId="0" nodeType="withEffect">
                                  <p:stCondLst>
                                    <p:cond delay="0"/>
                                  </p:stCondLst>
                                  <p:childTnLst>
                                    <p:set>
                                      <p:cBhvr override="childStyle">
                                        <p:cTn id="43" dur="indefinite" fill="hold"/>
                                        <p:tgtEl>
                                          <p:spTgt spid="103"/>
                                        </p:tgtEl>
                                        <p:attrNameLst>
                                          <p:attrName>style.color</p:attrName>
                                        </p:attrNameLst>
                                      </p:cBhvr>
                                      <p:to>
                                        <p:clrVal>
                                          <a:srgbClr val="3333FF"/>
                                        </p:clrVal>
                                      </p:to>
                                    </p:set>
                                    <p:set>
                                      <p:cBhvr override="childStyle">
                                        <p:cTn id="44" dur="indefinite" fill="hold"/>
                                        <p:tgtEl>
                                          <p:spTgt spid="103"/>
                                        </p:tgtEl>
                                        <p:attrNameLst>
                                          <p:attrName>style.fontStyle</p:attrName>
                                        </p:attrNameLst>
                                      </p:cBhvr>
                                      <p:to>
                                        <p:strVal val="italic"/>
                                      </p:to>
                                    </p:set>
                                    <p:set>
                                      <p:cBhvr>
                                        <p:cTn id="45" dur="indefinite" fill="hold"/>
                                        <p:tgtEl>
                                          <p:spTgt spid="103"/>
                                        </p:tgtEl>
                                        <p:attrNameLst>
                                          <p:attrName>style.fontWeight</p:attrName>
                                        </p:attrNameLst>
                                      </p:cBhvr>
                                      <p:to>
                                        <p:strVal val="bold"/>
                                      </p:to>
                                    </p:set>
                                    <p:set>
                                      <p:cBhvr>
                                        <p:cTn id="46" dur="indefinite" fill="hold"/>
                                        <p:tgtEl>
                                          <p:spTgt spid="103"/>
                                        </p:tgtEl>
                                        <p:attrNameLst>
                                          <p:attrName>style.textDecorationUnderline</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3" fill="hold" grpId="0" nodeType="clickEffect">
                                  <p:stCondLst>
                                    <p:cond delay="0"/>
                                  </p:stCondLst>
                                  <p:childTnLst>
                                    <p:set>
                                      <p:cBhvr>
                                        <p:cTn id="50" dur="1" fill="hold">
                                          <p:stCondLst>
                                            <p:cond delay="0"/>
                                          </p:stCondLst>
                                        </p:cTn>
                                        <p:tgtEl>
                                          <p:spTgt spid="149"/>
                                        </p:tgtEl>
                                        <p:attrNameLst>
                                          <p:attrName>style.visibility</p:attrName>
                                        </p:attrNameLst>
                                      </p:cBhvr>
                                      <p:to>
                                        <p:strVal val="visible"/>
                                      </p:to>
                                    </p:set>
                                    <p:anim calcmode="lin" valueType="num">
                                      <p:cBhvr additive="base">
                                        <p:cTn id="51" dur="500" fill="hold"/>
                                        <p:tgtEl>
                                          <p:spTgt spid="149"/>
                                        </p:tgtEl>
                                        <p:attrNameLst>
                                          <p:attrName>ppt_x</p:attrName>
                                        </p:attrNameLst>
                                      </p:cBhvr>
                                      <p:tavLst>
                                        <p:tav tm="0">
                                          <p:val>
                                            <p:strVal val="1+#ppt_w/2"/>
                                          </p:val>
                                        </p:tav>
                                        <p:tav tm="100000">
                                          <p:val>
                                            <p:strVal val="#ppt_x"/>
                                          </p:val>
                                        </p:tav>
                                      </p:tavLst>
                                    </p:anim>
                                    <p:anim calcmode="lin" valueType="num">
                                      <p:cBhvr additive="base">
                                        <p:cTn id="52" dur="500" fill="hold"/>
                                        <p:tgtEl>
                                          <p:spTgt spid="149"/>
                                        </p:tgtEl>
                                        <p:attrNameLst>
                                          <p:attrName>ppt_y</p:attrName>
                                        </p:attrNameLst>
                                      </p:cBhvr>
                                      <p:tavLst>
                                        <p:tav tm="0">
                                          <p:val>
                                            <p:strVal val="0-#ppt_h/2"/>
                                          </p:val>
                                        </p:tav>
                                        <p:tav tm="100000">
                                          <p:val>
                                            <p:strVal val="#ppt_y"/>
                                          </p:val>
                                        </p:tav>
                                      </p:tavLst>
                                    </p:anim>
                                  </p:childTnLst>
                                </p:cTn>
                              </p:par>
                              <p:par>
                                <p:cTn id="53" presetID="2" presetClass="entr" presetSubtype="3" fill="hold" grpId="0" nodeType="withEffect">
                                  <p:stCondLst>
                                    <p:cond delay="0"/>
                                  </p:stCondLst>
                                  <p:childTnLst>
                                    <p:set>
                                      <p:cBhvr>
                                        <p:cTn id="54" dur="1" fill="hold">
                                          <p:stCondLst>
                                            <p:cond delay="0"/>
                                          </p:stCondLst>
                                        </p:cTn>
                                        <p:tgtEl>
                                          <p:spTgt spid="150"/>
                                        </p:tgtEl>
                                        <p:attrNameLst>
                                          <p:attrName>style.visibility</p:attrName>
                                        </p:attrNameLst>
                                      </p:cBhvr>
                                      <p:to>
                                        <p:strVal val="visible"/>
                                      </p:to>
                                    </p:set>
                                    <p:anim calcmode="lin" valueType="num">
                                      <p:cBhvr additive="base">
                                        <p:cTn id="55" dur="500" fill="hold"/>
                                        <p:tgtEl>
                                          <p:spTgt spid="150"/>
                                        </p:tgtEl>
                                        <p:attrNameLst>
                                          <p:attrName>ppt_x</p:attrName>
                                        </p:attrNameLst>
                                      </p:cBhvr>
                                      <p:tavLst>
                                        <p:tav tm="0">
                                          <p:val>
                                            <p:strVal val="1+#ppt_w/2"/>
                                          </p:val>
                                        </p:tav>
                                        <p:tav tm="100000">
                                          <p:val>
                                            <p:strVal val="#ppt_x"/>
                                          </p:val>
                                        </p:tav>
                                      </p:tavLst>
                                    </p:anim>
                                    <p:anim calcmode="lin" valueType="num">
                                      <p:cBhvr additive="base">
                                        <p:cTn id="56" dur="500" fill="hold"/>
                                        <p:tgtEl>
                                          <p:spTgt spid="150"/>
                                        </p:tgtEl>
                                        <p:attrNameLst>
                                          <p:attrName>ppt_y</p:attrName>
                                        </p:attrNameLst>
                                      </p:cBhvr>
                                      <p:tavLst>
                                        <p:tav tm="0">
                                          <p:val>
                                            <p:strVal val="0-#ppt_h/2"/>
                                          </p:val>
                                        </p:tav>
                                        <p:tav tm="100000">
                                          <p:val>
                                            <p:strVal val="#ppt_y"/>
                                          </p:val>
                                        </p:tav>
                                      </p:tavLst>
                                    </p:anim>
                                  </p:childTnLst>
                                </p:cTn>
                              </p:par>
                              <p:par>
                                <p:cTn id="57" presetID="2" presetClass="entr" presetSubtype="3" fill="hold" grpId="0" nodeType="withEffect">
                                  <p:stCondLst>
                                    <p:cond delay="0"/>
                                  </p:stCondLst>
                                  <p:childTnLst>
                                    <p:set>
                                      <p:cBhvr>
                                        <p:cTn id="58" dur="1" fill="hold">
                                          <p:stCondLst>
                                            <p:cond delay="0"/>
                                          </p:stCondLst>
                                        </p:cTn>
                                        <p:tgtEl>
                                          <p:spTgt spid="151"/>
                                        </p:tgtEl>
                                        <p:attrNameLst>
                                          <p:attrName>style.visibility</p:attrName>
                                        </p:attrNameLst>
                                      </p:cBhvr>
                                      <p:to>
                                        <p:strVal val="visible"/>
                                      </p:to>
                                    </p:set>
                                    <p:anim calcmode="lin" valueType="num">
                                      <p:cBhvr additive="base">
                                        <p:cTn id="59" dur="500" fill="hold"/>
                                        <p:tgtEl>
                                          <p:spTgt spid="151"/>
                                        </p:tgtEl>
                                        <p:attrNameLst>
                                          <p:attrName>ppt_x</p:attrName>
                                        </p:attrNameLst>
                                      </p:cBhvr>
                                      <p:tavLst>
                                        <p:tav tm="0">
                                          <p:val>
                                            <p:strVal val="1+#ppt_w/2"/>
                                          </p:val>
                                        </p:tav>
                                        <p:tav tm="100000">
                                          <p:val>
                                            <p:strVal val="#ppt_x"/>
                                          </p:val>
                                        </p:tav>
                                      </p:tavLst>
                                    </p:anim>
                                    <p:anim calcmode="lin" valueType="num">
                                      <p:cBhvr additive="base">
                                        <p:cTn id="60" dur="500" fill="hold"/>
                                        <p:tgtEl>
                                          <p:spTgt spid="15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11" grpId="0"/>
      <p:bldP spid="123" grpId="0"/>
      <p:bldP spid="149" grpId="0" animBg="1"/>
      <p:bldP spid="150" grpId="0" animBg="1"/>
      <p:bldP spid="151" grpId="0" animBg="1"/>
      <p:bldP spid="15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5F702F-CA0E-40CA-A046-9FD7ABD6FE00}"/>
              </a:ext>
            </a:extLst>
          </p:cNvPr>
          <p:cNvSpPr>
            <a:spLocks noGrp="1"/>
          </p:cNvSpPr>
          <p:nvPr>
            <p:ph type="title"/>
          </p:nvPr>
        </p:nvSpPr>
        <p:spPr/>
        <p:txBody>
          <a:bodyPr/>
          <a:lstStyle/>
          <a:p>
            <a:r>
              <a:rPr lang="en-US" altLang="zh-CN"/>
              <a:t>openGauss</a:t>
            </a:r>
            <a:r>
              <a:rPr lang="zh-CN" altLang="en-US"/>
              <a:t>的查询处理与优化</a:t>
            </a:r>
          </a:p>
        </p:txBody>
      </p:sp>
      <p:pic>
        <p:nvPicPr>
          <p:cNvPr id="1026" name="Picture 2" descr="https://www.opengauss.org/zh/docs/3.1.0/docs/Developerguide/figures/SQL%E5%BC%95%E6%93%8E%E6%89%A7%E8%A1%8C%E6%9F%A5%E8%AF%A2%E7%B1%BBSQL%E8%AF%AD%E5%8F%A5%E7%9A%84%E6%B5%81%E7%A8%8B.png">
            <a:extLst>
              <a:ext uri="{FF2B5EF4-FFF2-40B4-BE49-F238E27FC236}">
                <a16:creationId xmlns:a16="http://schemas.microsoft.com/office/drawing/2014/main" id="{4D2C6C91-648B-4412-8786-848ED9AF805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066800"/>
            <a:ext cx="5648165" cy="5325413"/>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83294AE7-D937-4326-9355-C719B63500A4}"/>
              </a:ext>
            </a:extLst>
          </p:cNvPr>
          <p:cNvSpPr>
            <a:spLocks noGrp="1"/>
          </p:cNvSpPr>
          <p:nvPr>
            <p:ph type="sldNum" sz="quarter" idx="12"/>
          </p:nvPr>
        </p:nvSpPr>
        <p:spPr/>
        <p:txBody>
          <a:bodyPr/>
          <a:lstStyle/>
          <a:p>
            <a:fld id="{E63F6D5D-9733-4D44-9C56-AEFEDD5A4BA7}" type="slidenum">
              <a:rPr lang="en-US" smtClean="0"/>
              <a:pPr/>
              <a:t>15</a:t>
            </a:fld>
            <a:endParaRPr lang="en-US" dirty="0"/>
          </a:p>
        </p:txBody>
      </p:sp>
      <p:sp>
        <p:nvSpPr>
          <p:cNvPr id="5" name="矩形 4">
            <a:extLst>
              <a:ext uri="{FF2B5EF4-FFF2-40B4-BE49-F238E27FC236}">
                <a16:creationId xmlns:a16="http://schemas.microsoft.com/office/drawing/2014/main" id="{EED1B75B-264F-4831-AA15-529DC6E07105}"/>
              </a:ext>
            </a:extLst>
          </p:cNvPr>
          <p:cNvSpPr/>
          <p:nvPr/>
        </p:nvSpPr>
        <p:spPr>
          <a:xfrm>
            <a:off x="6400800" y="2052563"/>
            <a:ext cx="5105400" cy="4339650"/>
          </a:xfrm>
          <a:prstGeom prst="rect">
            <a:avLst/>
          </a:prstGeom>
        </p:spPr>
        <p:txBody>
          <a:bodyPr wrap="square">
            <a:spAutoFit/>
          </a:bodyPr>
          <a:lstStyle/>
          <a:p>
            <a:pPr marL="173038" indent="-173038">
              <a:buFont typeface="Arial" panose="020B0604020202020204" pitchFamily="34" charset="0"/>
              <a:buChar char="•"/>
            </a:pPr>
            <a:r>
              <a:rPr lang="en-US" altLang="zh-CN" sz="2400" dirty="0" err="1">
                <a:solidFill>
                  <a:srgbClr val="FF0000"/>
                </a:solidFill>
                <a:latin typeface="Arial" panose="020B0604020202020204" pitchFamily="34" charset="0"/>
                <a:ea typeface="微软雅黑" panose="020B0503020204020204" pitchFamily="34" charset="-122"/>
              </a:rPr>
              <a:t>openGauss</a:t>
            </a:r>
            <a:r>
              <a:rPr lang="zh-CN" altLang="en-US" sz="2400" dirty="0">
                <a:solidFill>
                  <a:srgbClr val="FF0000"/>
                </a:solidFill>
                <a:latin typeface="Arial" panose="020B0604020202020204" pitchFamily="34" charset="0"/>
                <a:ea typeface="微软雅黑" panose="020B0503020204020204" pitchFamily="34" charset="-122"/>
              </a:rPr>
              <a:t>的查询处理与优化参见：</a:t>
            </a:r>
            <a:endParaRPr lang="en-US" altLang="zh-CN" sz="2400" dirty="0">
              <a:solidFill>
                <a:srgbClr val="FF0000"/>
              </a:solidFill>
              <a:latin typeface="Arial" panose="020B06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endParaRPr>
          </a:p>
          <a:p>
            <a:endParaRPr lang="en-US" altLang="zh-CN" sz="1050" dirty="0">
              <a:solidFill>
                <a:srgbClr val="FF0000"/>
              </a:solidFill>
              <a:latin typeface="Arial" panose="020B06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endParaRPr>
          </a:p>
          <a:p>
            <a:r>
              <a:rPr lang="zh-CN" altLang="en-US" sz="2400" dirty="0">
                <a:solidFill>
                  <a:srgbClr val="0000CC"/>
                </a:solidFill>
                <a:latin typeface="Arial" panose="020B0604020202020204" pitchFamily="34" charset="0"/>
                <a:ea typeface="微软雅黑" panose="020B0503020204020204" pitchFamily="34" charset="-122"/>
                <a:hlinkClick r:id="rId3">
                  <a:extLst>
                    <a:ext uri="{A12FA001-AC4F-418D-AE19-62706E023703}">
                      <ahyp:hlinkClr xmlns:ahyp="http://schemas.microsoft.com/office/drawing/2018/hyperlinkcolor" val="tx"/>
                    </a:ext>
                  </a:extLst>
                </a:hlinkClick>
              </a:rPr>
              <a:t>https://www.opengauss.org/zh/docs/3.1.0/docs/Developerguide/Query%E6%89%A7%E8%A1%8C%E6%B5%81%E7%A8%8B.html</a:t>
            </a:r>
            <a:endParaRPr lang="en-US" altLang="zh-CN" sz="2400" dirty="0">
              <a:solidFill>
                <a:srgbClr val="0000CC"/>
              </a:solidFill>
              <a:latin typeface="Arial" panose="020B0604020202020204" pitchFamily="34" charset="0"/>
              <a:ea typeface="微软雅黑" panose="020B0503020204020204" pitchFamily="34" charset="-122"/>
            </a:endParaRPr>
          </a:p>
          <a:p>
            <a:endParaRPr lang="en-US" altLang="zh-CN" sz="2400" dirty="0">
              <a:solidFill>
                <a:srgbClr val="0000CC"/>
              </a:solidFill>
              <a:latin typeface="Arial" panose="020B0604020202020204" pitchFamily="34" charset="0"/>
              <a:ea typeface="微软雅黑" panose="020B0503020204020204" pitchFamily="34" charset="-122"/>
            </a:endParaRPr>
          </a:p>
          <a:p>
            <a:endParaRPr lang="en-US" altLang="zh-CN" sz="2400" dirty="0">
              <a:solidFill>
                <a:srgbClr val="0000CC"/>
              </a:solidFill>
              <a:latin typeface="Arial" panose="020B0604020202020204" pitchFamily="34" charset="0"/>
              <a:ea typeface="微软雅黑" panose="020B0503020204020204" pitchFamily="34" charset="-122"/>
            </a:endParaRPr>
          </a:p>
          <a:p>
            <a:pPr marL="173038" indent="-173038">
              <a:buFont typeface="Arial" panose="020B0604020202020204" pitchFamily="34" charset="0"/>
              <a:buChar char="•"/>
            </a:pPr>
            <a:r>
              <a:rPr lang="zh-CN" altLang="en-US" sz="2400" dirty="0">
                <a:solidFill>
                  <a:srgbClr val="FF0000"/>
                </a:solidFill>
                <a:latin typeface="Arial" panose="020B0604020202020204" pitchFamily="34" charset="0"/>
                <a:ea typeface="微软雅黑" panose="020B0503020204020204" pitchFamily="34" charset="-122"/>
              </a:rPr>
              <a:t>墨天轮材料：</a:t>
            </a:r>
            <a:endParaRPr lang="en-US" altLang="zh-CN" sz="2400" dirty="0">
              <a:solidFill>
                <a:srgbClr val="FF0000"/>
              </a:solidFill>
              <a:latin typeface="Arial" panose="020B0604020202020204" pitchFamily="34" charset="0"/>
              <a:ea typeface="微软雅黑" panose="020B0503020204020204" pitchFamily="34" charset="-122"/>
            </a:endParaRPr>
          </a:p>
          <a:p>
            <a:r>
              <a:rPr lang="en-US" altLang="zh-CN" sz="2400" dirty="0">
                <a:solidFill>
                  <a:srgbClr val="0000CC"/>
                </a:solidFill>
                <a:latin typeface="Arial" panose="020B0604020202020204" pitchFamily="34" charset="0"/>
                <a:ea typeface="微软雅黑" panose="020B0503020204020204" pitchFamily="34" charset="-122"/>
                <a:hlinkClick r:id="rId4"/>
              </a:rPr>
              <a:t>https://www.modb.pro/db/160703</a:t>
            </a:r>
            <a:endParaRPr lang="en-US" altLang="zh-CN" sz="2400" dirty="0">
              <a:solidFill>
                <a:srgbClr val="0000CC"/>
              </a:solidFill>
              <a:latin typeface="Arial" panose="020B0604020202020204" pitchFamily="34" charset="0"/>
              <a:ea typeface="微软雅黑" panose="020B0503020204020204" pitchFamily="34" charset="-122"/>
            </a:endParaRPr>
          </a:p>
          <a:p>
            <a:endParaRPr lang="en-US" altLang="zh-CN" sz="2400" dirty="0">
              <a:solidFill>
                <a:srgbClr val="0000CC"/>
              </a:solidFill>
              <a:latin typeface="Arial" panose="020B0604020202020204" pitchFamily="34" charset="0"/>
              <a:ea typeface="微软雅黑" panose="020B0503020204020204" pitchFamily="34" charset="-122"/>
            </a:endParaRPr>
          </a:p>
          <a:p>
            <a:endParaRPr lang="zh-CN" altLang="en-US" sz="2400" dirty="0">
              <a:solidFill>
                <a:srgbClr val="0000CC"/>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24021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p:txBody>
          <a:bodyPr/>
          <a:lstStyle/>
          <a:p>
            <a:r>
              <a:rPr lang="en-US" altLang="zh-CN"/>
              <a:t>9.2 </a:t>
            </a:r>
            <a:r>
              <a:rPr lang="zh-CN" altLang="en-US"/>
              <a:t>关系数据库系统的查询优化</a:t>
            </a:r>
          </a:p>
        </p:txBody>
      </p:sp>
      <p:sp>
        <p:nvSpPr>
          <p:cNvPr id="413699" name="Rectangle 3"/>
          <p:cNvSpPr>
            <a:spLocks noGrp="1" noChangeArrowheads="1"/>
          </p:cNvSpPr>
          <p:nvPr>
            <p:ph idx="1"/>
          </p:nvPr>
        </p:nvSpPr>
        <p:spPr/>
        <p:txBody>
          <a:bodyPr/>
          <a:lstStyle/>
          <a:p>
            <a:r>
              <a:rPr lang="zh-CN" altLang="en-US" dirty="0">
                <a:solidFill>
                  <a:srgbClr val="FF0000"/>
                </a:solidFill>
              </a:rPr>
              <a:t>关系系统的查询优化</a:t>
            </a:r>
          </a:p>
          <a:p>
            <a:pPr lvl="1"/>
            <a:r>
              <a:rPr lang="zh-CN" altLang="en-US" dirty="0"/>
              <a:t>是</a:t>
            </a:r>
            <a:r>
              <a:rPr lang="en-US" altLang="zh-CN" dirty="0"/>
              <a:t>RDBMS</a:t>
            </a:r>
            <a:r>
              <a:rPr lang="zh-CN" altLang="en-US" dirty="0"/>
              <a:t>实现的关键技术又是关系系统的优点所在</a:t>
            </a:r>
          </a:p>
          <a:p>
            <a:pPr lvl="1"/>
            <a:r>
              <a:rPr lang="zh-CN" altLang="en-US" dirty="0"/>
              <a:t>减轻了用户选择存取路径的负担</a:t>
            </a:r>
          </a:p>
          <a:p>
            <a:endParaRPr lang="zh-CN" altLang="en-US" dirty="0"/>
          </a:p>
          <a:p>
            <a:r>
              <a:rPr lang="zh-CN" altLang="en-US" dirty="0">
                <a:solidFill>
                  <a:srgbClr val="FF0000"/>
                </a:solidFill>
              </a:rPr>
              <a:t>总目标：</a:t>
            </a:r>
          </a:p>
          <a:p>
            <a:pPr lvl="1"/>
            <a:r>
              <a:rPr lang="zh-CN" altLang="en-US" dirty="0"/>
              <a:t>选择有效策略，求得给定关系表达式的值，使得查询代价最小（实际上是较小）。</a:t>
            </a:r>
          </a:p>
        </p:txBody>
      </p:sp>
      <p:sp>
        <p:nvSpPr>
          <p:cNvPr id="5" name="灯片编号占位符 5"/>
          <p:cNvSpPr>
            <a:spLocks noGrp="1"/>
          </p:cNvSpPr>
          <p:nvPr>
            <p:ph type="sldNum" sz="quarter" idx="12"/>
          </p:nvPr>
        </p:nvSpPr>
        <p:spPr/>
        <p:txBody>
          <a:bodyPr/>
          <a:lstStyle/>
          <a:p>
            <a:fld id="{C0A85FE0-CAF2-4138-9763-92F421E8096D}" type="slidenum">
              <a:rPr lang="en-US" altLang="zh-CN" smtClean="0"/>
              <a:pPr/>
              <a:t>16</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21154-080D-4228-B620-0013AFCCAB4C}"/>
              </a:ext>
            </a:extLst>
          </p:cNvPr>
          <p:cNvSpPr>
            <a:spLocks noGrp="1"/>
          </p:cNvSpPr>
          <p:nvPr>
            <p:ph type="title"/>
          </p:nvPr>
        </p:nvSpPr>
        <p:spPr/>
        <p:txBody>
          <a:bodyPr/>
          <a:lstStyle/>
          <a:p>
            <a:r>
              <a:rPr lang="en-US" altLang="zh-CN" dirty="0"/>
              <a:t>9.2.1 </a:t>
            </a:r>
            <a:r>
              <a:rPr lang="zh-CN" altLang="en-US" dirty="0"/>
              <a:t>查询优化概述</a:t>
            </a:r>
          </a:p>
        </p:txBody>
      </p:sp>
      <p:sp>
        <p:nvSpPr>
          <p:cNvPr id="3" name="内容占位符 2">
            <a:extLst>
              <a:ext uri="{FF2B5EF4-FFF2-40B4-BE49-F238E27FC236}">
                <a16:creationId xmlns:a16="http://schemas.microsoft.com/office/drawing/2014/main" id="{9D50719E-F7CE-4077-A81D-FB536D45EF03}"/>
              </a:ext>
            </a:extLst>
          </p:cNvPr>
          <p:cNvSpPr>
            <a:spLocks noGrp="1"/>
          </p:cNvSpPr>
          <p:nvPr>
            <p:ph idx="1"/>
          </p:nvPr>
        </p:nvSpPr>
        <p:spPr/>
        <p:txBody>
          <a:bodyPr>
            <a:normAutofit/>
          </a:bodyPr>
          <a:lstStyle/>
          <a:p>
            <a:r>
              <a:rPr lang="zh-CN" altLang="en-US" dirty="0">
                <a:solidFill>
                  <a:srgbClr val="FF0000"/>
                </a:solidFill>
              </a:rPr>
              <a:t>查询优化的优点：</a:t>
            </a:r>
          </a:p>
          <a:p>
            <a:pPr lvl="1"/>
            <a:r>
              <a:rPr lang="zh-CN" altLang="en-US" dirty="0"/>
              <a:t>用户不必考虑如何最好地表达查询以获得较好的效率</a:t>
            </a:r>
          </a:p>
          <a:p>
            <a:pPr lvl="1"/>
            <a:r>
              <a:rPr lang="zh-CN" altLang="en-US" dirty="0"/>
              <a:t>系统可以比用户程序的优化做得更好</a:t>
            </a:r>
          </a:p>
          <a:p>
            <a:pPr lvl="2"/>
            <a:r>
              <a:rPr lang="zh-CN" altLang="en-US" dirty="0"/>
              <a:t>优化器可以从</a:t>
            </a:r>
            <a:r>
              <a:rPr lang="zh-CN" altLang="en-US" dirty="0">
                <a:solidFill>
                  <a:srgbClr val="FF0000"/>
                </a:solidFill>
              </a:rPr>
              <a:t>数据字典中获取许多统计信息</a:t>
            </a:r>
            <a:r>
              <a:rPr lang="zh-CN" altLang="en-US" dirty="0"/>
              <a:t>，而用户程序则难以获得这些信息。</a:t>
            </a:r>
          </a:p>
          <a:p>
            <a:pPr lvl="2"/>
            <a:r>
              <a:rPr lang="zh-CN" altLang="en-US" dirty="0"/>
              <a:t>如果数据库的物理统计信息改变了，系统可以</a:t>
            </a:r>
            <a:r>
              <a:rPr lang="zh-CN" altLang="en-US" dirty="0">
                <a:solidFill>
                  <a:srgbClr val="FF0000"/>
                </a:solidFill>
              </a:rPr>
              <a:t>自动对查询重新优化</a:t>
            </a:r>
            <a:r>
              <a:rPr lang="zh-CN" altLang="en-US" dirty="0"/>
              <a:t>以选择相适应的执行计划。在非关系系统中必须重写程序，而重写程序在实际应用中往往是不太可能的。</a:t>
            </a:r>
          </a:p>
          <a:p>
            <a:pPr lvl="2"/>
            <a:r>
              <a:rPr lang="zh-CN" altLang="en-US" dirty="0"/>
              <a:t>优化器可以考虑</a:t>
            </a:r>
            <a:r>
              <a:rPr lang="zh-CN" altLang="en-US" dirty="0">
                <a:solidFill>
                  <a:srgbClr val="FF0000"/>
                </a:solidFill>
              </a:rPr>
              <a:t>数百种不同的执行计划</a:t>
            </a:r>
            <a:r>
              <a:rPr lang="zh-CN" altLang="en-US" dirty="0"/>
              <a:t>，程序员一般只能考虑有限的几种可能性。</a:t>
            </a:r>
          </a:p>
          <a:p>
            <a:pPr lvl="2"/>
            <a:r>
              <a:rPr lang="zh-CN" altLang="en-US" dirty="0"/>
              <a:t>优化器中包括了很多</a:t>
            </a:r>
            <a:r>
              <a:rPr lang="zh-CN" altLang="en-US" dirty="0">
                <a:solidFill>
                  <a:srgbClr val="FF0000"/>
                </a:solidFill>
              </a:rPr>
              <a:t>复杂的优化技术</a:t>
            </a:r>
            <a:r>
              <a:rPr lang="zh-CN" altLang="en-US" dirty="0"/>
              <a:t>，这些优化技术往往只有最好的程序员才能掌握。系统的自动优化相当于使得所有人都拥有这些优化技术。</a:t>
            </a:r>
          </a:p>
        </p:txBody>
      </p:sp>
      <p:sp>
        <p:nvSpPr>
          <p:cNvPr id="4" name="灯片编号占位符 3">
            <a:extLst>
              <a:ext uri="{FF2B5EF4-FFF2-40B4-BE49-F238E27FC236}">
                <a16:creationId xmlns:a16="http://schemas.microsoft.com/office/drawing/2014/main" id="{5D3ACD05-688F-4FF0-A731-8A71664CF84F}"/>
              </a:ext>
            </a:extLst>
          </p:cNvPr>
          <p:cNvSpPr>
            <a:spLocks noGrp="1"/>
          </p:cNvSpPr>
          <p:nvPr>
            <p:ph type="sldNum" sz="quarter" idx="12"/>
          </p:nvPr>
        </p:nvSpPr>
        <p:spPr/>
        <p:txBody>
          <a:bodyPr/>
          <a:lstStyle/>
          <a:p>
            <a:fld id="{E63F6D5D-9733-4D44-9C56-AEFEDD5A4BA7}" type="slidenum">
              <a:rPr lang="en-US" smtClean="0"/>
              <a:pPr/>
              <a:t>17</a:t>
            </a:fld>
            <a:endParaRPr lang="en-US" dirty="0"/>
          </a:p>
        </p:txBody>
      </p:sp>
    </p:spTree>
    <p:extLst>
      <p:ext uri="{BB962C8B-B14F-4D97-AF65-F5344CB8AC3E}">
        <p14:creationId xmlns:p14="http://schemas.microsoft.com/office/powerpoint/2010/main" val="17584704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D8384743-2B65-4351-BBD0-F593C9D225B9}"/>
              </a:ext>
            </a:extLst>
          </p:cNvPr>
          <p:cNvSpPr>
            <a:spLocks noGrp="1"/>
          </p:cNvSpPr>
          <p:nvPr>
            <p:ph type="title"/>
          </p:nvPr>
        </p:nvSpPr>
        <p:spPr/>
        <p:txBody>
          <a:bodyPr/>
          <a:lstStyle/>
          <a:p>
            <a:r>
              <a:rPr lang="en-US" altLang="zh-CN"/>
              <a:t>9.2.1 </a:t>
            </a:r>
            <a:r>
              <a:rPr lang="zh-CN" altLang="en-US"/>
              <a:t>查询优化概述</a:t>
            </a:r>
            <a:endParaRPr lang="zh-CN" altLang="en-US" dirty="0"/>
          </a:p>
        </p:txBody>
      </p:sp>
      <p:sp>
        <p:nvSpPr>
          <p:cNvPr id="3" name="内容占位符 2">
            <a:extLst>
              <a:ext uri="{FF2B5EF4-FFF2-40B4-BE49-F238E27FC236}">
                <a16:creationId xmlns:a16="http://schemas.microsoft.com/office/drawing/2014/main" id="{0D8A425B-373B-4A3A-97D9-505D287CD83B}"/>
              </a:ext>
            </a:extLst>
          </p:cNvPr>
          <p:cNvSpPr>
            <a:spLocks noGrp="1"/>
          </p:cNvSpPr>
          <p:nvPr>
            <p:ph idx="1"/>
          </p:nvPr>
        </p:nvSpPr>
        <p:spPr/>
        <p:txBody>
          <a:bodyPr/>
          <a:lstStyle/>
          <a:p>
            <a:r>
              <a:rPr lang="zh-CN" altLang="en-US" dirty="0"/>
              <a:t>查询优化的计算：</a:t>
            </a:r>
            <a:endParaRPr lang="en-US" altLang="zh-CN" dirty="0"/>
          </a:p>
          <a:p>
            <a:pPr lvl="1"/>
            <a:r>
              <a:rPr lang="en-US" altLang="zh-CN" dirty="0"/>
              <a:t>DBMS</a:t>
            </a:r>
            <a:r>
              <a:rPr lang="zh-CN" altLang="en-US" dirty="0"/>
              <a:t>通过某种</a:t>
            </a:r>
            <a:r>
              <a:rPr lang="zh-CN" altLang="en-US" dirty="0">
                <a:solidFill>
                  <a:srgbClr val="FF0000"/>
                </a:solidFill>
              </a:rPr>
              <a:t>代价模型</a:t>
            </a:r>
            <a:r>
              <a:rPr lang="zh-CN" altLang="en-US" dirty="0"/>
              <a:t>计算出各种查询执行策略的执行代价，然后选取代价最小的执行方案（开销通常以块数为衡量单位）</a:t>
            </a:r>
          </a:p>
          <a:p>
            <a:pPr lvl="2"/>
            <a:r>
              <a:rPr lang="zh-CN" altLang="en-US" dirty="0"/>
              <a:t>集中式数据库开销：总代价</a:t>
            </a:r>
            <a:r>
              <a:rPr lang="en-US" altLang="zh-CN" dirty="0"/>
              <a:t>= I/O</a:t>
            </a:r>
            <a:r>
              <a:rPr lang="zh-CN" altLang="en-US" dirty="0"/>
              <a:t>代价 </a:t>
            </a:r>
            <a:r>
              <a:rPr lang="en-US" altLang="zh-CN" dirty="0"/>
              <a:t>+CPU</a:t>
            </a:r>
            <a:r>
              <a:rPr lang="zh-CN" altLang="en-US" dirty="0"/>
              <a:t>代价</a:t>
            </a:r>
            <a:r>
              <a:rPr lang="en-US" altLang="zh-CN" dirty="0"/>
              <a:t>+</a:t>
            </a:r>
            <a:r>
              <a:rPr lang="zh-CN" altLang="en-US" dirty="0"/>
              <a:t>内存代价</a:t>
            </a:r>
            <a:endParaRPr lang="en-US" altLang="zh-CN" dirty="0"/>
          </a:p>
          <a:p>
            <a:pPr lvl="2"/>
            <a:r>
              <a:rPr lang="zh-CN" altLang="en-US" dirty="0"/>
              <a:t>分布式数据库开销：总代价</a:t>
            </a:r>
            <a:r>
              <a:rPr lang="en-US" altLang="zh-CN" dirty="0"/>
              <a:t>= I/O</a:t>
            </a:r>
            <a:r>
              <a:rPr lang="zh-CN" altLang="en-US" dirty="0"/>
              <a:t>代价 </a:t>
            </a:r>
            <a:r>
              <a:rPr lang="en-US" altLang="zh-CN" dirty="0"/>
              <a:t>+CPU</a:t>
            </a:r>
            <a:r>
              <a:rPr lang="zh-CN" altLang="en-US" dirty="0"/>
              <a:t>代价</a:t>
            </a:r>
            <a:r>
              <a:rPr lang="en-US" altLang="zh-CN" dirty="0"/>
              <a:t>+</a:t>
            </a:r>
            <a:r>
              <a:rPr lang="zh-CN" altLang="en-US" dirty="0"/>
              <a:t>内存代价</a:t>
            </a:r>
            <a:r>
              <a:rPr lang="en-US" altLang="zh-CN" dirty="0"/>
              <a:t>+</a:t>
            </a:r>
            <a:r>
              <a:rPr lang="zh-CN" altLang="en-US" dirty="0"/>
              <a:t>通信代价</a:t>
            </a:r>
          </a:p>
        </p:txBody>
      </p:sp>
      <p:sp>
        <p:nvSpPr>
          <p:cNvPr id="4" name="灯片编号占位符 3">
            <a:extLst>
              <a:ext uri="{FF2B5EF4-FFF2-40B4-BE49-F238E27FC236}">
                <a16:creationId xmlns:a16="http://schemas.microsoft.com/office/drawing/2014/main" id="{16D05582-AB36-4475-9EAA-4F6A02AD5037}"/>
              </a:ext>
            </a:extLst>
          </p:cNvPr>
          <p:cNvSpPr>
            <a:spLocks noGrp="1"/>
          </p:cNvSpPr>
          <p:nvPr>
            <p:ph type="sldNum" sz="quarter" idx="12"/>
          </p:nvPr>
        </p:nvSpPr>
        <p:spPr/>
        <p:txBody>
          <a:bodyPr/>
          <a:lstStyle/>
          <a:p>
            <a:fld id="{E63F6D5D-9733-4D44-9C56-AEFEDD5A4BA7}" type="slidenum">
              <a:rPr lang="en-US" smtClean="0"/>
              <a:pPr/>
              <a:t>18</a:t>
            </a:fld>
            <a:endParaRPr lang="en-US" dirty="0"/>
          </a:p>
        </p:txBody>
      </p:sp>
      <p:sp>
        <p:nvSpPr>
          <p:cNvPr id="6" name="标注: 上箭头 5">
            <a:extLst>
              <a:ext uri="{FF2B5EF4-FFF2-40B4-BE49-F238E27FC236}">
                <a16:creationId xmlns:a16="http://schemas.microsoft.com/office/drawing/2014/main" id="{6BAB70CA-7906-41CB-AF3B-499348E90221}"/>
              </a:ext>
            </a:extLst>
          </p:cNvPr>
          <p:cNvSpPr/>
          <p:nvPr/>
        </p:nvSpPr>
        <p:spPr>
          <a:xfrm>
            <a:off x="4114800" y="3733800"/>
            <a:ext cx="3657600" cy="1682234"/>
          </a:xfrm>
          <a:prstGeom prst="upArrowCallout">
            <a:avLst>
              <a:gd name="adj1" fmla="val 0"/>
              <a:gd name="adj2" fmla="val 25000"/>
              <a:gd name="adj3" fmla="val 25000"/>
              <a:gd name="adj4" fmla="val 64977"/>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影响数据库系统性能的主要因素，新技术：内存数据库</a:t>
            </a:r>
          </a:p>
        </p:txBody>
      </p:sp>
      <p:sp>
        <p:nvSpPr>
          <p:cNvPr id="8" name="矩形 7">
            <a:extLst>
              <a:ext uri="{FF2B5EF4-FFF2-40B4-BE49-F238E27FC236}">
                <a16:creationId xmlns:a16="http://schemas.microsoft.com/office/drawing/2014/main" id="{59321E7B-B2FA-400E-9671-957DE2DD4046}"/>
              </a:ext>
            </a:extLst>
          </p:cNvPr>
          <p:cNvSpPr/>
          <p:nvPr/>
        </p:nvSpPr>
        <p:spPr>
          <a:xfrm>
            <a:off x="5257800" y="2590800"/>
            <a:ext cx="1219200" cy="1066800"/>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992075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68F4CE-26C4-4ACC-8510-DDE3E0D89C9A}"/>
              </a:ext>
            </a:extLst>
          </p:cNvPr>
          <p:cNvSpPr>
            <a:spLocks noGrp="1"/>
          </p:cNvSpPr>
          <p:nvPr>
            <p:ph type="title"/>
          </p:nvPr>
        </p:nvSpPr>
        <p:spPr/>
        <p:txBody>
          <a:bodyPr/>
          <a:lstStyle/>
          <a:p>
            <a:r>
              <a:rPr lang="zh-CN" altLang="en-US" dirty="0"/>
              <a:t>实例分析</a:t>
            </a:r>
          </a:p>
        </p:txBody>
      </p:sp>
      <p:sp>
        <p:nvSpPr>
          <p:cNvPr id="3" name="内容占位符 2">
            <a:extLst>
              <a:ext uri="{FF2B5EF4-FFF2-40B4-BE49-F238E27FC236}">
                <a16:creationId xmlns:a16="http://schemas.microsoft.com/office/drawing/2014/main" id="{0758C60E-D0F4-4D82-A469-DE0EC3C57665}"/>
              </a:ext>
            </a:extLst>
          </p:cNvPr>
          <p:cNvSpPr>
            <a:spLocks noGrp="1"/>
          </p:cNvSpPr>
          <p:nvPr>
            <p:ph idx="1"/>
          </p:nvPr>
        </p:nvSpPr>
        <p:spPr/>
        <p:txBody>
          <a:bodyPr/>
          <a:lstStyle/>
          <a:p>
            <a:r>
              <a:rPr lang="en-US" altLang="zh-CN" dirty="0"/>
              <a:t>[</a:t>
            </a:r>
            <a:r>
              <a:rPr lang="zh-CN" altLang="en-US" dirty="0"/>
              <a:t>例</a:t>
            </a:r>
            <a:r>
              <a:rPr lang="en-US" altLang="zh-CN" dirty="0"/>
              <a:t>9.3] </a:t>
            </a:r>
            <a:r>
              <a:rPr lang="zh-CN" altLang="en-US" dirty="0"/>
              <a:t>求选修了</a:t>
            </a:r>
            <a:r>
              <a:rPr lang="en-US" altLang="zh-CN" dirty="0"/>
              <a:t>2</a:t>
            </a:r>
            <a:r>
              <a:rPr lang="zh-CN" altLang="en-US" dirty="0"/>
              <a:t>号课程的学生姓名。</a:t>
            </a:r>
            <a:endParaRPr lang="en-US" altLang="zh-CN" dirty="0"/>
          </a:p>
          <a:p>
            <a:pPr marL="914400" lvl="2" indent="0">
              <a:buNone/>
            </a:pPr>
            <a:r>
              <a:rPr lang="en-US" altLang="zh-CN" dirty="0">
                <a:solidFill>
                  <a:srgbClr val="0000FF"/>
                </a:solidFill>
              </a:rPr>
              <a:t>SELECT </a:t>
            </a:r>
            <a:r>
              <a:rPr lang="en-US" altLang="zh-CN" dirty="0" err="1">
                <a:solidFill>
                  <a:srgbClr val="0000FF"/>
                </a:solidFill>
              </a:rPr>
              <a:t>Student.Sname</a:t>
            </a:r>
            <a:r>
              <a:rPr lang="en-US" altLang="zh-CN" dirty="0">
                <a:solidFill>
                  <a:srgbClr val="0000FF"/>
                </a:solidFill>
              </a:rPr>
              <a:t> </a:t>
            </a:r>
          </a:p>
          <a:p>
            <a:pPr marL="914400" lvl="2" indent="0">
              <a:buNone/>
            </a:pPr>
            <a:r>
              <a:rPr lang="en-US" altLang="zh-CN" dirty="0">
                <a:solidFill>
                  <a:srgbClr val="0000FF"/>
                </a:solidFill>
              </a:rPr>
              <a:t>FROM Student, SC </a:t>
            </a:r>
          </a:p>
          <a:p>
            <a:pPr marL="914400" lvl="2" indent="0">
              <a:buNone/>
            </a:pPr>
            <a:r>
              <a:rPr lang="en-US" altLang="zh-CN" dirty="0">
                <a:solidFill>
                  <a:srgbClr val="0000FF"/>
                </a:solidFill>
              </a:rPr>
              <a:t>WHERE </a:t>
            </a:r>
            <a:r>
              <a:rPr lang="en-US" altLang="zh-CN" dirty="0" err="1">
                <a:solidFill>
                  <a:srgbClr val="0000FF"/>
                </a:solidFill>
              </a:rPr>
              <a:t>Student.Sno</a:t>
            </a:r>
            <a:r>
              <a:rPr lang="en-US" altLang="zh-CN" dirty="0">
                <a:solidFill>
                  <a:srgbClr val="0000FF"/>
                </a:solidFill>
              </a:rPr>
              <a:t>=</a:t>
            </a:r>
            <a:r>
              <a:rPr lang="en-US" altLang="zh-CN" dirty="0" err="1">
                <a:solidFill>
                  <a:srgbClr val="0000FF"/>
                </a:solidFill>
              </a:rPr>
              <a:t>SC.Sno</a:t>
            </a:r>
            <a:r>
              <a:rPr lang="en-US" altLang="zh-CN" dirty="0">
                <a:solidFill>
                  <a:srgbClr val="0000FF"/>
                </a:solidFill>
              </a:rPr>
              <a:t> AND </a:t>
            </a:r>
            <a:r>
              <a:rPr lang="en-US" altLang="zh-CN" dirty="0" err="1">
                <a:solidFill>
                  <a:srgbClr val="0000FF"/>
                </a:solidFill>
              </a:rPr>
              <a:t>SC.Cno</a:t>
            </a:r>
            <a:r>
              <a:rPr lang="en-US" altLang="zh-CN" dirty="0">
                <a:solidFill>
                  <a:srgbClr val="0000FF"/>
                </a:solidFill>
              </a:rPr>
              <a:t>=‘2’;</a:t>
            </a:r>
          </a:p>
          <a:p>
            <a:pPr lvl="1"/>
            <a:r>
              <a:rPr lang="zh-CN" altLang="en-US" sz="2000" dirty="0"/>
              <a:t>假定数据库中有</a:t>
            </a:r>
            <a:r>
              <a:rPr lang="en-US" altLang="zh-CN" sz="2000" dirty="0"/>
              <a:t>1000</a:t>
            </a:r>
            <a:r>
              <a:rPr lang="zh-CN" altLang="en-US" sz="2000" dirty="0"/>
              <a:t>个学生记录，</a:t>
            </a:r>
            <a:r>
              <a:rPr lang="en-US" altLang="zh-CN" sz="2000" dirty="0"/>
              <a:t>10000</a:t>
            </a:r>
            <a:r>
              <a:rPr lang="zh-CN" altLang="en-US" sz="2000" dirty="0"/>
              <a:t>个选课记录和</a:t>
            </a:r>
            <a:r>
              <a:rPr lang="en-US" altLang="zh-CN" sz="2000" dirty="0"/>
              <a:t>50</a:t>
            </a:r>
            <a:r>
              <a:rPr lang="zh-CN" altLang="en-US" sz="2000" dirty="0"/>
              <a:t>个选修</a:t>
            </a:r>
            <a:r>
              <a:rPr lang="en-US" altLang="zh-CN" sz="2000" dirty="0"/>
              <a:t>2</a:t>
            </a:r>
            <a:r>
              <a:rPr lang="zh-CN" altLang="en-US" sz="2000" dirty="0"/>
              <a:t>号课程的选课记录</a:t>
            </a:r>
            <a:endParaRPr lang="en-US" altLang="zh-CN" sz="2000" dirty="0"/>
          </a:p>
          <a:p>
            <a:pPr lvl="1"/>
            <a:r>
              <a:rPr lang="zh-CN" altLang="en-US" dirty="0"/>
              <a:t>实现上述查询的等价关系代数表达式有：</a:t>
            </a:r>
            <a:endParaRPr lang="en-US" altLang="zh-CN" dirty="0"/>
          </a:p>
        </p:txBody>
      </p:sp>
      <p:sp>
        <p:nvSpPr>
          <p:cNvPr id="4" name="灯片编号占位符 3">
            <a:extLst>
              <a:ext uri="{FF2B5EF4-FFF2-40B4-BE49-F238E27FC236}">
                <a16:creationId xmlns:a16="http://schemas.microsoft.com/office/drawing/2014/main" id="{3A136DE6-94C5-44D1-9F6E-1AC067572411}"/>
              </a:ext>
            </a:extLst>
          </p:cNvPr>
          <p:cNvSpPr>
            <a:spLocks noGrp="1"/>
          </p:cNvSpPr>
          <p:nvPr>
            <p:ph type="sldNum" sz="quarter" idx="12"/>
          </p:nvPr>
        </p:nvSpPr>
        <p:spPr/>
        <p:txBody>
          <a:bodyPr/>
          <a:lstStyle/>
          <a:p>
            <a:fld id="{E63F6D5D-9733-4D44-9C56-AEFEDD5A4BA7}" type="slidenum">
              <a:rPr lang="en-US" smtClean="0"/>
              <a:pPr/>
              <a:t>19</a:t>
            </a:fld>
            <a:endParaRPr lang="en-US" dirty="0"/>
          </a:p>
        </p:txBody>
      </p:sp>
      <p:sp>
        <p:nvSpPr>
          <p:cNvPr id="9" name="矩形 8">
            <a:extLst>
              <a:ext uri="{FF2B5EF4-FFF2-40B4-BE49-F238E27FC236}">
                <a16:creationId xmlns:a16="http://schemas.microsoft.com/office/drawing/2014/main" id="{81ADBE1E-660B-4807-B048-7EAFF5D810EE}"/>
              </a:ext>
            </a:extLst>
          </p:cNvPr>
          <p:cNvSpPr/>
          <p:nvPr/>
        </p:nvSpPr>
        <p:spPr>
          <a:xfrm>
            <a:off x="1524000" y="4114098"/>
            <a:ext cx="8458200" cy="1569660"/>
          </a:xfrm>
          <a:prstGeom prst="rect">
            <a:avLst/>
          </a:prstGeom>
          <a:solidFill>
            <a:schemeClr val="bg1">
              <a:lumMod val="85000"/>
            </a:schemeClr>
          </a:solidFill>
        </p:spPr>
        <p:txBody>
          <a:bodyPr wrap="square">
            <a:spAutoFit/>
          </a:bodyPr>
          <a:lstStyle/>
          <a:p>
            <a:pPr lvl="1" indent="-368300">
              <a:lnSpc>
                <a:spcPct val="120000"/>
              </a:lnSpc>
              <a:defRPr/>
            </a:pPr>
            <a:r>
              <a:rPr lang="en-US" altLang="zh-CN" sz="2400" b="1" dirty="0">
                <a:solidFill>
                  <a:srgbClr val="FF0000"/>
                </a:solidFill>
                <a:latin typeface="Courier New" panose="02070309020205020404" pitchFamily="49" charset="0"/>
                <a:cs typeface="Courier New" panose="02070309020205020404" pitchFamily="49" charset="0"/>
              </a:rPr>
              <a:t>Q</a:t>
            </a:r>
            <a:r>
              <a:rPr lang="en-US" altLang="zh-CN" sz="2400" b="1" baseline="-25000" dirty="0">
                <a:solidFill>
                  <a:srgbClr val="FF0000"/>
                </a:solidFill>
                <a:latin typeface="Courier New" panose="02070309020205020404" pitchFamily="49" charset="0"/>
                <a:cs typeface="Courier New" panose="02070309020205020404" pitchFamily="49" charset="0"/>
              </a:rPr>
              <a:t>1</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ea typeface="Cambria Math" panose="02040503050406030204" pitchFamily="18" charset="0"/>
                <a:cs typeface="Courier New" panose="02070309020205020404" pitchFamily="49" charset="0"/>
              </a:rPr>
              <a:t>∏</a:t>
            </a:r>
            <a:r>
              <a:rPr lang="en-US" altLang="zh-CN" sz="2400" b="1" baseline="-25000" dirty="0">
                <a:solidFill>
                  <a:srgbClr val="0000FF"/>
                </a:solidFill>
                <a:latin typeface="Courier New" panose="02070309020205020404" pitchFamily="49" charset="0"/>
                <a:cs typeface="Courier New" panose="02070309020205020404" pitchFamily="49" charset="0"/>
              </a:rPr>
              <a:t>Sname</a:t>
            </a:r>
            <a:r>
              <a:rPr lang="en-US" altLang="zh-CN" sz="2400" b="1" dirty="0">
                <a:solidFill>
                  <a:srgbClr val="0000FF"/>
                </a:solidFill>
                <a:latin typeface="Courier New" panose="02070309020205020404" pitchFamily="49" charset="0"/>
                <a:cs typeface="Courier New" panose="02070309020205020404" pitchFamily="49" charset="0"/>
              </a:rPr>
              <a:t>(</a:t>
            </a:r>
            <a:r>
              <a:rPr lang="zh-CN" altLang="en-US" sz="2400" b="1" dirty="0">
                <a:solidFill>
                  <a:srgbClr val="0000FF"/>
                </a:solidFill>
                <a:latin typeface="Cambria Math" panose="02040503050406030204" pitchFamily="18" charset="0"/>
                <a:cs typeface="Courier New" panose="02070309020205020404" pitchFamily="49" charset="0"/>
              </a:rPr>
              <a:t>𝜎</a:t>
            </a:r>
            <a:r>
              <a:rPr lang="en-US" altLang="zh-CN" sz="2400" b="1" baseline="-25000" dirty="0" err="1">
                <a:solidFill>
                  <a:srgbClr val="0000FF"/>
                </a:solidFill>
                <a:latin typeface="Courier New" panose="02070309020205020404" pitchFamily="49" charset="0"/>
                <a:cs typeface="Courier New" panose="02070309020205020404" pitchFamily="49" charset="0"/>
              </a:rPr>
              <a:t>Student.Sno</a:t>
            </a:r>
            <a:r>
              <a:rPr lang="en-US" altLang="zh-CN" sz="2400" b="1" baseline="-25000" dirty="0">
                <a:solidFill>
                  <a:srgbClr val="0000FF"/>
                </a:solidFill>
                <a:latin typeface="Courier New" panose="02070309020205020404" pitchFamily="49" charset="0"/>
                <a:cs typeface="Courier New" panose="02070309020205020404" pitchFamily="49" charset="0"/>
              </a:rPr>
              <a:t>=</a:t>
            </a:r>
            <a:r>
              <a:rPr lang="en-US" altLang="zh-CN" sz="2400" b="1" baseline="-25000" dirty="0" err="1">
                <a:solidFill>
                  <a:srgbClr val="0000FF"/>
                </a:solidFill>
                <a:latin typeface="Courier New" panose="02070309020205020404" pitchFamily="49" charset="0"/>
                <a:cs typeface="Courier New" panose="02070309020205020404" pitchFamily="49" charset="0"/>
              </a:rPr>
              <a:t>SC.Sno∧SC.Cno</a:t>
            </a:r>
            <a:r>
              <a:rPr lang="en-US" altLang="zh-CN" sz="2400" b="1" baseline="-25000" dirty="0">
                <a:solidFill>
                  <a:srgbClr val="0000FF"/>
                </a:solidFill>
                <a:latin typeface="Courier New" panose="02070309020205020404" pitchFamily="49" charset="0"/>
                <a:cs typeface="Courier New" panose="02070309020205020404" pitchFamily="49" charset="0"/>
              </a:rPr>
              <a:t>='2'</a:t>
            </a:r>
            <a:r>
              <a:rPr lang="en-US" altLang="zh-CN" sz="2400" b="1" dirty="0">
                <a:solidFill>
                  <a:srgbClr val="0000FF"/>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Student</a:t>
            </a:r>
            <a:r>
              <a:rPr lang="en-US" altLang="zh-CN" sz="2400" b="1" dirty="0" err="1">
                <a:solidFill>
                  <a:srgbClr val="FF0000"/>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SC</a:t>
            </a:r>
            <a:r>
              <a:rPr lang="en-US" altLang="zh-CN" sz="2400" b="1" dirty="0">
                <a:solidFill>
                  <a:srgbClr val="0000FF"/>
                </a:solidFill>
                <a:latin typeface="Courier New" panose="02070309020205020404" pitchFamily="49" charset="0"/>
                <a:cs typeface="Courier New" panose="02070309020205020404" pitchFamily="49" charset="0"/>
              </a:rPr>
              <a:t>))</a:t>
            </a:r>
          </a:p>
          <a:p>
            <a:pPr lvl="1" indent="-368300">
              <a:lnSpc>
                <a:spcPct val="120000"/>
              </a:lnSpc>
              <a:defRPr/>
            </a:pPr>
            <a:r>
              <a:rPr lang="en-US" altLang="zh-CN" sz="2400" b="1" dirty="0">
                <a:solidFill>
                  <a:srgbClr val="FF0000"/>
                </a:solidFill>
                <a:latin typeface="Courier New" panose="02070309020205020404" pitchFamily="49" charset="0"/>
                <a:cs typeface="Courier New" panose="02070309020205020404" pitchFamily="49" charset="0"/>
              </a:rPr>
              <a:t>Q</a:t>
            </a:r>
            <a:r>
              <a:rPr lang="en-US" altLang="zh-CN" sz="2400" b="1" baseline="-25000" dirty="0">
                <a:solidFill>
                  <a:srgbClr val="FF0000"/>
                </a:solidFill>
                <a:latin typeface="Courier New" panose="02070309020205020404" pitchFamily="49" charset="0"/>
                <a:cs typeface="Courier New" panose="02070309020205020404" pitchFamily="49" charset="0"/>
              </a:rPr>
              <a:t>2</a:t>
            </a:r>
            <a:r>
              <a:rPr lang="en-US" altLang="zh-CN"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ea typeface="Cambria Math" panose="02040503050406030204" pitchFamily="18" charset="0"/>
                <a:cs typeface="Courier New" panose="02070309020205020404" pitchFamily="49" charset="0"/>
              </a:rPr>
              <a:t> ∏</a:t>
            </a:r>
            <a:r>
              <a:rPr lang="en-US" altLang="zh-CN" sz="2400" b="1" baseline="-25000" dirty="0" err="1">
                <a:solidFill>
                  <a:srgbClr val="0000FF"/>
                </a:solidFill>
                <a:latin typeface="Courier New" panose="02070309020205020404" pitchFamily="49" charset="0"/>
                <a:cs typeface="Courier New" panose="02070309020205020404" pitchFamily="49" charset="0"/>
              </a:rPr>
              <a:t>Sname</a:t>
            </a:r>
            <a:r>
              <a:rPr lang="en-US" altLang="zh-CN" sz="2400" b="1" dirty="0">
                <a:solidFill>
                  <a:srgbClr val="0000FF"/>
                </a:solidFill>
                <a:latin typeface="Courier New" panose="02070309020205020404" pitchFamily="49" charset="0"/>
                <a:cs typeface="Courier New" panose="02070309020205020404" pitchFamily="49" charset="0"/>
              </a:rPr>
              <a:t>(</a:t>
            </a:r>
            <a:r>
              <a:rPr lang="zh-CN" altLang="en-US" sz="2400" b="1" dirty="0">
                <a:solidFill>
                  <a:srgbClr val="0000FF"/>
                </a:solidFill>
                <a:latin typeface="Cambria Math" panose="02040503050406030204" pitchFamily="18" charset="0"/>
                <a:cs typeface="Courier New" panose="02070309020205020404" pitchFamily="49" charset="0"/>
              </a:rPr>
              <a:t>𝜎</a:t>
            </a:r>
            <a:r>
              <a:rPr lang="en-US" altLang="zh-CN" sz="2400" b="1" baseline="-25000" dirty="0" err="1">
                <a:solidFill>
                  <a:srgbClr val="0000FF"/>
                </a:solidFill>
                <a:latin typeface="Courier New" panose="02070309020205020404" pitchFamily="49" charset="0"/>
                <a:cs typeface="Courier New" panose="02070309020205020404" pitchFamily="49" charset="0"/>
              </a:rPr>
              <a:t>SC.Cno</a:t>
            </a:r>
            <a:r>
              <a:rPr lang="en-US" altLang="zh-CN" sz="2400" b="1" baseline="-25000" dirty="0">
                <a:solidFill>
                  <a:srgbClr val="0000FF"/>
                </a:solidFill>
                <a:latin typeface="Courier New" panose="02070309020205020404" pitchFamily="49" charset="0"/>
                <a:cs typeface="Courier New" panose="02070309020205020404" pitchFamily="49" charset="0"/>
              </a:rPr>
              <a:t>='2'</a:t>
            </a:r>
            <a:r>
              <a:rPr lang="en-US" altLang="zh-CN" sz="2400" b="1" dirty="0">
                <a:solidFill>
                  <a:srgbClr val="0000FF"/>
                </a:solidFill>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Student</a:t>
            </a:r>
            <a:r>
              <a:rPr lang="en-US" altLang="zh-CN" sz="2800" b="1" dirty="0" err="1">
                <a:solidFill>
                  <a:srgbClr val="FF0000"/>
                </a:solidFill>
                <a:latin typeface="Courier New" panose="02070309020205020404" pitchFamily="49" charset="0"/>
                <a:ea typeface="Cambria Math" panose="02040503050406030204" pitchFamily="18"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SC</a:t>
            </a:r>
            <a:r>
              <a:rPr lang="en-US" altLang="zh-CN" sz="2400" b="1" dirty="0">
                <a:solidFill>
                  <a:srgbClr val="0000FF"/>
                </a:solidFill>
                <a:latin typeface="Courier New" panose="02070309020205020404" pitchFamily="49" charset="0"/>
                <a:cs typeface="Courier New" panose="02070309020205020404" pitchFamily="49" charset="0"/>
              </a:rPr>
              <a:t>))</a:t>
            </a:r>
            <a:endParaRPr lang="zh-CN" altLang="en-US" sz="2400" b="1" dirty="0">
              <a:solidFill>
                <a:srgbClr val="0000FF"/>
              </a:solidFill>
              <a:latin typeface="Courier New" panose="02070309020205020404" pitchFamily="49" charset="0"/>
              <a:cs typeface="Courier New" panose="02070309020205020404" pitchFamily="49" charset="0"/>
            </a:endParaRPr>
          </a:p>
          <a:p>
            <a:pPr lvl="1" indent="-368300">
              <a:lnSpc>
                <a:spcPct val="120000"/>
              </a:lnSpc>
              <a:defRPr/>
            </a:pPr>
            <a:r>
              <a:rPr lang="en-US" altLang="zh-CN" sz="2400" b="1" dirty="0">
                <a:solidFill>
                  <a:srgbClr val="FF0000"/>
                </a:solidFill>
                <a:latin typeface="Courier New" panose="02070309020205020404" pitchFamily="49" charset="0"/>
                <a:cs typeface="Courier New" panose="02070309020205020404" pitchFamily="49" charset="0"/>
              </a:rPr>
              <a:t>Q</a:t>
            </a:r>
            <a:r>
              <a:rPr lang="en-US" altLang="zh-CN" sz="2400" b="1" baseline="-25000" dirty="0">
                <a:solidFill>
                  <a:srgbClr val="FF0000"/>
                </a:solidFill>
                <a:latin typeface="Courier New" panose="02070309020205020404" pitchFamily="49" charset="0"/>
                <a:cs typeface="Courier New" panose="02070309020205020404" pitchFamily="49" charset="0"/>
              </a:rPr>
              <a:t>3</a:t>
            </a:r>
            <a:r>
              <a:rPr lang="en-US" altLang="zh-CN"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ea typeface="Cambria Math" panose="02040503050406030204" pitchFamily="18" charset="0"/>
                <a:cs typeface="Courier New" panose="02070309020205020404" pitchFamily="49" charset="0"/>
              </a:rPr>
              <a:t> ∏</a:t>
            </a:r>
            <a:r>
              <a:rPr lang="en-US" altLang="zh-CN" sz="2400" b="1" baseline="-25000" dirty="0">
                <a:solidFill>
                  <a:srgbClr val="0000FF"/>
                </a:solidFill>
                <a:latin typeface="Courier New" panose="02070309020205020404" pitchFamily="49" charset="0"/>
                <a:cs typeface="Courier New" panose="02070309020205020404" pitchFamily="49" charset="0"/>
              </a:rPr>
              <a:t>Sname</a:t>
            </a:r>
            <a:r>
              <a:rPr lang="en-US" altLang="zh-CN" sz="2400" b="1" dirty="0">
                <a:solidFill>
                  <a:srgbClr val="0000FF"/>
                </a:solidFill>
                <a:latin typeface="Courier New" panose="02070309020205020404" pitchFamily="49" charset="0"/>
                <a:cs typeface="Courier New" panose="02070309020205020404" pitchFamily="49" charset="0"/>
              </a:rPr>
              <a:t>(Student</a:t>
            </a:r>
            <a:r>
              <a:rPr lang="en-US" altLang="zh-CN" sz="2800" b="1" dirty="0">
                <a:solidFill>
                  <a:srgbClr val="FF0000"/>
                </a:solidFill>
                <a:latin typeface="Courier New" panose="02070309020205020404" pitchFamily="49" charset="0"/>
                <a:ea typeface="Cambria Math" panose="02040503050406030204" pitchFamily="18" charset="0"/>
                <a:cs typeface="Courier New" panose="02070309020205020404" pitchFamily="49" charset="0"/>
              </a:rPr>
              <a:t>⋈</a:t>
            </a:r>
            <a:r>
              <a:rPr lang="zh-CN" altLang="en-US" sz="2400" b="1" dirty="0">
                <a:solidFill>
                  <a:srgbClr val="0000FF"/>
                </a:solidFill>
                <a:latin typeface="Cambria Math" panose="02040503050406030204" pitchFamily="18" charset="0"/>
                <a:cs typeface="Courier New" panose="02070309020205020404" pitchFamily="49" charset="0"/>
              </a:rPr>
              <a:t>𝜎</a:t>
            </a:r>
            <a:r>
              <a:rPr lang="en-US" altLang="zh-CN" sz="2400" b="1" baseline="-25000" dirty="0" err="1">
                <a:solidFill>
                  <a:srgbClr val="0000FF"/>
                </a:solidFill>
                <a:latin typeface="Courier New" panose="02070309020205020404" pitchFamily="49" charset="0"/>
                <a:cs typeface="Courier New" panose="02070309020205020404" pitchFamily="49" charset="0"/>
              </a:rPr>
              <a:t>SC.Cno</a:t>
            </a:r>
            <a:r>
              <a:rPr lang="en-US" altLang="zh-CN" sz="2400" b="1" baseline="-25000" dirty="0">
                <a:solidFill>
                  <a:srgbClr val="0000FF"/>
                </a:solidFill>
                <a:latin typeface="Courier New" panose="02070309020205020404" pitchFamily="49" charset="0"/>
                <a:cs typeface="Courier New" panose="02070309020205020404" pitchFamily="49" charset="0"/>
              </a:rPr>
              <a:t>='2'</a:t>
            </a:r>
            <a:r>
              <a:rPr lang="en-US" altLang="zh-CN" sz="2400" b="1" dirty="0">
                <a:solidFill>
                  <a:srgbClr val="0000FF"/>
                </a:solidFill>
                <a:latin typeface="Courier New" panose="02070309020205020404" pitchFamily="49" charset="0"/>
                <a:cs typeface="Courier New" panose="02070309020205020404" pitchFamily="49" charset="0"/>
              </a:rPr>
              <a:t>(SC))</a:t>
            </a:r>
            <a:endParaRPr lang="zh-CN" altLang="en-US" sz="2400" b="1" dirty="0">
              <a:solidFill>
                <a:srgbClr val="0000FF"/>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76872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1000"/>
                                        <p:tgtEl>
                                          <p:spTgt spid="9"/>
                                        </p:tgtEl>
                                      </p:cBhvr>
                                    </p:animEffect>
                                    <p:anim calcmode="lin" valueType="num">
                                      <p:cBhvr>
                                        <p:cTn id="10" dur="1000" fill="hold"/>
                                        <p:tgtEl>
                                          <p:spTgt spid="9"/>
                                        </p:tgtEl>
                                        <p:attrNameLst>
                                          <p:attrName>ppt_x</p:attrName>
                                        </p:attrNameLst>
                                      </p:cBhvr>
                                      <p:tavLst>
                                        <p:tav tm="0">
                                          <p:val>
                                            <p:strVal val="#ppt_x"/>
                                          </p:val>
                                        </p:tav>
                                        <p:tav tm="100000">
                                          <p:val>
                                            <p:strVal val="#ppt_x"/>
                                          </p:val>
                                        </p:tav>
                                      </p:tavLst>
                                    </p:anim>
                                    <p:anim calcmode="lin" valueType="num">
                                      <p:cBhvr>
                                        <p:cTn id="1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0B6FC12-7CD2-4A99-85C4-E99198B13B6A}"/>
              </a:ext>
            </a:extLst>
          </p:cNvPr>
          <p:cNvSpPr>
            <a:spLocks noGrp="1"/>
          </p:cNvSpPr>
          <p:nvPr>
            <p:ph idx="1"/>
          </p:nvPr>
        </p:nvSpPr>
        <p:spPr/>
        <p:txBody>
          <a:bodyPr/>
          <a:lstStyle/>
          <a:p>
            <a:pPr>
              <a:lnSpc>
                <a:spcPct val="100000"/>
              </a:lnSpc>
            </a:pPr>
            <a:r>
              <a:rPr lang="zh-CN" altLang="en-US">
                <a:solidFill>
                  <a:srgbClr val="FF0000"/>
                </a:solidFill>
                <a:cs typeface="Courier New" panose="02070309020205020404" pitchFamily="49" charset="0"/>
              </a:rPr>
              <a:t>情形一</a:t>
            </a:r>
            <a:r>
              <a:rPr lang="en-US" altLang="zh-CN">
                <a:solidFill>
                  <a:srgbClr val="FF0000"/>
                </a:solidFill>
                <a:cs typeface="Courier New" panose="02070309020205020404" pitchFamily="49" charset="0"/>
              </a:rPr>
              <a:t>:</a:t>
            </a:r>
          </a:p>
          <a:p>
            <a:pPr marL="0" indent="0" algn="ctr">
              <a:lnSpc>
                <a:spcPct val="100000"/>
              </a:lnSpc>
              <a:buNone/>
            </a:pPr>
            <a:r>
              <a:rPr lang="en-US" altLang="zh-CN">
                <a:solidFill>
                  <a:srgbClr val="FF0000"/>
                </a:solidFill>
                <a:cs typeface="Courier New" panose="02070309020205020404" pitchFamily="49" charset="0"/>
              </a:rPr>
              <a:t> </a:t>
            </a:r>
            <a:r>
              <a:rPr lang="en-US" altLang="zh-CN">
                <a:solidFill>
                  <a:srgbClr val="0000FF"/>
                </a:solidFill>
                <a:cs typeface="Courier New" panose="02070309020205020404" pitchFamily="49" charset="0"/>
              </a:rPr>
              <a:t>Q</a:t>
            </a:r>
            <a:r>
              <a:rPr lang="en-US" altLang="zh-CN" baseline="-25000">
                <a:solidFill>
                  <a:srgbClr val="0000FF"/>
                </a:solidFill>
                <a:cs typeface="Courier New" panose="02070309020205020404" pitchFamily="49" charset="0"/>
              </a:rPr>
              <a:t>1</a:t>
            </a:r>
            <a:r>
              <a:rPr lang="en-US" altLang="zh-CN">
                <a:solidFill>
                  <a:srgbClr val="0000FF"/>
                </a:solidFill>
                <a:cs typeface="Courier New" panose="02070309020205020404" pitchFamily="49" charset="0"/>
              </a:rPr>
              <a:t>=∏</a:t>
            </a:r>
            <a:r>
              <a:rPr lang="en-US" altLang="zh-CN" baseline="-25000">
                <a:solidFill>
                  <a:srgbClr val="0000FF"/>
                </a:solidFill>
                <a:cs typeface="Courier New" panose="02070309020205020404" pitchFamily="49" charset="0"/>
              </a:rPr>
              <a:t>Sname</a:t>
            </a:r>
            <a:r>
              <a:rPr lang="en-US" altLang="zh-CN">
                <a:solidFill>
                  <a:srgbClr val="0000FF"/>
                </a:solidFill>
                <a:cs typeface="Courier New" panose="02070309020205020404" pitchFamily="49" charset="0"/>
              </a:rPr>
              <a:t>(</a:t>
            </a:r>
            <a:r>
              <a:rPr lang="zh-CN" altLang="en-US">
                <a:solidFill>
                  <a:srgbClr val="0000FF"/>
                </a:solidFill>
                <a:cs typeface="Courier New" panose="02070309020205020404" pitchFamily="49" charset="0"/>
              </a:rPr>
              <a:t>𝜎</a:t>
            </a:r>
            <a:r>
              <a:rPr lang="en-US" altLang="zh-CN" baseline="-25000">
                <a:solidFill>
                  <a:srgbClr val="0000FF"/>
                </a:solidFill>
                <a:cs typeface="Courier New" panose="02070309020205020404" pitchFamily="49" charset="0"/>
              </a:rPr>
              <a:t>Student.Sno=SC.Sno∧SC.Cno='2'</a:t>
            </a:r>
            <a:r>
              <a:rPr lang="en-US" altLang="zh-CN">
                <a:solidFill>
                  <a:srgbClr val="0000FF"/>
                </a:solidFill>
                <a:cs typeface="Courier New" panose="02070309020205020404" pitchFamily="49" charset="0"/>
              </a:rPr>
              <a:t>(Student</a:t>
            </a:r>
            <a:r>
              <a:rPr lang="en-US" altLang="zh-CN">
                <a:solidFill>
                  <a:srgbClr val="FF0000"/>
                </a:solidFill>
                <a:cs typeface="Courier New" panose="02070309020205020404" pitchFamily="49" charset="0"/>
              </a:rPr>
              <a:t>×</a:t>
            </a:r>
            <a:r>
              <a:rPr lang="en-US" altLang="zh-CN">
                <a:solidFill>
                  <a:srgbClr val="0000FF"/>
                </a:solidFill>
                <a:cs typeface="Courier New" panose="02070309020205020404" pitchFamily="49" charset="0"/>
              </a:rPr>
              <a:t>SC))</a:t>
            </a:r>
          </a:p>
          <a:p>
            <a:pPr marL="0" indent="0">
              <a:lnSpc>
                <a:spcPct val="100000"/>
              </a:lnSpc>
              <a:buNone/>
            </a:pPr>
            <a:endParaRPr lang="en-US" altLang="zh-CN" sz="1200">
              <a:solidFill>
                <a:srgbClr val="0000FF"/>
              </a:solidFill>
              <a:cs typeface="Courier New" panose="02070309020205020404" pitchFamily="49" charset="0"/>
            </a:endParaRPr>
          </a:p>
          <a:p>
            <a:pPr marL="0" indent="0">
              <a:lnSpc>
                <a:spcPct val="100000"/>
              </a:lnSpc>
              <a:buNone/>
            </a:pPr>
            <a:endParaRPr lang="en-US" altLang="zh-CN" sz="1000"/>
          </a:p>
          <a:p>
            <a:pPr lvl="1">
              <a:lnSpc>
                <a:spcPct val="100000"/>
              </a:lnSpc>
            </a:pPr>
            <a:r>
              <a:rPr lang="zh-CN" altLang="en-US">
                <a:solidFill>
                  <a:srgbClr val="990033"/>
                </a:solidFill>
              </a:rPr>
              <a:t>计算步骤：</a:t>
            </a:r>
            <a:endParaRPr lang="en-US" altLang="zh-CN">
              <a:solidFill>
                <a:srgbClr val="990033"/>
              </a:solidFill>
            </a:endParaRPr>
          </a:p>
          <a:p>
            <a:pPr marL="1609725" lvl="2" indent="-400050">
              <a:lnSpc>
                <a:spcPct val="100000"/>
              </a:lnSpc>
              <a:buFont typeface="+mj-lt"/>
              <a:buAutoNum type="arabicPeriod"/>
            </a:pPr>
            <a:r>
              <a:rPr lang="zh-CN" altLang="en-US">
                <a:solidFill>
                  <a:srgbClr val="0000FF"/>
                </a:solidFill>
              </a:rPr>
              <a:t>计算 </a:t>
            </a:r>
            <a:r>
              <a:rPr lang="en-US" altLang="zh-CN">
                <a:solidFill>
                  <a:srgbClr val="0000FF"/>
                </a:solidFill>
              </a:rPr>
              <a:t>result1=</a:t>
            </a:r>
            <a:r>
              <a:rPr lang="en-US" altLang="zh-CN">
                <a:solidFill>
                  <a:srgbClr val="0000FF"/>
                </a:solidFill>
                <a:cs typeface="Courier New" panose="02070309020205020404" pitchFamily="49" charset="0"/>
              </a:rPr>
              <a:t>Student</a:t>
            </a:r>
            <a:r>
              <a:rPr lang="en-US" altLang="zh-CN">
                <a:solidFill>
                  <a:srgbClr val="FF0000"/>
                </a:solidFill>
                <a:cs typeface="Courier New" panose="02070309020205020404" pitchFamily="49" charset="0"/>
              </a:rPr>
              <a:t>×</a:t>
            </a:r>
            <a:r>
              <a:rPr lang="en-US" altLang="zh-CN">
                <a:solidFill>
                  <a:srgbClr val="0000FF"/>
                </a:solidFill>
                <a:cs typeface="Courier New" panose="02070309020205020404" pitchFamily="49" charset="0"/>
              </a:rPr>
              <a:t>SC</a:t>
            </a:r>
            <a:r>
              <a:rPr lang="zh-CN" altLang="en-US">
                <a:solidFill>
                  <a:srgbClr val="0000FF"/>
                </a:solidFill>
                <a:cs typeface="Courier New" panose="02070309020205020404" pitchFamily="49" charset="0"/>
              </a:rPr>
              <a:t>；</a:t>
            </a:r>
            <a:endParaRPr lang="en-US" altLang="zh-CN">
              <a:solidFill>
                <a:srgbClr val="0000FF"/>
              </a:solidFill>
              <a:cs typeface="Courier New" panose="02070309020205020404" pitchFamily="49" charset="0"/>
            </a:endParaRPr>
          </a:p>
          <a:p>
            <a:pPr marL="1609725" lvl="2" indent="-400050">
              <a:lnSpc>
                <a:spcPct val="100000"/>
              </a:lnSpc>
              <a:buFont typeface="+mj-lt"/>
              <a:buAutoNum type="arabicPeriod"/>
            </a:pPr>
            <a:r>
              <a:rPr lang="zh-CN" altLang="en-US">
                <a:solidFill>
                  <a:srgbClr val="0000FF"/>
                </a:solidFill>
                <a:cs typeface="Courier New" panose="02070309020205020404" pitchFamily="49" charset="0"/>
              </a:rPr>
              <a:t>计算 </a:t>
            </a:r>
            <a:r>
              <a:rPr lang="en-US" altLang="zh-CN">
                <a:solidFill>
                  <a:srgbClr val="0000FF"/>
                </a:solidFill>
                <a:cs typeface="Courier New" panose="02070309020205020404" pitchFamily="49" charset="0"/>
              </a:rPr>
              <a:t>result2=</a:t>
            </a:r>
            <a:r>
              <a:rPr lang="zh-CN" altLang="en-US">
                <a:solidFill>
                  <a:srgbClr val="0000FF"/>
                </a:solidFill>
                <a:cs typeface="Courier New" panose="02070309020205020404" pitchFamily="49" charset="0"/>
              </a:rPr>
              <a:t>𝜎</a:t>
            </a:r>
            <a:r>
              <a:rPr lang="en-US" altLang="zh-CN" baseline="-25000">
                <a:solidFill>
                  <a:srgbClr val="0000FF"/>
                </a:solidFill>
                <a:cs typeface="Courier New" panose="02070309020205020404" pitchFamily="49" charset="0"/>
              </a:rPr>
              <a:t>Student.Sno=SC.Sno∧SC.Cno</a:t>
            </a:r>
            <a:r>
              <a:rPr lang="en-US" altLang="zh-CN" baseline="-25000">
                <a:solidFill>
                  <a:srgbClr val="0000FF"/>
                </a:solidFill>
                <a:latin typeface="Cambria Math" panose="02040503050406030204" pitchFamily="18" charset="0"/>
                <a:ea typeface="Cambria Math" panose="02040503050406030204" pitchFamily="18" charset="0"/>
                <a:cs typeface="Courier New" panose="02070309020205020404" pitchFamily="49" charset="0"/>
              </a:rPr>
              <a:t>=‘2’</a:t>
            </a:r>
            <a:r>
              <a:rPr lang="en-US" altLang="zh-CN">
                <a:solidFill>
                  <a:srgbClr val="0000FF"/>
                </a:solidFill>
                <a:cs typeface="Courier New" panose="02070309020205020404" pitchFamily="49" charset="0"/>
              </a:rPr>
              <a:t>(result1)</a:t>
            </a:r>
            <a:r>
              <a:rPr lang="zh-CN" altLang="en-US">
                <a:solidFill>
                  <a:srgbClr val="0000FF"/>
                </a:solidFill>
                <a:cs typeface="Courier New" panose="02070309020205020404" pitchFamily="49" charset="0"/>
              </a:rPr>
              <a:t>；</a:t>
            </a:r>
            <a:endParaRPr lang="en-US" altLang="zh-CN">
              <a:solidFill>
                <a:srgbClr val="0000FF"/>
              </a:solidFill>
              <a:cs typeface="Courier New" panose="02070309020205020404" pitchFamily="49" charset="0"/>
            </a:endParaRPr>
          </a:p>
          <a:p>
            <a:pPr marL="1609725" lvl="2" indent="-400050">
              <a:lnSpc>
                <a:spcPct val="100000"/>
              </a:lnSpc>
              <a:buFont typeface="+mj-lt"/>
              <a:buAutoNum type="arabicPeriod"/>
            </a:pPr>
            <a:r>
              <a:rPr lang="zh-CN" altLang="en-US">
                <a:solidFill>
                  <a:srgbClr val="0000FF"/>
                </a:solidFill>
                <a:cs typeface="Courier New" panose="02070309020205020404" pitchFamily="49" charset="0"/>
              </a:rPr>
              <a:t>计算 </a:t>
            </a:r>
            <a:r>
              <a:rPr lang="en-US" altLang="zh-CN">
                <a:solidFill>
                  <a:srgbClr val="0000FF"/>
                </a:solidFill>
              </a:rPr>
              <a:t>result3=</a:t>
            </a:r>
            <a:r>
              <a:rPr lang="en-US" altLang="zh-CN">
                <a:solidFill>
                  <a:srgbClr val="0000FF"/>
                </a:solidFill>
                <a:cs typeface="Courier New" panose="02070309020205020404" pitchFamily="49" charset="0"/>
              </a:rPr>
              <a:t> ∏</a:t>
            </a:r>
            <a:r>
              <a:rPr lang="en-US" altLang="zh-CN" baseline="-25000">
                <a:solidFill>
                  <a:srgbClr val="0000FF"/>
                </a:solidFill>
                <a:cs typeface="Courier New" panose="02070309020205020404" pitchFamily="49" charset="0"/>
              </a:rPr>
              <a:t>Sname</a:t>
            </a:r>
            <a:r>
              <a:rPr lang="en-US" altLang="zh-CN">
                <a:solidFill>
                  <a:srgbClr val="0000FF"/>
                </a:solidFill>
                <a:cs typeface="Courier New" panose="02070309020205020404" pitchFamily="49" charset="0"/>
              </a:rPr>
              <a:t>(result2)</a:t>
            </a:r>
            <a:r>
              <a:rPr lang="zh-CN" altLang="en-US">
                <a:solidFill>
                  <a:srgbClr val="0000FF"/>
                </a:solidFill>
                <a:cs typeface="Courier New" panose="02070309020205020404" pitchFamily="49" charset="0"/>
              </a:rPr>
              <a:t>，得到最终结果。</a:t>
            </a:r>
            <a:endParaRPr lang="zh-CN" altLang="en-US"/>
          </a:p>
        </p:txBody>
      </p:sp>
      <p:sp>
        <p:nvSpPr>
          <p:cNvPr id="4" name="灯片编号占位符 3">
            <a:extLst>
              <a:ext uri="{FF2B5EF4-FFF2-40B4-BE49-F238E27FC236}">
                <a16:creationId xmlns:a16="http://schemas.microsoft.com/office/drawing/2014/main" id="{DAF47789-99BD-45CC-B79B-37A9CE27D87E}"/>
              </a:ext>
            </a:extLst>
          </p:cNvPr>
          <p:cNvSpPr>
            <a:spLocks noGrp="1"/>
          </p:cNvSpPr>
          <p:nvPr>
            <p:ph type="sldNum" sz="quarter" idx="12"/>
          </p:nvPr>
        </p:nvSpPr>
        <p:spPr/>
        <p:txBody>
          <a:bodyPr/>
          <a:lstStyle/>
          <a:p>
            <a:fld id="{E63F6D5D-9733-4D44-9C56-AEFEDD5A4BA7}" type="slidenum">
              <a:rPr lang="en-US" smtClean="0"/>
              <a:pPr/>
              <a:t>20</a:t>
            </a:fld>
            <a:endParaRPr lang="en-US" dirty="0"/>
          </a:p>
        </p:txBody>
      </p:sp>
      <p:sp>
        <p:nvSpPr>
          <p:cNvPr id="5" name="标题 1">
            <a:extLst>
              <a:ext uri="{FF2B5EF4-FFF2-40B4-BE49-F238E27FC236}">
                <a16:creationId xmlns:a16="http://schemas.microsoft.com/office/drawing/2014/main" id="{85D6FD87-6D3F-4784-9BEB-301A7ED8B8A8}"/>
              </a:ext>
            </a:extLst>
          </p:cNvPr>
          <p:cNvSpPr>
            <a:spLocks noGrp="1"/>
          </p:cNvSpPr>
          <p:nvPr>
            <p:ph type="title"/>
          </p:nvPr>
        </p:nvSpPr>
        <p:spPr>
          <a:xfrm>
            <a:off x="1281113" y="238125"/>
            <a:ext cx="9553575" cy="512763"/>
          </a:xfrm>
        </p:spPr>
        <p:txBody>
          <a:bodyPr/>
          <a:lstStyle/>
          <a:p>
            <a:r>
              <a:rPr lang="zh-CN" altLang="en-US" dirty="0"/>
              <a:t>实例分析</a:t>
            </a:r>
          </a:p>
        </p:txBody>
      </p:sp>
    </p:spTree>
    <p:extLst>
      <p:ext uri="{BB962C8B-B14F-4D97-AF65-F5344CB8AC3E}">
        <p14:creationId xmlns:p14="http://schemas.microsoft.com/office/powerpoint/2010/main" val="4230188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7DBD9F04-928E-481A-88D8-0ED8872D5B6B}"/>
              </a:ext>
            </a:extLst>
          </p:cNvPr>
          <p:cNvSpPr>
            <a:spLocks noGrp="1"/>
          </p:cNvSpPr>
          <p:nvPr>
            <p:ph type="title"/>
          </p:nvPr>
        </p:nvSpPr>
        <p:spPr/>
        <p:txBody>
          <a:bodyPr/>
          <a:lstStyle/>
          <a:p>
            <a:r>
              <a:rPr lang="zh-CN" altLang="en-US"/>
              <a:t>实例分析</a:t>
            </a:r>
            <a:endParaRPr lang="zh-CN" altLang="en-US" dirty="0"/>
          </a:p>
        </p:txBody>
      </p:sp>
      <p:sp>
        <p:nvSpPr>
          <p:cNvPr id="3" name="内容占位符 2">
            <a:extLst>
              <a:ext uri="{FF2B5EF4-FFF2-40B4-BE49-F238E27FC236}">
                <a16:creationId xmlns:a16="http://schemas.microsoft.com/office/drawing/2014/main" id="{1C922D5C-CE16-457C-B29E-8D6B905C48E2}"/>
              </a:ext>
            </a:extLst>
          </p:cNvPr>
          <p:cNvSpPr>
            <a:spLocks noGrp="1"/>
          </p:cNvSpPr>
          <p:nvPr>
            <p:ph idx="1"/>
          </p:nvPr>
        </p:nvSpPr>
        <p:spPr/>
        <p:txBody>
          <a:bodyPr>
            <a:normAutofit fontScale="92500" lnSpcReduction="20000"/>
          </a:bodyPr>
          <a:lstStyle/>
          <a:p>
            <a:r>
              <a:rPr lang="en-US" altLang="zh-CN" dirty="0"/>
              <a:t>1.</a:t>
            </a:r>
            <a:r>
              <a:rPr lang="zh-CN" altLang="en-US" dirty="0"/>
              <a:t>计算</a:t>
            </a:r>
            <a:r>
              <a:rPr lang="en-US" altLang="zh-CN" dirty="0">
                <a:solidFill>
                  <a:srgbClr val="0000FF"/>
                </a:solidFill>
              </a:rPr>
              <a:t>result1=</a:t>
            </a:r>
            <a:r>
              <a:rPr lang="en-US" altLang="zh-CN" dirty="0" err="1">
                <a:solidFill>
                  <a:srgbClr val="0000FF"/>
                </a:solidFill>
              </a:rPr>
              <a:t>Student×SC</a:t>
            </a:r>
            <a:r>
              <a:rPr lang="zh-CN" altLang="en-US" dirty="0">
                <a:solidFill>
                  <a:srgbClr val="0000FF"/>
                </a:solidFill>
              </a:rPr>
              <a:t>（广义笛卡尔积）</a:t>
            </a:r>
            <a:endParaRPr lang="en-US" altLang="zh-CN" dirty="0">
              <a:solidFill>
                <a:srgbClr val="0000FF"/>
              </a:solidFill>
            </a:endParaRPr>
          </a:p>
          <a:p>
            <a:pPr lvl="1"/>
            <a:r>
              <a:rPr lang="zh-CN" altLang="en-US" dirty="0">
                <a:solidFill>
                  <a:srgbClr val="C00000"/>
                </a:solidFill>
              </a:rPr>
              <a:t>算法</a:t>
            </a:r>
            <a:endParaRPr lang="en-US" altLang="zh-CN" dirty="0">
              <a:solidFill>
                <a:srgbClr val="C00000"/>
              </a:solidFill>
            </a:endParaRPr>
          </a:p>
          <a:p>
            <a:pPr lvl="2"/>
            <a:r>
              <a:rPr lang="zh-CN" altLang="en-US" dirty="0"/>
              <a:t>在内存中尽可能多地装入某个表</a:t>
            </a:r>
            <a:r>
              <a:rPr lang="en-US" altLang="zh-CN" dirty="0"/>
              <a:t>(</a:t>
            </a:r>
            <a:r>
              <a:rPr lang="zh-CN" altLang="en-US" dirty="0"/>
              <a:t>如</a:t>
            </a:r>
            <a:r>
              <a:rPr lang="en-US" altLang="zh-CN" dirty="0"/>
              <a:t>Student</a:t>
            </a:r>
            <a:r>
              <a:rPr lang="zh-CN" altLang="en-US" dirty="0"/>
              <a:t>表</a:t>
            </a:r>
            <a:r>
              <a:rPr lang="en-US" altLang="zh-CN" dirty="0"/>
              <a:t>)</a:t>
            </a:r>
            <a:r>
              <a:rPr lang="zh-CN" altLang="en-US" dirty="0"/>
              <a:t>的若干块，留出一块存放另一个表</a:t>
            </a:r>
            <a:r>
              <a:rPr lang="en-US" altLang="zh-CN" dirty="0"/>
              <a:t>(</a:t>
            </a:r>
            <a:r>
              <a:rPr lang="zh-CN" altLang="en-US" dirty="0"/>
              <a:t>如</a:t>
            </a:r>
            <a:r>
              <a:rPr lang="en-US" altLang="zh-CN" dirty="0"/>
              <a:t>SC</a:t>
            </a:r>
            <a:r>
              <a:rPr lang="zh-CN" altLang="en-US" dirty="0"/>
              <a:t>表</a:t>
            </a:r>
            <a:r>
              <a:rPr lang="en-US" altLang="zh-CN" dirty="0"/>
              <a:t>)</a:t>
            </a:r>
            <a:r>
              <a:rPr lang="zh-CN" altLang="en-US" dirty="0"/>
              <a:t>的元组；</a:t>
            </a:r>
          </a:p>
          <a:p>
            <a:pPr lvl="2"/>
            <a:r>
              <a:rPr lang="zh-CN" altLang="en-US" dirty="0"/>
              <a:t>把</a:t>
            </a:r>
            <a:r>
              <a:rPr lang="en-US" altLang="zh-CN" dirty="0"/>
              <a:t>SC</a:t>
            </a:r>
            <a:r>
              <a:rPr lang="zh-CN" altLang="en-US" dirty="0"/>
              <a:t>中的每个元组和</a:t>
            </a:r>
            <a:r>
              <a:rPr lang="en-US" altLang="zh-CN" dirty="0"/>
              <a:t>Student</a:t>
            </a:r>
            <a:r>
              <a:rPr lang="zh-CN" altLang="en-US" dirty="0"/>
              <a:t>中每个元组连接，连接后的元组装满一块后就写到中间文件上；</a:t>
            </a:r>
          </a:p>
          <a:p>
            <a:pPr lvl="2"/>
            <a:r>
              <a:rPr lang="zh-CN" altLang="en-US" dirty="0"/>
              <a:t>从</a:t>
            </a:r>
            <a:r>
              <a:rPr lang="en-US" altLang="zh-CN" dirty="0"/>
              <a:t>SC</a:t>
            </a:r>
            <a:r>
              <a:rPr lang="zh-CN" altLang="en-US" dirty="0"/>
              <a:t>中读入一块和内存中的</a:t>
            </a:r>
            <a:r>
              <a:rPr lang="en-US" altLang="zh-CN" dirty="0"/>
              <a:t>Student</a:t>
            </a:r>
            <a:r>
              <a:rPr lang="zh-CN" altLang="en-US" dirty="0"/>
              <a:t>元组连接，直到</a:t>
            </a:r>
            <a:r>
              <a:rPr lang="en-US" altLang="zh-CN" dirty="0"/>
              <a:t>SC</a:t>
            </a:r>
            <a:r>
              <a:rPr lang="zh-CN" altLang="en-US" dirty="0"/>
              <a:t>表处理完；</a:t>
            </a:r>
          </a:p>
          <a:p>
            <a:pPr lvl="2"/>
            <a:r>
              <a:rPr lang="zh-CN" altLang="en-US" dirty="0"/>
              <a:t>再读入若干块</a:t>
            </a:r>
            <a:r>
              <a:rPr lang="en-US" altLang="zh-CN" dirty="0"/>
              <a:t>Student</a:t>
            </a:r>
            <a:r>
              <a:rPr lang="zh-CN" altLang="en-US" dirty="0"/>
              <a:t>元组，读入一块</a:t>
            </a:r>
            <a:r>
              <a:rPr lang="en-US" altLang="zh-CN" dirty="0"/>
              <a:t>SC</a:t>
            </a:r>
            <a:r>
              <a:rPr lang="zh-CN" altLang="en-US" dirty="0"/>
              <a:t>元组；</a:t>
            </a:r>
          </a:p>
          <a:p>
            <a:pPr lvl="2"/>
            <a:r>
              <a:rPr lang="zh-CN" altLang="en-US" dirty="0"/>
              <a:t>重复上述处理过程，直到把</a:t>
            </a:r>
            <a:r>
              <a:rPr lang="en-US" altLang="zh-CN" dirty="0"/>
              <a:t>Student</a:t>
            </a:r>
            <a:r>
              <a:rPr lang="zh-CN" altLang="en-US" dirty="0"/>
              <a:t>表处理完。</a:t>
            </a:r>
            <a:endParaRPr lang="en-US" altLang="zh-CN" dirty="0"/>
          </a:p>
          <a:p>
            <a:pPr lvl="1"/>
            <a:r>
              <a:rPr lang="zh-CN" altLang="en-US" dirty="0">
                <a:solidFill>
                  <a:srgbClr val="C00000"/>
                </a:solidFill>
              </a:rPr>
              <a:t>代价计算</a:t>
            </a:r>
            <a:endParaRPr lang="en-US" altLang="zh-CN" dirty="0">
              <a:solidFill>
                <a:srgbClr val="C00000"/>
              </a:solidFill>
            </a:endParaRPr>
          </a:p>
          <a:p>
            <a:pPr lvl="2"/>
            <a:r>
              <a:rPr lang="zh-CN" altLang="en-US" dirty="0"/>
              <a:t>设一个块能装</a:t>
            </a:r>
            <a:r>
              <a:rPr lang="en-US" altLang="zh-CN" dirty="0"/>
              <a:t>10</a:t>
            </a:r>
            <a:r>
              <a:rPr lang="zh-CN" altLang="en-US" dirty="0"/>
              <a:t>个</a:t>
            </a:r>
            <a:r>
              <a:rPr lang="en-US" altLang="zh-CN" dirty="0"/>
              <a:t>Student</a:t>
            </a:r>
            <a:r>
              <a:rPr lang="zh-CN" altLang="en-US" dirty="0"/>
              <a:t>元组或</a:t>
            </a:r>
            <a:r>
              <a:rPr lang="en-US" altLang="zh-CN" dirty="0"/>
              <a:t>100</a:t>
            </a:r>
            <a:r>
              <a:rPr lang="zh-CN" altLang="en-US" dirty="0"/>
              <a:t>个</a:t>
            </a:r>
            <a:r>
              <a:rPr lang="en-US" altLang="zh-CN" dirty="0"/>
              <a:t>SC</a:t>
            </a:r>
            <a:r>
              <a:rPr lang="zh-CN" altLang="en-US" dirty="0"/>
              <a:t>元组，在内存中存放</a:t>
            </a:r>
            <a:r>
              <a:rPr lang="en-US" altLang="zh-CN" dirty="0"/>
              <a:t>5</a:t>
            </a:r>
            <a:r>
              <a:rPr lang="zh-CN" altLang="en-US" dirty="0"/>
              <a:t>块</a:t>
            </a:r>
            <a:r>
              <a:rPr lang="en-US" altLang="zh-CN" dirty="0"/>
              <a:t>Student</a:t>
            </a:r>
            <a:r>
              <a:rPr lang="zh-CN" altLang="en-US" dirty="0"/>
              <a:t>元组和</a:t>
            </a:r>
            <a:r>
              <a:rPr lang="en-US" altLang="zh-CN" dirty="0"/>
              <a:t>1</a:t>
            </a:r>
            <a:r>
              <a:rPr lang="zh-CN" altLang="en-US" dirty="0"/>
              <a:t>块</a:t>
            </a:r>
            <a:r>
              <a:rPr lang="en-US" altLang="zh-CN" dirty="0"/>
              <a:t>SC</a:t>
            </a:r>
            <a:r>
              <a:rPr lang="zh-CN" altLang="en-US" dirty="0"/>
              <a:t>元组，则读取总块数为</a:t>
            </a:r>
            <a:endParaRPr lang="en-US" altLang="zh-CN" dirty="0"/>
          </a:p>
          <a:p>
            <a:pPr lvl="2"/>
            <a:endParaRPr lang="en-US" altLang="zh-CN" dirty="0"/>
          </a:p>
          <a:p>
            <a:pPr lvl="2"/>
            <a:r>
              <a:rPr lang="zh-CN" altLang="en-US" dirty="0"/>
              <a:t>连接后的元组数为</a:t>
            </a:r>
            <a:r>
              <a:rPr lang="en-US" altLang="zh-CN" dirty="0">
                <a:solidFill>
                  <a:srgbClr val="FF0000"/>
                </a:solidFill>
              </a:rPr>
              <a:t>10</a:t>
            </a:r>
            <a:r>
              <a:rPr lang="en-US" altLang="zh-CN" baseline="50000" dirty="0">
                <a:solidFill>
                  <a:srgbClr val="FF0000"/>
                </a:solidFill>
              </a:rPr>
              <a:t>3</a:t>
            </a:r>
            <a:r>
              <a:rPr lang="en-US" altLang="zh-CN" dirty="0">
                <a:solidFill>
                  <a:srgbClr val="FF0000"/>
                </a:solidFill>
              </a:rPr>
              <a:t>×10</a:t>
            </a:r>
            <a:r>
              <a:rPr lang="en-US" altLang="zh-CN" baseline="50000" dirty="0">
                <a:solidFill>
                  <a:srgbClr val="FF0000"/>
                </a:solidFill>
              </a:rPr>
              <a:t>4</a:t>
            </a:r>
            <a:r>
              <a:rPr lang="en-US" altLang="zh-CN" dirty="0"/>
              <a:t>=</a:t>
            </a:r>
            <a:r>
              <a:rPr lang="en-US" altLang="zh-CN" dirty="0">
                <a:solidFill>
                  <a:srgbClr val="FF0000"/>
                </a:solidFill>
              </a:rPr>
              <a:t>10</a:t>
            </a:r>
            <a:r>
              <a:rPr lang="en-US" altLang="zh-CN" baseline="50000" dirty="0">
                <a:solidFill>
                  <a:srgbClr val="FF0000"/>
                </a:solidFill>
              </a:rPr>
              <a:t>7</a:t>
            </a:r>
            <a:r>
              <a:rPr lang="zh-CN" altLang="en-US" dirty="0"/>
              <a:t>。设每块能装</a:t>
            </a:r>
            <a:r>
              <a:rPr lang="en-US" altLang="zh-CN" dirty="0"/>
              <a:t>10</a:t>
            </a:r>
            <a:r>
              <a:rPr lang="zh-CN" altLang="en-US" dirty="0"/>
              <a:t>个元组，则写出</a:t>
            </a:r>
            <a:r>
              <a:rPr lang="en-US" altLang="zh-CN" dirty="0">
                <a:solidFill>
                  <a:srgbClr val="FF0000"/>
                </a:solidFill>
              </a:rPr>
              <a:t>10</a:t>
            </a:r>
            <a:r>
              <a:rPr lang="en-US" altLang="zh-CN" baseline="50000" dirty="0">
                <a:solidFill>
                  <a:srgbClr val="FF0000"/>
                </a:solidFill>
              </a:rPr>
              <a:t>6</a:t>
            </a:r>
            <a:r>
              <a:rPr lang="en-US" altLang="zh-CN" dirty="0">
                <a:solidFill>
                  <a:srgbClr val="FF0000"/>
                </a:solidFill>
              </a:rPr>
              <a:t> </a:t>
            </a:r>
            <a:r>
              <a:rPr lang="zh-CN" altLang="en-US" dirty="0"/>
              <a:t>块。</a:t>
            </a:r>
            <a:endParaRPr lang="en-US" altLang="zh-CN" dirty="0"/>
          </a:p>
        </p:txBody>
      </p:sp>
      <p:sp>
        <p:nvSpPr>
          <p:cNvPr id="4" name="灯片编号占位符 3">
            <a:extLst>
              <a:ext uri="{FF2B5EF4-FFF2-40B4-BE49-F238E27FC236}">
                <a16:creationId xmlns:a16="http://schemas.microsoft.com/office/drawing/2014/main" id="{9D477D55-8A70-49FD-B05B-CADDA3492B75}"/>
              </a:ext>
            </a:extLst>
          </p:cNvPr>
          <p:cNvSpPr>
            <a:spLocks noGrp="1"/>
          </p:cNvSpPr>
          <p:nvPr>
            <p:ph type="sldNum" sz="quarter" idx="12"/>
          </p:nvPr>
        </p:nvSpPr>
        <p:spPr/>
        <p:txBody>
          <a:bodyPr/>
          <a:lstStyle/>
          <a:p>
            <a:fld id="{E63F6D5D-9733-4D44-9C56-AEFEDD5A4BA7}" type="slidenum">
              <a:rPr lang="en-US" smtClean="0"/>
              <a:pPr/>
              <a:t>21</a:t>
            </a:fld>
            <a:endParaRPr lang="en-US" dirty="0"/>
          </a:p>
        </p:txBody>
      </p:sp>
      <p:pic>
        <p:nvPicPr>
          <p:cNvPr id="5" name="图片 4">
            <a:extLst>
              <a:ext uri="{FF2B5EF4-FFF2-40B4-BE49-F238E27FC236}">
                <a16:creationId xmlns:a16="http://schemas.microsoft.com/office/drawing/2014/main" id="{0B6C8F5B-2D86-40BA-BEB5-666C7A47D600}"/>
              </a:ext>
            </a:extLst>
          </p:cNvPr>
          <p:cNvPicPr>
            <a:picLocks noChangeAspect="1"/>
          </p:cNvPicPr>
          <p:nvPr/>
        </p:nvPicPr>
        <p:blipFill>
          <a:blip r:embed="rId2"/>
          <a:stretch>
            <a:fillRect/>
          </a:stretch>
        </p:blipFill>
        <p:spPr>
          <a:xfrm>
            <a:off x="4876800" y="5132491"/>
            <a:ext cx="5257800" cy="592282"/>
          </a:xfrm>
          <a:prstGeom prst="rect">
            <a:avLst/>
          </a:prstGeom>
          <a:solidFill>
            <a:srgbClr val="FFC000"/>
          </a:solidFill>
          <a:ln>
            <a:solidFill>
              <a:srgbClr val="C00000"/>
            </a:solidFill>
          </a:ln>
        </p:spPr>
      </p:pic>
      <p:sp>
        <p:nvSpPr>
          <p:cNvPr id="13" name="标注: 弯曲线形 12">
            <a:extLst>
              <a:ext uri="{FF2B5EF4-FFF2-40B4-BE49-F238E27FC236}">
                <a16:creationId xmlns:a16="http://schemas.microsoft.com/office/drawing/2014/main" id="{EB64C6CA-7DE1-4561-8691-5EB92651DC90}"/>
              </a:ext>
            </a:extLst>
          </p:cNvPr>
          <p:cNvSpPr/>
          <p:nvPr/>
        </p:nvSpPr>
        <p:spPr>
          <a:xfrm>
            <a:off x="9062048" y="4324475"/>
            <a:ext cx="2514600" cy="304800"/>
          </a:xfrm>
          <a:prstGeom prst="borderCallout2">
            <a:avLst>
              <a:gd name="adj1" fmla="val 51643"/>
              <a:gd name="adj2" fmla="val -589"/>
              <a:gd name="adj3" fmla="val 72788"/>
              <a:gd name="adj4" fmla="val -7239"/>
              <a:gd name="adj5" fmla="val 300966"/>
              <a:gd name="adj6" fmla="val -17528"/>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读</a:t>
            </a:r>
            <a:r>
              <a:rPr lang="en-US" altLang="zh-CN" sz="1600" dirty="0"/>
              <a:t>SC</a:t>
            </a:r>
            <a:r>
              <a:rPr lang="zh-CN" altLang="en-US" sz="1600" dirty="0"/>
              <a:t>表</a:t>
            </a:r>
            <a:r>
              <a:rPr lang="en-US" altLang="zh-CN" sz="1600" dirty="0"/>
              <a:t>20</a:t>
            </a:r>
            <a:r>
              <a:rPr lang="zh-CN" altLang="en-US" sz="1600" dirty="0"/>
              <a:t>遍，每遍</a:t>
            </a:r>
            <a:r>
              <a:rPr lang="en-US" altLang="zh-CN" sz="1600" dirty="0"/>
              <a:t>100</a:t>
            </a:r>
            <a:r>
              <a:rPr lang="zh-CN" altLang="en-US" sz="1600" dirty="0"/>
              <a:t>块</a:t>
            </a:r>
          </a:p>
        </p:txBody>
      </p:sp>
    </p:spTree>
    <p:extLst>
      <p:ext uri="{BB962C8B-B14F-4D97-AF65-F5344CB8AC3E}">
        <p14:creationId xmlns:p14="http://schemas.microsoft.com/office/powerpoint/2010/main" val="84084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
                                          </p:val>
                                        </p:tav>
                                        <p:tav tm="100000">
                                          <p:val>
                                            <p:strVal val="#ppt_x"/>
                                          </p:val>
                                        </p:tav>
                                      </p:tavLst>
                                    </p:anim>
                                    <p:anim calcmode="lin" valueType="num">
                                      <p:cBhvr>
                                        <p:cTn id="1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up)">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72341E2-CA9C-4C3D-969D-16121988978C}"/>
              </a:ext>
            </a:extLst>
          </p:cNvPr>
          <p:cNvSpPr>
            <a:spLocks noGrp="1"/>
          </p:cNvSpPr>
          <p:nvPr>
            <p:ph idx="1"/>
          </p:nvPr>
        </p:nvSpPr>
        <p:spPr/>
        <p:txBody>
          <a:bodyPr>
            <a:normAutofit/>
          </a:bodyPr>
          <a:lstStyle/>
          <a:p>
            <a:pPr marL="0" indent="0">
              <a:lnSpc>
                <a:spcPct val="100000"/>
              </a:lnSpc>
              <a:buNone/>
            </a:pPr>
            <a:r>
              <a:rPr lang="en-US" altLang="zh-CN" dirty="0">
                <a:solidFill>
                  <a:srgbClr val="0000FF"/>
                </a:solidFill>
                <a:cs typeface="Courier New" panose="02070309020205020404" pitchFamily="49" charset="0"/>
              </a:rPr>
              <a:t>2.</a:t>
            </a:r>
            <a:r>
              <a:rPr lang="zh-CN" altLang="en-US" dirty="0">
                <a:solidFill>
                  <a:srgbClr val="0000FF"/>
                </a:solidFill>
                <a:cs typeface="Courier New" panose="02070309020205020404" pitchFamily="49" charset="0"/>
              </a:rPr>
              <a:t>计算</a:t>
            </a:r>
            <a:r>
              <a:rPr lang="en-US" altLang="zh-CN" dirty="0">
                <a:solidFill>
                  <a:srgbClr val="0000FF"/>
                </a:solidFill>
                <a:cs typeface="Courier New" panose="02070309020205020404" pitchFamily="49" charset="0"/>
              </a:rPr>
              <a:t>result2=</a:t>
            </a:r>
            <a:r>
              <a:rPr lang="zh-CN" altLang="en-US" dirty="0">
                <a:solidFill>
                  <a:srgbClr val="0000FF"/>
                </a:solidFill>
                <a:cs typeface="Courier New" panose="02070309020205020404" pitchFamily="49" charset="0"/>
              </a:rPr>
              <a:t>𝜎</a:t>
            </a:r>
            <a:r>
              <a:rPr lang="en-US" altLang="zh-CN" baseline="-25000" dirty="0" err="1">
                <a:solidFill>
                  <a:srgbClr val="0000FF"/>
                </a:solidFill>
                <a:cs typeface="Courier New" panose="02070309020205020404" pitchFamily="49" charset="0"/>
              </a:rPr>
              <a:t>Student.Sno</a:t>
            </a:r>
            <a:r>
              <a:rPr lang="en-US" altLang="zh-CN" baseline="-25000" dirty="0">
                <a:solidFill>
                  <a:srgbClr val="0000FF"/>
                </a:solidFill>
                <a:cs typeface="Courier New" panose="02070309020205020404" pitchFamily="49" charset="0"/>
              </a:rPr>
              <a:t>=</a:t>
            </a:r>
            <a:r>
              <a:rPr lang="en-US" altLang="zh-CN" baseline="-25000" dirty="0" err="1">
                <a:solidFill>
                  <a:srgbClr val="0000FF"/>
                </a:solidFill>
                <a:cs typeface="Courier New" panose="02070309020205020404" pitchFamily="49" charset="0"/>
              </a:rPr>
              <a:t>SC.Sno∧SC.Cno</a:t>
            </a:r>
            <a:r>
              <a:rPr lang="en-US" altLang="zh-CN" baseline="-25000" dirty="0">
                <a:solidFill>
                  <a:srgbClr val="0000FF"/>
                </a:solidFill>
                <a:latin typeface="Cambria Math" panose="02040503050406030204" pitchFamily="18" charset="0"/>
                <a:ea typeface="Cambria Math" panose="02040503050406030204" pitchFamily="18" charset="0"/>
                <a:cs typeface="Courier New" panose="02070309020205020404" pitchFamily="49" charset="0"/>
              </a:rPr>
              <a:t>=‘2’</a:t>
            </a:r>
            <a:r>
              <a:rPr lang="en-US" altLang="zh-CN" dirty="0">
                <a:solidFill>
                  <a:srgbClr val="0000FF"/>
                </a:solidFill>
                <a:cs typeface="Courier New" panose="02070309020205020404" pitchFamily="49" charset="0"/>
              </a:rPr>
              <a:t>(result1)</a:t>
            </a:r>
            <a:r>
              <a:rPr lang="zh-CN" altLang="en-US" dirty="0">
                <a:solidFill>
                  <a:srgbClr val="0000FF"/>
                </a:solidFill>
                <a:cs typeface="Courier New" panose="02070309020205020404" pitchFamily="49" charset="0"/>
              </a:rPr>
              <a:t> </a:t>
            </a:r>
            <a:r>
              <a:rPr lang="en-US" altLang="zh-CN" dirty="0">
                <a:solidFill>
                  <a:srgbClr val="0000FF"/>
                </a:solidFill>
                <a:cs typeface="Courier New" panose="02070309020205020404" pitchFamily="49" charset="0"/>
              </a:rPr>
              <a:t>(</a:t>
            </a:r>
            <a:r>
              <a:rPr lang="zh-CN" altLang="en-US" dirty="0">
                <a:solidFill>
                  <a:srgbClr val="C00000"/>
                </a:solidFill>
                <a:cs typeface="Courier New" panose="02070309020205020404" pitchFamily="49" charset="0"/>
              </a:rPr>
              <a:t>选择操作</a:t>
            </a:r>
            <a:r>
              <a:rPr lang="en-US" altLang="zh-CN" dirty="0">
                <a:solidFill>
                  <a:srgbClr val="0000FF"/>
                </a:solidFill>
                <a:cs typeface="Courier New" panose="02070309020205020404" pitchFamily="49" charset="0"/>
              </a:rPr>
              <a:t>)</a:t>
            </a:r>
          </a:p>
          <a:p>
            <a:pPr lvl="1">
              <a:lnSpc>
                <a:spcPct val="100000"/>
              </a:lnSpc>
            </a:pPr>
            <a:r>
              <a:rPr lang="zh-CN" altLang="en-US" sz="2400" dirty="0">
                <a:solidFill>
                  <a:srgbClr val="FF0000"/>
                </a:solidFill>
                <a:cs typeface="Courier New" panose="02070309020205020404" pitchFamily="49" charset="0"/>
              </a:rPr>
              <a:t>算法</a:t>
            </a:r>
            <a:endParaRPr lang="en-US" altLang="zh-CN" sz="2400" dirty="0">
              <a:solidFill>
                <a:srgbClr val="FF0000"/>
              </a:solidFill>
              <a:cs typeface="Courier New" panose="02070309020205020404" pitchFamily="49" charset="0"/>
            </a:endParaRPr>
          </a:p>
          <a:p>
            <a:pPr lvl="2">
              <a:lnSpc>
                <a:spcPct val="100000"/>
              </a:lnSpc>
            </a:pPr>
            <a:r>
              <a:rPr lang="zh-CN" altLang="en-US" sz="2000" dirty="0"/>
              <a:t>依次读入连接后的元组，按照选择条件选取满足要求的记录；</a:t>
            </a:r>
            <a:endParaRPr lang="en-US" altLang="zh-CN" sz="2000" dirty="0"/>
          </a:p>
          <a:p>
            <a:pPr lvl="2">
              <a:lnSpc>
                <a:spcPct val="100000"/>
              </a:lnSpc>
            </a:pPr>
            <a:r>
              <a:rPr lang="zh-CN" altLang="en-US" sz="2000" dirty="0"/>
              <a:t>假定内存处理时间忽略。读取中间文件花费的时间</a:t>
            </a:r>
            <a:r>
              <a:rPr lang="en-US" altLang="zh-CN" sz="2000" dirty="0"/>
              <a:t>(</a:t>
            </a:r>
            <a:r>
              <a:rPr lang="zh-CN" altLang="en-US" sz="2000" dirty="0"/>
              <a:t>同写中间文件一样</a:t>
            </a:r>
            <a:r>
              <a:rPr lang="en-US" altLang="zh-CN" sz="2000" dirty="0"/>
              <a:t>)</a:t>
            </a:r>
            <a:r>
              <a:rPr lang="zh-CN" altLang="en-US" sz="2000" dirty="0"/>
              <a:t>需读入</a:t>
            </a:r>
            <a:r>
              <a:rPr lang="en-US" altLang="zh-CN" sz="2000" dirty="0">
                <a:solidFill>
                  <a:srgbClr val="FF0000"/>
                </a:solidFill>
              </a:rPr>
              <a:t>10</a:t>
            </a:r>
            <a:r>
              <a:rPr lang="en-US" altLang="zh-CN" sz="2000" baseline="50000" dirty="0">
                <a:solidFill>
                  <a:srgbClr val="FF0000"/>
                </a:solidFill>
              </a:rPr>
              <a:t>6</a:t>
            </a:r>
            <a:r>
              <a:rPr lang="zh-CN" altLang="en-US" sz="2000" dirty="0"/>
              <a:t>块；</a:t>
            </a:r>
            <a:endParaRPr lang="en-US" altLang="zh-CN" sz="2000" dirty="0"/>
          </a:p>
          <a:p>
            <a:pPr lvl="2">
              <a:lnSpc>
                <a:spcPct val="100000"/>
              </a:lnSpc>
            </a:pPr>
            <a:r>
              <a:rPr lang="zh-CN" altLang="en-US" sz="2000" dirty="0"/>
              <a:t>若满足条件的元组假设仅</a:t>
            </a:r>
            <a:r>
              <a:rPr lang="en-US" altLang="zh-CN" sz="2000" dirty="0"/>
              <a:t>50</a:t>
            </a:r>
            <a:r>
              <a:rPr lang="zh-CN" altLang="en-US" sz="2000" dirty="0"/>
              <a:t>个，均可放在内存。</a:t>
            </a:r>
            <a:endParaRPr lang="en-US" altLang="zh-CN" sz="2000" dirty="0"/>
          </a:p>
          <a:p>
            <a:pPr marL="0" indent="0">
              <a:lnSpc>
                <a:spcPct val="100000"/>
              </a:lnSpc>
              <a:buNone/>
            </a:pPr>
            <a:r>
              <a:rPr lang="en-US" altLang="zh-CN" sz="2800" dirty="0">
                <a:solidFill>
                  <a:srgbClr val="0000FF"/>
                </a:solidFill>
              </a:rPr>
              <a:t>3. </a:t>
            </a:r>
            <a:r>
              <a:rPr lang="zh-CN" altLang="en-US" sz="2800" dirty="0">
                <a:solidFill>
                  <a:srgbClr val="0000FF"/>
                </a:solidFill>
              </a:rPr>
              <a:t>计算</a:t>
            </a:r>
            <a:r>
              <a:rPr lang="en-US" altLang="zh-CN" sz="2800" dirty="0">
                <a:solidFill>
                  <a:srgbClr val="0000FF"/>
                </a:solidFill>
              </a:rPr>
              <a:t>result3=</a:t>
            </a:r>
            <a:r>
              <a:rPr lang="en-US" altLang="zh-CN" sz="2800" dirty="0">
                <a:solidFill>
                  <a:srgbClr val="0000FF"/>
                </a:solidFill>
                <a:cs typeface="Courier New" panose="02070309020205020404" pitchFamily="49" charset="0"/>
              </a:rPr>
              <a:t> ∏</a:t>
            </a:r>
            <a:r>
              <a:rPr lang="en-US" altLang="zh-CN" sz="2800" baseline="-25000" dirty="0" err="1">
                <a:solidFill>
                  <a:srgbClr val="0000FF"/>
                </a:solidFill>
                <a:cs typeface="Courier New" panose="02070309020205020404" pitchFamily="49" charset="0"/>
              </a:rPr>
              <a:t>Sname</a:t>
            </a:r>
            <a:r>
              <a:rPr lang="en-US" altLang="zh-CN" sz="2800" dirty="0">
                <a:solidFill>
                  <a:srgbClr val="0000FF"/>
                </a:solidFill>
                <a:cs typeface="Courier New" panose="02070309020205020404" pitchFamily="49" charset="0"/>
              </a:rPr>
              <a:t>(result2)(</a:t>
            </a:r>
            <a:r>
              <a:rPr lang="zh-CN" altLang="en-US" sz="2800" dirty="0">
                <a:solidFill>
                  <a:srgbClr val="C00000"/>
                </a:solidFill>
                <a:cs typeface="Courier New" panose="02070309020205020404" pitchFamily="49" charset="0"/>
              </a:rPr>
              <a:t>投影操作</a:t>
            </a:r>
            <a:r>
              <a:rPr lang="en-US" altLang="zh-CN" sz="2800" dirty="0">
                <a:solidFill>
                  <a:srgbClr val="0000FF"/>
                </a:solidFill>
                <a:cs typeface="Courier New" panose="02070309020205020404" pitchFamily="49" charset="0"/>
              </a:rPr>
              <a:t>)</a:t>
            </a:r>
          </a:p>
          <a:p>
            <a:pPr marL="560551" lvl="1" indent="-182563"/>
            <a:r>
              <a:rPr lang="zh-CN" altLang="en-US" dirty="0">
                <a:solidFill>
                  <a:srgbClr val="0000FF"/>
                </a:solidFill>
              </a:rPr>
              <a:t>执行情形一查询的</a:t>
            </a:r>
            <a:r>
              <a:rPr lang="zh-CN" altLang="en-US" dirty="0">
                <a:solidFill>
                  <a:srgbClr val="FF0000"/>
                </a:solidFill>
              </a:rPr>
              <a:t>总读写数据块</a:t>
            </a:r>
            <a:r>
              <a:rPr lang="en-US" altLang="zh-CN" dirty="0">
                <a:solidFill>
                  <a:srgbClr val="FF0000"/>
                </a:solidFill>
              </a:rPr>
              <a:t>=2100+10</a:t>
            </a:r>
            <a:r>
              <a:rPr lang="en-US" altLang="zh-CN" baseline="50000" dirty="0">
                <a:solidFill>
                  <a:srgbClr val="FF0000"/>
                </a:solidFill>
              </a:rPr>
              <a:t>6</a:t>
            </a:r>
            <a:r>
              <a:rPr lang="en-US" altLang="zh-CN" dirty="0">
                <a:solidFill>
                  <a:srgbClr val="FF0000"/>
                </a:solidFill>
              </a:rPr>
              <a:t>+10</a:t>
            </a:r>
            <a:r>
              <a:rPr lang="en-US" altLang="zh-CN" baseline="50000" dirty="0">
                <a:solidFill>
                  <a:srgbClr val="FF0000"/>
                </a:solidFill>
              </a:rPr>
              <a:t>6</a:t>
            </a:r>
          </a:p>
          <a:p>
            <a:pPr marL="103351" indent="-182563"/>
            <a:r>
              <a:rPr lang="zh-CN" altLang="en-US" dirty="0"/>
              <a:t>假设读写速度为</a:t>
            </a:r>
            <a:r>
              <a:rPr lang="en-US" altLang="zh-CN" dirty="0"/>
              <a:t>20</a:t>
            </a:r>
            <a:r>
              <a:rPr lang="zh-CN" altLang="en-US" dirty="0"/>
              <a:t>块</a:t>
            </a:r>
            <a:r>
              <a:rPr lang="en-US" altLang="zh-CN" dirty="0"/>
              <a:t>/</a:t>
            </a:r>
            <a:r>
              <a:rPr lang="zh-CN" altLang="en-US" dirty="0"/>
              <a:t>秒，则所需时间为：</a:t>
            </a:r>
            <a:r>
              <a:rPr lang="en-US" altLang="zh-CN" dirty="0"/>
              <a:t>105</a:t>
            </a:r>
            <a:r>
              <a:rPr lang="zh-CN" altLang="en-US" dirty="0"/>
              <a:t>＋</a:t>
            </a:r>
            <a:r>
              <a:rPr lang="en-US" altLang="zh-CN" dirty="0"/>
              <a:t>50000</a:t>
            </a:r>
            <a:r>
              <a:rPr lang="zh-CN" altLang="en-US" dirty="0"/>
              <a:t>＋</a:t>
            </a:r>
            <a:r>
              <a:rPr lang="en-US" altLang="zh-CN" dirty="0"/>
              <a:t>50000</a:t>
            </a:r>
            <a:r>
              <a:rPr lang="zh-CN" altLang="en-US" dirty="0"/>
              <a:t>（秒） </a:t>
            </a:r>
            <a:r>
              <a:rPr lang="en-US" altLang="zh-CN" dirty="0"/>
              <a:t>= 100105</a:t>
            </a:r>
            <a:r>
              <a:rPr lang="zh-CN" altLang="en-US" dirty="0"/>
              <a:t>（秒）</a:t>
            </a:r>
            <a:r>
              <a:rPr lang="en-US" altLang="zh-CN" dirty="0"/>
              <a:t>= 27.8</a:t>
            </a:r>
            <a:r>
              <a:rPr lang="zh-CN" altLang="en-US" dirty="0"/>
              <a:t>（小时）。</a:t>
            </a:r>
          </a:p>
          <a:p>
            <a:pPr marL="560551" lvl="1" indent="-182563"/>
            <a:endParaRPr lang="zh-CN" altLang="en-US" dirty="0"/>
          </a:p>
          <a:p>
            <a:pPr marL="103351" indent="-182563">
              <a:lnSpc>
                <a:spcPct val="100000"/>
              </a:lnSpc>
            </a:pPr>
            <a:endParaRPr lang="en-US" altLang="zh-CN" sz="2800" dirty="0">
              <a:solidFill>
                <a:srgbClr val="0000FF"/>
              </a:solidFill>
              <a:cs typeface="Courier New" panose="02070309020205020404" pitchFamily="49" charset="0"/>
            </a:endParaRPr>
          </a:p>
          <a:p>
            <a:pPr marL="103351" indent="-182563">
              <a:lnSpc>
                <a:spcPct val="100000"/>
              </a:lnSpc>
            </a:pPr>
            <a:endParaRPr lang="en-US" altLang="zh-CN" sz="2800" dirty="0">
              <a:solidFill>
                <a:srgbClr val="0000FF"/>
              </a:solidFill>
              <a:cs typeface="Courier New" panose="02070309020205020404" pitchFamily="49" charset="0"/>
            </a:endParaRPr>
          </a:p>
        </p:txBody>
      </p:sp>
      <p:sp>
        <p:nvSpPr>
          <p:cNvPr id="4" name="灯片编号占位符 3">
            <a:extLst>
              <a:ext uri="{FF2B5EF4-FFF2-40B4-BE49-F238E27FC236}">
                <a16:creationId xmlns:a16="http://schemas.microsoft.com/office/drawing/2014/main" id="{BF8C212B-1FB5-48A3-A16F-32A0D6FD41BC}"/>
              </a:ext>
            </a:extLst>
          </p:cNvPr>
          <p:cNvSpPr>
            <a:spLocks noGrp="1"/>
          </p:cNvSpPr>
          <p:nvPr>
            <p:ph type="sldNum" sz="quarter" idx="12"/>
          </p:nvPr>
        </p:nvSpPr>
        <p:spPr/>
        <p:txBody>
          <a:bodyPr/>
          <a:lstStyle/>
          <a:p>
            <a:fld id="{E63F6D5D-9733-4D44-9C56-AEFEDD5A4BA7}" type="slidenum">
              <a:rPr lang="en-US" smtClean="0"/>
              <a:pPr/>
              <a:t>22</a:t>
            </a:fld>
            <a:endParaRPr lang="en-US" dirty="0"/>
          </a:p>
        </p:txBody>
      </p:sp>
      <p:sp>
        <p:nvSpPr>
          <p:cNvPr id="5" name="标题 1">
            <a:extLst>
              <a:ext uri="{FF2B5EF4-FFF2-40B4-BE49-F238E27FC236}">
                <a16:creationId xmlns:a16="http://schemas.microsoft.com/office/drawing/2014/main" id="{2369A92C-85EB-4F3A-BE4A-2DB1B70D9204}"/>
              </a:ext>
            </a:extLst>
          </p:cNvPr>
          <p:cNvSpPr>
            <a:spLocks noGrp="1"/>
          </p:cNvSpPr>
          <p:nvPr>
            <p:ph type="title"/>
          </p:nvPr>
        </p:nvSpPr>
        <p:spPr>
          <a:xfrm>
            <a:off x="1281113" y="238125"/>
            <a:ext cx="9553575" cy="512763"/>
          </a:xfrm>
        </p:spPr>
        <p:txBody>
          <a:bodyPr/>
          <a:lstStyle/>
          <a:p>
            <a:r>
              <a:rPr lang="zh-CN" altLang="en-US"/>
              <a:t>实例分析</a:t>
            </a:r>
            <a:endParaRPr lang="zh-CN" altLang="en-US" dirty="0"/>
          </a:p>
        </p:txBody>
      </p:sp>
    </p:spTree>
    <p:extLst>
      <p:ext uri="{BB962C8B-B14F-4D97-AF65-F5344CB8AC3E}">
        <p14:creationId xmlns:p14="http://schemas.microsoft.com/office/powerpoint/2010/main" val="64537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7C479F4-BDCE-4301-A780-C92F5EF9D0F3}"/>
              </a:ext>
            </a:extLst>
          </p:cNvPr>
          <p:cNvSpPr>
            <a:spLocks noGrp="1"/>
          </p:cNvSpPr>
          <p:nvPr>
            <p:ph idx="1"/>
          </p:nvPr>
        </p:nvSpPr>
        <p:spPr/>
        <p:txBody>
          <a:bodyPr>
            <a:normAutofit/>
          </a:bodyPr>
          <a:lstStyle/>
          <a:p>
            <a:r>
              <a:rPr lang="zh-CN" altLang="en-US" dirty="0">
                <a:solidFill>
                  <a:srgbClr val="FF0000"/>
                </a:solidFill>
                <a:cs typeface="Courier New" panose="02070309020205020404" pitchFamily="49" charset="0"/>
              </a:rPr>
              <a:t>情形二：</a:t>
            </a:r>
            <a:r>
              <a:rPr lang="en-US" altLang="zh-CN" dirty="0">
                <a:solidFill>
                  <a:srgbClr val="0000FF"/>
                </a:solidFill>
                <a:cs typeface="Courier New" panose="02070309020205020404" pitchFamily="49" charset="0"/>
              </a:rPr>
              <a:t>Q</a:t>
            </a:r>
            <a:r>
              <a:rPr lang="en-US" altLang="zh-CN" baseline="-25000" dirty="0">
                <a:solidFill>
                  <a:srgbClr val="0000FF"/>
                </a:solidFill>
                <a:cs typeface="Courier New" panose="02070309020205020404" pitchFamily="49" charset="0"/>
              </a:rPr>
              <a:t>2</a:t>
            </a:r>
            <a:r>
              <a:rPr lang="en-US" altLang="zh-CN" dirty="0">
                <a:solidFill>
                  <a:srgbClr val="0000FF"/>
                </a:solidFill>
                <a:cs typeface="Courier New" panose="02070309020205020404" pitchFamily="49" charset="0"/>
              </a:rPr>
              <a:t>=∏</a:t>
            </a:r>
            <a:r>
              <a:rPr lang="en-US" altLang="zh-CN" baseline="-25000" dirty="0" err="1">
                <a:solidFill>
                  <a:srgbClr val="0000FF"/>
                </a:solidFill>
                <a:cs typeface="Courier New" panose="02070309020205020404" pitchFamily="49" charset="0"/>
              </a:rPr>
              <a:t>Sname</a:t>
            </a:r>
            <a:r>
              <a:rPr lang="en-US" altLang="zh-CN" dirty="0">
                <a:solidFill>
                  <a:srgbClr val="0000FF"/>
                </a:solidFill>
                <a:cs typeface="Courier New" panose="02070309020205020404" pitchFamily="49" charset="0"/>
              </a:rPr>
              <a:t>(</a:t>
            </a:r>
            <a:r>
              <a:rPr lang="zh-CN" altLang="en-US" dirty="0">
                <a:solidFill>
                  <a:srgbClr val="0000FF"/>
                </a:solidFill>
                <a:cs typeface="Courier New" panose="02070309020205020404" pitchFamily="49" charset="0"/>
              </a:rPr>
              <a:t>𝜎</a:t>
            </a:r>
            <a:r>
              <a:rPr lang="en-US" altLang="zh-CN" baseline="-25000" dirty="0" err="1">
                <a:solidFill>
                  <a:srgbClr val="0000FF"/>
                </a:solidFill>
                <a:cs typeface="Courier New" panose="02070309020205020404" pitchFamily="49" charset="0"/>
              </a:rPr>
              <a:t>SC.Cno</a:t>
            </a:r>
            <a:r>
              <a:rPr lang="en-US" altLang="zh-CN" baseline="-25000" dirty="0">
                <a:solidFill>
                  <a:srgbClr val="0000FF"/>
                </a:solidFill>
                <a:cs typeface="Courier New" panose="02070309020205020404" pitchFamily="49" charset="0"/>
              </a:rPr>
              <a:t>='2'</a:t>
            </a:r>
            <a:r>
              <a:rPr lang="en-US" altLang="zh-CN" dirty="0">
                <a:solidFill>
                  <a:srgbClr val="0000FF"/>
                </a:solidFill>
                <a:cs typeface="Courier New" panose="02070309020205020404" pitchFamily="49" charset="0"/>
              </a:rPr>
              <a:t>(Student </a:t>
            </a:r>
            <a:r>
              <a:rPr lang="en-US" altLang="zh-CN" b="1" dirty="0">
                <a:solidFill>
                  <a:srgbClr val="FF0000"/>
                </a:solidFill>
                <a:cs typeface="Courier New" panose="02070309020205020404" pitchFamily="49" charset="0"/>
              </a:rPr>
              <a:t>⋈ </a:t>
            </a:r>
            <a:r>
              <a:rPr lang="en-US" altLang="zh-CN" dirty="0">
                <a:solidFill>
                  <a:srgbClr val="0000FF"/>
                </a:solidFill>
                <a:cs typeface="Courier New" panose="02070309020205020404" pitchFamily="49" charset="0"/>
              </a:rPr>
              <a:t>SC))</a:t>
            </a:r>
          </a:p>
          <a:p>
            <a:pPr lvl="1"/>
            <a:r>
              <a:rPr lang="zh-CN" altLang="en-US" dirty="0">
                <a:solidFill>
                  <a:srgbClr val="FF0000"/>
                </a:solidFill>
              </a:rPr>
              <a:t>算法</a:t>
            </a:r>
            <a:endParaRPr lang="en-US" altLang="zh-CN" dirty="0">
              <a:solidFill>
                <a:srgbClr val="FF0000"/>
              </a:solidFill>
            </a:endParaRPr>
          </a:p>
          <a:p>
            <a:pPr lvl="2"/>
            <a:r>
              <a:rPr lang="zh-CN" altLang="en-US" dirty="0">
                <a:solidFill>
                  <a:srgbClr val="0000FF"/>
                </a:solidFill>
                <a:cs typeface="Courier New" panose="02070309020205020404" pitchFamily="49" charset="0"/>
              </a:rPr>
              <a:t>计算自然连接；</a:t>
            </a:r>
            <a:endParaRPr lang="en-US" altLang="zh-CN" dirty="0">
              <a:solidFill>
                <a:srgbClr val="0000FF"/>
              </a:solidFill>
              <a:cs typeface="Courier New" panose="02070309020205020404" pitchFamily="49" charset="0"/>
            </a:endParaRPr>
          </a:p>
          <a:p>
            <a:pPr lvl="3"/>
            <a:r>
              <a:rPr lang="zh-CN" altLang="en-US" dirty="0">
                <a:latin typeface="微软雅黑" panose="020B0503020204020204" pitchFamily="34" charset="-122"/>
                <a:ea typeface="微软雅黑" panose="020B0503020204020204" pitchFamily="34" charset="-122"/>
                <a:cs typeface="Courier New" panose="02070309020205020404" pitchFamily="49" charset="0"/>
              </a:rPr>
              <a:t> 执行自然连接，读取</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Student</a:t>
            </a:r>
            <a:r>
              <a:rPr lang="zh-CN" altLang="en-US" dirty="0">
                <a:latin typeface="微软雅黑" panose="020B0503020204020204" pitchFamily="34" charset="-122"/>
                <a:ea typeface="微软雅黑" panose="020B0503020204020204" pitchFamily="34" charset="-122"/>
                <a:cs typeface="Courier New" panose="02070309020205020404" pitchFamily="49" charset="0"/>
              </a:rPr>
              <a:t>和</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SC</a:t>
            </a:r>
            <a:r>
              <a:rPr lang="zh-CN" altLang="en-US" dirty="0">
                <a:latin typeface="微软雅黑" panose="020B0503020204020204" pitchFamily="34" charset="-122"/>
                <a:ea typeface="微软雅黑" panose="020B0503020204020204" pitchFamily="34" charset="-122"/>
                <a:cs typeface="Courier New" panose="02070309020205020404" pitchFamily="49" charset="0"/>
              </a:rPr>
              <a:t>表的策略不变，总的读取块数仍为</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2100</a:t>
            </a:r>
            <a:r>
              <a:rPr lang="zh-CN" altLang="en-US" dirty="0">
                <a:latin typeface="微软雅黑" panose="020B0503020204020204" pitchFamily="34" charset="-122"/>
                <a:ea typeface="微软雅黑" panose="020B0503020204020204" pitchFamily="34" charset="-122"/>
                <a:cs typeface="Courier New" panose="02070309020205020404" pitchFamily="49" charset="0"/>
              </a:rPr>
              <a:t>块</a:t>
            </a:r>
          </a:p>
          <a:p>
            <a:pPr lvl="3"/>
            <a:r>
              <a:rPr lang="zh-CN" altLang="en-US" dirty="0">
                <a:latin typeface="微软雅黑" panose="020B0503020204020204" pitchFamily="34" charset="-122"/>
                <a:ea typeface="微软雅黑" panose="020B0503020204020204" pitchFamily="34" charset="-122"/>
                <a:cs typeface="Courier New" panose="02070309020205020404" pitchFamily="49" charset="0"/>
              </a:rPr>
              <a:t> 自然连接的结果比第一种情况大大减少，为</a:t>
            </a:r>
            <a:r>
              <a:rPr lang="en-US" altLang="zh-CN" dirty="0">
                <a:solidFill>
                  <a:srgbClr val="FF0000"/>
                </a:solidFill>
                <a:latin typeface="微软雅黑" panose="020B0503020204020204" pitchFamily="34" charset="-122"/>
                <a:ea typeface="微软雅黑" panose="020B0503020204020204" pitchFamily="34" charset="-122"/>
                <a:cs typeface="Courier New" panose="02070309020205020404" pitchFamily="49" charset="0"/>
              </a:rPr>
              <a:t>10</a:t>
            </a:r>
            <a:r>
              <a:rPr lang="en-US" altLang="zh-CN" baseline="44000" dirty="0">
                <a:solidFill>
                  <a:srgbClr val="FF0000"/>
                </a:solidFill>
                <a:latin typeface="微软雅黑" panose="020B0503020204020204" pitchFamily="34" charset="-122"/>
                <a:ea typeface="微软雅黑" panose="020B0503020204020204" pitchFamily="34" charset="-122"/>
                <a:cs typeface="Courier New" panose="02070309020205020404" pitchFamily="49" charset="0"/>
              </a:rPr>
              <a:t>4</a:t>
            </a:r>
            <a:r>
              <a:rPr lang="zh-CN" altLang="en-US" dirty="0">
                <a:latin typeface="微软雅黑" panose="020B0503020204020204" pitchFamily="34" charset="-122"/>
                <a:ea typeface="微软雅黑" panose="020B0503020204020204" pitchFamily="34" charset="-122"/>
                <a:cs typeface="Courier New" panose="02070309020205020404" pitchFamily="49" charset="0"/>
              </a:rPr>
              <a:t>个元组</a:t>
            </a:r>
          </a:p>
          <a:p>
            <a:pPr lvl="3"/>
            <a:r>
              <a:rPr lang="zh-CN" altLang="en-US" dirty="0">
                <a:latin typeface="微软雅黑" panose="020B0503020204020204" pitchFamily="34" charset="-122"/>
                <a:ea typeface="微软雅黑" panose="020B0503020204020204" pitchFamily="34" charset="-122"/>
                <a:cs typeface="Courier New" panose="02070309020205020404" pitchFamily="49" charset="0"/>
              </a:rPr>
              <a:t> 写出数据块 </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a:t>
            </a:r>
            <a:r>
              <a:rPr lang="en-US" altLang="zh-CN" dirty="0">
                <a:solidFill>
                  <a:srgbClr val="FF0000"/>
                </a:solidFill>
                <a:latin typeface="微软雅黑" panose="020B0503020204020204" pitchFamily="34" charset="-122"/>
                <a:ea typeface="微软雅黑" panose="020B0503020204020204" pitchFamily="34" charset="-122"/>
                <a:cs typeface="Courier New" panose="02070309020205020404" pitchFamily="49" charset="0"/>
              </a:rPr>
              <a:t>10</a:t>
            </a:r>
            <a:r>
              <a:rPr lang="en-US" altLang="zh-CN" baseline="44000" dirty="0">
                <a:solidFill>
                  <a:srgbClr val="FF0000"/>
                </a:solidFill>
                <a:latin typeface="微软雅黑" panose="020B0503020204020204" pitchFamily="34" charset="-122"/>
                <a:ea typeface="微软雅黑" panose="020B0503020204020204" pitchFamily="34" charset="-122"/>
                <a:cs typeface="Courier New" panose="02070309020205020404" pitchFamily="49" charset="0"/>
              </a:rPr>
              <a:t>3</a:t>
            </a:r>
            <a:r>
              <a:rPr lang="en-US" altLang="zh-CN" dirty="0">
                <a:latin typeface="微软雅黑" panose="020B0503020204020204" pitchFamily="34" charset="-122"/>
                <a:ea typeface="微软雅黑" panose="020B0503020204020204" pitchFamily="34" charset="-122"/>
                <a:cs typeface="Courier New" panose="02070309020205020404" pitchFamily="49" charset="0"/>
              </a:rPr>
              <a:t> </a:t>
            </a:r>
            <a:r>
              <a:rPr lang="zh-CN" altLang="en-US" dirty="0">
                <a:latin typeface="微软雅黑" panose="020B0503020204020204" pitchFamily="34" charset="-122"/>
                <a:ea typeface="微软雅黑" panose="020B0503020204020204" pitchFamily="34" charset="-122"/>
                <a:cs typeface="Courier New" panose="02070309020205020404" pitchFamily="49" charset="0"/>
              </a:rPr>
              <a:t>块</a:t>
            </a:r>
            <a:endParaRPr lang="en-US" altLang="zh-CN" dirty="0">
              <a:latin typeface="微软雅黑" panose="020B0503020204020204" pitchFamily="34" charset="-122"/>
              <a:ea typeface="微软雅黑" panose="020B0503020204020204" pitchFamily="34" charset="-122"/>
              <a:cs typeface="Courier New" panose="02070309020205020404" pitchFamily="49" charset="0"/>
            </a:endParaRPr>
          </a:p>
          <a:p>
            <a:pPr lvl="2"/>
            <a:r>
              <a:rPr lang="zh-CN" altLang="en-US" dirty="0">
                <a:solidFill>
                  <a:srgbClr val="0000FF"/>
                </a:solidFill>
                <a:cs typeface="Courier New" panose="02070309020205020404" pitchFamily="49" charset="0"/>
              </a:rPr>
              <a:t>读取中间文件，</a:t>
            </a:r>
            <a:r>
              <a:rPr lang="zh-CN" altLang="en-US" dirty="0">
                <a:solidFill>
                  <a:srgbClr val="0000FF"/>
                </a:solidFill>
              </a:rPr>
              <a:t>执行选择运算，读取的数据块 </a:t>
            </a:r>
            <a:r>
              <a:rPr lang="en-US" altLang="zh-CN" dirty="0">
                <a:solidFill>
                  <a:srgbClr val="0000FF"/>
                </a:solidFill>
              </a:rPr>
              <a:t>= </a:t>
            </a:r>
            <a:r>
              <a:rPr lang="en-US" altLang="zh-CN" dirty="0">
                <a:solidFill>
                  <a:srgbClr val="FF0000"/>
                </a:solidFill>
              </a:rPr>
              <a:t>10</a:t>
            </a:r>
            <a:r>
              <a:rPr lang="en-US" altLang="zh-CN" baseline="50000" dirty="0">
                <a:solidFill>
                  <a:srgbClr val="FF0000"/>
                </a:solidFill>
              </a:rPr>
              <a:t>3</a:t>
            </a:r>
            <a:r>
              <a:rPr lang="zh-CN" altLang="en-US" dirty="0">
                <a:solidFill>
                  <a:srgbClr val="0000FF"/>
                </a:solidFill>
              </a:rPr>
              <a:t>块；</a:t>
            </a:r>
            <a:r>
              <a:rPr lang="en-US" altLang="zh-CN" dirty="0">
                <a:solidFill>
                  <a:srgbClr val="0000FF"/>
                </a:solidFill>
                <a:cs typeface="Courier New" panose="02070309020205020404" pitchFamily="49" charset="0"/>
              </a:rPr>
              <a:t> </a:t>
            </a:r>
          </a:p>
          <a:p>
            <a:pPr lvl="2"/>
            <a:r>
              <a:rPr lang="zh-CN" altLang="en-US" dirty="0">
                <a:solidFill>
                  <a:srgbClr val="0000FF"/>
                </a:solidFill>
              </a:rPr>
              <a:t>把第</a:t>
            </a:r>
            <a:r>
              <a:rPr lang="en-US" altLang="zh-CN" dirty="0">
                <a:solidFill>
                  <a:srgbClr val="0000FF"/>
                </a:solidFill>
              </a:rPr>
              <a:t>2</a:t>
            </a:r>
            <a:r>
              <a:rPr lang="zh-CN" altLang="en-US" dirty="0">
                <a:solidFill>
                  <a:srgbClr val="0000FF"/>
                </a:solidFill>
              </a:rPr>
              <a:t>步结果投影输出。</a:t>
            </a:r>
            <a:endParaRPr lang="en-US" altLang="zh-CN" dirty="0">
              <a:solidFill>
                <a:srgbClr val="0000FF"/>
              </a:solidFill>
            </a:endParaRPr>
          </a:p>
          <a:p>
            <a:r>
              <a:rPr lang="zh-CN" altLang="en-US" sz="2400" dirty="0">
                <a:solidFill>
                  <a:srgbClr val="0000FF"/>
                </a:solidFill>
              </a:rPr>
              <a:t>执行情形二</a:t>
            </a:r>
            <a:r>
              <a:rPr lang="zh-CN" altLang="en-US" sz="2400" dirty="0">
                <a:solidFill>
                  <a:srgbClr val="FF0000"/>
                </a:solidFill>
              </a:rPr>
              <a:t>总读写数据块</a:t>
            </a:r>
            <a:r>
              <a:rPr lang="en-US" altLang="zh-CN" sz="2400" dirty="0">
                <a:solidFill>
                  <a:srgbClr val="FF0000"/>
                </a:solidFill>
              </a:rPr>
              <a:t>=2100+10</a:t>
            </a:r>
            <a:r>
              <a:rPr lang="en-US" altLang="zh-CN" sz="2400" baseline="50000" dirty="0">
                <a:solidFill>
                  <a:srgbClr val="FF0000"/>
                </a:solidFill>
              </a:rPr>
              <a:t>3</a:t>
            </a:r>
            <a:r>
              <a:rPr lang="en-US" altLang="zh-CN" sz="2400" dirty="0">
                <a:solidFill>
                  <a:srgbClr val="FF0000"/>
                </a:solidFill>
              </a:rPr>
              <a:t>+10</a:t>
            </a:r>
            <a:r>
              <a:rPr lang="en-US" altLang="zh-CN" sz="2400" baseline="50000" dirty="0">
                <a:solidFill>
                  <a:srgbClr val="FF0000"/>
                </a:solidFill>
              </a:rPr>
              <a:t>3</a:t>
            </a:r>
            <a:r>
              <a:rPr lang="zh-CN" altLang="en-US" sz="2400" dirty="0">
                <a:solidFill>
                  <a:srgbClr val="0000FF"/>
                </a:solidFill>
              </a:rPr>
              <a:t>，执行代价约为情形一的</a:t>
            </a:r>
            <a:r>
              <a:rPr lang="en-US" altLang="zh-CN" sz="2400" dirty="0">
                <a:solidFill>
                  <a:srgbClr val="FF0000"/>
                </a:solidFill>
              </a:rPr>
              <a:t>488</a:t>
            </a:r>
            <a:r>
              <a:rPr lang="zh-CN" altLang="en-US" sz="2400" dirty="0">
                <a:solidFill>
                  <a:srgbClr val="FF0000"/>
                </a:solidFill>
              </a:rPr>
              <a:t>分之一。</a:t>
            </a:r>
            <a:endParaRPr lang="en-US" altLang="zh-CN" sz="2400" dirty="0">
              <a:solidFill>
                <a:srgbClr val="FF0000"/>
              </a:solidFill>
            </a:endParaRPr>
          </a:p>
          <a:p>
            <a:r>
              <a:rPr lang="zh-CN" altLang="en-US" sz="2400" dirty="0">
                <a:cs typeface="Courier New" panose="02070309020205020404" pitchFamily="49" charset="0"/>
              </a:rPr>
              <a:t>总的执行时间为≈</a:t>
            </a:r>
            <a:r>
              <a:rPr lang="en-US" altLang="zh-CN" sz="2400" dirty="0">
                <a:cs typeface="Courier New" panose="02070309020205020404" pitchFamily="49" charset="0"/>
              </a:rPr>
              <a:t>105+50+50</a:t>
            </a:r>
            <a:r>
              <a:rPr lang="zh-CN" altLang="en-US" sz="2400" dirty="0">
                <a:cs typeface="Courier New" panose="02070309020205020404" pitchFamily="49" charset="0"/>
              </a:rPr>
              <a:t> ≈</a:t>
            </a:r>
            <a:r>
              <a:rPr lang="en-US" altLang="zh-CN" sz="2400" dirty="0">
                <a:cs typeface="Courier New" panose="02070309020205020404" pitchFamily="49" charset="0"/>
              </a:rPr>
              <a:t>205</a:t>
            </a:r>
            <a:r>
              <a:rPr lang="zh-CN" altLang="en-US" sz="2400" dirty="0">
                <a:cs typeface="Courier New" panose="02070309020205020404" pitchFamily="49" charset="0"/>
              </a:rPr>
              <a:t>秒</a:t>
            </a:r>
            <a:r>
              <a:rPr lang="en-US" altLang="zh-CN" sz="2400" dirty="0">
                <a:cs typeface="Courier New" panose="02070309020205020404" pitchFamily="49" charset="0"/>
              </a:rPr>
              <a:t>=3.4</a:t>
            </a:r>
            <a:r>
              <a:rPr lang="zh-CN" altLang="en-US" sz="2400" dirty="0">
                <a:cs typeface="Courier New" panose="02070309020205020404" pitchFamily="49" charset="0"/>
              </a:rPr>
              <a:t>分</a:t>
            </a:r>
            <a:endParaRPr lang="en-US" altLang="zh-CN" sz="2400" dirty="0">
              <a:cs typeface="Courier New" panose="02070309020205020404" pitchFamily="49" charset="0"/>
            </a:endParaRPr>
          </a:p>
        </p:txBody>
      </p:sp>
      <p:sp>
        <p:nvSpPr>
          <p:cNvPr id="4" name="灯片编号占位符 3">
            <a:extLst>
              <a:ext uri="{FF2B5EF4-FFF2-40B4-BE49-F238E27FC236}">
                <a16:creationId xmlns:a16="http://schemas.microsoft.com/office/drawing/2014/main" id="{CA352C0F-63DE-480A-92A3-4260A335804E}"/>
              </a:ext>
            </a:extLst>
          </p:cNvPr>
          <p:cNvSpPr>
            <a:spLocks noGrp="1"/>
          </p:cNvSpPr>
          <p:nvPr>
            <p:ph type="sldNum" sz="quarter" idx="12"/>
          </p:nvPr>
        </p:nvSpPr>
        <p:spPr/>
        <p:txBody>
          <a:bodyPr/>
          <a:lstStyle/>
          <a:p>
            <a:fld id="{E63F6D5D-9733-4D44-9C56-AEFEDD5A4BA7}" type="slidenum">
              <a:rPr lang="en-US" smtClean="0"/>
              <a:pPr/>
              <a:t>23</a:t>
            </a:fld>
            <a:endParaRPr lang="en-US" dirty="0"/>
          </a:p>
        </p:txBody>
      </p:sp>
      <p:sp>
        <p:nvSpPr>
          <p:cNvPr id="5" name="标题 1">
            <a:extLst>
              <a:ext uri="{FF2B5EF4-FFF2-40B4-BE49-F238E27FC236}">
                <a16:creationId xmlns:a16="http://schemas.microsoft.com/office/drawing/2014/main" id="{406090EE-3CF2-45FC-83BD-D87B1FB9CC7D}"/>
              </a:ext>
            </a:extLst>
          </p:cNvPr>
          <p:cNvSpPr>
            <a:spLocks noGrp="1"/>
          </p:cNvSpPr>
          <p:nvPr>
            <p:ph type="title"/>
          </p:nvPr>
        </p:nvSpPr>
        <p:spPr>
          <a:xfrm>
            <a:off x="1281113" y="238125"/>
            <a:ext cx="9553575" cy="512763"/>
          </a:xfrm>
        </p:spPr>
        <p:txBody>
          <a:bodyPr/>
          <a:lstStyle/>
          <a:p>
            <a:r>
              <a:rPr lang="zh-CN" altLang="en-US" dirty="0"/>
              <a:t>实例分析</a:t>
            </a:r>
          </a:p>
        </p:txBody>
      </p:sp>
    </p:spTree>
    <p:extLst>
      <p:ext uri="{BB962C8B-B14F-4D97-AF65-F5344CB8AC3E}">
        <p14:creationId xmlns:p14="http://schemas.microsoft.com/office/powerpoint/2010/main" val="176407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7E3598C-A961-4633-89D3-19D216A7FA6D}"/>
              </a:ext>
            </a:extLst>
          </p:cNvPr>
          <p:cNvSpPr>
            <a:spLocks noGrp="1"/>
          </p:cNvSpPr>
          <p:nvPr>
            <p:ph idx="1"/>
          </p:nvPr>
        </p:nvSpPr>
        <p:spPr/>
        <p:txBody>
          <a:bodyPr/>
          <a:lstStyle/>
          <a:p>
            <a:r>
              <a:rPr lang="zh-CN" altLang="en-US" dirty="0">
                <a:solidFill>
                  <a:srgbClr val="FF0000"/>
                </a:solidFill>
                <a:cs typeface="Courier New" panose="02070309020205020404" pitchFamily="49" charset="0"/>
              </a:rPr>
              <a:t>情形三：</a:t>
            </a:r>
            <a:r>
              <a:rPr lang="en-US" altLang="zh-CN" dirty="0">
                <a:solidFill>
                  <a:srgbClr val="0000FF"/>
                </a:solidFill>
                <a:cs typeface="Courier New" panose="02070309020205020404" pitchFamily="49" charset="0"/>
              </a:rPr>
              <a:t>Q</a:t>
            </a:r>
            <a:r>
              <a:rPr lang="en-US" altLang="zh-CN" baseline="-25000" dirty="0">
                <a:solidFill>
                  <a:srgbClr val="0000FF"/>
                </a:solidFill>
                <a:cs typeface="Courier New" panose="02070309020205020404" pitchFamily="49" charset="0"/>
              </a:rPr>
              <a:t>3</a:t>
            </a:r>
            <a:r>
              <a:rPr lang="en-US" altLang="zh-CN" dirty="0">
                <a:solidFill>
                  <a:srgbClr val="0000FF"/>
                </a:solidFill>
                <a:cs typeface="Courier New" panose="02070309020205020404" pitchFamily="49" charset="0"/>
              </a:rPr>
              <a:t>=∏</a:t>
            </a:r>
            <a:r>
              <a:rPr lang="en-US" altLang="zh-CN" baseline="-25000" dirty="0" err="1">
                <a:solidFill>
                  <a:srgbClr val="0000FF"/>
                </a:solidFill>
                <a:cs typeface="Courier New" panose="02070309020205020404" pitchFamily="49" charset="0"/>
              </a:rPr>
              <a:t>Sname</a:t>
            </a:r>
            <a:r>
              <a:rPr lang="en-US" altLang="zh-CN" dirty="0">
                <a:solidFill>
                  <a:srgbClr val="0000FF"/>
                </a:solidFill>
                <a:cs typeface="Courier New" panose="02070309020205020404" pitchFamily="49" charset="0"/>
              </a:rPr>
              <a:t>(Student </a:t>
            </a:r>
            <a:r>
              <a:rPr lang="en-US" altLang="zh-CN" dirty="0">
                <a:solidFill>
                  <a:srgbClr val="FF0000"/>
                </a:solidFill>
                <a:cs typeface="Courier New" panose="02070309020205020404" pitchFamily="49" charset="0"/>
              </a:rPr>
              <a:t>⋈ </a:t>
            </a:r>
            <a:r>
              <a:rPr lang="zh-CN" altLang="en-US" dirty="0">
                <a:solidFill>
                  <a:srgbClr val="0000FF"/>
                </a:solidFill>
                <a:cs typeface="Courier New" panose="02070309020205020404" pitchFamily="49" charset="0"/>
              </a:rPr>
              <a:t>𝜎</a:t>
            </a:r>
            <a:r>
              <a:rPr lang="en-US" altLang="zh-CN" baseline="-25000" dirty="0" err="1">
                <a:solidFill>
                  <a:srgbClr val="0000FF"/>
                </a:solidFill>
                <a:cs typeface="Courier New" panose="02070309020205020404" pitchFamily="49" charset="0"/>
              </a:rPr>
              <a:t>SC.Cno</a:t>
            </a:r>
            <a:r>
              <a:rPr lang="en-US" altLang="zh-CN" baseline="-25000" dirty="0">
                <a:solidFill>
                  <a:srgbClr val="0000FF"/>
                </a:solidFill>
                <a:cs typeface="Courier New" panose="02070309020205020404" pitchFamily="49" charset="0"/>
              </a:rPr>
              <a:t>='2'</a:t>
            </a:r>
            <a:r>
              <a:rPr lang="en-US" altLang="zh-CN" dirty="0">
                <a:solidFill>
                  <a:srgbClr val="0000FF"/>
                </a:solidFill>
                <a:cs typeface="Courier New" panose="02070309020205020404" pitchFamily="49" charset="0"/>
              </a:rPr>
              <a:t>(SC))</a:t>
            </a:r>
          </a:p>
          <a:p>
            <a:pPr lvl="1"/>
            <a:r>
              <a:rPr lang="zh-CN" altLang="en-US" dirty="0">
                <a:solidFill>
                  <a:srgbClr val="FF0000"/>
                </a:solidFill>
              </a:rPr>
              <a:t>算法</a:t>
            </a:r>
            <a:endParaRPr lang="en-US" altLang="zh-CN" dirty="0">
              <a:solidFill>
                <a:srgbClr val="FF0000"/>
              </a:solidFill>
            </a:endParaRPr>
          </a:p>
          <a:p>
            <a:pPr lvl="2"/>
            <a:r>
              <a:rPr lang="zh-CN" altLang="en-US" dirty="0"/>
              <a:t>计算自然连接：先对</a:t>
            </a:r>
            <a:r>
              <a:rPr lang="en-US" altLang="zh-CN" dirty="0"/>
              <a:t>SC</a:t>
            </a:r>
            <a:r>
              <a:rPr lang="zh-CN" altLang="en-US" dirty="0"/>
              <a:t>表作选择运算，只需读一遍</a:t>
            </a:r>
            <a:r>
              <a:rPr lang="en-US" altLang="zh-CN" dirty="0"/>
              <a:t>SC</a:t>
            </a:r>
            <a:r>
              <a:rPr lang="zh-CN" altLang="en-US" dirty="0"/>
              <a:t>表，存取</a:t>
            </a:r>
            <a:r>
              <a:rPr lang="en-US" altLang="zh-CN" dirty="0">
                <a:solidFill>
                  <a:srgbClr val="FF0000"/>
                </a:solidFill>
              </a:rPr>
              <a:t>100</a:t>
            </a:r>
            <a:r>
              <a:rPr lang="zh-CN" altLang="en-US" dirty="0"/>
              <a:t>块，因为满足条件的元组仅</a:t>
            </a:r>
            <a:r>
              <a:rPr lang="en-US" altLang="zh-CN" dirty="0">
                <a:solidFill>
                  <a:srgbClr val="FF0000"/>
                </a:solidFill>
              </a:rPr>
              <a:t>50</a:t>
            </a:r>
            <a:r>
              <a:rPr lang="zh-CN" altLang="en-US" dirty="0"/>
              <a:t>个，不必使用中间文件；</a:t>
            </a:r>
          </a:p>
          <a:p>
            <a:pPr lvl="2"/>
            <a:r>
              <a:rPr lang="zh-CN" altLang="en-US" dirty="0"/>
              <a:t>读取</a:t>
            </a:r>
            <a:r>
              <a:rPr lang="en-US" altLang="zh-CN" dirty="0"/>
              <a:t>Student</a:t>
            </a:r>
            <a:r>
              <a:rPr lang="zh-CN" altLang="en-US" dirty="0"/>
              <a:t>表，把读入的</a:t>
            </a:r>
            <a:r>
              <a:rPr lang="en-US" altLang="zh-CN" dirty="0"/>
              <a:t>Student</a:t>
            </a:r>
            <a:r>
              <a:rPr lang="zh-CN" altLang="en-US" dirty="0"/>
              <a:t>元组和内存中的</a:t>
            </a:r>
            <a:r>
              <a:rPr lang="en-US" altLang="zh-CN" dirty="0"/>
              <a:t>SC</a:t>
            </a:r>
            <a:r>
              <a:rPr lang="zh-CN" altLang="en-US" dirty="0"/>
              <a:t>元组作连接，也只需读一遍</a:t>
            </a:r>
            <a:r>
              <a:rPr lang="en-US" altLang="zh-CN" dirty="0"/>
              <a:t>Student</a:t>
            </a:r>
            <a:r>
              <a:rPr lang="zh-CN" altLang="en-US" dirty="0"/>
              <a:t>表共</a:t>
            </a:r>
            <a:r>
              <a:rPr lang="en-US" altLang="zh-CN" dirty="0">
                <a:solidFill>
                  <a:srgbClr val="FF0000"/>
                </a:solidFill>
              </a:rPr>
              <a:t>100</a:t>
            </a:r>
            <a:r>
              <a:rPr lang="zh-CN" altLang="en-US" dirty="0"/>
              <a:t>块；</a:t>
            </a:r>
          </a:p>
          <a:p>
            <a:pPr lvl="2"/>
            <a:r>
              <a:rPr lang="zh-CN" altLang="en-US" dirty="0"/>
              <a:t>把连接结果投影输出。</a:t>
            </a:r>
          </a:p>
          <a:p>
            <a:pPr lvl="0"/>
            <a:r>
              <a:rPr lang="zh-CN" altLang="en-US" sz="2400" dirty="0">
                <a:solidFill>
                  <a:srgbClr val="0000FF"/>
                </a:solidFill>
              </a:rPr>
              <a:t>执行情形三</a:t>
            </a:r>
            <a:r>
              <a:rPr lang="zh-CN" altLang="en-US" sz="2400" dirty="0">
                <a:solidFill>
                  <a:srgbClr val="FF0000"/>
                </a:solidFill>
              </a:rPr>
              <a:t>总读写数据块</a:t>
            </a:r>
            <a:r>
              <a:rPr lang="en-US" altLang="zh-CN" sz="2400" dirty="0">
                <a:solidFill>
                  <a:srgbClr val="FF0000"/>
                </a:solidFill>
              </a:rPr>
              <a:t>=100+100</a:t>
            </a:r>
            <a:r>
              <a:rPr lang="zh-CN" altLang="en-US" sz="2400" dirty="0">
                <a:solidFill>
                  <a:srgbClr val="0000FF"/>
                </a:solidFill>
              </a:rPr>
              <a:t>，执行代价约为情形一的</a:t>
            </a:r>
            <a:r>
              <a:rPr lang="zh-CN" altLang="en-US" sz="2400" dirty="0">
                <a:solidFill>
                  <a:srgbClr val="FF0000"/>
                </a:solidFill>
              </a:rPr>
              <a:t>万分之一</a:t>
            </a:r>
            <a:r>
              <a:rPr lang="zh-CN" altLang="en-US" sz="2400" dirty="0">
                <a:solidFill>
                  <a:srgbClr val="0000FF"/>
                </a:solidFill>
              </a:rPr>
              <a:t>、情形二的</a:t>
            </a:r>
            <a:r>
              <a:rPr lang="zh-CN" altLang="en-US" sz="2400" dirty="0">
                <a:solidFill>
                  <a:srgbClr val="FF0000"/>
                </a:solidFill>
              </a:rPr>
              <a:t>二十分之一。</a:t>
            </a:r>
            <a:endParaRPr lang="en-US" altLang="zh-CN" sz="2400" dirty="0">
              <a:solidFill>
                <a:srgbClr val="FF0000"/>
              </a:solidFill>
            </a:endParaRPr>
          </a:p>
          <a:p>
            <a:r>
              <a:rPr lang="zh-CN" altLang="en-US" sz="2400" dirty="0">
                <a:cs typeface="Courier New" panose="02070309020205020404" pitchFamily="49" charset="0"/>
              </a:rPr>
              <a:t>总的执行时间为：</a:t>
            </a:r>
            <a:r>
              <a:rPr lang="en-US" altLang="zh-CN" sz="2400" dirty="0">
                <a:cs typeface="Courier New" panose="02070309020205020404" pitchFamily="49" charset="0"/>
              </a:rPr>
              <a:t>5+5=10</a:t>
            </a:r>
            <a:r>
              <a:rPr lang="zh-CN" altLang="en-US" sz="2400" dirty="0">
                <a:cs typeface="Courier New" panose="02070309020205020404" pitchFamily="49" charset="0"/>
              </a:rPr>
              <a:t>秒</a:t>
            </a:r>
            <a:endParaRPr lang="en-US" altLang="zh-CN" sz="2400" dirty="0">
              <a:cs typeface="Courier New" panose="02070309020205020404" pitchFamily="49" charset="0"/>
            </a:endParaRPr>
          </a:p>
        </p:txBody>
      </p:sp>
      <p:sp>
        <p:nvSpPr>
          <p:cNvPr id="4" name="灯片编号占位符 3">
            <a:extLst>
              <a:ext uri="{FF2B5EF4-FFF2-40B4-BE49-F238E27FC236}">
                <a16:creationId xmlns:a16="http://schemas.microsoft.com/office/drawing/2014/main" id="{D68BCE8D-17D4-44FC-834E-E54BC974AA58}"/>
              </a:ext>
            </a:extLst>
          </p:cNvPr>
          <p:cNvSpPr>
            <a:spLocks noGrp="1"/>
          </p:cNvSpPr>
          <p:nvPr>
            <p:ph type="sldNum" sz="quarter" idx="12"/>
          </p:nvPr>
        </p:nvSpPr>
        <p:spPr/>
        <p:txBody>
          <a:bodyPr/>
          <a:lstStyle/>
          <a:p>
            <a:fld id="{E63F6D5D-9733-4D44-9C56-AEFEDD5A4BA7}" type="slidenum">
              <a:rPr lang="en-US" smtClean="0"/>
              <a:pPr/>
              <a:t>24</a:t>
            </a:fld>
            <a:endParaRPr lang="en-US" dirty="0"/>
          </a:p>
        </p:txBody>
      </p:sp>
      <p:sp>
        <p:nvSpPr>
          <p:cNvPr id="5" name="标题 1">
            <a:extLst>
              <a:ext uri="{FF2B5EF4-FFF2-40B4-BE49-F238E27FC236}">
                <a16:creationId xmlns:a16="http://schemas.microsoft.com/office/drawing/2014/main" id="{209816A4-F22B-4389-9F03-96A9A3C84C4A}"/>
              </a:ext>
            </a:extLst>
          </p:cNvPr>
          <p:cNvSpPr>
            <a:spLocks noGrp="1"/>
          </p:cNvSpPr>
          <p:nvPr>
            <p:ph type="title"/>
          </p:nvPr>
        </p:nvSpPr>
        <p:spPr>
          <a:xfrm>
            <a:off x="1281113" y="238125"/>
            <a:ext cx="9553575" cy="512763"/>
          </a:xfrm>
        </p:spPr>
        <p:txBody>
          <a:bodyPr/>
          <a:lstStyle/>
          <a:p>
            <a:r>
              <a:rPr lang="zh-CN" altLang="en-US" dirty="0"/>
              <a:t>实例分析</a:t>
            </a:r>
          </a:p>
        </p:txBody>
      </p:sp>
    </p:spTree>
    <p:extLst>
      <p:ext uri="{BB962C8B-B14F-4D97-AF65-F5344CB8AC3E}">
        <p14:creationId xmlns:p14="http://schemas.microsoft.com/office/powerpoint/2010/main" val="1571143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216F310B-08D3-48D5-B484-E1A3E8519ADA}"/>
              </a:ext>
            </a:extLst>
          </p:cNvPr>
          <p:cNvSpPr>
            <a:spLocks noGrp="1"/>
          </p:cNvSpPr>
          <p:nvPr>
            <p:ph type="title"/>
          </p:nvPr>
        </p:nvSpPr>
        <p:spPr/>
        <p:txBody>
          <a:bodyPr/>
          <a:lstStyle/>
          <a:p>
            <a:r>
              <a:rPr lang="zh-CN" altLang="en-US"/>
              <a:t>实例分析</a:t>
            </a:r>
            <a:endParaRPr lang="zh-CN" altLang="en-US" dirty="0"/>
          </a:p>
        </p:txBody>
      </p:sp>
      <p:sp>
        <p:nvSpPr>
          <p:cNvPr id="3" name="内容占位符 2">
            <a:extLst>
              <a:ext uri="{FF2B5EF4-FFF2-40B4-BE49-F238E27FC236}">
                <a16:creationId xmlns:a16="http://schemas.microsoft.com/office/drawing/2014/main" id="{B115C264-F81D-4B10-BAD3-024D7C47295A}"/>
              </a:ext>
            </a:extLst>
          </p:cNvPr>
          <p:cNvSpPr>
            <a:spLocks noGrp="1"/>
          </p:cNvSpPr>
          <p:nvPr>
            <p:ph idx="1"/>
          </p:nvPr>
        </p:nvSpPr>
        <p:spPr/>
        <p:txBody>
          <a:bodyPr/>
          <a:lstStyle/>
          <a:p>
            <a:r>
              <a:rPr lang="zh-CN" altLang="en-US" dirty="0">
                <a:solidFill>
                  <a:srgbClr val="FF0000"/>
                </a:solidFill>
                <a:cs typeface="Courier New" panose="02070309020205020404" pitchFamily="49" charset="0"/>
              </a:rPr>
              <a:t>情形三：</a:t>
            </a:r>
            <a:r>
              <a:rPr lang="en-US" altLang="zh-CN" dirty="0">
                <a:solidFill>
                  <a:srgbClr val="0000FF"/>
                </a:solidFill>
                <a:cs typeface="Courier New" panose="02070309020205020404" pitchFamily="49" charset="0"/>
              </a:rPr>
              <a:t>Q</a:t>
            </a:r>
            <a:r>
              <a:rPr lang="en-US" altLang="zh-CN" baseline="-25000" dirty="0">
                <a:solidFill>
                  <a:srgbClr val="0000FF"/>
                </a:solidFill>
                <a:cs typeface="Courier New" panose="02070309020205020404" pitchFamily="49" charset="0"/>
              </a:rPr>
              <a:t>3</a:t>
            </a:r>
            <a:r>
              <a:rPr lang="en-US" altLang="zh-CN" dirty="0">
                <a:solidFill>
                  <a:srgbClr val="0000FF"/>
                </a:solidFill>
                <a:cs typeface="Courier New" panose="02070309020205020404" pitchFamily="49" charset="0"/>
              </a:rPr>
              <a:t>=∏</a:t>
            </a:r>
            <a:r>
              <a:rPr lang="en-US" altLang="zh-CN" baseline="-25000" dirty="0" err="1">
                <a:solidFill>
                  <a:srgbClr val="0000FF"/>
                </a:solidFill>
                <a:cs typeface="Courier New" panose="02070309020205020404" pitchFamily="49" charset="0"/>
              </a:rPr>
              <a:t>Sname</a:t>
            </a:r>
            <a:r>
              <a:rPr lang="en-US" altLang="zh-CN" dirty="0">
                <a:solidFill>
                  <a:srgbClr val="0000FF"/>
                </a:solidFill>
                <a:cs typeface="Courier New" panose="02070309020205020404" pitchFamily="49" charset="0"/>
              </a:rPr>
              <a:t>(Student </a:t>
            </a:r>
            <a:r>
              <a:rPr lang="en-US" altLang="zh-CN" dirty="0">
                <a:solidFill>
                  <a:srgbClr val="FF0000"/>
                </a:solidFill>
                <a:cs typeface="Courier New" panose="02070309020205020404" pitchFamily="49" charset="0"/>
              </a:rPr>
              <a:t>⋈ </a:t>
            </a:r>
            <a:r>
              <a:rPr lang="zh-CN" altLang="en-US" dirty="0">
                <a:solidFill>
                  <a:srgbClr val="0000FF"/>
                </a:solidFill>
                <a:cs typeface="Courier New" panose="02070309020205020404" pitchFamily="49" charset="0"/>
              </a:rPr>
              <a:t>𝜎</a:t>
            </a:r>
            <a:r>
              <a:rPr lang="en-US" altLang="zh-CN" baseline="-25000" dirty="0" err="1">
                <a:solidFill>
                  <a:srgbClr val="0000FF"/>
                </a:solidFill>
                <a:cs typeface="Courier New" panose="02070309020205020404" pitchFamily="49" charset="0"/>
              </a:rPr>
              <a:t>SC.Cno</a:t>
            </a:r>
            <a:r>
              <a:rPr lang="en-US" altLang="zh-CN" baseline="-25000" dirty="0">
                <a:solidFill>
                  <a:srgbClr val="0000FF"/>
                </a:solidFill>
                <a:cs typeface="Courier New" panose="02070309020205020404" pitchFamily="49" charset="0"/>
              </a:rPr>
              <a:t>='2'</a:t>
            </a:r>
            <a:r>
              <a:rPr lang="en-US" altLang="zh-CN" dirty="0">
                <a:solidFill>
                  <a:srgbClr val="0000FF"/>
                </a:solidFill>
                <a:cs typeface="Courier New" panose="02070309020205020404" pitchFamily="49" charset="0"/>
              </a:rPr>
              <a:t>(SC))</a:t>
            </a:r>
          </a:p>
          <a:p>
            <a:pPr marL="1048875" lvl="3" indent="-182563">
              <a:lnSpc>
                <a:spcPct val="120000"/>
              </a:lnSpc>
            </a:pPr>
            <a:r>
              <a:rPr lang="zh-CN" altLang="en-US" sz="2000" dirty="0">
                <a:solidFill>
                  <a:srgbClr val="0000FF"/>
                </a:solidFill>
              </a:rPr>
              <a:t>假如</a:t>
            </a:r>
            <a:r>
              <a:rPr lang="en-US" altLang="zh-CN" sz="2000" dirty="0">
                <a:solidFill>
                  <a:srgbClr val="0000FF"/>
                </a:solidFill>
              </a:rPr>
              <a:t>SC</a:t>
            </a:r>
            <a:r>
              <a:rPr lang="zh-CN" altLang="en-US" sz="2000" dirty="0">
                <a:solidFill>
                  <a:srgbClr val="0000FF"/>
                </a:solidFill>
              </a:rPr>
              <a:t>表的</a:t>
            </a:r>
            <a:r>
              <a:rPr lang="en-US" altLang="zh-CN" sz="2000" dirty="0" err="1">
                <a:solidFill>
                  <a:srgbClr val="0000FF"/>
                </a:solidFill>
              </a:rPr>
              <a:t>Cno</a:t>
            </a:r>
            <a:r>
              <a:rPr lang="zh-CN" altLang="en-US" sz="2000" dirty="0">
                <a:solidFill>
                  <a:srgbClr val="0000FF"/>
                </a:solidFill>
              </a:rPr>
              <a:t>字段上有索引</a:t>
            </a:r>
            <a:r>
              <a:rPr lang="zh-CN" altLang="en-US" sz="2000" dirty="0"/>
              <a:t>，第一步就不必读取所有</a:t>
            </a:r>
            <a:r>
              <a:rPr lang="en-US" altLang="zh-CN" sz="2000" dirty="0"/>
              <a:t>SC</a:t>
            </a:r>
            <a:r>
              <a:rPr lang="zh-CN" altLang="en-US" sz="2000" dirty="0"/>
              <a:t>元组而只需读取</a:t>
            </a:r>
            <a:r>
              <a:rPr lang="en-US" altLang="zh-CN" sz="2000" dirty="0" err="1"/>
              <a:t>Cno</a:t>
            </a:r>
            <a:r>
              <a:rPr lang="en-US" altLang="zh-CN" sz="2000" dirty="0"/>
              <a:t>=′2′</a:t>
            </a:r>
            <a:r>
              <a:rPr lang="zh-CN" altLang="en-US" sz="2000" dirty="0"/>
              <a:t>那些元组</a:t>
            </a:r>
            <a:r>
              <a:rPr lang="en-US" altLang="zh-CN" sz="2000" dirty="0"/>
              <a:t>(50</a:t>
            </a:r>
            <a:r>
              <a:rPr lang="zh-CN" altLang="en-US" sz="2000" dirty="0"/>
              <a:t>个</a:t>
            </a:r>
            <a:r>
              <a:rPr lang="en-US" altLang="zh-CN" sz="2000" dirty="0"/>
              <a:t>)</a:t>
            </a:r>
            <a:r>
              <a:rPr lang="zh-CN" altLang="en-US" sz="2000" dirty="0"/>
              <a:t>，存取的索引块和</a:t>
            </a:r>
            <a:r>
              <a:rPr lang="en-US" altLang="zh-CN" sz="2000" dirty="0"/>
              <a:t>SC</a:t>
            </a:r>
            <a:r>
              <a:rPr lang="zh-CN" altLang="en-US" sz="2000" dirty="0"/>
              <a:t>中满足条件的数据块大约总共</a:t>
            </a:r>
            <a:r>
              <a:rPr lang="en-US" altLang="zh-CN" sz="2000" dirty="0">
                <a:solidFill>
                  <a:srgbClr val="FF0000"/>
                </a:solidFill>
              </a:rPr>
              <a:t>3</a:t>
            </a:r>
            <a:r>
              <a:rPr lang="zh-CN" altLang="en-US" sz="2000" dirty="0">
                <a:solidFill>
                  <a:srgbClr val="FF0000"/>
                </a:solidFill>
              </a:rPr>
              <a:t>～</a:t>
            </a:r>
            <a:r>
              <a:rPr lang="en-US" altLang="zh-CN" sz="2000" dirty="0">
                <a:solidFill>
                  <a:srgbClr val="FF0000"/>
                </a:solidFill>
              </a:rPr>
              <a:t>4</a:t>
            </a:r>
            <a:r>
              <a:rPr lang="zh-CN" altLang="en-US" sz="2000" dirty="0"/>
              <a:t>块；</a:t>
            </a:r>
          </a:p>
          <a:p>
            <a:pPr marL="1048875" lvl="3" indent="-182563">
              <a:lnSpc>
                <a:spcPct val="120000"/>
              </a:lnSpc>
            </a:pPr>
            <a:r>
              <a:rPr lang="zh-CN" altLang="en-US" sz="2000" dirty="0">
                <a:solidFill>
                  <a:srgbClr val="0000FF"/>
                </a:solidFill>
              </a:rPr>
              <a:t>若</a:t>
            </a:r>
            <a:r>
              <a:rPr lang="en-US" altLang="zh-CN" sz="2000" dirty="0">
                <a:solidFill>
                  <a:srgbClr val="0000FF"/>
                </a:solidFill>
              </a:rPr>
              <a:t>Student</a:t>
            </a:r>
            <a:r>
              <a:rPr lang="zh-CN" altLang="en-US" sz="2000" dirty="0">
                <a:solidFill>
                  <a:srgbClr val="0000FF"/>
                </a:solidFill>
              </a:rPr>
              <a:t>表在</a:t>
            </a:r>
            <a:r>
              <a:rPr lang="en-US" altLang="zh-CN" sz="2000" dirty="0" err="1">
                <a:solidFill>
                  <a:srgbClr val="0000FF"/>
                </a:solidFill>
              </a:rPr>
              <a:t>Sno</a:t>
            </a:r>
            <a:r>
              <a:rPr lang="zh-CN" altLang="en-US" sz="2000" dirty="0">
                <a:solidFill>
                  <a:srgbClr val="0000FF"/>
                </a:solidFill>
              </a:rPr>
              <a:t>上也有索引</a:t>
            </a:r>
            <a:r>
              <a:rPr lang="zh-CN" altLang="en-US" sz="2000" dirty="0"/>
              <a:t>，不必读取所有</a:t>
            </a:r>
            <a:r>
              <a:rPr lang="en-US" altLang="zh-CN" sz="2000" dirty="0"/>
              <a:t>Student</a:t>
            </a:r>
            <a:r>
              <a:rPr lang="zh-CN" altLang="en-US" sz="2000" dirty="0"/>
              <a:t>元组，因为满足条件的</a:t>
            </a:r>
            <a:r>
              <a:rPr lang="en-US" altLang="zh-CN" sz="2000" dirty="0"/>
              <a:t>SC</a:t>
            </a:r>
            <a:r>
              <a:rPr lang="zh-CN" altLang="en-US" sz="2000" dirty="0"/>
              <a:t>记录仅</a:t>
            </a:r>
            <a:r>
              <a:rPr lang="en-US" altLang="zh-CN" sz="2000" dirty="0"/>
              <a:t>50</a:t>
            </a:r>
            <a:r>
              <a:rPr lang="zh-CN" altLang="en-US" sz="2000" dirty="0"/>
              <a:t>个，涉及</a:t>
            </a:r>
            <a:r>
              <a:rPr lang="zh-CN" altLang="en-US" sz="2000" dirty="0">
                <a:solidFill>
                  <a:srgbClr val="FF0000"/>
                </a:solidFill>
              </a:rPr>
              <a:t>最多</a:t>
            </a:r>
            <a:r>
              <a:rPr lang="en-US" altLang="zh-CN" sz="2000" dirty="0">
                <a:solidFill>
                  <a:srgbClr val="FF0000"/>
                </a:solidFill>
              </a:rPr>
              <a:t>50</a:t>
            </a:r>
            <a:r>
              <a:rPr lang="zh-CN" altLang="en-US" sz="2000" dirty="0">
                <a:solidFill>
                  <a:srgbClr val="FF0000"/>
                </a:solidFill>
              </a:rPr>
              <a:t>个</a:t>
            </a:r>
            <a:r>
              <a:rPr lang="en-US" altLang="zh-CN" sz="2000" dirty="0"/>
              <a:t>Student</a:t>
            </a:r>
            <a:r>
              <a:rPr lang="zh-CN" altLang="en-US" sz="2000" dirty="0"/>
              <a:t>记录，读取</a:t>
            </a:r>
            <a:r>
              <a:rPr lang="en-US" altLang="zh-CN" sz="2000" dirty="0"/>
              <a:t>Student</a:t>
            </a:r>
            <a:r>
              <a:rPr lang="zh-CN" altLang="en-US" sz="2000" dirty="0"/>
              <a:t>表的块数也可大大减少；</a:t>
            </a:r>
            <a:endParaRPr lang="en-US" altLang="zh-CN" sz="2000" dirty="0"/>
          </a:p>
          <a:p>
            <a:pPr lvl="1"/>
            <a:r>
              <a:rPr lang="zh-CN" altLang="en-US" dirty="0"/>
              <a:t>总时间</a:t>
            </a:r>
            <a:r>
              <a:rPr lang="en-US" altLang="zh-CN" dirty="0"/>
              <a:t>&lt;10</a:t>
            </a:r>
            <a:r>
              <a:rPr lang="zh-CN" altLang="en-US" dirty="0"/>
              <a:t>秒</a:t>
            </a:r>
          </a:p>
        </p:txBody>
      </p:sp>
      <p:sp>
        <p:nvSpPr>
          <p:cNvPr id="4" name="灯片编号占位符 3">
            <a:extLst>
              <a:ext uri="{FF2B5EF4-FFF2-40B4-BE49-F238E27FC236}">
                <a16:creationId xmlns:a16="http://schemas.microsoft.com/office/drawing/2014/main" id="{3DB4CB8F-55AF-4061-94C0-7F89116AB75A}"/>
              </a:ext>
            </a:extLst>
          </p:cNvPr>
          <p:cNvSpPr>
            <a:spLocks noGrp="1"/>
          </p:cNvSpPr>
          <p:nvPr>
            <p:ph type="sldNum" sz="quarter" idx="12"/>
          </p:nvPr>
        </p:nvSpPr>
        <p:spPr/>
        <p:txBody>
          <a:bodyPr/>
          <a:lstStyle/>
          <a:p>
            <a:fld id="{6530F3CF-6A31-4749-83AB-AF293E4C68B0}" type="slidenum">
              <a:rPr lang="en-US" smtClean="0"/>
              <a:pPr/>
              <a:t>25</a:t>
            </a:fld>
            <a:endParaRPr lang="en-US" dirty="0"/>
          </a:p>
        </p:txBody>
      </p:sp>
    </p:spTree>
    <p:extLst>
      <p:ext uri="{BB962C8B-B14F-4D97-AF65-F5344CB8AC3E}">
        <p14:creationId xmlns:p14="http://schemas.microsoft.com/office/powerpoint/2010/main" val="274475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B97EF73-99EB-40B2-8F63-F2DF96451742}"/>
              </a:ext>
            </a:extLst>
          </p:cNvPr>
          <p:cNvSpPr>
            <a:spLocks noGrp="1"/>
          </p:cNvSpPr>
          <p:nvPr>
            <p:ph idx="1"/>
          </p:nvPr>
        </p:nvSpPr>
        <p:spPr/>
        <p:txBody>
          <a:bodyPr>
            <a:normAutofit/>
          </a:bodyPr>
          <a:lstStyle/>
          <a:p>
            <a:pPr>
              <a:lnSpc>
                <a:spcPct val="100000"/>
              </a:lnSpc>
            </a:pPr>
            <a:r>
              <a:rPr lang="zh-CN" altLang="en-US" dirty="0">
                <a:solidFill>
                  <a:srgbClr val="FF0000"/>
                </a:solidFill>
              </a:rPr>
              <a:t>示例分析与总结</a:t>
            </a:r>
            <a:endParaRPr lang="en-US" altLang="zh-CN" dirty="0">
              <a:solidFill>
                <a:srgbClr val="FF0000"/>
              </a:solidFill>
            </a:endParaRPr>
          </a:p>
          <a:p>
            <a:pPr marL="591675" lvl="2" indent="-182563">
              <a:lnSpc>
                <a:spcPct val="120000"/>
              </a:lnSpc>
            </a:pPr>
            <a:r>
              <a:rPr lang="zh-CN" altLang="en-US" sz="2000" dirty="0"/>
              <a:t>有选择和连接操作时，先做选择操作，参加连接的元组就可以大大减少，这就是</a:t>
            </a:r>
            <a:r>
              <a:rPr lang="zh-CN" altLang="en-US" sz="2000" dirty="0">
                <a:solidFill>
                  <a:srgbClr val="FF0000"/>
                </a:solidFill>
              </a:rPr>
              <a:t>代数优化。</a:t>
            </a:r>
            <a:endParaRPr lang="en-US" altLang="zh-CN" sz="2000" dirty="0">
              <a:solidFill>
                <a:srgbClr val="FF0000"/>
              </a:solidFill>
            </a:endParaRPr>
          </a:p>
          <a:p>
            <a:pPr marL="591675" lvl="2" indent="-182563">
              <a:lnSpc>
                <a:spcPct val="120000"/>
              </a:lnSpc>
            </a:pPr>
            <a:r>
              <a:rPr lang="zh-CN" altLang="en-US" sz="2000" dirty="0"/>
              <a:t>在</a:t>
            </a:r>
            <a:r>
              <a:rPr lang="zh-CN" altLang="en-US" dirty="0"/>
              <a:t>第三种情形</a:t>
            </a:r>
            <a:r>
              <a:rPr lang="zh-CN" altLang="en-US" sz="2000" dirty="0"/>
              <a:t>中，</a:t>
            </a:r>
            <a:r>
              <a:rPr lang="en-US" altLang="zh-CN" sz="2000" dirty="0"/>
              <a:t>SC</a:t>
            </a:r>
            <a:r>
              <a:rPr lang="zh-CN" altLang="en-US" sz="2000" dirty="0"/>
              <a:t>表的选择操作算法有全表扫描或索引扫描，经过初步估算，索引扫描方法较优。对于</a:t>
            </a:r>
            <a:r>
              <a:rPr lang="en-US" altLang="zh-CN" sz="2000" dirty="0"/>
              <a:t>Student</a:t>
            </a:r>
            <a:r>
              <a:rPr lang="zh-CN" altLang="en-US" sz="2000" dirty="0"/>
              <a:t>和</a:t>
            </a:r>
            <a:r>
              <a:rPr lang="en-US" altLang="zh-CN" sz="2000" dirty="0"/>
              <a:t>SC</a:t>
            </a:r>
            <a:r>
              <a:rPr lang="zh-CN" altLang="en-US" sz="2000" dirty="0"/>
              <a:t>表的连接，利用</a:t>
            </a:r>
            <a:r>
              <a:rPr lang="en-US" altLang="zh-CN" sz="2000" dirty="0"/>
              <a:t>Student</a:t>
            </a:r>
            <a:r>
              <a:rPr lang="zh-CN" altLang="en-US" sz="2000" dirty="0"/>
              <a:t>表上的索引，采用索引连接代价也较小，这就是</a:t>
            </a:r>
            <a:r>
              <a:rPr lang="zh-CN" altLang="en-US" sz="2000" dirty="0">
                <a:solidFill>
                  <a:srgbClr val="FF0000"/>
                </a:solidFill>
              </a:rPr>
              <a:t>物理优化。</a:t>
            </a:r>
            <a:endParaRPr lang="en-US" altLang="zh-CN" sz="2000" dirty="0">
              <a:solidFill>
                <a:srgbClr val="FF0000"/>
              </a:solidFill>
            </a:endParaRPr>
          </a:p>
          <a:p>
            <a:pPr>
              <a:lnSpc>
                <a:spcPct val="100000"/>
              </a:lnSpc>
            </a:pPr>
            <a:r>
              <a:rPr lang="zh-CN" altLang="en-US" dirty="0">
                <a:solidFill>
                  <a:srgbClr val="FF0000"/>
                </a:solidFill>
              </a:rPr>
              <a:t>本例充分说明了查询优化的必要性，同时也给出了一些查询优化的基本方法和思路</a:t>
            </a:r>
          </a:p>
        </p:txBody>
      </p:sp>
      <p:sp>
        <p:nvSpPr>
          <p:cNvPr id="4" name="灯片编号占位符 3">
            <a:extLst>
              <a:ext uri="{FF2B5EF4-FFF2-40B4-BE49-F238E27FC236}">
                <a16:creationId xmlns:a16="http://schemas.microsoft.com/office/drawing/2014/main" id="{5B52CF95-2BDD-4CB5-AF53-910621F44E18}"/>
              </a:ext>
            </a:extLst>
          </p:cNvPr>
          <p:cNvSpPr>
            <a:spLocks noGrp="1"/>
          </p:cNvSpPr>
          <p:nvPr>
            <p:ph type="sldNum" sz="quarter" idx="12"/>
          </p:nvPr>
        </p:nvSpPr>
        <p:spPr/>
        <p:txBody>
          <a:bodyPr/>
          <a:lstStyle/>
          <a:p>
            <a:fld id="{E63F6D5D-9733-4D44-9C56-AEFEDD5A4BA7}" type="slidenum">
              <a:rPr lang="en-US" smtClean="0"/>
              <a:pPr/>
              <a:t>26</a:t>
            </a:fld>
            <a:endParaRPr lang="en-US" dirty="0"/>
          </a:p>
        </p:txBody>
      </p:sp>
      <p:sp>
        <p:nvSpPr>
          <p:cNvPr id="5" name="标题 1">
            <a:extLst>
              <a:ext uri="{FF2B5EF4-FFF2-40B4-BE49-F238E27FC236}">
                <a16:creationId xmlns:a16="http://schemas.microsoft.com/office/drawing/2014/main" id="{63A732E2-7BC6-405B-B8B9-5B01AA3CF321}"/>
              </a:ext>
            </a:extLst>
          </p:cNvPr>
          <p:cNvSpPr>
            <a:spLocks noGrp="1"/>
          </p:cNvSpPr>
          <p:nvPr>
            <p:ph type="title"/>
          </p:nvPr>
        </p:nvSpPr>
        <p:spPr>
          <a:xfrm>
            <a:off x="1281113" y="238125"/>
            <a:ext cx="9553575" cy="512763"/>
          </a:xfrm>
        </p:spPr>
        <p:txBody>
          <a:bodyPr/>
          <a:lstStyle/>
          <a:p>
            <a:r>
              <a:rPr lang="zh-CN" altLang="en-US" dirty="0"/>
              <a:t>实例分析</a:t>
            </a:r>
          </a:p>
        </p:txBody>
      </p:sp>
    </p:spTree>
    <p:extLst>
      <p:ext uri="{BB962C8B-B14F-4D97-AF65-F5344CB8AC3E}">
        <p14:creationId xmlns:p14="http://schemas.microsoft.com/office/powerpoint/2010/main" val="4047262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BF3988-55DB-4B5D-BD89-5A9596AA5FA1}"/>
              </a:ext>
            </a:extLst>
          </p:cNvPr>
          <p:cNvSpPr>
            <a:spLocks noGrp="1"/>
          </p:cNvSpPr>
          <p:nvPr>
            <p:ph type="title"/>
          </p:nvPr>
        </p:nvSpPr>
        <p:spPr/>
        <p:txBody>
          <a:bodyPr/>
          <a:lstStyle/>
          <a:p>
            <a:r>
              <a:rPr lang="en-US" altLang="zh-CN" dirty="0"/>
              <a:t>9.3 </a:t>
            </a:r>
            <a:r>
              <a:rPr lang="zh-CN" altLang="en-US" dirty="0"/>
              <a:t>代数优化</a:t>
            </a:r>
          </a:p>
        </p:txBody>
      </p:sp>
      <p:sp>
        <p:nvSpPr>
          <p:cNvPr id="3" name="内容占位符 2">
            <a:extLst>
              <a:ext uri="{FF2B5EF4-FFF2-40B4-BE49-F238E27FC236}">
                <a16:creationId xmlns:a16="http://schemas.microsoft.com/office/drawing/2014/main" id="{85CB8AD6-2D9E-48E9-BCBA-F585CEB50739}"/>
              </a:ext>
            </a:extLst>
          </p:cNvPr>
          <p:cNvSpPr>
            <a:spLocks noGrp="1"/>
          </p:cNvSpPr>
          <p:nvPr>
            <p:ph idx="1"/>
          </p:nvPr>
        </p:nvSpPr>
        <p:spPr/>
        <p:txBody>
          <a:bodyPr>
            <a:normAutofit/>
          </a:bodyPr>
          <a:lstStyle/>
          <a:p>
            <a:r>
              <a:rPr lang="en-US" altLang="zh-CN" dirty="0"/>
              <a:t>SQL</a:t>
            </a:r>
            <a:r>
              <a:rPr lang="zh-CN" altLang="en-US" dirty="0"/>
              <a:t>语句经过查询分析、查询检查后变换为查询树。</a:t>
            </a:r>
            <a:endParaRPr lang="en-US" altLang="zh-CN" dirty="0"/>
          </a:p>
          <a:p>
            <a:pPr lvl="1"/>
            <a:r>
              <a:rPr lang="zh-CN" altLang="en-US" dirty="0">
                <a:solidFill>
                  <a:srgbClr val="FF0000"/>
                </a:solidFill>
              </a:rPr>
              <a:t>查询树</a:t>
            </a:r>
            <a:r>
              <a:rPr lang="zh-CN" altLang="en-US" dirty="0"/>
              <a:t>是关系代数表达式的</a:t>
            </a:r>
            <a:r>
              <a:rPr lang="zh-CN" altLang="en-US" dirty="0">
                <a:solidFill>
                  <a:srgbClr val="FF0000"/>
                </a:solidFill>
              </a:rPr>
              <a:t>内部表示</a:t>
            </a:r>
            <a:endParaRPr lang="en-US" altLang="zh-CN" dirty="0">
              <a:solidFill>
                <a:srgbClr val="FF0000"/>
              </a:solidFill>
            </a:endParaRPr>
          </a:p>
          <a:p>
            <a:endParaRPr lang="en-US" altLang="zh-CN" sz="1600" dirty="0"/>
          </a:p>
          <a:p>
            <a:r>
              <a:rPr lang="zh-CN" altLang="en-US" dirty="0">
                <a:solidFill>
                  <a:srgbClr val="FF0000"/>
                </a:solidFill>
              </a:rPr>
              <a:t>代数优化</a:t>
            </a:r>
            <a:endParaRPr lang="en-US" altLang="zh-CN" dirty="0">
              <a:solidFill>
                <a:srgbClr val="FF0000"/>
              </a:solidFill>
            </a:endParaRPr>
          </a:p>
          <a:p>
            <a:pPr lvl="1"/>
            <a:r>
              <a:rPr lang="zh-CN" altLang="en-US" dirty="0">
                <a:solidFill>
                  <a:srgbClr val="0000FF"/>
                </a:solidFill>
              </a:rPr>
              <a:t>通过对关系代数表达式的等价变换来提高查询效率。</a:t>
            </a:r>
            <a:endParaRPr lang="en-US" altLang="zh-CN" dirty="0">
              <a:solidFill>
                <a:srgbClr val="0000FF"/>
              </a:solidFill>
            </a:endParaRPr>
          </a:p>
          <a:p>
            <a:pPr lvl="1"/>
            <a:r>
              <a:rPr lang="zh-CN" altLang="en-US" dirty="0"/>
              <a:t>关系代数表达式的</a:t>
            </a:r>
            <a:r>
              <a:rPr lang="zh-CN" altLang="en-US" dirty="0">
                <a:solidFill>
                  <a:srgbClr val="FF0000"/>
                </a:solidFill>
              </a:rPr>
              <a:t>等价</a:t>
            </a:r>
            <a:r>
              <a:rPr lang="zh-CN" altLang="en-US" dirty="0"/>
              <a:t>是指用相同的关系替代两个表达式中相应的关系所得到的结果是相同的。</a:t>
            </a:r>
            <a:endParaRPr lang="en-US" altLang="zh-CN" dirty="0"/>
          </a:p>
          <a:p>
            <a:pPr lvl="1"/>
            <a:r>
              <a:rPr lang="zh-CN" altLang="en-US" dirty="0"/>
              <a:t>两个关系表达式</a:t>
            </a:r>
            <a:r>
              <a:rPr lang="en-US" altLang="zh-CN" dirty="0"/>
              <a:t>E1</a:t>
            </a:r>
            <a:r>
              <a:rPr lang="zh-CN" altLang="en-US" dirty="0"/>
              <a:t>和</a:t>
            </a:r>
            <a:r>
              <a:rPr lang="en-US" altLang="zh-CN" dirty="0"/>
              <a:t>E2</a:t>
            </a:r>
            <a:r>
              <a:rPr lang="zh-CN" altLang="en-US" dirty="0"/>
              <a:t>是等价的，可记为</a:t>
            </a:r>
            <a:r>
              <a:rPr lang="en-US" altLang="zh-CN" dirty="0">
                <a:solidFill>
                  <a:srgbClr val="FF0000"/>
                </a:solidFill>
              </a:rPr>
              <a:t>E1≡E2  </a:t>
            </a:r>
            <a:endParaRPr lang="en-US" altLang="zh-CN" sz="1600" dirty="0"/>
          </a:p>
          <a:p>
            <a:pPr lvl="1"/>
            <a:endParaRPr lang="en-US" altLang="zh-CN" dirty="0"/>
          </a:p>
          <a:p>
            <a:r>
              <a:rPr lang="zh-CN" altLang="en-US" dirty="0"/>
              <a:t>关系代数等价变换的</a:t>
            </a:r>
            <a:r>
              <a:rPr lang="en-US" altLang="zh-CN" dirty="0">
                <a:solidFill>
                  <a:srgbClr val="FF0000"/>
                </a:solidFill>
              </a:rPr>
              <a:t>11</a:t>
            </a:r>
            <a:r>
              <a:rPr lang="zh-CN" altLang="en-US" dirty="0">
                <a:solidFill>
                  <a:srgbClr val="FF0000"/>
                </a:solidFill>
              </a:rPr>
              <a:t>个规则</a:t>
            </a:r>
            <a:endParaRPr lang="en-US" altLang="zh-CN" dirty="0">
              <a:solidFill>
                <a:srgbClr val="FF0000"/>
              </a:solidFill>
            </a:endParaRPr>
          </a:p>
        </p:txBody>
      </p:sp>
      <p:sp>
        <p:nvSpPr>
          <p:cNvPr id="4" name="灯片编号占位符 3">
            <a:extLst>
              <a:ext uri="{FF2B5EF4-FFF2-40B4-BE49-F238E27FC236}">
                <a16:creationId xmlns:a16="http://schemas.microsoft.com/office/drawing/2014/main" id="{3298C377-47A2-48F8-BEE5-E363B0F1A9B1}"/>
              </a:ext>
            </a:extLst>
          </p:cNvPr>
          <p:cNvSpPr>
            <a:spLocks noGrp="1"/>
          </p:cNvSpPr>
          <p:nvPr>
            <p:ph type="sldNum" sz="quarter" idx="12"/>
          </p:nvPr>
        </p:nvSpPr>
        <p:spPr/>
        <p:txBody>
          <a:bodyPr/>
          <a:lstStyle/>
          <a:p>
            <a:fld id="{E63F6D5D-9733-4D44-9C56-AEFEDD5A4BA7}" type="slidenum">
              <a:rPr lang="en-US" smtClean="0"/>
              <a:pPr/>
              <a:t>27</a:t>
            </a:fld>
            <a:endParaRPr lang="en-US" dirty="0"/>
          </a:p>
        </p:txBody>
      </p:sp>
    </p:spTree>
    <p:extLst>
      <p:ext uri="{BB962C8B-B14F-4D97-AF65-F5344CB8AC3E}">
        <p14:creationId xmlns:p14="http://schemas.microsoft.com/office/powerpoint/2010/main" val="1340297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3" name="Rectangle 3"/>
          <p:cNvSpPr>
            <a:spLocks noGrp="1" noChangeArrowheads="1"/>
          </p:cNvSpPr>
          <p:nvPr>
            <p:ph sz="half" idx="1"/>
          </p:nvPr>
        </p:nvSpPr>
        <p:spPr/>
        <p:txBody>
          <a:bodyPr>
            <a:normAutofit/>
          </a:bodyPr>
          <a:lstStyle/>
          <a:p>
            <a:pPr marL="514350" indent="-514350">
              <a:buFont typeface="+mj-lt"/>
              <a:buAutoNum type="arabicPeriod"/>
            </a:pPr>
            <a:r>
              <a:rPr lang="zh-CN" altLang="en-US" dirty="0">
                <a:solidFill>
                  <a:srgbClr val="0000FF"/>
                </a:solidFill>
              </a:rPr>
              <a:t>连接、笛卡尔积</a:t>
            </a:r>
            <a:r>
              <a:rPr lang="zh-CN" altLang="en-US" dirty="0"/>
              <a:t>的交换律</a:t>
            </a:r>
            <a:endParaRPr lang="en-US" altLang="zh-CN" dirty="0"/>
          </a:p>
          <a:p>
            <a:pPr marL="514350" indent="-514350">
              <a:buFont typeface="+mj-lt"/>
              <a:buAutoNum type="arabicPeriod"/>
            </a:pPr>
            <a:r>
              <a:rPr lang="zh-CN" altLang="en-US" dirty="0">
                <a:solidFill>
                  <a:srgbClr val="0000FF"/>
                </a:solidFill>
              </a:rPr>
              <a:t>连接、笛卡尔积</a:t>
            </a:r>
            <a:r>
              <a:rPr lang="zh-CN" altLang="en-US" dirty="0"/>
              <a:t>的结合律</a:t>
            </a:r>
            <a:endParaRPr lang="en-US" altLang="zh-CN" dirty="0"/>
          </a:p>
          <a:p>
            <a:pPr marL="514350" indent="-514350">
              <a:buFont typeface="+mj-lt"/>
              <a:buAutoNum type="arabicPeriod"/>
            </a:pPr>
            <a:r>
              <a:rPr lang="zh-CN" altLang="en-US" dirty="0">
                <a:solidFill>
                  <a:srgbClr val="0000FF"/>
                </a:solidFill>
              </a:rPr>
              <a:t>投影</a:t>
            </a:r>
            <a:r>
              <a:rPr lang="zh-CN" altLang="en-US" dirty="0"/>
              <a:t>的串接定律</a:t>
            </a:r>
            <a:r>
              <a:rPr lang="en-US" altLang="zh-CN" dirty="0"/>
              <a:t>(</a:t>
            </a:r>
            <a:r>
              <a:rPr lang="zh-CN" altLang="en-US" dirty="0"/>
              <a:t>合并或分解</a:t>
            </a:r>
            <a:r>
              <a:rPr lang="zh-CN" altLang="en-US" dirty="0">
                <a:solidFill>
                  <a:srgbClr val="0000FF"/>
                </a:solidFill>
              </a:rPr>
              <a:t>投影</a:t>
            </a:r>
            <a:r>
              <a:rPr lang="zh-CN" altLang="en-US" dirty="0"/>
              <a:t>运算</a:t>
            </a:r>
            <a:r>
              <a:rPr lang="en-US" altLang="zh-CN" dirty="0"/>
              <a:t>)</a:t>
            </a:r>
          </a:p>
          <a:p>
            <a:pPr marL="514350" indent="-514350">
              <a:buFont typeface="+mj-lt"/>
              <a:buAutoNum type="arabicPeriod"/>
            </a:pPr>
            <a:r>
              <a:rPr lang="zh-CN" altLang="en-US" dirty="0">
                <a:solidFill>
                  <a:srgbClr val="0000FF"/>
                </a:solidFill>
              </a:rPr>
              <a:t>选择</a:t>
            </a:r>
            <a:r>
              <a:rPr lang="zh-CN" altLang="en-US" dirty="0"/>
              <a:t>的串接定律</a:t>
            </a:r>
            <a:r>
              <a:rPr lang="en-US" altLang="zh-CN" dirty="0"/>
              <a:t>(</a:t>
            </a:r>
            <a:r>
              <a:rPr lang="zh-CN" altLang="en-US" dirty="0"/>
              <a:t>合并或分解</a:t>
            </a:r>
            <a:r>
              <a:rPr lang="zh-CN" altLang="en-US" dirty="0">
                <a:solidFill>
                  <a:srgbClr val="0000FF"/>
                </a:solidFill>
              </a:rPr>
              <a:t>选择</a:t>
            </a:r>
            <a:r>
              <a:rPr lang="zh-CN" altLang="en-US" dirty="0"/>
              <a:t>运算</a:t>
            </a:r>
            <a:r>
              <a:rPr lang="en-US" altLang="zh-CN" dirty="0"/>
              <a:t>)</a:t>
            </a:r>
          </a:p>
          <a:p>
            <a:pPr marL="0" indent="0">
              <a:buNone/>
            </a:pPr>
            <a:endParaRPr lang="en-US" altLang="zh-CN" dirty="0"/>
          </a:p>
        </p:txBody>
      </p:sp>
      <p:sp>
        <p:nvSpPr>
          <p:cNvPr id="2" name="内容占位符 1">
            <a:extLst>
              <a:ext uri="{FF2B5EF4-FFF2-40B4-BE49-F238E27FC236}">
                <a16:creationId xmlns:a16="http://schemas.microsoft.com/office/drawing/2014/main" id="{F20D75BB-593F-410B-9724-58F3E9888FE8}"/>
              </a:ext>
            </a:extLst>
          </p:cNvPr>
          <p:cNvSpPr>
            <a:spLocks noGrp="1"/>
          </p:cNvSpPr>
          <p:nvPr>
            <p:ph sz="half" idx="2"/>
          </p:nvPr>
        </p:nvSpPr>
        <p:spPr/>
        <p:txBody>
          <a:bodyPr/>
          <a:lstStyle/>
          <a:p>
            <a:pPr marL="514350" indent="-514350">
              <a:buFont typeface="+mj-lt"/>
              <a:buAutoNum type="arabicPeriod" startAt="5"/>
            </a:pPr>
            <a:r>
              <a:rPr lang="zh-CN" altLang="en-US" dirty="0">
                <a:solidFill>
                  <a:srgbClr val="0000FF"/>
                </a:solidFill>
              </a:rPr>
              <a:t>选择</a:t>
            </a:r>
            <a:r>
              <a:rPr lang="zh-CN" altLang="en-US" dirty="0"/>
              <a:t>与投影的交换律</a:t>
            </a:r>
            <a:endParaRPr lang="en-US" altLang="zh-CN" dirty="0">
              <a:solidFill>
                <a:srgbClr val="0000FF"/>
              </a:solidFill>
            </a:endParaRPr>
          </a:p>
          <a:p>
            <a:pPr marL="514350" indent="-514350">
              <a:buFont typeface="+mj-lt"/>
              <a:buAutoNum type="arabicPeriod" startAt="5"/>
            </a:pPr>
            <a:r>
              <a:rPr lang="zh-CN" altLang="en-US" dirty="0">
                <a:solidFill>
                  <a:srgbClr val="0000FF"/>
                </a:solidFill>
              </a:rPr>
              <a:t>选择</a:t>
            </a:r>
            <a:r>
              <a:rPr lang="zh-CN" altLang="en-US" dirty="0"/>
              <a:t>与笛卡尔积的交换律</a:t>
            </a:r>
            <a:endParaRPr lang="en-US" altLang="zh-CN" dirty="0"/>
          </a:p>
          <a:p>
            <a:pPr marL="514350" indent="-514350">
              <a:buFont typeface="+mj-lt"/>
              <a:buAutoNum type="arabicPeriod" startAt="5"/>
            </a:pPr>
            <a:r>
              <a:rPr lang="zh-CN" altLang="en-US" dirty="0">
                <a:solidFill>
                  <a:srgbClr val="0000FF"/>
                </a:solidFill>
              </a:rPr>
              <a:t>选择</a:t>
            </a:r>
            <a:r>
              <a:rPr lang="zh-CN" altLang="en-US" dirty="0"/>
              <a:t>与并运算的分配律</a:t>
            </a:r>
            <a:endParaRPr lang="en-US" altLang="zh-CN" dirty="0"/>
          </a:p>
          <a:p>
            <a:pPr marL="514350" indent="-514350">
              <a:buFont typeface="+mj-lt"/>
              <a:buAutoNum type="arabicPeriod" startAt="5"/>
            </a:pPr>
            <a:r>
              <a:rPr lang="zh-CN" altLang="en-US" dirty="0">
                <a:solidFill>
                  <a:srgbClr val="0000FF"/>
                </a:solidFill>
              </a:rPr>
              <a:t>选择</a:t>
            </a:r>
            <a:r>
              <a:rPr lang="zh-CN" altLang="en-US" dirty="0"/>
              <a:t>与差运算的分配律</a:t>
            </a:r>
            <a:endParaRPr lang="en-US" altLang="zh-CN" dirty="0"/>
          </a:p>
          <a:p>
            <a:pPr marL="514350" indent="-514350">
              <a:buFont typeface="+mj-lt"/>
              <a:buAutoNum type="arabicPeriod" startAt="5"/>
            </a:pPr>
            <a:r>
              <a:rPr lang="zh-CN" altLang="en-US" dirty="0">
                <a:solidFill>
                  <a:srgbClr val="0000FF"/>
                </a:solidFill>
              </a:rPr>
              <a:t>选择</a:t>
            </a:r>
            <a:r>
              <a:rPr lang="zh-CN" altLang="en-US" dirty="0"/>
              <a:t>与自然连接的分配律</a:t>
            </a:r>
            <a:endParaRPr lang="en-US" altLang="zh-CN" dirty="0"/>
          </a:p>
          <a:p>
            <a:pPr marL="514350" indent="-514350">
              <a:buFont typeface="+mj-lt"/>
              <a:buAutoNum type="arabicPeriod" startAt="5"/>
            </a:pPr>
            <a:endParaRPr lang="en-US" altLang="zh-CN" dirty="0">
              <a:solidFill>
                <a:srgbClr val="0000FF"/>
              </a:solidFill>
            </a:endParaRPr>
          </a:p>
          <a:p>
            <a:pPr marL="514350" indent="-514350">
              <a:buFont typeface="+mj-lt"/>
              <a:buAutoNum type="arabicPeriod" startAt="5"/>
            </a:pPr>
            <a:r>
              <a:rPr lang="zh-CN" altLang="en-US" dirty="0">
                <a:solidFill>
                  <a:srgbClr val="0000FF"/>
                </a:solidFill>
              </a:rPr>
              <a:t>投影</a:t>
            </a:r>
            <a:r>
              <a:rPr lang="zh-CN" altLang="en-US" dirty="0"/>
              <a:t>与笛卡尔积的分配律</a:t>
            </a:r>
            <a:endParaRPr lang="en-US" altLang="zh-CN" dirty="0"/>
          </a:p>
          <a:p>
            <a:pPr marL="514350" indent="-514350">
              <a:buFont typeface="+mj-lt"/>
              <a:buAutoNum type="arabicPeriod" startAt="5"/>
            </a:pPr>
            <a:r>
              <a:rPr lang="zh-CN" altLang="en-US" dirty="0">
                <a:solidFill>
                  <a:srgbClr val="0000FF"/>
                </a:solidFill>
              </a:rPr>
              <a:t>投影</a:t>
            </a:r>
            <a:r>
              <a:rPr lang="zh-CN" altLang="en-US" dirty="0"/>
              <a:t>与并运算的分配律</a:t>
            </a:r>
          </a:p>
        </p:txBody>
      </p:sp>
      <p:sp>
        <p:nvSpPr>
          <p:cNvPr id="11" name="灯片编号占位符 5"/>
          <p:cNvSpPr>
            <a:spLocks noGrp="1"/>
          </p:cNvSpPr>
          <p:nvPr>
            <p:ph type="sldNum" sz="quarter" idx="12"/>
          </p:nvPr>
        </p:nvSpPr>
        <p:spPr/>
        <p:txBody>
          <a:bodyPr/>
          <a:lstStyle/>
          <a:p>
            <a:fld id="{8796CF9E-BF3C-4D95-B7C5-407311A977BC}" type="slidenum">
              <a:rPr lang="en-US" altLang="zh-CN" smtClean="0"/>
              <a:pPr/>
              <a:t>28</a:t>
            </a:fld>
            <a:endParaRPr lang="en-US" altLang="zh-CN"/>
          </a:p>
        </p:txBody>
      </p:sp>
      <p:sp>
        <p:nvSpPr>
          <p:cNvPr id="363522" name="Rectangle 2"/>
          <p:cNvSpPr>
            <a:spLocks noGrp="1" noChangeArrowheads="1"/>
          </p:cNvSpPr>
          <p:nvPr>
            <p:ph type="title"/>
          </p:nvPr>
        </p:nvSpPr>
        <p:spPr/>
        <p:txBody>
          <a:bodyPr/>
          <a:lstStyle/>
          <a:p>
            <a:r>
              <a:rPr lang="en-US" altLang="zh-CN" dirty="0"/>
              <a:t>9.3.1 </a:t>
            </a:r>
            <a:r>
              <a:rPr lang="zh-CN" altLang="en-US" dirty="0"/>
              <a:t>关系代数表达式等价变换规则</a:t>
            </a:r>
          </a:p>
        </p:txBody>
      </p:sp>
      <p:sp>
        <p:nvSpPr>
          <p:cNvPr id="363528" name="Rectangle 8"/>
          <p:cNvSpPr>
            <a:spLocks noChangeArrowheads="1"/>
          </p:cNvSpPr>
          <p:nvPr/>
        </p:nvSpPr>
        <p:spPr bwMode="auto">
          <a:xfrm>
            <a:off x="6705600" y="5410200"/>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F5E464-F106-4A5C-A042-F5066E5E71A2}"/>
              </a:ext>
            </a:extLst>
          </p:cNvPr>
          <p:cNvSpPr>
            <a:spLocks noGrp="1"/>
          </p:cNvSpPr>
          <p:nvPr>
            <p:ph type="title"/>
          </p:nvPr>
        </p:nvSpPr>
        <p:spPr/>
        <p:txBody>
          <a:bodyPr/>
          <a:lstStyle/>
          <a:p>
            <a:r>
              <a:rPr lang="en-US" altLang="zh-CN" dirty="0"/>
              <a:t>9.3.2 </a:t>
            </a:r>
            <a:r>
              <a:rPr lang="zh-CN" altLang="en-US" dirty="0"/>
              <a:t>查询树的启发式优化</a:t>
            </a:r>
          </a:p>
        </p:txBody>
      </p:sp>
      <p:sp>
        <p:nvSpPr>
          <p:cNvPr id="3" name="内容占位符 2">
            <a:extLst>
              <a:ext uri="{FF2B5EF4-FFF2-40B4-BE49-F238E27FC236}">
                <a16:creationId xmlns:a16="http://schemas.microsoft.com/office/drawing/2014/main" id="{8C48A73F-4643-4361-A58C-8D526500DCB8}"/>
              </a:ext>
            </a:extLst>
          </p:cNvPr>
          <p:cNvSpPr>
            <a:spLocks noGrp="1"/>
          </p:cNvSpPr>
          <p:nvPr>
            <p:ph idx="1"/>
          </p:nvPr>
        </p:nvSpPr>
        <p:spPr/>
        <p:txBody>
          <a:bodyPr>
            <a:normAutofit fontScale="92500" lnSpcReduction="10000"/>
          </a:bodyPr>
          <a:lstStyle/>
          <a:p>
            <a:r>
              <a:rPr lang="zh-CN" altLang="en-US" dirty="0"/>
              <a:t>典型的启发式规则</a:t>
            </a:r>
            <a:r>
              <a:rPr lang="en-US" altLang="zh-CN" dirty="0"/>
              <a:t>(heuristic rule)</a:t>
            </a:r>
            <a:r>
              <a:rPr lang="zh-CN" altLang="en-US" dirty="0"/>
              <a:t>：</a:t>
            </a:r>
            <a:endParaRPr lang="en-US" altLang="zh-CN" dirty="0"/>
          </a:p>
          <a:p>
            <a:pPr lvl="1"/>
            <a:r>
              <a:rPr lang="zh-CN" altLang="en-US" dirty="0">
                <a:solidFill>
                  <a:srgbClr val="FF0000"/>
                </a:solidFill>
              </a:rPr>
              <a:t>选择运算应尽可能先做</a:t>
            </a:r>
            <a:endParaRPr lang="en-US" altLang="zh-CN" dirty="0"/>
          </a:p>
          <a:p>
            <a:pPr lvl="2"/>
            <a:r>
              <a:rPr lang="zh-CN" altLang="en-US" sz="1800" dirty="0">
                <a:latin typeface="微软雅黑" panose="020B0503020204020204" pitchFamily="34" charset="-122"/>
                <a:ea typeface="微软雅黑" panose="020B0503020204020204" pitchFamily="34" charset="-122"/>
              </a:rPr>
              <a:t>在优化策略中这是最重要、最基本的一条</a:t>
            </a:r>
          </a:p>
          <a:p>
            <a:pPr lvl="1"/>
            <a:r>
              <a:rPr lang="zh-CN" altLang="en-US" dirty="0">
                <a:solidFill>
                  <a:srgbClr val="FF0000"/>
                </a:solidFill>
              </a:rPr>
              <a:t>把投影运算和选择运算同时进行</a:t>
            </a:r>
            <a:endParaRPr lang="en-US" altLang="zh-CN" dirty="0"/>
          </a:p>
          <a:p>
            <a:pPr lvl="2"/>
            <a:r>
              <a:rPr lang="zh-CN" altLang="en-US" sz="1800" dirty="0">
                <a:latin typeface="微软雅黑" panose="020B0503020204020204" pitchFamily="34" charset="-122"/>
                <a:ea typeface="微软雅黑" panose="020B0503020204020204" pitchFamily="34" charset="-122"/>
              </a:rPr>
              <a:t>如有若干投影和选择运算，并且它们都对同一个关系操作，则可以在扫描此关系的同时完成所有的这些运算以避免重复扫描关系</a:t>
            </a:r>
          </a:p>
          <a:p>
            <a:pPr lvl="1"/>
            <a:r>
              <a:rPr lang="zh-CN" altLang="en-US" dirty="0">
                <a:solidFill>
                  <a:srgbClr val="FF0000"/>
                </a:solidFill>
              </a:rPr>
              <a:t>把投影同其前或其后的双目运算结合起来</a:t>
            </a:r>
            <a:r>
              <a:rPr lang="zh-CN" altLang="en-US" dirty="0"/>
              <a:t>，没有必要为了去掉某些字段而扫描一遍关系</a:t>
            </a:r>
          </a:p>
          <a:p>
            <a:pPr lvl="1"/>
            <a:r>
              <a:rPr lang="zh-CN" altLang="en-US" dirty="0">
                <a:solidFill>
                  <a:srgbClr val="FF0000"/>
                </a:solidFill>
              </a:rPr>
              <a:t>把某些选择同在它前面要执行的笛卡尔积结合起来成为一个连接运算</a:t>
            </a:r>
            <a:r>
              <a:rPr lang="zh-CN" altLang="en-US" dirty="0"/>
              <a:t>，连接特别是等值连接运算要比同样关系上的笛卡尔积省很多时间</a:t>
            </a:r>
          </a:p>
          <a:p>
            <a:pPr lvl="1"/>
            <a:r>
              <a:rPr lang="zh-CN" altLang="en-US" dirty="0">
                <a:solidFill>
                  <a:srgbClr val="FF0000"/>
                </a:solidFill>
              </a:rPr>
              <a:t>找出公共子表达式</a:t>
            </a:r>
            <a:endParaRPr lang="en-US" altLang="zh-CN" dirty="0"/>
          </a:p>
          <a:p>
            <a:pPr lvl="2"/>
            <a:r>
              <a:rPr lang="zh-CN" altLang="en-US" sz="1800" dirty="0">
                <a:latin typeface="微软雅黑" panose="020B0503020204020204" pitchFamily="34" charset="-122"/>
                <a:ea typeface="微软雅黑" panose="020B0503020204020204" pitchFamily="34" charset="-122"/>
              </a:rPr>
              <a:t>如果这种重复出现的子表达式的结果不是很大的关系，并且从外存中读入这个关系比计算该子表达式的时间少得多，则先计算一次公共子表达式并把结果写入中间文件是合算的。当查询的是视图时，定义视图的表达式就是公共子表达式的情况</a:t>
            </a:r>
          </a:p>
        </p:txBody>
      </p:sp>
      <p:sp>
        <p:nvSpPr>
          <p:cNvPr id="4" name="灯片编号占位符 3">
            <a:extLst>
              <a:ext uri="{FF2B5EF4-FFF2-40B4-BE49-F238E27FC236}">
                <a16:creationId xmlns:a16="http://schemas.microsoft.com/office/drawing/2014/main" id="{542B1304-B8E9-4AE1-B938-797F10585875}"/>
              </a:ext>
            </a:extLst>
          </p:cNvPr>
          <p:cNvSpPr>
            <a:spLocks noGrp="1"/>
          </p:cNvSpPr>
          <p:nvPr>
            <p:ph type="sldNum" sz="quarter" idx="12"/>
          </p:nvPr>
        </p:nvSpPr>
        <p:spPr/>
        <p:txBody>
          <a:bodyPr/>
          <a:lstStyle/>
          <a:p>
            <a:fld id="{E63F6D5D-9733-4D44-9C56-AEFEDD5A4BA7}" type="slidenum">
              <a:rPr lang="en-US" smtClean="0"/>
              <a:pPr/>
              <a:t>29</a:t>
            </a:fld>
            <a:endParaRPr lang="en-US" dirty="0"/>
          </a:p>
        </p:txBody>
      </p:sp>
    </p:spTree>
    <p:extLst>
      <p:ext uri="{BB962C8B-B14F-4D97-AF65-F5344CB8AC3E}">
        <p14:creationId xmlns:p14="http://schemas.microsoft.com/office/powerpoint/2010/main" val="4262046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F91F239-31B9-494C-AAF1-1AB818A934E6}"/>
              </a:ext>
            </a:extLst>
          </p:cNvPr>
          <p:cNvSpPr>
            <a:spLocks noGrp="1"/>
          </p:cNvSpPr>
          <p:nvPr>
            <p:ph idx="1"/>
          </p:nvPr>
        </p:nvSpPr>
        <p:spPr/>
        <p:txBody>
          <a:bodyPr/>
          <a:lstStyle/>
          <a:p>
            <a:r>
              <a:rPr lang="zh-CN" altLang="en-US">
                <a:solidFill>
                  <a:srgbClr val="FF0000"/>
                </a:solidFill>
              </a:rPr>
              <a:t>查询树的启发式优化算法</a:t>
            </a:r>
            <a:endParaRPr lang="en-US" altLang="zh-CN"/>
          </a:p>
          <a:p>
            <a:endParaRPr lang="zh-CN" altLang="en-US"/>
          </a:p>
        </p:txBody>
      </p:sp>
      <p:sp>
        <p:nvSpPr>
          <p:cNvPr id="4" name="灯片编号占位符 3">
            <a:extLst>
              <a:ext uri="{FF2B5EF4-FFF2-40B4-BE49-F238E27FC236}">
                <a16:creationId xmlns:a16="http://schemas.microsoft.com/office/drawing/2014/main" id="{0B87059E-63DA-44C0-B8B8-D96F3BF4A90E}"/>
              </a:ext>
            </a:extLst>
          </p:cNvPr>
          <p:cNvSpPr>
            <a:spLocks noGrp="1"/>
          </p:cNvSpPr>
          <p:nvPr>
            <p:ph type="sldNum" sz="quarter" idx="12"/>
          </p:nvPr>
        </p:nvSpPr>
        <p:spPr/>
        <p:txBody>
          <a:bodyPr/>
          <a:lstStyle/>
          <a:p>
            <a:fld id="{E63F6D5D-9733-4D44-9C56-AEFEDD5A4BA7}" type="slidenum">
              <a:rPr lang="en-US" smtClean="0"/>
              <a:pPr/>
              <a:t>30</a:t>
            </a:fld>
            <a:endParaRPr lang="en-US" dirty="0"/>
          </a:p>
        </p:txBody>
      </p:sp>
      <p:graphicFrame>
        <p:nvGraphicFramePr>
          <p:cNvPr id="5" name="表格 4">
            <a:extLst>
              <a:ext uri="{FF2B5EF4-FFF2-40B4-BE49-F238E27FC236}">
                <a16:creationId xmlns:a16="http://schemas.microsoft.com/office/drawing/2014/main" id="{75F439FD-E843-4521-8B28-A32A515AC7FC}"/>
              </a:ext>
            </a:extLst>
          </p:cNvPr>
          <p:cNvGraphicFramePr>
            <a:graphicFrameLocks noGrp="1"/>
          </p:cNvGraphicFramePr>
          <p:nvPr>
            <p:extLst>
              <p:ext uri="{D42A27DB-BD31-4B8C-83A1-F6EECF244321}">
                <p14:modId xmlns:p14="http://schemas.microsoft.com/office/powerpoint/2010/main" val="1010441429"/>
              </p:ext>
            </p:extLst>
          </p:nvPr>
        </p:nvGraphicFramePr>
        <p:xfrm>
          <a:off x="990600" y="1828800"/>
          <a:ext cx="10020300" cy="4115435"/>
        </p:xfrm>
        <a:graphic>
          <a:graphicData uri="http://schemas.openxmlformats.org/drawingml/2006/table">
            <a:tbl>
              <a:tblPr firstRow="1" bandRow="1">
                <a:tableStyleId>{9D7B26C5-4107-4FEC-AEDC-1716B250A1EF}</a:tableStyleId>
              </a:tblPr>
              <a:tblGrid>
                <a:gridCol w="10020300">
                  <a:extLst>
                    <a:ext uri="{9D8B030D-6E8A-4147-A177-3AD203B41FA5}">
                      <a16:colId xmlns:a16="http://schemas.microsoft.com/office/drawing/2014/main" val="1351718792"/>
                    </a:ext>
                  </a:extLst>
                </a:gridCol>
              </a:tblGrid>
              <a:tr h="370840">
                <a:tc>
                  <a:txBody>
                    <a:bodyPr/>
                    <a:lstStyle/>
                    <a:p>
                      <a:pPr>
                        <a:lnSpc>
                          <a:spcPct val="130000"/>
                        </a:lnSpc>
                      </a:pPr>
                      <a:r>
                        <a:rPr lang="zh-CN" altLang="en-US" sz="2000" b="0" dirty="0">
                          <a:solidFill>
                            <a:srgbClr val="CC00CC"/>
                          </a:solidFill>
                          <a:latin typeface="微软雅黑" panose="020B0503020204020204" pitchFamily="34" charset="-122"/>
                          <a:ea typeface="微软雅黑" panose="020B0503020204020204" pitchFamily="34" charset="-122"/>
                        </a:rPr>
                        <a:t>算法：关系表达式的优化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42672249"/>
                  </a:ext>
                </a:extLst>
              </a:tr>
              <a:tr h="370840">
                <a:tc>
                  <a:txBody>
                    <a:bodyPr/>
                    <a:lstStyle/>
                    <a:p>
                      <a:pPr>
                        <a:lnSpc>
                          <a:spcPct val="130000"/>
                        </a:lnSpc>
                      </a:pPr>
                      <a:r>
                        <a:rPr lang="zh-CN" altLang="en-US" sz="1800" b="0" dirty="0">
                          <a:solidFill>
                            <a:srgbClr val="CC00CC"/>
                          </a:solidFill>
                          <a:latin typeface="微软雅黑" panose="020B0503020204020204" pitchFamily="34" charset="-122"/>
                          <a:ea typeface="微软雅黑" panose="020B0503020204020204" pitchFamily="34" charset="-122"/>
                        </a:rPr>
                        <a:t>输入：</a:t>
                      </a:r>
                      <a:r>
                        <a:rPr lang="zh-CN" altLang="en-US" sz="1800" b="0" dirty="0">
                          <a:latin typeface="微软雅黑" panose="020B0503020204020204" pitchFamily="34" charset="-122"/>
                          <a:ea typeface="微软雅黑" panose="020B0503020204020204" pitchFamily="34" charset="-122"/>
                        </a:rPr>
                        <a:t>一个关系表达式的查询树</a:t>
                      </a:r>
                      <a:endParaRPr lang="en-US" altLang="zh-CN" sz="1800" b="0" dirty="0">
                        <a:latin typeface="微软雅黑" panose="020B0503020204020204" pitchFamily="34" charset="-122"/>
                        <a:ea typeface="微软雅黑" panose="020B0503020204020204" pitchFamily="34" charset="-122"/>
                      </a:endParaRPr>
                    </a:p>
                    <a:p>
                      <a:pPr>
                        <a:lnSpc>
                          <a:spcPct val="130000"/>
                        </a:lnSpc>
                      </a:pPr>
                      <a:r>
                        <a:rPr lang="zh-CN" altLang="en-US" sz="1800" b="0" dirty="0">
                          <a:solidFill>
                            <a:srgbClr val="CC00CC"/>
                          </a:solidFill>
                          <a:latin typeface="微软雅黑" panose="020B0503020204020204" pitchFamily="34" charset="-122"/>
                          <a:ea typeface="微软雅黑" panose="020B0503020204020204" pitchFamily="34" charset="-122"/>
                        </a:rPr>
                        <a:t>输出：</a:t>
                      </a:r>
                      <a:r>
                        <a:rPr lang="zh-CN" altLang="en-US" sz="1800" b="0" dirty="0">
                          <a:latin typeface="微软雅黑" panose="020B0503020204020204" pitchFamily="34" charset="-122"/>
                          <a:ea typeface="微软雅黑" panose="020B0503020204020204" pitchFamily="34" charset="-122"/>
                        </a:rPr>
                        <a:t>优化的查询树</a:t>
                      </a:r>
                      <a:endParaRPr lang="en-US" altLang="zh-CN" sz="1800" b="0" dirty="0">
                        <a:latin typeface="微软雅黑" panose="020B0503020204020204" pitchFamily="34" charset="-122"/>
                        <a:ea typeface="微软雅黑" panose="020B0503020204020204" pitchFamily="34" charset="-122"/>
                      </a:endParaRPr>
                    </a:p>
                    <a:p>
                      <a:pPr>
                        <a:lnSpc>
                          <a:spcPct val="130000"/>
                        </a:lnSpc>
                      </a:pPr>
                      <a:r>
                        <a:rPr lang="zh-CN" altLang="en-US" sz="1800" b="0" dirty="0">
                          <a:solidFill>
                            <a:srgbClr val="CC00CC"/>
                          </a:solidFill>
                          <a:latin typeface="微软雅黑" panose="020B0503020204020204" pitchFamily="34" charset="-122"/>
                          <a:ea typeface="微软雅黑" panose="020B0503020204020204" pitchFamily="34" charset="-122"/>
                        </a:rPr>
                        <a:t>步骤</a:t>
                      </a:r>
                      <a:r>
                        <a:rPr lang="zh-CN" altLang="en-US" sz="1600" dirty="0">
                          <a:solidFill>
                            <a:srgbClr val="CC00CC"/>
                          </a:solidFill>
                          <a:latin typeface="微软雅黑" panose="020B0503020204020204" pitchFamily="34" charset="-122"/>
                          <a:ea typeface="微软雅黑" panose="020B0503020204020204" pitchFamily="34" charset="-122"/>
                        </a:rPr>
                        <a:t>：</a:t>
                      </a:r>
                      <a:endParaRPr lang="en-US" altLang="zh-CN" sz="1600" dirty="0">
                        <a:solidFill>
                          <a:srgbClr val="CC00CC"/>
                        </a:solidFill>
                        <a:latin typeface="微软雅黑" panose="020B0503020204020204" pitchFamily="34" charset="-122"/>
                        <a:ea typeface="微软雅黑" panose="020B0503020204020204" pitchFamily="34" charset="-122"/>
                      </a:endParaRPr>
                    </a:p>
                    <a:p>
                      <a:pPr marL="342900" indent="-76200">
                        <a:lnSpc>
                          <a:spcPct val="130000"/>
                        </a:lnSpc>
                        <a:buFont typeface="+mj-lt"/>
                        <a:buAutoNum type="arabicPeriod"/>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利用等价变换规则</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，把</a:t>
                      </a:r>
                      <a:r>
                        <a:rPr lang="zh-CN" altLang="en-US" sz="1600" b="0" dirty="0">
                          <a:solidFill>
                            <a:srgbClr val="C00000"/>
                          </a:solidFill>
                          <a:latin typeface="微软雅黑" panose="020B0503020204020204" pitchFamily="34" charset="-122"/>
                          <a:ea typeface="微软雅黑" panose="020B0503020204020204" pitchFamily="34" charset="-122"/>
                        </a:rPr>
                        <a:t>形如</a:t>
                      </a:r>
                      <a:r>
                        <a:rPr lang="en-US" altLang="zh-CN" sz="1600" b="0" dirty="0">
                          <a:solidFill>
                            <a:srgbClr val="C00000"/>
                          </a:solidFill>
                          <a:latin typeface="微软雅黑" panose="020B0503020204020204" pitchFamily="34" charset="-122"/>
                          <a:ea typeface="微软雅黑" panose="020B0503020204020204" pitchFamily="34" charset="-122"/>
                        </a:rPr>
                        <a:t>σ</a:t>
                      </a:r>
                      <a:r>
                        <a:rPr lang="en-US" altLang="zh-CN" sz="1600" b="0" baseline="-25000" dirty="0">
                          <a:solidFill>
                            <a:srgbClr val="C00000"/>
                          </a:solidFill>
                          <a:latin typeface="微软雅黑" panose="020B0503020204020204" pitchFamily="34" charset="-122"/>
                          <a:ea typeface="微软雅黑" panose="020B0503020204020204" pitchFamily="34" charset="-122"/>
                        </a:rPr>
                        <a:t>F1∧F2∧…∧</a:t>
                      </a:r>
                      <a:r>
                        <a:rPr lang="en-US" altLang="zh-CN" sz="1600" b="0" baseline="-25000" dirty="0" err="1">
                          <a:solidFill>
                            <a:srgbClr val="C00000"/>
                          </a:solidFill>
                          <a:latin typeface="微软雅黑" panose="020B0503020204020204" pitchFamily="34" charset="-122"/>
                          <a:ea typeface="微软雅黑" panose="020B0503020204020204" pitchFamily="34" charset="-122"/>
                        </a:rPr>
                        <a:t>Fn</a:t>
                      </a:r>
                      <a:r>
                        <a:rPr lang="en-US" altLang="zh-CN" sz="1600" b="0" dirty="0">
                          <a:solidFill>
                            <a:srgbClr val="C00000"/>
                          </a:solidFill>
                          <a:latin typeface="微软雅黑" panose="020B0503020204020204" pitchFamily="34" charset="-122"/>
                          <a:ea typeface="微软雅黑" panose="020B0503020204020204" pitchFamily="34" charset="-122"/>
                        </a:rPr>
                        <a:t>(E)</a:t>
                      </a:r>
                      <a:r>
                        <a:rPr lang="zh-CN" altLang="en-US" sz="1600" b="0" dirty="0">
                          <a:solidFill>
                            <a:srgbClr val="C00000"/>
                          </a:solidFill>
                          <a:latin typeface="微软雅黑" panose="020B0503020204020204" pitchFamily="34" charset="-122"/>
                          <a:ea typeface="微软雅黑" panose="020B0503020204020204" pitchFamily="34" charset="-122"/>
                        </a:rPr>
                        <a:t>变换为</a:t>
                      </a:r>
                      <a:r>
                        <a:rPr lang="en-US" altLang="zh-CN" sz="1600" b="0" dirty="0">
                          <a:solidFill>
                            <a:srgbClr val="C00000"/>
                          </a:solidFill>
                          <a:latin typeface="微软雅黑" panose="020B0503020204020204" pitchFamily="34" charset="-122"/>
                          <a:ea typeface="微软雅黑" panose="020B0503020204020204" pitchFamily="34" charset="-122"/>
                        </a:rPr>
                        <a:t>σ</a:t>
                      </a:r>
                      <a:r>
                        <a:rPr lang="en-US" altLang="zh-CN" sz="1600" b="0" baseline="-25000" dirty="0">
                          <a:solidFill>
                            <a:srgbClr val="C00000"/>
                          </a:solidFill>
                          <a:latin typeface="微软雅黑" panose="020B0503020204020204" pitchFamily="34" charset="-122"/>
                          <a:ea typeface="微软雅黑" panose="020B0503020204020204" pitchFamily="34" charset="-122"/>
                        </a:rPr>
                        <a:t>F1</a:t>
                      </a:r>
                      <a:r>
                        <a:rPr lang="en-US" altLang="zh-CN" sz="1600" b="0" dirty="0">
                          <a:solidFill>
                            <a:srgbClr val="C00000"/>
                          </a:solidFill>
                          <a:latin typeface="微软雅黑" panose="020B0503020204020204" pitchFamily="34" charset="-122"/>
                          <a:ea typeface="微软雅黑" panose="020B0503020204020204" pitchFamily="34" charset="-122"/>
                        </a:rPr>
                        <a:t>(σ</a:t>
                      </a:r>
                      <a:r>
                        <a:rPr lang="en-US" altLang="zh-CN" sz="1600" b="0" baseline="-25000" dirty="0">
                          <a:solidFill>
                            <a:srgbClr val="C00000"/>
                          </a:solidFill>
                          <a:latin typeface="微软雅黑" panose="020B0503020204020204" pitchFamily="34" charset="-122"/>
                          <a:ea typeface="微软雅黑" panose="020B0503020204020204" pitchFamily="34" charset="-122"/>
                        </a:rPr>
                        <a:t>F2</a:t>
                      </a:r>
                      <a:r>
                        <a:rPr lang="en-US" altLang="zh-CN" sz="1600" b="0" dirty="0">
                          <a:solidFill>
                            <a:srgbClr val="C00000"/>
                          </a:solidFill>
                          <a:latin typeface="微软雅黑" panose="020B0503020204020204" pitchFamily="34" charset="-122"/>
                          <a:ea typeface="微软雅黑" panose="020B0503020204020204" pitchFamily="34" charset="-122"/>
                        </a:rPr>
                        <a:t>(…(</a:t>
                      </a:r>
                      <a:r>
                        <a:rPr lang="en-US" altLang="zh-CN" sz="1600" b="0" dirty="0" err="1">
                          <a:solidFill>
                            <a:srgbClr val="C00000"/>
                          </a:solidFill>
                          <a:latin typeface="微软雅黑" panose="020B0503020204020204" pitchFamily="34" charset="-122"/>
                          <a:ea typeface="微软雅黑" panose="020B0503020204020204" pitchFamily="34" charset="-122"/>
                        </a:rPr>
                        <a:t>σ</a:t>
                      </a:r>
                      <a:r>
                        <a:rPr lang="en-US" altLang="zh-CN" sz="1600" b="0" baseline="-25000" dirty="0" err="1">
                          <a:solidFill>
                            <a:srgbClr val="C00000"/>
                          </a:solidFill>
                          <a:latin typeface="微软雅黑" panose="020B0503020204020204" pitchFamily="34" charset="-122"/>
                          <a:ea typeface="微软雅黑" panose="020B0503020204020204" pitchFamily="34" charset="-122"/>
                        </a:rPr>
                        <a:t>Fn</a:t>
                      </a:r>
                      <a:r>
                        <a:rPr lang="en-US" altLang="zh-CN" sz="1600" b="0" dirty="0">
                          <a:solidFill>
                            <a:srgbClr val="C00000"/>
                          </a:solidFill>
                          <a:latin typeface="微软雅黑" panose="020B0503020204020204" pitchFamily="34" charset="-122"/>
                          <a:ea typeface="微软雅黑" panose="020B0503020204020204" pitchFamily="34" charset="-122"/>
                        </a:rPr>
                        <a:t>(E))…))</a:t>
                      </a:r>
                      <a:r>
                        <a:rPr lang="en-US" altLang="zh-CN" sz="1600" dirty="0">
                          <a:latin typeface="微软雅黑" panose="020B0503020204020204" pitchFamily="34" charset="-122"/>
                          <a:ea typeface="微软雅黑" panose="020B0503020204020204" pitchFamily="34" charset="-122"/>
                        </a:rPr>
                        <a:t> </a:t>
                      </a:r>
                    </a:p>
                    <a:p>
                      <a:pPr marL="342900" indent="-76200">
                        <a:lnSpc>
                          <a:spcPct val="130000"/>
                        </a:lnSpc>
                        <a:buFont typeface="+mj-lt"/>
                        <a:buAutoNum type="arabicPeriod"/>
                      </a:pPr>
                      <a:r>
                        <a:rPr lang="zh-CN" altLang="en-US" sz="1600" dirty="0">
                          <a:latin typeface="微软雅黑" panose="020B0503020204020204" pitchFamily="34" charset="-122"/>
                          <a:ea typeface="微软雅黑" panose="020B0503020204020204" pitchFamily="34" charset="-122"/>
                        </a:rPr>
                        <a:t> 对每一个选择，利用等价变换规则</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9</a:t>
                      </a:r>
                      <a:r>
                        <a:rPr lang="zh-CN" altLang="en-US" sz="1600" dirty="0">
                          <a:latin typeface="微软雅黑" panose="020B0503020204020204" pitchFamily="34" charset="-122"/>
                          <a:ea typeface="微软雅黑" panose="020B0503020204020204" pitchFamily="34" charset="-122"/>
                        </a:rPr>
                        <a:t>尽可能把它移到树的叶端</a:t>
                      </a:r>
                      <a:endParaRPr lang="en-US" altLang="zh-CN" sz="1600" dirty="0">
                        <a:latin typeface="微软雅黑" panose="020B0503020204020204" pitchFamily="34" charset="-122"/>
                        <a:ea typeface="微软雅黑" panose="020B0503020204020204" pitchFamily="34" charset="-122"/>
                      </a:endParaRPr>
                    </a:p>
                    <a:p>
                      <a:pPr marL="342900" indent="-76200">
                        <a:lnSpc>
                          <a:spcPct val="130000"/>
                        </a:lnSpc>
                        <a:buFont typeface="+mj-lt"/>
                        <a:buAutoNum type="arabicPeriod"/>
                      </a:pPr>
                      <a:r>
                        <a:rPr lang="zh-CN" altLang="en-US" sz="1600" dirty="0">
                          <a:latin typeface="微软雅黑" panose="020B0503020204020204" pitchFamily="34" charset="-122"/>
                          <a:ea typeface="微软雅黑" panose="020B0503020204020204" pitchFamily="34" charset="-122"/>
                        </a:rPr>
                        <a:t> 对每一个投影，利用等价变换规则</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10</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中的一般形式尽可能把它移向树的叶端</a:t>
                      </a:r>
                      <a:endParaRPr lang="en-US" altLang="zh-CN" sz="1600" dirty="0">
                        <a:latin typeface="微软雅黑" panose="020B0503020204020204" pitchFamily="34" charset="-122"/>
                        <a:ea typeface="微软雅黑" panose="020B0503020204020204" pitchFamily="34" charset="-122"/>
                      </a:endParaRPr>
                    </a:p>
                    <a:p>
                      <a:pPr marL="342900" marR="0" lvl="0" indent="-76200" algn="l" defTabSz="514350" rtl="0" eaLnBrk="1" fontAlgn="auto" latinLnBrk="0" hangingPunct="1">
                        <a:lnSpc>
                          <a:spcPct val="130000"/>
                        </a:lnSpc>
                        <a:spcBef>
                          <a:spcPts val="0"/>
                        </a:spcBef>
                        <a:spcAft>
                          <a:spcPts val="0"/>
                        </a:spcAft>
                        <a:buClrTx/>
                        <a:buSzTx/>
                        <a:buFont typeface="+mj-lt"/>
                        <a:buAutoNum type="arabicPeriod"/>
                        <a:tabLst/>
                        <a:defRPr/>
                      </a:pPr>
                      <a:r>
                        <a:rPr lang="zh-CN" altLang="en-US" sz="1600" dirty="0">
                          <a:latin typeface="微软雅黑" panose="020B0503020204020204" pitchFamily="34" charset="-122"/>
                          <a:ea typeface="微软雅黑" panose="020B0503020204020204" pitchFamily="34" charset="-122"/>
                        </a:rPr>
                        <a:t> 利用等价变换规则</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，把选择和投影的串接合并成单个选择、单个投影或一个选择后跟一个投影，使多个选择或投影能同时执行，或在一次扫描中全部完成</a:t>
                      </a:r>
                    </a:p>
                    <a:p>
                      <a:pPr marL="342900" indent="-76200">
                        <a:lnSpc>
                          <a:spcPct val="130000"/>
                        </a:lnSpc>
                        <a:buFont typeface="+mj-lt"/>
                        <a:buAutoNum type="arabicPeriod"/>
                      </a:pPr>
                      <a:r>
                        <a:rPr lang="zh-CN" altLang="en-US" sz="1600" dirty="0">
                          <a:latin typeface="微软雅黑" panose="020B0503020204020204" pitchFamily="34" charset="-122"/>
                          <a:ea typeface="微软雅黑" panose="020B0503020204020204" pitchFamily="34" charset="-122"/>
                        </a:rPr>
                        <a:t> 把上述得到的语法树的内节点分组。每一双目运算（</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）和它所有的直接祖先为一组（𝜎，∏）。如果其后代直到叶子全是单目运算，则也将它们并入该组，但当双目运算是笛卡尔积（</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），且后面不是与它组成等值连接的选择时，则不能把选择与这个双目运算组成同一组。把这些单目运算单独分为一组。</a:t>
                      </a:r>
                      <a:endParaRPr lang="en-US" altLang="zh-CN" sz="160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alpha val="20000"/>
                      </a:schemeClr>
                    </a:solidFill>
                  </a:tcPr>
                </a:tc>
                <a:extLst>
                  <a:ext uri="{0D108BD9-81ED-4DB2-BD59-A6C34878D82A}">
                    <a16:rowId xmlns:a16="http://schemas.microsoft.com/office/drawing/2014/main" val="2550737092"/>
                  </a:ext>
                </a:extLst>
              </a:tr>
            </a:tbl>
          </a:graphicData>
        </a:graphic>
      </p:graphicFrame>
      <p:sp>
        <p:nvSpPr>
          <p:cNvPr id="6" name="标题 1">
            <a:extLst>
              <a:ext uri="{FF2B5EF4-FFF2-40B4-BE49-F238E27FC236}">
                <a16:creationId xmlns:a16="http://schemas.microsoft.com/office/drawing/2014/main" id="{3BA3CA97-D2C0-4521-8CC6-9D6743D8BD63}"/>
              </a:ext>
            </a:extLst>
          </p:cNvPr>
          <p:cNvSpPr>
            <a:spLocks noGrp="1"/>
          </p:cNvSpPr>
          <p:nvPr>
            <p:ph type="title"/>
          </p:nvPr>
        </p:nvSpPr>
        <p:spPr>
          <a:xfrm>
            <a:off x="1281113" y="238125"/>
            <a:ext cx="9553575" cy="512763"/>
          </a:xfrm>
        </p:spPr>
        <p:txBody>
          <a:bodyPr/>
          <a:lstStyle/>
          <a:p>
            <a:r>
              <a:rPr lang="en-US" altLang="zh-CN" dirty="0"/>
              <a:t>9.3.2 </a:t>
            </a:r>
            <a:r>
              <a:rPr lang="zh-CN" altLang="en-US" dirty="0"/>
              <a:t>查询树的启发式优化</a:t>
            </a:r>
          </a:p>
        </p:txBody>
      </p:sp>
    </p:spTree>
    <p:extLst>
      <p:ext uri="{BB962C8B-B14F-4D97-AF65-F5344CB8AC3E}">
        <p14:creationId xmlns:p14="http://schemas.microsoft.com/office/powerpoint/2010/main" val="3886486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66123AA-7585-4066-8060-2C6BE3D804B0}"/>
              </a:ext>
            </a:extLst>
          </p:cNvPr>
          <p:cNvSpPr>
            <a:spLocks noGrp="1"/>
          </p:cNvSpPr>
          <p:nvPr>
            <p:ph idx="1"/>
          </p:nvPr>
        </p:nvSpPr>
        <p:spPr>
          <a:xfrm>
            <a:off x="595085" y="1066800"/>
            <a:ext cx="11444515" cy="5469226"/>
          </a:xfrm>
        </p:spPr>
        <p:txBody>
          <a:bodyPr/>
          <a:lstStyle/>
          <a:p>
            <a:pPr marL="0" indent="0">
              <a:buNone/>
            </a:pPr>
            <a:r>
              <a:rPr lang="en-US" altLang="zh-CN" dirty="0">
                <a:solidFill>
                  <a:srgbClr val="C00000"/>
                </a:solidFill>
              </a:rPr>
              <a:t>[</a:t>
            </a:r>
            <a:r>
              <a:rPr lang="zh-CN" altLang="en-US" dirty="0">
                <a:solidFill>
                  <a:srgbClr val="C00000"/>
                </a:solidFill>
              </a:rPr>
              <a:t>例9.</a:t>
            </a:r>
            <a:r>
              <a:rPr lang="en-US" altLang="zh-CN" dirty="0">
                <a:solidFill>
                  <a:srgbClr val="C00000"/>
                </a:solidFill>
              </a:rPr>
              <a:t>4]</a:t>
            </a:r>
            <a:r>
              <a:rPr lang="zh-CN" altLang="en-US" dirty="0">
                <a:solidFill>
                  <a:srgbClr val="C00000"/>
                </a:solidFill>
              </a:rPr>
              <a:t> </a:t>
            </a:r>
            <a:r>
              <a:rPr lang="zh-CN" altLang="en-US" dirty="0"/>
              <a:t>对</a:t>
            </a:r>
            <a:r>
              <a:rPr lang="en-US" altLang="zh-CN" dirty="0"/>
              <a:t>[</a:t>
            </a:r>
            <a:r>
              <a:rPr lang="zh-CN" altLang="en-US" dirty="0"/>
              <a:t>例9.</a:t>
            </a:r>
            <a:r>
              <a:rPr lang="en-US" altLang="zh-CN" dirty="0"/>
              <a:t>3]</a:t>
            </a:r>
            <a:r>
              <a:rPr lang="zh-CN" altLang="en-US" dirty="0"/>
              <a:t>中的</a:t>
            </a:r>
            <a:r>
              <a:rPr lang="en-US" altLang="zh-CN" dirty="0"/>
              <a:t>SQL</a:t>
            </a:r>
            <a:r>
              <a:rPr lang="zh-CN" altLang="en-US" dirty="0"/>
              <a:t>语句进行代数优化</a:t>
            </a:r>
            <a:r>
              <a:rPr lang="en-US" altLang="zh-CN" dirty="0"/>
              <a:t>.</a:t>
            </a:r>
          </a:p>
          <a:p>
            <a:pPr marL="0" indent="0" algn="ctr">
              <a:buNone/>
            </a:pPr>
            <a:endParaRPr lang="en-US" altLang="zh-CN" sz="500" b="1" dirty="0">
              <a:solidFill>
                <a:srgbClr val="FF0000"/>
              </a:solidFill>
              <a:latin typeface="Courier New" panose="02070309020205020404" pitchFamily="49" charset="0"/>
              <a:cs typeface="Courier New" panose="02070309020205020404" pitchFamily="49" charset="0"/>
            </a:endParaRPr>
          </a:p>
          <a:p>
            <a:pPr marL="0" indent="0" algn="ctr">
              <a:buNone/>
            </a:pPr>
            <a:r>
              <a:rPr lang="en-US" altLang="zh-CN" sz="2200" b="1" dirty="0">
                <a:solidFill>
                  <a:srgbClr val="FF0000"/>
                </a:solidFill>
                <a:highlight>
                  <a:srgbClr val="FFFF00"/>
                </a:highlight>
                <a:latin typeface="Courier New" panose="02070309020205020404" pitchFamily="49" charset="0"/>
                <a:cs typeface="Courier New" panose="02070309020205020404" pitchFamily="49" charset="0"/>
              </a:rPr>
              <a:t>SELECT </a:t>
            </a:r>
            <a:r>
              <a:rPr lang="en-US" altLang="zh-CN" sz="2200" b="1" dirty="0" err="1">
                <a:solidFill>
                  <a:srgbClr val="FF0000"/>
                </a:solidFill>
                <a:highlight>
                  <a:srgbClr val="FFFF00"/>
                </a:highlight>
                <a:latin typeface="Courier New" panose="02070309020205020404" pitchFamily="49" charset="0"/>
                <a:cs typeface="Courier New" panose="02070309020205020404" pitchFamily="49" charset="0"/>
              </a:rPr>
              <a:t>S.Sname</a:t>
            </a:r>
            <a:r>
              <a:rPr lang="en-US" altLang="zh-CN" sz="2200" b="1" dirty="0">
                <a:solidFill>
                  <a:srgbClr val="FF0000"/>
                </a:solidFill>
                <a:highlight>
                  <a:srgbClr val="FFFF00"/>
                </a:highlight>
                <a:latin typeface="Courier New" panose="02070309020205020404" pitchFamily="49" charset="0"/>
                <a:cs typeface="Courier New" panose="02070309020205020404" pitchFamily="49" charset="0"/>
              </a:rPr>
              <a:t> FROM Student S,SC WHERE </a:t>
            </a:r>
            <a:r>
              <a:rPr lang="en-US" altLang="zh-CN" sz="2200" b="1" dirty="0" err="1">
                <a:solidFill>
                  <a:srgbClr val="FF0000"/>
                </a:solidFill>
                <a:highlight>
                  <a:srgbClr val="FFFF00"/>
                </a:highlight>
                <a:latin typeface="Courier New" panose="02070309020205020404" pitchFamily="49" charset="0"/>
                <a:cs typeface="Courier New" panose="02070309020205020404" pitchFamily="49" charset="0"/>
              </a:rPr>
              <a:t>S.Sno</a:t>
            </a:r>
            <a:r>
              <a:rPr lang="en-US" altLang="zh-CN" sz="2200" b="1" dirty="0">
                <a:solidFill>
                  <a:srgbClr val="FF0000"/>
                </a:solidFill>
                <a:highlight>
                  <a:srgbClr val="FFFF00"/>
                </a:highlight>
                <a:latin typeface="Courier New" panose="02070309020205020404" pitchFamily="49" charset="0"/>
                <a:cs typeface="Courier New" panose="02070309020205020404" pitchFamily="49" charset="0"/>
              </a:rPr>
              <a:t>=</a:t>
            </a:r>
            <a:r>
              <a:rPr lang="en-US" altLang="zh-CN" sz="2200" b="1" dirty="0" err="1">
                <a:solidFill>
                  <a:srgbClr val="FF0000"/>
                </a:solidFill>
                <a:highlight>
                  <a:srgbClr val="FFFF00"/>
                </a:highlight>
                <a:latin typeface="Courier New" panose="02070309020205020404" pitchFamily="49" charset="0"/>
                <a:cs typeface="Courier New" panose="02070309020205020404" pitchFamily="49" charset="0"/>
              </a:rPr>
              <a:t>SC.Sno</a:t>
            </a:r>
            <a:r>
              <a:rPr lang="en-US" altLang="zh-CN" sz="2200" b="1" dirty="0">
                <a:solidFill>
                  <a:srgbClr val="FF0000"/>
                </a:solidFill>
                <a:highlight>
                  <a:srgbClr val="FFFF00"/>
                </a:highlight>
                <a:latin typeface="Courier New" panose="02070309020205020404" pitchFamily="49" charset="0"/>
                <a:cs typeface="Courier New" panose="02070309020205020404" pitchFamily="49" charset="0"/>
              </a:rPr>
              <a:t> AND </a:t>
            </a:r>
            <a:r>
              <a:rPr lang="en-US" altLang="zh-CN" sz="2200" b="1" dirty="0" err="1">
                <a:solidFill>
                  <a:srgbClr val="FF0000"/>
                </a:solidFill>
                <a:highlight>
                  <a:srgbClr val="FFFF00"/>
                </a:highlight>
                <a:latin typeface="Courier New" panose="02070309020205020404" pitchFamily="49" charset="0"/>
                <a:cs typeface="Courier New" panose="02070309020205020404" pitchFamily="49" charset="0"/>
              </a:rPr>
              <a:t>SC.Cno</a:t>
            </a:r>
            <a:r>
              <a:rPr lang="en-US" altLang="zh-CN" sz="2200" b="1" dirty="0">
                <a:solidFill>
                  <a:srgbClr val="FF0000"/>
                </a:solidFill>
                <a:highlight>
                  <a:srgbClr val="FFFF00"/>
                </a:highlight>
                <a:latin typeface="Courier New" panose="02070309020205020404" pitchFamily="49" charset="0"/>
                <a:cs typeface="Courier New" panose="02070309020205020404" pitchFamily="49" charset="0"/>
              </a:rPr>
              <a:t>=‘2’;</a:t>
            </a:r>
            <a:endParaRPr lang="en-US" altLang="zh-CN" dirty="0">
              <a:highlight>
                <a:srgbClr val="FFFF00"/>
              </a:highlight>
            </a:endParaRPr>
          </a:p>
          <a:p>
            <a:endParaRPr lang="zh-CN" altLang="en-US" dirty="0"/>
          </a:p>
        </p:txBody>
      </p:sp>
      <p:sp>
        <p:nvSpPr>
          <p:cNvPr id="4" name="灯片编号占位符 3">
            <a:extLst>
              <a:ext uri="{FF2B5EF4-FFF2-40B4-BE49-F238E27FC236}">
                <a16:creationId xmlns:a16="http://schemas.microsoft.com/office/drawing/2014/main" id="{2FB8B74B-CF04-4A4F-B5F9-0660249183F9}"/>
              </a:ext>
            </a:extLst>
          </p:cNvPr>
          <p:cNvSpPr>
            <a:spLocks noGrp="1"/>
          </p:cNvSpPr>
          <p:nvPr>
            <p:ph type="sldNum" sz="quarter" idx="12"/>
          </p:nvPr>
        </p:nvSpPr>
        <p:spPr/>
        <p:txBody>
          <a:bodyPr/>
          <a:lstStyle/>
          <a:p>
            <a:fld id="{E63F6D5D-9733-4D44-9C56-AEFEDD5A4BA7}" type="slidenum">
              <a:rPr lang="en-US" smtClean="0"/>
              <a:pPr/>
              <a:t>31</a:t>
            </a:fld>
            <a:endParaRPr lang="en-US" dirty="0"/>
          </a:p>
        </p:txBody>
      </p:sp>
      <p:pic>
        <p:nvPicPr>
          <p:cNvPr id="5" name="Picture 4" descr="93">
            <a:extLst>
              <a:ext uri="{FF2B5EF4-FFF2-40B4-BE49-F238E27FC236}">
                <a16:creationId xmlns:a16="http://schemas.microsoft.com/office/drawing/2014/main" id="{207C632B-72D8-4E9F-B187-C84F5BDF407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2452748"/>
            <a:ext cx="2477637"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32780844-5109-4346-B2A4-FF8D4755E0FE}"/>
              </a:ext>
            </a:extLst>
          </p:cNvPr>
          <p:cNvSpPr txBox="1"/>
          <p:nvPr/>
        </p:nvSpPr>
        <p:spPr>
          <a:xfrm>
            <a:off x="914400" y="5614831"/>
            <a:ext cx="2895600" cy="867930"/>
          </a:xfrm>
          <a:prstGeom prst="rect">
            <a:avLst/>
          </a:prstGeom>
          <a:solidFill>
            <a:schemeClr val="bg1">
              <a:lumMod val="95000"/>
            </a:schemeClr>
          </a:solidFill>
        </p:spPr>
        <p:txBody>
          <a:bodyPr wrap="square" rtlCol="0">
            <a:spAutoFit/>
          </a:bodyPr>
          <a:lstStyle/>
          <a:p>
            <a:pPr>
              <a:lnSpc>
                <a:spcPct val="120000"/>
              </a:lnSpc>
            </a:pPr>
            <a:r>
              <a:rPr lang="zh-CN" altLang="en-US" sz="1400" b="1" dirty="0">
                <a:solidFill>
                  <a:srgbClr val="0000FF"/>
                </a:solidFill>
                <a:latin typeface="微软雅黑" panose="020B0503020204020204" pitchFamily="34" charset="-122"/>
                <a:ea typeface="微软雅黑" panose="020B0503020204020204" pitchFamily="34" charset="-122"/>
                <a:cs typeface="Courier New" panose="02070309020205020404" pitchFamily="49" charset="0"/>
              </a:rPr>
              <a:t>叶节点：查询的输入基本表</a:t>
            </a:r>
            <a:endParaRPr lang="en-US" altLang="zh-CN" sz="1400" b="1" dirty="0">
              <a:solidFill>
                <a:srgbClr val="0000FF"/>
              </a:solidFill>
              <a:latin typeface="微软雅黑" panose="020B0503020204020204" pitchFamily="34" charset="-122"/>
              <a:ea typeface="微软雅黑" panose="020B0503020204020204" pitchFamily="34" charset="-122"/>
              <a:cs typeface="Courier New" panose="02070309020205020404" pitchFamily="49" charset="0"/>
            </a:endParaRPr>
          </a:p>
          <a:p>
            <a:pPr>
              <a:lnSpc>
                <a:spcPct val="120000"/>
              </a:lnSpc>
            </a:pPr>
            <a:r>
              <a:rPr lang="zh-CN" altLang="en-US" sz="1400" b="1" dirty="0">
                <a:solidFill>
                  <a:srgbClr val="0000FF"/>
                </a:solidFill>
                <a:latin typeface="微软雅黑" panose="020B0503020204020204" pitchFamily="34" charset="-122"/>
                <a:ea typeface="微软雅黑" panose="020B0503020204020204" pitchFamily="34" charset="-122"/>
                <a:cs typeface="Courier New" panose="02070309020205020404" pitchFamily="49" charset="0"/>
              </a:rPr>
              <a:t>中间节点：关系代数运算</a:t>
            </a:r>
            <a:endParaRPr lang="en-US" altLang="zh-CN" sz="1400" b="1" dirty="0">
              <a:solidFill>
                <a:srgbClr val="0000FF"/>
              </a:solidFill>
              <a:latin typeface="微软雅黑" panose="020B0503020204020204" pitchFamily="34" charset="-122"/>
              <a:ea typeface="微软雅黑" panose="020B0503020204020204" pitchFamily="34" charset="-122"/>
              <a:cs typeface="Courier New" panose="02070309020205020404" pitchFamily="49" charset="0"/>
            </a:endParaRPr>
          </a:p>
          <a:p>
            <a:pPr>
              <a:lnSpc>
                <a:spcPct val="120000"/>
              </a:lnSpc>
            </a:pPr>
            <a:r>
              <a:rPr lang="zh-CN" altLang="en-US" sz="1400" b="1" dirty="0">
                <a:solidFill>
                  <a:srgbClr val="0000FF"/>
                </a:solidFill>
                <a:latin typeface="微软雅黑" panose="020B0503020204020204" pitchFamily="34" charset="-122"/>
                <a:ea typeface="微软雅黑" panose="020B0503020204020204" pitchFamily="34" charset="-122"/>
                <a:cs typeface="Courier New" panose="02070309020205020404" pitchFamily="49" charset="0"/>
              </a:rPr>
              <a:t>根节点：关系代数的最后一个运算</a:t>
            </a:r>
          </a:p>
        </p:txBody>
      </p:sp>
      <p:sp>
        <p:nvSpPr>
          <p:cNvPr id="7" name="右箭头 8">
            <a:extLst>
              <a:ext uri="{FF2B5EF4-FFF2-40B4-BE49-F238E27FC236}">
                <a16:creationId xmlns:a16="http://schemas.microsoft.com/office/drawing/2014/main" id="{52B4E183-EBC2-48D2-8299-2241CA61CA0B}"/>
              </a:ext>
            </a:extLst>
          </p:cNvPr>
          <p:cNvSpPr/>
          <p:nvPr/>
        </p:nvSpPr>
        <p:spPr>
          <a:xfrm>
            <a:off x="3620248" y="3671948"/>
            <a:ext cx="1258437"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右箭头 10">
            <a:extLst>
              <a:ext uri="{FF2B5EF4-FFF2-40B4-BE49-F238E27FC236}">
                <a16:creationId xmlns:a16="http://schemas.microsoft.com/office/drawing/2014/main" id="{37DA907C-D057-42A0-A7F6-D5DA136E4FED}"/>
              </a:ext>
            </a:extLst>
          </p:cNvPr>
          <p:cNvSpPr/>
          <p:nvPr/>
        </p:nvSpPr>
        <p:spPr>
          <a:xfrm>
            <a:off x="7467774" y="3671948"/>
            <a:ext cx="1258437"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A7FCF84D-DB02-4AB1-B21F-EFA39B09D5AD}"/>
              </a:ext>
            </a:extLst>
          </p:cNvPr>
          <p:cNvPicPr>
            <a:picLocks noChangeAspect="1"/>
          </p:cNvPicPr>
          <p:nvPr/>
        </p:nvPicPr>
        <p:blipFill>
          <a:blip r:embed="rId3"/>
          <a:stretch>
            <a:fillRect/>
          </a:stretch>
        </p:blipFill>
        <p:spPr>
          <a:xfrm>
            <a:off x="8894259" y="2428935"/>
            <a:ext cx="2139266" cy="3185896"/>
          </a:xfrm>
          <a:prstGeom prst="rect">
            <a:avLst/>
          </a:prstGeom>
        </p:spPr>
      </p:pic>
      <p:pic>
        <p:nvPicPr>
          <p:cNvPr id="10" name="图片 9">
            <a:extLst>
              <a:ext uri="{FF2B5EF4-FFF2-40B4-BE49-F238E27FC236}">
                <a16:creationId xmlns:a16="http://schemas.microsoft.com/office/drawing/2014/main" id="{89BCE4A9-CBF9-4E0D-8600-1A0715A71266}"/>
              </a:ext>
            </a:extLst>
          </p:cNvPr>
          <p:cNvPicPr>
            <a:picLocks noChangeAspect="1"/>
          </p:cNvPicPr>
          <p:nvPr/>
        </p:nvPicPr>
        <p:blipFill>
          <a:blip r:embed="rId4"/>
          <a:stretch>
            <a:fillRect/>
          </a:stretch>
        </p:blipFill>
        <p:spPr>
          <a:xfrm>
            <a:off x="5160179" y="2543595"/>
            <a:ext cx="2119554" cy="2956575"/>
          </a:xfrm>
          <a:prstGeom prst="rect">
            <a:avLst/>
          </a:prstGeom>
        </p:spPr>
      </p:pic>
      <mc:AlternateContent xmlns:mc="http://schemas.openxmlformats.org/markup-compatibility/2006" xmlns:p14="http://schemas.microsoft.com/office/powerpoint/2010/main">
        <mc:Choice Requires="p14">
          <p:contentPart p14:bwMode="auto" r:id="rId5">
            <p14:nvContentPartPr>
              <p14:cNvPr id="12" name="墨迹 11">
                <a:extLst>
                  <a:ext uri="{FF2B5EF4-FFF2-40B4-BE49-F238E27FC236}">
                    <a16:creationId xmlns:a16="http://schemas.microsoft.com/office/drawing/2014/main" id="{AC293A6E-E378-4F13-B022-83361A46CE59}"/>
                  </a:ext>
                </a:extLst>
              </p14:cNvPr>
              <p14:cNvContentPartPr/>
              <p14:nvPr/>
            </p14:nvContentPartPr>
            <p14:xfrm>
              <a:off x="5200680" y="4027508"/>
              <a:ext cx="2698920" cy="1352880"/>
            </p14:xfrm>
          </p:contentPart>
        </mc:Choice>
        <mc:Fallback xmlns="">
          <p:pic>
            <p:nvPicPr>
              <p:cNvPr id="12" name="墨迹 11">
                <a:extLst>
                  <a:ext uri="{FF2B5EF4-FFF2-40B4-BE49-F238E27FC236}">
                    <a16:creationId xmlns:a16="http://schemas.microsoft.com/office/drawing/2014/main" id="{AC293A6E-E378-4F13-B022-83361A46CE59}"/>
                  </a:ext>
                </a:extLst>
              </p:cNvPr>
              <p:cNvPicPr/>
              <p:nvPr/>
            </p:nvPicPr>
            <p:blipFill>
              <a:blip r:embed="rId6"/>
              <a:stretch>
                <a:fillRect/>
              </a:stretch>
            </p:blipFill>
            <p:spPr>
              <a:xfrm>
                <a:off x="5191320" y="4018148"/>
                <a:ext cx="2717640" cy="1371600"/>
              </a:xfrm>
              <a:prstGeom prst="rect">
                <a:avLst/>
              </a:prstGeom>
            </p:spPr>
          </p:pic>
        </mc:Fallback>
      </mc:AlternateContent>
      <p:sp>
        <p:nvSpPr>
          <p:cNvPr id="13" name="文本框 12">
            <a:extLst>
              <a:ext uri="{FF2B5EF4-FFF2-40B4-BE49-F238E27FC236}">
                <a16:creationId xmlns:a16="http://schemas.microsoft.com/office/drawing/2014/main" id="{49170573-4D30-45D6-8358-80D3894789DA}"/>
              </a:ext>
            </a:extLst>
          </p:cNvPr>
          <p:cNvSpPr txBox="1"/>
          <p:nvPr/>
        </p:nvSpPr>
        <p:spPr>
          <a:xfrm>
            <a:off x="8894258" y="5719860"/>
            <a:ext cx="2002342" cy="328936"/>
          </a:xfrm>
          <a:prstGeom prst="rect">
            <a:avLst/>
          </a:prstGeom>
          <a:solidFill>
            <a:schemeClr val="bg1">
              <a:lumMod val="95000"/>
            </a:schemeClr>
          </a:solidFill>
        </p:spPr>
        <p:txBody>
          <a:bodyPr wrap="square" rtlCol="0">
            <a:spAutoFit/>
          </a:bodyPr>
          <a:lstStyle/>
          <a:p>
            <a:pPr algn="ctr">
              <a:lnSpc>
                <a:spcPct val="120000"/>
              </a:lnSpc>
            </a:pPr>
            <a:r>
              <a:rPr lang="zh-CN" altLang="en-US" sz="1400" b="1">
                <a:solidFill>
                  <a:srgbClr val="0000FF"/>
                </a:solidFill>
                <a:latin typeface="微软雅黑" panose="020B0503020204020204" pitchFamily="34" charset="-122"/>
                <a:ea typeface="微软雅黑" panose="020B0503020204020204" pitchFamily="34" charset="-122"/>
                <a:cs typeface="Courier New" panose="02070309020205020404" pitchFamily="49" charset="0"/>
              </a:rPr>
              <a:t>优化后的查询树</a:t>
            </a:r>
            <a:endParaRPr lang="zh-CN" altLang="en-US" sz="1400" b="1" dirty="0">
              <a:solidFill>
                <a:srgbClr val="0000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14" name="文本框 13">
            <a:extLst>
              <a:ext uri="{FF2B5EF4-FFF2-40B4-BE49-F238E27FC236}">
                <a16:creationId xmlns:a16="http://schemas.microsoft.com/office/drawing/2014/main" id="{17DF28D2-32CA-4819-B87C-487EDBF75015}"/>
              </a:ext>
            </a:extLst>
          </p:cNvPr>
          <p:cNvSpPr txBox="1"/>
          <p:nvPr/>
        </p:nvSpPr>
        <p:spPr>
          <a:xfrm>
            <a:off x="5287224" y="5719860"/>
            <a:ext cx="1992509" cy="328936"/>
          </a:xfrm>
          <a:prstGeom prst="rect">
            <a:avLst/>
          </a:prstGeom>
          <a:solidFill>
            <a:schemeClr val="bg1">
              <a:lumMod val="95000"/>
            </a:schemeClr>
          </a:solidFill>
        </p:spPr>
        <p:txBody>
          <a:bodyPr wrap="square" rtlCol="0">
            <a:spAutoFit/>
          </a:bodyPr>
          <a:lstStyle/>
          <a:p>
            <a:pPr algn="ctr">
              <a:lnSpc>
                <a:spcPct val="120000"/>
              </a:lnSpc>
            </a:pPr>
            <a:r>
              <a:rPr lang="zh-CN" altLang="en-US" sz="1400" b="1">
                <a:solidFill>
                  <a:srgbClr val="0000FF"/>
                </a:solidFill>
                <a:latin typeface="微软雅黑" panose="020B0503020204020204" pitchFamily="34" charset="-122"/>
                <a:ea typeface="微软雅黑" panose="020B0503020204020204" pitchFamily="34" charset="-122"/>
                <a:cs typeface="Courier New" panose="02070309020205020404" pitchFamily="49" charset="0"/>
              </a:rPr>
              <a:t>关系代数语法树图</a:t>
            </a:r>
            <a:endParaRPr lang="zh-CN" altLang="en-US" sz="1400" b="1" dirty="0">
              <a:solidFill>
                <a:srgbClr val="0000FF"/>
              </a:solidFill>
              <a:latin typeface="微软雅黑" panose="020B0503020204020204" pitchFamily="34" charset="-122"/>
              <a:ea typeface="微软雅黑" panose="020B0503020204020204" pitchFamily="34" charset="-122"/>
              <a:cs typeface="Courier New" panose="02070309020205020404" pitchFamily="49" charset="0"/>
            </a:endParaRPr>
          </a:p>
        </p:txBody>
      </p:sp>
      <p:sp>
        <p:nvSpPr>
          <p:cNvPr id="15" name="标题 1">
            <a:extLst>
              <a:ext uri="{FF2B5EF4-FFF2-40B4-BE49-F238E27FC236}">
                <a16:creationId xmlns:a16="http://schemas.microsoft.com/office/drawing/2014/main" id="{E4F1A593-6048-406E-B758-19D4AEBB8E90}"/>
              </a:ext>
            </a:extLst>
          </p:cNvPr>
          <p:cNvSpPr>
            <a:spLocks noGrp="1"/>
          </p:cNvSpPr>
          <p:nvPr>
            <p:ph type="title"/>
          </p:nvPr>
        </p:nvSpPr>
        <p:spPr>
          <a:xfrm>
            <a:off x="1281113" y="238125"/>
            <a:ext cx="9553575" cy="512763"/>
          </a:xfrm>
        </p:spPr>
        <p:txBody>
          <a:bodyPr/>
          <a:lstStyle/>
          <a:p>
            <a:r>
              <a:rPr lang="en-US" altLang="zh-CN" dirty="0"/>
              <a:t>9.3.2 </a:t>
            </a:r>
            <a:r>
              <a:rPr lang="zh-CN" altLang="en-US" dirty="0"/>
              <a:t>查询树的启发式优化</a:t>
            </a:r>
          </a:p>
        </p:txBody>
      </p:sp>
    </p:spTree>
    <p:extLst>
      <p:ext uri="{BB962C8B-B14F-4D97-AF65-F5344CB8AC3E}">
        <p14:creationId xmlns:p14="http://schemas.microsoft.com/office/powerpoint/2010/main" val="2430112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25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p:stCondLst>
                              <p:cond delay="500"/>
                            </p:stCondLst>
                            <p:childTnLst>
                              <p:par>
                                <p:cTn id="17" presetID="22" presetClass="entr" presetSubtype="4"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1"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par>
                          <p:cTn id="27" fill="hold">
                            <p:stCondLst>
                              <p:cond delay="500"/>
                            </p:stCondLst>
                            <p:childTnLst>
                              <p:par>
                                <p:cTn id="28" presetID="22" presetClass="entr" presetSubtype="4"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250"/>
                                        <p:tgtEl>
                                          <p:spTgt spid="13"/>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left)">
                                      <p:cBhvr>
                                        <p:cTn id="36"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3" grpId="0" animBg="1"/>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207422E-0F76-4D20-9CEF-A738EE05A940}"/>
                  </a:ext>
                </a:extLst>
              </p:cNvPr>
              <p:cNvSpPr>
                <a:spLocks noGrp="1"/>
              </p:cNvSpPr>
              <p:nvPr>
                <p:ph idx="1"/>
              </p:nvPr>
            </p:nvSpPr>
            <p:spPr/>
            <p:txBody>
              <a:bodyPr/>
              <a:lstStyle/>
              <a:p>
                <a:pPr marL="0" indent="0">
                  <a:buNone/>
                </a:pPr>
                <a:r>
                  <a:rPr lang="en-US" altLang="zh-CN" sz="3000">
                    <a:solidFill>
                      <a:srgbClr val="FF0000"/>
                    </a:solidFill>
                  </a:rPr>
                  <a:t>[</a:t>
                </a:r>
                <a:r>
                  <a:rPr lang="zh-CN" altLang="en-US" sz="3000">
                    <a:solidFill>
                      <a:srgbClr val="FF0000"/>
                    </a:solidFill>
                  </a:rPr>
                  <a:t>示例</a:t>
                </a:r>
                <a:r>
                  <a:rPr lang="en-US" altLang="zh-CN" sz="3000">
                    <a:solidFill>
                      <a:srgbClr val="FF0000"/>
                    </a:solidFill>
                  </a:rPr>
                  <a:t>1] </a:t>
                </a:r>
                <a:r>
                  <a:rPr lang="zh-CN" altLang="en-US" sz="3000" dirty="0"/>
                  <a:t>对关系代数表达式</a:t>
                </a:r>
                <a14:m>
                  <m:oMath xmlns:m="http://schemas.openxmlformats.org/officeDocument/2006/math">
                    <m:sSub>
                      <m:sSubPr>
                        <m:ctrlPr>
                          <a:rPr lang="el-GR" altLang="zh-CN" sz="3000" i="1" smtClean="0">
                            <a:solidFill>
                              <a:srgbClr val="FF0000"/>
                            </a:solidFill>
                            <a:latin typeface="Cambria Math" panose="02040503050406030204" pitchFamily="18" charset="0"/>
                            <a:ea typeface="Cambria Math" charset="0"/>
                            <a:cs typeface="Cambria Math" charset="0"/>
                          </a:rPr>
                        </m:ctrlPr>
                      </m:sSubPr>
                      <m:e>
                        <m:r>
                          <m:rPr>
                            <m:sty m:val="p"/>
                          </m:rPr>
                          <a:rPr lang="el-GR" altLang="zh-CN" sz="3000" i="1">
                            <a:solidFill>
                              <a:srgbClr val="FF0000"/>
                            </a:solidFill>
                            <a:latin typeface="Cambria Math" charset="0"/>
                            <a:ea typeface="Cambria Math" charset="0"/>
                            <a:cs typeface="Cambria Math" charset="0"/>
                          </a:rPr>
                          <m:t>Π</m:t>
                        </m:r>
                      </m:e>
                      <m:sub>
                        <m:r>
                          <a:rPr lang="en-US" altLang="zh-CN" sz="3000" i="1">
                            <a:solidFill>
                              <a:srgbClr val="FF0000"/>
                            </a:solidFill>
                            <a:latin typeface="Cambria Math" charset="0"/>
                            <a:ea typeface="Cambria Math" charset="0"/>
                            <a:cs typeface="Cambria Math" charset="0"/>
                          </a:rPr>
                          <m:t>𝐵</m:t>
                        </m:r>
                      </m:sub>
                    </m:sSub>
                    <m:r>
                      <a:rPr lang="en-US" altLang="zh-CN" sz="3000" i="1">
                        <a:solidFill>
                          <a:srgbClr val="FF0000"/>
                        </a:solidFill>
                        <a:latin typeface="Cambria Math" charset="0"/>
                        <a:ea typeface="Cambria Math" charset="0"/>
                        <a:cs typeface="Cambria Math" charset="0"/>
                      </a:rPr>
                      <m:t>(</m:t>
                    </m:r>
                    <m:r>
                      <a:rPr lang="en-US" altLang="zh-CN" sz="3000" i="1">
                        <a:solidFill>
                          <a:srgbClr val="FF0000"/>
                        </a:solidFill>
                        <a:latin typeface="Cambria Math" charset="0"/>
                        <a:ea typeface="Cambria Math" charset="0"/>
                        <a:cs typeface="Cambria Math" charset="0"/>
                      </a:rPr>
                      <m:t>𝑅</m:t>
                    </m:r>
                    <m:d>
                      <m:dPr>
                        <m:ctrlPr>
                          <a:rPr lang="en-US" altLang="zh-CN" sz="3000" i="1">
                            <a:solidFill>
                              <a:srgbClr val="FF0000"/>
                            </a:solidFill>
                            <a:latin typeface="Cambria Math" panose="02040503050406030204" pitchFamily="18" charset="0"/>
                            <a:ea typeface="Cambria Math" charset="0"/>
                            <a:cs typeface="Cambria Math" charset="0"/>
                          </a:rPr>
                        </m:ctrlPr>
                      </m:dPr>
                      <m:e>
                        <m:r>
                          <a:rPr lang="en-US" altLang="zh-CN" sz="3000" i="1">
                            <a:solidFill>
                              <a:srgbClr val="FF0000"/>
                            </a:solidFill>
                            <a:latin typeface="Cambria Math" charset="0"/>
                            <a:ea typeface="Cambria Math" charset="0"/>
                            <a:cs typeface="Cambria Math" charset="0"/>
                          </a:rPr>
                          <m:t>𝐴</m:t>
                        </m:r>
                        <m:r>
                          <a:rPr lang="en-US" altLang="zh-CN" sz="3000" i="1">
                            <a:solidFill>
                              <a:srgbClr val="FF0000"/>
                            </a:solidFill>
                            <a:latin typeface="Cambria Math" charset="0"/>
                            <a:ea typeface="Cambria Math" charset="0"/>
                            <a:cs typeface="Cambria Math" charset="0"/>
                          </a:rPr>
                          <m:t>,</m:t>
                        </m:r>
                        <m:r>
                          <a:rPr lang="en-US" altLang="zh-CN" sz="3000" i="1">
                            <a:solidFill>
                              <a:srgbClr val="FF0000"/>
                            </a:solidFill>
                            <a:latin typeface="Cambria Math" charset="0"/>
                            <a:ea typeface="Cambria Math" charset="0"/>
                            <a:cs typeface="Cambria Math" charset="0"/>
                          </a:rPr>
                          <m:t>𝐵</m:t>
                        </m:r>
                      </m:e>
                    </m:d>
                    <m:r>
                      <a:rPr lang="en-US" altLang="zh-CN" sz="3000" i="1">
                        <a:solidFill>
                          <a:srgbClr val="FF0000"/>
                        </a:solidFill>
                        <a:latin typeface="Cambria Math" charset="0"/>
                        <a:ea typeface="Cambria Math" charset="0"/>
                        <a:cs typeface="Cambria Math" charset="0"/>
                      </a:rPr>
                      <m:t>⋈</m:t>
                    </m:r>
                    <m:r>
                      <a:rPr lang="en-US" altLang="zh-CN" sz="3000" i="1">
                        <a:solidFill>
                          <a:srgbClr val="FF0000"/>
                        </a:solidFill>
                        <a:latin typeface="Cambria Math" charset="0"/>
                        <a:ea typeface="Cambria Math" charset="0"/>
                        <a:cs typeface="Cambria Math" charset="0"/>
                      </a:rPr>
                      <m:t>𝑆</m:t>
                    </m:r>
                    <m:d>
                      <m:dPr>
                        <m:ctrlPr>
                          <a:rPr lang="en-US" altLang="zh-CN" sz="3000" i="1">
                            <a:solidFill>
                              <a:srgbClr val="FF0000"/>
                            </a:solidFill>
                            <a:latin typeface="Cambria Math" panose="02040503050406030204" pitchFamily="18" charset="0"/>
                            <a:ea typeface="Cambria Math" charset="0"/>
                            <a:cs typeface="Cambria Math" charset="0"/>
                          </a:rPr>
                        </m:ctrlPr>
                      </m:dPr>
                      <m:e>
                        <m:r>
                          <a:rPr lang="en-US" altLang="zh-CN" sz="3000" i="1">
                            <a:solidFill>
                              <a:srgbClr val="FF0000"/>
                            </a:solidFill>
                            <a:latin typeface="Cambria Math" charset="0"/>
                            <a:ea typeface="Cambria Math" charset="0"/>
                            <a:cs typeface="Cambria Math" charset="0"/>
                          </a:rPr>
                          <m:t>𝐵</m:t>
                        </m:r>
                        <m:r>
                          <a:rPr lang="en-US" altLang="zh-CN" sz="3000" i="1">
                            <a:solidFill>
                              <a:srgbClr val="FF0000"/>
                            </a:solidFill>
                            <a:latin typeface="Cambria Math" charset="0"/>
                            <a:ea typeface="Cambria Math" charset="0"/>
                            <a:cs typeface="Cambria Math" charset="0"/>
                          </a:rPr>
                          <m:t>,</m:t>
                        </m:r>
                        <m:r>
                          <a:rPr lang="en-US" altLang="zh-CN" sz="3000" i="1">
                            <a:solidFill>
                              <a:srgbClr val="FF0000"/>
                            </a:solidFill>
                            <a:latin typeface="Cambria Math" charset="0"/>
                            <a:ea typeface="Cambria Math" charset="0"/>
                            <a:cs typeface="Cambria Math" charset="0"/>
                          </a:rPr>
                          <m:t>𝐶</m:t>
                        </m:r>
                      </m:e>
                    </m:d>
                    <m:r>
                      <a:rPr lang="en-US" altLang="zh-CN" sz="3000" i="1">
                        <a:solidFill>
                          <a:srgbClr val="FF0000"/>
                        </a:solidFill>
                        <a:latin typeface="Cambria Math" charset="0"/>
                        <a:ea typeface="Cambria Math" charset="0"/>
                        <a:cs typeface="Cambria Math" charset="0"/>
                      </a:rPr>
                      <m:t>)</m:t>
                    </m:r>
                  </m:oMath>
                </a14:m>
                <a:r>
                  <a:rPr lang="zh-CN" altLang="en-US" sz="3000" dirty="0"/>
                  <a:t>进行</a:t>
                </a:r>
                <a:r>
                  <a:rPr lang="zh-CN" altLang="en-US" sz="3000"/>
                  <a:t>查询优化</a:t>
                </a:r>
                <a:endParaRPr lang="en-US" altLang="zh-CN" sz="3000"/>
              </a:p>
              <a:p>
                <a:endParaRPr lang="zh-CN" altLang="en-US" dirty="0"/>
              </a:p>
              <a:p>
                <a:endParaRPr lang="zh-CN" altLang="en-US"/>
              </a:p>
            </p:txBody>
          </p:sp>
        </mc:Choice>
        <mc:Fallback xmlns="">
          <p:sp>
            <p:nvSpPr>
              <p:cNvPr id="3" name="内容占位符 2">
                <a:extLst>
                  <a:ext uri="{FF2B5EF4-FFF2-40B4-BE49-F238E27FC236}">
                    <a16:creationId xmlns:a16="http://schemas.microsoft.com/office/drawing/2014/main" id="{6207422E-0F76-4D20-9CEF-A738EE05A940}"/>
                  </a:ext>
                </a:extLst>
              </p:cNvPr>
              <p:cNvSpPr>
                <a:spLocks noGrp="1" noRot="1" noChangeAspect="1" noMove="1" noResize="1" noEditPoints="1" noAdjustHandles="1" noChangeArrowheads="1" noChangeShapeType="1" noTextEdit="1"/>
              </p:cNvSpPr>
              <p:nvPr>
                <p:ph idx="1"/>
              </p:nvPr>
            </p:nvSpPr>
            <p:spPr>
              <a:blipFill>
                <a:blip r:embed="rId2"/>
                <a:stretch>
                  <a:fillRect l="-1330" t="-1226"/>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4357E2B1-7350-4319-9F48-12D8634FF149}"/>
              </a:ext>
            </a:extLst>
          </p:cNvPr>
          <p:cNvSpPr>
            <a:spLocks noGrp="1"/>
          </p:cNvSpPr>
          <p:nvPr>
            <p:ph type="sldNum" sz="quarter" idx="12"/>
          </p:nvPr>
        </p:nvSpPr>
        <p:spPr/>
        <p:txBody>
          <a:bodyPr/>
          <a:lstStyle/>
          <a:p>
            <a:fld id="{E63F6D5D-9733-4D44-9C56-AEFEDD5A4BA7}" type="slidenum">
              <a:rPr lang="en-US" smtClean="0"/>
              <a:pPr/>
              <a:t>32</a:t>
            </a:fld>
            <a:endParaRPr lang="en-US" dirty="0"/>
          </a:p>
        </p:txBody>
      </p:sp>
      <mc:AlternateContent xmlns:mc="http://schemas.openxmlformats.org/markup-compatibility/2006" xmlns:a14="http://schemas.microsoft.com/office/drawing/2010/main">
        <mc:Choice Requires="a14">
          <p:sp>
            <p:nvSpPr>
              <p:cNvPr id="5" name="TextBox 12">
                <a:extLst>
                  <a:ext uri="{FF2B5EF4-FFF2-40B4-BE49-F238E27FC236}">
                    <a16:creationId xmlns:a16="http://schemas.microsoft.com/office/drawing/2014/main" id="{230FDB06-8F1B-44E2-B56C-A16589ACC1B4}"/>
                  </a:ext>
                </a:extLst>
              </p:cNvPr>
              <p:cNvSpPr txBox="1"/>
              <p:nvPr/>
            </p:nvSpPr>
            <p:spPr>
              <a:xfrm>
                <a:off x="1981200" y="1916296"/>
                <a:ext cx="357245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2800" i="1" smtClean="0">
                              <a:solidFill>
                                <a:srgbClr val="FF0000"/>
                              </a:solidFill>
                              <a:latin typeface="Cambria Math" panose="02040503050406030204" pitchFamily="18" charset="0"/>
                              <a:ea typeface="Cambria Math" charset="0"/>
                              <a:cs typeface="Cambria Math" charset="0"/>
                            </a:rPr>
                          </m:ctrlPr>
                        </m:sSubPr>
                        <m:e>
                          <m:r>
                            <m:rPr>
                              <m:sty m:val="p"/>
                            </m:rPr>
                            <a:rPr lang="el-GR" sz="2800" i="1">
                              <a:solidFill>
                                <a:srgbClr val="FF0000"/>
                              </a:solidFill>
                              <a:latin typeface="Cambria Math" charset="0"/>
                              <a:ea typeface="Cambria Math" charset="0"/>
                              <a:cs typeface="Cambria Math" charset="0"/>
                            </a:rPr>
                            <m:t>Π</m:t>
                          </m:r>
                        </m:e>
                        <m:sub>
                          <m:r>
                            <a:rPr lang="en-US" sz="2800" b="0" i="1" smtClean="0">
                              <a:solidFill>
                                <a:srgbClr val="FF0000"/>
                              </a:solidFill>
                              <a:latin typeface="Cambria Math" charset="0"/>
                              <a:ea typeface="Cambria Math" charset="0"/>
                              <a:cs typeface="Cambria Math" charset="0"/>
                            </a:rPr>
                            <m:t>𝐵</m:t>
                          </m:r>
                        </m:sub>
                      </m:sSub>
                      <m:r>
                        <a:rPr lang="en-US" sz="2800" b="0" i="1" smtClean="0">
                          <a:solidFill>
                            <a:srgbClr val="FF0000"/>
                          </a:solidFill>
                          <a:latin typeface="Cambria Math" charset="0"/>
                          <a:ea typeface="Cambria Math" charset="0"/>
                          <a:cs typeface="Cambria Math" charset="0"/>
                        </a:rPr>
                        <m:t>(</m:t>
                      </m:r>
                      <m:r>
                        <a:rPr lang="en-US" sz="2800" b="0" i="1" smtClean="0">
                          <a:solidFill>
                            <a:srgbClr val="FF0000"/>
                          </a:solidFill>
                          <a:latin typeface="Cambria Math" charset="0"/>
                          <a:ea typeface="Cambria Math" charset="0"/>
                          <a:cs typeface="Cambria Math" charset="0"/>
                        </a:rPr>
                        <m:t>𝑅</m:t>
                      </m:r>
                      <m:d>
                        <m:dPr>
                          <m:ctrlPr>
                            <a:rPr lang="en-US" sz="2800" b="0" i="1" smtClean="0">
                              <a:solidFill>
                                <a:srgbClr val="FF0000"/>
                              </a:solidFill>
                              <a:latin typeface="Cambria Math" panose="02040503050406030204" pitchFamily="18" charset="0"/>
                              <a:ea typeface="Cambria Math" charset="0"/>
                              <a:cs typeface="Cambria Math" charset="0"/>
                            </a:rPr>
                          </m:ctrlPr>
                        </m:dPr>
                        <m:e>
                          <m:r>
                            <a:rPr lang="en-US" sz="2800" b="0" i="1" smtClean="0">
                              <a:solidFill>
                                <a:srgbClr val="FF0000"/>
                              </a:solidFill>
                              <a:latin typeface="Cambria Math" charset="0"/>
                              <a:ea typeface="Cambria Math" charset="0"/>
                              <a:cs typeface="Cambria Math" charset="0"/>
                            </a:rPr>
                            <m:t>𝐴</m:t>
                          </m:r>
                          <m:r>
                            <a:rPr lang="en-US" sz="2800" b="0" i="1" smtClean="0">
                              <a:solidFill>
                                <a:srgbClr val="FF0000"/>
                              </a:solidFill>
                              <a:latin typeface="Cambria Math" charset="0"/>
                              <a:ea typeface="Cambria Math" charset="0"/>
                              <a:cs typeface="Cambria Math" charset="0"/>
                            </a:rPr>
                            <m:t>,</m:t>
                          </m:r>
                          <m:r>
                            <a:rPr lang="en-US" sz="2800" b="0" i="1" smtClean="0">
                              <a:solidFill>
                                <a:srgbClr val="FF0000"/>
                              </a:solidFill>
                              <a:latin typeface="Cambria Math" charset="0"/>
                              <a:ea typeface="Cambria Math" charset="0"/>
                              <a:cs typeface="Cambria Math" charset="0"/>
                            </a:rPr>
                            <m:t>𝐵</m:t>
                          </m:r>
                        </m:e>
                      </m:d>
                      <m:r>
                        <a:rPr lang="en-US" sz="2800" b="0" i="1" smtClean="0">
                          <a:solidFill>
                            <a:srgbClr val="FF0000"/>
                          </a:solidFill>
                          <a:latin typeface="Cambria Math" charset="0"/>
                          <a:ea typeface="Cambria Math" charset="0"/>
                          <a:cs typeface="Cambria Math" charset="0"/>
                        </a:rPr>
                        <m:t>⋈</m:t>
                      </m:r>
                      <m:r>
                        <a:rPr lang="en-US" sz="2800" b="0" i="1" smtClean="0">
                          <a:solidFill>
                            <a:srgbClr val="FF0000"/>
                          </a:solidFill>
                          <a:latin typeface="Cambria Math" charset="0"/>
                          <a:ea typeface="Cambria Math" charset="0"/>
                          <a:cs typeface="Cambria Math" charset="0"/>
                        </a:rPr>
                        <m:t>𝑆</m:t>
                      </m:r>
                      <m:d>
                        <m:dPr>
                          <m:ctrlPr>
                            <a:rPr lang="en-US" sz="2800" b="0" i="1" smtClean="0">
                              <a:solidFill>
                                <a:srgbClr val="FF0000"/>
                              </a:solidFill>
                              <a:latin typeface="Cambria Math" panose="02040503050406030204" pitchFamily="18" charset="0"/>
                              <a:ea typeface="Cambria Math" charset="0"/>
                              <a:cs typeface="Cambria Math" charset="0"/>
                            </a:rPr>
                          </m:ctrlPr>
                        </m:dPr>
                        <m:e>
                          <m:r>
                            <a:rPr lang="en-US" sz="2800" b="0" i="1" smtClean="0">
                              <a:solidFill>
                                <a:srgbClr val="FF0000"/>
                              </a:solidFill>
                              <a:latin typeface="Cambria Math" charset="0"/>
                              <a:ea typeface="Cambria Math" charset="0"/>
                              <a:cs typeface="Cambria Math" charset="0"/>
                            </a:rPr>
                            <m:t>𝐵</m:t>
                          </m:r>
                          <m:r>
                            <a:rPr lang="en-US" sz="2800" b="0" i="1" smtClean="0">
                              <a:solidFill>
                                <a:srgbClr val="FF0000"/>
                              </a:solidFill>
                              <a:latin typeface="Cambria Math" charset="0"/>
                              <a:ea typeface="Cambria Math" charset="0"/>
                              <a:cs typeface="Cambria Math" charset="0"/>
                            </a:rPr>
                            <m:t>,</m:t>
                          </m:r>
                          <m:r>
                            <a:rPr lang="en-US" sz="2800" b="0" i="1" smtClean="0">
                              <a:solidFill>
                                <a:srgbClr val="FF0000"/>
                              </a:solidFill>
                              <a:latin typeface="Cambria Math" charset="0"/>
                              <a:ea typeface="Cambria Math" charset="0"/>
                              <a:cs typeface="Cambria Math" charset="0"/>
                            </a:rPr>
                            <m:t>𝐶</m:t>
                          </m:r>
                        </m:e>
                      </m:d>
                      <m:r>
                        <a:rPr lang="en-US" sz="2800" b="0" i="1" smtClean="0">
                          <a:solidFill>
                            <a:srgbClr val="FF0000"/>
                          </a:solidFill>
                          <a:latin typeface="Cambria Math" charset="0"/>
                          <a:ea typeface="Cambria Math" charset="0"/>
                          <a:cs typeface="Cambria Math" charset="0"/>
                        </a:rPr>
                        <m:t>)</m:t>
                      </m:r>
                    </m:oMath>
                  </m:oMathPara>
                </a14:m>
                <a:endParaRPr lang="en-US" sz="2800" dirty="0">
                  <a:solidFill>
                    <a:srgbClr val="FF0000"/>
                  </a:solidFill>
                </a:endParaRPr>
              </a:p>
            </p:txBody>
          </p:sp>
        </mc:Choice>
        <mc:Fallback xmlns="">
          <p:sp>
            <p:nvSpPr>
              <p:cNvPr id="5" name="TextBox 12">
                <a:extLst>
                  <a:ext uri="{FF2B5EF4-FFF2-40B4-BE49-F238E27FC236}">
                    <a16:creationId xmlns:a16="http://schemas.microsoft.com/office/drawing/2014/main" id="{230FDB06-8F1B-44E2-B56C-A16589ACC1B4}"/>
                  </a:ext>
                </a:extLst>
              </p:cNvPr>
              <p:cNvSpPr txBox="1">
                <a:spLocks noRot="1" noChangeAspect="1" noMove="1" noResize="1" noEditPoints="1" noAdjustHandles="1" noChangeArrowheads="1" noChangeShapeType="1" noTextEdit="1"/>
              </p:cNvSpPr>
              <p:nvPr/>
            </p:nvSpPr>
            <p:spPr>
              <a:xfrm>
                <a:off x="1981200" y="1916296"/>
                <a:ext cx="3572452" cy="430887"/>
              </a:xfrm>
              <a:prstGeom prst="rect">
                <a:avLst/>
              </a:prstGeom>
              <a:blipFill>
                <a:blip r:embed="rId3"/>
                <a:stretch>
                  <a:fillRect/>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25D1306D-FDD0-40F0-A3FC-0603A339EBD1}"/>
              </a:ext>
            </a:extLst>
          </p:cNvPr>
          <p:cNvGrpSpPr/>
          <p:nvPr/>
        </p:nvGrpSpPr>
        <p:grpSpPr>
          <a:xfrm>
            <a:off x="1831188" y="3321612"/>
            <a:ext cx="3428488" cy="3100418"/>
            <a:chOff x="7593793" y="1493931"/>
            <a:chExt cx="3428488" cy="3100418"/>
          </a:xfrm>
        </p:grpSpPr>
        <p:sp>
          <p:nvSpPr>
            <p:cNvPr id="7" name="AutoShape 9">
              <a:extLst>
                <a:ext uri="{FF2B5EF4-FFF2-40B4-BE49-F238E27FC236}">
                  <a16:creationId xmlns:a16="http://schemas.microsoft.com/office/drawing/2014/main" id="{60535644-5390-440C-81A7-6314B59CA1A7}"/>
                </a:ext>
              </a:extLst>
            </p:cNvPr>
            <p:cNvSpPr>
              <a:spLocks noChangeAspect="1" noChangeArrowheads="1"/>
            </p:cNvSpPr>
            <p:nvPr/>
          </p:nvSpPr>
          <p:spPr bwMode="auto">
            <a:xfrm rot="16200000">
              <a:off x="9044264" y="2690004"/>
              <a:ext cx="427948" cy="852389"/>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2800"/>
            </a:p>
          </p:txBody>
        </p:sp>
        <mc:AlternateContent xmlns:mc="http://schemas.openxmlformats.org/markup-compatibility/2006" xmlns:a14="http://schemas.microsoft.com/office/drawing/2010/main">
          <mc:Choice Requires="a14">
            <p:sp>
              <p:nvSpPr>
                <p:cNvPr id="8" name="TextBox 6">
                  <a:extLst>
                    <a:ext uri="{FF2B5EF4-FFF2-40B4-BE49-F238E27FC236}">
                      <a16:creationId xmlns:a16="http://schemas.microsoft.com/office/drawing/2014/main" id="{7EA31E3C-781D-47D0-94B5-7B0386C95565}"/>
                    </a:ext>
                  </a:extLst>
                </p:cNvPr>
                <p:cNvSpPr txBox="1"/>
                <p:nvPr/>
              </p:nvSpPr>
              <p:spPr>
                <a:xfrm>
                  <a:off x="8525654" y="1493931"/>
                  <a:ext cx="1508125" cy="523220"/>
                </a:xfrm>
                <a:prstGeom prst="rect">
                  <a:avLst/>
                </a:prstGeom>
                <a:noFill/>
              </p:spPr>
              <p:txBody>
                <a:bodyPr wrap="square" rtlCol="0">
                  <a:spAutoFit/>
                </a:bodyPr>
                <a:lstStyle/>
                <a:p>
                  <a:pPr algn="ctr"/>
                  <a14:m>
                    <m:oMath xmlns:m="http://schemas.openxmlformats.org/officeDocument/2006/math">
                      <m:sSub>
                        <m:sSubPr>
                          <m:ctrlPr>
                            <a:rPr lang="el-GR" sz="2800" i="1">
                              <a:latin typeface="Cambria Math" panose="02040503050406030204" pitchFamily="18" charset="0"/>
                              <a:ea typeface="Cambria Math" charset="0"/>
                              <a:cs typeface="Cambria Math" charset="0"/>
                            </a:rPr>
                          </m:ctrlPr>
                        </m:sSubPr>
                        <m:e>
                          <m:r>
                            <m:rPr>
                              <m:sty m:val="p"/>
                            </m:rPr>
                            <a:rPr lang="el-GR" sz="2800" i="1">
                              <a:latin typeface="Cambria Math" charset="0"/>
                              <a:ea typeface="Cambria Math" charset="0"/>
                              <a:cs typeface="Cambria Math" charset="0"/>
                            </a:rPr>
                            <m:t>Π</m:t>
                          </m:r>
                        </m:e>
                        <m:sub>
                          <m:r>
                            <a:rPr lang="en-US" sz="2800" i="1">
                              <a:latin typeface="Cambria Math" charset="0"/>
                              <a:ea typeface="Cambria Math" charset="0"/>
                              <a:cs typeface="Cambria Math" charset="0"/>
                            </a:rPr>
                            <m:t>𝐵</m:t>
                          </m:r>
                        </m:sub>
                      </m:sSub>
                    </m:oMath>
                  </a14:m>
                  <a:r>
                    <a:rPr lang="en-US" sz="2800" dirty="0"/>
                    <a:t> </a:t>
                  </a:r>
                </a:p>
              </p:txBody>
            </p:sp>
          </mc:Choice>
          <mc:Fallback xmlns="">
            <p:sp>
              <p:nvSpPr>
                <p:cNvPr id="9" name="TextBox 6"/>
                <p:cNvSpPr txBox="1">
                  <a:spLocks noRot="1" noChangeAspect="1" noMove="1" noResize="1" noEditPoints="1" noAdjustHandles="1" noChangeArrowheads="1" noChangeShapeType="1" noTextEdit="1"/>
                </p:cNvSpPr>
                <p:nvPr/>
              </p:nvSpPr>
              <p:spPr>
                <a:xfrm>
                  <a:off x="8525654" y="1493931"/>
                  <a:ext cx="1508125" cy="523220"/>
                </a:xfrm>
                <a:prstGeom prst="rect">
                  <a:avLst/>
                </a:prstGeom>
                <a:blipFill>
                  <a:blip r:embed="rId4"/>
                  <a:stretch>
                    <a:fillRect/>
                  </a:stretch>
                </a:blipFill>
              </p:spPr>
              <p:txBody>
                <a:bodyPr/>
                <a:lstStyle/>
                <a:p>
                  <a:r>
                    <a:rPr lang="zh-CN" altLang="en-US">
                      <a:noFill/>
                    </a:rPr>
                    <a:t> </a:t>
                  </a:r>
                </a:p>
              </p:txBody>
            </p:sp>
          </mc:Fallback>
        </mc:AlternateContent>
        <p:sp>
          <p:nvSpPr>
            <p:cNvPr id="9" name="TextBox 7">
              <a:extLst>
                <a:ext uri="{FF2B5EF4-FFF2-40B4-BE49-F238E27FC236}">
                  <a16:creationId xmlns:a16="http://schemas.microsoft.com/office/drawing/2014/main" id="{CC717760-17AD-484F-A770-CF4C483F1D78}"/>
                </a:ext>
              </a:extLst>
            </p:cNvPr>
            <p:cNvSpPr txBox="1"/>
            <p:nvPr/>
          </p:nvSpPr>
          <p:spPr>
            <a:xfrm>
              <a:off x="7593793" y="4071129"/>
              <a:ext cx="1676400" cy="523220"/>
            </a:xfrm>
            <a:prstGeom prst="rect">
              <a:avLst/>
            </a:prstGeom>
            <a:noFill/>
          </p:spPr>
          <p:txBody>
            <a:bodyPr wrap="square" rtlCol="0">
              <a:spAutoFit/>
            </a:bodyPr>
            <a:lstStyle/>
            <a:p>
              <a:pPr algn="ctr"/>
              <a:r>
                <a:rPr lang="en-US" sz="2800" dirty="0"/>
                <a:t>R(A,B)</a:t>
              </a:r>
            </a:p>
          </p:txBody>
        </p:sp>
        <p:sp>
          <p:nvSpPr>
            <p:cNvPr id="10" name="TextBox 8">
              <a:extLst>
                <a:ext uri="{FF2B5EF4-FFF2-40B4-BE49-F238E27FC236}">
                  <a16:creationId xmlns:a16="http://schemas.microsoft.com/office/drawing/2014/main" id="{D3F32F37-2A4C-40A2-BB26-AC22ECB544D8}"/>
                </a:ext>
              </a:extLst>
            </p:cNvPr>
            <p:cNvSpPr txBox="1"/>
            <p:nvPr/>
          </p:nvSpPr>
          <p:spPr>
            <a:xfrm>
              <a:off x="9530031" y="4071129"/>
              <a:ext cx="1492250" cy="523220"/>
            </a:xfrm>
            <a:prstGeom prst="rect">
              <a:avLst/>
            </a:prstGeom>
            <a:noFill/>
          </p:spPr>
          <p:txBody>
            <a:bodyPr wrap="square" rtlCol="0">
              <a:spAutoFit/>
            </a:bodyPr>
            <a:lstStyle/>
            <a:p>
              <a:pPr algn="ctr"/>
              <a:r>
                <a:rPr lang="en-US" sz="2800" dirty="0"/>
                <a:t>S(B,C)</a:t>
              </a:r>
            </a:p>
          </p:txBody>
        </p:sp>
        <p:cxnSp>
          <p:nvCxnSpPr>
            <p:cNvPr id="11" name="Straight Connector 9">
              <a:extLst>
                <a:ext uri="{FF2B5EF4-FFF2-40B4-BE49-F238E27FC236}">
                  <a16:creationId xmlns:a16="http://schemas.microsoft.com/office/drawing/2014/main" id="{42FC1591-B0A6-4132-BF6A-A51E7E335D8A}"/>
                </a:ext>
              </a:extLst>
            </p:cNvPr>
            <p:cNvCxnSpPr/>
            <p:nvPr/>
          </p:nvCxnSpPr>
          <p:spPr>
            <a:xfrm rot="5400000" flipH="1" flipV="1">
              <a:off x="8389617" y="3478401"/>
              <a:ext cx="693331" cy="4921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0">
              <a:extLst>
                <a:ext uri="{FF2B5EF4-FFF2-40B4-BE49-F238E27FC236}">
                  <a16:creationId xmlns:a16="http://schemas.microsoft.com/office/drawing/2014/main" id="{EC084C7F-2ADC-4276-A6C7-BD8710A66D37}"/>
                </a:ext>
              </a:extLst>
            </p:cNvPr>
            <p:cNvCxnSpPr/>
            <p:nvPr/>
          </p:nvCxnSpPr>
          <p:spPr>
            <a:xfrm rot="16200000" flipV="1">
              <a:off x="9422908" y="3555603"/>
              <a:ext cx="693331" cy="337723"/>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1">
              <a:extLst>
                <a:ext uri="{FF2B5EF4-FFF2-40B4-BE49-F238E27FC236}">
                  <a16:creationId xmlns:a16="http://schemas.microsoft.com/office/drawing/2014/main" id="{ABB73523-68D2-45BC-8892-A604BF82A13F}"/>
                </a:ext>
              </a:extLst>
            </p:cNvPr>
            <p:cNvCxnSpPr/>
            <p:nvPr/>
          </p:nvCxnSpPr>
          <p:spPr>
            <a:xfrm rot="16200000" flipV="1">
              <a:off x="8933050" y="2486928"/>
              <a:ext cx="693334" cy="2"/>
            </a:xfrm>
            <a:prstGeom prst="line">
              <a:avLst/>
            </a:prstGeom>
          </p:spPr>
          <p:style>
            <a:lnRef idx="2">
              <a:schemeClr val="accent1"/>
            </a:lnRef>
            <a:fillRef idx="0">
              <a:schemeClr val="accent1"/>
            </a:fillRef>
            <a:effectRef idx="1">
              <a:schemeClr val="accent1"/>
            </a:effectRef>
            <a:fontRef idx="minor">
              <a:schemeClr val="tx1"/>
            </a:fontRef>
          </p:style>
        </p:cxnSp>
      </p:grpSp>
      <p:sp>
        <p:nvSpPr>
          <p:cNvPr id="14" name="下箭头 14">
            <a:extLst>
              <a:ext uri="{FF2B5EF4-FFF2-40B4-BE49-F238E27FC236}">
                <a16:creationId xmlns:a16="http://schemas.microsoft.com/office/drawing/2014/main" id="{4C10DC05-E9A7-4860-8650-B6A0E2AE9EAE}"/>
              </a:ext>
            </a:extLst>
          </p:cNvPr>
          <p:cNvSpPr/>
          <p:nvPr/>
        </p:nvSpPr>
        <p:spPr>
          <a:xfrm>
            <a:off x="3407477" y="2574276"/>
            <a:ext cx="219268"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下箭头 23">
            <a:extLst>
              <a:ext uri="{FF2B5EF4-FFF2-40B4-BE49-F238E27FC236}">
                <a16:creationId xmlns:a16="http://schemas.microsoft.com/office/drawing/2014/main" id="{32393F79-FAF1-4D09-BAEA-75BDFD8CD7C4}"/>
              </a:ext>
            </a:extLst>
          </p:cNvPr>
          <p:cNvSpPr/>
          <p:nvPr/>
        </p:nvSpPr>
        <p:spPr>
          <a:xfrm>
            <a:off x="3795181" y="3588700"/>
            <a:ext cx="253293" cy="914400"/>
          </a:xfrm>
          <a:prstGeom prst="downArrow">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Group 33">
            <a:extLst>
              <a:ext uri="{FF2B5EF4-FFF2-40B4-BE49-F238E27FC236}">
                <a16:creationId xmlns:a16="http://schemas.microsoft.com/office/drawing/2014/main" id="{49FCE67F-BF18-4CB2-B884-4759EA5E5E0C}"/>
              </a:ext>
            </a:extLst>
          </p:cNvPr>
          <p:cNvGrpSpPr/>
          <p:nvPr/>
        </p:nvGrpSpPr>
        <p:grpSpPr>
          <a:xfrm>
            <a:off x="6164955" y="3264813"/>
            <a:ext cx="3390886" cy="3128345"/>
            <a:chOff x="6825838" y="2015215"/>
            <a:chExt cx="3390886" cy="3128345"/>
          </a:xfrm>
        </p:grpSpPr>
        <p:sp>
          <p:nvSpPr>
            <p:cNvPr id="17" name="AutoShape 9">
              <a:extLst>
                <a:ext uri="{FF2B5EF4-FFF2-40B4-BE49-F238E27FC236}">
                  <a16:creationId xmlns:a16="http://schemas.microsoft.com/office/drawing/2014/main" id="{5EDDB686-4F01-4EBF-9622-7C6510DD4444}"/>
                </a:ext>
              </a:extLst>
            </p:cNvPr>
            <p:cNvSpPr>
              <a:spLocks noChangeAspect="1" noChangeArrowheads="1"/>
            </p:cNvSpPr>
            <p:nvPr/>
          </p:nvSpPr>
          <p:spPr bwMode="auto">
            <a:xfrm rot="16200000">
              <a:off x="8168026" y="1802994"/>
              <a:ext cx="427948" cy="852389"/>
            </a:xfrm>
            <a:prstGeom prst="flowChartCollate">
              <a:avLst/>
            </a:prstGeom>
            <a:noFill/>
            <a:ln w="9525">
              <a:solidFill>
                <a:schemeClr val="tx1"/>
              </a:solidFill>
              <a:miter lim="800000"/>
              <a:headEnd/>
              <a:tailEnd/>
            </a:ln>
            <a:effectLst/>
          </p:spPr>
          <p:txBody>
            <a:bodyPr wrap="none" anchor="ctr">
              <a:prstTxWarp prst="textNoShape">
                <a:avLst/>
              </a:prstTxWarp>
            </a:bodyPr>
            <a:lstStyle/>
            <a:p>
              <a:endParaRPr lang="en-US" sz="2800"/>
            </a:p>
          </p:txBody>
        </p:sp>
        <mc:AlternateContent xmlns:mc="http://schemas.openxmlformats.org/markup-compatibility/2006" xmlns:a14="http://schemas.microsoft.com/office/drawing/2010/main">
          <mc:Choice Requires="a14">
            <p:sp>
              <p:nvSpPr>
                <p:cNvPr id="18" name="TextBox 35">
                  <a:extLst>
                    <a:ext uri="{FF2B5EF4-FFF2-40B4-BE49-F238E27FC236}">
                      <a16:creationId xmlns:a16="http://schemas.microsoft.com/office/drawing/2014/main" id="{D183CCA3-5A80-4DA9-855D-6EA412EDCDBD}"/>
                    </a:ext>
                  </a:extLst>
                </p:cNvPr>
                <p:cNvSpPr txBox="1"/>
                <p:nvPr/>
              </p:nvSpPr>
              <p:spPr>
                <a:xfrm>
                  <a:off x="6847731" y="3205659"/>
                  <a:ext cx="1508125" cy="523220"/>
                </a:xfrm>
                <a:prstGeom prst="rect">
                  <a:avLst/>
                </a:prstGeom>
                <a:noFill/>
              </p:spPr>
              <p:txBody>
                <a:bodyPr wrap="square" rtlCol="0">
                  <a:spAutoFit/>
                </a:bodyPr>
                <a:lstStyle/>
                <a:p>
                  <a:pPr algn="ctr"/>
                  <a14:m>
                    <m:oMath xmlns:m="http://schemas.openxmlformats.org/officeDocument/2006/math">
                      <m:sSub>
                        <m:sSubPr>
                          <m:ctrlPr>
                            <a:rPr lang="el-GR" sz="2800" i="1">
                              <a:latin typeface="Cambria Math" panose="02040503050406030204" pitchFamily="18" charset="0"/>
                              <a:ea typeface="Cambria Math" charset="0"/>
                              <a:cs typeface="Cambria Math" charset="0"/>
                            </a:rPr>
                          </m:ctrlPr>
                        </m:sSubPr>
                        <m:e>
                          <m:r>
                            <m:rPr>
                              <m:sty m:val="p"/>
                            </m:rPr>
                            <a:rPr lang="el-GR" sz="2800" i="1">
                              <a:latin typeface="Cambria Math" charset="0"/>
                              <a:ea typeface="Cambria Math" charset="0"/>
                              <a:cs typeface="Cambria Math" charset="0"/>
                            </a:rPr>
                            <m:t>Π</m:t>
                          </m:r>
                        </m:e>
                        <m:sub>
                          <m:r>
                            <a:rPr lang="en-US" sz="2800" i="1">
                              <a:latin typeface="Cambria Math" charset="0"/>
                              <a:ea typeface="Cambria Math" charset="0"/>
                              <a:cs typeface="Cambria Math" charset="0"/>
                            </a:rPr>
                            <m:t>𝐵</m:t>
                          </m:r>
                        </m:sub>
                      </m:sSub>
                    </m:oMath>
                  </a14:m>
                  <a:r>
                    <a:rPr lang="en-US" sz="2800" dirty="0"/>
                    <a:t> </a:t>
                  </a:r>
                </a:p>
              </p:txBody>
            </p:sp>
          </mc:Choice>
          <mc:Fallback xmlns="">
            <p:sp>
              <p:nvSpPr>
                <p:cNvPr id="27" name="TextBox 35"/>
                <p:cNvSpPr txBox="1">
                  <a:spLocks noRot="1" noChangeAspect="1" noMove="1" noResize="1" noEditPoints="1" noAdjustHandles="1" noChangeArrowheads="1" noChangeShapeType="1" noTextEdit="1"/>
                </p:cNvSpPr>
                <p:nvPr/>
              </p:nvSpPr>
              <p:spPr>
                <a:xfrm>
                  <a:off x="6847731" y="3205659"/>
                  <a:ext cx="1508125" cy="523220"/>
                </a:xfrm>
                <a:prstGeom prst="rect">
                  <a:avLst/>
                </a:prstGeom>
                <a:blipFill>
                  <a:blip r:embed="rId5"/>
                  <a:stretch>
                    <a:fillRect/>
                  </a:stretch>
                </a:blipFill>
              </p:spPr>
              <p:txBody>
                <a:bodyPr/>
                <a:lstStyle/>
                <a:p>
                  <a:r>
                    <a:rPr lang="zh-CN" altLang="en-US">
                      <a:noFill/>
                    </a:rPr>
                    <a:t> </a:t>
                  </a:r>
                </a:p>
              </p:txBody>
            </p:sp>
          </mc:Fallback>
        </mc:AlternateContent>
        <p:sp>
          <p:nvSpPr>
            <p:cNvPr id="19" name="TextBox 36">
              <a:extLst>
                <a:ext uri="{FF2B5EF4-FFF2-40B4-BE49-F238E27FC236}">
                  <a16:creationId xmlns:a16="http://schemas.microsoft.com/office/drawing/2014/main" id="{F259EACE-977E-49F5-99E2-369DD4548AC7}"/>
                </a:ext>
              </a:extLst>
            </p:cNvPr>
            <p:cNvSpPr txBox="1"/>
            <p:nvPr/>
          </p:nvSpPr>
          <p:spPr>
            <a:xfrm>
              <a:off x="6825838" y="4620340"/>
              <a:ext cx="1556162" cy="523220"/>
            </a:xfrm>
            <a:prstGeom prst="rect">
              <a:avLst/>
            </a:prstGeom>
            <a:noFill/>
          </p:spPr>
          <p:txBody>
            <a:bodyPr wrap="square" rtlCol="0">
              <a:spAutoFit/>
            </a:bodyPr>
            <a:lstStyle/>
            <a:p>
              <a:pPr algn="ctr"/>
              <a:r>
                <a:rPr lang="en-US" sz="2800" dirty="0"/>
                <a:t>R(A,B)</a:t>
              </a:r>
            </a:p>
          </p:txBody>
        </p:sp>
        <p:sp>
          <p:nvSpPr>
            <p:cNvPr id="20" name="TextBox 37">
              <a:extLst>
                <a:ext uri="{FF2B5EF4-FFF2-40B4-BE49-F238E27FC236}">
                  <a16:creationId xmlns:a16="http://schemas.microsoft.com/office/drawing/2014/main" id="{E3A50BA2-622F-4558-BBFA-74C90D4F7E0A}"/>
                </a:ext>
              </a:extLst>
            </p:cNvPr>
            <p:cNvSpPr txBox="1"/>
            <p:nvPr/>
          </p:nvSpPr>
          <p:spPr>
            <a:xfrm>
              <a:off x="8718551" y="4620340"/>
              <a:ext cx="1492250" cy="523220"/>
            </a:xfrm>
            <a:prstGeom prst="rect">
              <a:avLst/>
            </a:prstGeom>
            <a:noFill/>
          </p:spPr>
          <p:txBody>
            <a:bodyPr wrap="square" rtlCol="0">
              <a:spAutoFit/>
            </a:bodyPr>
            <a:lstStyle/>
            <a:p>
              <a:pPr algn="ctr"/>
              <a:r>
                <a:rPr lang="en-US" sz="2800" dirty="0"/>
                <a:t>S(B,C)</a:t>
              </a:r>
            </a:p>
          </p:txBody>
        </p:sp>
        <p:cxnSp>
          <p:nvCxnSpPr>
            <p:cNvPr id="21" name="Straight Connector 38">
              <a:extLst>
                <a:ext uri="{FF2B5EF4-FFF2-40B4-BE49-F238E27FC236}">
                  <a16:creationId xmlns:a16="http://schemas.microsoft.com/office/drawing/2014/main" id="{1EEE0DCC-35F2-4232-A8FE-E7D75089733B}"/>
                </a:ext>
              </a:extLst>
            </p:cNvPr>
            <p:cNvCxnSpPr/>
            <p:nvPr/>
          </p:nvCxnSpPr>
          <p:spPr>
            <a:xfrm rot="5400000" flipH="1" flipV="1">
              <a:off x="7513379" y="2591391"/>
              <a:ext cx="693331" cy="492127"/>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39">
              <a:extLst>
                <a:ext uri="{FF2B5EF4-FFF2-40B4-BE49-F238E27FC236}">
                  <a16:creationId xmlns:a16="http://schemas.microsoft.com/office/drawing/2014/main" id="{4662C5B6-DE35-478A-ADB0-67EFCDA58A31}"/>
                </a:ext>
              </a:extLst>
            </p:cNvPr>
            <p:cNvCxnSpPr/>
            <p:nvPr/>
          </p:nvCxnSpPr>
          <p:spPr>
            <a:xfrm rot="16200000" flipV="1">
              <a:off x="8546670" y="2668593"/>
              <a:ext cx="693331" cy="337723"/>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40">
              <a:extLst>
                <a:ext uri="{FF2B5EF4-FFF2-40B4-BE49-F238E27FC236}">
                  <a16:creationId xmlns:a16="http://schemas.microsoft.com/office/drawing/2014/main" id="{7F3C21B9-5526-4F46-A0B7-CCA24EAD0E56}"/>
                </a:ext>
              </a:extLst>
            </p:cNvPr>
            <p:cNvCxnSpPr/>
            <p:nvPr/>
          </p:nvCxnSpPr>
          <p:spPr>
            <a:xfrm rot="16200000" flipV="1">
              <a:off x="7177670" y="4366338"/>
              <a:ext cx="693334" cy="2"/>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41">
                  <a:extLst>
                    <a:ext uri="{FF2B5EF4-FFF2-40B4-BE49-F238E27FC236}">
                      <a16:creationId xmlns:a16="http://schemas.microsoft.com/office/drawing/2014/main" id="{7775CE44-FC81-4E3D-84D2-37164E5B7E7F}"/>
                    </a:ext>
                  </a:extLst>
                </p:cNvPr>
                <p:cNvSpPr txBox="1"/>
                <p:nvPr/>
              </p:nvSpPr>
              <p:spPr>
                <a:xfrm>
                  <a:off x="8708599" y="3221533"/>
                  <a:ext cx="1508125" cy="5132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l-GR" sz="2800" i="1">
                                <a:latin typeface="Cambria Math" panose="02040503050406030204" pitchFamily="18" charset="0"/>
                                <a:ea typeface="Cambria Math" charset="0"/>
                                <a:cs typeface="Cambria Math" charset="0"/>
                              </a:rPr>
                            </m:ctrlPr>
                          </m:sSubPr>
                          <m:e>
                            <m:r>
                              <m:rPr>
                                <m:sty m:val="p"/>
                              </m:rPr>
                              <a:rPr lang="el-GR" sz="2800" i="1">
                                <a:latin typeface="Cambria Math" charset="0"/>
                                <a:ea typeface="Cambria Math" charset="0"/>
                                <a:cs typeface="Cambria Math" charset="0"/>
                              </a:rPr>
                              <m:t>Π</m:t>
                            </m:r>
                          </m:e>
                          <m:sub>
                            <m:r>
                              <a:rPr lang="en-US" sz="2800" i="1">
                                <a:latin typeface="Cambria Math" charset="0"/>
                                <a:ea typeface="Cambria Math" charset="0"/>
                                <a:cs typeface="Cambria Math" charset="0"/>
                              </a:rPr>
                              <m:t>𝐵</m:t>
                            </m:r>
                          </m:sub>
                        </m:sSub>
                      </m:oMath>
                    </m:oMathPara>
                  </a14:m>
                  <a:endParaRPr lang="en-US" sz="2800" baseline="-25000" dirty="0"/>
                </a:p>
              </p:txBody>
            </p:sp>
          </mc:Choice>
          <mc:Fallback xmlns="">
            <p:sp>
              <p:nvSpPr>
                <p:cNvPr id="33" name="TextBox 41"/>
                <p:cNvSpPr txBox="1">
                  <a:spLocks noRot="1" noChangeAspect="1" noMove="1" noResize="1" noEditPoints="1" noAdjustHandles="1" noChangeArrowheads="1" noChangeShapeType="1" noTextEdit="1"/>
                </p:cNvSpPr>
                <p:nvPr/>
              </p:nvSpPr>
              <p:spPr>
                <a:xfrm>
                  <a:off x="8708599" y="3221533"/>
                  <a:ext cx="1508125" cy="513282"/>
                </a:xfrm>
                <a:prstGeom prst="rect">
                  <a:avLst/>
                </a:prstGeom>
                <a:blipFill>
                  <a:blip r:embed="rId6"/>
                  <a:stretch>
                    <a:fillRect/>
                  </a:stretch>
                </a:blipFill>
              </p:spPr>
              <p:txBody>
                <a:bodyPr/>
                <a:lstStyle/>
                <a:p>
                  <a:r>
                    <a:rPr lang="zh-CN" altLang="en-US">
                      <a:noFill/>
                    </a:rPr>
                    <a:t> </a:t>
                  </a:r>
                </a:p>
              </p:txBody>
            </p:sp>
          </mc:Fallback>
        </mc:AlternateContent>
        <p:cxnSp>
          <p:nvCxnSpPr>
            <p:cNvPr id="25" name="Straight Connector 42">
              <a:extLst>
                <a:ext uri="{FF2B5EF4-FFF2-40B4-BE49-F238E27FC236}">
                  <a16:creationId xmlns:a16="http://schemas.microsoft.com/office/drawing/2014/main" id="{43B09034-A155-4596-9EE2-3D732E747425}"/>
                </a:ext>
              </a:extLst>
            </p:cNvPr>
            <p:cNvCxnSpPr/>
            <p:nvPr/>
          </p:nvCxnSpPr>
          <p:spPr>
            <a:xfrm rot="16200000" flipV="1">
              <a:off x="9056513" y="4317250"/>
              <a:ext cx="693334" cy="2"/>
            </a:xfrm>
            <a:prstGeom prst="line">
              <a:avLst/>
            </a:prstGeom>
          </p:spPr>
          <p:style>
            <a:lnRef idx="2">
              <a:schemeClr val="accent1"/>
            </a:lnRef>
            <a:fillRef idx="0">
              <a:schemeClr val="accent1"/>
            </a:fillRef>
            <a:effectRef idx="1">
              <a:schemeClr val="accent1"/>
            </a:effectRef>
            <a:fontRef idx="minor">
              <a:schemeClr val="tx1"/>
            </a:fontRef>
          </p:style>
        </p:cxnSp>
      </p:grpSp>
      <p:sp>
        <p:nvSpPr>
          <p:cNvPr id="26" name="右箭头 34">
            <a:extLst>
              <a:ext uri="{FF2B5EF4-FFF2-40B4-BE49-F238E27FC236}">
                <a16:creationId xmlns:a16="http://schemas.microsoft.com/office/drawing/2014/main" id="{DBF3AA37-3E1F-456A-8764-31ECE5D67460}"/>
              </a:ext>
            </a:extLst>
          </p:cNvPr>
          <p:cNvSpPr/>
          <p:nvPr/>
        </p:nvSpPr>
        <p:spPr>
          <a:xfrm>
            <a:off x="4748681" y="4714094"/>
            <a:ext cx="1438167" cy="2643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7" name="TextBox 12">
                <a:extLst>
                  <a:ext uri="{FF2B5EF4-FFF2-40B4-BE49-F238E27FC236}">
                    <a16:creationId xmlns:a16="http://schemas.microsoft.com/office/drawing/2014/main" id="{1CDEBC8C-40FD-4333-BCF6-7214A01BD426}"/>
                  </a:ext>
                </a:extLst>
              </p:cNvPr>
              <p:cNvSpPr txBox="1"/>
              <p:nvPr/>
            </p:nvSpPr>
            <p:spPr>
              <a:xfrm>
                <a:off x="5870551" y="1938026"/>
                <a:ext cx="37162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l-GR" sz="2800" i="1" smtClean="0">
                              <a:solidFill>
                                <a:srgbClr val="0000FF"/>
                              </a:solidFill>
                              <a:latin typeface="Cambria Math" panose="02040503050406030204" pitchFamily="18" charset="0"/>
                              <a:ea typeface="Cambria Math" charset="0"/>
                              <a:cs typeface="Cambria Math" charset="0"/>
                            </a:rPr>
                          </m:ctrlPr>
                        </m:sSubPr>
                        <m:e>
                          <m:r>
                            <m:rPr>
                              <m:sty m:val="p"/>
                            </m:rPr>
                            <a:rPr lang="el-GR" sz="2800" i="1">
                              <a:solidFill>
                                <a:srgbClr val="0000FF"/>
                              </a:solidFill>
                              <a:latin typeface="Cambria Math" charset="0"/>
                              <a:ea typeface="Cambria Math" charset="0"/>
                              <a:cs typeface="Cambria Math" charset="0"/>
                            </a:rPr>
                            <m:t>Π</m:t>
                          </m:r>
                        </m:e>
                        <m:sub>
                          <m:r>
                            <a:rPr lang="en-US" sz="2800" b="0" i="1" smtClean="0">
                              <a:solidFill>
                                <a:srgbClr val="0000FF"/>
                              </a:solidFill>
                              <a:latin typeface="Cambria Math" charset="0"/>
                              <a:ea typeface="Cambria Math" charset="0"/>
                              <a:cs typeface="Cambria Math" charset="0"/>
                            </a:rPr>
                            <m:t>𝐵</m:t>
                          </m:r>
                        </m:sub>
                      </m:sSub>
                      <m:r>
                        <a:rPr lang="en-US" sz="2800" b="0" i="1" smtClean="0">
                          <a:solidFill>
                            <a:srgbClr val="0000FF"/>
                          </a:solidFill>
                          <a:latin typeface="Cambria Math" charset="0"/>
                          <a:ea typeface="Cambria Math" charset="0"/>
                          <a:cs typeface="Cambria Math" charset="0"/>
                        </a:rPr>
                        <m:t>𝑅</m:t>
                      </m:r>
                      <m:d>
                        <m:dPr>
                          <m:ctrlPr>
                            <a:rPr lang="en-US" sz="2800" b="0" i="1" smtClean="0">
                              <a:solidFill>
                                <a:srgbClr val="0000FF"/>
                              </a:solidFill>
                              <a:latin typeface="Cambria Math" panose="02040503050406030204" pitchFamily="18" charset="0"/>
                              <a:ea typeface="Cambria Math" charset="0"/>
                              <a:cs typeface="Cambria Math" charset="0"/>
                            </a:rPr>
                          </m:ctrlPr>
                        </m:dPr>
                        <m:e>
                          <m:r>
                            <a:rPr lang="en-US" sz="2800" b="0" i="1" smtClean="0">
                              <a:solidFill>
                                <a:srgbClr val="0000FF"/>
                              </a:solidFill>
                              <a:latin typeface="Cambria Math" charset="0"/>
                              <a:ea typeface="Cambria Math" charset="0"/>
                              <a:cs typeface="Cambria Math" charset="0"/>
                            </a:rPr>
                            <m:t>𝐴</m:t>
                          </m:r>
                          <m:r>
                            <a:rPr lang="en-US" sz="2800" b="0" i="1" smtClean="0">
                              <a:solidFill>
                                <a:srgbClr val="0000FF"/>
                              </a:solidFill>
                              <a:latin typeface="Cambria Math" charset="0"/>
                              <a:ea typeface="Cambria Math" charset="0"/>
                              <a:cs typeface="Cambria Math" charset="0"/>
                            </a:rPr>
                            <m:t>,</m:t>
                          </m:r>
                          <m:r>
                            <a:rPr lang="en-US" sz="2800" b="0" i="1" smtClean="0">
                              <a:solidFill>
                                <a:srgbClr val="0000FF"/>
                              </a:solidFill>
                              <a:latin typeface="Cambria Math" charset="0"/>
                              <a:ea typeface="Cambria Math" charset="0"/>
                              <a:cs typeface="Cambria Math" charset="0"/>
                            </a:rPr>
                            <m:t>𝐵</m:t>
                          </m:r>
                        </m:e>
                      </m:d>
                      <m:r>
                        <a:rPr lang="en-US" sz="2800" b="0" i="1" smtClean="0">
                          <a:solidFill>
                            <a:srgbClr val="0000FF"/>
                          </a:solidFill>
                          <a:latin typeface="Cambria Math" charset="0"/>
                          <a:ea typeface="Cambria Math" charset="0"/>
                          <a:cs typeface="Cambria Math" charset="0"/>
                        </a:rPr>
                        <m:t>⋈</m:t>
                      </m:r>
                      <m:sSub>
                        <m:sSubPr>
                          <m:ctrlPr>
                            <a:rPr lang="el-GR" altLang="zh-CN" sz="2800" i="1">
                              <a:solidFill>
                                <a:srgbClr val="0000FF"/>
                              </a:solidFill>
                              <a:latin typeface="Cambria Math" panose="02040503050406030204" pitchFamily="18" charset="0"/>
                              <a:ea typeface="Cambria Math" charset="0"/>
                              <a:cs typeface="Cambria Math" charset="0"/>
                            </a:rPr>
                          </m:ctrlPr>
                        </m:sSubPr>
                        <m:e>
                          <m:r>
                            <m:rPr>
                              <m:sty m:val="p"/>
                            </m:rPr>
                            <a:rPr lang="el-GR" altLang="zh-CN" sz="2800" i="1">
                              <a:solidFill>
                                <a:srgbClr val="0000FF"/>
                              </a:solidFill>
                              <a:latin typeface="Cambria Math" charset="0"/>
                              <a:ea typeface="Cambria Math" charset="0"/>
                              <a:cs typeface="Cambria Math" charset="0"/>
                            </a:rPr>
                            <m:t>Π</m:t>
                          </m:r>
                        </m:e>
                        <m:sub>
                          <m:r>
                            <a:rPr lang="en-US" altLang="zh-CN" sz="2800" i="1">
                              <a:solidFill>
                                <a:srgbClr val="0000FF"/>
                              </a:solidFill>
                              <a:latin typeface="Cambria Math" charset="0"/>
                              <a:ea typeface="Cambria Math" charset="0"/>
                              <a:cs typeface="Cambria Math" charset="0"/>
                            </a:rPr>
                            <m:t>𝐵</m:t>
                          </m:r>
                        </m:sub>
                      </m:sSub>
                      <m:r>
                        <a:rPr lang="en-US" sz="2800" b="0" i="1" smtClean="0">
                          <a:solidFill>
                            <a:srgbClr val="0000FF"/>
                          </a:solidFill>
                          <a:latin typeface="Cambria Math" charset="0"/>
                          <a:ea typeface="Cambria Math" charset="0"/>
                          <a:cs typeface="Cambria Math" charset="0"/>
                        </a:rPr>
                        <m:t>𝑆</m:t>
                      </m:r>
                      <m:d>
                        <m:dPr>
                          <m:ctrlPr>
                            <a:rPr lang="en-US" sz="2800" b="0" i="1" smtClean="0">
                              <a:solidFill>
                                <a:srgbClr val="0000FF"/>
                              </a:solidFill>
                              <a:latin typeface="Cambria Math" panose="02040503050406030204" pitchFamily="18" charset="0"/>
                              <a:ea typeface="Cambria Math" charset="0"/>
                              <a:cs typeface="Cambria Math" charset="0"/>
                            </a:rPr>
                          </m:ctrlPr>
                        </m:dPr>
                        <m:e>
                          <m:r>
                            <a:rPr lang="en-US" sz="2800" b="0" i="1" smtClean="0">
                              <a:solidFill>
                                <a:srgbClr val="0000FF"/>
                              </a:solidFill>
                              <a:latin typeface="Cambria Math" charset="0"/>
                              <a:ea typeface="Cambria Math" charset="0"/>
                              <a:cs typeface="Cambria Math" charset="0"/>
                            </a:rPr>
                            <m:t>𝐵</m:t>
                          </m:r>
                          <m:r>
                            <a:rPr lang="en-US" sz="2800" b="0" i="1" smtClean="0">
                              <a:solidFill>
                                <a:srgbClr val="0000FF"/>
                              </a:solidFill>
                              <a:latin typeface="Cambria Math" charset="0"/>
                              <a:ea typeface="Cambria Math" charset="0"/>
                              <a:cs typeface="Cambria Math" charset="0"/>
                            </a:rPr>
                            <m:t>,</m:t>
                          </m:r>
                          <m:r>
                            <a:rPr lang="en-US" sz="2800" b="0" i="1" smtClean="0">
                              <a:solidFill>
                                <a:srgbClr val="0000FF"/>
                              </a:solidFill>
                              <a:latin typeface="Cambria Math" charset="0"/>
                              <a:ea typeface="Cambria Math" charset="0"/>
                              <a:cs typeface="Cambria Math" charset="0"/>
                            </a:rPr>
                            <m:t>𝐶</m:t>
                          </m:r>
                        </m:e>
                      </m:d>
                    </m:oMath>
                  </m:oMathPara>
                </a14:m>
                <a:endParaRPr lang="en-US" sz="2800" dirty="0">
                  <a:solidFill>
                    <a:srgbClr val="0000FF"/>
                  </a:solidFill>
                </a:endParaRPr>
              </a:p>
            </p:txBody>
          </p:sp>
        </mc:Choice>
        <mc:Fallback xmlns="">
          <p:sp>
            <p:nvSpPr>
              <p:cNvPr id="27" name="TextBox 12">
                <a:extLst>
                  <a:ext uri="{FF2B5EF4-FFF2-40B4-BE49-F238E27FC236}">
                    <a16:creationId xmlns:a16="http://schemas.microsoft.com/office/drawing/2014/main" id="{1CDEBC8C-40FD-4333-BCF6-7214A01BD426}"/>
                  </a:ext>
                </a:extLst>
              </p:cNvPr>
              <p:cNvSpPr txBox="1">
                <a:spLocks noRot="1" noChangeAspect="1" noMove="1" noResize="1" noEditPoints="1" noAdjustHandles="1" noChangeArrowheads="1" noChangeShapeType="1" noTextEdit="1"/>
              </p:cNvSpPr>
              <p:nvPr/>
            </p:nvSpPr>
            <p:spPr>
              <a:xfrm>
                <a:off x="5870551" y="1938026"/>
                <a:ext cx="3716210" cy="430887"/>
              </a:xfrm>
              <a:prstGeom prst="rect">
                <a:avLst/>
              </a:prstGeom>
              <a:blipFill>
                <a:blip r:embed="rId7"/>
                <a:stretch>
                  <a:fillRect/>
                </a:stretch>
              </a:blipFill>
            </p:spPr>
            <p:txBody>
              <a:bodyPr/>
              <a:lstStyle/>
              <a:p>
                <a:r>
                  <a:rPr lang="zh-CN" altLang="en-US">
                    <a:noFill/>
                  </a:rPr>
                  <a:t> </a:t>
                </a:r>
              </a:p>
            </p:txBody>
          </p:sp>
        </mc:Fallback>
      </mc:AlternateContent>
      <p:sp>
        <p:nvSpPr>
          <p:cNvPr id="28" name="上箭头 37">
            <a:extLst>
              <a:ext uri="{FF2B5EF4-FFF2-40B4-BE49-F238E27FC236}">
                <a16:creationId xmlns:a16="http://schemas.microsoft.com/office/drawing/2014/main" id="{6EC6D634-BEEB-453C-BED1-216E8FB6A8DB}"/>
              </a:ext>
            </a:extLst>
          </p:cNvPr>
          <p:cNvSpPr/>
          <p:nvPr/>
        </p:nvSpPr>
        <p:spPr>
          <a:xfrm>
            <a:off x="7606099" y="2550851"/>
            <a:ext cx="177748" cy="62874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标题 1">
            <a:extLst>
              <a:ext uri="{FF2B5EF4-FFF2-40B4-BE49-F238E27FC236}">
                <a16:creationId xmlns:a16="http://schemas.microsoft.com/office/drawing/2014/main" id="{2EBF56FC-398D-4692-8DB0-34FCF1EA7B51}"/>
              </a:ext>
            </a:extLst>
          </p:cNvPr>
          <p:cNvSpPr>
            <a:spLocks noGrp="1"/>
          </p:cNvSpPr>
          <p:nvPr>
            <p:ph type="title"/>
          </p:nvPr>
        </p:nvSpPr>
        <p:spPr>
          <a:xfrm>
            <a:off x="1281113" y="238125"/>
            <a:ext cx="9553575" cy="512763"/>
          </a:xfrm>
        </p:spPr>
        <p:txBody>
          <a:bodyPr/>
          <a:lstStyle/>
          <a:p>
            <a:r>
              <a:rPr lang="en-US" altLang="zh-CN" dirty="0"/>
              <a:t>9.3.2 </a:t>
            </a:r>
            <a:r>
              <a:rPr lang="zh-CN" altLang="en-US" dirty="0"/>
              <a:t>查询树的启发式优化</a:t>
            </a:r>
          </a:p>
        </p:txBody>
      </p:sp>
    </p:spTree>
    <p:extLst>
      <p:ext uri="{BB962C8B-B14F-4D97-AF65-F5344CB8AC3E}">
        <p14:creationId xmlns:p14="http://schemas.microsoft.com/office/powerpoint/2010/main" val="6145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500"/>
                                        <p:tgtEl>
                                          <p:spTgt spid="15"/>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left)">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down)">
                                      <p:cBhvr>
                                        <p:cTn id="29" dur="5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down)">
                                      <p:cBhvr>
                                        <p:cTn id="34" dur="500"/>
                                        <p:tgtEl>
                                          <p:spTgt spid="28"/>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26" grpId="0" animBg="1"/>
      <p:bldP spid="27" grpId="0"/>
      <p:bldP spid="2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6C6229-49BE-487A-9F15-BFDE83F1766E}"/>
              </a:ext>
            </a:extLst>
          </p:cNvPr>
          <p:cNvSpPr>
            <a:spLocks noGrp="1"/>
          </p:cNvSpPr>
          <p:nvPr>
            <p:ph type="title"/>
          </p:nvPr>
        </p:nvSpPr>
        <p:spPr/>
        <p:txBody>
          <a:bodyPr/>
          <a:lstStyle/>
          <a:p>
            <a:r>
              <a:rPr lang="en-US" altLang="zh-CN" dirty="0"/>
              <a:t>9.4 </a:t>
            </a:r>
            <a:r>
              <a:rPr lang="zh-CN" altLang="en-US" dirty="0"/>
              <a:t>物理优化</a:t>
            </a:r>
          </a:p>
        </p:txBody>
      </p:sp>
      <p:graphicFrame>
        <p:nvGraphicFramePr>
          <p:cNvPr id="5" name="内容占位符 4">
            <a:extLst>
              <a:ext uri="{FF2B5EF4-FFF2-40B4-BE49-F238E27FC236}">
                <a16:creationId xmlns:a16="http://schemas.microsoft.com/office/drawing/2014/main" id="{5E485235-95CD-4D0C-8548-8BF74E3C844B}"/>
              </a:ext>
            </a:extLst>
          </p:cNvPr>
          <p:cNvGraphicFramePr>
            <a:graphicFrameLocks noGrp="1"/>
          </p:cNvGraphicFramePr>
          <p:nvPr>
            <p:ph idx="1"/>
            <p:extLst>
              <p:ext uri="{D42A27DB-BD31-4B8C-83A1-F6EECF244321}">
                <p14:modId xmlns:p14="http://schemas.microsoft.com/office/powerpoint/2010/main" val="1200566470"/>
              </p:ext>
            </p:extLst>
          </p:nvPr>
        </p:nvGraphicFramePr>
        <p:xfrm>
          <a:off x="800100" y="1720913"/>
          <a:ext cx="10591800" cy="3416173"/>
        </p:xfrm>
        <a:graphic>
          <a:graphicData uri="http://schemas.openxmlformats.org/drawingml/2006/table">
            <a:tbl>
              <a:tblPr firstRow="1" bandRow="1">
                <a:tableStyleId>{8A107856-5554-42FB-B03E-39F5DBC370BA}</a:tableStyleId>
              </a:tblPr>
              <a:tblGrid>
                <a:gridCol w="5295900">
                  <a:extLst>
                    <a:ext uri="{9D8B030D-6E8A-4147-A177-3AD203B41FA5}">
                      <a16:colId xmlns:a16="http://schemas.microsoft.com/office/drawing/2014/main" val="459342338"/>
                    </a:ext>
                  </a:extLst>
                </a:gridCol>
                <a:gridCol w="5295900">
                  <a:extLst>
                    <a:ext uri="{9D8B030D-6E8A-4147-A177-3AD203B41FA5}">
                      <a16:colId xmlns:a16="http://schemas.microsoft.com/office/drawing/2014/main" val="2042270144"/>
                    </a:ext>
                  </a:extLst>
                </a:gridCol>
              </a:tblGrid>
              <a:tr h="370840">
                <a:tc>
                  <a:txBody>
                    <a:bodyPr/>
                    <a:lstStyle/>
                    <a:p>
                      <a:pPr algn="ctr"/>
                      <a:r>
                        <a:rPr lang="zh-CN" altLang="en-US" sz="2800">
                          <a:solidFill>
                            <a:srgbClr val="0000FF"/>
                          </a:solidFill>
                          <a:latin typeface="微软雅黑" panose="020B0503020204020204" pitchFamily="34" charset="-122"/>
                          <a:ea typeface="微软雅黑" panose="020B0503020204020204" pitchFamily="34" charset="-122"/>
                        </a:rPr>
                        <a:t>代数优化</a:t>
                      </a:r>
                    </a:p>
                  </a:txBody>
                  <a:tcPr/>
                </a:tc>
                <a:tc>
                  <a:txBody>
                    <a:bodyPr/>
                    <a:lstStyle/>
                    <a:p>
                      <a:pPr algn="ctr"/>
                      <a:r>
                        <a:rPr lang="zh-CN" altLang="en-US" sz="2800">
                          <a:solidFill>
                            <a:srgbClr val="0000FF"/>
                          </a:solidFill>
                          <a:latin typeface="微软雅黑" panose="020B0503020204020204" pitchFamily="34" charset="-122"/>
                          <a:ea typeface="微软雅黑" panose="020B0503020204020204" pitchFamily="34" charset="-122"/>
                        </a:rPr>
                        <a:t>物理优化</a:t>
                      </a:r>
                    </a:p>
                  </a:txBody>
                  <a:tcPr/>
                </a:tc>
                <a:extLst>
                  <a:ext uri="{0D108BD9-81ED-4DB2-BD59-A6C34878D82A}">
                    <a16:rowId xmlns:a16="http://schemas.microsoft.com/office/drawing/2014/main" val="4232250426"/>
                  </a:ext>
                </a:extLst>
              </a:tr>
              <a:tr h="370840">
                <a:tc>
                  <a:txBody>
                    <a:bodyPr/>
                    <a:lstStyle/>
                    <a:p>
                      <a:pPr marL="457200" indent="-457200">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改变查询语句中操作的次序和组合</a:t>
                      </a:r>
                      <a:endParaRPr lang="en-US" altLang="zh-CN" sz="2400">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a:solidFill>
                            <a:srgbClr val="FF0000"/>
                          </a:solidFill>
                          <a:latin typeface="微软雅黑" panose="020B0503020204020204" pitchFamily="34" charset="-122"/>
                          <a:ea typeface="微软雅黑" panose="020B0503020204020204" pitchFamily="34" charset="-122"/>
                        </a:rPr>
                        <a:t>不涉及底层的存取路径</a:t>
                      </a:r>
                      <a:endParaRPr lang="en-US" altLang="zh-CN" sz="2400">
                        <a:solidFill>
                          <a:srgbClr val="FF0000"/>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等价的不同方案之间的执行效率不同，可能会</a:t>
                      </a:r>
                      <a:r>
                        <a:rPr lang="zh-CN" altLang="en-US" sz="2400">
                          <a:solidFill>
                            <a:srgbClr val="FF0000"/>
                          </a:solidFill>
                          <a:latin typeface="微软雅黑" panose="020B0503020204020204" pitchFamily="34" charset="-122"/>
                          <a:ea typeface="微软雅黑" panose="020B0503020204020204" pitchFamily="34" charset="-122"/>
                        </a:rPr>
                        <a:t>存在很大的差别</a:t>
                      </a:r>
                      <a:endParaRPr lang="en-US" altLang="zh-CN" sz="2400">
                        <a:solidFill>
                          <a:srgbClr val="FF0000"/>
                        </a:solidFill>
                        <a:latin typeface="微软雅黑" panose="020B0503020204020204" pitchFamily="34" charset="-122"/>
                        <a:ea typeface="微软雅黑" panose="020B0503020204020204" pitchFamily="34" charset="-122"/>
                      </a:endParaRPr>
                    </a:p>
                    <a:p>
                      <a:pPr marL="457200" indent="-457200">
                        <a:lnSpc>
                          <a:spcPct val="15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因此，仅进行</a:t>
                      </a:r>
                      <a:r>
                        <a:rPr lang="zh-CN" altLang="en-US" sz="2400">
                          <a:solidFill>
                            <a:srgbClr val="FF0000"/>
                          </a:solidFill>
                          <a:latin typeface="微软雅黑" panose="020B0503020204020204" pitchFamily="34" charset="-122"/>
                          <a:ea typeface="微软雅黑" panose="020B0503020204020204" pitchFamily="34" charset="-122"/>
                        </a:rPr>
                        <a:t>代数优化不够</a:t>
                      </a:r>
                      <a:endParaRPr lang="en-US" altLang="zh-CN" sz="2400">
                        <a:solidFill>
                          <a:srgbClr val="FF0000"/>
                        </a:solidFill>
                        <a:latin typeface="微软雅黑" panose="020B0503020204020204" pitchFamily="34" charset="-122"/>
                        <a:ea typeface="微软雅黑" panose="020B0503020204020204" pitchFamily="34" charset="-122"/>
                      </a:endParaRPr>
                    </a:p>
                  </a:txBody>
                  <a:tcPr>
                    <a:solidFill>
                      <a:schemeClr val="bg1">
                        <a:lumMod val="95000"/>
                      </a:schemeClr>
                    </a:solidFill>
                  </a:tcPr>
                </a:tc>
                <a:tc>
                  <a:txBody>
                    <a:bodyPr/>
                    <a:lstStyle/>
                    <a:p>
                      <a:pPr marL="457200" marR="0" lvl="0" indent="-457200" algn="l" defTabSz="51435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选择高效合理的操作算法或存取路径，</a:t>
                      </a: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求得优化的查询计划</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51435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典型的优化方法：</a:t>
                      </a:r>
                      <a:endParaRPr kumimoji="0" lang="en-US" altLang="zh-CN"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893763" marR="0" lvl="0" indent="-357188" algn="l" defTabSz="51435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2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基于规则的启发式优化</a:t>
                      </a:r>
                      <a:endParaRPr kumimoji="0" lang="en-US" altLang="zh-CN" sz="2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p>
                      <a:pPr marL="893763" marR="0" lvl="0" indent="-357188" algn="l" defTabSz="51435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2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基于代价估算的优化</a:t>
                      </a:r>
                      <a:endParaRPr kumimoji="0" lang="en-US" altLang="zh-CN" sz="2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p>
                      <a:pPr marL="893763" marR="0" lvl="0" indent="-357188" algn="l" defTabSz="514350" rtl="0" eaLnBrk="1" fontAlgn="auto" latinLnBrk="0" hangingPunct="1">
                        <a:lnSpc>
                          <a:spcPct val="130000"/>
                        </a:lnSpc>
                        <a:spcBef>
                          <a:spcPts val="0"/>
                        </a:spcBef>
                        <a:spcAft>
                          <a:spcPts val="0"/>
                        </a:spcAft>
                        <a:buClrTx/>
                        <a:buSzTx/>
                        <a:buFont typeface="Wingdings" panose="05000000000000000000" pitchFamily="2" charset="2"/>
                        <a:buChar char="Ø"/>
                        <a:tabLst/>
                        <a:defRPr/>
                      </a:pPr>
                      <a:r>
                        <a:rPr kumimoji="0" lang="zh-CN" altLang="en-US" sz="2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上述两者结合的</a:t>
                      </a:r>
                      <a:endParaRPr kumimoji="0" lang="en-US" altLang="zh-CN" sz="24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endParaRPr>
                    </a:p>
                  </a:txBody>
                  <a:tcPr>
                    <a:solidFill>
                      <a:schemeClr val="bg1">
                        <a:lumMod val="95000"/>
                      </a:schemeClr>
                    </a:solidFill>
                  </a:tcPr>
                </a:tc>
                <a:extLst>
                  <a:ext uri="{0D108BD9-81ED-4DB2-BD59-A6C34878D82A}">
                    <a16:rowId xmlns:a16="http://schemas.microsoft.com/office/drawing/2014/main" val="4044706944"/>
                  </a:ext>
                </a:extLst>
              </a:tr>
            </a:tbl>
          </a:graphicData>
        </a:graphic>
      </p:graphicFrame>
      <p:sp>
        <p:nvSpPr>
          <p:cNvPr id="4" name="灯片编号占位符 3">
            <a:extLst>
              <a:ext uri="{FF2B5EF4-FFF2-40B4-BE49-F238E27FC236}">
                <a16:creationId xmlns:a16="http://schemas.microsoft.com/office/drawing/2014/main" id="{830F2CDE-490E-41F6-923A-30ECA31A8810}"/>
              </a:ext>
            </a:extLst>
          </p:cNvPr>
          <p:cNvSpPr>
            <a:spLocks noGrp="1"/>
          </p:cNvSpPr>
          <p:nvPr>
            <p:ph type="sldNum" sz="quarter" idx="12"/>
          </p:nvPr>
        </p:nvSpPr>
        <p:spPr/>
        <p:txBody>
          <a:bodyPr/>
          <a:lstStyle/>
          <a:p>
            <a:fld id="{E63F6D5D-9733-4D44-9C56-AEFEDD5A4BA7}" type="slidenum">
              <a:rPr lang="en-US" smtClean="0"/>
              <a:pPr/>
              <a:t>33</a:t>
            </a:fld>
            <a:endParaRPr lang="en-US" dirty="0"/>
          </a:p>
        </p:txBody>
      </p:sp>
    </p:spTree>
    <p:extLst>
      <p:ext uri="{BB962C8B-B14F-4D97-AF65-F5344CB8AC3E}">
        <p14:creationId xmlns:p14="http://schemas.microsoft.com/office/powerpoint/2010/main" val="40795789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FDD1CE5-4EBD-49CB-A6B8-CAE9C896A7B2}"/>
              </a:ext>
            </a:extLst>
          </p:cNvPr>
          <p:cNvSpPr>
            <a:spLocks noGrp="1"/>
          </p:cNvSpPr>
          <p:nvPr>
            <p:ph idx="1"/>
          </p:nvPr>
        </p:nvSpPr>
        <p:spPr/>
        <p:txBody>
          <a:bodyPr/>
          <a:lstStyle/>
          <a:p>
            <a:r>
              <a:rPr lang="zh-CN" altLang="en-US" dirty="0">
                <a:solidFill>
                  <a:srgbClr val="FF0000"/>
                </a:solidFill>
              </a:rPr>
              <a:t>基于启发式规则的存取路径选择优化</a:t>
            </a:r>
            <a:endParaRPr lang="en-US" altLang="zh-CN" dirty="0">
              <a:solidFill>
                <a:srgbClr val="FF0000"/>
              </a:solidFill>
            </a:endParaRPr>
          </a:p>
          <a:p>
            <a:endParaRPr lang="zh-CN" altLang="en-US" dirty="0"/>
          </a:p>
        </p:txBody>
      </p:sp>
      <p:sp>
        <p:nvSpPr>
          <p:cNvPr id="4" name="灯片编号占位符 3">
            <a:extLst>
              <a:ext uri="{FF2B5EF4-FFF2-40B4-BE49-F238E27FC236}">
                <a16:creationId xmlns:a16="http://schemas.microsoft.com/office/drawing/2014/main" id="{A1B08685-E1DD-46B8-A592-2AF8603BBB17}"/>
              </a:ext>
            </a:extLst>
          </p:cNvPr>
          <p:cNvSpPr>
            <a:spLocks noGrp="1"/>
          </p:cNvSpPr>
          <p:nvPr>
            <p:ph type="sldNum" sz="quarter" idx="12"/>
          </p:nvPr>
        </p:nvSpPr>
        <p:spPr/>
        <p:txBody>
          <a:bodyPr/>
          <a:lstStyle/>
          <a:p>
            <a:fld id="{E63F6D5D-9733-4D44-9C56-AEFEDD5A4BA7}" type="slidenum">
              <a:rPr lang="en-US" smtClean="0"/>
              <a:pPr/>
              <a:t>34</a:t>
            </a:fld>
            <a:endParaRPr lang="en-US" dirty="0"/>
          </a:p>
        </p:txBody>
      </p:sp>
      <p:graphicFrame>
        <p:nvGraphicFramePr>
          <p:cNvPr id="5" name="表格 4">
            <a:extLst>
              <a:ext uri="{FF2B5EF4-FFF2-40B4-BE49-F238E27FC236}">
                <a16:creationId xmlns:a16="http://schemas.microsoft.com/office/drawing/2014/main" id="{E05375A8-53F0-4644-80BF-75EC64341756}"/>
              </a:ext>
            </a:extLst>
          </p:cNvPr>
          <p:cNvGraphicFramePr>
            <a:graphicFrameLocks noGrp="1"/>
          </p:cNvGraphicFramePr>
          <p:nvPr>
            <p:extLst>
              <p:ext uri="{D42A27DB-BD31-4B8C-83A1-F6EECF244321}">
                <p14:modId xmlns:p14="http://schemas.microsoft.com/office/powerpoint/2010/main" val="1259870091"/>
              </p:ext>
            </p:extLst>
          </p:nvPr>
        </p:nvGraphicFramePr>
        <p:xfrm>
          <a:off x="876300" y="1646736"/>
          <a:ext cx="10439400" cy="4937760"/>
        </p:xfrm>
        <a:graphic>
          <a:graphicData uri="http://schemas.openxmlformats.org/drawingml/2006/table">
            <a:tbl>
              <a:tblPr firstRow="1" bandRow="1">
                <a:tableStyleId>{5DA37D80-6434-44D0-A028-1B22A696006F}</a:tableStyleId>
              </a:tblPr>
              <a:tblGrid>
                <a:gridCol w="1525164">
                  <a:extLst>
                    <a:ext uri="{9D8B030D-6E8A-4147-A177-3AD203B41FA5}">
                      <a16:colId xmlns:a16="http://schemas.microsoft.com/office/drawing/2014/main" val="2227699877"/>
                    </a:ext>
                  </a:extLst>
                </a:gridCol>
                <a:gridCol w="8914236">
                  <a:extLst>
                    <a:ext uri="{9D8B030D-6E8A-4147-A177-3AD203B41FA5}">
                      <a16:colId xmlns:a16="http://schemas.microsoft.com/office/drawing/2014/main" val="506818027"/>
                    </a:ext>
                  </a:extLst>
                </a:gridCol>
              </a:tblGrid>
              <a:tr h="370840">
                <a:tc>
                  <a:txBody>
                    <a:bodyPr/>
                    <a:lstStyle/>
                    <a:p>
                      <a:pPr algn="ctr">
                        <a:lnSpc>
                          <a:spcPct val="100000"/>
                        </a:lnSpc>
                      </a:pPr>
                      <a:r>
                        <a:rPr lang="zh-CN" altLang="en-US" sz="2400" b="1" dirty="0">
                          <a:solidFill>
                            <a:srgbClr val="0000FF"/>
                          </a:solidFill>
                          <a:latin typeface="微软雅黑" panose="020B0503020204020204" pitchFamily="34" charset="-122"/>
                          <a:ea typeface="微软雅黑" panose="020B0503020204020204" pitchFamily="34" charset="-122"/>
                        </a:rPr>
                        <a:t>关系大小</a:t>
                      </a:r>
                    </a:p>
                  </a:txBody>
                  <a:tcPr/>
                </a:tc>
                <a:tc>
                  <a:txBody>
                    <a:bodyPr/>
                    <a:lstStyle/>
                    <a:p>
                      <a:pPr algn="ctr">
                        <a:lnSpc>
                          <a:spcPct val="100000"/>
                        </a:lnSpc>
                      </a:pPr>
                      <a:r>
                        <a:rPr lang="zh-CN" altLang="en-US" sz="2400" b="1" dirty="0">
                          <a:solidFill>
                            <a:srgbClr val="FF0000"/>
                          </a:solidFill>
                          <a:latin typeface="微软雅黑" panose="020B0503020204020204" pitchFamily="34" charset="-122"/>
                          <a:ea typeface="微软雅黑" panose="020B0503020204020204" pitchFamily="34" charset="-122"/>
                        </a:rPr>
                        <a:t>选择操作</a:t>
                      </a:r>
                      <a:r>
                        <a:rPr lang="zh-CN" altLang="en-US" sz="2400" b="1" dirty="0">
                          <a:solidFill>
                            <a:srgbClr val="0000FF"/>
                          </a:solidFill>
                          <a:latin typeface="微软雅黑" panose="020B0503020204020204" pitchFamily="34" charset="-122"/>
                          <a:ea typeface="微软雅黑" panose="020B0503020204020204" pitchFamily="34" charset="-122"/>
                        </a:rPr>
                        <a:t>的启发式规则</a:t>
                      </a:r>
                    </a:p>
                  </a:txBody>
                  <a:tcPr/>
                </a:tc>
                <a:extLst>
                  <a:ext uri="{0D108BD9-81ED-4DB2-BD59-A6C34878D82A}">
                    <a16:rowId xmlns:a16="http://schemas.microsoft.com/office/drawing/2014/main" val="405877627"/>
                  </a:ext>
                </a:extLst>
              </a:tr>
              <a:tr h="370840">
                <a:tc>
                  <a:txBody>
                    <a:bodyPr/>
                    <a:lstStyle/>
                    <a:p>
                      <a:pPr algn="ctr">
                        <a:lnSpc>
                          <a:spcPct val="100000"/>
                        </a:lnSpc>
                      </a:pPr>
                      <a:r>
                        <a:rPr lang="zh-CN" altLang="en-US" sz="2400" b="0" dirty="0">
                          <a:solidFill>
                            <a:srgbClr val="7030A0"/>
                          </a:solidFill>
                          <a:latin typeface="微软雅黑" panose="020B0503020204020204" pitchFamily="34" charset="-122"/>
                          <a:ea typeface="微软雅黑" panose="020B0503020204020204" pitchFamily="34" charset="-122"/>
                        </a:rPr>
                        <a:t>小关系</a:t>
                      </a:r>
                    </a:p>
                  </a:txBody>
                  <a:tcPr/>
                </a:tc>
                <a:tc>
                  <a:txBody>
                    <a:bodyPr/>
                    <a:lstStyle/>
                    <a:p>
                      <a:pPr marL="179388" indent="-179388">
                        <a:lnSpc>
                          <a:spcPct val="100000"/>
                        </a:lnSpc>
                        <a:buFont typeface="Arial" panose="020B0604020202020204" pitchFamily="34" charset="0"/>
                        <a:buChar char="•"/>
                      </a:pPr>
                      <a:r>
                        <a:rPr lang="zh-CN" altLang="en-US" sz="1800" b="0">
                          <a:latin typeface="微软雅黑" panose="020B0503020204020204" pitchFamily="34" charset="-122"/>
                          <a:ea typeface="微软雅黑" panose="020B0503020204020204" pitchFamily="34" charset="-122"/>
                        </a:rPr>
                        <a:t>全表顺序扫描，即便选择列上有索引</a:t>
                      </a:r>
                    </a:p>
                  </a:txBody>
                  <a:tcPr/>
                </a:tc>
                <a:extLst>
                  <a:ext uri="{0D108BD9-81ED-4DB2-BD59-A6C34878D82A}">
                    <a16:rowId xmlns:a16="http://schemas.microsoft.com/office/drawing/2014/main" val="829642423"/>
                  </a:ext>
                </a:extLst>
              </a:tr>
              <a:tr h="370840">
                <a:tc rowSpan="4">
                  <a:txBody>
                    <a:bodyPr/>
                    <a:lstStyle/>
                    <a:p>
                      <a:pPr algn="ctr">
                        <a:lnSpc>
                          <a:spcPct val="100000"/>
                        </a:lnSpc>
                      </a:pPr>
                      <a:endParaRPr lang="en-US" altLang="zh-CN" sz="2400" b="0" dirty="0">
                        <a:solidFill>
                          <a:srgbClr val="7030A0"/>
                        </a:solidFill>
                        <a:latin typeface="微软雅黑" panose="020B0503020204020204" pitchFamily="34" charset="-122"/>
                        <a:ea typeface="微软雅黑" panose="020B0503020204020204" pitchFamily="34" charset="-122"/>
                      </a:endParaRPr>
                    </a:p>
                    <a:p>
                      <a:pPr algn="ctr">
                        <a:lnSpc>
                          <a:spcPct val="100000"/>
                        </a:lnSpc>
                      </a:pPr>
                      <a:endParaRPr lang="en-US" altLang="zh-CN" sz="2400" b="0" dirty="0">
                        <a:solidFill>
                          <a:srgbClr val="7030A0"/>
                        </a:solidFill>
                        <a:latin typeface="微软雅黑" panose="020B0503020204020204" pitchFamily="34" charset="-122"/>
                        <a:ea typeface="微软雅黑" panose="020B0503020204020204" pitchFamily="34" charset="-122"/>
                      </a:endParaRPr>
                    </a:p>
                    <a:p>
                      <a:pPr algn="ctr">
                        <a:lnSpc>
                          <a:spcPct val="100000"/>
                        </a:lnSpc>
                      </a:pPr>
                      <a:endParaRPr lang="en-US" altLang="zh-CN" sz="2400" b="0" dirty="0">
                        <a:solidFill>
                          <a:srgbClr val="7030A0"/>
                        </a:solidFill>
                        <a:latin typeface="微软雅黑" panose="020B0503020204020204" pitchFamily="34" charset="-122"/>
                        <a:ea typeface="微软雅黑" panose="020B0503020204020204" pitchFamily="34" charset="-122"/>
                      </a:endParaRPr>
                    </a:p>
                    <a:p>
                      <a:pPr algn="ctr">
                        <a:lnSpc>
                          <a:spcPct val="100000"/>
                        </a:lnSpc>
                      </a:pPr>
                      <a:endParaRPr lang="en-US" altLang="zh-CN" sz="2400" b="0" dirty="0">
                        <a:solidFill>
                          <a:srgbClr val="7030A0"/>
                        </a:solidFill>
                        <a:latin typeface="微软雅黑" panose="020B0503020204020204" pitchFamily="34" charset="-122"/>
                        <a:ea typeface="微软雅黑" panose="020B0503020204020204" pitchFamily="34" charset="-122"/>
                      </a:endParaRPr>
                    </a:p>
                    <a:p>
                      <a:pPr algn="ctr">
                        <a:lnSpc>
                          <a:spcPct val="100000"/>
                        </a:lnSpc>
                      </a:pPr>
                      <a:endParaRPr lang="en-US" altLang="zh-CN" sz="2400" b="0" dirty="0">
                        <a:solidFill>
                          <a:srgbClr val="7030A0"/>
                        </a:solidFill>
                        <a:latin typeface="微软雅黑" panose="020B0503020204020204" pitchFamily="34" charset="-122"/>
                        <a:ea typeface="微软雅黑" panose="020B0503020204020204" pitchFamily="34" charset="-122"/>
                      </a:endParaRPr>
                    </a:p>
                    <a:p>
                      <a:pPr algn="ctr">
                        <a:lnSpc>
                          <a:spcPct val="100000"/>
                        </a:lnSpc>
                      </a:pPr>
                      <a:r>
                        <a:rPr lang="zh-CN" altLang="en-US" sz="2400" b="0" dirty="0">
                          <a:solidFill>
                            <a:srgbClr val="7030A0"/>
                          </a:solidFill>
                          <a:latin typeface="微软雅黑" panose="020B0503020204020204" pitchFamily="34" charset="-122"/>
                          <a:ea typeface="微软雅黑" panose="020B0503020204020204" pitchFamily="34" charset="-122"/>
                        </a:rPr>
                        <a:t>大关系</a:t>
                      </a:r>
                    </a:p>
                  </a:txBody>
                  <a:tcPr/>
                </a:tc>
                <a:tc>
                  <a:txBody>
                    <a:bodyPr/>
                    <a:lstStyle/>
                    <a:p>
                      <a:pPr>
                        <a:lnSpc>
                          <a:spcPct val="100000"/>
                        </a:lnSpc>
                      </a:pPr>
                      <a:r>
                        <a:rPr lang="en-US" altLang="zh-CN" sz="1600" b="0">
                          <a:latin typeface="微软雅黑" panose="020B0503020204020204" pitchFamily="34" charset="-122"/>
                          <a:ea typeface="微软雅黑" panose="020B0503020204020204" pitchFamily="34" charset="-122"/>
                        </a:rPr>
                        <a:t>1.</a:t>
                      </a:r>
                      <a:r>
                        <a:rPr lang="zh-CN" altLang="en-US" sz="1600" b="0">
                          <a:latin typeface="微软雅黑" panose="020B0503020204020204" pitchFamily="34" charset="-122"/>
                          <a:ea typeface="微软雅黑" panose="020B0503020204020204" pitchFamily="34" charset="-122"/>
                        </a:rPr>
                        <a:t>选择条件是</a:t>
                      </a:r>
                      <a:r>
                        <a:rPr lang="zh-CN" altLang="en-US" sz="1600" b="0">
                          <a:solidFill>
                            <a:srgbClr val="FF0000"/>
                          </a:solidFill>
                          <a:latin typeface="微软雅黑" panose="020B0503020204020204" pitchFamily="34" charset="-122"/>
                          <a:ea typeface="微软雅黑" panose="020B0503020204020204" pitchFamily="34" charset="-122"/>
                        </a:rPr>
                        <a:t>“主码＝值”</a:t>
                      </a:r>
                      <a:r>
                        <a:rPr lang="zh-CN" altLang="en-US" sz="1600" b="0">
                          <a:latin typeface="微软雅黑" panose="020B0503020204020204" pitchFamily="34" charset="-122"/>
                          <a:ea typeface="微软雅黑" panose="020B0503020204020204" pitchFamily="34" charset="-122"/>
                        </a:rPr>
                        <a:t>的查询</a:t>
                      </a:r>
                      <a:endParaRPr lang="en-US" altLang="zh-CN" sz="1600" b="0">
                        <a:latin typeface="微软雅黑" panose="020B0503020204020204" pitchFamily="34" charset="-122"/>
                        <a:ea typeface="微软雅黑" panose="020B0503020204020204" pitchFamily="34" charset="-122"/>
                      </a:endParaRP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查询结果最多是一个元组，可以选择主码索引</a:t>
                      </a:r>
                    </a:p>
                    <a:p>
                      <a:pPr marL="179388" indent="-179388">
                        <a:lnSpc>
                          <a:spcPct val="100000"/>
                        </a:lnSpc>
                        <a:buFont typeface="Arial" panose="020B0604020202020204" pitchFamily="34" charset="0"/>
                        <a:buChar char="•"/>
                      </a:pPr>
                      <a:r>
                        <a:rPr lang="zh-CN" altLang="en-US" sz="1600" b="0">
                          <a:solidFill>
                            <a:srgbClr val="FF0000"/>
                          </a:solidFill>
                          <a:latin typeface="微软雅黑" panose="020B0503020204020204" pitchFamily="34" charset="-122"/>
                          <a:ea typeface="微软雅黑" panose="020B0503020204020204" pitchFamily="34" charset="-122"/>
                        </a:rPr>
                        <a:t>一般的</a:t>
                      </a:r>
                      <a:r>
                        <a:rPr lang="en-US" altLang="zh-CN" sz="1600" b="0">
                          <a:solidFill>
                            <a:srgbClr val="FF0000"/>
                          </a:solidFill>
                          <a:latin typeface="微软雅黑" panose="020B0503020204020204" pitchFamily="34" charset="-122"/>
                          <a:ea typeface="微软雅黑" panose="020B0503020204020204" pitchFamily="34" charset="-122"/>
                        </a:rPr>
                        <a:t>RDBMS</a:t>
                      </a:r>
                      <a:r>
                        <a:rPr lang="zh-CN" altLang="en-US" sz="1600" b="0">
                          <a:solidFill>
                            <a:srgbClr val="FF0000"/>
                          </a:solidFill>
                          <a:latin typeface="微软雅黑" panose="020B0503020204020204" pitchFamily="34" charset="-122"/>
                          <a:ea typeface="微软雅黑" panose="020B0503020204020204" pitchFamily="34" charset="-122"/>
                        </a:rPr>
                        <a:t>会自动建立主码索引</a:t>
                      </a:r>
                    </a:p>
                  </a:txBody>
                  <a:tcPr/>
                </a:tc>
                <a:extLst>
                  <a:ext uri="{0D108BD9-81ED-4DB2-BD59-A6C34878D82A}">
                    <a16:rowId xmlns:a16="http://schemas.microsoft.com/office/drawing/2014/main" val="4253698357"/>
                  </a:ext>
                </a:extLst>
              </a:tr>
              <a:tr h="370840">
                <a:tc vMerge="1">
                  <a:txBody>
                    <a:bodyPr/>
                    <a:lstStyle/>
                    <a:p>
                      <a:pPr>
                        <a:lnSpc>
                          <a:spcPct val="100000"/>
                        </a:lnSpc>
                      </a:pPr>
                      <a:endParaRPr lang="zh-CN" altLang="en-US" sz="2000" b="0">
                        <a:latin typeface="微软雅黑" panose="020B0503020204020204" pitchFamily="34" charset="-122"/>
                        <a:ea typeface="微软雅黑" panose="020B0503020204020204" pitchFamily="34" charset="-122"/>
                      </a:endParaRPr>
                    </a:p>
                  </a:txBody>
                  <a:tcPr/>
                </a:tc>
                <a:tc>
                  <a:txBody>
                    <a:bodyPr/>
                    <a:lstStyle/>
                    <a:p>
                      <a:pPr>
                        <a:lnSpc>
                          <a:spcPct val="100000"/>
                        </a:lnSpc>
                      </a:pPr>
                      <a:r>
                        <a:rPr lang="en-US" altLang="zh-CN" sz="1600" b="0">
                          <a:latin typeface="微软雅黑" panose="020B0503020204020204" pitchFamily="34" charset="-122"/>
                          <a:ea typeface="微软雅黑" panose="020B0503020204020204" pitchFamily="34" charset="-122"/>
                        </a:rPr>
                        <a:t>2.</a:t>
                      </a:r>
                      <a:r>
                        <a:rPr lang="zh-CN" altLang="en-US" sz="1600" b="0">
                          <a:latin typeface="微软雅黑" panose="020B0503020204020204" pitchFamily="34" charset="-122"/>
                          <a:ea typeface="微软雅黑" panose="020B0503020204020204" pitchFamily="34" charset="-122"/>
                        </a:rPr>
                        <a:t>选择条件是</a:t>
                      </a:r>
                      <a:r>
                        <a:rPr lang="zh-CN" altLang="en-US" sz="1600" b="0">
                          <a:solidFill>
                            <a:srgbClr val="FF0000"/>
                          </a:solidFill>
                          <a:latin typeface="微软雅黑" panose="020B0503020204020204" pitchFamily="34" charset="-122"/>
                          <a:ea typeface="微软雅黑" panose="020B0503020204020204" pitchFamily="34" charset="-122"/>
                        </a:rPr>
                        <a:t>“非主属性＝值”或非等值或范围查询，</a:t>
                      </a:r>
                      <a:r>
                        <a:rPr lang="zh-CN" altLang="en-US" sz="1600">
                          <a:latin typeface="微软雅黑" panose="020B0503020204020204" pitchFamily="34" charset="-122"/>
                          <a:ea typeface="微软雅黑" panose="020B0503020204020204" pitchFamily="34" charset="-122"/>
                        </a:rPr>
                        <a:t>且选择列上有索引</a:t>
                      </a:r>
                      <a:r>
                        <a:rPr lang="zh-CN" altLang="en-US" sz="1600" b="0">
                          <a:latin typeface="微软雅黑" panose="020B0503020204020204" pitchFamily="34" charset="-122"/>
                          <a:ea typeface="微软雅黑" panose="020B0503020204020204" pitchFamily="34" charset="-122"/>
                        </a:rPr>
                        <a:t>的查询</a:t>
                      </a:r>
                      <a:endParaRPr lang="en-US" altLang="zh-CN" sz="1600" b="0">
                        <a:latin typeface="微软雅黑" panose="020B0503020204020204" pitchFamily="34" charset="-122"/>
                        <a:ea typeface="微软雅黑" panose="020B0503020204020204" pitchFamily="34" charset="-122"/>
                      </a:endParaRP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要估算查询结果的元组数目</a:t>
                      </a: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如果</a:t>
                      </a:r>
                      <a:r>
                        <a:rPr lang="zh-CN" altLang="en-US" sz="1600" b="0">
                          <a:solidFill>
                            <a:srgbClr val="FF0000"/>
                          </a:solidFill>
                          <a:latin typeface="微软雅黑" panose="020B0503020204020204" pitchFamily="34" charset="-122"/>
                          <a:ea typeface="微软雅黑" panose="020B0503020204020204" pitchFamily="34" charset="-122"/>
                        </a:rPr>
                        <a:t>比例较小</a:t>
                      </a:r>
                      <a:r>
                        <a:rPr lang="en-US" altLang="zh-CN" sz="1600" b="0">
                          <a:solidFill>
                            <a:srgbClr val="FF0000"/>
                          </a:solidFill>
                          <a:latin typeface="微软雅黑" panose="020B0503020204020204" pitchFamily="34" charset="-122"/>
                          <a:ea typeface="微软雅黑" panose="020B0503020204020204" pitchFamily="34" charset="-122"/>
                        </a:rPr>
                        <a:t>(&lt;10%)</a:t>
                      </a:r>
                      <a:r>
                        <a:rPr lang="zh-CN" altLang="en-US" sz="1600" b="0">
                          <a:latin typeface="微软雅黑" panose="020B0503020204020204" pitchFamily="34" charset="-122"/>
                          <a:ea typeface="微软雅黑" panose="020B0503020204020204" pitchFamily="34" charset="-122"/>
                        </a:rPr>
                        <a:t>可以使用索引扫描方法</a:t>
                      </a: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否则还是使用全表顺序扫描</a:t>
                      </a:r>
                    </a:p>
                  </a:txBody>
                  <a:tcPr/>
                </a:tc>
                <a:extLst>
                  <a:ext uri="{0D108BD9-81ED-4DB2-BD59-A6C34878D82A}">
                    <a16:rowId xmlns:a16="http://schemas.microsoft.com/office/drawing/2014/main" val="1173176676"/>
                  </a:ext>
                </a:extLst>
              </a:tr>
              <a:tr h="370840">
                <a:tc vMerge="1">
                  <a:txBody>
                    <a:bodyPr/>
                    <a:lstStyle/>
                    <a:p>
                      <a:pPr>
                        <a:lnSpc>
                          <a:spcPct val="100000"/>
                        </a:lnSpc>
                      </a:pPr>
                      <a:endParaRPr lang="zh-CN" altLang="en-US" sz="2000" b="0">
                        <a:latin typeface="微软雅黑" panose="020B0503020204020204" pitchFamily="34" charset="-122"/>
                        <a:ea typeface="微软雅黑" panose="020B0503020204020204" pitchFamily="34" charset="-122"/>
                      </a:endParaRPr>
                    </a:p>
                  </a:txBody>
                  <a:tcPr/>
                </a:tc>
                <a:tc>
                  <a:txBody>
                    <a:bodyPr/>
                    <a:lstStyle/>
                    <a:p>
                      <a:pPr>
                        <a:lnSpc>
                          <a:spcPct val="100000"/>
                        </a:lnSpc>
                      </a:pPr>
                      <a:r>
                        <a:rPr lang="en-US" altLang="zh-CN" sz="1600" b="0">
                          <a:latin typeface="微软雅黑" panose="020B0503020204020204" pitchFamily="34" charset="-122"/>
                          <a:ea typeface="微软雅黑" panose="020B0503020204020204" pitchFamily="34" charset="-122"/>
                        </a:rPr>
                        <a:t>3.</a:t>
                      </a:r>
                      <a:r>
                        <a:rPr lang="zh-CN" altLang="en-US" sz="1600" b="0">
                          <a:latin typeface="微软雅黑" panose="020B0503020204020204" pitchFamily="34" charset="-122"/>
                          <a:ea typeface="微软雅黑" panose="020B0503020204020204" pitchFamily="34" charset="-122"/>
                        </a:rPr>
                        <a:t>使用</a:t>
                      </a:r>
                      <a:r>
                        <a:rPr lang="en-US" altLang="zh-CN" sz="1600" b="0">
                          <a:solidFill>
                            <a:srgbClr val="FF0000"/>
                          </a:solidFill>
                          <a:latin typeface="微软雅黑" panose="020B0503020204020204" pitchFamily="34" charset="-122"/>
                          <a:ea typeface="微软雅黑" panose="020B0503020204020204" pitchFamily="34" charset="-122"/>
                        </a:rPr>
                        <a:t>AND</a:t>
                      </a:r>
                      <a:r>
                        <a:rPr lang="zh-CN" altLang="en-US" sz="1600" b="0">
                          <a:solidFill>
                            <a:srgbClr val="FF0000"/>
                          </a:solidFill>
                          <a:latin typeface="微软雅黑" panose="020B0503020204020204" pitchFamily="34" charset="-122"/>
                          <a:ea typeface="微软雅黑" panose="020B0503020204020204" pitchFamily="34" charset="-122"/>
                        </a:rPr>
                        <a:t>连接的合取选择条件</a:t>
                      </a:r>
                      <a:endParaRPr lang="en-US" altLang="zh-CN" sz="1600" b="0">
                        <a:solidFill>
                          <a:srgbClr val="FF0000"/>
                        </a:solidFill>
                        <a:latin typeface="微软雅黑" panose="020B0503020204020204" pitchFamily="34" charset="-122"/>
                        <a:ea typeface="微软雅黑" panose="020B0503020204020204" pitchFamily="34" charset="-122"/>
                      </a:endParaRP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要估算查询结果的元组数目</a:t>
                      </a:r>
                      <a:endParaRPr lang="en-US" altLang="zh-CN" sz="1600" b="0">
                        <a:latin typeface="微软雅黑" panose="020B0503020204020204" pitchFamily="34" charset="-122"/>
                        <a:ea typeface="微软雅黑" panose="020B0503020204020204" pitchFamily="34" charset="-122"/>
                      </a:endParaRP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如果有涉及这些属性的组合索引，优先采用组合索引扫描方法</a:t>
                      </a:r>
                      <a:endParaRPr lang="en-US" altLang="zh-CN" sz="1600" b="0">
                        <a:latin typeface="微软雅黑" panose="020B0503020204020204" pitchFamily="34" charset="-122"/>
                        <a:ea typeface="微软雅黑" panose="020B0503020204020204" pitchFamily="34" charset="-122"/>
                      </a:endParaRP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如果某些属性上有一般的索引，可以用索引扫描方法：通过分别查找满足每个条件的指针，求指针的交集；通过索引查找满足部分条件的元组，然后在扫描这些元组时判断是否满足剩余条件</a:t>
                      </a:r>
                      <a:endParaRPr lang="en-US" altLang="zh-CN" sz="1600" b="0">
                        <a:latin typeface="微软雅黑" panose="020B0503020204020204" pitchFamily="34" charset="-122"/>
                        <a:ea typeface="微软雅黑" panose="020B0503020204020204" pitchFamily="34" charset="-122"/>
                      </a:endParaRPr>
                    </a:p>
                    <a:p>
                      <a:pPr marL="179388" indent="-179388">
                        <a:lnSpc>
                          <a:spcPct val="100000"/>
                        </a:lnSpc>
                        <a:buFont typeface="Arial" panose="020B0604020202020204" pitchFamily="34" charset="0"/>
                        <a:buChar char="•"/>
                      </a:pPr>
                      <a:r>
                        <a:rPr lang="zh-CN" altLang="en-US" sz="1600" b="0">
                          <a:latin typeface="微软雅黑" panose="020B0503020204020204" pitchFamily="34" charset="-122"/>
                          <a:ea typeface="微软雅黑" panose="020B0503020204020204" pitchFamily="34" charset="-122"/>
                        </a:rPr>
                        <a:t>其他情况：使用全表顺序扫描</a:t>
                      </a:r>
                      <a:endParaRPr lang="en-US" altLang="zh-CN" sz="1600" b="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985780665"/>
                  </a:ext>
                </a:extLst>
              </a:tr>
              <a:tr h="370840">
                <a:tc vMerge="1">
                  <a:txBody>
                    <a:bodyPr/>
                    <a:lstStyle/>
                    <a:p>
                      <a:pPr>
                        <a:lnSpc>
                          <a:spcPct val="100000"/>
                        </a:lnSpc>
                      </a:pPr>
                      <a:endParaRPr lang="zh-CN" altLang="en-US" sz="2000" b="0">
                        <a:latin typeface="微软雅黑" panose="020B0503020204020204" pitchFamily="34" charset="-122"/>
                        <a:ea typeface="微软雅黑" panose="020B0503020204020204" pitchFamily="34" charset="-122"/>
                      </a:endParaRPr>
                    </a:p>
                  </a:txBody>
                  <a:tcPr/>
                </a:tc>
                <a:tc>
                  <a:txBody>
                    <a:bodyPr/>
                    <a:lstStyle/>
                    <a:p>
                      <a:pPr>
                        <a:lnSpc>
                          <a:spcPct val="100000"/>
                        </a:lnSpc>
                      </a:pPr>
                      <a:r>
                        <a:rPr lang="en-US" altLang="zh-CN" sz="1600" b="0" dirty="0">
                          <a:latin typeface="微软雅黑" panose="020B0503020204020204" pitchFamily="34" charset="-122"/>
                          <a:ea typeface="微软雅黑" panose="020B0503020204020204" pitchFamily="34" charset="-122"/>
                        </a:rPr>
                        <a:t>4.</a:t>
                      </a:r>
                      <a:r>
                        <a:rPr lang="zh-CN" altLang="en-US" sz="1600" b="0" dirty="0">
                          <a:latin typeface="微软雅黑" panose="020B0503020204020204" pitchFamily="34" charset="-122"/>
                          <a:ea typeface="微软雅黑" panose="020B0503020204020204" pitchFamily="34" charset="-122"/>
                        </a:rPr>
                        <a:t>使用</a:t>
                      </a:r>
                      <a:r>
                        <a:rPr lang="en-US" altLang="zh-CN" sz="1600" b="0" dirty="0">
                          <a:solidFill>
                            <a:srgbClr val="FF0000"/>
                          </a:solidFill>
                          <a:latin typeface="微软雅黑" panose="020B0503020204020204" pitchFamily="34" charset="-122"/>
                          <a:ea typeface="微软雅黑" panose="020B0503020204020204" pitchFamily="34" charset="-122"/>
                        </a:rPr>
                        <a:t>OR</a:t>
                      </a:r>
                      <a:r>
                        <a:rPr lang="zh-CN" altLang="en-US" sz="1600" b="0" dirty="0">
                          <a:solidFill>
                            <a:srgbClr val="FF0000"/>
                          </a:solidFill>
                          <a:latin typeface="微软雅黑" panose="020B0503020204020204" pitchFamily="34" charset="-122"/>
                          <a:ea typeface="微软雅黑" panose="020B0503020204020204" pitchFamily="34" charset="-122"/>
                        </a:rPr>
                        <a:t>连接的析取选择条件</a:t>
                      </a:r>
                      <a:endParaRPr lang="en-US" altLang="zh-CN" sz="1600" b="0" dirty="0">
                        <a:solidFill>
                          <a:srgbClr val="FF0000"/>
                        </a:solidFill>
                        <a:latin typeface="微软雅黑" panose="020B0503020204020204" pitchFamily="34" charset="-122"/>
                        <a:ea typeface="微软雅黑" panose="020B0503020204020204" pitchFamily="34" charset="-122"/>
                      </a:endParaRPr>
                    </a:p>
                    <a:p>
                      <a:pPr marL="179388" indent="-179388">
                        <a:lnSpc>
                          <a:spcPct val="100000"/>
                        </a:lnSpc>
                        <a:buFont typeface="Arial" panose="020B0604020202020204" pitchFamily="34" charset="0"/>
                        <a:buChar char="•"/>
                      </a:pPr>
                      <a:r>
                        <a:rPr lang="zh-CN" altLang="en-US" sz="1600" b="0" dirty="0">
                          <a:latin typeface="微软雅黑" panose="020B0503020204020204" pitchFamily="34" charset="-122"/>
                          <a:ea typeface="微软雅黑" panose="020B0503020204020204" pitchFamily="34" charset="-122"/>
                        </a:rPr>
                        <a:t>一般使用全表顺序扫描</a:t>
                      </a:r>
                      <a:endParaRPr lang="en-US" altLang="zh-CN" sz="1600" b="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2709181140"/>
                  </a:ext>
                </a:extLst>
              </a:tr>
            </a:tbl>
          </a:graphicData>
        </a:graphic>
      </p:graphicFrame>
      <p:sp>
        <p:nvSpPr>
          <p:cNvPr id="6" name="标题 1">
            <a:extLst>
              <a:ext uri="{FF2B5EF4-FFF2-40B4-BE49-F238E27FC236}">
                <a16:creationId xmlns:a16="http://schemas.microsoft.com/office/drawing/2014/main" id="{3EF5E384-A0C1-421C-A877-41D167F40594}"/>
              </a:ext>
            </a:extLst>
          </p:cNvPr>
          <p:cNvSpPr>
            <a:spLocks noGrp="1"/>
          </p:cNvSpPr>
          <p:nvPr>
            <p:ph type="title"/>
          </p:nvPr>
        </p:nvSpPr>
        <p:spPr>
          <a:xfrm>
            <a:off x="1281113" y="238125"/>
            <a:ext cx="9553575" cy="512763"/>
          </a:xfrm>
        </p:spPr>
        <p:txBody>
          <a:bodyPr/>
          <a:lstStyle/>
          <a:p>
            <a:r>
              <a:rPr lang="en-US" altLang="zh-CN" dirty="0"/>
              <a:t>9.4 </a:t>
            </a:r>
            <a:r>
              <a:rPr lang="zh-CN" altLang="en-US" dirty="0"/>
              <a:t>物理优化</a:t>
            </a:r>
          </a:p>
        </p:txBody>
      </p:sp>
    </p:spTree>
    <p:extLst>
      <p:ext uri="{BB962C8B-B14F-4D97-AF65-F5344CB8AC3E}">
        <p14:creationId xmlns:p14="http://schemas.microsoft.com/office/powerpoint/2010/main" val="2248119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3FDD1CE5-4EBD-49CB-A6B8-CAE9C896A7B2}"/>
              </a:ext>
            </a:extLst>
          </p:cNvPr>
          <p:cNvSpPr>
            <a:spLocks noGrp="1"/>
          </p:cNvSpPr>
          <p:nvPr>
            <p:ph idx="1"/>
          </p:nvPr>
        </p:nvSpPr>
        <p:spPr/>
        <p:txBody>
          <a:bodyPr/>
          <a:lstStyle/>
          <a:p>
            <a:r>
              <a:rPr lang="zh-CN" altLang="en-US">
                <a:solidFill>
                  <a:srgbClr val="FF0000"/>
                </a:solidFill>
              </a:rPr>
              <a:t>基于启发式规则的存取路径选择优化</a:t>
            </a:r>
            <a:endParaRPr lang="en-US" altLang="zh-CN">
              <a:solidFill>
                <a:srgbClr val="FF0000"/>
              </a:solidFill>
            </a:endParaRPr>
          </a:p>
          <a:p>
            <a:endParaRPr lang="zh-CN" altLang="en-US"/>
          </a:p>
        </p:txBody>
      </p:sp>
      <p:sp>
        <p:nvSpPr>
          <p:cNvPr id="4" name="灯片编号占位符 3">
            <a:extLst>
              <a:ext uri="{FF2B5EF4-FFF2-40B4-BE49-F238E27FC236}">
                <a16:creationId xmlns:a16="http://schemas.microsoft.com/office/drawing/2014/main" id="{A1B08685-E1DD-46B8-A592-2AF8603BBB17}"/>
              </a:ext>
            </a:extLst>
          </p:cNvPr>
          <p:cNvSpPr>
            <a:spLocks noGrp="1"/>
          </p:cNvSpPr>
          <p:nvPr>
            <p:ph type="sldNum" sz="quarter" idx="12"/>
          </p:nvPr>
        </p:nvSpPr>
        <p:spPr/>
        <p:txBody>
          <a:bodyPr/>
          <a:lstStyle/>
          <a:p>
            <a:fld id="{E63F6D5D-9733-4D44-9C56-AEFEDD5A4BA7}" type="slidenum">
              <a:rPr lang="en-US" smtClean="0"/>
              <a:pPr/>
              <a:t>35</a:t>
            </a:fld>
            <a:endParaRPr lang="en-US" dirty="0"/>
          </a:p>
        </p:txBody>
      </p:sp>
      <p:graphicFrame>
        <p:nvGraphicFramePr>
          <p:cNvPr id="5" name="表格 4">
            <a:extLst>
              <a:ext uri="{FF2B5EF4-FFF2-40B4-BE49-F238E27FC236}">
                <a16:creationId xmlns:a16="http://schemas.microsoft.com/office/drawing/2014/main" id="{E05375A8-53F0-4644-80BF-75EC64341756}"/>
              </a:ext>
            </a:extLst>
          </p:cNvPr>
          <p:cNvGraphicFramePr>
            <a:graphicFrameLocks noGrp="1"/>
          </p:cNvGraphicFramePr>
          <p:nvPr>
            <p:extLst>
              <p:ext uri="{D42A27DB-BD31-4B8C-83A1-F6EECF244321}">
                <p14:modId xmlns:p14="http://schemas.microsoft.com/office/powerpoint/2010/main" val="1999004948"/>
              </p:ext>
            </p:extLst>
          </p:nvPr>
        </p:nvGraphicFramePr>
        <p:xfrm>
          <a:off x="838200" y="1896254"/>
          <a:ext cx="10287000" cy="3861816"/>
        </p:xfrm>
        <a:graphic>
          <a:graphicData uri="http://schemas.openxmlformats.org/drawingml/2006/table">
            <a:tbl>
              <a:tblPr firstRow="1" bandRow="1">
                <a:tableStyleId>{5DA37D80-6434-44D0-A028-1B22A696006F}</a:tableStyleId>
              </a:tblPr>
              <a:tblGrid>
                <a:gridCol w="5388429">
                  <a:extLst>
                    <a:ext uri="{9D8B030D-6E8A-4147-A177-3AD203B41FA5}">
                      <a16:colId xmlns:a16="http://schemas.microsoft.com/office/drawing/2014/main" val="2227699877"/>
                    </a:ext>
                  </a:extLst>
                </a:gridCol>
                <a:gridCol w="4898571">
                  <a:extLst>
                    <a:ext uri="{9D8B030D-6E8A-4147-A177-3AD203B41FA5}">
                      <a16:colId xmlns:a16="http://schemas.microsoft.com/office/drawing/2014/main" val="506818027"/>
                    </a:ext>
                  </a:extLst>
                </a:gridCol>
              </a:tblGrid>
              <a:tr h="370840">
                <a:tc>
                  <a:txBody>
                    <a:bodyPr/>
                    <a:lstStyle/>
                    <a:p>
                      <a:pPr algn="ctr">
                        <a:lnSpc>
                          <a:spcPct val="100000"/>
                        </a:lnSpc>
                      </a:pPr>
                      <a:r>
                        <a:rPr lang="zh-CN" altLang="en-US" sz="2400" b="1" dirty="0">
                          <a:solidFill>
                            <a:srgbClr val="0000FF"/>
                          </a:solidFill>
                          <a:latin typeface="微软雅黑" panose="020B0503020204020204" pitchFamily="34" charset="-122"/>
                          <a:ea typeface="微软雅黑" panose="020B0503020204020204" pitchFamily="34" charset="-122"/>
                        </a:rPr>
                        <a:t>条件</a:t>
                      </a:r>
                    </a:p>
                  </a:txBody>
                  <a:tcPr anchor="ctr"/>
                </a:tc>
                <a:tc>
                  <a:txBody>
                    <a:bodyPr/>
                    <a:lstStyle/>
                    <a:p>
                      <a:pPr algn="ctr">
                        <a:lnSpc>
                          <a:spcPct val="100000"/>
                        </a:lnSpc>
                      </a:pPr>
                      <a:r>
                        <a:rPr lang="zh-CN" altLang="en-US" sz="2400" b="1">
                          <a:solidFill>
                            <a:srgbClr val="FF0000"/>
                          </a:solidFill>
                          <a:latin typeface="微软雅黑" panose="020B0503020204020204" pitchFamily="34" charset="-122"/>
                          <a:ea typeface="微软雅黑" panose="020B0503020204020204" pitchFamily="34" charset="-122"/>
                        </a:rPr>
                        <a:t>连接操作</a:t>
                      </a:r>
                      <a:r>
                        <a:rPr lang="zh-CN" altLang="en-US" sz="2400" b="1">
                          <a:solidFill>
                            <a:srgbClr val="0000FF"/>
                          </a:solidFill>
                          <a:latin typeface="微软雅黑" panose="020B0503020204020204" pitchFamily="34" charset="-122"/>
                          <a:ea typeface="微软雅黑" panose="020B0503020204020204" pitchFamily="34" charset="-122"/>
                        </a:rPr>
                        <a:t>的启发式规则</a:t>
                      </a:r>
                    </a:p>
                  </a:txBody>
                  <a:tcPr anchor="ctr"/>
                </a:tc>
                <a:extLst>
                  <a:ext uri="{0D108BD9-81ED-4DB2-BD59-A6C34878D82A}">
                    <a16:rowId xmlns:a16="http://schemas.microsoft.com/office/drawing/2014/main" val="405877627"/>
                  </a:ext>
                </a:extLst>
              </a:tr>
              <a:tr h="370840">
                <a:tc>
                  <a:txBody>
                    <a:bodyPr/>
                    <a:lstStyle/>
                    <a:p>
                      <a:pPr>
                        <a:lnSpc>
                          <a:spcPct val="150000"/>
                        </a:lnSpc>
                      </a:pPr>
                      <a:r>
                        <a:rPr lang="en-US" altLang="zh-CN" sz="2000" b="0" dirty="0">
                          <a:solidFill>
                            <a:srgbClr val="7030A0"/>
                          </a:solidFill>
                          <a:latin typeface="微软雅黑" panose="020B0503020204020204" pitchFamily="34" charset="-122"/>
                          <a:ea typeface="微软雅黑" panose="020B0503020204020204" pitchFamily="34" charset="-122"/>
                        </a:rPr>
                        <a:t>1.</a:t>
                      </a:r>
                      <a:r>
                        <a:rPr lang="zh-CN" altLang="en-US" sz="2000" b="0" dirty="0">
                          <a:solidFill>
                            <a:srgbClr val="7030A0"/>
                          </a:solidFill>
                          <a:latin typeface="微软雅黑" panose="020B0503020204020204" pitchFamily="34" charset="-122"/>
                          <a:ea typeface="微软雅黑" panose="020B0503020204020204" pitchFamily="34" charset="-122"/>
                        </a:rPr>
                        <a:t>如果</a:t>
                      </a:r>
                      <a:r>
                        <a:rPr lang="en-US" altLang="zh-CN" sz="2000" b="0" dirty="0">
                          <a:solidFill>
                            <a:srgbClr val="7030A0"/>
                          </a:solidFill>
                          <a:latin typeface="微软雅黑" panose="020B0503020204020204" pitchFamily="34" charset="-122"/>
                          <a:ea typeface="微软雅黑" panose="020B0503020204020204" pitchFamily="34" charset="-122"/>
                        </a:rPr>
                        <a:t>2</a:t>
                      </a:r>
                      <a:r>
                        <a:rPr lang="zh-CN" altLang="en-US" sz="2000" b="0" dirty="0">
                          <a:solidFill>
                            <a:srgbClr val="7030A0"/>
                          </a:solidFill>
                          <a:latin typeface="微软雅黑" panose="020B0503020204020204" pitchFamily="34" charset="-122"/>
                          <a:ea typeface="微软雅黑" panose="020B0503020204020204" pitchFamily="34" charset="-122"/>
                        </a:rPr>
                        <a:t>个表都已经按照连接属性排序</a:t>
                      </a:r>
                    </a:p>
                  </a:txBody>
                  <a:tcPr anchor="ctr"/>
                </a:tc>
                <a:tc>
                  <a:txBody>
                    <a:bodyPr/>
                    <a:lstStyle/>
                    <a:p>
                      <a:pPr marL="179388" indent="-179388">
                        <a:lnSpc>
                          <a:spcPct val="100000"/>
                        </a:lnSpc>
                        <a:buFont typeface="Arial" panose="020B0604020202020204" pitchFamily="34" charset="0"/>
                        <a:buChar char="•"/>
                      </a:pPr>
                      <a:r>
                        <a:rPr lang="zh-CN" altLang="en-US" sz="2000" b="0" dirty="0">
                          <a:latin typeface="微软雅黑" panose="020B0503020204020204" pitchFamily="34" charset="-122"/>
                          <a:ea typeface="微软雅黑" panose="020B0503020204020204" pitchFamily="34" charset="-122"/>
                        </a:rPr>
                        <a:t>选用排序</a:t>
                      </a:r>
                      <a:r>
                        <a:rPr lang="en-US" altLang="zh-CN" sz="2000" b="0" dirty="0">
                          <a:latin typeface="微软雅黑" panose="020B0503020204020204" pitchFamily="34" charset="-122"/>
                          <a:ea typeface="微软雅黑" panose="020B0503020204020204" pitchFamily="34" charset="-122"/>
                        </a:rPr>
                        <a:t>-</a:t>
                      </a:r>
                      <a:r>
                        <a:rPr lang="zh-CN" altLang="en-US" sz="2000" b="0" dirty="0">
                          <a:latin typeface="微软雅黑" panose="020B0503020204020204" pitchFamily="34" charset="-122"/>
                          <a:ea typeface="微软雅黑" panose="020B0503020204020204" pitchFamily="34" charset="-122"/>
                        </a:rPr>
                        <a:t>合并算法</a:t>
                      </a:r>
                      <a:endParaRPr lang="zh-CN" altLang="en-US" sz="1800" b="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829642423"/>
                  </a:ext>
                </a:extLst>
              </a:tr>
              <a:tr h="370840">
                <a:tc>
                  <a:txBody>
                    <a:bodyPr/>
                    <a:lstStyle/>
                    <a:p>
                      <a:pPr>
                        <a:lnSpc>
                          <a:spcPct val="150000"/>
                        </a:lnSpc>
                      </a:pPr>
                      <a:r>
                        <a:rPr lang="en-US" altLang="zh-CN" sz="2000" b="0" dirty="0">
                          <a:solidFill>
                            <a:srgbClr val="7030A0"/>
                          </a:solidFill>
                          <a:latin typeface="微软雅黑" panose="020B0503020204020204" pitchFamily="34" charset="-122"/>
                          <a:ea typeface="微软雅黑" panose="020B0503020204020204" pitchFamily="34" charset="-122"/>
                        </a:rPr>
                        <a:t>2.</a:t>
                      </a:r>
                      <a:r>
                        <a:rPr lang="zh-CN" altLang="en-US" sz="2000" b="0" dirty="0">
                          <a:solidFill>
                            <a:srgbClr val="7030A0"/>
                          </a:solidFill>
                          <a:latin typeface="微软雅黑" panose="020B0503020204020204" pitchFamily="34" charset="-122"/>
                          <a:ea typeface="微软雅黑" panose="020B0503020204020204" pitchFamily="34" charset="-122"/>
                        </a:rPr>
                        <a:t>如果一个表在连接属性上有索引</a:t>
                      </a:r>
                      <a:endParaRPr lang="en-US" altLang="zh-CN" sz="2000" b="0" dirty="0">
                        <a:solidFill>
                          <a:srgbClr val="7030A0"/>
                        </a:solidFill>
                        <a:latin typeface="微软雅黑" panose="020B0503020204020204" pitchFamily="34" charset="-122"/>
                        <a:ea typeface="微软雅黑" panose="020B0503020204020204" pitchFamily="34" charset="-122"/>
                      </a:endParaRPr>
                    </a:p>
                  </a:txBody>
                  <a:tcPr anchor="ctr"/>
                </a:tc>
                <a:tc>
                  <a:txBody>
                    <a:bodyPr/>
                    <a:lstStyle/>
                    <a:p>
                      <a:pPr marL="179388" indent="-179388">
                        <a:lnSpc>
                          <a:spcPct val="100000"/>
                        </a:lnSpc>
                        <a:buFont typeface="Arial" panose="020B0604020202020204" pitchFamily="34" charset="0"/>
                        <a:buChar char="•"/>
                      </a:pPr>
                      <a:r>
                        <a:rPr lang="zh-CN" altLang="en-US" sz="2000" b="0" dirty="0">
                          <a:solidFill>
                            <a:srgbClr val="FF0000"/>
                          </a:solidFill>
                          <a:latin typeface="微软雅黑" panose="020B0503020204020204" pitchFamily="34" charset="-122"/>
                          <a:ea typeface="微软雅黑" panose="020B0503020204020204" pitchFamily="34" charset="-122"/>
                        </a:rPr>
                        <a:t>选用索引连接算法</a:t>
                      </a:r>
                    </a:p>
                  </a:txBody>
                  <a:tcPr anchor="ctr"/>
                </a:tc>
                <a:extLst>
                  <a:ext uri="{0D108BD9-81ED-4DB2-BD59-A6C34878D82A}">
                    <a16:rowId xmlns:a16="http://schemas.microsoft.com/office/drawing/2014/main" val="2380820062"/>
                  </a:ext>
                </a:extLst>
              </a:tr>
              <a:tr h="370840">
                <a:tc>
                  <a:txBody>
                    <a:bodyPr/>
                    <a:lstStyle/>
                    <a:p>
                      <a:pPr>
                        <a:lnSpc>
                          <a:spcPct val="150000"/>
                        </a:lnSpc>
                      </a:pPr>
                      <a:r>
                        <a:rPr lang="en-US" altLang="zh-CN" sz="2000" b="0">
                          <a:solidFill>
                            <a:srgbClr val="7030A0"/>
                          </a:solidFill>
                          <a:latin typeface="微软雅黑" panose="020B0503020204020204" pitchFamily="34" charset="-122"/>
                          <a:ea typeface="微软雅黑" panose="020B0503020204020204" pitchFamily="34" charset="-122"/>
                        </a:rPr>
                        <a:t>3.</a:t>
                      </a:r>
                      <a:r>
                        <a:rPr lang="zh-CN" altLang="en-US" sz="2000" b="0">
                          <a:solidFill>
                            <a:srgbClr val="7030A0"/>
                          </a:solidFill>
                          <a:latin typeface="微软雅黑" panose="020B0503020204020204" pitchFamily="34" charset="-122"/>
                          <a:ea typeface="微软雅黑" panose="020B0503020204020204" pitchFamily="34" charset="-122"/>
                        </a:rPr>
                        <a:t>如果上面</a:t>
                      </a:r>
                      <a:r>
                        <a:rPr lang="en-US" altLang="zh-CN" sz="2000" b="0">
                          <a:solidFill>
                            <a:srgbClr val="7030A0"/>
                          </a:solidFill>
                          <a:latin typeface="微软雅黑" panose="020B0503020204020204" pitchFamily="34" charset="-122"/>
                          <a:ea typeface="微软雅黑" panose="020B0503020204020204" pitchFamily="34" charset="-122"/>
                        </a:rPr>
                        <a:t>2</a:t>
                      </a:r>
                      <a:r>
                        <a:rPr lang="zh-CN" altLang="en-US" sz="2000" b="0">
                          <a:solidFill>
                            <a:srgbClr val="7030A0"/>
                          </a:solidFill>
                          <a:latin typeface="微软雅黑" panose="020B0503020204020204" pitchFamily="34" charset="-122"/>
                          <a:ea typeface="微软雅黑" panose="020B0503020204020204" pitchFamily="34" charset="-122"/>
                        </a:rPr>
                        <a:t>个规则都不适用，其中一个表较小</a:t>
                      </a:r>
                      <a:endParaRPr lang="en-US" altLang="zh-CN" sz="2000" b="0">
                        <a:solidFill>
                          <a:srgbClr val="7030A0"/>
                        </a:solidFill>
                        <a:latin typeface="微软雅黑" panose="020B0503020204020204" pitchFamily="34" charset="-122"/>
                        <a:ea typeface="微软雅黑" panose="020B0503020204020204" pitchFamily="34" charset="-122"/>
                      </a:endParaRPr>
                    </a:p>
                  </a:txBody>
                  <a:tcPr anchor="ctr"/>
                </a:tc>
                <a:tc>
                  <a:txBody>
                    <a:bodyPr/>
                    <a:lstStyle/>
                    <a:p>
                      <a:pPr marL="179388" marR="0" lvl="0" indent="-179388"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000" b="0" dirty="0">
                          <a:latin typeface="微软雅黑" panose="020B0503020204020204" pitchFamily="34" charset="-122"/>
                          <a:ea typeface="微软雅黑" panose="020B0503020204020204" pitchFamily="34" charset="-122"/>
                        </a:rPr>
                        <a:t>选用</a:t>
                      </a:r>
                      <a:r>
                        <a:rPr lang="en-US" altLang="zh-CN" sz="2000" b="0" dirty="0">
                          <a:latin typeface="微软雅黑" panose="020B0503020204020204" pitchFamily="34" charset="-122"/>
                          <a:ea typeface="微软雅黑" panose="020B0503020204020204" pitchFamily="34" charset="-122"/>
                        </a:rPr>
                        <a:t>Hash-join</a:t>
                      </a:r>
                      <a:r>
                        <a:rPr lang="zh-CN" altLang="en-US" sz="2000" b="0" dirty="0">
                          <a:latin typeface="微软雅黑" panose="020B0503020204020204" pitchFamily="34" charset="-122"/>
                          <a:ea typeface="微软雅黑" panose="020B0503020204020204" pitchFamily="34" charset="-122"/>
                        </a:rPr>
                        <a:t>算法</a:t>
                      </a:r>
                      <a:endParaRPr lang="zh-CN" altLang="en-US" sz="1800" b="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219437209"/>
                  </a:ext>
                </a:extLst>
              </a:tr>
              <a:tr h="370840">
                <a:tc>
                  <a:txBody>
                    <a:bodyPr/>
                    <a:lstStyle/>
                    <a:p>
                      <a:pPr>
                        <a:lnSpc>
                          <a:spcPct val="150000"/>
                        </a:lnSpc>
                      </a:pPr>
                      <a:r>
                        <a:rPr lang="en-US" altLang="zh-CN" sz="2000" b="0">
                          <a:solidFill>
                            <a:srgbClr val="7030A0"/>
                          </a:solidFill>
                          <a:latin typeface="微软雅黑" panose="020B0503020204020204" pitchFamily="34" charset="-122"/>
                          <a:ea typeface="微软雅黑" panose="020B0503020204020204" pitchFamily="34" charset="-122"/>
                        </a:rPr>
                        <a:t>4.</a:t>
                      </a:r>
                      <a:r>
                        <a:rPr lang="zh-CN" altLang="en-US" sz="2000" b="0">
                          <a:solidFill>
                            <a:srgbClr val="7030A0"/>
                          </a:solidFill>
                          <a:latin typeface="微软雅黑" panose="020B0503020204020204" pitchFamily="34" charset="-122"/>
                          <a:ea typeface="微软雅黑" panose="020B0503020204020204" pitchFamily="34" charset="-122"/>
                        </a:rPr>
                        <a:t>选用嵌套循环方法，并选择其中较小的表，确切地讲是占用的块数</a:t>
                      </a:r>
                      <a:r>
                        <a:rPr lang="en-US" altLang="zh-CN" sz="2000" b="0">
                          <a:solidFill>
                            <a:srgbClr val="7030A0"/>
                          </a:solidFill>
                          <a:latin typeface="微软雅黑" panose="020B0503020204020204" pitchFamily="34" charset="-122"/>
                          <a:ea typeface="微软雅黑" panose="020B0503020204020204" pitchFamily="34" charset="-122"/>
                        </a:rPr>
                        <a:t>(B)</a:t>
                      </a:r>
                      <a:r>
                        <a:rPr lang="zh-CN" altLang="en-US" sz="2000" b="0">
                          <a:solidFill>
                            <a:srgbClr val="7030A0"/>
                          </a:solidFill>
                          <a:latin typeface="微软雅黑" panose="020B0503020204020204" pitchFamily="34" charset="-122"/>
                          <a:ea typeface="微软雅黑" panose="020B0503020204020204" pitchFamily="34" charset="-122"/>
                        </a:rPr>
                        <a:t>较少的表，作为外表</a:t>
                      </a:r>
                      <a:r>
                        <a:rPr lang="en-US" altLang="zh-CN" sz="2000" b="0">
                          <a:solidFill>
                            <a:srgbClr val="7030A0"/>
                          </a:solidFill>
                          <a:latin typeface="微软雅黑" panose="020B0503020204020204" pitchFamily="34" charset="-122"/>
                          <a:ea typeface="微软雅黑" panose="020B0503020204020204" pitchFamily="34" charset="-122"/>
                        </a:rPr>
                        <a:t>(</a:t>
                      </a:r>
                      <a:r>
                        <a:rPr lang="zh-CN" altLang="en-US" sz="2000" b="0">
                          <a:solidFill>
                            <a:srgbClr val="7030A0"/>
                          </a:solidFill>
                          <a:latin typeface="微软雅黑" panose="020B0503020204020204" pitchFamily="34" charset="-122"/>
                          <a:ea typeface="微软雅黑" panose="020B0503020204020204" pitchFamily="34" charset="-122"/>
                        </a:rPr>
                        <a:t>外循环的表</a:t>
                      </a:r>
                      <a:r>
                        <a:rPr lang="en-US" altLang="zh-CN" sz="2000" b="0">
                          <a:solidFill>
                            <a:srgbClr val="7030A0"/>
                          </a:solidFill>
                          <a:latin typeface="微软雅黑" panose="020B0503020204020204" pitchFamily="34" charset="-122"/>
                          <a:ea typeface="微软雅黑" panose="020B0503020204020204" pitchFamily="34" charset="-122"/>
                        </a:rPr>
                        <a:t>) </a:t>
                      </a:r>
                    </a:p>
                  </a:txBody>
                  <a:tcPr anchor="ctr"/>
                </a:tc>
                <a:tc>
                  <a:txBody>
                    <a:bodyPr/>
                    <a:lstStyle/>
                    <a:p>
                      <a:pPr marL="179388" indent="-179388">
                        <a:lnSpc>
                          <a:spcPct val="10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设连接表</a:t>
                      </a:r>
                      <a:r>
                        <a:rPr lang="en-US" altLang="zh-CN" sz="2000" b="0" dirty="0">
                          <a:solidFill>
                            <a:schemeClr val="tx1"/>
                          </a:solidFill>
                          <a:latin typeface="微软雅黑" panose="020B0503020204020204" pitchFamily="34" charset="-122"/>
                          <a:ea typeface="微软雅黑" panose="020B0503020204020204" pitchFamily="34" charset="-122"/>
                        </a:rPr>
                        <a:t>R</a:t>
                      </a:r>
                      <a:r>
                        <a:rPr lang="zh-CN" altLang="en-US" sz="2000" b="0" dirty="0">
                          <a:solidFill>
                            <a:schemeClr val="tx1"/>
                          </a:solidFill>
                          <a:latin typeface="微软雅黑" panose="020B0503020204020204" pitchFamily="34" charset="-122"/>
                          <a:ea typeface="微软雅黑" panose="020B0503020204020204" pitchFamily="34" charset="-122"/>
                        </a:rPr>
                        <a:t>与</a:t>
                      </a:r>
                      <a:r>
                        <a:rPr lang="en-US" altLang="zh-CN" sz="2000" b="0" dirty="0">
                          <a:solidFill>
                            <a:schemeClr val="tx1"/>
                          </a:solidFill>
                          <a:latin typeface="微软雅黑" panose="020B0503020204020204" pitchFamily="34" charset="-122"/>
                          <a:ea typeface="微软雅黑" panose="020B0503020204020204" pitchFamily="34" charset="-122"/>
                        </a:rPr>
                        <a:t>S</a:t>
                      </a:r>
                      <a:r>
                        <a:rPr lang="zh-CN" altLang="en-US" sz="2000" b="0" dirty="0">
                          <a:solidFill>
                            <a:schemeClr val="tx1"/>
                          </a:solidFill>
                          <a:latin typeface="微软雅黑" panose="020B0503020204020204" pitchFamily="34" charset="-122"/>
                          <a:ea typeface="微软雅黑" panose="020B0503020204020204" pitchFamily="34" charset="-122"/>
                        </a:rPr>
                        <a:t>分别占用的块数为</a:t>
                      </a:r>
                      <a:r>
                        <a:rPr lang="en-US" altLang="zh-CN" sz="2000" b="0" dirty="0">
                          <a:solidFill>
                            <a:srgbClr val="FF0000"/>
                          </a:solidFill>
                          <a:latin typeface="微软雅黑" panose="020B0503020204020204" pitchFamily="34" charset="-122"/>
                          <a:ea typeface="微软雅黑" panose="020B0503020204020204" pitchFamily="34" charset="-122"/>
                        </a:rPr>
                        <a:t>Br</a:t>
                      </a:r>
                      <a:r>
                        <a:rPr lang="zh-CN" altLang="en-US" sz="2000" b="0" dirty="0">
                          <a:solidFill>
                            <a:schemeClr val="tx1"/>
                          </a:solidFill>
                          <a:latin typeface="微软雅黑" panose="020B0503020204020204" pitchFamily="34" charset="-122"/>
                          <a:ea typeface="微软雅黑" panose="020B0503020204020204" pitchFamily="34" charset="-122"/>
                        </a:rPr>
                        <a:t>与</a:t>
                      </a:r>
                      <a:r>
                        <a:rPr lang="en-US" altLang="zh-CN" sz="2000" b="0" dirty="0">
                          <a:solidFill>
                            <a:srgbClr val="FF0000"/>
                          </a:solidFill>
                          <a:latin typeface="微软雅黑" panose="020B0503020204020204" pitchFamily="34" charset="-122"/>
                          <a:ea typeface="微软雅黑" panose="020B0503020204020204" pitchFamily="34" charset="-122"/>
                        </a:rPr>
                        <a:t>Bs</a:t>
                      </a:r>
                    </a:p>
                    <a:p>
                      <a:pPr marL="179388" indent="-179388">
                        <a:lnSpc>
                          <a:spcPct val="10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连接操作使用的内存缓冲区块数为</a:t>
                      </a:r>
                      <a:r>
                        <a:rPr lang="en-US" altLang="zh-CN" sz="2000" b="0" dirty="0">
                          <a:solidFill>
                            <a:srgbClr val="FF0000"/>
                          </a:solidFill>
                          <a:latin typeface="微软雅黑" panose="020B0503020204020204" pitchFamily="34" charset="-122"/>
                          <a:ea typeface="微软雅黑" panose="020B0503020204020204" pitchFamily="34" charset="-122"/>
                        </a:rPr>
                        <a:t>K</a:t>
                      </a:r>
                    </a:p>
                    <a:p>
                      <a:pPr marL="179388" indent="-179388">
                        <a:lnSpc>
                          <a:spcPct val="10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分配</a:t>
                      </a:r>
                      <a:r>
                        <a:rPr lang="en-US" altLang="zh-CN" sz="2000" b="0" dirty="0">
                          <a:solidFill>
                            <a:srgbClr val="FF0000"/>
                          </a:solidFill>
                          <a:latin typeface="微软雅黑" panose="020B0503020204020204" pitchFamily="34" charset="-122"/>
                          <a:ea typeface="微软雅黑" panose="020B0503020204020204" pitchFamily="34" charset="-122"/>
                        </a:rPr>
                        <a:t>K-1</a:t>
                      </a:r>
                      <a:r>
                        <a:rPr lang="zh-CN" altLang="en-US" sz="2000" b="0" dirty="0">
                          <a:solidFill>
                            <a:schemeClr val="tx1"/>
                          </a:solidFill>
                          <a:latin typeface="微软雅黑" panose="020B0503020204020204" pitchFamily="34" charset="-122"/>
                          <a:ea typeface="微软雅黑" panose="020B0503020204020204" pitchFamily="34" charset="-122"/>
                        </a:rPr>
                        <a:t>块给外表</a:t>
                      </a:r>
                    </a:p>
                    <a:p>
                      <a:pPr marL="179388" indent="-179388">
                        <a:lnSpc>
                          <a:spcPct val="10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如果</a:t>
                      </a:r>
                      <a:r>
                        <a:rPr lang="en-US" altLang="zh-CN" sz="2000" b="0" dirty="0">
                          <a:solidFill>
                            <a:schemeClr val="tx1"/>
                          </a:solidFill>
                          <a:latin typeface="微软雅黑" panose="020B0503020204020204" pitchFamily="34" charset="-122"/>
                          <a:ea typeface="微软雅黑" panose="020B0503020204020204" pitchFamily="34" charset="-122"/>
                        </a:rPr>
                        <a:t>R</a:t>
                      </a:r>
                      <a:r>
                        <a:rPr lang="zh-CN" altLang="en-US" sz="2000" b="0" dirty="0">
                          <a:solidFill>
                            <a:schemeClr val="tx1"/>
                          </a:solidFill>
                          <a:latin typeface="微软雅黑" panose="020B0503020204020204" pitchFamily="34" charset="-122"/>
                          <a:ea typeface="微软雅黑" panose="020B0503020204020204" pitchFamily="34" charset="-122"/>
                        </a:rPr>
                        <a:t>为外表，则嵌套循环法存取的块数为</a:t>
                      </a:r>
                      <a:r>
                        <a:rPr lang="en-US" altLang="zh-CN" sz="2000" b="0" dirty="0" err="1">
                          <a:solidFill>
                            <a:srgbClr val="FF0000"/>
                          </a:solidFill>
                          <a:latin typeface="微软雅黑" panose="020B0503020204020204" pitchFamily="34" charset="-122"/>
                          <a:ea typeface="微软雅黑" panose="020B0503020204020204" pitchFamily="34" charset="-122"/>
                        </a:rPr>
                        <a:t>Br+BrBs</a:t>
                      </a:r>
                      <a:r>
                        <a:rPr lang="en-US" altLang="zh-CN" sz="2000" b="0" dirty="0">
                          <a:solidFill>
                            <a:srgbClr val="FF0000"/>
                          </a:solidFill>
                          <a:latin typeface="微软雅黑" panose="020B0503020204020204" pitchFamily="34" charset="-122"/>
                          <a:ea typeface="微软雅黑" panose="020B0503020204020204" pitchFamily="34" charset="-122"/>
                        </a:rPr>
                        <a:t>/(K-1)</a:t>
                      </a:r>
                    </a:p>
                    <a:p>
                      <a:pPr marL="179388" indent="-179388">
                        <a:lnSpc>
                          <a:spcPct val="100000"/>
                        </a:lnSpc>
                        <a:buFont typeface="Arial" panose="020B0604020202020204" pitchFamily="34" charset="0"/>
                        <a:buChar char="•"/>
                      </a:pPr>
                      <a:r>
                        <a:rPr lang="zh-CN" altLang="en-US" sz="2000" b="0" dirty="0">
                          <a:solidFill>
                            <a:schemeClr val="tx1"/>
                          </a:solidFill>
                          <a:latin typeface="微软雅黑" panose="020B0503020204020204" pitchFamily="34" charset="-122"/>
                          <a:ea typeface="微软雅黑" panose="020B0503020204020204" pitchFamily="34" charset="-122"/>
                        </a:rPr>
                        <a:t>显然应该</a:t>
                      </a:r>
                      <a:r>
                        <a:rPr lang="zh-CN" altLang="en-US" sz="2000" b="0" dirty="0">
                          <a:solidFill>
                            <a:srgbClr val="FF0000"/>
                          </a:solidFill>
                          <a:latin typeface="微软雅黑" panose="020B0503020204020204" pitchFamily="34" charset="-122"/>
                          <a:ea typeface="微软雅黑" panose="020B0503020204020204" pitchFamily="34" charset="-122"/>
                        </a:rPr>
                        <a:t>选块数小的表作为外表 </a:t>
                      </a:r>
                    </a:p>
                  </a:txBody>
                  <a:tcPr anchor="ctr"/>
                </a:tc>
                <a:extLst>
                  <a:ext uri="{0D108BD9-81ED-4DB2-BD59-A6C34878D82A}">
                    <a16:rowId xmlns:a16="http://schemas.microsoft.com/office/drawing/2014/main" val="2203435444"/>
                  </a:ext>
                </a:extLst>
              </a:tr>
            </a:tbl>
          </a:graphicData>
        </a:graphic>
      </p:graphicFrame>
      <p:sp>
        <p:nvSpPr>
          <p:cNvPr id="6" name="标题 1">
            <a:extLst>
              <a:ext uri="{FF2B5EF4-FFF2-40B4-BE49-F238E27FC236}">
                <a16:creationId xmlns:a16="http://schemas.microsoft.com/office/drawing/2014/main" id="{09A7C957-8A1C-4B55-A546-6F9E4C113985}"/>
              </a:ext>
            </a:extLst>
          </p:cNvPr>
          <p:cNvSpPr>
            <a:spLocks noGrp="1"/>
          </p:cNvSpPr>
          <p:nvPr>
            <p:ph type="title"/>
          </p:nvPr>
        </p:nvSpPr>
        <p:spPr>
          <a:xfrm>
            <a:off x="1281113" y="238125"/>
            <a:ext cx="9553575" cy="512763"/>
          </a:xfrm>
        </p:spPr>
        <p:txBody>
          <a:bodyPr/>
          <a:lstStyle/>
          <a:p>
            <a:r>
              <a:rPr lang="en-US" altLang="zh-CN" dirty="0"/>
              <a:t>9.4 </a:t>
            </a:r>
            <a:r>
              <a:rPr lang="zh-CN" altLang="en-US" dirty="0"/>
              <a:t>物理优化</a:t>
            </a:r>
          </a:p>
        </p:txBody>
      </p:sp>
    </p:spTree>
    <p:extLst>
      <p:ext uri="{BB962C8B-B14F-4D97-AF65-F5344CB8AC3E}">
        <p14:creationId xmlns:p14="http://schemas.microsoft.com/office/powerpoint/2010/main" val="3272054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AC89C8C-B727-4EDA-9837-D24CA166484A}"/>
              </a:ext>
            </a:extLst>
          </p:cNvPr>
          <p:cNvSpPr>
            <a:spLocks noGrp="1"/>
          </p:cNvSpPr>
          <p:nvPr>
            <p:ph idx="1"/>
          </p:nvPr>
        </p:nvSpPr>
        <p:spPr/>
        <p:txBody>
          <a:bodyPr/>
          <a:lstStyle/>
          <a:p>
            <a:r>
              <a:rPr lang="zh-CN" altLang="en-US" dirty="0">
                <a:solidFill>
                  <a:srgbClr val="FF0000"/>
                </a:solidFill>
              </a:rPr>
              <a:t>基于代价的优化</a:t>
            </a:r>
            <a:endParaRPr lang="en-US" altLang="zh-CN" dirty="0">
              <a:solidFill>
                <a:srgbClr val="FF0000"/>
              </a:solidFill>
            </a:endParaRPr>
          </a:p>
          <a:p>
            <a:endParaRPr lang="zh-CN" altLang="en-US" dirty="0"/>
          </a:p>
        </p:txBody>
      </p:sp>
      <p:sp>
        <p:nvSpPr>
          <p:cNvPr id="4" name="灯片编号占位符 3">
            <a:extLst>
              <a:ext uri="{FF2B5EF4-FFF2-40B4-BE49-F238E27FC236}">
                <a16:creationId xmlns:a16="http://schemas.microsoft.com/office/drawing/2014/main" id="{2730FCC0-6530-424F-AD5E-35ED70310034}"/>
              </a:ext>
            </a:extLst>
          </p:cNvPr>
          <p:cNvSpPr>
            <a:spLocks noGrp="1"/>
          </p:cNvSpPr>
          <p:nvPr>
            <p:ph type="sldNum" sz="quarter" idx="12"/>
          </p:nvPr>
        </p:nvSpPr>
        <p:spPr/>
        <p:txBody>
          <a:bodyPr/>
          <a:lstStyle/>
          <a:p>
            <a:fld id="{E63F6D5D-9733-4D44-9C56-AEFEDD5A4BA7}" type="slidenum">
              <a:rPr lang="en-US" smtClean="0"/>
              <a:pPr/>
              <a:t>36</a:t>
            </a:fld>
            <a:endParaRPr lang="en-US" dirty="0"/>
          </a:p>
        </p:txBody>
      </p:sp>
      <p:graphicFrame>
        <p:nvGraphicFramePr>
          <p:cNvPr id="5" name="内容占位符 4">
            <a:extLst>
              <a:ext uri="{FF2B5EF4-FFF2-40B4-BE49-F238E27FC236}">
                <a16:creationId xmlns:a16="http://schemas.microsoft.com/office/drawing/2014/main" id="{FA4BA258-7572-434A-A426-16F4233D70A3}"/>
              </a:ext>
            </a:extLst>
          </p:cNvPr>
          <p:cNvGraphicFramePr>
            <a:graphicFrameLocks/>
          </p:cNvGraphicFramePr>
          <p:nvPr>
            <p:extLst>
              <p:ext uri="{D42A27DB-BD31-4B8C-83A1-F6EECF244321}">
                <p14:modId xmlns:p14="http://schemas.microsoft.com/office/powerpoint/2010/main" val="2891945212"/>
              </p:ext>
            </p:extLst>
          </p:nvPr>
        </p:nvGraphicFramePr>
        <p:xfrm>
          <a:off x="762000" y="1828800"/>
          <a:ext cx="10591800" cy="4242816"/>
        </p:xfrm>
        <a:graphic>
          <a:graphicData uri="http://schemas.openxmlformats.org/drawingml/2006/table">
            <a:tbl>
              <a:tblPr firstRow="1" bandRow="1">
                <a:tableStyleId>{8A107856-5554-42FB-B03E-39F5DBC370BA}</a:tableStyleId>
              </a:tblPr>
              <a:tblGrid>
                <a:gridCol w="5372100">
                  <a:extLst>
                    <a:ext uri="{9D8B030D-6E8A-4147-A177-3AD203B41FA5}">
                      <a16:colId xmlns:a16="http://schemas.microsoft.com/office/drawing/2014/main" val="459342338"/>
                    </a:ext>
                  </a:extLst>
                </a:gridCol>
                <a:gridCol w="5219700">
                  <a:extLst>
                    <a:ext uri="{9D8B030D-6E8A-4147-A177-3AD203B41FA5}">
                      <a16:colId xmlns:a16="http://schemas.microsoft.com/office/drawing/2014/main" val="2042270144"/>
                    </a:ext>
                  </a:extLst>
                </a:gridCol>
              </a:tblGrid>
              <a:tr h="370840">
                <a:tc>
                  <a:txBody>
                    <a:bodyPr/>
                    <a:lstStyle/>
                    <a:p>
                      <a:pPr algn="ctr"/>
                      <a:r>
                        <a:rPr lang="zh-CN" altLang="en-US" sz="2800" dirty="0">
                          <a:solidFill>
                            <a:srgbClr val="0000FF"/>
                          </a:solidFill>
                          <a:latin typeface="微软雅黑" panose="020B0503020204020204" pitchFamily="34" charset="-122"/>
                          <a:ea typeface="微软雅黑" panose="020B0503020204020204" pitchFamily="34" charset="-122"/>
                        </a:rPr>
                        <a:t>启发式规则的优化</a:t>
                      </a:r>
                    </a:p>
                  </a:txBody>
                  <a:tcPr/>
                </a:tc>
                <a:tc>
                  <a:txBody>
                    <a:bodyPr/>
                    <a:lstStyle/>
                    <a:p>
                      <a:pPr algn="ctr"/>
                      <a:r>
                        <a:rPr lang="zh-CN" altLang="en-US" sz="2800">
                          <a:solidFill>
                            <a:srgbClr val="0000FF"/>
                          </a:solidFill>
                          <a:latin typeface="微软雅黑" panose="020B0503020204020204" pitchFamily="34" charset="-122"/>
                          <a:ea typeface="微软雅黑" panose="020B0503020204020204" pitchFamily="34" charset="-122"/>
                        </a:rPr>
                        <a:t>基于代价的优化</a:t>
                      </a:r>
                    </a:p>
                  </a:txBody>
                  <a:tcPr/>
                </a:tc>
                <a:extLst>
                  <a:ext uri="{0D108BD9-81ED-4DB2-BD59-A6C34878D82A}">
                    <a16:rowId xmlns:a16="http://schemas.microsoft.com/office/drawing/2014/main" val="4232250426"/>
                  </a:ext>
                </a:extLst>
              </a:tr>
              <a:tr h="370840">
                <a:tc>
                  <a:txBody>
                    <a:bodyPr/>
                    <a:lstStyle/>
                    <a:p>
                      <a:pPr marL="457200" indent="-457200">
                        <a:lnSpc>
                          <a:spcPct val="13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rPr>
                        <a:t>定性选择</a:t>
                      </a:r>
                      <a:endParaRPr lang="en-US" altLang="zh-CN" sz="2400">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r>
                        <a:rPr lang="zh-CN" altLang="en-US" sz="2400">
                          <a:solidFill>
                            <a:srgbClr val="FF0000"/>
                          </a:solidFill>
                          <a:latin typeface="微软雅黑" panose="020B0503020204020204" pitchFamily="34" charset="-122"/>
                          <a:ea typeface="微软雅黑" panose="020B0503020204020204" pitchFamily="34" charset="-122"/>
                        </a:rPr>
                        <a:t>较粗糙</a:t>
                      </a:r>
                      <a:endParaRPr lang="en-US" altLang="zh-CN" sz="2400">
                        <a:solidFill>
                          <a:srgbClr val="FF0000"/>
                        </a:solidFill>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r>
                        <a:rPr lang="zh-CN" altLang="en-US" sz="2400">
                          <a:solidFill>
                            <a:srgbClr val="FF0000"/>
                          </a:solidFill>
                          <a:latin typeface="微软雅黑" panose="020B0503020204020204" pitchFamily="34" charset="-122"/>
                          <a:ea typeface="微软雅黑" panose="020B0503020204020204" pitchFamily="34" charset="-122"/>
                        </a:rPr>
                        <a:t>实现简单</a:t>
                      </a:r>
                      <a:endParaRPr lang="en-US" altLang="zh-CN" sz="2400">
                        <a:solidFill>
                          <a:srgbClr val="FF0000"/>
                        </a:solidFill>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r>
                        <a:rPr lang="zh-CN" altLang="en-US" sz="2400">
                          <a:solidFill>
                            <a:srgbClr val="FF0000"/>
                          </a:solidFill>
                          <a:latin typeface="微软雅黑" panose="020B0503020204020204" pitchFamily="34" charset="-122"/>
                          <a:ea typeface="微软雅黑" panose="020B0503020204020204" pitchFamily="34" charset="-122"/>
                        </a:rPr>
                        <a:t>优化本身的代价较小</a:t>
                      </a:r>
                      <a:endParaRPr lang="en-US" altLang="zh-CN" sz="2400">
                        <a:solidFill>
                          <a:srgbClr val="FF0000"/>
                        </a:solidFill>
                        <a:latin typeface="微软雅黑" panose="020B0503020204020204" pitchFamily="34" charset="-122"/>
                        <a:ea typeface="微软雅黑" panose="020B0503020204020204" pitchFamily="34" charset="-122"/>
                      </a:endParaRPr>
                    </a:p>
                    <a:p>
                      <a:pPr marL="457200" indent="-457200">
                        <a:lnSpc>
                          <a:spcPct val="130000"/>
                        </a:lnSpc>
                        <a:buFont typeface="Arial" panose="020B0604020202020204" pitchFamily="34" charset="0"/>
                        <a:buChar char="•"/>
                      </a:pPr>
                      <a:r>
                        <a:rPr lang="zh-CN" altLang="en-US" sz="2400">
                          <a:solidFill>
                            <a:schemeClr val="tx1"/>
                          </a:solidFill>
                          <a:latin typeface="微软雅黑" panose="020B0503020204020204" pitchFamily="34" charset="-122"/>
                          <a:ea typeface="微软雅黑" panose="020B0503020204020204" pitchFamily="34" charset="-122"/>
                        </a:rPr>
                        <a:t>适合解释执行的系统</a:t>
                      </a:r>
                      <a:endParaRPr lang="en-US" altLang="zh-CN" sz="2400">
                        <a:solidFill>
                          <a:schemeClr val="tx1"/>
                        </a:solidFill>
                        <a:latin typeface="微软雅黑" panose="020B0503020204020204" pitchFamily="34" charset="-122"/>
                        <a:ea typeface="微软雅黑" panose="020B0503020204020204" pitchFamily="34" charset="-122"/>
                      </a:endParaRPr>
                    </a:p>
                    <a:p>
                      <a:pPr marL="536575" indent="357188">
                        <a:lnSpc>
                          <a:spcPct val="130000"/>
                        </a:lnSpc>
                        <a:buClr>
                          <a:srgbClr val="0000FF"/>
                        </a:buClr>
                        <a:buFont typeface="Wingdings" panose="05000000000000000000" pitchFamily="2" charset="2"/>
                        <a:buChar char="Ø"/>
                      </a:pPr>
                      <a:r>
                        <a:rPr lang="zh-CN" altLang="en-US" sz="1600">
                          <a:solidFill>
                            <a:schemeClr val="tx1"/>
                          </a:solidFill>
                          <a:latin typeface="微软雅黑" panose="020B0503020204020204" pitchFamily="34" charset="-122"/>
                          <a:ea typeface="微软雅黑" panose="020B0503020204020204" pitchFamily="34" charset="-122"/>
                        </a:rPr>
                        <a:t>解释执行的系统其优化开销包含在查询总开销中</a:t>
                      </a:r>
                      <a:endParaRPr lang="en-US" altLang="zh-CN" sz="1600">
                        <a:solidFill>
                          <a:schemeClr val="tx1"/>
                        </a:solidFill>
                        <a:latin typeface="微软雅黑" panose="020B0503020204020204" pitchFamily="34" charset="-122"/>
                        <a:ea typeface="微软雅黑" panose="020B0503020204020204" pitchFamily="34" charset="-122"/>
                      </a:endParaRPr>
                    </a:p>
                    <a:p>
                      <a:pPr marL="536575" indent="357188">
                        <a:lnSpc>
                          <a:spcPct val="130000"/>
                        </a:lnSpc>
                        <a:buClr>
                          <a:srgbClr val="0000FF"/>
                        </a:buClr>
                        <a:buFont typeface="Wingdings" panose="05000000000000000000" pitchFamily="2" charset="2"/>
                        <a:buChar char="Ø"/>
                      </a:pPr>
                      <a:r>
                        <a:rPr lang="zh-CN" altLang="en-US" sz="1600">
                          <a:solidFill>
                            <a:schemeClr val="tx1"/>
                          </a:solidFill>
                          <a:latin typeface="微软雅黑" panose="020B0503020204020204" pitchFamily="34" charset="-122"/>
                          <a:ea typeface="微软雅黑" panose="020B0503020204020204" pitchFamily="34" charset="-122"/>
                        </a:rPr>
                        <a:t>在编译执行的系统中，一次编译优化，多次执行，查询优化和查询执行是分开执行的</a:t>
                      </a:r>
                      <a:endParaRPr lang="en-US" altLang="zh-CN" sz="1600">
                        <a:solidFill>
                          <a:schemeClr val="tx1"/>
                        </a:solidFill>
                        <a:latin typeface="微软雅黑" panose="020B0503020204020204" pitchFamily="34" charset="-122"/>
                        <a:ea typeface="微软雅黑" panose="020B0503020204020204" pitchFamily="34" charset="-122"/>
                      </a:endParaRPr>
                    </a:p>
                  </a:txBody>
                  <a:tcPr>
                    <a:solidFill>
                      <a:schemeClr val="bg1">
                        <a:lumMod val="95000"/>
                      </a:schemeClr>
                    </a:solidFill>
                  </a:tcPr>
                </a:tc>
                <a:tc>
                  <a:txBody>
                    <a:bodyPr/>
                    <a:lstStyle/>
                    <a:p>
                      <a:pPr marL="457200" marR="0" lvl="0" indent="-457200" algn="l" defTabSz="51435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量化、精细复杂</a:t>
                      </a:r>
                      <a:endPar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514350" rtl="0" eaLnBrk="1" fontAlgn="auto" latinLnBrk="0" hangingPunct="1">
                        <a:lnSpc>
                          <a:spcPct val="130000"/>
                        </a:lnSpc>
                        <a:spcBef>
                          <a:spcPts val="0"/>
                        </a:spcBef>
                        <a:spcAft>
                          <a:spcPts val="0"/>
                        </a:spcAft>
                        <a:buClrTx/>
                        <a:buSzTx/>
                        <a:buFont typeface="Arial" panose="020B0604020202020204" pitchFamily="34" charset="0"/>
                        <a:buChar char="•"/>
                        <a:tabLst/>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统计信息</a:t>
                      </a:r>
                      <a:r>
                        <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存储在数据字典中</a:t>
                      </a:r>
                      <a:r>
                        <a:rPr kumimoji="0" lang="en-US" altLang="zh-CN"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a:t>
                      </a:r>
                      <a:endParaRPr kumimoji="0" lang="en-US" altLang="zh-CN" sz="24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endParaRPr>
                    </a:p>
                    <a:p>
                      <a:pPr marL="804863" marR="0" lvl="0" indent="-268288" algn="l" defTabSz="51435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基于规则的启发式优化每个基本表的元组总数</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(N)</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、元组长度</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(l )</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、占用的块数</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(B )</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、占用的溢出块</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(BO )</a:t>
                      </a:r>
                    </a:p>
                    <a:p>
                      <a:pPr marL="804863" marR="0" lvl="0" indent="-268288" algn="l" defTabSz="51435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每个基本表的每列，该列不同值的个数</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(m)</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、该列最大值和最小值、该列是否建立了索引、索引类型</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(B+</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树、</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hash</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索引</a:t>
                      </a:r>
                      <a:r>
                        <a:rPr kumimoji="0" lang="zh-CN" altLang="en-US" sz="1600" b="0" i="0" u="none" strike="noStrike" kern="1200" cap="none" spc="0" normalizeH="0" baseline="0" noProof="0">
                          <a:ln>
                            <a:noFill/>
                          </a:ln>
                          <a:solidFill>
                            <a:srgbClr val="0000FF"/>
                          </a:solidFill>
                          <a:effectLst/>
                          <a:uLnTx/>
                          <a:uFillTx/>
                          <a:latin typeface="微软雅黑" panose="020B0503020204020204" pitchFamily="34" charset="-122"/>
                          <a:ea typeface="微软雅黑" panose="020B0503020204020204" pitchFamily="34" charset="-122"/>
                          <a:cs typeface="+mn-cs"/>
                        </a:rPr>
                        <a:t>、聚合索引</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。谓词条件的选择率</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(f )</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，如果不同值的分布是均匀的，</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f=1/m</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；如果不同值的分布不均匀，则计算每个值的选择率， </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f=</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具有该值的元组数</a:t>
                      </a:r>
                      <a:r>
                        <a:rPr kumimoji="0" lang="en-US" altLang="zh-CN"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/N</a:t>
                      </a:r>
                    </a:p>
                    <a:p>
                      <a:pPr marL="804863" marR="0" lvl="0" indent="-268288" algn="l" defTabSz="51435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对索引，</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索引的层数</a:t>
                      </a:r>
                      <a:r>
                        <a:rPr kumimoji="0" lang="en-US" altLang="zh-CN"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(L)</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、不同索引值的个数、索引的</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选择基数</a:t>
                      </a:r>
                      <a:r>
                        <a:rPr kumimoji="0" lang="en-US" altLang="zh-CN"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(S)</a:t>
                      </a:r>
                      <a:r>
                        <a:rPr kumimoji="0" lang="zh-CN" altLang="en-US" sz="1600" b="0" i="0" u="none" strike="noStrike" kern="120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a:t>
                      </a:r>
                      <a:r>
                        <a:rPr kumimoji="0" lang="zh-CN" altLang="en-US"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索引的叶结点数</a:t>
                      </a:r>
                      <a:r>
                        <a:rPr kumimoji="0" lang="en-US" altLang="zh-CN" sz="16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(Y)</a:t>
                      </a:r>
                    </a:p>
                  </a:txBody>
                  <a:tcPr>
                    <a:solidFill>
                      <a:schemeClr val="bg1">
                        <a:lumMod val="95000"/>
                      </a:schemeClr>
                    </a:solidFill>
                  </a:tcPr>
                </a:tc>
                <a:extLst>
                  <a:ext uri="{0D108BD9-81ED-4DB2-BD59-A6C34878D82A}">
                    <a16:rowId xmlns:a16="http://schemas.microsoft.com/office/drawing/2014/main" val="4044706944"/>
                  </a:ext>
                </a:extLst>
              </a:tr>
            </a:tbl>
          </a:graphicData>
        </a:graphic>
      </p:graphicFrame>
      <p:sp>
        <p:nvSpPr>
          <p:cNvPr id="6" name="标题 1">
            <a:extLst>
              <a:ext uri="{FF2B5EF4-FFF2-40B4-BE49-F238E27FC236}">
                <a16:creationId xmlns:a16="http://schemas.microsoft.com/office/drawing/2014/main" id="{55D7C2B7-D693-4C7F-9C20-41B2B01777E8}"/>
              </a:ext>
            </a:extLst>
          </p:cNvPr>
          <p:cNvSpPr>
            <a:spLocks noGrp="1"/>
          </p:cNvSpPr>
          <p:nvPr>
            <p:ph type="title"/>
          </p:nvPr>
        </p:nvSpPr>
        <p:spPr>
          <a:xfrm>
            <a:off x="1281113" y="238125"/>
            <a:ext cx="9553575" cy="512763"/>
          </a:xfrm>
        </p:spPr>
        <p:txBody>
          <a:bodyPr/>
          <a:lstStyle/>
          <a:p>
            <a:r>
              <a:rPr lang="en-US" altLang="zh-CN" dirty="0"/>
              <a:t>9.4 </a:t>
            </a:r>
            <a:r>
              <a:rPr lang="zh-CN" altLang="en-US" dirty="0"/>
              <a:t>物理优化</a:t>
            </a:r>
          </a:p>
        </p:txBody>
      </p:sp>
    </p:spTree>
    <p:extLst>
      <p:ext uri="{BB962C8B-B14F-4D97-AF65-F5344CB8AC3E}">
        <p14:creationId xmlns:p14="http://schemas.microsoft.com/office/powerpoint/2010/main" val="1234929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4E5E69DA-8DF6-460F-ABB7-16EC2BBB7A47}"/>
              </a:ext>
            </a:extLst>
          </p:cNvPr>
          <p:cNvSpPr>
            <a:spLocks noGrp="1"/>
          </p:cNvSpPr>
          <p:nvPr>
            <p:ph idx="1"/>
          </p:nvPr>
        </p:nvSpPr>
        <p:spPr/>
        <p:txBody>
          <a:bodyPr/>
          <a:lstStyle/>
          <a:p>
            <a:r>
              <a:rPr lang="zh-CN" altLang="en-US">
                <a:solidFill>
                  <a:srgbClr val="FF0000"/>
                </a:solidFill>
              </a:rPr>
              <a:t>不同算法的代价估算</a:t>
            </a:r>
            <a:endParaRPr lang="en-US" altLang="zh-CN">
              <a:solidFill>
                <a:srgbClr val="FF0000"/>
              </a:solidFill>
            </a:endParaRPr>
          </a:p>
          <a:p>
            <a:endParaRPr lang="zh-CN" altLang="en-US"/>
          </a:p>
        </p:txBody>
      </p:sp>
      <p:sp>
        <p:nvSpPr>
          <p:cNvPr id="4" name="灯片编号占位符 3">
            <a:extLst>
              <a:ext uri="{FF2B5EF4-FFF2-40B4-BE49-F238E27FC236}">
                <a16:creationId xmlns:a16="http://schemas.microsoft.com/office/drawing/2014/main" id="{153FAAB4-481D-4190-BD48-66AD536B12CB}"/>
              </a:ext>
            </a:extLst>
          </p:cNvPr>
          <p:cNvSpPr>
            <a:spLocks noGrp="1"/>
          </p:cNvSpPr>
          <p:nvPr>
            <p:ph type="sldNum" sz="quarter" idx="12"/>
          </p:nvPr>
        </p:nvSpPr>
        <p:spPr/>
        <p:txBody>
          <a:bodyPr/>
          <a:lstStyle/>
          <a:p>
            <a:fld id="{E63F6D5D-9733-4D44-9C56-AEFEDD5A4BA7}" type="slidenum">
              <a:rPr lang="en-US" smtClean="0"/>
              <a:pPr/>
              <a:t>37</a:t>
            </a:fld>
            <a:endParaRPr lang="en-US" dirty="0"/>
          </a:p>
        </p:txBody>
      </p:sp>
      <p:graphicFrame>
        <p:nvGraphicFramePr>
          <p:cNvPr id="7" name="表格 6">
            <a:extLst>
              <a:ext uri="{FF2B5EF4-FFF2-40B4-BE49-F238E27FC236}">
                <a16:creationId xmlns:a16="http://schemas.microsoft.com/office/drawing/2014/main" id="{94BB238C-9569-4E2F-B1AD-1CB8DF76FDC0}"/>
              </a:ext>
            </a:extLst>
          </p:cNvPr>
          <p:cNvGraphicFramePr>
            <a:graphicFrameLocks noGrp="1"/>
          </p:cNvGraphicFramePr>
          <p:nvPr>
            <p:extLst>
              <p:ext uri="{D42A27DB-BD31-4B8C-83A1-F6EECF244321}">
                <p14:modId xmlns:p14="http://schemas.microsoft.com/office/powerpoint/2010/main" val="3358301623"/>
              </p:ext>
            </p:extLst>
          </p:nvPr>
        </p:nvGraphicFramePr>
        <p:xfrm>
          <a:off x="762000" y="1799893"/>
          <a:ext cx="10397436" cy="4003040"/>
        </p:xfrm>
        <a:graphic>
          <a:graphicData uri="http://schemas.openxmlformats.org/drawingml/2006/table">
            <a:tbl>
              <a:tblPr firstRow="1" bandRow="1">
                <a:tableStyleId>{8A107856-5554-42FB-B03E-39F5DBC370BA}</a:tableStyleId>
              </a:tblPr>
              <a:tblGrid>
                <a:gridCol w="2138657">
                  <a:extLst>
                    <a:ext uri="{9D8B030D-6E8A-4147-A177-3AD203B41FA5}">
                      <a16:colId xmlns:a16="http://schemas.microsoft.com/office/drawing/2014/main" val="2087296978"/>
                    </a:ext>
                  </a:extLst>
                </a:gridCol>
                <a:gridCol w="8258779">
                  <a:extLst>
                    <a:ext uri="{9D8B030D-6E8A-4147-A177-3AD203B41FA5}">
                      <a16:colId xmlns:a16="http://schemas.microsoft.com/office/drawing/2014/main" val="3054423557"/>
                    </a:ext>
                  </a:extLst>
                </a:gridCol>
              </a:tblGrid>
              <a:tr h="370840">
                <a:tc>
                  <a:txBody>
                    <a:bodyPr/>
                    <a:lstStyle/>
                    <a:p>
                      <a:pPr algn="ctr"/>
                      <a:r>
                        <a:rPr lang="zh-CN" altLang="en-US" sz="2800" b="1" kern="1200" dirty="0">
                          <a:solidFill>
                            <a:srgbClr val="0000FF"/>
                          </a:solidFill>
                          <a:latin typeface="微软雅黑" panose="020B0503020204020204" pitchFamily="34" charset="-122"/>
                          <a:ea typeface="微软雅黑" panose="020B0503020204020204" pitchFamily="34" charset="-122"/>
                          <a:cs typeface="+mn-cs"/>
                        </a:rPr>
                        <a:t>算法类型</a:t>
                      </a:r>
                    </a:p>
                  </a:txBody>
                  <a:tcPr anchor="ctr"/>
                </a:tc>
                <a:tc>
                  <a:txBody>
                    <a:bodyPr/>
                    <a:lstStyle/>
                    <a:p>
                      <a:pPr marL="0" algn="ctr" defTabSz="514350" rtl="0" eaLnBrk="1" latinLnBrk="0" hangingPunct="1"/>
                      <a:r>
                        <a:rPr lang="zh-CN" altLang="en-US" sz="2800" b="1" kern="1200">
                          <a:solidFill>
                            <a:srgbClr val="0000FF"/>
                          </a:solidFill>
                          <a:latin typeface="微软雅黑" panose="020B0503020204020204" pitchFamily="34" charset="-122"/>
                          <a:ea typeface="微软雅黑" panose="020B0503020204020204" pitchFamily="34" charset="-122"/>
                          <a:cs typeface="+mn-cs"/>
                        </a:rPr>
                        <a:t>代价估算</a:t>
                      </a:r>
                    </a:p>
                  </a:txBody>
                  <a:tcPr/>
                </a:tc>
                <a:extLst>
                  <a:ext uri="{0D108BD9-81ED-4DB2-BD59-A6C34878D82A}">
                    <a16:rowId xmlns:a16="http://schemas.microsoft.com/office/drawing/2014/main" val="2627311825"/>
                  </a:ext>
                </a:extLst>
              </a:tr>
              <a:tr h="370840">
                <a:tc rowSpan="2">
                  <a:txBody>
                    <a:bodyPr/>
                    <a:lstStyle/>
                    <a:p>
                      <a:pPr>
                        <a:lnSpc>
                          <a:spcPct val="150000"/>
                        </a:lnSpc>
                      </a:pPr>
                      <a:r>
                        <a:rPr lang="zh-CN" altLang="en-US" sz="2400" dirty="0">
                          <a:solidFill>
                            <a:srgbClr val="008000"/>
                          </a:solidFill>
                          <a:latin typeface="微软雅黑" panose="020B0503020204020204" pitchFamily="34" charset="-122"/>
                          <a:ea typeface="微软雅黑" panose="020B0503020204020204" pitchFamily="34" charset="-122"/>
                        </a:rPr>
                        <a:t>全表扫描算法</a:t>
                      </a:r>
                    </a:p>
                  </a:txBody>
                  <a:tcPr anchor="ct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如果基本表大小为</a:t>
                      </a:r>
                      <a:r>
                        <a:rPr lang="en-US" altLang="zh-CN" sz="1800">
                          <a:solidFill>
                            <a:srgbClr val="FF0000"/>
                          </a:solidFill>
                          <a:latin typeface="微软雅黑" panose="020B0503020204020204" pitchFamily="34" charset="-122"/>
                          <a:ea typeface="微软雅黑" panose="020B0503020204020204" pitchFamily="34" charset="-122"/>
                        </a:rPr>
                        <a:t>B</a:t>
                      </a:r>
                      <a:r>
                        <a:rPr lang="zh-CN" altLang="en-US" sz="1800">
                          <a:latin typeface="微软雅黑" panose="020B0503020204020204" pitchFamily="34" charset="-122"/>
                          <a:ea typeface="微软雅黑" panose="020B0503020204020204" pitchFamily="34" charset="-122"/>
                        </a:rPr>
                        <a:t>块，代价为 </a:t>
                      </a:r>
                      <a:r>
                        <a:rPr lang="en-US" altLang="zh-CN" sz="1800">
                          <a:solidFill>
                            <a:srgbClr val="FF0000"/>
                          </a:solidFill>
                          <a:latin typeface="微软雅黑" panose="020B0503020204020204" pitchFamily="34" charset="-122"/>
                          <a:ea typeface="微软雅黑" panose="020B0503020204020204" pitchFamily="34" charset="-122"/>
                        </a:rPr>
                        <a:t>cost =B</a:t>
                      </a:r>
                    </a:p>
                  </a:txBody>
                  <a:tcPr/>
                </a:tc>
                <a:extLst>
                  <a:ext uri="{0D108BD9-81ED-4DB2-BD59-A6C34878D82A}">
                    <a16:rowId xmlns:a16="http://schemas.microsoft.com/office/drawing/2014/main" val="1922178221"/>
                  </a:ext>
                </a:extLst>
              </a:tr>
              <a:tr h="370840">
                <a:tc vMerge="1">
                  <a:txBody>
                    <a:bodyPr/>
                    <a:lstStyle/>
                    <a:p>
                      <a:endParaRPr lang="zh-CN" altLang="en-US" sz="2400">
                        <a:latin typeface="微软雅黑" panose="020B0503020204020204" pitchFamily="34" charset="-122"/>
                        <a:ea typeface="微软雅黑" panose="020B0503020204020204" pitchFamily="34" charset="-122"/>
                      </a:endParaRPr>
                    </a:p>
                  </a:txBody>
                  <a:tcP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如果选择条件是</a:t>
                      </a:r>
                      <a:r>
                        <a:rPr lang="zh-CN" altLang="en-US" sz="1800">
                          <a:solidFill>
                            <a:srgbClr val="FF0000"/>
                          </a:solidFill>
                          <a:latin typeface="微软雅黑" panose="020B0503020204020204" pitchFamily="34" charset="-122"/>
                          <a:ea typeface="微软雅黑" panose="020B0503020204020204" pitchFamily="34" charset="-122"/>
                        </a:rPr>
                        <a:t>“码</a:t>
                      </a:r>
                      <a:r>
                        <a:rPr lang="en-US" altLang="zh-CN" sz="1800">
                          <a:solidFill>
                            <a:srgbClr val="FF0000"/>
                          </a:solidFill>
                          <a:latin typeface="微软雅黑" panose="020B0503020204020204" pitchFamily="34" charset="-122"/>
                          <a:ea typeface="微软雅黑" panose="020B0503020204020204" pitchFamily="34" charset="-122"/>
                        </a:rPr>
                        <a:t>=</a:t>
                      </a:r>
                      <a:r>
                        <a:rPr lang="zh-CN" altLang="en-US" sz="1800">
                          <a:solidFill>
                            <a:srgbClr val="FF0000"/>
                          </a:solidFill>
                          <a:latin typeface="微软雅黑" panose="020B0503020204020204" pitchFamily="34" charset="-122"/>
                          <a:ea typeface="微软雅黑" panose="020B0503020204020204" pitchFamily="34" charset="-122"/>
                        </a:rPr>
                        <a:t>值”</a:t>
                      </a:r>
                      <a:r>
                        <a:rPr lang="zh-CN" altLang="en-US" sz="1800">
                          <a:latin typeface="微软雅黑" panose="020B0503020204020204" pitchFamily="34" charset="-122"/>
                          <a:ea typeface="微软雅黑" panose="020B0503020204020204" pitchFamily="34" charset="-122"/>
                        </a:rPr>
                        <a:t>，则平均搜索代价 </a:t>
                      </a:r>
                      <a:r>
                        <a:rPr lang="en-US" altLang="zh-CN" sz="1800">
                          <a:solidFill>
                            <a:srgbClr val="FF0000"/>
                          </a:solidFill>
                          <a:latin typeface="微软雅黑" panose="020B0503020204020204" pitchFamily="34" charset="-122"/>
                          <a:ea typeface="微软雅黑" panose="020B0503020204020204" pitchFamily="34" charset="-122"/>
                        </a:rPr>
                        <a:t>cost =B/2</a:t>
                      </a:r>
                    </a:p>
                  </a:txBody>
                  <a:tcPr/>
                </a:tc>
                <a:extLst>
                  <a:ext uri="{0D108BD9-81ED-4DB2-BD59-A6C34878D82A}">
                    <a16:rowId xmlns:a16="http://schemas.microsoft.com/office/drawing/2014/main" val="94808859"/>
                  </a:ext>
                </a:extLst>
              </a:tr>
              <a:tr h="370840">
                <a:tc rowSpan="3">
                  <a:txBody>
                    <a:bodyPr/>
                    <a:lstStyle/>
                    <a:p>
                      <a:endParaRPr lang="en-US" altLang="zh-CN" sz="2400" kern="1200" dirty="0">
                        <a:solidFill>
                          <a:srgbClr val="008000"/>
                        </a:solidFill>
                        <a:latin typeface="微软雅黑" panose="020B0503020204020204" pitchFamily="34" charset="-122"/>
                        <a:ea typeface="微软雅黑" panose="020B0503020204020204" pitchFamily="34" charset="-122"/>
                        <a:cs typeface="+mn-cs"/>
                      </a:endParaRPr>
                    </a:p>
                    <a:p>
                      <a:endParaRPr lang="en-US" altLang="zh-CN" sz="2400" kern="1200" dirty="0">
                        <a:solidFill>
                          <a:srgbClr val="008000"/>
                        </a:solidFill>
                        <a:latin typeface="微软雅黑" panose="020B0503020204020204" pitchFamily="34" charset="-122"/>
                        <a:ea typeface="微软雅黑" panose="020B0503020204020204" pitchFamily="34" charset="-122"/>
                        <a:cs typeface="+mn-cs"/>
                      </a:endParaRPr>
                    </a:p>
                    <a:p>
                      <a:endParaRPr lang="en-US" altLang="zh-CN" sz="2400" kern="1200" dirty="0">
                        <a:solidFill>
                          <a:srgbClr val="008000"/>
                        </a:solidFill>
                        <a:latin typeface="微软雅黑" panose="020B0503020204020204" pitchFamily="34" charset="-122"/>
                        <a:ea typeface="微软雅黑" panose="020B0503020204020204" pitchFamily="34" charset="-122"/>
                        <a:cs typeface="+mn-cs"/>
                      </a:endParaRPr>
                    </a:p>
                    <a:p>
                      <a:r>
                        <a:rPr lang="zh-CN" altLang="en-US" sz="2400" kern="1200" dirty="0">
                          <a:solidFill>
                            <a:srgbClr val="008000"/>
                          </a:solidFill>
                          <a:latin typeface="微软雅黑" panose="020B0503020204020204" pitchFamily="34" charset="-122"/>
                          <a:ea typeface="微软雅黑" panose="020B0503020204020204" pitchFamily="34" charset="-122"/>
                          <a:cs typeface="+mn-cs"/>
                        </a:rPr>
                        <a:t>索引扫描算法</a:t>
                      </a:r>
                    </a:p>
                  </a:txBody>
                  <a:tcPr anchor="ctr"/>
                </a:tc>
                <a:tc>
                  <a:txBody>
                    <a:bodyPr/>
                    <a:lstStyle/>
                    <a:p>
                      <a:pPr marL="285750" indent="-285750">
                        <a:buFont typeface="Arial" panose="020B0604020202020204" pitchFamily="34" charset="0"/>
                        <a:buChar char="•"/>
                      </a:pPr>
                      <a:r>
                        <a:rPr lang="zh-CN" altLang="en-US" sz="1800">
                          <a:latin typeface="微软雅黑" panose="020B0503020204020204" pitchFamily="34" charset="-122"/>
                          <a:ea typeface="微软雅黑" panose="020B0503020204020204" pitchFamily="34" charset="-122"/>
                        </a:rPr>
                        <a:t>如果选择条件是</a:t>
                      </a:r>
                      <a:r>
                        <a:rPr lang="zh-CN" altLang="en-US" sz="1800">
                          <a:solidFill>
                            <a:srgbClr val="FF0000"/>
                          </a:solidFill>
                          <a:latin typeface="微软雅黑" panose="020B0503020204020204" pitchFamily="34" charset="-122"/>
                          <a:ea typeface="微软雅黑" panose="020B0503020204020204" pitchFamily="34" charset="-122"/>
                        </a:rPr>
                        <a:t>“码</a:t>
                      </a:r>
                      <a:r>
                        <a:rPr lang="en-US" altLang="zh-CN" sz="1800">
                          <a:solidFill>
                            <a:srgbClr val="FF0000"/>
                          </a:solidFill>
                          <a:latin typeface="微软雅黑" panose="020B0503020204020204" pitchFamily="34" charset="-122"/>
                          <a:ea typeface="微软雅黑" panose="020B0503020204020204" pitchFamily="34" charset="-122"/>
                        </a:rPr>
                        <a:t>=</a:t>
                      </a:r>
                      <a:r>
                        <a:rPr lang="zh-CN" altLang="en-US" sz="1800">
                          <a:solidFill>
                            <a:srgbClr val="FF0000"/>
                          </a:solidFill>
                          <a:latin typeface="微软雅黑" panose="020B0503020204020204" pitchFamily="34" charset="-122"/>
                          <a:ea typeface="微软雅黑" panose="020B0503020204020204" pitchFamily="34" charset="-122"/>
                        </a:rPr>
                        <a:t>值”</a:t>
                      </a:r>
                      <a:r>
                        <a:rPr lang="zh-CN" altLang="en-US" sz="1800">
                          <a:latin typeface="微软雅黑" panose="020B0503020204020204" pitchFamily="34" charset="-122"/>
                          <a:ea typeface="微软雅黑" panose="020B0503020204020204" pitchFamily="34" charset="-122"/>
                        </a:rPr>
                        <a:t>，则采用该表的主索引，若为</a:t>
                      </a:r>
                      <a:r>
                        <a:rPr lang="en-US" altLang="zh-CN" sz="1800">
                          <a:latin typeface="微软雅黑" panose="020B0503020204020204" pitchFamily="34" charset="-122"/>
                          <a:ea typeface="微软雅黑" panose="020B0503020204020204" pitchFamily="34" charset="-122"/>
                        </a:rPr>
                        <a:t>B+</a:t>
                      </a:r>
                      <a:r>
                        <a:rPr lang="zh-CN" altLang="en-US" sz="1800">
                          <a:latin typeface="微软雅黑" panose="020B0503020204020204" pitchFamily="34" charset="-122"/>
                          <a:ea typeface="微软雅黑" panose="020B0503020204020204" pitchFamily="34" charset="-122"/>
                        </a:rPr>
                        <a:t>树，层数为</a:t>
                      </a:r>
                      <a:r>
                        <a:rPr lang="en-US" altLang="zh-CN" sz="1800">
                          <a:solidFill>
                            <a:srgbClr val="FF0000"/>
                          </a:solidFill>
                          <a:latin typeface="微软雅黑" panose="020B0503020204020204" pitchFamily="34" charset="-122"/>
                          <a:ea typeface="微软雅黑" panose="020B0503020204020204" pitchFamily="34" charset="-122"/>
                        </a:rPr>
                        <a:t>L</a:t>
                      </a:r>
                      <a:r>
                        <a:rPr lang="zh-CN" altLang="en-US" sz="1800">
                          <a:latin typeface="微软雅黑" panose="020B0503020204020204" pitchFamily="34" charset="-122"/>
                          <a:ea typeface="微软雅黑" panose="020B0503020204020204" pitchFamily="34" charset="-122"/>
                        </a:rPr>
                        <a:t>，需要存取</a:t>
                      </a:r>
                      <a:r>
                        <a:rPr lang="en-US" altLang="zh-CN" sz="1800">
                          <a:latin typeface="微软雅黑" panose="020B0503020204020204" pitchFamily="34" charset="-122"/>
                          <a:ea typeface="微软雅黑" panose="020B0503020204020204" pitchFamily="34" charset="-122"/>
                        </a:rPr>
                        <a:t>B+</a:t>
                      </a:r>
                      <a:r>
                        <a:rPr lang="zh-CN" altLang="en-US" sz="1800">
                          <a:latin typeface="微软雅黑" panose="020B0503020204020204" pitchFamily="34" charset="-122"/>
                          <a:ea typeface="微软雅黑" panose="020B0503020204020204" pitchFamily="34" charset="-122"/>
                        </a:rPr>
                        <a:t>树中从根结点到叶结点</a:t>
                      </a:r>
                      <a:r>
                        <a:rPr lang="en-US" altLang="zh-CN" sz="1800">
                          <a:latin typeface="微软雅黑" panose="020B0503020204020204" pitchFamily="34" charset="-122"/>
                          <a:ea typeface="微软雅黑" panose="020B0503020204020204" pitchFamily="34" charset="-122"/>
                        </a:rPr>
                        <a:t>L</a:t>
                      </a:r>
                      <a:r>
                        <a:rPr lang="zh-CN" altLang="en-US" sz="1800">
                          <a:latin typeface="微软雅黑" panose="020B0503020204020204" pitchFamily="34" charset="-122"/>
                          <a:ea typeface="微软雅黑" panose="020B0503020204020204" pitchFamily="34" charset="-122"/>
                        </a:rPr>
                        <a:t>块，再加上基本表中该元组所在的那一块，所以 </a:t>
                      </a:r>
                      <a:r>
                        <a:rPr lang="en-US" altLang="zh-CN" sz="1800">
                          <a:solidFill>
                            <a:srgbClr val="FF0000"/>
                          </a:solidFill>
                          <a:latin typeface="微软雅黑" panose="020B0503020204020204" pitchFamily="34" charset="-122"/>
                          <a:ea typeface="微软雅黑" panose="020B0503020204020204" pitchFamily="34" charset="-122"/>
                        </a:rPr>
                        <a:t>cost=L+1</a:t>
                      </a:r>
                    </a:p>
                  </a:txBody>
                  <a:tcPr/>
                </a:tc>
                <a:extLst>
                  <a:ext uri="{0D108BD9-81ED-4DB2-BD59-A6C34878D82A}">
                    <a16:rowId xmlns:a16="http://schemas.microsoft.com/office/drawing/2014/main" val="3768252385"/>
                  </a:ext>
                </a:extLst>
              </a:tr>
              <a:tr h="370840">
                <a:tc vMerge="1">
                  <a:txBody>
                    <a:bodyPr/>
                    <a:lstStyle/>
                    <a:p>
                      <a:endParaRPr lang="zh-CN" altLang="en-US" sz="2400">
                        <a:latin typeface="微软雅黑" panose="020B0503020204020204" pitchFamily="34" charset="-122"/>
                        <a:ea typeface="微软雅黑" panose="020B0503020204020204" pitchFamily="34" charset="-122"/>
                      </a:endParaRPr>
                    </a:p>
                  </a:txBody>
                  <a:tcPr/>
                </a:tc>
                <a:tc>
                  <a:txBody>
                    <a:bodyPr/>
                    <a:lstStyle/>
                    <a:p>
                      <a:pPr marL="285750" marR="0" lvl="0" indent="-285750"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如果选择条件涉及非码属性，若为</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树索引，选择条件是相等比较，</a:t>
                      </a:r>
                      <a:r>
                        <a:rPr kumimoji="0" lang="en-US" altLang="zh-CN" sz="18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S</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是索引的选择基数</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有</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S</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个元组满足条件</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。因为满足条件的元组可能会保存在不同的块上，所以</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最坏的情况</a:t>
                      </a:r>
                      <a:r>
                        <a:rPr kumimoji="0" lang="en-US" altLang="zh-CN"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en-US" altLang="zh-CN" sz="18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cost=L+S</a:t>
                      </a:r>
                      <a:endParaRPr lang="zh-CN" altLang="en-US" sz="1600">
                        <a:solidFill>
                          <a:srgbClr val="FF0000"/>
                        </a:solidFill>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259065772"/>
                  </a:ext>
                </a:extLst>
              </a:tr>
              <a:tr h="370840">
                <a:tc vMerge="1">
                  <a:txBody>
                    <a:bodyPr/>
                    <a:lstStyle/>
                    <a:p>
                      <a:endParaRPr lang="zh-CN" altLang="en-US" sz="2400">
                        <a:latin typeface="微软雅黑" panose="020B0503020204020204" pitchFamily="34" charset="-122"/>
                        <a:ea typeface="微软雅黑" panose="020B0503020204020204" pitchFamily="34" charset="-122"/>
                      </a:endParaRPr>
                    </a:p>
                  </a:txBody>
                  <a:tcPr/>
                </a:tc>
                <a:tc>
                  <a:txBody>
                    <a:bodyPr/>
                    <a:lstStyle/>
                    <a:p>
                      <a:pPr marL="285750" marR="0" lvl="0" indent="-285750"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如果比较条件是＞，＞＝，＜，＜＝操作，假设有一半的元组满足条件，那么就要存取一半的叶结点，并通过索引访问一半的表存储块，</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cost=L+Y/2+B/2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。如果可以获得更准确的选择基数，可以进一步修正</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Y/2</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与</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B/2</a:t>
                      </a:r>
                      <a:endParaRPr lang="zh-CN" altLang="en-US" sz="160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3482537114"/>
                  </a:ext>
                </a:extLst>
              </a:tr>
            </a:tbl>
          </a:graphicData>
        </a:graphic>
      </p:graphicFrame>
      <p:sp>
        <p:nvSpPr>
          <p:cNvPr id="8" name="标题 1">
            <a:extLst>
              <a:ext uri="{FF2B5EF4-FFF2-40B4-BE49-F238E27FC236}">
                <a16:creationId xmlns:a16="http://schemas.microsoft.com/office/drawing/2014/main" id="{341019A3-0B6E-4259-8D6E-70D8A89ABE9F}"/>
              </a:ext>
            </a:extLst>
          </p:cNvPr>
          <p:cNvSpPr>
            <a:spLocks noGrp="1"/>
          </p:cNvSpPr>
          <p:nvPr>
            <p:ph type="title"/>
          </p:nvPr>
        </p:nvSpPr>
        <p:spPr>
          <a:xfrm>
            <a:off x="1281113" y="238125"/>
            <a:ext cx="9553575" cy="512763"/>
          </a:xfrm>
        </p:spPr>
        <p:txBody>
          <a:bodyPr/>
          <a:lstStyle/>
          <a:p>
            <a:r>
              <a:rPr lang="en-US" altLang="zh-CN" dirty="0"/>
              <a:t>9.4 </a:t>
            </a:r>
            <a:r>
              <a:rPr lang="zh-CN" altLang="en-US" dirty="0"/>
              <a:t>物理优化</a:t>
            </a:r>
          </a:p>
        </p:txBody>
      </p:sp>
    </p:spTree>
    <p:extLst>
      <p:ext uri="{BB962C8B-B14F-4D97-AF65-F5344CB8AC3E}">
        <p14:creationId xmlns:p14="http://schemas.microsoft.com/office/powerpoint/2010/main" val="14547277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4E5E69DA-8DF6-460F-ABB7-16EC2BBB7A47}"/>
              </a:ext>
            </a:extLst>
          </p:cNvPr>
          <p:cNvSpPr>
            <a:spLocks noGrp="1"/>
          </p:cNvSpPr>
          <p:nvPr>
            <p:ph idx="1"/>
          </p:nvPr>
        </p:nvSpPr>
        <p:spPr/>
        <p:txBody>
          <a:bodyPr/>
          <a:lstStyle/>
          <a:p>
            <a:r>
              <a:rPr lang="zh-CN" altLang="en-US">
                <a:solidFill>
                  <a:srgbClr val="FF0000"/>
                </a:solidFill>
              </a:rPr>
              <a:t>不同算法的代价估算</a:t>
            </a:r>
            <a:r>
              <a:rPr lang="en-US" altLang="zh-CN">
                <a:solidFill>
                  <a:srgbClr val="FF0000"/>
                </a:solidFill>
              </a:rPr>
              <a:t>(</a:t>
            </a:r>
            <a:r>
              <a:rPr lang="zh-CN" altLang="en-US">
                <a:solidFill>
                  <a:srgbClr val="FF0000"/>
                </a:solidFill>
              </a:rPr>
              <a:t>续</a:t>
            </a:r>
            <a:r>
              <a:rPr lang="en-US" altLang="zh-CN">
                <a:solidFill>
                  <a:srgbClr val="FF0000"/>
                </a:solidFill>
              </a:rPr>
              <a:t>)</a:t>
            </a:r>
          </a:p>
          <a:p>
            <a:endParaRPr lang="zh-CN" altLang="en-US"/>
          </a:p>
        </p:txBody>
      </p:sp>
      <p:sp>
        <p:nvSpPr>
          <p:cNvPr id="4" name="灯片编号占位符 3">
            <a:extLst>
              <a:ext uri="{FF2B5EF4-FFF2-40B4-BE49-F238E27FC236}">
                <a16:creationId xmlns:a16="http://schemas.microsoft.com/office/drawing/2014/main" id="{153FAAB4-481D-4190-BD48-66AD536B12CB}"/>
              </a:ext>
            </a:extLst>
          </p:cNvPr>
          <p:cNvSpPr>
            <a:spLocks noGrp="1"/>
          </p:cNvSpPr>
          <p:nvPr>
            <p:ph type="sldNum" sz="quarter" idx="12"/>
          </p:nvPr>
        </p:nvSpPr>
        <p:spPr/>
        <p:txBody>
          <a:bodyPr/>
          <a:lstStyle/>
          <a:p>
            <a:fld id="{E63F6D5D-9733-4D44-9C56-AEFEDD5A4BA7}" type="slidenum">
              <a:rPr lang="en-US" smtClean="0"/>
              <a:pPr/>
              <a:t>38</a:t>
            </a:fld>
            <a:endParaRPr lang="en-US" dirty="0"/>
          </a:p>
        </p:txBody>
      </p:sp>
      <p:graphicFrame>
        <p:nvGraphicFramePr>
          <p:cNvPr id="7" name="表格 6">
            <a:extLst>
              <a:ext uri="{FF2B5EF4-FFF2-40B4-BE49-F238E27FC236}">
                <a16:creationId xmlns:a16="http://schemas.microsoft.com/office/drawing/2014/main" id="{94BB238C-9569-4E2F-B1AD-1CB8DF76FDC0}"/>
              </a:ext>
            </a:extLst>
          </p:cNvPr>
          <p:cNvGraphicFramePr>
            <a:graphicFrameLocks noGrp="1"/>
          </p:cNvGraphicFramePr>
          <p:nvPr>
            <p:extLst>
              <p:ext uri="{D42A27DB-BD31-4B8C-83A1-F6EECF244321}">
                <p14:modId xmlns:p14="http://schemas.microsoft.com/office/powerpoint/2010/main" val="1803384660"/>
              </p:ext>
            </p:extLst>
          </p:nvPr>
        </p:nvGraphicFramePr>
        <p:xfrm>
          <a:off x="756795" y="1831623"/>
          <a:ext cx="10840120" cy="3570480"/>
        </p:xfrm>
        <a:graphic>
          <a:graphicData uri="http://schemas.openxmlformats.org/drawingml/2006/table">
            <a:tbl>
              <a:tblPr firstRow="1" bandRow="1">
                <a:tableStyleId>{8A107856-5554-42FB-B03E-39F5DBC370BA}</a:tableStyleId>
              </a:tblPr>
              <a:tblGrid>
                <a:gridCol w="2701235">
                  <a:extLst>
                    <a:ext uri="{9D8B030D-6E8A-4147-A177-3AD203B41FA5}">
                      <a16:colId xmlns:a16="http://schemas.microsoft.com/office/drawing/2014/main" val="2087296978"/>
                    </a:ext>
                  </a:extLst>
                </a:gridCol>
                <a:gridCol w="8138885">
                  <a:extLst>
                    <a:ext uri="{9D8B030D-6E8A-4147-A177-3AD203B41FA5}">
                      <a16:colId xmlns:a16="http://schemas.microsoft.com/office/drawing/2014/main" val="3054423557"/>
                    </a:ext>
                  </a:extLst>
                </a:gridCol>
              </a:tblGrid>
              <a:tr h="370840">
                <a:tc>
                  <a:txBody>
                    <a:bodyPr/>
                    <a:lstStyle/>
                    <a:p>
                      <a:pPr algn="ctr"/>
                      <a:r>
                        <a:rPr lang="zh-CN" altLang="en-US" sz="2800" b="1" kern="1200" dirty="0">
                          <a:solidFill>
                            <a:srgbClr val="0000FF"/>
                          </a:solidFill>
                          <a:latin typeface="微软雅黑" panose="020B0503020204020204" pitchFamily="34" charset="-122"/>
                          <a:ea typeface="微软雅黑" panose="020B0503020204020204" pitchFamily="34" charset="-122"/>
                          <a:cs typeface="+mn-cs"/>
                        </a:rPr>
                        <a:t>算法类型</a:t>
                      </a:r>
                    </a:p>
                  </a:txBody>
                  <a:tcPr anchor="ctr"/>
                </a:tc>
                <a:tc>
                  <a:txBody>
                    <a:bodyPr/>
                    <a:lstStyle/>
                    <a:p>
                      <a:pPr marL="0" algn="ctr" defTabSz="514350" rtl="0" eaLnBrk="1" latinLnBrk="0" hangingPunct="1"/>
                      <a:r>
                        <a:rPr lang="zh-CN" altLang="en-US" sz="2800" b="1" kern="1200">
                          <a:solidFill>
                            <a:srgbClr val="0000FF"/>
                          </a:solidFill>
                          <a:latin typeface="微软雅黑" panose="020B0503020204020204" pitchFamily="34" charset="-122"/>
                          <a:ea typeface="微软雅黑" panose="020B0503020204020204" pitchFamily="34" charset="-122"/>
                          <a:cs typeface="+mn-cs"/>
                        </a:rPr>
                        <a:t>代价估算</a:t>
                      </a:r>
                    </a:p>
                  </a:txBody>
                  <a:tcPr anchor="ctr"/>
                </a:tc>
                <a:extLst>
                  <a:ext uri="{0D108BD9-81ED-4DB2-BD59-A6C34878D82A}">
                    <a16:rowId xmlns:a16="http://schemas.microsoft.com/office/drawing/2014/main" val="2627311825"/>
                  </a:ext>
                </a:extLst>
              </a:tr>
              <a:tr h="370840">
                <a:tc rowSpan="2">
                  <a:txBody>
                    <a:bodyPr/>
                    <a:lstStyle/>
                    <a:p>
                      <a:pPr>
                        <a:lnSpc>
                          <a:spcPct val="150000"/>
                        </a:lnSpc>
                      </a:pPr>
                      <a:endParaRPr lang="en-US" altLang="zh-CN" sz="2400">
                        <a:solidFill>
                          <a:srgbClr val="008000"/>
                        </a:solidFill>
                        <a:latin typeface="微软雅黑" panose="020B0503020204020204" pitchFamily="34" charset="-122"/>
                        <a:ea typeface="微软雅黑" panose="020B0503020204020204" pitchFamily="34" charset="-122"/>
                      </a:endParaRPr>
                    </a:p>
                    <a:p>
                      <a:pPr>
                        <a:lnSpc>
                          <a:spcPct val="150000"/>
                        </a:lnSpc>
                      </a:pPr>
                      <a:r>
                        <a:rPr lang="zh-CN" altLang="en-US" sz="2400">
                          <a:solidFill>
                            <a:srgbClr val="008000"/>
                          </a:solidFill>
                          <a:latin typeface="微软雅黑" panose="020B0503020204020204" pitchFamily="34" charset="-122"/>
                          <a:ea typeface="微软雅黑" panose="020B0503020204020204" pitchFamily="34" charset="-122"/>
                        </a:rPr>
                        <a:t>嵌套循环连接算法</a:t>
                      </a:r>
                    </a:p>
                  </a:txBody>
                  <a:tcPr anchor="ctr"/>
                </a:tc>
                <a:tc>
                  <a:txBody>
                    <a:bodyPr/>
                    <a:lstStyle/>
                    <a:p>
                      <a:pPr marL="285750" indent="-285750">
                        <a:lnSpc>
                          <a:spcPct val="150000"/>
                        </a:lnSpc>
                        <a:buFont typeface="Arial" panose="020B0604020202020204" pitchFamily="34" charset="0"/>
                        <a:buChar char="•"/>
                      </a:pPr>
                      <a:r>
                        <a:rPr lang="zh-CN" altLang="en-US" sz="1800" dirty="0">
                          <a:solidFill>
                            <a:schemeClr val="tx1"/>
                          </a:solidFill>
                          <a:latin typeface="微软雅黑" panose="020B0503020204020204" pitchFamily="34" charset="-122"/>
                          <a:ea typeface="微软雅黑" panose="020B0503020204020204" pitchFamily="34" charset="-122"/>
                        </a:rPr>
                        <a:t>代价</a:t>
                      </a:r>
                      <a:r>
                        <a:rPr lang="zh-CN" altLang="en-US" sz="1800" dirty="0">
                          <a:solidFill>
                            <a:srgbClr val="FF0000"/>
                          </a:solidFill>
                          <a:latin typeface="微软雅黑" panose="020B0503020204020204" pitchFamily="34" charset="-122"/>
                          <a:ea typeface="微软雅黑" panose="020B0503020204020204" pitchFamily="34" charset="-122"/>
                        </a:rPr>
                        <a:t> </a:t>
                      </a:r>
                      <a:r>
                        <a:rPr lang="en-US" altLang="zh-CN" sz="1800" dirty="0">
                          <a:solidFill>
                            <a:srgbClr val="FF0000"/>
                          </a:solidFill>
                          <a:latin typeface="微软雅黑" panose="020B0503020204020204" pitchFamily="34" charset="-122"/>
                          <a:ea typeface="微软雅黑" panose="020B0503020204020204" pitchFamily="34" charset="-122"/>
                        </a:rPr>
                        <a:t>cost</a:t>
                      </a:r>
                      <a:r>
                        <a:rPr lang="zh-CN" altLang="en-US" sz="1800" dirty="0">
                          <a:solidFill>
                            <a:srgbClr val="FF0000"/>
                          </a:solidFill>
                          <a:latin typeface="微软雅黑" panose="020B0503020204020204" pitchFamily="34" charset="-122"/>
                          <a:ea typeface="微软雅黑" panose="020B0503020204020204" pitchFamily="34" charset="-122"/>
                        </a:rPr>
                        <a:t>＝</a:t>
                      </a:r>
                      <a:r>
                        <a:rPr lang="en-US" altLang="zh-CN" sz="1800" dirty="0" err="1">
                          <a:solidFill>
                            <a:srgbClr val="FF0000"/>
                          </a:solidFill>
                          <a:latin typeface="微软雅黑" panose="020B0503020204020204" pitchFamily="34" charset="-122"/>
                          <a:ea typeface="微软雅黑" panose="020B0503020204020204" pitchFamily="34" charset="-122"/>
                        </a:rPr>
                        <a:t>Br+BrBs</a:t>
                      </a:r>
                      <a:r>
                        <a:rPr lang="en-US" altLang="zh-CN" sz="1800" dirty="0">
                          <a:solidFill>
                            <a:srgbClr val="FF0000"/>
                          </a:solidFill>
                          <a:latin typeface="微软雅黑" panose="020B0503020204020204" pitchFamily="34" charset="-122"/>
                          <a:ea typeface="微软雅黑" panose="020B0503020204020204" pitchFamily="34" charset="-122"/>
                        </a:rPr>
                        <a:t>/(K-1)</a:t>
                      </a:r>
                    </a:p>
                  </a:txBody>
                  <a:tcPr anchor="ctr"/>
                </a:tc>
                <a:extLst>
                  <a:ext uri="{0D108BD9-81ED-4DB2-BD59-A6C34878D82A}">
                    <a16:rowId xmlns:a16="http://schemas.microsoft.com/office/drawing/2014/main" val="1922178221"/>
                  </a:ext>
                </a:extLst>
              </a:tr>
              <a:tr h="370840">
                <a:tc vMerge="1">
                  <a:txBody>
                    <a:bodyPr/>
                    <a:lstStyle/>
                    <a:p>
                      <a:endParaRPr lang="zh-CN" altLang="en-US" sz="2400">
                        <a:latin typeface="微软雅黑" panose="020B0503020204020204" pitchFamily="34" charset="-122"/>
                        <a:ea typeface="微软雅黑" panose="020B0503020204020204" pitchFamily="34" charset="-122"/>
                      </a:endParaRPr>
                    </a:p>
                  </a:txBody>
                  <a:tcPr/>
                </a:tc>
                <a:tc>
                  <a:txBody>
                    <a:bodyPr/>
                    <a:lstStyle/>
                    <a:p>
                      <a:pPr marL="285750" indent="-285750">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如果需要把连接结果写回磁盘，则 </a:t>
                      </a:r>
                      <a:r>
                        <a:rPr lang="en-US" altLang="zh-CN" sz="1800" dirty="0">
                          <a:solidFill>
                            <a:srgbClr val="FF0000"/>
                          </a:solidFill>
                          <a:latin typeface="微软雅黑" panose="020B0503020204020204" pitchFamily="34" charset="-122"/>
                          <a:ea typeface="微软雅黑" panose="020B0503020204020204" pitchFamily="34" charset="-122"/>
                        </a:rPr>
                        <a:t>cost</a:t>
                      </a:r>
                      <a:r>
                        <a:rPr lang="zh-CN" altLang="en-US" sz="1800" dirty="0">
                          <a:solidFill>
                            <a:srgbClr val="FF0000"/>
                          </a:solidFill>
                          <a:latin typeface="微软雅黑" panose="020B0503020204020204" pitchFamily="34" charset="-122"/>
                          <a:ea typeface="微软雅黑" panose="020B0503020204020204" pitchFamily="34" charset="-122"/>
                        </a:rPr>
                        <a:t>＝</a:t>
                      </a:r>
                      <a:r>
                        <a:rPr lang="en-US" altLang="zh-CN" sz="1800" dirty="0" err="1">
                          <a:solidFill>
                            <a:srgbClr val="FF0000"/>
                          </a:solidFill>
                          <a:latin typeface="微软雅黑" panose="020B0503020204020204" pitchFamily="34" charset="-122"/>
                          <a:ea typeface="微软雅黑" panose="020B0503020204020204" pitchFamily="34" charset="-122"/>
                        </a:rPr>
                        <a:t>Br+BrBs</a:t>
                      </a:r>
                      <a:r>
                        <a:rPr lang="en-US" altLang="zh-CN" sz="1800" dirty="0">
                          <a:solidFill>
                            <a:srgbClr val="FF0000"/>
                          </a:solidFill>
                          <a:latin typeface="微软雅黑" panose="020B0503020204020204" pitchFamily="34" charset="-122"/>
                          <a:ea typeface="微软雅黑" panose="020B0503020204020204" pitchFamily="34" charset="-122"/>
                        </a:rPr>
                        <a:t>/(K-1)+(</a:t>
                      </a:r>
                      <a:r>
                        <a:rPr lang="en-US" altLang="zh-CN" sz="1800" dirty="0" err="1">
                          <a:solidFill>
                            <a:srgbClr val="FF0000"/>
                          </a:solidFill>
                          <a:latin typeface="微软雅黑" panose="020B0503020204020204" pitchFamily="34" charset="-122"/>
                          <a:ea typeface="微软雅黑" panose="020B0503020204020204" pitchFamily="34" charset="-122"/>
                        </a:rPr>
                        <a:t>Frs</a:t>
                      </a:r>
                      <a:r>
                        <a:rPr lang="en-US" altLang="zh-CN" sz="1800" dirty="0">
                          <a:solidFill>
                            <a:srgbClr val="FF0000"/>
                          </a:solidFill>
                          <a:latin typeface="微软雅黑" panose="020B0503020204020204" pitchFamily="34" charset="-122"/>
                          <a:ea typeface="微软雅黑" panose="020B0503020204020204" pitchFamily="34" charset="-122"/>
                        </a:rPr>
                        <a:t>*Nr*Ns)/</a:t>
                      </a:r>
                      <a:r>
                        <a:rPr lang="en-US" altLang="zh-CN" sz="1800" dirty="0" err="1">
                          <a:solidFill>
                            <a:srgbClr val="FF0000"/>
                          </a:solidFill>
                          <a:latin typeface="微软雅黑" panose="020B0503020204020204" pitchFamily="34" charset="-122"/>
                          <a:ea typeface="微软雅黑" panose="020B0503020204020204" pitchFamily="34" charset="-122"/>
                        </a:rPr>
                        <a:t>Mrs</a:t>
                      </a:r>
                      <a:endParaRPr lang="en-US" altLang="zh-CN" sz="180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en-US" altLang="zh-CN" sz="1800" dirty="0" err="1">
                          <a:solidFill>
                            <a:schemeClr val="tx1"/>
                          </a:solidFill>
                          <a:latin typeface="微软雅黑" panose="020B0503020204020204" pitchFamily="34" charset="-122"/>
                          <a:ea typeface="微软雅黑" panose="020B0503020204020204" pitchFamily="34" charset="-122"/>
                        </a:rPr>
                        <a:t>Frs</a:t>
                      </a:r>
                      <a:r>
                        <a:rPr lang="zh-CN" altLang="en-US" sz="1800" dirty="0">
                          <a:solidFill>
                            <a:schemeClr val="tx1"/>
                          </a:solidFill>
                          <a:latin typeface="微软雅黑" panose="020B0503020204020204" pitchFamily="34" charset="-122"/>
                          <a:ea typeface="微软雅黑" panose="020B0503020204020204" pitchFamily="34" charset="-122"/>
                        </a:rPr>
                        <a:t>为连接选择性</a:t>
                      </a:r>
                      <a:r>
                        <a:rPr lang="en-US" altLang="zh-CN" sz="1800" dirty="0">
                          <a:solidFill>
                            <a:schemeClr val="tx1"/>
                          </a:solidFill>
                          <a:latin typeface="微软雅黑" panose="020B0503020204020204" pitchFamily="34" charset="-122"/>
                          <a:ea typeface="微软雅黑" panose="020B0503020204020204" pitchFamily="34" charset="-122"/>
                        </a:rPr>
                        <a:t>(join selectivity)</a:t>
                      </a:r>
                      <a:r>
                        <a:rPr lang="zh-CN" altLang="en-US" sz="1800" dirty="0">
                          <a:solidFill>
                            <a:schemeClr val="tx1"/>
                          </a:solidFill>
                          <a:latin typeface="微软雅黑" panose="020B0503020204020204" pitchFamily="34" charset="-122"/>
                          <a:ea typeface="微软雅黑" panose="020B0503020204020204" pitchFamily="34" charset="-122"/>
                        </a:rPr>
                        <a:t>，表示连接结果元组数的比例，</a:t>
                      </a:r>
                    </a:p>
                    <a:p>
                      <a:pPr marL="285750" indent="-285750">
                        <a:lnSpc>
                          <a:spcPct val="150000"/>
                        </a:lnSpc>
                        <a:buFont typeface="Arial" panose="020B0604020202020204" pitchFamily="34" charset="0"/>
                        <a:buChar char="•"/>
                      </a:pPr>
                      <a:r>
                        <a:rPr lang="en-US" altLang="zh-CN" sz="1800" dirty="0" err="1">
                          <a:solidFill>
                            <a:schemeClr val="tx1"/>
                          </a:solidFill>
                          <a:latin typeface="微软雅黑" panose="020B0503020204020204" pitchFamily="34" charset="-122"/>
                          <a:ea typeface="微软雅黑" panose="020B0503020204020204" pitchFamily="34" charset="-122"/>
                        </a:rPr>
                        <a:t>Mrs</a:t>
                      </a:r>
                      <a:r>
                        <a:rPr lang="zh-CN" altLang="en-US" sz="1800" dirty="0">
                          <a:solidFill>
                            <a:schemeClr val="tx1"/>
                          </a:solidFill>
                          <a:latin typeface="微软雅黑" panose="020B0503020204020204" pitchFamily="34" charset="-122"/>
                          <a:ea typeface="微软雅黑" panose="020B0503020204020204" pitchFamily="34" charset="-122"/>
                        </a:rPr>
                        <a:t>是存放连接结果的块因子，表示每块中可以存放的结果元组数目</a:t>
                      </a:r>
                    </a:p>
                  </a:txBody>
                  <a:tcPr anchor="ctr"/>
                </a:tc>
                <a:extLst>
                  <a:ext uri="{0D108BD9-81ED-4DB2-BD59-A6C34878D82A}">
                    <a16:rowId xmlns:a16="http://schemas.microsoft.com/office/drawing/2014/main" val="94808859"/>
                  </a:ext>
                </a:extLst>
              </a:tr>
              <a:tr h="370840">
                <a:tc rowSpan="2">
                  <a:txBody>
                    <a:bodyPr/>
                    <a:lstStyle/>
                    <a:p>
                      <a:endParaRPr lang="en-US" altLang="zh-CN" sz="2400" kern="1200">
                        <a:solidFill>
                          <a:srgbClr val="008000"/>
                        </a:solidFill>
                        <a:latin typeface="微软雅黑" panose="020B0503020204020204" pitchFamily="34" charset="-122"/>
                        <a:ea typeface="微软雅黑" panose="020B0503020204020204" pitchFamily="34" charset="-122"/>
                        <a:cs typeface="+mn-cs"/>
                      </a:endParaRPr>
                    </a:p>
                    <a:p>
                      <a:r>
                        <a:rPr lang="zh-CN" altLang="en-US" sz="2400" kern="1200">
                          <a:solidFill>
                            <a:srgbClr val="008000"/>
                          </a:solidFill>
                          <a:latin typeface="微软雅黑" panose="020B0503020204020204" pitchFamily="34" charset="-122"/>
                          <a:ea typeface="微软雅黑" panose="020B0503020204020204" pitchFamily="34" charset="-122"/>
                          <a:cs typeface="+mn-cs"/>
                        </a:rPr>
                        <a:t>排序合并连接算法</a:t>
                      </a:r>
                    </a:p>
                  </a:txBody>
                  <a:tcPr anchor="ctr"/>
                </a:tc>
                <a:tc>
                  <a:txBody>
                    <a:bodyPr/>
                    <a:lstStyle/>
                    <a:p>
                      <a:pPr marL="285750" indent="-285750">
                        <a:lnSpc>
                          <a:spcPct val="15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如果连接表已经按照连接属性排好序，则 </a:t>
                      </a:r>
                      <a:r>
                        <a:rPr lang="en-US" altLang="zh-CN" sz="1800" dirty="0">
                          <a:solidFill>
                            <a:srgbClr val="FF0000"/>
                          </a:solidFill>
                          <a:latin typeface="微软雅黑" panose="020B0503020204020204" pitchFamily="34" charset="-122"/>
                          <a:ea typeface="微软雅黑" panose="020B0503020204020204" pitchFamily="34" charset="-122"/>
                        </a:rPr>
                        <a:t>cost</a:t>
                      </a:r>
                      <a:r>
                        <a:rPr lang="zh-CN" altLang="en-US" sz="1800" dirty="0">
                          <a:solidFill>
                            <a:srgbClr val="FF0000"/>
                          </a:solidFill>
                          <a:latin typeface="微软雅黑" panose="020B0503020204020204" pitchFamily="34" charset="-122"/>
                          <a:ea typeface="微软雅黑" panose="020B0503020204020204" pitchFamily="34" charset="-122"/>
                        </a:rPr>
                        <a:t>＝</a:t>
                      </a:r>
                      <a:r>
                        <a:rPr lang="en-US" altLang="zh-CN" sz="1800" dirty="0" err="1">
                          <a:solidFill>
                            <a:srgbClr val="FF0000"/>
                          </a:solidFill>
                          <a:latin typeface="微软雅黑" panose="020B0503020204020204" pitchFamily="34" charset="-122"/>
                          <a:ea typeface="微软雅黑" panose="020B0503020204020204" pitchFamily="34" charset="-122"/>
                        </a:rPr>
                        <a:t>Br+Bs</a:t>
                      </a:r>
                      <a:r>
                        <a:rPr lang="en-US" altLang="zh-CN" sz="1800" dirty="0">
                          <a:solidFill>
                            <a:srgbClr val="FF0000"/>
                          </a:solidFill>
                          <a:latin typeface="微软雅黑" panose="020B0503020204020204" pitchFamily="34" charset="-122"/>
                          <a:ea typeface="微软雅黑" panose="020B0503020204020204" pitchFamily="34" charset="-122"/>
                        </a:rPr>
                        <a:t>+(</a:t>
                      </a:r>
                      <a:r>
                        <a:rPr lang="en-US" altLang="zh-CN" sz="1800" dirty="0" err="1">
                          <a:solidFill>
                            <a:srgbClr val="FF0000"/>
                          </a:solidFill>
                          <a:latin typeface="微软雅黑" panose="020B0503020204020204" pitchFamily="34" charset="-122"/>
                          <a:ea typeface="微软雅黑" panose="020B0503020204020204" pitchFamily="34" charset="-122"/>
                        </a:rPr>
                        <a:t>Frs</a:t>
                      </a:r>
                      <a:r>
                        <a:rPr lang="en-US" altLang="zh-CN" sz="1800" dirty="0">
                          <a:solidFill>
                            <a:srgbClr val="FF0000"/>
                          </a:solidFill>
                          <a:latin typeface="微软雅黑" panose="020B0503020204020204" pitchFamily="34" charset="-122"/>
                          <a:ea typeface="微软雅黑" panose="020B0503020204020204" pitchFamily="34" charset="-122"/>
                        </a:rPr>
                        <a:t>*Nr*Ns)/</a:t>
                      </a:r>
                      <a:r>
                        <a:rPr lang="en-US" altLang="zh-CN" sz="1800" dirty="0" err="1">
                          <a:solidFill>
                            <a:srgbClr val="FF0000"/>
                          </a:solidFill>
                          <a:latin typeface="微软雅黑" panose="020B0503020204020204" pitchFamily="34" charset="-122"/>
                          <a:ea typeface="微软雅黑" panose="020B0503020204020204" pitchFamily="34" charset="-122"/>
                        </a:rPr>
                        <a:t>Mrs</a:t>
                      </a:r>
                      <a:endParaRPr lang="en-US" altLang="zh-CN" sz="1800" dirty="0">
                        <a:solidFill>
                          <a:srgbClr val="FF0000"/>
                        </a:solidFill>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768252385"/>
                  </a:ext>
                </a:extLst>
              </a:tr>
              <a:tr h="370840">
                <a:tc vMerge="1">
                  <a:txBody>
                    <a:bodyPr/>
                    <a:lstStyle/>
                    <a:p>
                      <a:endParaRPr lang="zh-CN" altLang="en-US" sz="2400">
                        <a:latin typeface="微软雅黑" panose="020B0503020204020204" pitchFamily="34" charset="-122"/>
                        <a:ea typeface="微软雅黑" panose="020B0503020204020204" pitchFamily="34" charset="-122"/>
                      </a:endParaRPr>
                    </a:p>
                  </a:txBody>
                  <a:tcPr/>
                </a:tc>
                <a:tc>
                  <a:txBody>
                    <a:bodyPr/>
                    <a:lstStyle/>
                    <a:p>
                      <a:pPr marL="285750" marR="0" lvl="0" indent="-285750" algn="l" defTabSz="51435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如果必须对文件排序，那么还需要在代价函数中加上排序的代价：对于包含</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B</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个块的文件排序的代价大约</a:t>
                      </a:r>
                      <a:r>
                        <a:rPr kumimoji="0" lang="zh-CN" altLang="en-US"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是  </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(2*B)+(2*B*log</a:t>
                      </a:r>
                      <a:r>
                        <a:rPr kumimoji="0" lang="en-US" altLang="zh-CN" sz="1800" b="0" i="0" u="none" strike="noStrike" kern="1200" cap="none" spc="0" normalizeH="0" baseline="-2500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2</a:t>
                      </a:r>
                      <a:r>
                        <a:rPr kumimoji="0" lang="en-US" altLang="zh-CN" sz="18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B)</a:t>
                      </a:r>
                    </a:p>
                  </a:txBody>
                  <a:tcPr anchor="ctr"/>
                </a:tc>
                <a:extLst>
                  <a:ext uri="{0D108BD9-81ED-4DB2-BD59-A6C34878D82A}">
                    <a16:rowId xmlns:a16="http://schemas.microsoft.com/office/drawing/2014/main" val="1259065772"/>
                  </a:ext>
                </a:extLst>
              </a:tr>
            </a:tbl>
          </a:graphicData>
        </a:graphic>
      </p:graphicFrame>
      <p:sp>
        <p:nvSpPr>
          <p:cNvPr id="8" name="标题 1">
            <a:extLst>
              <a:ext uri="{FF2B5EF4-FFF2-40B4-BE49-F238E27FC236}">
                <a16:creationId xmlns:a16="http://schemas.microsoft.com/office/drawing/2014/main" id="{E4BB4AE6-34FA-46E6-BE0C-FE01D31A27FB}"/>
              </a:ext>
            </a:extLst>
          </p:cNvPr>
          <p:cNvSpPr>
            <a:spLocks noGrp="1"/>
          </p:cNvSpPr>
          <p:nvPr>
            <p:ph type="title"/>
          </p:nvPr>
        </p:nvSpPr>
        <p:spPr>
          <a:xfrm>
            <a:off x="1281113" y="238125"/>
            <a:ext cx="9553575" cy="512763"/>
          </a:xfrm>
        </p:spPr>
        <p:txBody>
          <a:bodyPr/>
          <a:lstStyle/>
          <a:p>
            <a:r>
              <a:rPr lang="en-US" altLang="zh-CN" dirty="0"/>
              <a:t>9.4 </a:t>
            </a:r>
            <a:r>
              <a:rPr lang="zh-CN" altLang="en-US" dirty="0"/>
              <a:t>物理优化</a:t>
            </a:r>
          </a:p>
        </p:txBody>
      </p:sp>
    </p:spTree>
    <p:extLst>
      <p:ext uri="{BB962C8B-B14F-4D97-AF65-F5344CB8AC3E}">
        <p14:creationId xmlns:p14="http://schemas.microsoft.com/office/powerpoint/2010/main" val="42314748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13BEBC-6402-4514-9904-3E1D1BA103A6}"/>
              </a:ext>
            </a:extLst>
          </p:cNvPr>
          <p:cNvSpPr>
            <a:spLocks noGrp="1"/>
          </p:cNvSpPr>
          <p:nvPr>
            <p:ph type="title"/>
          </p:nvPr>
        </p:nvSpPr>
        <p:spPr/>
        <p:txBody>
          <a:bodyPr/>
          <a:lstStyle/>
          <a:p>
            <a:r>
              <a:rPr lang="zh-CN" altLang="en-US"/>
              <a:t>本章小结</a:t>
            </a:r>
          </a:p>
        </p:txBody>
      </p:sp>
      <p:sp>
        <p:nvSpPr>
          <p:cNvPr id="3" name="内容占位符 2">
            <a:extLst>
              <a:ext uri="{FF2B5EF4-FFF2-40B4-BE49-F238E27FC236}">
                <a16:creationId xmlns:a16="http://schemas.microsoft.com/office/drawing/2014/main" id="{D38E6205-84A2-42D4-98C7-1EC60C94D269}"/>
              </a:ext>
            </a:extLst>
          </p:cNvPr>
          <p:cNvSpPr>
            <a:spLocks noGrp="1"/>
          </p:cNvSpPr>
          <p:nvPr>
            <p:ph idx="1"/>
          </p:nvPr>
        </p:nvSpPr>
        <p:spPr/>
        <p:txBody>
          <a:bodyPr/>
          <a:lstStyle/>
          <a:p>
            <a:r>
              <a:rPr lang="zh-CN" altLang="en-US" dirty="0"/>
              <a:t>查询处理是</a:t>
            </a:r>
            <a:r>
              <a:rPr lang="en-US" altLang="zh-CN" dirty="0"/>
              <a:t>RDBMS</a:t>
            </a:r>
            <a:r>
              <a:rPr lang="zh-CN" altLang="en-US" dirty="0"/>
              <a:t>的核心，查询优化技术是查询处理的关键技术。 </a:t>
            </a:r>
          </a:p>
          <a:p>
            <a:r>
              <a:rPr lang="zh-CN" altLang="en-US" dirty="0"/>
              <a:t>关系系统的查询优化</a:t>
            </a:r>
          </a:p>
          <a:p>
            <a:pPr lvl="1"/>
            <a:r>
              <a:rPr lang="zh-CN" altLang="en-US" dirty="0">
                <a:solidFill>
                  <a:srgbClr val="C00000"/>
                </a:solidFill>
              </a:rPr>
              <a:t>代数优化：</a:t>
            </a:r>
            <a:r>
              <a:rPr lang="zh-CN" altLang="en-US" dirty="0"/>
              <a:t>关系代数表达式的优化</a:t>
            </a:r>
          </a:p>
          <a:p>
            <a:pPr lvl="2"/>
            <a:r>
              <a:rPr lang="zh-CN" altLang="en-US" dirty="0"/>
              <a:t>关系代数等价变换规则</a:t>
            </a:r>
          </a:p>
          <a:p>
            <a:pPr lvl="2"/>
            <a:r>
              <a:rPr lang="zh-CN" altLang="en-US" dirty="0"/>
              <a:t>关系代数表达式的优化算法</a:t>
            </a:r>
          </a:p>
          <a:p>
            <a:pPr lvl="1"/>
            <a:r>
              <a:rPr lang="zh-CN" altLang="en-US" dirty="0">
                <a:solidFill>
                  <a:srgbClr val="C00000"/>
                </a:solidFill>
              </a:rPr>
              <a:t>物理优化：</a:t>
            </a:r>
            <a:r>
              <a:rPr lang="zh-CN" altLang="en-US" dirty="0"/>
              <a:t>存取路径和低层操作算法的选择 </a:t>
            </a:r>
          </a:p>
        </p:txBody>
      </p:sp>
      <p:sp>
        <p:nvSpPr>
          <p:cNvPr id="4" name="灯片编号占位符 3">
            <a:extLst>
              <a:ext uri="{FF2B5EF4-FFF2-40B4-BE49-F238E27FC236}">
                <a16:creationId xmlns:a16="http://schemas.microsoft.com/office/drawing/2014/main" id="{42A8D39C-873F-478A-B4A3-6BC8D155E641}"/>
              </a:ext>
            </a:extLst>
          </p:cNvPr>
          <p:cNvSpPr>
            <a:spLocks noGrp="1"/>
          </p:cNvSpPr>
          <p:nvPr>
            <p:ph type="sldNum" sz="quarter" idx="12"/>
          </p:nvPr>
        </p:nvSpPr>
        <p:spPr/>
        <p:txBody>
          <a:bodyPr/>
          <a:lstStyle/>
          <a:p>
            <a:fld id="{E63F6D5D-9733-4D44-9C56-AEFEDD5A4BA7}" type="slidenum">
              <a:rPr lang="en-US" smtClean="0"/>
              <a:pPr/>
              <a:t>39</a:t>
            </a:fld>
            <a:endParaRPr lang="en-US" dirty="0"/>
          </a:p>
        </p:txBody>
      </p:sp>
    </p:spTree>
    <p:extLst>
      <p:ext uri="{BB962C8B-B14F-4D97-AF65-F5344CB8AC3E}">
        <p14:creationId xmlns:p14="http://schemas.microsoft.com/office/powerpoint/2010/main" val="12688315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9.0&quot;&gt;&lt;object type=&quot;1&quot; unique_id=&quot;10001&quot;&gt;&lt;object type=&quot;8&quot; unique_id=&quot;10002&quot;&gt;&lt;/object&gt;&lt;object type=&quot;2&quot; unique_id=&quot;10003&quot;&gt;&lt;object type=&quot;3&quot; unique_id=&quot;10005&quot;&gt;&lt;property id=&quot;20148&quot; value=&quot;5&quot;/&gt;&lt;property id=&quot;20300&quot; value=&quot;Slide 2&quot;/&gt;&lt;property id=&quot;20307&quot; value=&quot;258&quot;/&gt;&lt;/object&gt;&lt;object type=&quot;3&quot; unique_id=&quot;10006&quot;&gt;&lt;property id=&quot;20148&quot; value=&quot;5&quot;/&gt;&lt;property id=&quot;20300&quot; value=&quot;Slide 3&quot;/&gt;&lt;property id=&quot;20307&quot; value=&quot;259&quot;/&gt;&lt;/object&gt;&lt;object type=&quot;3&quot; unique_id=&quot;10007&quot;&gt;&lt;property id=&quot;20148&quot; value=&quot;5&quot;/&gt;&lt;property id=&quot;20300&quot; value=&quot;Slide 4&quot;/&gt;&lt;property id=&quot;20307&quot; value=&quot;260&quot;/&gt;&lt;/object&gt;&lt;object type=&quot;3&quot; unique_id=&quot;10008&quot;&gt;&lt;property id=&quot;20148&quot; value=&quot;5&quot;/&gt;&lt;property id=&quot;20300&quot; value=&quot;Slide 13&quot;/&gt;&lt;property id=&quot;20307&quot; value=&quot;261&quot;/&gt;&lt;/object&gt;&lt;object type=&quot;3&quot; unique_id=&quot;10009&quot;&gt;&lt;property id=&quot;20148&quot; value=&quot;5&quot;/&gt;&lt;property id=&quot;20300&quot; value=&quot;Slide 14&quot;/&gt;&lt;property id=&quot;20307&quot; value=&quot;262&quot;/&gt;&lt;/object&gt;&lt;object type=&quot;3&quot; unique_id=&quot;10010&quot;&gt;&lt;property id=&quot;20148&quot; value=&quot;5&quot;/&gt;&lt;property id=&quot;20300&quot; value=&quot;Slide 15&quot;/&gt;&lt;property id=&quot;20307&quot; value=&quot;263&quot;/&gt;&lt;/object&gt;&lt;object type=&quot;3&quot; unique_id=&quot;10011&quot;&gt;&lt;property id=&quot;20148&quot; value=&quot;5&quot;/&gt;&lt;property id=&quot;20300&quot; value=&quot;Slide 16&quot;/&gt;&lt;property id=&quot;20307&quot; value=&quot;264&quot;/&gt;&lt;/object&gt;&lt;object type=&quot;3&quot; unique_id=&quot;10012&quot;&gt;&lt;property id=&quot;20148&quot; value=&quot;5&quot;/&gt;&lt;property id=&quot;20300&quot; value=&quot;Slide 17&quot;/&gt;&lt;property id=&quot;20307&quot; value=&quot;265&quot;/&gt;&lt;/object&gt;&lt;object type=&quot;3&quot; unique_id=&quot;10013&quot;&gt;&lt;property id=&quot;20148&quot; value=&quot;5&quot;/&gt;&lt;property id=&quot;20300&quot; value=&quot;Slide 19&quot;/&gt;&lt;property id=&quot;20307&quot; value=&quot;266&quot;/&gt;&lt;/object&gt;&lt;object type=&quot;3&quot; unique_id=&quot;10014&quot;&gt;&lt;property id=&quot;20148&quot; value=&quot;5&quot;/&gt;&lt;property id=&quot;20300&quot; value=&quot;Slide 23&quot;/&gt;&lt;property id=&quot;20307&quot; value=&quot;267&quot;/&gt;&lt;/object&gt;&lt;object type=&quot;3&quot; unique_id=&quot;10015&quot;&gt;&lt;property id=&quot;20148&quot; value=&quot;5&quot;/&gt;&lt;property id=&quot;20300&quot; value=&quot;Slide 29&quot;/&gt;&lt;property id=&quot;20307&quot; value=&quot;268&quot;/&gt;&lt;/object&gt;&lt;object type=&quot;3&quot; unique_id=&quot;10016&quot;&gt;&lt;property id=&quot;20148&quot; value=&quot;5&quot;/&gt;&lt;property id=&quot;20300&quot; value=&quot;Slide 30&quot;/&gt;&lt;property id=&quot;20307&quot; value=&quot;269&quot;/&gt;&lt;/object&gt;&lt;object type=&quot;3&quot; unique_id=&quot;10017&quot;&gt;&lt;property id=&quot;20148&quot; value=&quot;5&quot;/&gt;&lt;property id=&quot;20300&quot; value=&quot;Slide 31&quot;/&gt;&lt;property id=&quot;20307&quot; value=&quot;270&quot;/&gt;&lt;/object&gt;&lt;object type=&quot;3&quot; unique_id=&quot;10018&quot;&gt;&lt;property id=&quot;20148&quot; value=&quot;5&quot;/&gt;&lt;property id=&quot;20300&quot; value=&quot;Slide 35&quot;/&gt;&lt;property id=&quot;20307&quot; value=&quot;271&quot;/&gt;&lt;/object&gt;&lt;object type=&quot;3&quot; unique_id=&quot;10019&quot;&gt;&lt;property id=&quot;20148&quot; value=&quot;5&quot;/&gt;&lt;property id=&quot;20300&quot; value=&quot;Slide 36&quot;/&gt;&lt;property id=&quot;20307&quot; value=&quot;272&quot;/&gt;&lt;/object&gt;&lt;object type=&quot;3&quot; unique_id=&quot;10020&quot;&gt;&lt;property id=&quot;20148&quot; value=&quot;5&quot;/&gt;&lt;property id=&quot;20300&quot; value=&quot;Slide 39&quot;/&gt;&lt;property id=&quot;20307&quot; value=&quot;273&quot;/&gt;&lt;/object&gt;&lt;object type=&quot;3&quot; unique_id=&quot;10021&quot;&gt;&lt;property id=&quot;20148&quot; value=&quot;5&quot;/&gt;&lt;property id=&quot;20300&quot; value=&quot;Slide 40&quot;/&gt;&lt;property id=&quot;20307&quot; value=&quot;274&quot;/&gt;&lt;/object&gt;&lt;object type=&quot;3&quot; unique_id=&quot;10022&quot;&gt;&lt;property id=&quot;20148&quot; value=&quot;5&quot;/&gt;&lt;property id=&quot;20300&quot; value=&quot;Slide 41&quot;/&gt;&lt;property id=&quot;20307&quot; value=&quot;275&quot;/&gt;&lt;/object&gt;&lt;object type=&quot;3&quot; unique_id=&quot;10023&quot;&gt;&lt;property id=&quot;20148&quot; value=&quot;5&quot;/&gt;&lt;property id=&quot;20300&quot; value=&quot;Slide 52&quot;/&gt;&lt;property id=&quot;20307&quot; value=&quot;276&quot;/&gt;&lt;/object&gt;&lt;object type=&quot;3&quot; unique_id=&quot;10024&quot;&gt;&lt;property id=&quot;20148&quot; value=&quot;5&quot;/&gt;&lt;property id=&quot;20300&quot; value=&quot;Slide 58&quot;/&gt;&lt;property id=&quot;20307&quot; value=&quot;277&quot;/&gt;&lt;/object&gt;&lt;object type=&quot;3&quot; unique_id=&quot;10025&quot;&gt;&lt;property id=&quot;20148&quot; value=&quot;5&quot;/&gt;&lt;property id=&quot;20300&quot; value=&quot;Slide 59&quot;/&gt;&lt;property id=&quot;20307&quot; value=&quot;278&quot;/&gt;&lt;/object&gt;&lt;object type=&quot;3&quot; unique_id=&quot;10026&quot;&gt;&lt;property id=&quot;20148&quot; value=&quot;5&quot;/&gt;&lt;property id=&quot;20300&quot; value=&quot;Slide 65&quot;/&gt;&lt;property id=&quot;20307&quot; value=&quot;279&quot;/&gt;&lt;/object&gt;&lt;object type=&quot;3&quot; unique_id=&quot;10027&quot;&gt;&lt;property id=&quot;20148&quot; value=&quot;5&quot;/&gt;&lt;property id=&quot;20300&quot; value=&quot;Slide 71&quot;/&gt;&lt;property id=&quot;20307&quot; value=&quot;280&quot;/&gt;&lt;/object&gt;&lt;object type=&quot;3&quot; unique_id=&quot;10028&quot;&gt;&lt;property id=&quot;20148&quot; value=&quot;5&quot;/&gt;&lt;property id=&quot;20300&quot; value=&quot;Slide 72&quot;/&gt;&lt;property id=&quot;20307&quot; value=&quot;281&quot;/&gt;&lt;/object&gt;&lt;object type=&quot;3&quot; unique_id=&quot;10029&quot;&gt;&lt;property id=&quot;20148&quot; value=&quot;5&quot;/&gt;&lt;property id=&quot;20300&quot; value=&quot;Slide 73&quot;/&gt;&lt;property id=&quot;20307&quot; value=&quot;282&quot;/&gt;&lt;/object&gt;&lt;object type=&quot;3&quot; unique_id=&quot;10030&quot;&gt;&lt;property id=&quot;20148&quot; value=&quot;5&quot;/&gt;&lt;property id=&quot;20300&quot; value=&quot;Slide 74&quot;/&gt;&lt;property id=&quot;20307&quot; value=&quot;283&quot;/&gt;&lt;/object&gt;&lt;object type=&quot;3&quot; unique_id=&quot;10031&quot;&gt;&lt;property id=&quot;20148&quot; value=&quot;5&quot;/&gt;&lt;property id=&quot;20300&quot; value=&quot;Slide 75&quot;/&gt;&lt;property id=&quot;20307&quot; value=&quot;284&quot;/&gt;&lt;/object&gt;&lt;object type=&quot;3&quot; unique_id=&quot;10032&quot;&gt;&lt;property id=&quot;20148&quot; value=&quot;5&quot;/&gt;&lt;property id=&quot;20300&quot; value=&quot;Slide 76&quot;/&gt;&lt;property id=&quot;20307&quot; value=&quot;285&quot;/&gt;&lt;/object&gt;&lt;object type=&quot;3&quot; unique_id=&quot;10033&quot;&gt;&lt;property id=&quot;20148&quot; value=&quot;5&quot;/&gt;&lt;property id=&quot;20300&quot; value=&quot;Slide 77&quot;/&gt;&lt;property id=&quot;20307&quot; value=&quot;286&quot;/&gt;&lt;/object&gt;&lt;object type=&quot;3&quot; unique_id=&quot;10034&quot;&gt;&lt;property id=&quot;20148&quot; value=&quot;5&quot;/&gt;&lt;property id=&quot;20300&quot; value=&quot;Slide 79&quot;/&gt;&lt;property id=&quot;20307&quot; value=&quot;287&quot;/&gt;&lt;/object&gt;&lt;object type=&quot;3&quot; unique_id=&quot;10035&quot;&gt;&lt;property id=&quot;20148&quot; value=&quot;5&quot;/&gt;&lt;property id=&quot;20300&quot; value=&quot;Slide 80&quot;/&gt;&lt;property id=&quot;20307&quot; value=&quot;288&quot;/&gt;&lt;/object&gt;&lt;object type=&quot;3&quot; unique_id=&quot;10036&quot;&gt;&lt;property id=&quot;20148&quot; value=&quot;5&quot;/&gt;&lt;property id=&quot;20300&quot; value=&quot;Slide 81&quot;/&gt;&lt;property id=&quot;20307&quot; value=&quot;289&quot;/&gt;&lt;/object&gt;&lt;object type=&quot;3&quot; unique_id=&quot;10037&quot;&gt;&lt;property id=&quot;20148&quot; value=&quot;5&quot;/&gt;&lt;property id=&quot;20300&quot; value=&quot;Slide 82&quot;/&gt;&lt;property id=&quot;20307&quot; value=&quot;290&quot;/&gt;&lt;/object&gt;&lt;object type=&quot;3&quot; unique_id=&quot;10038&quot;&gt;&lt;property id=&quot;20148&quot; value=&quot;5&quot;/&gt;&lt;property id=&quot;20300&quot; value=&quot;Slide 83&quot;/&gt;&lt;property id=&quot;20307&quot; value=&quot;291&quot;/&gt;&lt;/object&gt;&lt;object type=&quot;3&quot; unique_id=&quot;10039&quot;&gt;&lt;property id=&quot;20148&quot; value=&quot;5&quot;/&gt;&lt;property id=&quot;20300&quot; value=&quot;Slide 84&quot;/&gt;&lt;property id=&quot;20307&quot; value=&quot;292&quot;/&gt;&lt;/object&gt;&lt;object type=&quot;3&quot; unique_id=&quot;10040&quot;&gt;&lt;property id=&quot;20148&quot; value=&quot;5&quot;/&gt;&lt;property id=&quot;20300&quot; value=&quot;Slide 85&quot;/&gt;&lt;property id=&quot;20307&quot; value=&quot;293&quot;/&gt;&lt;/object&gt;&lt;object type=&quot;3&quot; unique_id=&quot;10041&quot;&gt;&lt;property id=&quot;20148&quot; value=&quot;5&quot;/&gt;&lt;property id=&quot;20300&quot; value=&quot;Slide 86&quot;/&gt;&lt;property id=&quot;20307&quot; value=&quot;294&quot;/&gt;&lt;/object&gt;&lt;object type=&quot;3&quot; unique_id=&quot;10042&quot;&gt;&lt;property id=&quot;20148&quot; value=&quot;5&quot;/&gt;&lt;property id=&quot;20300&quot; value=&quot;Slide 88&quot;/&gt;&lt;property id=&quot;20307&quot; value=&quot;295&quot;/&gt;&lt;/object&gt;&lt;object type=&quot;3&quot; unique_id=&quot;10043&quot;&gt;&lt;property id=&quot;20148&quot; value=&quot;5&quot;/&gt;&lt;property id=&quot;20300&quot; value=&quot;Slide 89&quot;/&gt;&lt;property id=&quot;20307&quot; value=&quot;296&quot;/&gt;&lt;/object&gt;&lt;object type=&quot;3&quot; unique_id=&quot;10044&quot;&gt;&lt;property id=&quot;20148&quot; value=&quot;5&quot;/&gt;&lt;property id=&quot;20300&quot; value=&quot;Slide 90&quot;/&gt;&lt;property id=&quot;20307&quot; value=&quot;297&quot;/&gt;&lt;/object&gt;&lt;object type=&quot;3&quot; unique_id=&quot;10045&quot;&gt;&lt;property id=&quot;20148&quot; value=&quot;5&quot;/&gt;&lt;property id=&quot;20300&quot; value=&quot;Slide 91&quot;/&gt;&lt;property id=&quot;20307&quot; value=&quot;298&quot;/&gt;&lt;/object&gt;&lt;object type=&quot;3&quot; unique_id=&quot;10046&quot;&gt;&lt;property id=&quot;20148&quot; value=&quot;5&quot;/&gt;&lt;property id=&quot;20300&quot; value=&quot;Slide 92&quot;/&gt;&lt;property id=&quot;20307&quot; value=&quot;299&quot;/&gt;&lt;/object&gt;&lt;object type=&quot;3&quot; unique_id=&quot;10047&quot;&gt;&lt;property id=&quot;20148&quot; value=&quot;5&quot;/&gt;&lt;property id=&quot;20300&quot; value=&quot;Slide 93&quot;/&gt;&lt;property id=&quot;20307&quot; value=&quot;300&quot;/&gt;&lt;/object&gt;&lt;object type=&quot;3&quot; unique_id=&quot;10048&quot;&gt;&lt;property id=&quot;20148&quot; value=&quot;5&quot;/&gt;&lt;property id=&quot;20300&quot; value=&quot;Slide 94&quot;/&gt;&lt;property id=&quot;20307&quot; value=&quot;301&quot;/&gt;&lt;/object&gt;&lt;object type=&quot;3&quot; unique_id=&quot;10049&quot;&gt;&lt;property id=&quot;20148&quot; value=&quot;5&quot;/&gt;&lt;property id=&quot;20300&quot; value=&quot;Slide 95&quot;/&gt;&lt;property id=&quot;20307&quot; value=&quot;302&quot;/&gt;&lt;/object&gt;&lt;object type=&quot;3&quot; unique_id=&quot;10050&quot;&gt;&lt;property id=&quot;20148&quot; value=&quot;5&quot;/&gt;&lt;property id=&quot;20300&quot; value=&quot;Slide 107&quot;/&gt;&lt;property id=&quot;20307&quot; value=&quot;303&quot;/&gt;&lt;/object&gt;&lt;object type=&quot;3&quot; unique_id=&quot;10051&quot;&gt;&lt;property id=&quot;20148&quot; value=&quot;5&quot;/&gt;&lt;property id=&quot;20300&quot; value=&quot;Slide 108&quot;/&gt;&lt;property id=&quot;20307&quot; value=&quot;304&quot;/&gt;&lt;/object&gt;&lt;object type=&quot;3&quot; unique_id=&quot;10052&quot;&gt;&lt;property id=&quot;20148&quot; value=&quot;5&quot;/&gt;&lt;property id=&quot;20300&quot; value=&quot;Slide 109&quot;/&gt;&lt;property id=&quot;20307&quot; value=&quot;305&quot;/&gt;&lt;/object&gt;&lt;object type=&quot;3&quot; unique_id=&quot;10053&quot;&gt;&lt;property id=&quot;20148&quot; value=&quot;5&quot;/&gt;&lt;property id=&quot;20300&quot; value=&quot;Slide 110&quot;/&gt;&lt;property id=&quot;20307&quot; value=&quot;306&quot;/&gt;&lt;/object&gt;&lt;object type=&quot;3&quot; unique_id=&quot;10054&quot;&gt;&lt;property id=&quot;20148&quot; value=&quot;5&quot;/&gt;&lt;property id=&quot;20300&quot; value=&quot;Slide 112&quot;/&gt;&lt;property id=&quot;20307&quot; value=&quot;307&quot;/&gt;&lt;/object&gt;&lt;object type=&quot;3&quot; unique_id=&quot;10055&quot;&gt;&lt;property id=&quot;20148&quot; value=&quot;5&quot;/&gt;&lt;property id=&quot;20300&quot; value=&quot;Slide 113&quot;/&gt;&lt;property id=&quot;20307&quot; value=&quot;308&quot;/&gt;&lt;/object&gt;&lt;object type=&quot;3&quot; unique_id=&quot;10056&quot;&gt;&lt;property id=&quot;20148&quot; value=&quot;5&quot;/&gt;&lt;property id=&quot;20300&quot; value=&quot;Slide 114&quot;/&gt;&lt;property id=&quot;20307&quot; value=&quot;309&quot;/&gt;&lt;/object&gt;&lt;object type=&quot;3&quot; unique_id=&quot;10057&quot;&gt;&lt;property id=&quot;20148&quot; value=&quot;5&quot;/&gt;&lt;property id=&quot;20300&quot; value=&quot;Slide 115&quot;/&gt;&lt;property id=&quot;20307&quot; value=&quot;310&quot;/&gt;&lt;/object&gt;&lt;object type=&quot;3&quot; unique_id=&quot;10058&quot;&gt;&lt;property id=&quot;20148&quot; value=&quot;5&quot;/&gt;&lt;property id=&quot;20300&quot; value=&quot;Slide 116&quot;/&gt;&lt;property id=&quot;20307&quot; value=&quot;311&quot;/&gt;&lt;/object&gt;&lt;object type=&quot;3&quot; unique_id=&quot;10059&quot;&gt;&lt;property id=&quot;20148&quot; value=&quot;5&quot;/&gt;&lt;property id=&quot;20300&quot; value=&quot;Slide 118&quot;/&gt;&lt;property id=&quot;20307&quot; value=&quot;312&quot;/&gt;&lt;/object&gt;&lt;object type=&quot;3&quot; unique_id=&quot;10060&quot;&gt;&lt;property id=&quot;20148&quot; value=&quot;5&quot;/&gt;&lt;property id=&quot;20300&quot; value=&quot;Slide 119&quot;/&gt;&lt;property id=&quot;20307&quot; value=&quot;313&quot;/&gt;&lt;/object&gt;&lt;object type=&quot;3&quot; unique_id=&quot;78127&quot;&gt;&lt;property id=&quot;20148&quot; value=&quot;5&quot;/&gt;&lt;property id=&quot;20300&quot; value=&quot;Slide 1 - &amp;quot;Chapter 1 Introduction to Computers, the Internet and the Web&amp;quot;&quot;/&gt;&lt;property id=&quot;20307&quot; value=&quot;315&quot;/&gt;&lt;/object&gt;&lt;object type=&quot;3&quot; unique_id=&quot;81593&quot;&gt;&lt;property id=&quot;20148&quot; value=&quot;5&quot;/&gt;&lt;property id=&quot;20300&quot; value=&quot;Slide 5 - &amp;quot;1.1  Introduction&amp;quot;&quot;/&gt;&lt;property id=&quot;20307&quot; value=&quot;317&quot;/&gt;&lt;/object&gt;&lt;object type=&quot;3&quot; unique_id=&quot;81594&quot;&gt;&lt;property id=&quot;20148&quot; value=&quot;5&quot;/&gt;&lt;property id=&quot;20300&quot; value=&quot;Slide 6 - &amp;quot;1.2  Hardware and Software&amp;quot;&quot;/&gt;&lt;property id=&quot;20307&quot; value=&quot;318&quot;/&gt;&lt;/object&gt;&lt;object type=&quot;3&quot; unique_id=&quot;81595&quot;&gt;&lt;property id=&quot;20148&quot; value=&quot;5&quot;/&gt;&lt;property id=&quot;20300&quot; value=&quot;Slide 7 - &amp;quot;1.2  Hardware and Software (Cont.)&amp;quot;&quot;/&gt;&lt;property id=&quot;20307&quot; value=&quot;319&quot;/&gt;&lt;/object&gt;&lt;object type=&quot;3&quot; unique_id=&quot;81596&quot;&gt;&lt;property id=&quot;20148&quot; value=&quot;5&quot;/&gt;&lt;property id=&quot;20300&quot; value=&quot;Slide 8 - &amp;quot;1.2  Hardware and Software (Cont.)&amp;quot;&quot;/&gt;&lt;property id=&quot;20307&quot; value=&quot;320&quot;/&gt;&lt;/object&gt;&lt;object type=&quot;3&quot; unique_id=&quot;81597&quot;&gt;&lt;property id=&quot;20148&quot; value=&quot;5&quot;/&gt;&lt;property id=&quot;20300&quot; value=&quot;Slide 9 - &amp;quot;1.2.1  Moore’s Law&amp;quot;&quot;/&gt;&lt;property id=&quot;20307&quot; value=&quot;321&quot;/&gt;&lt;/object&gt;&lt;object type=&quot;3&quot; unique_id=&quot;81598&quot;&gt;&lt;property id=&quot;20148&quot; value=&quot;5&quot;/&gt;&lt;property id=&quot;20300&quot; value=&quot;Slide 10 - &amp;quot;1.2.1  Moore’s Law (Cont.)&amp;quot;&quot;/&gt;&lt;property id=&quot;20307&quot; value=&quot;322&quot;/&gt;&lt;/object&gt;&lt;object type=&quot;3&quot; unique_id=&quot;81599&quot;&gt;&lt;property id=&quot;20148&quot; value=&quot;5&quot;/&gt;&lt;property id=&quot;20300&quot; value=&quot;Slide 11 - &amp;quot;1.2.1  Moore’s Law (Cont.)&amp;quot;&quot;/&gt;&lt;property id=&quot;20307&quot; value=&quot;323&quot;/&gt;&lt;/object&gt;&lt;object type=&quot;3&quot; unique_id=&quot;81600&quot;&gt;&lt;property id=&quot;20148&quot; value=&quot;5&quot;/&gt;&lt;property id=&quot;20300&quot; value=&quot;Slide 12 - &amp;quot;1.2.2  Computer Organization&amp;quot;&quot;/&gt;&lt;property id=&quot;20307&quot; value=&quot;324&quot;/&gt;&lt;/object&gt;&lt;object type=&quot;3&quot; unique_id=&quot;81601&quot;&gt;&lt;property id=&quot;20148&quot; value=&quot;5&quot;/&gt;&lt;property id=&quot;20300&quot; value=&quot;Slide 18 - &amp;quot;1.3  Data Hierarchy&amp;quot;&quot;/&gt;&lt;property id=&quot;20307&quot; value=&quot;325&quot;/&gt;&lt;/object&gt;&lt;object type=&quot;3&quot; unique_id=&quot;81602&quot;&gt;&lt;property id=&quot;20148&quot; value=&quot;5&quot;/&gt;&lt;property id=&quot;20300&quot; value=&quot;Slide 20 - &amp;quot;1.3  Data Hierarchy&amp;quot;&quot;/&gt;&lt;property id=&quot;20307&quot; value=&quot;326&quot;/&gt;&lt;/object&gt;&lt;object type=&quot;3&quot; unique_id=&quot;81603&quot;&gt;&lt;property id=&quot;20148&quot; value=&quot;5&quot;/&gt;&lt;property id=&quot;20300&quot; value=&quot;Slide 21 - &amp;quot;1.3  Data Hierarchy&amp;quot;&quot;/&gt;&lt;property id=&quot;20307&quot; value=&quot;327&quot;/&gt;&lt;/object&gt;&lt;object type=&quot;3&quot; unique_id=&quot;81604&quot;&gt;&lt;property id=&quot;20148&quot; value=&quot;5&quot;/&gt;&lt;property id=&quot;20300&quot; value=&quot;Slide 22 - &amp;quot;1.3  Data Hierarchy&amp;quot;&quot;/&gt;&lt;property id=&quot;20307&quot; value=&quot;328&quot;/&gt;&lt;/object&gt;&lt;object type=&quot;3&quot; unique_id=&quot;81605&quot;&gt;&lt;property id=&quot;20148&quot; value=&quot;5&quot;/&gt;&lt;property id=&quot;20300&quot; value=&quot;Slide 24 - &amp;quot;1.4  Machine Languages, Assembly Languages and High-Level Languages&amp;quot;&quot;/&gt;&lt;property id=&quot;20307&quot; value=&quot;335&quot;/&gt;&lt;/object&gt;&lt;object type=&quot;3&quot; unique_id=&quot;81606&quot;&gt;&lt;property id=&quot;20148&quot; value=&quot;5&quot;/&gt;&lt;property id=&quot;20300&quot; value=&quot;Slide 25 - &amp;quot;1.4  Machine Languages, Assembly Languages and High-Level Languages&amp;quot;&quot;/&gt;&lt;property id=&quot;20307&quot; value=&quot;336&quot;/&gt;&lt;/object&gt;&lt;object type=&quot;3&quot; unique_id=&quot;81607&quot;&gt;&lt;property id=&quot;20148&quot; value=&quot;5&quot;/&gt;&lt;property id=&quot;20300&quot; value=&quot;Slide 26 - &amp;quot;1.5  The C Programming Language&amp;quot;&quot;/&gt;&lt;property id=&quot;20307&quot; value=&quot;337&quot;/&gt;&lt;/object&gt;&lt;object type=&quot;3&quot; unique_id=&quot;81608&quot;&gt;&lt;property id=&quot;20148&quot; value=&quot;5&quot;/&gt;&lt;property id=&quot;20300&quot; value=&quot;Slide 27 - &amp;quot;1.5  The C Programming Language (Cont.)&amp;quot;&quot;/&gt;&lt;property id=&quot;20307&quot; value=&quot;338&quot;/&gt;&lt;/object&gt;&lt;object type=&quot;3&quot; unique_id=&quot;81609&quot;&gt;&lt;property id=&quot;20148&quot; value=&quot;5&quot;/&gt;&lt;property id=&quot;20300&quot; value=&quot;Slide 28 - &amp;quot;1.5  The C Programming Language (Cont.)&amp;quot;&quot;/&gt;&lt;property id=&quot;20307&quot; value=&quot;339&quot;/&gt;&lt;/object&gt;&lt;object type=&quot;3&quot; unique_id=&quot;81610&quot;&gt;&lt;property id=&quot;20148&quot; value=&quot;5&quot;/&gt;&lt;property id=&quot;20300&quot; value=&quot;Slide 32 - &amp;quot;1.6  C Standard Library&amp;quot;&quot;/&gt;&lt;property id=&quot;20307&quot; value=&quot;340&quot;/&gt;&lt;/object&gt;&lt;object type=&quot;3&quot; unique_id=&quot;81611&quot;&gt;&lt;property id=&quot;20148&quot; value=&quot;5&quot;/&gt;&lt;property id=&quot;20300&quot; value=&quot;Slide 33 - &amp;quot;1.6  C Standard Library (Cont.)&amp;quot;&quot;/&gt;&lt;property id=&quot;20307&quot; value=&quot;341&quot;/&gt;&lt;/object&gt;&lt;object type=&quot;3&quot; unique_id=&quot;81612&quot;&gt;&lt;property id=&quot;20148&quot; value=&quot;5&quot;/&gt;&lt;property id=&quot;20300&quot; value=&quot;Slide 34 - &amp;quot;1.6  C Standard Library (Cont.)&amp;quot;&quot;/&gt;&lt;property id=&quot;20307&quot; value=&quot;342&quot;/&gt;&lt;/object&gt;&lt;object type=&quot;3&quot; unique_id=&quot;81613&quot;&gt;&lt;property id=&quot;20148&quot; value=&quot;5&quot;/&gt;&lt;property id=&quot;20300&quot; value=&quot;Slide 37 - &amp;quot;1.7  C++ and Other C-Based Languages&amp;quot;&quot;/&gt;&lt;property id=&quot;20307&quot; value=&quot;343&quot;/&gt;&lt;/object&gt;&lt;object type=&quot;3&quot; unique_id=&quot;81614&quot;&gt;&lt;property id=&quot;20148&quot; value=&quot;5&quot;/&gt;&lt;property id=&quot;20300&quot; value=&quot;Slide 38 - &amp;quot;1.7  C++ and Other C-Based Languages (Cont.)&amp;quot;&quot;/&gt;&lt;property id=&quot;20307&quot; value=&quot;344&quot;/&gt;&lt;/object&gt;&lt;object type=&quot;3&quot; unique_id=&quot;81615&quot;&gt;&lt;property id=&quot;20148&quot; value=&quot;5&quot;/&gt;&lt;property id=&quot;20300&quot; value=&quot;Slide 42 - &amp;quot;1.8  Object Technology&amp;quot;&quot;/&gt;&lt;property id=&quot;20307&quot; value=&quot;345&quot;/&gt;&lt;/object&gt;&lt;object type=&quot;3&quot; unique_id=&quot;81616&quot;&gt;&lt;property id=&quot;20148&quot; value=&quot;5&quot;/&gt;&lt;property id=&quot;20300&quot; value=&quot;Slide 43 - &amp;quot;1.8  Object Technology&amp;quot;&quot;/&gt;&lt;property id=&quot;20307&quot; value=&quot;346&quot;/&gt;&lt;/object&gt;&lt;object type=&quot;3&quot; unique_id=&quot;81617&quot;&gt;&lt;property id=&quot;20148&quot; value=&quot;5&quot;/&gt;&lt;property id=&quot;20300&quot; value=&quot;Slide 44 - &amp;quot;1.8  Object Technology (cont.)&amp;quot;&quot;/&gt;&lt;property id=&quot;20307&quot; value=&quot;347&quot;/&gt;&lt;/object&gt;&lt;object type=&quot;3&quot; unique_id=&quot;81618&quot;&gt;&lt;property id=&quot;20148&quot; value=&quot;5&quot;/&gt;&lt;property id=&quot;20300&quot; value=&quot;Slide 45 - &amp;quot;1.8  Object Technology (cont.)&amp;quot;&quot;/&gt;&lt;property id=&quot;20307&quot; value=&quot;348&quot;/&gt;&lt;/object&gt;&lt;object type=&quot;3&quot; unique_id=&quot;81619&quot;&gt;&lt;property id=&quot;20148&quot; value=&quot;5&quot;/&gt;&lt;property id=&quot;20300&quot; value=&quot;Slide 46 - &amp;quot;1.8  Object Technology (cont.)&amp;quot;&quot;/&gt;&lt;property id=&quot;20307&quot; value=&quot;349&quot;/&gt;&lt;/object&gt;&lt;object type=&quot;3&quot; unique_id=&quot;81620&quot;&gt;&lt;property id=&quot;20148&quot; value=&quot;5&quot;/&gt;&lt;property id=&quot;20300&quot; value=&quot;Slide 47 - &amp;quot;1.8  Object Technology (cont.)&amp;quot;&quot;/&gt;&lt;property id=&quot;20307&quot; value=&quot;350&quot;/&gt;&lt;/object&gt;&lt;object type=&quot;3&quot; unique_id=&quot;81621&quot;&gt;&lt;property id=&quot;20148&quot; value=&quot;5&quot;/&gt;&lt;property id=&quot;20300&quot; value=&quot;Slide 48 - &amp;quot;1.8  Object Technology (cont.)&amp;quot;&quot;/&gt;&lt;property id=&quot;20307&quot; value=&quot;351&quot;/&gt;&lt;/object&gt;&lt;object type=&quot;3&quot; unique_id=&quot;81622&quot;&gt;&lt;property id=&quot;20148&quot; value=&quot;5&quot;/&gt;&lt;property id=&quot;20300&quot; value=&quot;Slide 49 - &amp;quot;1.8  Object Technology (cont.)&amp;quot;&quot;/&gt;&lt;property id=&quot;20307&quot; value=&quot;352&quot;/&gt;&lt;/object&gt;&lt;object type=&quot;3&quot; unique_id=&quot;81623&quot;&gt;&lt;property id=&quot;20148&quot; value=&quot;5&quot;/&gt;&lt;property id=&quot;20300&quot; value=&quot;Slide 50 - &amp;quot;1.8  Object Technology (cont.)&amp;quot;&quot;/&gt;&lt;property id=&quot;20307&quot; value=&quot;353&quot;/&gt;&lt;/object&gt;&lt;object type=&quot;3&quot; unique_id=&quot;81624&quot;&gt;&lt;property id=&quot;20148&quot; value=&quot;5&quot;/&gt;&lt;property id=&quot;20300&quot; value=&quot;Slide 51 - &amp;quot;1.8  Object Technology (cont.)&amp;quot;&quot;/&gt;&lt;property id=&quot;20307&quot; value=&quot;354&quot;/&gt;&lt;/object&gt;&lt;object type=&quot;3&quot; unique_id=&quot;81625&quot;&gt;&lt;property id=&quot;20148&quot; value=&quot;5&quot;/&gt;&lt;property id=&quot;20300&quot; value=&quot;Slide 53 - &amp;quot;1.9  Typical C Program Development Environment&amp;quot;&quot;/&gt;&lt;property id=&quot;20307&quot; value=&quot;355&quot;/&gt;&lt;/object&gt;&lt;object type=&quot;3&quot; unique_id=&quot;81626&quot;&gt;&lt;property id=&quot;20148&quot; value=&quot;5&quot;/&gt;&lt;property id=&quot;20300&quot; value=&quot;Slide 54 - &amp;quot;1.9  Typical C Program Development Environment (Cont.)&amp;quot;&quot;/&gt;&lt;property id=&quot;20307&quot; value=&quot;356&quot;/&gt;&lt;/object&gt;&lt;object type=&quot;3&quot; unique_id=&quot;81627&quot;&gt;&lt;property id=&quot;20148&quot; value=&quot;5&quot;/&gt;&lt;property id=&quot;20300&quot; value=&quot;Slide 55 - &amp;quot;1.9  Phase 1: Creating a Program&amp;quot;&quot;/&gt;&lt;property id=&quot;20307&quot; value=&quot;357&quot;/&gt;&lt;/object&gt;&lt;object type=&quot;3&quot; unique_id=&quot;81628&quot;&gt;&lt;property id=&quot;20148&quot; value=&quot;5&quot;/&gt;&lt;property id=&quot;20300&quot; value=&quot;Slide 56 - &amp;quot;1.9  Phases 2 and 3: Preprocessing and Compiling a C Program&amp;quot;&quot;/&gt;&lt;property id=&quot;20307&quot; value=&quot;358&quot;/&gt;&lt;/object&gt;&lt;object type=&quot;3&quot; unique_id=&quot;81629&quot;&gt;&lt;property id=&quot;20148&quot; value=&quot;5&quot;/&gt;&lt;property id=&quot;20300&quot; value=&quot;Slide 57 - &amp;quot;1.9  Phases 2 and 3: Preprocessing and Compiling a C Program (Cont.)&amp;quot;&quot;/&gt;&lt;property id=&quot;20307&quot; value=&quot;359&quot;/&gt;&lt;/object&gt;&lt;object type=&quot;3&quot; unique_id=&quot;81630&quot;&gt;&lt;property id=&quot;20148&quot; value=&quot;5&quot;/&gt;&lt;property id=&quot;20300&quot; value=&quot;Slide 60 - &amp;quot;1.9  Phase 4: Linking&amp;quot;&quot;/&gt;&lt;property id=&quot;20307&quot; value=&quot;360&quot;/&gt;&lt;/object&gt;&lt;object type=&quot;3&quot; unique_id=&quot;81631&quot;&gt;&lt;property id=&quot;20148&quot; value=&quot;5&quot;/&gt;&lt;property id=&quot;20300&quot; value=&quot;Slide 61 - &amp;quot;1.9  Phase 4: Linking (Cont.)&amp;quot;&quot;/&gt;&lt;property id=&quot;20307&quot; value=&quot;361&quot;/&gt;&lt;/object&gt;&lt;object type=&quot;3&quot; unique_id=&quot;81632&quot;&gt;&lt;property id=&quot;20148&quot; value=&quot;5&quot;/&gt;&lt;property id=&quot;20300&quot; value=&quot;Slide 62 - &amp;quot;1.9  Phase 5: Loading&amp;quot;&quot;/&gt;&lt;property id=&quot;20307&quot; value=&quot;362&quot;/&gt;&lt;/object&gt;&lt;object type=&quot;3&quot; unique_id=&quot;81633&quot;&gt;&lt;property id=&quot;20148&quot; value=&quot;5&quot;/&gt;&lt;property id=&quot;20300&quot; value=&quot;Slide 63 - &amp;quot;1.9  Phase 6: Execution&amp;quot;&quot;/&gt;&lt;property id=&quot;20307&quot; value=&quot;363&quot;/&gt;&lt;/object&gt;&lt;object type=&quot;3&quot; unique_id=&quot;81634&quot;&gt;&lt;property id=&quot;20148&quot; value=&quot;5&quot;/&gt;&lt;property id=&quot;20300&quot; value=&quot;Slide 64 - &amp;quot;1.9  Problems That May Occur at Execution Time&amp;quot;&quot;/&gt;&lt;property id=&quot;20307&quot; value=&quot;364&quot;/&gt;&lt;/object&gt;&lt;object type=&quot;3&quot; unique_id=&quot;84695&quot;&gt;&lt;property id=&quot;20148&quot; value=&quot;5&quot;/&gt;&lt;property id=&quot;20300&quot; value=&quot;Slide 66 - &amp;quot;1.9  Standard Input, Standard Output and Standard Error Streams&amp;quot;&quot;/&gt;&lt;property id=&quot;20307&quot; value=&quot;365&quot;/&gt;&lt;/object&gt;&lt;object type=&quot;3&quot; unique_id=&quot;84696&quot;&gt;&lt;property id=&quot;20148&quot; value=&quot;5&quot;/&gt;&lt;property id=&quot;20300&quot; value=&quot;Slide 67 - &amp;quot;1.9  Standard Input, Standard Output and Standard Error Streams (Cont.)&amp;quot;&quot;/&gt;&lt;property id=&quot;20307&quot; value=&quot;366&quot;/&gt;&lt;/object&gt;&lt;object type=&quot;3&quot; unique_id=&quot;84697&quot;&gt;&lt;property id=&quot;20148&quot; value=&quot;5&quot;/&gt;&lt;property id=&quot;20300&quot; value=&quot;Slide 68 - &amp;quot;1.10  Test-Driving a C Application in Windows, Linux and Mac OS X&amp;quot;&quot;/&gt;&lt;property id=&quot;20307&quot; value=&quot;367&quot;/&gt;&lt;/object&gt;&lt;object type=&quot;3&quot; unique_id=&quot;84698&quot;&gt;&lt;property id=&quot;20148&quot; value=&quot;5&quot;/&gt;&lt;property id=&quot;20300&quot; value=&quot;Slide 69 - &amp;quot;1.10  Test-Driving a C Application in Windows, Linux and Mac OS X (Cont.)&amp;quot;&quot;/&gt;&lt;property id=&quot;20307&quot; value=&quot;368&quot;/&gt;&lt;/object&gt;&lt;object type=&quot;3&quot; unique_id=&quot;84699&quot;&gt;&lt;property id=&quot;20148&quot; value=&quot;5&quot;/&gt;&lt;property id=&quot;20300&quot; value=&quot;Slide 70 - &amp;quot;1.10.1  Running a C Application from the Windows Command Prompt&amp;quot;&quot;/&gt;&lt;property id=&quot;20307&quot; value=&quot;369&quot;/&gt;&lt;/object&gt;&lt;object type=&quot;3&quot; unique_id=&quot;84700&quot;&gt;&lt;property id=&quot;20148&quot; value=&quot;5&quot;/&gt;&lt;property id=&quot;20300&quot; value=&quot;Slide 78 - &amp;quot;1.10.2  Running a C Application Using GNU C with Linux&amp;quot;&quot;/&gt;&lt;property id=&quot;20307&quot; value=&quot;370&quot;/&gt;&lt;/object&gt;&lt;object type=&quot;3&quot; unique_id=&quot;84701&quot;&gt;&lt;property id=&quot;20148&quot; value=&quot;5&quot;/&gt;&lt;property id=&quot;20300&quot; value=&quot;Slide 87 - &amp;quot;1.11.3  Running a C Application Using the Teminal on Mac OS X&amp;quot;&quot;/&gt;&lt;property id=&quot;20307&quot; value=&quot;372&quot;/&gt;&lt;/object&gt;&lt;object type=&quot;3&quot; unique_id=&quot;84702&quot;&gt;&lt;property id=&quot;20148&quot; value=&quot;5&quot;/&gt;&lt;property id=&quot;20300&quot; value=&quot;Slide 96 - &amp;quot;1.11  Operating Systems&amp;quot;&quot;/&gt;&lt;property id=&quot;20307&quot; value=&quot;373&quot;/&gt;&lt;/object&gt;&lt;object type=&quot;3&quot; unique_id=&quot;84703&quot;&gt;&lt;property id=&quot;20148&quot; value=&quot;5&quot;/&gt;&lt;property id=&quot;20300&quot; value=&quot;Slide 97 - &amp;quot;1.11.1 Windows—A Proprietary Operating System&amp;quot;&quot;/&gt;&lt;property id=&quot;20307&quot; value=&quot;374&quot;/&gt;&lt;/object&gt;&lt;object type=&quot;3&quot; unique_id=&quot;84704&quot;&gt;&lt;property id=&quot;20148&quot; value=&quot;5&quot;/&gt;&lt;property id=&quot;20300&quot; value=&quot;Slide 98 - &amp;quot;1.11.2 Linux—An Open-Source Operating System&amp;quot;&quot;/&gt;&lt;property id=&quot;20307&quot; value=&quot;375&quot;/&gt;&lt;/object&gt;&lt;object type=&quot;3&quot; unique_id=&quot;84705&quot;&gt;&lt;property id=&quot;20148&quot; value=&quot;5&quot;/&gt;&lt;property id=&quot;20300&quot; value=&quot;Slide 99 - &amp;quot;1.11.2 Linux—An Open-Source Operating System&amp;quot;&quot;/&gt;&lt;property id=&quot;20307&quot; value=&quot;376&quot;/&gt;&lt;/object&gt;&lt;object type=&quot;3&quot; unique_id=&quot;84706&quot;&gt;&lt;property id=&quot;20148&quot; value=&quot;5&quot;/&gt;&lt;property id=&quot;20300&quot; value=&quot;Slide 100 - &amp;quot;1.11.3 Apple’s Mac OS X; Apple’s iOS for iPhone®, iPad® and iPod Touch® Devices&amp;quot;&quot;/&gt;&lt;property id=&quot;20307&quot; value=&quot;377&quot;/&gt;&lt;/object&gt;&lt;object type=&quot;3&quot; unique_id=&quot;84707&quot;&gt;&lt;property id=&quot;20148&quot; value=&quot;5&quot;/&gt;&lt;property id=&quot;20300&quot; value=&quot;Slide 101 - &amp;quot;1.11.3 Apple’s Mac OS X; Apple’s iOS for iPhone®, iPad® and iPod Touch® Devices&amp;quot;&quot;/&gt;&lt;property id=&quot;20307&quot; value=&quot;378&quot;/&gt;&lt;/object&gt;&lt;object type=&quot;3&quot; unique_id=&quot;84708&quot;&gt;&lt;property id=&quot;20148&quot; value=&quot;5&quot;/&gt;&lt;property id=&quot;20300&quot; value=&quot;Slide 102 - &amp;quot;1.11.4 Google’s Android&amp;quot;&quot;/&gt;&lt;property id=&quot;20307&quot; value=&quot;379&quot;/&gt;&lt;/object&gt;&lt;object type=&quot;3&quot; unique_id=&quot;84709&quot;&gt;&lt;property id=&quot;20148&quot; value=&quot;5&quot;/&gt;&lt;property id=&quot;20300&quot; value=&quot;Slide 103 - &amp;quot;1.12 The Internet and the World Wide Web&amp;quot;&quot;/&gt;&lt;property id=&quot;20307&quot; value=&quot;380&quot;/&gt;&lt;/object&gt;&lt;object type=&quot;3&quot; unique_id=&quot;84710&quot;&gt;&lt;property id=&quot;20148&quot; value=&quot;5&quot;/&gt;&lt;property id=&quot;20300&quot; value=&quot;Slide 104 - &amp;quot;1.12 The Internet and the World Wide Web (Cont.)&amp;quot;&quot;/&gt;&lt;property id=&quot;20307&quot; value=&quot;382&quot;/&gt;&lt;/object&gt;&lt;object type=&quot;3&quot; unique_id=&quot;84711&quot;&gt;&lt;property id=&quot;20148&quot; value=&quot;5&quot;/&gt;&lt;property id=&quot;20300&quot; value=&quot;Slide 105 - &amp;quot;1.12 The Internet and the World Wide Web (Cont.)&amp;quot;&quot;/&gt;&lt;property id=&quot;20307&quot; value=&quot;384&quot;/&gt;&lt;/object&gt;&lt;object type=&quot;3&quot; unique_id=&quot;84712&quot;&gt;&lt;property id=&quot;20148&quot; value=&quot;5&quot;/&gt;&lt;property id=&quot;20300&quot; value=&quot;Slide 106 - &amp;quot;1.12 The Internet and the World Wide Web (Cont.)&amp;quot;&quot;/&gt;&lt;property id=&quot;20307&quot; value=&quot;388&quot;/&gt;&lt;/object&gt;&lt;object type=&quot;3&quot; unique_id=&quot;84713&quot;&gt;&lt;property id=&quot;20148&quot; value=&quot;5&quot;/&gt;&lt;property id=&quot;20300&quot; value=&quot;Slide 111 - &amp;quot;1.13 Some Key Software Development Terminology&amp;quot;&quot;/&gt;&lt;property id=&quot;20307&quot; value=&quot;389&quot;/&gt;&lt;/object&gt;&lt;object type=&quot;3&quot; unique_id=&quot;84714&quot;&gt;&lt;property id=&quot;20148&quot; value=&quot;5&quot;/&gt;&lt;property id=&quot;20300&quot; value=&quot;Slide 117 - &amp;quot;1.14  Keeping Up-to-Date with Information Technologies&amp;quot;&quot;/&gt;&lt;property id=&quot;20307&quot; value=&quot;390&quot;/&gt;&lt;/objec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ISLIDE.ICON" val="#86099;"/>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44546A"/>
      </a:dk2>
      <a:lt2>
        <a:srgbClr val="E7E6E6"/>
      </a:lt2>
      <a:accent1>
        <a:srgbClr val="0070C0"/>
      </a:accent1>
      <a:accent2>
        <a:srgbClr val="07C1CC"/>
      </a:accent2>
      <a:accent3>
        <a:srgbClr val="839192"/>
      </a:accent3>
      <a:accent4>
        <a:srgbClr val="156595"/>
      </a:accent4>
      <a:accent5>
        <a:srgbClr val="FBD78D"/>
      </a:accent5>
      <a:accent6>
        <a:srgbClr val="F25237"/>
      </a:accent6>
      <a:hlink>
        <a:srgbClr val="0563C1"/>
      </a:hlink>
      <a:folHlink>
        <a:srgbClr val="954F72"/>
      </a:folHlink>
    </a:clrScheme>
    <a:fontScheme name="自定义 2">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B.potx" id="{71FE36DE-E8EE-4572-B7AD-2FD59B46D774}" vid="{27F9D4F0-F007-4654-8CDF-2D6BB615FE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DB</Template>
  <TotalTime>39199</TotalTime>
  <Words>4539</Words>
  <Application>Microsoft Office PowerPoint</Application>
  <PresentationFormat>宽屏</PresentationFormat>
  <Paragraphs>511</Paragraphs>
  <Slides>40</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40</vt:i4>
      </vt:variant>
    </vt:vector>
  </HeadingPairs>
  <TitlesOfParts>
    <vt:vector size="51" baseType="lpstr">
      <vt:lpstr>等线 Light</vt:lpstr>
      <vt:lpstr>楷体_GB2312</vt:lpstr>
      <vt:lpstr>宋体</vt:lpstr>
      <vt:lpstr>微软雅黑</vt:lpstr>
      <vt:lpstr>Arial</vt:lpstr>
      <vt:lpstr>Calibri</vt:lpstr>
      <vt:lpstr>Cambria Math</vt:lpstr>
      <vt:lpstr>Courier New</vt:lpstr>
      <vt:lpstr>Verdana</vt:lpstr>
      <vt:lpstr>Wingdings</vt:lpstr>
      <vt:lpstr>Office 主题</vt:lpstr>
      <vt:lpstr>第九章  关系查询处理与查询优化</vt:lpstr>
      <vt:lpstr>第三篇 系统篇</vt:lpstr>
      <vt:lpstr>第九章  关系查询处理和查询优化</vt:lpstr>
      <vt:lpstr>9.1 关系数据库系统的查询处理</vt:lpstr>
      <vt:lpstr>9.1.1  查询处理步骤</vt:lpstr>
      <vt:lpstr>9.1.2 实现查询操作的算法示例</vt:lpstr>
      <vt:lpstr>实现查询操作的算法示例</vt:lpstr>
      <vt:lpstr>实现查询操作的算法示例</vt:lpstr>
      <vt:lpstr>9.1.2 实现查询操作的算法示例</vt:lpstr>
      <vt:lpstr>9.1.2 实现查询操作的算法示例</vt:lpstr>
      <vt:lpstr>9.1.2 实现查询操作的算法示例</vt:lpstr>
      <vt:lpstr>9.1.2 实现查询操作的算法示例</vt:lpstr>
      <vt:lpstr>9.1.2 实现查询操作的算法示例</vt:lpstr>
      <vt:lpstr>9.1.2 实现查询操作的算法示例</vt:lpstr>
      <vt:lpstr>9.1.2 实现查询操作的算法示例</vt:lpstr>
      <vt:lpstr>openGauss的查询处理与优化</vt:lpstr>
      <vt:lpstr>9.2 关系数据库系统的查询优化</vt:lpstr>
      <vt:lpstr>9.2.1 查询优化概述</vt:lpstr>
      <vt:lpstr>9.2.1 查询优化概述</vt:lpstr>
      <vt:lpstr>实例分析</vt:lpstr>
      <vt:lpstr>实例分析</vt:lpstr>
      <vt:lpstr>实例分析</vt:lpstr>
      <vt:lpstr>实例分析</vt:lpstr>
      <vt:lpstr>实例分析</vt:lpstr>
      <vt:lpstr>实例分析</vt:lpstr>
      <vt:lpstr>实例分析</vt:lpstr>
      <vt:lpstr>实例分析</vt:lpstr>
      <vt:lpstr>9.3 代数优化</vt:lpstr>
      <vt:lpstr>9.3.1 关系代数表达式等价变换规则</vt:lpstr>
      <vt:lpstr>9.3.2 查询树的启发式优化</vt:lpstr>
      <vt:lpstr>9.3.2 查询树的启发式优化</vt:lpstr>
      <vt:lpstr>9.3.2 查询树的启发式优化</vt:lpstr>
      <vt:lpstr>9.3.2 查询树的启发式优化</vt:lpstr>
      <vt:lpstr>9.4 物理优化</vt:lpstr>
      <vt:lpstr>9.4 物理优化</vt:lpstr>
      <vt:lpstr>9.4 物理优化</vt:lpstr>
      <vt:lpstr>9.4 物理优化</vt:lpstr>
      <vt:lpstr>9.4 物理优化</vt:lpstr>
      <vt:lpstr>9.4 物理优化</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Miao</cp:lastModifiedBy>
  <cp:revision>1705</cp:revision>
  <dcterms:created xsi:type="dcterms:W3CDTF">2015-04-27T18:37:45Z</dcterms:created>
  <dcterms:modified xsi:type="dcterms:W3CDTF">2023-12-13T09:14:32Z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readonly">
    <vt:lpwstr/>
  </property>
  <property fmtid="{D5CDD505-2E9C-101B-9397-08002B2CF9AE}" pid="3" name="_change">
    <vt:lpwstr/>
  </property>
  <property fmtid="{D5CDD505-2E9C-101B-9397-08002B2CF9AE}" pid="4" name="_full-control">
    <vt:lpwstr/>
  </property>
  <property fmtid="{D5CDD505-2E9C-101B-9397-08002B2CF9AE}" pid="5" name="sflag">
    <vt:lpwstr>1675220257</vt:lpwstr>
  </property>
  <property fmtid="{D5CDD505-2E9C-101B-9397-08002B2CF9AE}" pid="6" name="_2015_ms_pID_725343">
    <vt:lpwstr>(2)GndgmhlnY3W6q2kLcRl549q8uswMvKR3gek+f+tZfWwrv+ZG07DQ9catRzLWWQjOkhkMi8lm
ofbMD9I8QuuX2xXB56fAaiVoo3V3Xk2jZ2N217rhaTyOrCeGfvqdlYnQ+r4ROIeeo2PTYg69
cO2YHEl4stGvewC9lmUU9BwZER59lg1gg26kWnkB2D0zvMj6bCFG/kilDhqNTkm9XGGvtk73
/BllSbiC5Os64suGYs</vt:lpwstr>
  </property>
  <property fmtid="{D5CDD505-2E9C-101B-9397-08002B2CF9AE}" pid="7" name="_2015_ms_pID_7253431">
    <vt:lpwstr>TNk3ioDHko7ukqxDhncQTdU5tYFZ9kInKBSJR1jpSiOQijNq0czIIh
CWlYZXrOg8FDtkf5SgFkb1K3QIfb/+Gd6E4WyQBFkJstKUomZFfXnNMk1FHdxEXBkQ8W8oyD
qlk2y5OEXIx5JyCQQwsKHygU/p7koBv3JzhRHP5n3Nk1Wna7yMdWGS3SfMWaV/37gfw=</vt:lpwstr>
  </property>
</Properties>
</file>