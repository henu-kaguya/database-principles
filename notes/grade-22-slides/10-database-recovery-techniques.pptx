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6" r:id="rId1"/>
  </p:sldMasterIdLst>
  <p:notesMasterIdLst>
    <p:notesMasterId r:id="rId50"/>
  </p:notesMasterIdLst>
  <p:sldIdLst>
    <p:sldId id="403" r:id="rId2"/>
    <p:sldId id="579" r:id="rId3"/>
    <p:sldId id="988" r:id="rId4"/>
    <p:sldId id="404" r:id="rId5"/>
    <p:sldId id="405" r:id="rId6"/>
    <p:sldId id="407" r:id="rId7"/>
    <p:sldId id="408" r:id="rId8"/>
    <p:sldId id="409" r:id="rId9"/>
    <p:sldId id="993" r:id="rId10"/>
    <p:sldId id="994" r:id="rId11"/>
    <p:sldId id="996" r:id="rId12"/>
    <p:sldId id="414" r:id="rId13"/>
    <p:sldId id="415" r:id="rId14"/>
    <p:sldId id="416" r:id="rId15"/>
    <p:sldId id="417" r:id="rId16"/>
    <p:sldId id="418" r:id="rId17"/>
    <p:sldId id="1006" r:id="rId18"/>
    <p:sldId id="423" r:id="rId19"/>
    <p:sldId id="424" r:id="rId20"/>
    <p:sldId id="420" r:id="rId21"/>
    <p:sldId id="421" r:id="rId22"/>
    <p:sldId id="425" r:id="rId23"/>
    <p:sldId id="426" r:id="rId24"/>
    <p:sldId id="429" r:id="rId25"/>
    <p:sldId id="430" r:id="rId26"/>
    <p:sldId id="433" r:id="rId27"/>
    <p:sldId id="431" r:id="rId28"/>
    <p:sldId id="432" r:id="rId29"/>
    <p:sldId id="434" r:id="rId30"/>
    <p:sldId id="436" r:id="rId31"/>
    <p:sldId id="437" r:id="rId32"/>
    <p:sldId id="438" r:id="rId33"/>
    <p:sldId id="439" r:id="rId34"/>
    <p:sldId id="440" r:id="rId35"/>
    <p:sldId id="441" r:id="rId36"/>
    <p:sldId id="443" r:id="rId37"/>
    <p:sldId id="444" r:id="rId38"/>
    <p:sldId id="445" r:id="rId39"/>
    <p:sldId id="447" r:id="rId40"/>
    <p:sldId id="448" r:id="rId41"/>
    <p:sldId id="449" r:id="rId42"/>
    <p:sldId id="446" r:id="rId43"/>
    <p:sldId id="450" r:id="rId44"/>
    <p:sldId id="451" r:id="rId45"/>
    <p:sldId id="453" r:id="rId46"/>
    <p:sldId id="454" r:id="rId47"/>
    <p:sldId id="1062" r:id="rId48"/>
    <p:sldId id="1063" r:id="rId4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D4E2E5"/>
    <a:srgbClr val="34ACB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89777" autoAdjust="0"/>
  </p:normalViewPr>
  <p:slideViewPr>
    <p:cSldViewPr snapToGrid="0">
      <p:cViewPr varScale="1">
        <p:scale>
          <a:sx n="102" d="100"/>
          <a:sy n="102" d="100"/>
        </p:scale>
        <p:origin x="95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0E76F-B0B7-4B7D-99A2-1AE4E5003A85}" type="datetimeFigureOut">
              <a:rPr lang="zh-CN" altLang="en-US" smtClean="0"/>
              <a:t>2023/12/13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4ACED3-A290-4E4D-B94F-B458FF2BD3D8}" type="slidenum">
              <a:rPr lang="zh-CN" altLang="en-US" smtClean="0"/>
              <a:t>‹#›</a:t>
            </a:fld>
            <a:endParaRPr lang="zh-CN" altLang="en-US"/>
          </a:p>
        </p:txBody>
      </p:sp>
    </p:spTree>
    <p:extLst>
      <p:ext uri="{BB962C8B-B14F-4D97-AF65-F5344CB8AC3E}">
        <p14:creationId xmlns:p14="http://schemas.microsoft.com/office/powerpoint/2010/main" val="1428078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F0660C4-AC12-4019-82B9-40EB2BC385B8}" type="slidenum">
              <a:rPr lang="en-US" smtClean="0"/>
              <a:t>38</a:t>
            </a:fld>
            <a:endParaRPr lang="en-US"/>
          </a:p>
        </p:txBody>
      </p:sp>
    </p:spTree>
    <p:extLst>
      <p:ext uri="{BB962C8B-B14F-4D97-AF65-F5344CB8AC3E}">
        <p14:creationId xmlns:p14="http://schemas.microsoft.com/office/powerpoint/2010/main" val="3926327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508" y="4377645"/>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CA9B98F-A32D-449F-A16D-8074457670E9}" type="datetime1">
              <a:rPr lang="zh-CN" altLang="en-US" smtClean="0"/>
              <a:t>2023/12/13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C9E101-E51D-431E-84FA-C029B8655B60}" type="slidenum">
              <a:rPr lang="zh-CN" altLang="en-US" smtClean="0"/>
              <a:t>‹#›</a:t>
            </a:fld>
            <a:endParaRPr lang="zh-CN" altLang="en-US"/>
          </a:p>
        </p:txBody>
      </p:sp>
      <p:sp>
        <p:nvSpPr>
          <p:cNvPr id="7" name="矩形 6">
            <a:extLst>
              <a:ext uri="{FF2B5EF4-FFF2-40B4-BE49-F238E27FC236}">
                <a16:creationId xmlns:a16="http://schemas.microsoft.com/office/drawing/2014/main" id="{2B68CA98-A398-4530-9020-4D4DB6439D6A}"/>
              </a:ext>
            </a:extLst>
          </p:cNvPr>
          <p:cNvSpPr/>
          <p:nvPr/>
        </p:nvSpPr>
        <p:spPr>
          <a:xfrm>
            <a:off x="0" y="1724896"/>
            <a:ext cx="12192000" cy="2138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8" name="组合 7">
            <a:extLst>
              <a:ext uri="{FF2B5EF4-FFF2-40B4-BE49-F238E27FC236}">
                <a16:creationId xmlns:a16="http://schemas.microsoft.com/office/drawing/2014/main" id="{9AFCF4C2-E096-4262-8ECB-78D0989EDE7A}"/>
              </a:ext>
            </a:extLst>
          </p:cNvPr>
          <p:cNvGrpSpPr/>
          <p:nvPr/>
        </p:nvGrpSpPr>
        <p:grpSpPr>
          <a:xfrm>
            <a:off x="4688155" y="5875923"/>
            <a:ext cx="342764" cy="342764"/>
            <a:chOff x="4688155" y="5875923"/>
            <a:chExt cx="342764" cy="342764"/>
          </a:xfrm>
        </p:grpSpPr>
        <p:sp>
          <p:nvSpPr>
            <p:cNvPr id="9" name="椭圆 8">
              <a:extLst>
                <a:ext uri="{FF2B5EF4-FFF2-40B4-BE49-F238E27FC236}">
                  <a16:creationId xmlns:a16="http://schemas.microsoft.com/office/drawing/2014/main" id="{CF0BDC3B-A6A3-45D0-B9DB-DF2D639EE734}"/>
                </a:ext>
              </a:extLst>
            </p:cNvPr>
            <p:cNvSpPr/>
            <p:nvPr/>
          </p:nvSpPr>
          <p:spPr>
            <a:xfrm>
              <a:off x="4688155"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10" name="组合 9">
              <a:extLst>
                <a:ext uri="{FF2B5EF4-FFF2-40B4-BE49-F238E27FC236}">
                  <a16:creationId xmlns:a16="http://schemas.microsoft.com/office/drawing/2014/main" id="{C57D6A93-2E21-4CEE-8B0C-82D273459889}"/>
                </a:ext>
              </a:extLst>
            </p:cNvPr>
            <p:cNvGrpSpPr/>
            <p:nvPr/>
          </p:nvGrpSpPr>
          <p:grpSpPr>
            <a:xfrm>
              <a:off x="4763028" y="5947390"/>
              <a:ext cx="193018" cy="199830"/>
              <a:chOff x="5753100" y="3041650"/>
              <a:chExt cx="682626" cy="771526"/>
            </a:xfrm>
            <a:solidFill>
              <a:schemeClr val="accent1"/>
            </a:solidFill>
          </p:grpSpPr>
          <p:sp>
            <p:nvSpPr>
              <p:cNvPr id="11" name="Oval 202">
                <a:extLst>
                  <a:ext uri="{FF2B5EF4-FFF2-40B4-BE49-F238E27FC236}">
                    <a16:creationId xmlns:a16="http://schemas.microsoft.com/office/drawing/2014/main" id="{2F0A091A-AD4E-45CF-AFEB-14261F9539CF}"/>
                  </a:ext>
                </a:extLst>
              </p:cNvPr>
              <p:cNvSpPr>
                <a:spLocks noChangeArrowheads="1"/>
              </p:cNvSpPr>
              <p:nvPr/>
            </p:nvSpPr>
            <p:spPr bwMode="auto">
              <a:xfrm>
                <a:off x="5908675" y="3041650"/>
                <a:ext cx="119063" cy="1476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2" name="Freeform 203">
                <a:extLst>
                  <a:ext uri="{FF2B5EF4-FFF2-40B4-BE49-F238E27FC236}">
                    <a16:creationId xmlns:a16="http://schemas.microsoft.com/office/drawing/2014/main" id="{D6D7EDDD-D438-4D26-8D11-489580AAB1B0}"/>
                  </a:ext>
                </a:extLst>
              </p:cNvPr>
              <p:cNvSpPr/>
              <p:nvPr/>
            </p:nvSpPr>
            <p:spPr bwMode="auto">
              <a:xfrm>
                <a:off x="6103938" y="3413125"/>
                <a:ext cx="46038" cy="84138"/>
              </a:xfrm>
              <a:custGeom>
                <a:avLst/>
                <a:gdLst>
                  <a:gd name="T0" fmla="*/ 2 w 12"/>
                  <a:gd name="T1" fmla="*/ 22 h 22"/>
                  <a:gd name="T2" fmla="*/ 10 w 12"/>
                  <a:gd name="T3" fmla="*/ 22 h 22"/>
                  <a:gd name="T4" fmla="*/ 12 w 12"/>
                  <a:gd name="T5" fmla="*/ 20 h 22"/>
                  <a:gd name="T6" fmla="*/ 12 w 12"/>
                  <a:gd name="T7" fmla="*/ 2 h 22"/>
                  <a:gd name="T8" fmla="*/ 10 w 12"/>
                  <a:gd name="T9" fmla="*/ 0 h 22"/>
                  <a:gd name="T10" fmla="*/ 2 w 12"/>
                  <a:gd name="T11" fmla="*/ 0 h 22"/>
                  <a:gd name="T12" fmla="*/ 0 w 12"/>
                  <a:gd name="T13" fmla="*/ 2 h 22"/>
                  <a:gd name="T14" fmla="*/ 0 w 12"/>
                  <a:gd name="T15" fmla="*/ 20 h 22"/>
                  <a:gd name="T16" fmla="*/ 2 w 1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2">
                    <a:moveTo>
                      <a:pt x="2" y="22"/>
                    </a:moveTo>
                    <a:cubicBezTo>
                      <a:pt x="10" y="22"/>
                      <a:pt x="10" y="22"/>
                      <a:pt x="10" y="22"/>
                    </a:cubicBezTo>
                    <a:cubicBezTo>
                      <a:pt x="11" y="22"/>
                      <a:pt x="12" y="21"/>
                      <a:pt x="12" y="20"/>
                    </a:cubicBezTo>
                    <a:cubicBezTo>
                      <a:pt x="12" y="2"/>
                      <a:pt x="12" y="2"/>
                      <a:pt x="12" y="2"/>
                    </a:cubicBezTo>
                    <a:cubicBezTo>
                      <a:pt x="12" y="1"/>
                      <a:pt x="11" y="0"/>
                      <a:pt x="10" y="0"/>
                    </a:cubicBezTo>
                    <a:cubicBezTo>
                      <a:pt x="2" y="0"/>
                      <a:pt x="2" y="0"/>
                      <a:pt x="2" y="0"/>
                    </a:cubicBezTo>
                    <a:cubicBezTo>
                      <a:pt x="1" y="0"/>
                      <a:pt x="0" y="1"/>
                      <a:pt x="0" y="2"/>
                    </a:cubicBezTo>
                    <a:cubicBezTo>
                      <a:pt x="0" y="20"/>
                      <a:pt x="0" y="20"/>
                      <a:pt x="0" y="20"/>
                    </a:cubicBezTo>
                    <a:cubicBezTo>
                      <a:pt x="0" y="21"/>
                      <a:pt x="1" y="22"/>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3" name="Freeform 204">
                <a:extLst>
                  <a:ext uri="{FF2B5EF4-FFF2-40B4-BE49-F238E27FC236}">
                    <a16:creationId xmlns:a16="http://schemas.microsoft.com/office/drawing/2014/main" id="{63ABB64B-5B7B-41F3-908D-85AF1C674D97}"/>
                  </a:ext>
                </a:extLst>
              </p:cNvPr>
              <p:cNvSpPr/>
              <p:nvPr/>
            </p:nvSpPr>
            <p:spPr bwMode="auto">
              <a:xfrm>
                <a:off x="6313488" y="3413125"/>
                <a:ext cx="46038" cy="84138"/>
              </a:xfrm>
              <a:custGeom>
                <a:avLst/>
                <a:gdLst>
                  <a:gd name="T0" fmla="*/ 3 w 12"/>
                  <a:gd name="T1" fmla="*/ 22 h 22"/>
                  <a:gd name="T2" fmla="*/ 10 w 12"/>
                  <a:gd name="T3" fmla="*/ 22 h 22"/>
                  <a:gd name="T4" fmla="*/ 12 w 12"/>
                  <a:gd name="T5" fmla="*/ 20 h 22"/>
                  <a:gd name="T6" fmla="*/ 12 w 12"/>
                  <a:gd name="T7" fmla="*/ 2 h 22"/>
                  <a:gd name="T8" fmla="*/ 10 w 12"/>
                  <a:gd name="T9" fmla="*/ 0 h 22"/>
                  <a:gd name="T10" fmla="*/ 3 w 12"/>
                  <a:gd name="T11" fmla="*/ 0 h 22"/>
                  <a:gd name="T12" fmla="*/ 0 w 12"/>
                  <a:gd name="T13" fmla="*/ 2 h 22"/>
                  <a:gd name="T14" fmla="*/ 0 w 12"/>
                  <a:gd name="T15" fmla="*/ 20 h 22"/>
                  <a:gd name="T16" fmla="*/ 3 w 1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2">
                    <a:moveTo>
                      <a:pt x="3" y="22"/>
                    </a:moveTo>
                    <a:cubicBezTo>
                      <a:pt x="10" y="22"/>
                      <a:pt x="10" y="22"/>
                      <a:pt x="10" y="22"/>
                    </a:cubicBezTo>
                    <a:cubicBezTo>
                      <a:pt x="12" y="22"/>
                      <a:pt x="12" y="21"/>
                      <a:pt x="12" y="20"/>
                    </a:cubicBezTo>
                    <a:cubicBezTo>
                      <a:pt x="12" y="2"/>
                      <a:pt x="12" y="2"/>
                      <a:pt x="12" y="2"/>
                    </a:cubicBezTo>
                    <a:cubicBezTo>
                      <a:pt x="12" y="1"/>
                      <a:pt x="12" y="0"/>
                      <a:pt x="10" y="0"/>
                    </a:cubicBezTo>
                    <a:cubicBezTo>
                      <a:pt x="3" y="0"/>
                      <a:pt x="3" y="0"/>
                      <a:pt x="3" y="0"/>
                    </a:cubicBezTo>
                    <a:cubicBezTo>
                      <a:pt x="1" y="0"/>
                      <a:pt x="0" y="1"/>
                      <a:pt x="0" y="2"/>
                    </a:cubicBezTo>
                    <a:cubicBezTo>
                      <a:pt x="0" y="20"/>
                      <a:pt x="0" y="20"/>
                      <a:pt x="0" y="20"/>
                    </a:cubicBezTo>
                    <a:cubicBezTo>
                      <a:pt x="0" y="21"/>
                      <a:pt x="1" y="22"/>
                      <a:pt x="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4" name="Freeform 205">
                <a:extLst>
                  <a:ext uri="{FF2B5EF4-FFF2-40B4-BE49-F238E27FC236}">
                    <a16:creationId xmlns:a16="http://schemas.microsoft.com/office/drawing/2014/main" id="{0DC5A647-E6DF-4675-9E56-B3AFBA405D95}"/>
                  </a:ext>
                </a:extLst>
              </p:cNvPr>
              <p:cNvSpPr>
                <a:spLocks noEditPoints="1"/>
              </p:cNvSpPr>
              <p:nvPr/>
            </p:nvSpPr>
            <p:spPr bwMode="auto">
              <a:xfrm>
                <a:off x="6030913" y="3444875"/>
                <a:ext cx="404813" cy="360363"/>
              </a:xfrm>
              <a:custGeom>
                <a:avLst/>
                <a:gdLst>
                  <a:gd name="T0" fmla="*/ 94 w 106"/>
                  <a:gd name="T1" fmla="*/ 0 h 95"/>
                  <a:gd name="T2" fmla="*/ 91 w 106"/>
                  <a:gd name="T3" fmla="*/ 0 h 95"/>
                  <a:gd name="T4" fmla="*/ 91 w 106"/>
                  <a:gd name="T5" fmla="*/ 12 h 95"/>
                  <a:gd name="T6" fmla="*/ 84 w 106"/>
                  <a:gd name="T7" fmla="*/ 18 h 95"/>
                  <a:gd name="T8" fmla="*/ 77 w 106"/>
                  <a:gd name="T9" fmla="*/ 18 h 95"/>
                  <a:gd name="T10" fmla="*/ 70 w 106"/>
                  <a:gd name="T11" fmla="*/ 12 h 95"/>
                  <a:gd name="T12" fmla="*/ 70 w 106"/>
                  <a:gd name="T13" fmla="*/ 0 h 95"/>
                  <a:gd name="T14" fmla="*/ 36 w 106"/>
                  <a:gd name="T15" fmla="*/ 0 h 95"/>
                  <a:gd name="T16" fmla="*/ 36 w 106"/>
                  <a:gd name="T17" fmla="*/ 12 h 95"/>
                  <a:gd name="T18" fmla="*/ 29 w 106"/>
                  <a:gd name="T19" fmla="*/ 18 h 95"/>
                  <a:gd name="T20" fmla="*/ 21 w 106"/>
                  <a:gd name="T21" fmla="*/ 18 h 95"/>
                  <a:gd name="T22" fmla="*/ 15 w 106"/>
                  <a:gd name="T23" fmla="*/ 12 h 95"/>
                  <a:gd name="T24" fmla="*/ 15 w 106"/>
                  <a:gd name="T25" fmla="*/ 0 h 95"/>
                  <a:gd name="T26" fmla="*/ 12 w 106"/>
                  <a:gd name="T27" fmla="*/ 0 h 95"/>
                  <a:gd name="T28" fmla="*/ 0 w 106"/>
                  <a:gd name="T29" fmla="*/ 13 h 95"/>
                  <a:gd name="T30" fmla="*/ 0 w 106"/>
                  <a:gd name="T31" fmla="*/ 36 h 95"/>
                  <a:gd name="T32" fmla="*/ 0 w 106"/>
                  <a:gd name="T33" fmla="*/ 83 h 95"/>
                  <a:gd name="T34" fmla="*/ 12 w 106"/>
                  <a:gd name="T35" fmla="*/ 95 h 95"/>
                  <a:gd name="T36" fmla="*/ 94 w 106"/>
                  <a:gd name="T37" fmla="*/ 95 h 95"/>
                  <a:gd name="T38" fmla="*/ 106 w 106"/>
                  <a:gd name="T39" fmla="*/ 83 h 95"/>
                  <a:gd name="T40" fmla="*/ 106 w 106"/>
                  <a:gd name="T41" fmla="*/ 36 h 95"/>
                  <a:gd name="T42" fmla="*/ 106 w 106"/>
                  <a:gd name="T43" fmla="*/ 13 h 95"/>
                  <a:gd name="T44" fmla="*/ 94 w 106"/>
                  <a:gd name="T45" fmla="*/ 0 h 95"/>
                  <a:gd name="T46" fmla="*/ 98 w 106"/>
                  <a:gd name="T47" fmla="*/ 83 h 95"/>
                  <a:gd name="T48" fmla="*/ 94 w 106"/>
                  <a:gd name="T49" fmla="*/ 88 h 95"/>
                  <a:gd name="T50" fmla="*/ 12 w 106"/>
                  <a:gd name="T51" fmla="*/ 88 h 95"/>
                  <a:gd name="T52" fmla="*/ 8 w 106"/>
                  <a:gd name="T53" fmla="*/ 83 h 95"/>
                  <a:gd name="T54" fmla="*/ 8 w 106"/>
                  <a:gd name="T55" fmla="*/ 36 h 95"/>
                  <a:gd name="T56" fmla="*/ 98 w 106"/>
                  <a:gd name="T57" fmla="*/ 36 h 95"/>
                  <a:gd name="T58" fmla="*/ 98 w 106"/>
                  <a:gd name="T59" fmla="*/ 8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6" h="95">
                    <a:moveTo>
                      <a:pt x="94" y="0"/>
                    </a:moveTo>
                    <a:cubicBezTo>
                      <a:pt x="91" y="0"/>
                      <a:pt x="91" y="0"/>
                      <a:pt x="91" y="0"/>
                    </a:cubicBezTo>
                    <a:cubicBezTo>
                      <a:pt x="91" y="12"/>
                      <a:pt x="91" y="12"/>
                      <a:pt x="91" y="12"/>
                    </a:cubicBezTo>
                    <a:cubicBezTo>
                      <a:pt x="91" y="15"/>
                      <a:pt x="88" y="18"/>
                      <a:pt x="84" y="18"/>
                    </a:cubicBezTo>
                    <a:cubicBezTo>
                      <a:pt x="77" y="18"/>
                      <a:pt x="77" y="18"/>
                      <a:pt x="77" y="18"/>
                    </a:cubicBezTo>
                    <a:cubicBezTo>
                      <a:pt x="73" y="18"/>
                      <a:pt x="70" y="15"/>
                      <a:pt x="70" y="12"/>
                    </a:cubicBezTo>
                    <a:cubicBezTo>
                      <a:pt x="70" y="0"/>
                      <a:pt x="70" y="0"/>
                      <a:pt x="70" y="0"/>
                    </a:cubicBezTo>
                    <a:cubicBezTo>
                      <a:pt x="36" y="0"/>
                      <a:pt x="36" y="0"/>
                      <a:pt x="36" y="0"/>
                    </a:cubicBezTo>
                    <a:cubicBezTo>
                      <a:pt x="36" y="12"/>
                      <a:pt x="36" y="12"/>
                      <a:pt x="36" y="12"/>
                    </a:cubicBezTo>
                    <a:cubicBezTo>
                      <a:pt x="36" y="15"/>
                      <a:pt x="33" y="18"/>
                      <a:pt x="29" y="18"/>
                    </a:cubicBezTo>
                    <a:cubicBezTo>
                      <a:pt x="21" y="18"/>
                      <a:pt x="21" y="18"/>
                      <a:pt x="21" y="18"/>
                    </a:cubicBezTo>
                    <a:cubicBezTo>
                      <a:pt x="18" y="18"/>
                      <a:pt x="15" y="15"/>
                      <a:pt x="15" y="12"/>
                    </a:cubicBezTo>
                    <a:cubicBezTo>
                      <a:pt x="15" y="0"/>
                      <a:pt x="15" y="0"/>
                      <a:pt x="15" y="0"/>
                    </a:cubicBezTo>
                    <a:cubicBezTo>
                      <a:pt x="12" y="0"/>
                      <a:pt x="12" y="0"/>
                      <a:pt x="12" y="0"/>
                    </a:cubicBezTo>
                    <a:cubicBezTo>
                      <a:pt x="5" y="0"/>
                      <a:pt x="0" y="6"/>
                      <a:pt x="0" y="13"/>
                    </a:cubicBezTo>
                    <a:cubicBezTo>
                      <a:pt x="0" y="36"/>
                      <a:pt x="0" y="36"/>
                      <a:pt x="0" y="36"/>
                    </a:cubicBezTo>
                    <a:cubicBezTo>
                      <a:pt x="0" y="83"/>
                      <a:pt x="0" y="83"/>
                      <a:pt x="0" y="83"/>
                    </a:cubicBezTo>
                    <a:cubicBezTo>
                      <a:pt x="0" y="90"/>
                      <a:pt x="5" y="95"/>
                      <a:pt x="12" y="95"/>
                    </a:cubicBezTo>
                    <a:cubicBezTo>
                      <a:pt x="94" y="95"/>
                      <a:pt x="94" y="95"/>
                      <a:pt x="94" y="95"/>
                    </a:cubicBezTo>
                    <a:cubicBezTo>
                      <a:pt x="100" y="95"/>
                      <a:pt x="106" y="90"/>
                      <a:pt x="106" y="83"/>
                    </a:cubicBezTo>
                    <a:cubicBezTo>
                      <a:pt x="106" y="36"/>
                      <a:pt x="106" y="36"/>
                      <a:pt x="106" y="36"/>
                    </a:cubicBezTo>
                    <a:cubicBezTo>
                      <a:pt x="106" y="13"/>
                      <a:pt x="106" y="13"/>
                      <a:pt x="106" y="13"/>
                    </a:cubicBezTo>
                    <a:cubicBezTo>
                      <a:pt x="106" y="6"/>
                      <a:pt x="100" y="0"/>
                      <a:pt x="94" y="0"/>
                    </a:cubicBezTo>
                    <a:close/>
                    <a:moveTo>
                      <a:pt x="98" y="83"/>
                    </a:moveTo>
                    <a:cubicBezTo>
                      <a:pt x="98" y="86"/>
                      <a:pt x="96" y="88"/>
                      <a:pt x="94" y="88"/>
                    </a:cubicBezTo>
                    <a:cubicBezTo>
                      <a:pt x="12" y="88"/>
                      <a:pt x="12" y="88"/>
                      <a:pt x="12" y="88"/>
                    </a:cubicBezTo>
                    <a:cubicBezTo>
                      <a:pt x="10" y="88"/>
                      <a:pt x="8" y="86"/>
                      <a:pt x="8" y="83"/>
                    </a:cubicBezTo>
                    <a:cubicBezTo>
                      <a:pt x="8" y="36"/>
                      <a:pt x="8" y="36"/>
                      <a:pt x="8" y="36"/>
                    </a:cubicBezTo>
                    <a:cubicBezTo>
                      <a:pt x="98" y="36"/>
                      <a:pt x="98" y="36"/>
                      <a:pt x="98" y="36"/>
                    </a:cubicBezTo>
                    <a:lnTo>
                      <a:pt x="98" y="8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5" name="Rectangle 206">
                <a:extLst>
                  <a:ext uri="{FF2B5EF4-FFF2-40B4-BE49-F238E27FC236}">
                    <a16:creationId xmlns:a16="http://schemas.microsoft.com/office/drawing/2014/main" id="{D0010BBB-DFB9-4175-A76B-C3B2B09AB3A1}"/>
                  </a:ext>
                </a:extLst>
              </p:cNvPr>
              <p:cNvSpPr>
                <a:spLocks noChangeArrowheads="1"/>
              </p:cNvSpPr>
              <p:nvPr/>
            </p:nvSpPr>
            <p:spPr bwMode="auto">
              <a:xfrm>
                <a:off x="6084888"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6" name="Rectangle 207">
                <a:extLst>
                  <a:ext uri="{FF2B5EF4-FFF2-40B4-BE49-F238E27FC236}">
                    <a16:creationId xmlns:a16="http://schemas.microsoft.com/office/drawing/2014/main" id="{AB3A1A45-8B07-40C8-B06D-85B240A9F309}"/>
                  </a:ext>
                </a:extLst>
              </p:cNvPr>
              <p:cNvSpPr>
                <a:spLocks noChangeArrowheads="1"/>
              </p:cNvSpPr>
              <p:nvPr/>
            </p:nvSpPr>
            <p:spPr bwMode="auto">
              <a:xfrm>
                <a:off x="6191250"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7" name="Rectangle 208">
                <a:extLst>
                  <a:ext uri="{FF2B5EF4-FFF2-40B4-BE49-F238E27FC236}">
                    <a16:creationId xmlns:a16="http://schemas.microsoft.com/office/drawing/2014/main" id="{50D6D5DE-227B-4BD8-8872-55F14BF1F98A}"/>
                  </a:ext>
                </a:extLst>
              </p:cNvPr>
              <p:cNvSpPr>
                <a:spLocks noChangeArrowheads="1"/>
              </p:cNvSpPr>
              <p:nvPr/>
            </p:nvSpPr>
            <p:spPr bwMode="auto">
              <a:xfrm>
                <a:off x="6294438"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8" name="Rectangle 209">
                <a:extLst>
                  <a:ext uri="{FF2B5EF4-FFF2-40B4-BE49-F238E27FC236}">
                    <a16:creationId xmlns:a16="http://schemas.microsoft.com/office/drawing/2014/main" id="{2129D8C0-5574-4981-A473-54A4DA5BBC51}"/>
                  </a:ext>
                </a:extLst>
              </p:cNvPr>
              <p:cNvSpPr>
                <a:spLocks noChangeArrowheads="1"/>
              </p:cNvSpPr>
              <p:nvPr/>
            </p:nvSpPr>
            <p:spPr bwMode="auto">
              <a:xfrm>
                <a:off x="6084888"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9" name="Rectangle 210">
                <a:extLst>
                  <a:ext uri="{FF2B5EF4-FFF2-40B4-BE49-F238E27FC236}">
                    <a16:creationId xmlns:a16="http://schemas.microsoft.com/office/drawing/2014/main" id="{42C482E4-5992-4F76-A4FC-FAEA3959B45C}"/>
                  </a:ext>
                </a:extLst>
              </p:cNvPr>
              <p:cNvSpPr>
                <a:spLocks noChangeArrowheads="1"/>
              </p:cNvSpPr>
              <p:nvPr/>
            </p:nvSpPr>
            <p:spPr bwMode="auto">
              <a:xfrm>
                <a:off x="6191250"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0" name="Rectangle 211">
                <a:extLst>
                  <a:ext uri="{FF2B5EF4-FFF2-40B4-BE49-F238E27FC236}">
                    <a16:creationId xmlns:a16="http://schemas.microsoft.com/office/drawing/2014/main" id="{608FABB8-F614-48FA-B8BA-76252847C955}"/>
                  </a:ext>
                </a:extLst>
              </p:cNvPr>
              <p:cNvSpPr>
                <a:spLocks noChangeArrowheads="1"/>
              </p:cNvSpPr>
              <p:nvPr/>
            </p:nvSpPr>
            <p:spPr bwMode="auto">
              <a:xfrm>
                <a:off x="6294438"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1" name="Rectangle 212">
                <a:extLst>
                  <a:ext uri="{FF2B5EF4-FFF2-40B4-BE49-F238E27FC236}">
                    <a16:creationId xmlns:a16="http://schemas.microsoft.com/office/drawing/2014/main" id="{BE49BF88-4A04-43E2-8944-E6471A990D7B}"/>
                  </a:ext>
                </a:extLst>
              </p:cNvPr>
              <p:cNvSpPr>
                <a:spLocks noChangeArrowheads="1"/>
              </p:cNvSpPr>
              <p:nvPr/>
            </p:nvSpPr>
            <p:spPr bwMode="auto">
              <a:xfrm>
                <a:off x="6084888"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2" name="Rectangle 213">
                <a:extLst>
                  <a:ext uri="{FF2B5EF4-FFF2-40B4-BE49-F238E27FC236}">
                    <a16:creationId xmlns:a16="http://schemas.microsoft.com/office/drawing/2014/main" id="{1F29B5A7-F2A1-4F35-A35C-004039DDA113}"/>
                  </a:ext>
                </a:extLst>
              </p:cNvPr>
              <p:cNvSpPr>
                <a:spLocks noChangeArrowheads="1"/>
              </p:cNvSpPr>
              <p:nvPr/>
            </p:nvSpPr>
            <p:spPr bwMode="auto">
              <a:xfrm>
                <a:off x="6191250"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3" name="Rectangle 214">
                <a:extLst>
                  <a:ext uri="{FF2B5EF4-FFF2-40B4-BE49-F238E27FC236}">
                    <a16:creationId xmlns:a16="http://schemas.microsoft.com/office/drawing/2014/main" id="{7A1C70A7-03A0-4142-914C-A675EEB0F1BA}"/>
                  </a:ext>
                </a:extLst>
              </p:cNvPr>
              <p:cNvSpPr>
                <a:spLocks noChangeArrowheads="1"/>
              </p:cNvSpPr>
              <p:nvPr/>
            </p:nvSpPr>
            <p:spPr bwMode="auto">
              <a:xfrm>
                <a:off x="6294438"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4" name="Rectangle 215">
                <a:extLst>
                  <a:ext uri="{FF2B5EF4-FFF2-40B4-BE49-F238E27FC236}">
                    <a16:creationId xmlns:a16="http://schemas.microsoft.com/office/drawing/2014/main" id="{95C51AC2-93C4-4847-869B-B822FA435768}"/>
                  </a:ext>
                </a:extLst>
              </p:cNvPr>
              <p:cNvSpPr>
                <a:spLocks noChangeArrowheads="1"/>
              </p:cNvSpPr>
              <p:nvPr/>
            </p:nvSpPr>
            <p:spPr bwMode="auto">
              <a:xfrm>
                <a:off x="5965825" y="3398838"/>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5" name="Freeform 216">
                <a:extLst>
                  <a:ext uri="{FF2B5EF4-FFF2-40B4-BE49-F238E27FC236}">
                    <a16:creationId xmlns:a16="http://schemas.microsoft.com/office/drawing/2014/main" id="{E4FB0AFD-8DFA-47AF-A756-6E3640B92A98}"/>
                  </a:ext>
                </a:extLst>
              </p:cNvPr>
              <p:cNvSpPr>
                <a:spLocks noEditPoints="1"/>
              </p:cNvSpPr>
              <p:nvPr/>
            </p:nvSpPr>
            <p:spPr bwMode="auto">
              <a:xfrm>
                <a:off x="5753100" y="3208338"/>
                <a:ext cx="427038" cy="604838"/>
              </a:xfrm>
              <a:custGeom>
                <a:avLst/>
                <a:gdLst>
                  <a:gd name="T0" fmla="*/ 111 w 112"/>
                  <a:gd name="T1" fmla="*/ 23 h 159"/>
                  <a:gd name="T2" fmla="*/ 106 w 112"/>
                  <a:gd name="T3" fmla="*/ 19 h 159"/>
                  <a:gd name="T4" fmla="*/ 83 w 112"/>
                  <a:gd name="T5" fmla="*/ 2 h 159"/>
                  <a:gd name="T6" fmla="*/ 77 w 112"/>
                  <a:gd name="T7" fmla="*/ 0 h 159"/>
                  <a:gd name="T8" fmla="*/ 70 w 112"/>
                  <a:gd name="T9" fmla="*/ 0 h 159"/>
                  <a:gd name="T10" fmla="*/ 68 w 112"/>
                  <a:gd name="T11" fmla="*/ 10 h 159"/>
                  <a:gd name="T12" fmla="*/ 56 w 112"/>
                  <a:gd name="T13" fmla="*/ 50 h 159"/>
                  <a:gd name="T14" fmla="*/ 56 w 112"/>
                  <a:gd name="T15" fmla="*/ 51 h 159"/>
                  <a:gd name="T16" fmla="*/ 56 w 112"/>
                  <a:gd name="T17" fmla="*/ 50 h 159"/>
                  <a:gd name="T18" fmla="*/ 45 w 112"/>
                  <a:gd name="T19" fmla="*/ 10 h 159"/>
                  <a:gd name="T20" fmla="*/ 43 w 112"/>
                  <a:gd name="T21" fmla="*/ 0 h 159"/>
                  <a:gd name="T22" fmla="*/ 35 w 112"/>
                  <a:gd name="T23" fmla="*/ 0 h 159"/>
                  <a:gd name="T24" fmla="*/ 28 w 112"/>
                  <a:gd name="T25" fmla="*/ 4 h 159"/>
                  <a:gd name="T26" fmla="*/ 0 w 112"/>
                  <a:gd name="T27" fmla="*/ 44 h 159"/>
                  <a:gd name="T28" fmla="*/ 0 w 112"/>
                  <a:gd name="T29" fmla="*/ 44 h 159"/>
                  <a:gd name="T30" fmla="*/ 0 w 112"/>
                  <a:gd name="T31" fmla="*/ 45 h 159"/>
                  <a:gd name="T32" fmla="*/ 2 w 112"/>
                  <a:gd name="T33" fmla="*/ 48 h 159"/>
                  <a:gd name="T34" fmla="*/ 9 w 112"/>
                  <a:gd name="T35" fmla="*/ 61 h 159"/>
                  <a:gd name="T36" fmla="*/ 29 w 112"/>
                  <a:gd name="T37" fmla="*/ 72 h 159"/>
                  <a:gd name="T38" fmla="*/ 29 w 112"/>
                  <a:gd name="T39" fmla="*/ 84 h 159"/>
                  <a:gd name="T40" fmla="*/ 34 w 112"/>
                  <a:gd name="T41" fmla="*/ 159 h 159"/>
                  <a:gd name="T42" fmla="*/ 55 w 112"/>
                  <a:gd name="T43" fmla="*/ 84 h 159"/>
                  <a:gd name="T44" fmla="*/ 60 w 112"/>
                  <a:gd name="T45" fmla="*/ 159 h 159"/>
                  <a:gd name="T46" fmla="*/ 67 w 112"/>
                  <a:gd name="T47" fmla="*/ 145 h 159"/>
                  <a:gd name="T48" fmla="*/ 76 w 112"/>
                  <a:gd name="T49" fmla="*/ 59 h 159"/>
                  <a:gd name="T50" fmla="*/ 110 w 112"/>
                  <a:gd name="T51" fmla="*/ 41 h 159"/>
                  <a:gd name="T52" fmla="*/ 112 w 112"/>
                  <a:gd name="T53" fmla="*/ 24 h 159"/>
                  <a:gd name="T54" fmla="*/ 27 w 112"/>
                  <a:gd name="T55" fmla="*/ 51 h 159"/>
                  <a:gd name="T56" fmla="*/ 21 w 112"/>
                  <a:gd name="T57" fmla="*/ 40 h 159"/>
                  <a:gd name="T58" fmla="*/ 30 w 112"/>
                  <a:gd name="T59" fmla="*/ 55 h 159"/>
                  <a:gd name="T60" fmla="*/ 68 w 112"/>
                  <a:gd name="T61" fmla="*/ 39 h 159"/>
                  <a:gd name="T62" fmla="*/ 82 w 112"/>
                  <a:gd name="T63" fmla="*/ 25 h 159"/>
                  <a:gd name="T64" fmla="*/ 88 w 112"/>
                  <a:gd name="T65" fmla="*/ 3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2" h="159">
                    <a:moveTo>
                      <a:pt x="112" y="24"/>
                    </a:moveTo>
                    <a:cubicBezTo>
                      <a:pt x="111" y="23"/>
                      <a:pt x="111" y="23"/>
                      <a:pt x="111" y="23"/>
                    </a:cubicBezTo>
                    <a:cubicBezTo>
                      <a:pt x="110" y="22"/>
                      <a:pt x="110" y="22"/>
                      <a:pt x="110" y="22"/>
                    </a:cubicBezTo>
                    <a:cubicBezTo>
                      <a:pt x="106" y="19"/>
                      <a:pt x="106" y="19"/>
                      <a:pt x="106" y="19"/>
                    </a:cubicBezTo>
                    <a:cubicBezTo>
                      <a:pt x="98" y="13"/>
                      <a:pt x="98" y="13"/>
                      <a:pt x="98" y="13"/>
                    </a:cubicBezTo>
                    <a:cubicBezTo>
                      <a:pt x="83" y="2"/>
                      <a:pt x="83" y="2"/>
                      <a:pt x="83" y="2"/>
                    </a:cubicBezTo>
                    <a:cubicBezTo>
                      <a:pt x="81" y="1"/>
                      <a:pt x="80" y="0"/>
                      <a:pt x="78" y="0"/>
                    </a:cubicBezTo>
                    <a:cubicBezTo>
                      <a:pt x="78" y="0"/>
                      <a:pt x="78" y="0"/>
                      <a:pt x="77" y="0"/>
                    </a:cubicBezTo>
                    <a:cubicBezTo>
                      <a:pt x="75" y="0"/>
                      <a:pt x="72" y="0"/>
                      <a:pt x="70" y="0"/>
                    </a:cubicBezTo>
                    <a:cubicBezTo>
                      <a:pt x="70" y="0"/>
                      <a:pt x="70" y="0"/>
                      <a:pt x="70" y="0"/>
                    </a:cubicBezTo>
                    <a:cubicBezTo>
                      <a:pt x="76" y="5"/>
                      <a:pt x="76" y="5"/>
                      <a:pt x="76" y="5"/>
                    </a:cubicBezTo>
                    <a:cubicBezTo>
                      <a:pt x="68" y="10"/>
                      <a:pt x="68" y="10"/>
                      <a:pt x="68" y="10"/>
                    </a:cubicBezTo>
                    <a:cubicBezTo>
                      <a:pt x="72" y="16"/>
                      <a:pt x="72" y="16"/>
                      <a:pt x="72" y="16"/>
                    </a:cubicBezTo>
                    <a:cubicBezTo>
                      <a:pt x="56" y="50"/>
                      <a:pt x="56" y="50"/>
                      <a:pt x="56" y="50"/>
                    </a:cubicBezTo>
                    <a:cubicBezTo>
                      <a:pt x="57" y="51"/>
                      <a:pt x="57" y="51"/>
                      <a:pt x="57" y="51"/>
                    </a:cubicBezTo>
                    <a:cubicBezTo>
                      <a:pt x="56" y="51"/>
                      <a:pt x="56" y="51"/>
                      <a:pt x="56" y="51"/>
                    </a:cubicBezTo>
                    <a:cubicBezTo>
                      <a:pt x="56" y="51"/>
                      <a:pt x="56" y="51"/>
                      <a:pt x="56" y="51"/>
                    </a:cubicBezTo>
                    <a:cubicBezTo>
                      <a:pt x="56" y="50"/>
                      <a:pt x="56" y="50"/>
                      <a:pt x="56" y="50"/>
                    </a:cubicBezTo>
                    <a:cubicBezTo>
                      <a:pt x="41" y="16"/>
                      <a:pt x="41" y="16"/>
                      <a:pt x="41" y="16"/>
                    </a:cubicBezTo>
                    <a:cubicBezTo>
                      <a:pt x="45" y="10"/>
                      <a:pt x="45" y="10"/>
                      <a:pt x="45" y="10"/>
                    </a:cubicBezTo>
                    <a:cubicBezTo>
                      <a:pt x="36" y="5"/>
                      <a:pt x="36" y="5"/>
                      <a:pt x="36" y="5"/>
                    </a:cubicBezTo>
                    <a:cubicBezTo>
                      <a:pt x="43" y="0"/>
                      <a:pt x="43" y="0"/>
                      <a:pt x="43" y="0"/>
                    </a:cubicBezTo>
                    <a:cubicBezTo>
                      <a:pt x="43" y="0"/>
                      <a:pt x="43" y="0"/>
                      <a:pt x="43" y="0"/>
                    </a:cubicBezTo>
                    <a:cubicBezTo>
                      <a:pt x="41" y="0"/>
                      <a:pt x="38" y="0"/>
                      <a:pt x="35" y="0"/>
                    </a:cubicBezTo>
                    <a:cubicBezTo>
                      <a:pt x="35" y="0"/>
                      <a:pt x="35" y="0"/>
                      <a:pt x="35" y="0"/>
                    </a:cubicBezTo>
                    <a:cubicBezTo>
                      <a:pt x="32" y="1"/>
                      <a:pt x="30" y="2"/>
                      <a:pt x="28" y="4"/>
                    </a:cubicBezTo>
                    <a:cubicBezTo>
                      <a:pt x="1" y="32"/>
                      <a:pt x="1" y="32"/>
                      <a:pt x="1" y="32"/>
                    </a:cubicBezTo>
                    <a:cubicBezTo>
                      <a:pt x="0" y="44"/>
                      <a:pt x="0" y="44"/>
                      <a:pt x="0" y="44"/>
                    </a:cubicBezTo>
                    <a:cubicBezTo>
                      <a:pt x="0" y="44"/>
                      <a:pt x="0" y="44"/>
                      <a:pt x="0" y="44"/>
                    </a:cubicBezTo>
                    <a:cubicBezTo>
                      <a:pt x="0" y="44"/>
                      <a:pt x="0" y="44"/>
                      <a:pt x="0" y="44"/>
                    </a:cubicBezTo>
                    <a:cubicBezTo>
                      <a:pt x="0" y="44"/>
                      <a:pt x="0" y="44"/>
                      <a:pt x="0" y="44"/>
                    </a:cubicBezTo>
                    <a:cubicBezTo>
                      <a:pt x="0" y="45"/>
                      <a:pt x="0" y="45"/>
                      <a:pt x="0" y="45"/>
                    </a:cubicBezTo>
                    <a:cubicBezTo>
                      <a:pt x="1" y="46"/>
                      <a:pt x="1" y="46"/>
                      <a:pt x="1" y="46"/>
                    </a:cubicBezTo>
                    <a:cubicBezTo>
                      <a:pt x="2" y="48"/>
                      <a:pt x="2" y="48"/>
                      <a:pt x="2" y="48"/>
                    </a:cubicBezTo>
                    <a:cubicBezTo>
                      <a:pt x="4" y="52"/>
                      <a:pt x="4" y="52"/>
                      <a:pt x="4" y="52"/>
                    </a:cubicBezTo>
                    <a:cubicBezTo>
                      <a:pt x="9" y="61"/>
                      <a:pt x="9" y="61"/>
                      <a:pt x="9" y="61"/>
                    </a:cubicBezTo>
                    <a:cubicBezTo>
                      <a:pt x="18" y="78"/>
                      <a:pt x="18" y="78"/>
                      <a:pt x="18" y="78"/>
                    </a:cubicBezTo>
                    <a:cubicBezTo>
                      <a:pt x="22" y="76"/>
                      <a:pt x="26" y="74"/>
                      <a:pt x="29" y="72"/>
                    </a:cubicBezTo>
                    <a:cubicBezTo>
                      <a:pt x="29" y="76"/>
                      <a:pt x="29" y="80"/>
                      <a:pt x="29" y="83"/>
                    </a:cubicBezTo>
                    <a:cubicBezTo>
                      <a:pt x="29" y="83"/>
                      <a:pt x="29" y="84"/>
                      <a:pt x="29" y="84"/>
                    </a:cubicBezTo>
                    <a:cubicBezTo>
                      <a:pt x="30" y="84"/>
                      <a:pt x="31" y="84"/>
                      <a:pt x="31" y="84"/>
                    </a:cubicBezTo>
                    <a:cubicBezTo>
                      <a:pt x="34" y="159"/>
                      <a:pt x="34" y="159"/>
                      <a:pt x="34" y="159"/>
                    </a:cubicBezTo>
                    <a:cubicBezTo>
                      <a:pt x="55" y="159"/>
                      <a:pt x="55" y="159"/>
                      <a:pt x="55" y="159"/>
                    </a:cubicBezTo>
                    <a:cubicBezTo>
                      <a:pt x="56" y="137"/>
                      <a:pt x="56" y="99"/>
                      <a:pt x="55" y="84"/>
                    </a:cubicBezTo>
                    <a:cubicBezTo>
                      <a:pt x="56" y="84"/>
                      <a:pt x="57" y="84"/>
                      <a:pt x="58" y="84"/>
                    </a:cubicBezTo>
                    <a:cubicBezTo>
                      <a:pt x="60" y="159"/>
                      <a:pt x="60" y="159"/>
                      <a:pt x="60" y="159"/>
                    </a:cubicBezTo>
                    <a:cubicBezTo>
                      <a:pt x="74" y="159"/>
                      <a:pt x="74" y="159"/>
                      <a:pt x="74" y="159"/>
                    </a:cubicBezTo>
                    <a:cubicBezTo>
                      <a:pt x="70" y="156"/>
                      <a:pt x="67" y="151"/>
                      <a:pt x="67" y="145"/>
                    </a:cubicBezTo>
                    <a:cubicBezTo>
                      <a:pt x="67" y="75"/>
                      <a:pt x="67" y="75"/>
                      <a:pt x="67" y="75"/>
                    </a:cubicBezTo>
                    <a:cubicBezTo>
                      <a:pt x="67" y="68"/>
                      <a:pt x="71" y="62"/>
                      <a:pt x="76" y="59"/>
                    </a:cubicBezTo>
                    <a:cubicBezTo>
                      <a:pt x="77" y="60"/>
                      <a:pt x="78" y="61"/>
                      <a:pt x="78" y="62"/>
                    </a:cubicBezTo>
                    <a:cubicBezTo>
                      <a:pt x="110" y="41"/>
                      <a:pt x="110" y="41"/>
                      <a:pt x="110" y="41"/>
                    </a:cubicBezTo>
                    <a:cubicBezTo>
                      <a:pt x="111" y="40"/>
                      <a:pt x="111" y="40"/>
                      <a:pt x="111" y="40"/>
                    </a:cubicBezTo>
                    <a:lnTo>
                      <a:pt x="112" y="24"/>
                    </a:lnTo>
                    <a:close/>
                    <a:moveTo>
                      <a:pt x="30" y="55"/>
                    </a:moveTo>
                    <a:cubicBezTo>
                      <a:pt x="27" y="51"/>
                      <a:pt x="27" y="51"/>
                      <a:pt x="27" y="51"/>
                    </a:cubicBezTo>
                    <a:cubicBezTo>
                      <a:pt x="22" y="43"/>
                      <a:pt x="22" y="43"/>
                      <a:pt x="22" y="43"/>
                    </a:cubicBezTo>
                    <a:cubicBezTo>
                      <a:pt x="21" y="40"/>
                      <a:pt x="21" y="40"/>
                      <a:pt x="21" y="40"/>
                    </a:cubicBezTo>
                    <a:cubicBezTo>
                      <a:pt x="31" y="28"/>
                      <a:pt x="31" y="28"/>
                      <a:pt x="31" y="28"/>
                    </a:cubicBezTo>
                    <a:cubicBezTo>
                      <a:pt x="30" y="37"/>
                      <a:pt x="30" y="46"/>
                      <a:pt x="30" y="55"/>
                    </a:cubicBezTo>
                    <a:close/>
                    <a:moveTo>
                      <a:pt x="70" y="41"/>
                    </a:moveTo>
                    <a:cubicBezTo>
                      <a:pt x="68" y="39"/>
                      <a:pt x="68" y="39"/>
                      <a:pt x="68" y="39"/>
                    </a:cubicBezTo>
                    <a:cubicBezTo>
                      <a:pt x="82" y="30"/>
                      <a:pt x="82" y="30"/>
                      <a:pt x="82" y="30"/>
                    </a:cubicBezTo>
                    <a:cubicBezTo>
                      <a:pt x="82" y="28"/>
                      <a:pt x="82" y="27"/>
                      <a:pt x="82" y="25"/>
                    </a:cubicBezTo>
                    <a:cubicBezTo>
                      <a:pt x="86" y="28"/>
                      <a:pt x="86" y="28"/>
                      <a:pt x="86" y="28"/>
                    </a:cubicBezTo>
                    <a:cubicBezTo>
                      <a:pt x="88" y="30"/>
                      <a:pt x="88" y="30"/>
                      <a:pt x="88" y="30"/>
                    </a:cubicBezTo>
                    <a:lnTo>
                      <a:pt x="70"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26" name="Freeform 217">
                <a:extLst>
                  <a:ext uri="{FF2B5EF4-FFF2-40B4-BE49-F238E27FC236}">
                    <a16:creationId xmlns:a16="http://schemas.microsoft.com/office/drawing/2014/main" id="{7681A10F-763B-493B-994C-DB48180CB530}"/>
                  </a:ext>
                </a:extLst>
              </p:cNvPr>
              <p:cNvSpPr/>
              <p:nvPr/>
            </p:nvSpPr>
            <p:spPr bwMode="auto">
              <a:xfrm>
                <a:off x="5946775" y="3201988"/>
                <a:ext cx="42863" cy="44450"/>
              </a:xfrm>
              <a:custGeom>
                <a:avLst/>
                <a:gdLst>
                  <a:gd name="T0" fmla="*/ 22 w 27"/>
                  <a:gd name="T1" fmla="*/ 0 h 28"/>
                  <a:gd name="T2" fmla="*/ 27 w 27"/>
                  <a:gd name="T3" fmla="*/ 16 h 28"/>
                  <a:gd name="T4" fmla="*/ 12 w 27"/>
                  <a:gd name="T5" fmla="*/ 28 h 28"/>
                  <a:gd name="T6" fmla="*/ 0 w 27"/>
                  <a:gd name="T7" fmla="*/ 16 h 28"/>
                  <a:gd name="T8" fmla="*/ 5 w 27"/>
                  <a:gd name="T9" fmla="*/ 0 h 28"/>
                  <a:gd name="T10" fmla="*/ 22 w 27"/>
                  <a:gd name="T11" fmla="*/ 0 h 28"/>
                </a:gdLst>
                <a:ahLst/>
                <a:cxnLst>
                  <a:cxn ang="0">
                    <a:pos x="T0" y="T1"/>
                  </a:cxn>
                  <a:cxn ang="0">
                    <a:pos x="T2" y="T3"/>
                  </a:cxn>
                  <a:cxn ang="0">
                    <a:pos x="T4" y="T5"/>
                  </a:cxn>
                  <a:cxn ang="0">
                    <a:pos x="T6" y="T7"/>
                  </a:cxn>
                  <a:cxn ang="0">
                    <a:pos x="T8" y="T9"/>
                  </a:cxn>
                  <a:cxn ang="0">
                    <a:pos x="T10" y="T11"/>
                  </a:cxn>
                </a:cxnLst>
                <a:rect l="0" t="0" r="r" b="b"/>
                <a:pathLst>
                  <a:path w="27" h="28">
                    <a:moveTo>
                      <a:pt x="22" y="0"/>
                    </a:moveTo>
                    <a:lnTo>
                      <a:pt x="27" y="16"/>
                    </a:lnTo>
                    <a:lnTo>
                      <a:pt x="12" y="28"/>
                    </a:lnTo>
                    <a:lnTo>
                      <a:pt x="0" y="16"/>
                    </a:lnTo>
                    <a:lnTo>
                      <a:pt x="5" y="0"/>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27" name="Freeform 218">
                <a:extLst>
                  <a:ext uri="{FF2B5EF4-FFF2-40B4-BE49-F238E27FC236}">
                    <a16:creationId xmlns:a16="http://schemas.microsoft.com/office/drawing/2014/main" id="{52EF81C8-1053-48B5-90C5-0CB1F16929B1}"/>
                  </a:ext>
                </a:extLst>
              </p:cNvPr>
              <p:cNvSpPr/>
              <p:nvPr/>
            </p:nvSpPr>
            <p:spPr bwMode="auto">
              <a:xfrm>
                <a:off x="5946775" y="3232150"/>
                <a:ext cx="42863" cy="185738"/>
              </a:xfrm>
              <a:custGeom>
                <a:avLst/>
                <a:gdLst>
                  <a:gd name="T0" fmla="*/ 22 w 27"/>
                  <a:gd name="T1" fmla="*/ 0 h 117"/>
                  <a:gd name="T2" fmla="*/ 27 w 27"/>
                  <a:gd name="T3" fmla="*/ 105 h 117"/>
                  <a:gd name="T4" fmla="*/ 12 w 27"/>
                  <a:gd name="T5" fmla="*/ 117 h 117"/>
                  <a:gd name="T6" fmla="*/ 0 w 27"/>
                  <a:gd name="T7" fmla="*/ 105 h 117"/>
                  <a:gd name="T8" fmla="*/ 5 w 27"/>
                  <a:gd name="T9" fmla="*/ 0 h 117"/>
                  <a:gd name="T10" fmla="*/ 22 w 27"/>
                  <a:gd name="T11" fmla="*/ 0 h 117"/>
                </a:gdLst>
                <a:ahLst/>
                <a:cxnLst>
                  <a:cxn ang="0">
                    <a:pos x="T0" y="T1"/>
                  </a:cxn>
                  <a:cxn ang="0">
                    <a:pos x="T2" y="T3"/>
                  </a:cxn>
                  <a:cxn ang="0">
                    <a:pos x="T4" y="T5"/>
                  </a:cxn>
                  <a:cxn ang="0">
                    <a:pos x="T6" y="T7"/>
                  </a:cxn>
                  <a:cxn ang="0">
                    <a:pos x="T8" y="T9"/>
                  </a:cxn>
                  <a:cxn ang="0">
                    <a:pos x="T10" y="T11"/>
                  </a:cxn>
                </a:cxnLst>
                <a:rect l="0" t="0" r="r" b="b"/>
                <a:pathLst>
                  <a:path w="27" h="117">
                    <a:moveTo>
                      <a:pt x="22" y="0"/>
                    </a:moveTo>
                    <a:lnTo>
                      <a:pt x="27" y="105"/>
                    </a:lnTo>
                    <a:lnTo>
                      <a:pt x="12" y="117"/>
                    </a:lnTo>
                    <a:lnTo>
                      <a:pt x="0" y="105"/>
                    </a:lnTo>
                    <a:lnTo>
                      <a:pt x="5" y="0"/>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grpSp>
      <p:grpSp>
        <p:nvGrpSpPr>
          <p:cNvPr id="28" name="组合 27">
            <a:extLst>
              <a:ext uri="{FF2B5EF4-FFF2-40B4-BE49-F238E27FC236}">
                <a16:creationId xmlns:a16="http://schemas.microsoft.com/office/drawing/2014/main" id="{A0A7B8D9-00C8-461B-8C07-C40FC740B4E6}"/>
              </a:ext>
            </a:extLst>
          </p:cNvPr>
          <p:cNvGrpSpPr/>
          <p:nvPr/>
        </p:nvGrpSpPr>
        <p:grpSpPr>
          <a:xfrm>
            <a:off x="5306387" y="5875923"/>
            <a:ext cx="342764" cy="342764"/>
            <a:chOff x="5306387" y="5875923"/>
            <a:chExt cx="342764" cy="342764"/>
          </a:xfrm>
        </p:grpSpPr>
        <p:sp>
          <p:nvSpPr>
            <p:cNvPr id="29" name="椭圆 28">
              <a:extLst>
                <a:ext uri="{FF2B5EF4-FFF2-40B4-BE49-F238E27FC236}">
                  <a16:creationId xmlns:a16="http://schemas.microsoft.com/office/drawing/2014/main" id="{713CE592-4EAD-4944-A286-E51D3A308F83}"/>
                </a:ext>
              </a:extLst>
            </p:cNvPr>
            <p:cNvSpPr/>
            <p:nvPr/>
          </p:nvSpPr>
          <p:spPr>
            <a:xfrm>
              <a:off x="5306387"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30" name="组合 29">
              <a:extLst>
                <a:ext uri="{FF2B5EF4-FFF2-40B4-BE49-F238E27FC236}">
                  <a16:creationId xmlns:a16="http://schemas.microsoft.com/office/drawing/2014/main" id="{F5FC36AF-6731-43C7-B468-EE7FDCB57E01}"/>
                </a:ext>
              </a:extLst>
            </p:cNvPr>
            <p:cNvGrpSpPr/>
            <p:nvPr/>
          </p:nvGrpSpPr>
          <p:grpSpPr>
            <a:xfrm>
              <a:off x="5370562" y="5961635"/>
              <a:ext cx="214413" cy="171339"/>
              <a:chOff x="5738813" y="3144838"/>
              <a:chExt cx="711200" cy="568325"/>
            </a:xfrm>
            <a:solidFill>
              <a:schemeClr val="accent1"/>
            </a:solidFill>
          </p:grpSpPr>
          <p:sp>
            <p:nvSpPr>
              <p:cNvPr id="31" name="Freeform 103">
                <a:extLst>
                  <a:ext uri="{FF2B5EF4-FFF2-40B4-BE49-F238E27FC236}">
                    <a16:creationId xmlns:a16="http://schemas.microsoft.com/office/drawing/2014/main" id="{B0CD356E-E0A2-49E4-8270-523C0D2BEAB1}"/>
                  </a:ext>
                </a:extLst>
              </p:cNvPr>
              <p:cNvSpPr/>
              <p:nvPr/>
            </p:nvSpPr>
            <p:spPr bwMode="auto">
              <a:xfrm>
                <a:off x="5821363" y="3159126"/>
                <a:ext cx="533400" cy="371475"/>
              </a:xfrm>
              <a:custGeom>
                <a:avLst/>
                <a:gdLst>
                  <a:gd name="T0" fmla="*/ 22 w 336"/>
                  <a:gd name="T1" fmla="*/ 234 h 234"/>
                  <a:gd name="T2" fmla="*/ 0 w 336"/>
                  <a:gd name="T3" fmla="*/ 215 h 234"/>
                  <a:gd name="T4" fmla="*/ 135 w 336"/>
                  <a:gd name="T5" fmla="*/ 56 h 234"/>
                  <a:gd name="T6" fmla="*/ 216 w 336"/>
                  <a:gd name="T7" fmla="*/ 126 h 234"/>
                  <a:gd name="T8" fmla="*/ 312 w 336"/>
                  <a:gd name="T9" fmla="*/ 0 h 234"/>
                  <a:gd name="T10" fmla="*/ 336 w 336"/>
                  <a:gd name="T11" fmla="*/ 17 h 234"/>
                  <a:gd name="T12" fmla="*/ 219 w 336"/>
                  <a:gd name="T13" fmla="*/ 171 h 234"/>
                  <a:gd name="T14" fmla="*/ 137 w 336"/>
                  <a:gd name="T15" fmla="*/ 99 h 234"/>
                  <a:gd name="T16" fmla="*/ 22 w 336"/>
                  <a:gd name="T17" fmla="*/ 234 h 234"/>
                  <a:gd name="T18" fmla="*/ 22 w 336"/>
                  <a:gd name="T19"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6" h="234">
                    <a:moveTo>
                      <a:pt x="22" y="234"/>
                    </a:moveTo>
                    <a:lnTo>
                      <a:pt x="0" y="215"/>
                    </a:lnTo>
                    <a:lnTo>
                      <a:pt x="135" y="56"/>
                    </a:lnTo>
                    <a:lnTo>
                      <a:pt x="216" y="126"/>
                    </a:lnTo>
                    <a:lnTo>
                      <a:pt x="312" y="0"/>
                    </a:lnTo>
                    <a:lnTo>
                      <a:pt x="336" y="17"/>
                    </a:lnTo>
                    <a:lnTo>
                      <a:pt x="219" y="171"/>
                    </a:lnTo>
                    <a:lnTo>
                      <a:pt x="137" y="99"/>
                    </a:lnTo>
                    <a:lnTo>
                      <a:pt x="22" y="234"/>
                    </a:lnTo>
                    <a:lnTo>
                      <a:pt x="22" y="2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32" name="Freeform 104">
                <a:extLst>
                  <a:ext uri="{FF2B5EF4-FFF2-40B4-BE49-F238E27FC236}">
                    <a16:creationId xmlns:a16="http://schemas.microsoft.com/office/drawing/2014/main" id="{7A574504-B751-47C3-BE54-02544A0E9B9D}"/>
                  </a:ext>
                </a:extLst>
              </p:cNvPr>
              <p:cNvSpPr/>
              <p:nvPr/>
            </p:nvSpPr>
            <p:spPr bwMode="auto">
              <a:xfrm>
                <a:off x="6248401" y="3148013"/>
                <a:ext cx="117475" cy="119063"/>
              </a:xfrm>
              <a:custGeom>
                <a:avLst/>
                <a:gdLst>
                  <a:gd name="T0" fmla="*/ 0 w 74"/>
                  <a:gd name="T1" fmla="*/ 0 h 75"/>
                  <a:gd name="T2" fmla="*/ 74 w 74"/>
                  <a:gd name="T3" fmla="*/ 0 h 75"/>
                  <a:gd name="T4" fmla="*/ 74 w 74"/>
                  <a:gd name="T5" fmla="*/ 75 h 75"/>
                  <a:gd name="T6" fmla="*/ 0 w 74"/>
                  <a:gd name="T7" fmla="*/ 0 h 75"/>
                </a:gdLst>
                <a:ahLst/>
                <a:cxnLst>
                  <a:cxn ang="0">
                    <a:pos x="T0" y="T1"/>
                  </a:cxn>
                  <a:cxn ang="0">
                    <a:pos x="T2" y="T3"/>
                  </a:cxn>
                  <a:cxn ang="0">
                    <a:pos x="T4" y="T5"/>
                  </a:cxn>
                  <a:cxn ang="0">
                    <a:pos x="T6" y="T7"/>
                  </a:cxn>
                </a:cxnLst>
                <a:rect l="0" t="0" r="r" b="b"/>
                <a:pathLst>
                  <a:path w="74" h="75">
                    <a:moveTo>
                      <a:pt x="0" y="0"/>
                    </a:moveTo>
                    <a:lnTo>
                      <a:pt x="74" y="0"/>
                    </a:lnTo>
                    <a:lnTo>
                      <a:pt x="74" y="7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33" name="Freeform 105">
                <a:extLst>
                  <a:ext uri="{FF2B5EF4-FFF2-40B4-BE49-F238E27FC236}">
                    <a16:creationId xmlns:a16="http://schemas.microsoft.com/office/drawing/2014/main" id="{56B0AF31-AE80-44B4-85A5-6071B641491E}"/>
                  </a:ext>
                </a:extLst>
              </p:cNvPr>
              <p:cNvSpPr/>
              <p:nvPr/>
            </p:nvSpPr>
            <p:spPr bwMode="auto">
              <a:xfrm>
                <a:off x="5738813" y="3144838"/>
                <a:ext cx="711200" cy="568325"/>
              </a:xfrm>
              <a:custGeom>
                <a:avLst/>
                <a:gdLst>
                  <a:gd name="T0" fmla="*/ 448 w 448"/>
                  <a:gd name="T1" fmla="*/ 358 h 358"/>
                  <a:gd name="T2" fmla="*/ 0 w 448"/>
                  <a:gd name="T3" fmla="*/ 358 h 358"/>
                  <a:gd name="T4" fmla="*/ 0 w 448"/>
                  <a:gd name="T5" fmla="*/ 0 h 358"/>
                  <a:gd name="T6" fmla="*/ 26 w 448"/>
                  <a:gd name="T7" fmla="*/ 0 h 358"/>
                  <a:gd name="T8" fmla="*/ 26 w 448"/>
                  <a:gd name="T9" fmla="*/ 334 h 358"/>
                  <a:gd name="T10" fmla="*/ 448 w 448"/>
                  <a:gd name="T11" fmla="*/ 334 h 358"/>
                  <a:gd name="T12" fmla="*/ 448 w 448"/>
                  <a:gd name="T13" fmla="*/ 358 h 358"/>
                  <a:gd name="T14" fmla="*/ 448 w 448"/>
                  <a:gd name="T15" fmla="*/ 358 h 3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358">
                    <a:moveTo>
                      <a:pt x="448" y="358"/>
                    </a:moveTo>
                    <a:lnTo>
                      <a:pt x="0" y="358"/>
                    </a:lnTo>
                    <a:lnTo>
                      <a:pt x="0" y="0"/>
                    </a:lnTo>
                    <a:lnTo>
                      <a:pt x="26" y="0"/>
                    </a:lnTo>
                    <a:lnTo>
                      <a:pt x="26" y="334"/>
                    </a:lnTo>
                    <a:lnTo>
                      <a:pt x="448" y="334"/>
                    </a:lnTo>
                    <a:lnTo>
                      <a:pt x="448" y="358"/>
                    </a:lnTo>
                    <a:lnTo>
                      <a:pt x="448" y="35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34" name="Rectangle 106">
                <a:extLst>
                  <a:ext uri="{FF2B5EF4-FFF2-40B4-BE49-F238E27FC236}">
                    <a16:creationId xmlns:a16="http://schemas.microsoft.com/office/drawing/2014/main" id="{342E43F6-202A-455C-8670-6B04C34EF7CE}"/>
                  </a:ext>
                </a:extLst>
              </p:cNvPr>
              <p:cNvSpPr>
                <a:spLocks noChangeArrowheads="1"/>
              </p:cNvSpPr>
              <p:nvPr/>
            </p:nvSpPr>
            <p:spPr bwMode="auto">
              <a:xfrm>
                <a:off x="5853113" y="3560763"/>
                <a:ext cx="79375" cy="1222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35" name="Rectangle 107">
                <a:extLst>
                  <a:ext uri="{FF2B5EF4-FFF2-40B4-BE49-F238E27FC236}">
                    <a16:creationId xmlns:a16="http://schemas.microsoft.com/office/drawing/2014/main" id="{81739738-E957-403C-B570-1CE7BC646BC3}"/>
                  </a:ext>
                </a:extLst>
              </p:cNvPr>
              <p:cNvSpPr>
                <a:spLocks noChangeArrowheads="1"/>
              </p:cNvSpPr>
              <p:nvPr/>
            </p:nvSpPr>
            <p:spPr bwMode="auto">
              <a:xfrm>
                <a:off x="5997576" y="3408363"/>
                <a:ext cx="79375" cy="274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36" name="Rectangle 108">
                <a:extLst>
                  <a:ext uri="{FF2B5EF4-FFF2-40B4-BE49-F238E27FC236}">
                    <a16:creationId xmlns:a16="http://schemas.microsoft.com/office/drawing/2014/main" id="{57107470-EA4C-498A-A756-A70AD23D82EC}"/>
                  </a:ext>
                </a:extLst>
              </p:cNvPr>
              <p:cNvSpPr>
                <a:spLocks noChangeArrowheads="1"/>
              </p:cNvSpPr>
              <p:nvPr/>
            </p:nvSpPr>
            <p:spPr bwMode="auto">
              <a:xfrm>
                <a:off x="6142038" y="3487738"/>
                <a:ext cx="79375" cy="1952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37" name="Rectangle 109">
                <a:extLst>
                  <a:ext uri="{FF2B5EF4-FFF2-40B4-BE49-F238E27FC236}">
                    <a16:creationId xmlns:a16="http://schemas.microsoft.com/office/drawing/2014/main" id="{C3AE1AD3-F23B-4D98-A1F9-207062ADCF80}"/>
                  </a:ext>
                </a:extLst>
              </p:cNvPr>
              <p:cNvSpPr>
                <a:spLocks noChangeArrowheads="1"/>
              </p:cNvSpPr>
              <p:nvPr/>
            </p:nvSpPr>
            <p:spPr bwMode="auto">
              <a:xfrm>
                <a:off x="6286501" y="3305176"/>
                <a:ext cx="79375" cy="377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grpSp>
      </p:grpSp>
      <p:grpSp>
        <p:nvGrpSpPr>
          <p:cNvPr id="38" name="组合 37">
            <a:extLst>
              <a:ext uri="{FF2B5EF4-FFF2-40B4-BE49-F238E27FC236}">
                <a16:creationId xmlns:a16="http://schemas.microsoft.com/office/drawing/2014/main" id="{3F8F588E-CC41-4DEC-BFD6-57015A7C8B67}"/>
              </a:ext>
            </a:extLst>
          </p:cNvPr>
          <p:cNvGrpSpPr/>
          <p:nvPr/>
        </p:nvGrpSpPr>
        <p:grpSpPr>
          <a:xfrm>
            <a:off x="5924619" y="5875923"/>
            <a:ext cx="342764" cy="342764"/>
            <a:chOff x="5924618" y="5875923"/>
            <a:chExt cx="342764" cy="342764"/>
          </a:xfrm>
        </p:grpSpPr>
        <p:sp>
          <p:nvSpPr>
            <p:cNvPr id="39" name="椭圆 38">
              <a:extLst>
                <a:ext uri="{FF2B5EF4-FFF2-40B4-BE49-F238E27FC236}">
                  <a16:creationId xmlns:a16="http://schemas.microsoft.com/office/drawing/2014/main" id="{C75AFBD7-DBC5-4AB1-85DF-0CCE65BAAA6F}"/>
                </a:ext>
              </a:extLst>
            </p:cNvPr>
            <p:cNvSpPr/>
            <p:nvPr/>
          </p:nvSpPr>
          <p:spPr>
            <a:xfrm>
              <a:off x="5924618"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40" name="组合 39">
              <a:extLst>
                <a:ext uri="{FF2B5EF4-FFF2-40B4-BE49-F238E27FC236}">
                  <a16:creationId xmlns:a16="http://schemas.microsoft.com/office/drawing/2014/main" id="{1954B2CE-4A66-4B5F-97D9-F427D33D9FE2}"/>
                </a:ext>
              </a:extLst>
            </p:cNvPr>
            <p:cNvGrpSpPr/>
            <p:nvPr/>
          </p:nvGrpSpPr>
          <p:grpSpPr>
            <a:xfrm>
              <a:off x="5999323" y="5949431"/>
              <a:ext cx="193355" cy="195748"/>
              <a:chOff x="5778500" y="3105150"/>
              <a:chExt cx="641350" cy="649288"/>
            </a:xfrm>
            <a:solidFill>
              <a:schemeClr val="accent1"/>
            </a:solidFill>
          </p:grpSpPr>
          <p:sp>
            <p:nvSpPr>
              <p:cNvPr id="41" name="Freeform 425">
                <a:extLst>
                  <a:ext uri="{FF2B5EF4-FFF2-40B4-BE49-F238E27FC236}">
                    <a16:creationId xmlns:a16="http://schemas.microsoft.com/office/drawing/2014/main" id="{B91F5DCD-DE23-4812-A1CD-2E7E844B7BDF}"/>
                  </a:ext>
                </a:extLst>
              </p:cNvPr>
              <p:cNvSpPr/>
              <p:nvPr/>
            </p:nvSpPr>
            <p:spPr bwMode="auto">
              <a:xfrm>
                <a:off x="5959475" y="3227388"/>
                <a:ext cx="217488" cy="438150"/>
              </a:xfrm>
              <a:custGeom>
                <a:avLst/>
                <a:gdLst>
                  <a:gd name="T0" fmla="*/ 36 w 137"/>
                  <a:gd name="T1" fmla="*/ 276 h 276"/>
                  <a:gd name="T2" fmla="*/ 101 w 137"/>
                  <a:gd name="T3" fmla="*/ 276 h 276"/>
                  <a:gd name="T4" fmla="*/ 101 w 137"/>
                  <a:gd name="T5" fmla="*/ 69 h 276"/>
                  <a:gd name="T6" fmla="*/ 137 w 137"/>
                  <a:gd name="T7" fmla="*/ 69 h 276"/>
                  <a:gd name="T8" fmla="*/ 67 w 137"/>
                  <a:gd name="T9" fmla="*/ 0 h 276"/>
                  <a:gd name="T10" fmla="*/ 0 w 137"/>
                  <a:gd name="T11" fmla="*/ 69 h 276"/>
                  <a:gd name="T12" fmla="*/ 36 w 137"/>
                  <a:gd name="T13" fmla="*/ 69 h 276"/>
                  <a:gd name="T14" fmla="*/ 36 w 137"/>
                  <a:gd name="T15" fmla="*/ 276 h 2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7" h="276">
                    <a:moveTo>
                      <a:pt x="36" y="276"/>
                    </a:moveTo>
                    <a:lnTo>
                      <a:pt x="101" y="276"/>
                    </a:lnTo>
                    <a:lnTo>
                      <a:pt x="101" y="69"/>
                    </a:lnTo>
                    <a:lnTo>
                      <a:pt x="137" y="69"/>
                    </a:lnTo>
                    <a:lnTo>
                      <a:pt x="67" y="0"/>
                    </a:lnTo>
                    <a:lnTo>
                      <a:pt x="0" y="69"/>
                    </a:lnTo>
                    <a:lnTo>
                      <a:pt x="36" y="69"/>
                    </a:lnTo>
                    <a:lnTo>
                      <a:pt x="36" y="27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42" name="Freeform 426">
                <a:extLst>
                  <a:ext uri="{FF2B5EF4-FFF2-40B4-BE49-F238E27FC236}">
                    <a16:creationId xmlns:a16="http://schemas.microsoft.com/office/drawing/2014/main" id="{F65B7A26-E792-47F9-85D2-F972294E4CF6}"/>
                  </a:ext>
                </a:extLst>
              </p:cNvPr>
              <p:cNvSpPr/>
              <p:nvPr/>
            </p:nvSpPr>
            <p:spPr bwMode="auto">
              <a:xfrm>
                <a:off x="5783263" y="3398838"/>
                <a:ext cx="214313" cy="266700"/>
              </a:xfrm>
              <a:custGeom>
                <a:avLst/>
                <a:gdLst>
                  <a:gd name="T0" fmla="*/ 36 w 135"/>
                  <a:gd name="T1" fmla="*/ 168 h 168"/>
                  <a:gd name="T2" fmla="*/ 98 w 135"/>
                  <a:gd name="T3" fmla="*/ 168 h 168"/>
                  <a:gd name="T4" fmla="*/ 98 w 135"/>
                  <a:gd name="T5" fmla="*/ 70 h 168"/>
                  <a:gd name="T6" fmla="*/ 135 w 135"/>
                  <a:gd name="T7" fmla="*/ 70 h 168"/>
                  <a:gd name="T8" fmla="*/ 67 w 135"/>
                  <a:gd name="T9" fmla="*/ 0 h 168"/>
                  <a:gd name="T10" fmla="*/ 0 w 135"/>
                  <a:gd name="T11" fmla="*/ 70 h 168"/>
                  <a:gd name="T12" fmla="*/ 36 w 135"/>
                  <a:gd name="T13" fmla="*/ 70 h 168"/>
                  <a:gd name="T14" fmla="*/ 36 w 135"/>
                  <a:gd name="T15" fmla="*/ 168 h 1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168">
                    <a:moveTo>
                      <a:pt x="36" y="168"/>
                    </a:moveTo>
                    <a:lnTo>
                      <a:pt x="98" y="168"/>
                    </a:lnTo>
                    <a:lnTo>
                      <a:pt x="98" y="70"/>
                    </a:lnTo>
                    <a:lnTo>
                      <a:pt x="135" y="70"/>
                    </a:lnTo>
                    <a:lnTo>
                      <a:pt x="67" y="0"/>
                    </a:lnTo>
                    <a:lnTo>
                      <a:pt x="0" y="70"/>
                    </a:lnTo>
                    <a:lnTo>
                      <a:pt x="36" y="70"/>
                    </a:lnTo>
                    <a:lnTo>
                      <a:pt x="36"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43" name="Rectangle 427">
                <a:extLst>
                  <a:ext uri="{FF2B5EF4-FFF2-40B4-BE49-F238E27FC236}">
                    <a16:creationId xmlns:a16="http://schemas.microsoft.com/office/drawing/2014/main" id="{C368463A-6A5A-49B0-9F7C-4CA26AD7ECE1}"/>
                  </a:ext>
                </a:extLst>
              </p:cNvPr>
              <p:cNvSpPr>
                <a:spLocks noChangeArrowheads="1"/>
              </p:cNvSpPr>
              <p:nvPr/>
            </p:nvSpPr>
            <p:spPr bwMode="auto">
              <a:xfrm>
                <a:off x="5778500" y="3692525"/>
                <a:ext cx="641350" cy="619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44" name="Oval 428">
                <a:extLst>
                  <a:ext uri="{FF2B5EF4-FFF2-40B4-BE49-F238E27FC236}">
                    <a16:creationId xmlns:a16="http://schemas.microsoft.com/office/drawing/2014/main" id="{108B0B09-358B-41FD-B6C9-E24FED2E5458}"/>
                  </a:ext>
                </a:extLst>
              </p:cNvPr>
              <p:cNvSpPr>
                <a:spLocks noChangeArrowheads="1"/>
              </p:cNvSpPr>
              <p:nvPr/>
            </p:nvSpPr>
            <p:spPr bwMode="auto">
              <a:xfrm>
                <a:off x="6248400" y="3105150"/>
                <a:ext cx="88900" cy="1095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45" name="Freeform 429">
                <a:extLst>
                  <a:ext uri="{FF2B5EF4-FFF2-40B4-BE49-F238E27FC236}">
                    <a16:creationId xmlns:a16="http://schemas.microsoft.com/office/drawing/2014/main" id="{6AD36026-0647-4CF9-B6B8-8368B2AD47DE}"/>
                  </a:ext>
                </a:extLst>
              </p:cNvPr>
              <p:cNvSpPr/>
              <p:nvPr/>
            </p:nvSpPr>
            <p:spPr bwMode="auto">
              <a:xfrm>
                <a:off x="6188075" y="3222625"/>
                <a:ext cx="206375" cy="442913"/>
              </a:xfrm>
              <a:custGeom>
                <a:avLst/>
                <a:gdLst>
                  <a:gd name="T0" fmla="*/ 7 w 54"/>
                  <a:gd name="T1" fmla="*/ 61 h 116"/>
                  <a:gd name="T2" fmla="*/ 8 w 54"/>
                  <a:gd name="T3" fmla="*/ 61 h 116"/>
                  <a:gd name="T4" fmla="*/ 9 w 54"/>
                  <a:gd name="T5" fmla="*/ 61 h 116"/>
                  <a:gd name="T6" fmla="*/ 11 w 54"/>
                  <a:gd name="T7" fmla="*/ 116 h 116"/>
                  <a:gd name="T8" fmla="*/ 26 w 54"/>
                  <a:gd name="T9" fmla="*/ 116 h 116"/>
                  <a:gd name="T10" fmla="*/ 26 w 54"/>
                  <a:gd name="T11" fmla="*/ 61 h 116"/>
                  <a:gd name="T12" fmla="*/ 28 w 54"/>
                  <a:gd name="T13" fmla="*/ 61 h 116"/>
                  <a:gd name="T14" fmla="*/ 30 w 54"/>
                  <a:gd name="T15" fmla="*/ 116 h 116"/>
                  <a:gd name="T16" fmla="*/ 45 w 54"/>
                  <a:gd name="T17" fmla="*/ 116 h 116"/>
                  <a:gd name="T18" fmla="*/ 45 w 54"/>
                  <a:gd name="T19" fmla="*/ 61 h 116"/>
                  <a:gd name="T20" fmla="*/ 46 w 54"/>
                  <a:gd name="T21" fmla="*/ 61 h 116"/>
                  <a:gd name="T22" fmla="*/ 47 w 54"/>
                  <a:gd name="T23" fmla="*/ 61 h 116"/>
                  <a:gd name="T24" fmla="*/ 47 w 54"/>
                  <a:gd name="T25" fmla="*/ 61 h 116"/>
                  <a:gd name="T26" fmla="*/ 54 w 54"/>
                  <a:gd name="T27" fmla="*/ 61 h 116"/>
                  <a:gd name="T28" fmla="*/ 50 w 54"/>
                  <a:gd name="T29" fmla="*/ 8 h 116"/>
                  <a:gd name="T30" fmla="*/ 43 w 54"/>
                  <a:gd name="T31" fmla="*/ 1 h 116"/>
                  <a:gd name="T32" fmla="*/ 37 w 54"/>
                  <a:gd name="T33" fmla="*/ 0 h 116"/>
                  <a:gd name="T34" fmla="*/ 37 w 54"/>
                  <a:gd name="T35" fmla="*/ 1 h 116"/>
                  <a:gd name="T36" fmla="*/ 41 w 54"/>
                  <a:gd name="T37" fmla="*/ 5 h 116"/>
                  <a:gd name="T38" fmla="*/ 36 w 54"/>
                  <a:gd name="T39" fmla="*/ 8 h 116"/>
                  <a:gd name="T40" fmla="*/ 38 w 54"/>
                  <a:gd name="T41" fmla="*/ 12 h 116"/>
                  <a:gd name="T42" fmla="*/ 31 w 54"/>
                  <a:gd name="T43" fmla="*/ 28 h 116"/>
                  <a:gd name="T44" fmla="*/ 30 w 54"/>
                  <a:gd name="T45" fmla="*/ 6 h 116"/>
                  <a:gd name="T46" fmla="*/ 31 w 54"/>
                  <a:gd name="T47" fmla="*/ 5 h 116"/>
                  <a:gd name="T48" fmla="*/ 30 w 54"/>
                  <a:gd name="T49" fmla="*/ 0 h 116"/>
                  <a:gd name="T50" fmla="*/ 25 w 54"/>
                  <a:gd name="T51" fmla="*/ 0 h 116"/>
                  <a:gd name="T52" fmla="*/ 23 w 54"/>
                  <a:gd name="T53" fmla="*/ 5 h 116"/>
                  <a:gd name="T54" fmla="*/ 24 w 54"/>
                  <a:gd name="T55" fmla="*/ 6 h 116"/>
                  <a:gd name="T56" fmla="*/ 23 w 54"/>
                  <a:gd name="T57" fmla="*/ 29 h 116"/>
                  <a:gd name="T58" fmla="*/ 16 w 54"/>
                  <a:gd name="T59" fmla="*/ 12 h 116"/>
                  <a:gd name="T60" fmla="*/ 18 w 54"/>
                  <a:gd name="T61" fmla="*/ 8 h 116"/>
                  <a:gd name="T62" fmla="*/ 13 w 54"/>
                  <a:gd name="T63" fmla="*/ 5 h 116"/>
                  <a:gd name="T64" fmla="*/ 17 w 54"/>
                  <a:gd name="T65" fmla="*/ 1 h 116"/>
                  <a:gd name="T66" fmla="*/ 17 w 54"/>
                  <a:gd name="T67" fmla="*/ 0 h 116"/>
                  <a:gd name="T68" fmla="*/ 11 w 54"/>
                  <a:gd name="T69" fmla="*/ 1 h 116"/>
                  <a:gd name="T70" fmla="*/ 4 w 54"/>
                  <a:gd name="T71" fmla="*/ 8 h 116"/>
                  <a:gd name="T72" fmla="*/ 0 w 54"/>
                  <a:gd name="T73" fmla="*/ 61 h 116"/>
                  <a:gd name="T74" fmla="*/ 7 w 54"/>
                  <a:gd name="T75" fmla="*/ 61 h 116"/>
                  <a:gd name="T76" fmla="*/ 7 w 54"/>
                  <a:gd name="T77" fmla="*/ 6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116">
                    <a:moveTo>
                      <a:pt x="7" y="61"/>
                    </a:moveTo>
                    <a:cubicBezTo>
                      <a:pt x="8" y="61"/>
                      <a:pt x="8" y="61"/>
                      <a:pt x="8" y="61"/>
                    </a:cubicBezTo>
                    <a:cubicBezTo>
                      <a:pt x="8" y="61"/>
                      <a:pt x="9" y="61"/>
                      <a:pt x="9" y="61"/>
                    </a:cubicBezTo>
                    <a:cubicBezTo>
                      <a:pt x="11" y="116"/>
                      <a:pt x="11" y="116"/>
                      <a:pt x="11" y="116"/>
                    </a:cubicBezTo>
                    <a:cubicBezTo>
                      <a:pt x="26" y="116"/>
                      <a:pt x="26" y="116"/>
                      <a:pt x="26" y="116"/>
                    </a:cubicBezTo>
                    <a:cubicBezTo>
                      <a:pt x="27" y="100"/>
                      <a:pt x="27" y="72"/>
                      <a:pt x="26" y="61"/>
                    </a:cubicBezTo>
                    <a:cubicBezTo>
                      <a:pt x="27" y="61"/>
                      <a:pt x="27" y="61"/>
                      <a:pt x="28" y="61"/>
                    </a:cubicBezTo>
                    <a:cubicBezTo>
                      <a:pt x="30" y="116"/>
                      <a:pt x="30" y="116"/>
                      <a:pt x="30" y="116"/>
                    </a:cubicBezTo>
                    <a:cubicBezTo>
                      <a:pt x="45" y="116"/>
                      <a:pt x="45" y="116"/>
                      <a:pt x="45" y="116"/>
                    </a:cubicBezTo>
                    <a:cubicBezTo>
                      <a:pt x="46" y="100"/>
                      <a:pt x="45" y="72"/>
                      <a:pt x="45" y="61"/>
                    </a:cubicBezTo>
                    <a:cubicBezTo>
                      <a:pt x="46" y="61"/>
                      <a:pt x="46" y="61"/>
                      <a:pt x="46" y="61"/>
                    </a:cubicBezTo>
                    <a:cubicBezTo>
                      <a:pt x="46" y="61"/>
                      <a:pt x="47" y="61"/>
                      <a:pt x="47" y="61"/>
                    </a:cubicBezTo>
                    <a:cubicBezTo>
                      <a:pt x="47" y="61"/>
                      <a:pt x="47" y="61"/>
                      <a:pt x="47" y="61"/>
                    </a:cubicBezTo>
                    <a:cubicBezTo>
                      <a:pt x="49" y="61"/>
                      <a:pt x="52" y="61"/>
                      <a:pt x="54" y="61"/>
                    </a:cubicBezTo>
                    <a:cubicBezTo>
                      <a:pt x="50" y="8"/>
                      <a:pt x="50" y="8"/>
                      <a:pt x="50" y="8"/>
                    </a:cubicBezTo>
                    <a:cubicBezTo>
                      <a:pt x="50" y="4"/>
                      <a:pt x="47" y="1"/>
                      <a:pt x="43" y="1"/>
                    </a:cubicBezTo>
                    <a:cubicBezTo>
                      <a:pt x="43" y="1"/>
                      <a:pt x="38" y="1"/>
                      <a:pt x="37" y="0"/>
                    </a:cubicBezTo>
                    <a:cubicBezTo>
                      <a:pt x="37" y="1"/>
                      <a:pt x="37" y="1"/>
                      <a:pt x="37" y="1"/>
                    </a:cubicBezTo>
                    <a:cubicBezTo>
                      <a:pt x="41" y="5"/>
                      <a:pt x="41" y="5"/>
                      <a:pt x="41" y="5"/>
                    </a:cubicBezTo>
                    <a:cubicBezTo>
                      <a:pt x="36" y="8"/>
                      <a:pt x="36" y="8"/>
                      <a:pt x="36" y="8"/>
                    </a:cubicBezTo>
                    <a:cubicBezTo>
                      <a:pt x="38" y="12"/>
                      <a:pt x="38" y="12"/>
                      <a:pt x="38" y="12"/>
                    </a:cubicBezTo>
                    <a:cubicBezTo>
                      <a:pt x="31" y="28"/>
                      <a:pt x="31" y="28"/>
                      <a:pt x="31" y="28"/>
                    </a:cubicBezTo>
                    <a:cubicBezTo>
                      <a:pt x="30" y="6"/>
                      <a:pt x="30" y="6"/>
                      <a:pt x="30" y="6"/>
                    </a:cubicBezTo>
                    <a:cubicBezTo>
                      <a:pt x="31" y="5"/>
                      <a:pt x="31" y="5"/>
                      <a:pt x="31" y="5"/>
                    </a:cubicBezTo>
                    <a:cubicBezTo>
                      <a:pt x="30" y="0"/>
                      <a:pt x="30" y="0"/>
                      <a:pt x="30" y="0"/>
                    </a:cubicBezTo>
                    <a:cubicBezTo>
                      <a:pt x="25" y="0"/>
                      <a:pt x="25" y="0"/>
                      <a:pt x="25" y="0"/>
                    </a:cubicBezTo>
                    <a:cubicBezTo>
                      <a:pt x="23" y="5"/>
                      <a:pt x="23" y="5"/>
                      <a:pt x="23" y="5"/>
                    </a:cubicBezTo>
                    <a:cubicBezTo>
                      <a:pt x="24" y="6"/>
                      <a:pt x="24" y="6"/>
                      <a:pt x="24" y="6"/>
                    </a:cubicBezTo>
                    <a:cubicBezTo>
                      <a:pt x="23" y="29"/>
                      <a:pt x="23" y="29"/>
                      <a:pt x="23" y="29"/>
                    </a:cubicBezTo>
                    <a:cubicBezTo>
                      <a:pt x="16" y="12"/>
                      <a:pt x="16" y="12"/>
                      <a:pt x="16" y="12"/>
                    </a:cubicBezTo>
                    <a:cubicBezTo>
                      <a:pt x="18" y="8"/>
                      <a:pt x="18" y="8"/>
                      <a:pt x="18" y="8"/>
                    </a:cubicBezTo>
                    <a:cubicBezTo>
                      <a:pt x="13" y="5"/>
                      <a:pt x="13" y="5"/>
                      <a:pt x="13" y="5"/>
                    </a:cubicBezTo>
                    <a:cubicBezTo>
                      <a:pt x="17" y="1"/>
                      <a:pt x="17" y="1"/>
                      <a:pt x="17" y="1"/>
                    </a:cubicBezTo>
                    <a:cubicBezTo>
                      <a:pt x="17" y="0"/>
                      <a:pt x="17" y="0"/>
                      <a:pt x="17" y="0"/>
                    </a:cubicBezTo>
                    <a:cubicBezTo>
                      <a:pt x="16" y="1"/>
                      <a:pt x="11" y="1"/>
                      <a:pt x="11" y="1"/>
                    </a:cubicBezTo>
                    <a:cubicBezTo>
                      <a:pt x="8" y="1"/>
                      <a:pt x="5" y="4"/>
                      <a:pt x="4" y="8"/>
                    </a:cubicBezTo>
                    <a:cubicBezTo>
                      <a:pt x="0" y="61"/>
                      <a:pt x="0" y="61"/>
                      <a:pt x="0" y="61"/>
                    </a:cubicBezTo>
                    <a:cubicBezTo>
                      <a:pt x="3" y="61"/>
                      <a:pt x="5" y="61"/>
                      <a:pt x="7" y="61"/>
                    </a:cubicBezTo>
                    <a:cubicBezTo>
                      <a:pt x="7" y="61"/>
                      <a:pt x="7" y="61"/>
                      <a:pt x="7"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grpSp>
      <p:grpSp>
        <p:nvGrpSpPr>
          <p:cNvPr id="46" name="组合 45">
            <a:extLst>
              <a:ext uri="{FF2B5EF4-FFF2-40B4-BE49-F238E27FC236}">
                <a16:creationId xmlns:a16="http://schemas.microsoft.com/office/drawing/2014/main" id="{9148CD87-D12B-4D5C-A1BE-E6F8ED1A1C58}"/>
              </a:ext>
            </a:extLst>
          </p:cNvPr>
          <p:cNvGrpSpPr/>
          <p:nvPr/>
        </p:nvGrpSpPr>
        <p:grpSpPr>
          <a:xfrm>
            <a:off x="6542851" y="5875923"/>
            <a:ext cx="342764" cy="342764"/>
            <a:chOff x="6542850" y="5875923"/>
            <a:chExt cx="342764" cy="342764"/>
          </a:xfrm>
        </p:grpSpPr>
        <p:sp>
          <p:nvSpPr>
            <p:cNvPr id="47" name="椭圆 46">
              <a:extLst>
                <a:ext uri="{FF2B5EF4-FFF2-40B4-BE49-F238E27FC236}">
                  <a16:creationId xmlns:a16="http://schemas.microsoft.com/office/drawing/2014/main" id="{E3BF3175-9BC8-4E76-8B89-97FB03BB8263}"/>
                </a:ext>
              </a:extLst>
            </p:cNvPr>
            <p:cNvSpPr/>
            <p:nvPr/>
          </p:nvSpPr>
          <p:spPr>
            <a:xfrm>
              <a:off x="6542850"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48" name="组合 47">
              <a:extLst>
                <a:ext uri="{FF2B5EF4-FFF2-40B4-BE49-F238E27FC236}">
                  <a16:creationId xmlns:a16="http://schemas.microsoft.com/office/drawing/2014/main" id="{C06505D0-EA39-41E4-9510-2423A2335B4A}"/>
                </a:ext>
              </a:extLst>
            </p:cNvPr>
            <p:cNvGrpSpPr/>
            <p:nvPr/>
          </p:nvGrpSpPr>
          <p:grpSpPr>
            <a:xfrm>
              <a:off x="6626221" y="5960251"/>
              <a:ext cx="200055" cy="198141"/>
              <a:chOff x="5767388" y="3098800"/>
              <a:chExt cx="663575" cy="657225"/>
            </a:xfrm>
            <a:solidFill>
              <a:schemeClr val="accent1"/>
            </a:solidFill>
          </p:grpSpPr>
          <p:sp>
            <p:nvSpPr>
              <p:cNvPr id="49" name="Freeform 253">
                <a:extLst>
                  <a:ext uri="{FF2B5EF4-FFF2-40B4-BE49-F238E27FC236}">
                    <a16:creationId xmlns:a16="http://schemas.microsoft.com/office/drawing/2014/main" id="{D42B857E-69FF-447F-9286-4AAD220504FC}"/>
                  </a:ext>
                </a:extLst>
              </p:cNvPr>
              <p:cNvSpPr>
                <a:spLocks noEditPoints="1"/>
              </p:cNvSpPr>
              <p:nvPr/>
            </p:nvSpPr>
            <p:spPr bwMode="auto">
              <a:xfrm>
                <a:off x="5767388" y="3098800"/>
                <a:ext cx="663575" cy="519113"/>
              </a:xfrm>
              <a:custGeom>
                <a:avLst/>
                <a:gdLst>
                  <a:gd name="T0" fmla="*/ 165 w 174"/>
                  <a:gd name="T1" fmla="*/ 0 h 136"/>
                  <a:gd name="T2" fmla="*/ 9 w 174"/>
                  <a:gd name="T3" fmla="*/ 0 h 136"/>
                  <a:gd name="T4" fmla="*/ 0 w 174"/>
                  <a:gd name="T5" fmla="*/ 9 h 136"/>
                  <a:gd name="T6" fmla="*/ 0 w 174"/>
                  <a:gd name="T7" fmla="*/ 128 h 136"/>
                  <a:gd name="T8" fmla="*/ 9 w 174"/>
                  <a:gd name="T9" fmla="*/ 136 h 136"/>
                  <a:gd name="T10" fmla="*/ 50 w 174"/>
                  <a:gd name="T11" fmla="*/ 136 h 136"/>
                  <a:gd name="T12" fmla="*/ 41 w 174"/>
                  <a:gd name="T13" fmla="*/ 121 h 136"/>
                  <a:gd name="T14" fmla="*/ 17 w 174"/>
                  <a:gd name="T15" fmla="*/ 121 h 136"/>
                  <a:gd name="T16" fmla="*/ 17 w 174"/>
                  <a:gd name="T17" fmla="*/ 16 h 136"/>
                  <a:gd name="T18" fmla="*/ 157 w 174"/>
                  <a:gd name="T19" fmla="*/ 16 h 136"/>
                  <a:gd name="T20" fmla="*/ 157 w 174"/>
                  <a:gd name="T21" fmla="*/ 121 h 136"/>
                  <a:gd name="T22" fmla="*/ 133 w 174"/>
                  <a:gd name="T23" fmla="*/ 121 h 136"/>
                  <a:gd name="T24" fmla="*/ 133 w 174"/>
                  <a:gd name="T25" fmla="*/ 127 h 136"/>
                  <a:gd name="T26" fmla="*/ 131 w 174"/>
                  <a:gd name="T27" fmla="*/ 136 h 136"/>
                  <a:gd name="T28" fmla="*/ 165 w 174"/>
                  <a:gd name="T29" fmla="*/ 136 h 136"/>
                  <a:gd name="T30" fmla="*/ 174 w 174"/>
                  <a:gd name="T31" fmla="*/ 128 h 136"/>
                  <a:gd name="T32" fmla="*/ 174 w 174"/>
                  <a:gd name="T33" fmla="*/ 9 h 136"/>
                  <a:gd name="T34" fmla="*/ 165 w 174"/>
                  <a:gd name="T35" fmla="*/ 0 h 136"/>
                  <a:gd name="T36" fmla="*/ 8 w 174"/>
                  <a:gd name="T37" fmla="*/ 74 h 136"/>
                  <a:gd name="T38" fmla="*/ 3 w 174"/>
                  <a:gd name="T39" fmla="*/ 68 h 136"/>
                  <a:gd name="T40" fmla="*/ 8 w 174"/>
                  <a:gd name="T41" fmla="*/ 63 h 136"/>
                  <a:gd name="T42" fmla="*/ 14 w 174"/>
                  <a:gd name="T43" fmla="*/ 68 h 136"/>
                  <a:gd name="T44" fmla="*/ 8 w 174"/>
                  <a:gd name="T45" fmla="*/ 7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4" h="136">
                    <a:moveTo>
                      <a:pt x="165" y="0"/>
                    </a:moveTo>
                    <a:cubicBezTo>
                      <a:pt x="9" y="0"/>
                      <a:pt x="9" y="0"/>
                      <a:pt x="9" y="0"/>
                    </a:cubicBezTo>
                    <a:cubicBezTo>
                      <a:pt x="4" y="0"/>
                      <a:pt x="0" y="4"/>
                      <a:pt x="0" y="9"/>
                    </a:cubicBezTo>
                    <a:cubicBezTo>
                      <a:pt x="0" y="128"/>
                      <a:pt x="0" y="128"/>
                      <a:pt x="0" y="128"/>
                    </a:cubicBezTo>
                    <a:cubicBezTo>
                      <a:pt x="0" y="132"/>
                      <a:pt x="4" y="136"/>
                      <a:pt x="9" y="136"/>
                    </a:cubicBezTo>
                    <a:cubicBezTo>
                      <a:pt x="50" y="136"/>
                      <a:pt x="50" y="136"/>
                      <a:pt x="50" y="136"/>
                    </a:cubicBezTo>
                    <a:cubicBezTo>
                      <a:pt x="46" y="131"/>
                      <a:pt x="43" y="126"/>
                      <a:pt x="41" y="121"/>
                    </a:cubicBezTo>
                    <a:cubicBezTo>
                      <a:pt x="17" y="121"/>
                      <a:pt x="17" y="121"/>
                      <a:pt x="17" y="121"/>
                    </a:cubicBezTo>
                    <a:cubicBezTo>
                      <a:pt x="17" y="16"/>
                      <a:pt x="17" y="16"/>
                      <a:pt x="17" y="16"/>
                    </a:cubicBezTo>
                    <a:cubicBezTo>
                      <a:pt x="157" y="16"/>
                      <a:pt x="157" y="16"/>
                      <a:pt x="157" y="16"/>
                    </a:cubicBezTo>
                    <a:cubicBezTo>
                      <a:pt x="157" y="121"/>
                      <a:pt x="157" y="121"/>
                      <a:pt x="157" y="121"/>
                    </a:cubicBezTo>
                    <a:cubicBezTo>
                      <a:pt x="133" y="121"/>
                      <a:pt x="133" y="121"/>
                      <a:pt x="133" y="121"/>
                    </a:cubicBezTo>
                    <a:cubicBezTo>
                      <a:pt x="133" y="127"/>
                      <a:pt x="133" y="127"/>
                      <a:pt x="133" y="127"/>
                    </a:cubicBezTo>
                    <a:cubicBezTo>
                      <a:pt x="133" y="130"/>
                      <a:pt x="132" y="133"/>
                      <a:pt x="131" y="136"/>
                    </a:cubicBezTo>
                    <a:cubicBezTo>
                      <a:pt x="165" y="136"/>
                      <a:pt x="165" y="136"/>
                      <a:pt x="165" y="136"/>
                    </a:cubicBezTo>
                    <a:cubicBezTo>
                      <a:pt x="170" y="136"/>
                      <a:pt x="174" y="132"/>
                      <a:pt x="174" y="128"/>
                    </a:cubicBezTo>
                    <a:cubicBezTo>
                      <a:pt x="174" y="9"/>
                      <a:pt x="174" y="9"/>
                      <a:pt x="174" y="9"/>
                    </a:cubicBezTo>
                    <a:cubicBezTo>
                      <a:pt x="174" y="4"/>
                      <a:pt x="170" y="0"/>
                      <a:pt x="165" y="0"/>
                    </a:cubicBezTo>
                    <a:close/>
                    <a:moveTo>
                      <a:pt x="8" y="74"/>
                    </a:moveTo>
                    <a:cubicBezTo>
                      <a:pt x="5" y="74"/>
                      <a:pt x="3" y="71"/>
                      <a:pt x="3" y="68"/>
                    </a:cubicBezTo>
                    <a:cubicBezTo>
                      <a:pt x="3" y="65"/>
                      <a:pt x="5" y="63"/>
                      <a:pt x="8" y="63"/>
                    </a:cubicBezTo>
                    <a:cubicBezTo>
                      <a:pt x="11" y="63"/>
                      <a:pt x="14" y="65"/>
                      <a:pt x="14" y="68"/>
                    </a:cubicBezTo>
                    <a:cubicBezTo>
                      <a:pt x="14" y="71"/>
                      <a:pt x="11" y="74"/>
                      <a:pt x="8"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50" name="Freeform 254">
                <a:extLst>
                  <a:ext uri="{FF2B5EF4-FFF2-40B4-BE49-F238E27FC236}">
                    <a16:creationId xmlns:a16="http://schemas.microsoft.com/office/drawing/2014/main" id="{0C92A0B8-18D5-496D-A0F7-C493E6DF8C99}"/>
                  </a:ext>
                </a:extLst>
              </p:cNvPr>
              <p:cNvSpPr/>
              <p:nvPr/>
            </p:nvSpPr>
            <p:spPr bwMode="auto">
              <a:xfrm>
                <a:off x="5913438" y="3235325"/>
                <a:ext cx="334963" cy="520700"/>
              </a:xfrm>
              <a:custGeom>
                <a:avLst/>
                <a:gdLst>
                  <a:gd name="T0" fmla="*/ 88 w 88"/>
                  <a:gd name="T1" fmla="*/ 72 h 136"/>
                  <a:gd name="T2" fmla="*/ 88 w 88"/>
                  <a:gd name="T3" fmla="*/ 69 h 136"/>
                  <a:gd name="T4" fmla="*/ 88 w 88"/>
                  <a:gd name="T5" fmla="*/ 47 h 136"/>
                  <a:gd name="T6" fmla="*/ 81 w 88"/>
                  <a:gd name="T7" fmla="*/ 40 h 136"/>
                  <a:gd name="T8" fmla="*/ 73 w 88"/>
                  <a:gd name="T9" fmla="*/ 47 h 136"/>
                  <a:gd name="T10" fmla="*/ 73 w 88"/>
                  <a:gd name="T11" fmla="*/ 49 h 136"/>
                  <a:gd name="T12" fmla="*/ 72 w 88"/>
                  <a:gd name="T13" fmla="*/ 48 h 136"/>
                  <a:gd name="T14" fmla="*/ 72 w 88"/>
                  <a:gd name="T15" fmla="*/ 37 h 136"/>
                  <a:gd name="T16" fmla="*/ 64 w 88"/>
                  <a:gd name="T17" fmla="*/ 30 h 136"/>
                  <a:gd name="T18" fmla="*/ 57 w 88"/>
                  <a:gd name="T19" fmla="*/ 37 h 136"/>
                  <a:gd name="T20" fmla="*/ 57 w 88"/>
                  <a:gd name="T21" fmla="*/ 43 h 136"/>
                  <a:gd name="T22" fmla="*/ 55 w 88"/>
                  <a:gd name="T23" fmla="*/ 43 h 136"/>
                  <a:gd name="T24" fmla="*/ 55 w 88"/>
                  <a:gd name="T25" fmla="*/ 31 h 136"/>
                  <a:gd name="T26" fmla="*/ 48 w 88"/>
                  <a:gd name="T27" fmla="*/ 24 h 136"/>
                  <a:gd name="T28" fmla="*/ 40 w 88"/>
                  <a:gd name="T29" fmla="*/ 31 h 136"/>
                  <a:gd name="T30" fmla="*/ 40 w 88"/>
                  <a:gd name="T31" fmla="*/ 40 h 136"/>
                  <a:gd name="T32" fmla="*/ 38 w 88"/>
                  <a:gd name="T33" fmla="*/ 41 h 136"/>
                  <a:gd name="T34" fmla="*/ 38 w 88"/>
                  <a:gd name="T35" fmla="*/ 7 h 136"/>
                  <a:gd name="T36" fmla="*/ 31 w 88"/>
                  <a:gd name="T37" fmla="*/ 0 h 136"/>
                  <a:gd name="T38" fmla="*/ 24 w 88"/>
                  <a:gd name="T39" fmla="*/ 7 h 136"/>
                  <a:gd name="T40" fmla="*/ 24 w 88"/>
                  <a:gd name="T41" fmla="*/ 67 h 136"/>
                  <a:gd name="T42" fmla="*/ 22 w 88"/>
                  <a:gd name="T43" fmla="*/ 56 h 136"/>
                  <a:gd name="T44" fmla="*/ 8 w 88"/>
                  <a:gd name="T45" fmla="*/ 40 h 136"/>
                  <a:gd name="T46" fmla="*/ 1 w 88"/>
                  <a:gd name="T47" fmla="*/ 46 h 136"/>
                  <a:gd name="T48" fmla="*/ 8 w 88"/>
                  <a:gd name="T49" fmla="*/ 73 h 136"/>
                  <a:gd name="T50" fmla="*/ 20 w 88"/>
                  <a:gd name="T51" fmla="*/ 98 h 136"/>
                  <a:gd name="T52" fmla="*/ 22 w 88"/>
                  <a:gd name="T53" fmla="*/ 101 h 136"/>
                  <a:gd name="T54" fmla="*/ 32 w 88"/>
                  <a:gd name="T55" fmla="*/ 111 h 136"/>
                  <a:gd name="T56" fmla="*/ 32 w 88"/>
                  <a:gd name="T57" fmla="*/ 136 h 136"/>
                  <a:gd name="T58" fmla="*/ 81 w 88"/>
                  <a:gd name="T59" fmla="*/ 136 h 136"/>
                  <a:gd name="T60" fmla="*/ 81 w 88"/>
                  <a:gd name="T61" fmla="*/ 110 h 136"/>
                  <a:gd name="T62" fmla="*/ 87 w 88"/>
                  <a:gd name="T63" fmla="*/ 91 h 136"/>
                  <a:gd name="T64" fmla="*/ 88 w 88"/>
                  <a:gd name="T65" fmla="*/ 72 h 136"/>
                  <a:gd name="T66" fmla="*/ 88 w 88"/>
                  <a:gd name="T67" fmla="*/ 72 h 136"/>
                  <a:gd name="T68" fmla="*/ 88 w 88"/>
                  <a:gd name="T69" fmla="*/ 72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8" h="136">
                    <a:moveTo>
                      <a:pt x="88" y="72"/>
                    </a:moveTo>
                    <a:cubicBezTo>
                      <a:pt x="88" y="71"/>
                      <a:pt x="88" y="70"/>
                      <a:pt x="88" y="69"/>
                    </a:cubicBezTo>
                    <a:cubicBezTo>
                      <a:pt x="88" y="47"/>
                      <a:pt x="88" y="47"/>
                      <a:pt x="88" y="47"/>
                    </a:cubicBezTo>
                    <a:cubicBezTo>
                      <a:pt x="88" y="43"/>
                      <a:pt x="85" y="40"/>
                      <a:pt x="81" y="40"/>
                    </a:cubicBezTo>
                    <a:cubicBezTo>
                      <a:pt x="77" y="40"/>
                      <a:pt x="73" y="43"/>
                      <a:pt x="73" y="47"/>
                    </a:cubicBezTo>
                    <a:cubicBezTo>
                      <a:pt x="73" y="49"/>
                      <a:pt x="73" y="49"/>
                      <a:pt x="73" y="49"/>
                    </a:cubicBezTo>
                    <a:cubicBezTo>
                      <a:pt x="73" y="49"/>
                      <a:pt x="72" y="48"/>
                      <a:pt x="72" y="48"/>
                    </a:cubicBezTo>
                    <a:cubicBezTo>
                      <a:pt x="72" y="37"/>
                      <a:pt x="72" y="37"/>
                      <a:pt x="72" y="37"/>
                    </a:cubicBezTo>
                    <a:cubicBezTo>
                      <a:pt x="72" y="33"/>
                      <a:pt x="68" y="30"/>
                      <a:pt x="64" y="30"/>
                    </a:cubicBezTo>
                    <a:cubicBezTo>
                      <a:pt x="60" y="30"/>
                      <a:pt x="57" y="33"/>
                      <a:pt x="57" y="37"/>
                    </a:cubicBezTo>
                    <a:cubicBezTo>
                      <a:pt x="57" y="43"/>
                      <a:pt x="57" y="43"/>
                      <a:pt x="57" y="43"/>
                    </a:cubicBezTo>
                    <a:cubicBezTo>
                      <a:pt x="56" y="43"/>
                      <a:pt x="56" y="43"/>
                      <a:pt x="55" y="43"/>
                    </a:cubicBezTo>
                    <a:cubicBezTo>
                      <a:pt x="55" y="31"/>
                      <a:pt x="55" y="31"/>
                      <a:pt x="55" y="31"/>
                    </a:cubicBezTo>
                    <a:cubicBezTo>
                      <a:pt x="55" y="27"/>
                      <a:pt x="52" y="24"/>
                      <a:pt x="48" y="24"/>
                    </a:cubicBezTo>
                    <a:cubicBezTo>
                      <a:pt x="44" y="24"/>
                      <a:pt x="40" y="27"/>
                      <a:pt x="40" y="31"/>
                    </a:cubicBezTo>
                    <a:cubicBezTo>
                      <a:pt x="40" y="40"/>
                      <a:pt x="40" y="40"/>
                      <a:pt x="40" y="40"/>
                    </a:cubicBezTo>
                    <a:cubicBezTo>
                      <a:pt x="40" y="40"/>
                      <a:pt x="39" y="40"/>
                      <a:pt x="38" y="41"/>
                    </a:cubicBezTo>
                    <a:cubicBezTo>
                      <a:pt x="38" y="7"/>
                      <a:pt x="38" y="7"/>
                      <a:pt x="38" y="7"/>
                    </a:cubicBezTo>
                    <a:cubicBezTo>
                      <a:pt x="38" y="3"/>
                      <a:pt x="35" y="0"/>
                      <a:pt x="31" y="0"/>
                    </a:cubicBezTo>
                    <a:cubicBezTo>
                      <a:pt x="27" y="0"/>
                      <a:pt x="24" y="3"/>
                      <a:pt x="24" y="7"/>
                    </a:cubicBezTo>
                    <a:cubicBezTo>
                      <a:pt x="24" y="67"/>
                      <a:pt x="24" y="67"/>
                      <a:pt x="24" y="67"/>
                    </a:cubicBezTo>
                    <a:cubicBezTo>
                      <a:pt x="22" y="63"/>
                      <a:pt x="22" y="59"/>
                      <a:pt x="22" y="56"/>
                    </a:cubicBezTo>
                    <a:cubicBezTo>
                      <a:pt x="19" y="44"/>
                      <a:pt x="12" y="39"/>
                      <a:pt x="8" y="40"/>
                    </a:cubicBezTo>
                    <a:cubicBezTo>
                      <a:pt x="7" y="40"/>
                      <a:pt x="0" y="43"/>
                      <a:pt x="1" y="46"/>
                    </a:cubicBezTo>
                    <a:cubicBezTo>
                      <a:pt x="2" y="48"/>
                      <a:pt x="7" y="60"/>
                      <a:pt x="8" y="73"/>
                    </a:cubicBezTo>
                    <a:cubicBezTo>
                      <a:pt x="8" y="82"/>
                      <a:pt x="14" y="91"/>
                      <a:pt x="20" y="98"/>
                    </a:cubicBezTo>
                    <a:cubicBezTo>
                      <a:pt x="20" y="99"/>
                      <a:pt x="21" y="100"/>
                      <a:pt x="22" y="101"/>
                    </a:cubicBezTo>
                    <a:cubicBezTo>
                      <a:pt x="32" y="111"/>
                      <a:pt x="32" y="111"/>
                      <a:pt x="32" y="111"/>
                    </a:cubicBezTo>
                    <a:cubicBezTo>
                      <a:pt x="32" y="136"/>
                      <a:pt x="32" y="136"/>
                      <a:pt x="32" y="136"/>
                    </a:cubicBezTo>
                    <a:cubicBezTo>
                      <a:pt x="81" y="136"/>
                      <a:pt x="81" y="136"/>
                      <a:pt x="81" y="136"/>
                    </a:cubicBezTo>
                    <a:cubicBezTo>
                      <a:pt x="81" y="110"/>
                      <a:pt x="81" y="110"/>
                      <a:pt x="81" y="110"/>
                    </a:cubicBezTo>
                    <a:cubicBezTo>
                      <a:pt x="85" y="104"/>
                      <a:pt x="87" y="97"/>
                      <a:pt x="87" y="91"/>
                    </a:cubicBezTo>
                    <a:cubicBezTo>
                      <a:pt x="88" y="85"/>
                      <a:pt x="88" y="78"/>
                      <a:pt x="88" y="72"/>
                    </a:cubicBezTo>
                    <a:cubicBezTo>
                      <a:pt x="88" y="72"/>
                      <a:pt x="88" y="72"/>
                      <a:pt x="88" y="72"/>
                    </a:cubicBezTo>
                    <a:cubicBezTo>
                      <a:pt x="88" y="72"/>
                      <a:pt x="88" y="72"/>
                      <a:pt x="88"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grpSp>
      <p:grpSp>
        <p:nvGrpSpPr>
          <p:cNvPr id="51" name="组合 50">
            <a:extLst>
              <a:ext uri="{FF2B5EF4-FFF2-40B4-BE49-F238E27FC236}">
                <a16:creationId xmlns:a16="http://schemas.microsoft.com/office/drawing/2014/main" id="{28A69667-C074-4130-B878-C9696CB90B22}"/>
              </a:ext>
            </a:extLst>
          </p:cNvPr>
          <p:cNvGrpSpPr/>
          <p:nvPr/>
        </p:nvGrpSpPr>
        <p:grpSpPr>
          <a:xfrm>
            <a:off x="7161083" y="5875923"/>
            <a:ext cx="342764" cy="342764"/>
            <a:chOff x="7161082" y="5875923"/>
            <a:chExt cx="342764" cy="342764"/>
          </a:xfrm>
        </p:grpSpPr>
        <p:sp>
          <p:nvSpPr>
            <p:cNvPr id="52" name="椭圆 51">
              <a:extLst>
                <a:ext uri="{FF2B5EF4-FFF2-40B4-BE49-F238E27FC236}">
                  <a16:creationId xmlns:a16="http://schemas.microsoft.com/office/drawing/2014/main" id="{091EA3C8-07DE-4A3E-9DF5-7E464F3C9B28}"/>
                </a:ext>
              </a:extLst>
            </p:cNvPr>
            <p:cNvSpPr/>
            <p:nvPr/>
          </p:nvSpPr>
          <p:spPr>
            <a:xfrm>
              <a:off x="7161082"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53" name="组合 52">
              <a:extLst>
                <a:ext uri="{FF2B5EF4-FFF2-40B4-BE49-F238E27FC236}">
                  <a16:creationId xmlns:a16="http://schemas.microsoft.com/office/drawing/2014/main" id="{1366B173-583E-4E60-8585-FBA0D99DD8AA}"/>
                </a:ext>
              </a:extLst>
            </p:cNvPr>
            <p:cNvGrpSpPr>
              <a:grpSpLocks noChangeAspect="1"/>
            </p:cNvGrpSpPr>
            <p:nvPr/>
          </p:nvGrpSpPr>
          <p:grpSpPr>
            <a:xfrm flipH="1">
              <a:off x="7229508" y="5947390"/>
              <a:ext cx="205911" cy="199830"/>
              <a:chOff x="5719763" y="3063875"/>
              <a:chExt cx="752475" cy="730250"/>
            </a:xfrm>
            <a:solidFill>
              <a:schemeClr val="accent1"/>
            </a:solidFill>
          </p:grpSpPr>
          <p:sp>
            <p:nvSpPr>
              <p:cNvPr id="54" name="Oval 154">
                <a:extLst>
                  <a:ext uri="{FF2B5EF4-FFF2-40B4-BE49-F238E27FC236}">
                    <a16:creationId xmlns:a16="http://schemas.microsoft.com/office/drawing/2014/main" id="{F6500758-755F-441D-A869-1DE3F4A31344}"/>
                  </a:ext>
                </a:extLst>
              </p:cNvPr>
              <p:cNvSpPr>
                <a:spLocks noChangeArrowheads="1"/>
              </p:cNvSpPr>
              <p:nvPr/>
            </p:nvSpPr>
            <p:spPr bwMode="auto">
              <a:xfrm>
                <a:off x="6161088" y="3098800"/>
                <a:ext cx="95250" cy="1174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55" name="Rectangle 155">
                <a:extLst>
                  <a:ext uri="{FF2B5EF4-FFF2-40B4-BE49-F238E27FC236}">
                    <a16:creationId xmlns:a16="http://schemas.microsoft.com/office/drawing/2014/main" id="{513FA4C5-B132-4E85-B0EA-D9556FBF1EFD}"/>
                  </a:ext>
                </a:extLst>
              </p:cNvPr>
              <p:cNvSpPr>
                <a:spLocks noChangeArrowheads="1"/>
              </p:cNvSpPr>
              <p:nvPr/>
            </p:nvSpPr>
            <p:spPr bwMode="auto">
              <a:xfrm>
                <a:off x="6210301" y="3387725"/>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56" name="Freeform 156">
                <a:extLst>
                  <a:ext uri="{FF2B5EF4-FFF2-40B4-BE49-F238E27FC236}">
                    <a16:creationId xmlns:a16="http://schemas.microsoft.com/office/drawing/2014/main" id="{9122EC7F-A774-4371-87EE-B46FD6FC412C}"/>
                  </a:ext>
                </a:extLst>
              </p:cNvPr>
              <p:cNvSpPr/>
              <p:nvPr/>
            </p:nvSpPr>
            <p:spPr bwMode="auto">
              <a:xfrm>
                <a:off x="6191251" y="3235325"/>
                <a:ext cx="33338" cy="33338"/>
              </a:xfrm>
              <a:custGeom>
                <a:avLst/>
                <a:gdLst>
                  <a:gd name="T0" fmla="*/ 17 w 21"/>
                  <a:gd name="T1" fmla="*/ 0 h 21"/>
                  <a:gd name="T2" fmla="*/ 21 w 21"/>
                  <a:gd name="T3" fmla="*/ 12 h 21"/>
                  <a:gd name="T4" fmla="*/ 12 w 21"/>
                  <a:gd name="T5" fmla="*/ 21 h 21"/>
                  <a:gd name="T6" fmla="*/ 0 w 21"/>
                  <a:gd name="T7" fmla="*/ 12 h 21"/>
                  <a:gd name="T8" fmla="*/ 5 w 21"/>
                  <a:gd name="T9" fmla="*/ 0 h 21"/>
                  <a:gd name="T10" fmla="*/ 17 w 21"/>
                  <a:gd name="T11" fmla="*/ 0 h 21"/>
                </a:gdLst>
                <a:ahLst/>
                <a:cxnLst>
                  <a:cxn ang="0">
                    <a:pos x="T0" y="T1"/>
                  </a:cxn>
                  <a:cxn ang="0">
                    <a:pos x="T2" y="T3"/>
                  </a:cxn>
                  <a:cxn ang="0">
                    <a:pos x="T4" y="T5"/>
                  </a:cxn>
                  <a:cxn ang="0">
                    <a:pos x="T6" y="T7"/>
                  </a:cxn>
                  <a:cxn ang="0">
                    <a:pos x="T8" y="T9"/>
                  </a:cxn>
                  <a:cxn ang="0">
                    <a:pos x="T10" y="T11"/>
                  </a:cxn>
                </a:cxnLst>
                <a:rect l="0" t="0" r="r" b="b"/>
                <a:pathLst>
                  <a:path w="21" h="21">
                    <a:moveTo>
                      <a:pt x="17" y="0"/>
                    </a:moveTo>
                    <a:lnTo>
                      <a:pt x="21" y="12"/>
                    </a:lnTo>
                    <a:lnTo>
                      <a:pt x="12" y="21"/>
                    </a:lnTo>
                    <a:lnTo>
                      <a:pt x="0" y="12"/>
                    </a:lnTo>
                    <a:lnTo>
                      <a:pt x="5" y="0"/>
                    </a:lnTo>
                    <a:lnTo>
                      <a:pt x="1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57" name="Freeform 157">
                <a:extLst>
                  <a:ext uri="{FF2B5EF4-FFF2-40B4-BE49-F238E27FC236}">
                    <a16:creationId xmlns:a16="http://schemas.microsoft.com/office/drawing/2014/main" id="{9864FA0E-B9E6-4786-8FF4-750C43E41132}"/>
                  </a:ext>
                </a:extLst>
              </p:cNvPr>
              <p:cNvSpPr/>
              <p:nvPr/>
            </p:nvSpPr>
            <p:spPr bwMode="auto">
              <a:xfrm>
                <a:off x="6191251" y="3257550"/>
                <a:ext cx="33338" cy="141288"/>
              </a:xfrm>
              <a:custGeom>
                <a:avLst/>
                <a:gdLst>
                  <a:gd name="T0" fmla="*/ 19 w 21"/>
                  <a:gd name="T1" fmla="*/ 0 h 89"/>
                  <a:gd name="T2" fmla="*/ 21 w 21"/>
                  <a:gd name="T3" fmla="*/ 82 h 89"/>
                  <a:gd name="T4" fmla="*/ 12 w 21"/>
                  <a:gd name="T5" fmla="*/ 89 h 89"/>
                  <a:gd name="T6" fmla="*/ 0 w 21"/>
                  <a:gd name="T7" fmla="*/ 82 h 89"/>
                  <a:gd name="T8" fmla="*/ 5 w 21"/>
                  <a:gd name="T9" fmla="*/ 0 h 89"/>
                  <a:gd name="T10" fmla="*/ 19 w 21"/>
                  <a:gd name="T11" fmla="*/ 0 h 89"/>
                </a:gdLst>
                <a:ahLst/>
                <a:cxnLst>
                  <a:cxn ang="0">
                    <a:pos x="T0" y="T1"/>
                  </a:cxn>
                  <a:cxn ang="0">
                    <a:pos x="T2" y="T3"/>
                  </a:cxn>
                  <a:cxn ang="0">
                    <a:pos x="T4" y="T5"/>
                  </a:cxn>
                  <a:cxn ang="0">
                    <a:pos x="T6" y="T7"/>
                  </a:cxn>
                  <a:cxn ang="0">
                    <a:pos x="T8" y="T9"/>
                  </a:cxn>
                  <a:cxn ang="0">
                    <a:pos x="T10" y="T11"/>
                  </a:cxn>
                </a:cxnLst>
                <a:rect l="0" t="0" r="r" b="b"/>
                <a:pathLst>
                  <a:path w="21" h="89">
                    <a:moveTo>
                      <a:pt x="19" y="0"/>
                    </a:moveTo>
                    <a:lnTo>
                      <a:pt x="21" y="82"/>
                    </a:lnTo>
                    <a:lnTo>
                      <a:pt x="12" y="89"/>
                    </a:lnTo>
                    <a:lnTo>
                      <a:pt x="0" y="82"/>
                    </a:lnTo>
                    <a:lnTo>
                      <a:pt x="5" y="0"/>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58" name="Oval 158">
                <a:extLst>
                  <a:ext uri="{FF2B5EF4-FFF2-40B4-BE49-F238E27FC236}">
                    <a16:creationId xmlns:a16="http://schemas.microsoft.com/office/drawing/2014/main" id="{B28841C7-9E82-4417-99BB-F92212E43B5E}"/>
                  </a:ext>
                </a:extLst>
              </p:cNvPr>
              <p:cNvSpPr>
                <a:spLocks noChangeArrowheads="1"/>
              </p:cNvSpPr>
              <p:nvPr/>
            </p:nvSpPr>
            <p:spPr bwMode="auto">
              <a:xfrm>
                <a:off x="5856288" y="3063875"/>
                <a:ext cx="111125" cy="1333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59" name="Rectangle 159">
                <a:extLst>
                  <a:ext uri="{FF2B5EF4-FFF2-40B4-BE49-F238E27FC236}">
                    <a16:creationId xmlns:a16="http://schemas.microsoft.com/office/drawing/2014/main" id="{EDE2B556-B937-4681-8F4D-5D6729C0112F}"/>
                  </a:ext>
                </a:extLst>
              </p:cNvPr>
              <p:cNvSpPr>
                <a:spLocks noChangeArrowheads="1"/>
              </p:cNvSpPr>
              <p:nvPr/>
            </p:nvSpPr>
            <p:spPr bwMode="auto">
              <a:xfrm>
                <a:off x="5913438" y="3387725"/>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60" name="Freeform 160">
                <a:extLst>
                  <a:ext uri="{FF2B5EF4-FFF2-40B4-BE49-F238E27FC236}">
                    <a16:creationId xmlns:a16="http://schemas.microsoft.com/office/drawing/2014/main" id="{B91E5A24-C608-4095-A701-FE7CE461A55E}"/>
                  </a:ext>
                </a:extLst>
              </p:cNvPr>
              <p:cNvSpPr/>
              <p:nvPr/>
            </p:nvSpPr>
            <p:spPr bwMode="auto">
              <a:xfrm>
                <a:off x="5722938" y="3322638"/>
                <a:ext cx="0" cy="3175"/>
              </a:xfrm>
              <a:custGeom>
                <a:avLst/>
                <a:gdLst>
                  <a:gd name="T0" fmla="*/ 1 h 1"/>
                  <a:gd name="T1" fmla="*/ 1 h 1"/>
                  <a:gd name="T2" fmla="*/ 1 h 1"/>
                </a:gdLst>
                <a:ahLst/>
                <a:cxnLst>
                  <a:cxn ang="0">
                    <a:pos x="0" y="T0"/>
                  </a:cxn>
                  <a:cxn ang="0">
                    <a:pos x="0" y="T1"/>
                  </a:cxn>
                  <a:cxn ang="0">
                    <a:pos x="0" y="T2"/>
                  </a:cxn>
                </a:cxnLst>
                <a:rect l="0" t="0" r="r" b="b"/>
                <a:pathLst>
                  <a:path h="1">
                    <a:moveTo>
                      <a:pt x="0" y="1"/>
                    </a:moveTo>
                    <a:cubicBezTo>
                      <a:pt x="0" y="1"/>
                      <a:pt x="0" y="1"/>
                      <a:pt x="0" y="1"/>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1" name="Rectangle 161">
                <a:extLst>
                  <a:ext uri="{FF2B5EF4-FFF2-40B4-BE49-F238E27FC236}">
                    <a16:creationId xmlns:a16="http://schemas.microsoft.com/office/drawing/2014/main" id="{933295DC-B98B-4C5B-A4DA-02FB61541B8B}"/>
                  </a:ext>
                </a:extLst>
              </p:cNvPr>
              <p:cNvSpPr>
                <a:spLocks noChangeArrowheads="1"/>
              </p:cNvSpPr>
              <p:nvPr/>
            </p:nvSpPr>
            <p:spPr bwMode="auto">
              <a:xfrm>
                <a:off x="5913438" y="3387725"/>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62" name="Freeform 162">
                <a:extLst>
                  <a:ext uri="{FF2B5EF4-FFF2-40B4-BE49-F238E27FC236}">
                    <a16:creationId xmlns:a16="http://schemas.microsoft.com/office/drawing/2014/main" id="{F1DFDE6F-926B-44F2-B553-04294D280831}"/>
                  </a:ext>
                </a:extLst>
              </p:cNvPr>
              <p:cNvSpPr/>
              <p:nvPr/>
            </p:nvSpPr>
            <p:spPr bwMode="auto">
              <a:xfrm>
                <a:off x="5894388" y="3205163"/>
                <a:ext cx="34925" cy="41275"/>
              </a:xfrm>
              <a:custGeom>
                <a:avLst/>
                <a:gdLst>
                  <a:gd name="T0" fmla="*/ 19 w 22"/>
                  <a:gd name="T1" fmla="*/ 0 h 26"/>
                  <a:gd name="T2" fmla="*/ 22 w 22"/>
                  <a:gd name="T3" fmla="*/ 16 h 26"/>
                  <a:gd name="T4" fmla="*/ 12 w 22"/>
                  <a:gd name="T5" fmla="*/ 26 h 26"/>
                  <a:gd name="T6" fmla="*/ 0 w 22"/>
                  <a:gd name="T7" fmla="*/ 16 h 26"/>
                  <a:gd name="T8" fmla="*/ 5 w 22"/>
                  <a:gd name="T9" fmla="*/ 0 h 26"/>
                  <a:gd name="T10" fmla="*/ 19 w 22"/>
                  <a:gd name="T11" fmla="*/ 0 h 26"/>
                </a:gdLst>
                <a:ahLst/>
                <a:cxnLst>
                  <a:cxn ang="0">
                    <a:pos x="T0" y="T1"/>
                  </a:cxn>
                  <a:cxn ang="0">
                    <a:pos x="T2" y="T3"/>
                  </a:cxn>
                  <a:cxn ang="0">
                    <a:pos x="T4" y="T5"/>
                  </a:cxn>
                  <a:cxn ang="0">
                    <a:pos x="T6" y="T7"/>
                  </a:cxn>
                  <a:cxn ang="0">
                    <a:pos x="T8" y="T9"/>
                  </a:cxn>
                  <a:cxn ang="0">
                    <a:pos x="T10" y="T11"/>
                  </a:cxn>
                </a:cxnLst>
                <a:rect l="0" t="0" r="r" b="b"/>
                <a:pathLst>
                  <a:path w="22" h="26">
                    <a:moveTo>
                      <a:pt x="19" y="0"/>
                    </a:moveTo>
                    <a:lnTo>
                      <a:pt x="22" y="16"/>
                    </a:lnTo>
                    <a:lnTo>
                      <a:pt x="12" y="26"/>
                    </a:lnTo>
                    <a:lnTo>
                      <a:pt x="0" y="16"/>
                    </a:lnTo>
                    <a:lnTo>
                      <a:pt x="5" y="0"/>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3" name="Freeform 163">
                <a:extLst>
                  <a:ext uri="{FF2B5EF4-FFF2-40B4-BE49-F238E27FC236}">
                    <a16:creationId xmlns:a16="http://schemas.microsoft.com/office/drawing/2014/main" id="{B106AAE0-C66A-4689-9FCA-B67ECD001860}"/>
                  </a:ext>
                </a:extLst>
              </p:cNvPr>
              <p:cNvSpPr/>
              <p:nvPr/>
            </p:nvSpPr>
            <p:spPr bwMode="auto">
              <a:xfrm>
                <a:off x="5891213" y="3235325"/>
                <a:ext cx="41275" cy="166688"/>
              </a:xfrm>
              <a:custGeom>
                <a:avLst/>
                <a:gdLst>
                  <a:gd name="T0" fmla="*/ 21 w 26"/>
                  <a:gd name="T1" fmla="*/ 0 h 105"/>
                  <a:gd name="T2" fmla="*/ 26 w 26"/>
                  <a:gd name="T3" fmla="*/ 96 h 105"/>
                  <a:gd name="T4" fmla="*/ 14 w 26"/>
                  <a:gd name="T5" fmla="*/ 105 h 105"/>
                  <a:gd name="T6" fmla="*/ 0 w 26"/>
                  <a:gd name="T7" fmla="*/ 96 h 105"/>
                  <a:gd name="T8" fmla="*/ 4 w 26"/>
                  <a:gd name="T9" fmla="*/ 0 h 105"/>
                  <a:gd name="T10" fmla="*/ 21 w 26"/>
                  <a:gd name="T11" fmla="*/ 0 h 105"/>
                </a:gdLst>
                <a:ahLst/>
                <a:cxnLst>
                  <a:cxn ang="0">
                    <a:pos x="T0" y="T1"/>
                  </a:cxn>
                  <a:cxn ang="0">
                    <a:pos x="T2" y="T3"/>
                  </a:cxn>
                  <a:cxn ang="0">
                    <a:pos x="T4" y="T5"/>
                  </a:cxn>
                  <a:cxn ang="0">
                    <a:pos x="T6" y="T7"/>
                  </a:cxn>
                  <a:cxn ang="0">
                    <a:pos x="T8" y="T9"/>
                  </a:cxn>
                  <a:cxn ang="0">
                    <a:pos x="T10" y="T11"/>
                  </a:cxn>
                </a:cxnLst>
                <a:rect l="0" t="0" r="r" b="b"/>
                <a:pathLst>
                  <a:path w="26" h="105">
                    <a:moveTo>
                      <a:pt x="21" y="0"/>
                    </a:moveTo>
                    <a:lnTo>
                      <a:pt x="26" y="96"/>
                    </a:lnTo>
                    <a:lnTo>
                      <a:pt x="14" y="105"/>
                    </a:lnTo>
                    <a:lnTo>
                      <a:pt x="0" y="96"/>
                    </a:lnTo>
                    <a:lnTo>
                      <a:pt x="4" y="0"/>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4" name="Freeform 164">
                <a:extLst>
                  <a:ext uri="{FF2B5EF4-FFF2-40B4-BE49-F238E27FC236}">
                    <a16:creationId xmlns:a16="http://schemas.microsoft.com/office/drawing/2014/main" id="{C483CAA4-3170-4899-9FBB-3B3F0EAC2678}"/>
                  </a:ext>
                </a:extLst>
              </p:cNvPr>
              <p:cNvSpPr>
                <a:spLocks noEditPoints="1"/>
              </p:cNvSpPr>
              <p:nvPr/>
            </p:nvSpPr>
            <p:spPr bwMode="auto">
              <a:xfrm>
                <a:off x="5719763" y="3211513"/>
                <a:ext cx="373063" cy="547688"/>
              </a:xfrm>
              <a:custGeom>
                <a:avLst/>
                <a:gdLst>
                  <a:gd name="T0" fmla="*/ 60 w 98"/>
                  <a:gd name="T1" fmla="*/ 74 h 144"/>
                  <a:gd name="T2" fmla="*/ 75 w 98"/>
                  <a:gd name="T3" fmla="*/ 57 h 144"/>
                  <a:gd name="T4" fmla="*/ 74 w 98"/>
                  <a:gd name="T5" fmla="*/ 36 h 144"/>
                  <a:gd name="T6" fmla="*/ 77 w 98"/>
                  <a:gd name="T7" fmla="*/ 40 h 144"/>
                  <a:gd name="T8" fmla="*/ 78 w 98"/>
                  <a:gd name="T9" fmla="*/ 57 h 144"/>
                  <a:gd name="T10" fmla="*/ 98 w 98"/>
                  <a:gd name="T11" fmla="*/ 57 h 144"/>
                  <a:gd name="T12" fmla="*/ 92 w 98"/>
                  <a:gd name="T13" fmla="*/ 31 h 144"/>
                  <a:gd name="T14" fmla="*/ 74 w 98"/>
                  <a:gd name="T15" fmla="*/ 4 h 144"/>
                  <a:gd name="T16" fmla="*/ 63 w 98"/>
                  <a:gd name="T17" fmla="*/ 0 h 144"/>
                  <a:gd name="T18" fmla="*/ 63 w 98"/>
                  <a:gd name="T19" fmla="*/ 0 h 144"/>
                  <a:gd name="T20" fmla="*/ 69 w 98"/>
                  <a:gd name="T21" fmla="*/ 5 h 144"/>
                  <a:gd name="T22" fmla="*/ 61 w 98"/>
                  <a:gd name="T23" fmla="*/ 9 h 144"/>
                  <a:gd name="T24" fmla="*/ 65 w 98"/>
                  <a:gd name="T25" fmla="*/ 15 h 144"/>
                  <a:gd name="T26" fmla="*/ 51 w 98"/>
                  <a:gd name="T27" fmla="*/ 46 h 144"/>
                  <a:gd name="T28" fmla="*/ 51 w 98"/>
                  <a:gd name="T29" fmla="*/ 46 h 144"/>
                  <a:gd name="T30" fmla="*/ 51 w 98"/>
                  <a:gd name="T31" fmla="*/ 46 h 144"/>
                  <a:gd name="T32" fmla="*/ 51 w 98"/>
                  <a:gd name="T33" fmla="*/ 46 h 144"/>
                  <a:gd name="T34" fmla="*/ 51 w 98"/>
                  <a:gd name="T35" fmla="*/ 46 h 144"/>
                  <a:gd name="T36" fmla="*/ 36 w 98"/>
                  <a:gd name="T37" fmla="*/ 15 h 144"/>
                  <a:gd name="T38" fmla="*/ 40 w 98"/>
                  <a:gd name="T39" fmla="*/ 9 h 144"/>
                  <a:gd name="T40" fmla="*/ 33 w 98"/>
                  <a:gd name="T41" fmla="*/ 5 h 144"/>
                  <a:gd name="T42" fmla="*/ 39 w 98"/>
                  <a:gd name="T43" fmla="*/ 0 h 144"/>
                  <a:gd name="T44" fmla="*/ 39 w 98"/>
                  <a:gd name="T45" fmla="*/ 0 h 144"/>
                  <a:gd name="T46" fmla="*/ 31 w 98"/>
                  <a:gd name="T47" fmla="*/ 0 h 144"/>
                  <a:gd name="T48" fmla="*/ 25 w 98"/>
                  <a:gd name="T49" fmla="*/ 3 h 144"/>
                  <a:gd name="T50" fmla="*/ 1 w 98"/>
                  <a:gd name="T51" fmla="*/ 29 h 144"/>
                  <a:gd name="T52" fmla="*/ 1 w 98"/>
                  <a:gd name="T53" fmla="*/ 29 h 144"/>
                  <a:gd name="T54" fmla="*/ 1 w 98"/>
                  <a:gd name="T55" fmla="*/ 30 h 144"/>
                  <a:gd name="T56" fmla="*/ 0 w 98"/>
                  <a:gd name="T57" fmla="*/ 40 h 144"/>
                  <a:gd name="T58" fmla="*/ 0 w 98"/>
                  <a:gd name="T59" fmla="*/ 41 h 144"/>
                  <a:gd name="T60" fmla="*/ 0 w 98"/>
                  <a:gd name="T61" fmla="*/ 42 h 144"/>
                  <a:gd name="T62" fmla="*/ 1 w 98"/>
                  <a:gd name="T63" fmla="*/ 44 h 144"/>
                  <a:gd name="T64" fmla="*/ 3 w 98"/>
                  <a:gd name="T65" fmla="*/ 48 h 144"/>
                  <a:gd name="T66" fmla="*/ 7 w 98"/>
                  <a:gd name="T67" fmla="*/ 55 h 144"/>
                  <a:gd name="T68" fmla="*/ 15 w 98"/>
                  <a:gd name="T69" fmla="*/ 71 h 144"/>
                  <a:gd name="T70" fmla="*/ 26 w 98"/>
                  <a:gd name="T71" fmla="*/ 65 h 144"/>
                  <a:gd name="T72" fmla="*/ 26 w 98"/>
                  <a:gd name="T73" fmla="*/ 75 h 144"/>
                  <a:gd name="T74" fmla="*/ 26 w 98"/>
                  <a:gd name="T75" fmla="*/ 76 h 144"/>
                  <a:gd name="T76" fmla="*/ 28 w 98"/>
                  <a:gd name="T77" fmla="*/ 76 h 144"/>
                  <a:gd name="T78" fmla="*/ 30 w 98"/>
                  <a:gd name="T79" fmla="*/ 144 h 144"/>
                  <a:gd name="T80" fmla="*/ 50 w 98"/>
                  <a:gd name="T81" fmla="*/ 144 h 144"/>
                  <a:gd name="T82" fmla="*/ 50 w 98"/>
                  <a:gd name="T83" fmla="*/ 76 h 144"/>
                  <a:gd name="T84" fmla="*/ 52 w 98"/>
                  <a:gd name="T85" fmla="*/ 76 h 144"/>
                  <a:gd name="T86" fmla="*/ 54 w 98"/>
                  <a:gd name="T87" fmla="*/ 144 h 144"/>
                  <a:gd name="T88" fmla="*/ 60 w 98"/>
                  <a:gd name="T89" fmla="*/ 144 h 144"/>
                  <a:gd name="T90" fmla="*/ 60 w 98"/>
                  <a:gd name="T91" fmla="*/ 74 h 144"/>
                  <a:gd name="T92" fmla="*/ 27 w 98"/>
                  <a:gd name="T93" fmla="*/ 50 h 144"/>
                  <a:gd name="T94" fmla="*/ 24 w 98"/>
                  <a:gd name="T95" fmla="*/ 46 h 144"/>
                  <a:gd name="T96" fmla="*/ 20 w 98"/>
                  <a:gd name="T97" fmla="*/ 39 h 144"/>
                  <a:gd name="T98" fmla="*/ 19 w 98"/>
                  <a:gd name="T99" fmla="*/ 36 h 144"/>
                  <a:gd name="T100" fmla="*/ 27 w 98"/>
                  <a:gd name="T101" fmla="*/ 26 h 144"/>
                  <a:gd name="T102" fmla="*/ 27 w 98"/>
                  <a:gd name="T103" fmla="*/ 5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8" h="144">
                    <a:moveTo>
                      <a:pt x="60" y="74"/>
                    </a:moveTo>
                    <a:cubicBezTo>
                      <a:pt x="60" y="66"/>
                      <a:pt x="66" y="58"/>
                      <a:pt x="75" y="57"/>
                    </a:cubicBezTo>
                    <a:cubicBezTo>
                      <a:pt x="75" y="50"/>
                      <a:pt x="75" y="43"/>
                      <a:pt x="74" y="36"/>
                    </a:cubicBezTo>
                    <a:cubicBezTo>
                      <a:pt x="77" y="40"/>
                      <a:pt x="77" y="40"/>
                      <a:pt x="77" y="40"/>
                    </a:cubicBezTo>
                    <a:cubicBezTo>
                      <a:pt x="78" y="41"/>
                      <a:pt x="78" y="49"/>
                      <a:pt x="78" y="57"/>
                    </a:cubicBezTo>
                    <a:cubicBezTo>
                      <a:pt x="98" y="57"/>
                      <a:pt x="98" y="57"/>
                      <a:pt x="98" y="57"/>
                    </a:cubicBezTo>
                    <a:cubicBezTo>
                      <a:pt x="98" y="50"/>
                      <a:pt x="98" y="43"/>
                      <a:pt x="92" y="31"/>
                    </a:cubicBezTo>
                    <a:cubicBezTo>
                      <a:pt x="74" y="4"/>
                      <a:pt x="74" y="4"/>
                      <a:pt x="74" y="4"/>
                    </a:cubicBezTo>
                    <a:cubicBezTo>
                      <a:pt x="71" y="0"/>
                      <a:pt x="64" y="0"/>
                      <a:pt x="63" y="0"/>
                    </a:cubicBezTo>
                    <a:cubicBezTo>
                      <a:pt x="63" y="0"/>
                      <a:pt x="63" y="0"/>
                      <a:pt x="63" y="0"/>
                    </a:cubicBezTo>
                    <a:cubicBezTo>
                      <a:pt x="69" y="5"/>
                      <a:pt x="69" y="5"/>
                      <a:pt x="69" y="5"/>
                    </a:cubicBezTo>
                    <a:cubicBezTo>
                      <a:pt x="61" y="9"/>
                      <a:pt x="61" y="9"/>
                      <a:pt x="61" y="9"/>
                    </a:cubicBezTo>
                    <a:cubicBezTo>
                      <a:pt x="65" y="15"/>
                      <a:pt x="65" y="15"/>
                      <a:pt x="65" y="15"/>
                    </a:cubicBezTo>
                    <a:cubicBezTo>
                      <a:pt x="51" y="46"/>
                      <a:pt x="51" y="46"/>
                      <a:pt x="51" y="46"/>
                    </a:cubicBezTo>
                    <a:cubicBezTo>
                      <a:pt x="51" y="46"/>
                      <a:pt x="51" y="46"/>
                      <a:pt x="51" y="46"/>
                    </a:cubicBezTo>
                    <a:cubicBezTo>
                      <a:pt x="51" y="46"/>
                      <a:pt x="51" y="46"/>
                      <a:pt x="51" y="46"/>
                    </a:cubicBezTo>
                    <a:cubicBezTo>
                      <a:pt x="51" y="46"/>
                      <a:pt x="51" y="46"/>
                      <a:pt x="51" y="46"/>
                    </a:cubicBezTo>
                    <a:cubicBezTo>
                      <a:pt x="51" y="46"/>
                      <a:pt x="51" y="46"/>
                      <a:pt x="51" y="46"/>
                    </a:cubicBezTo>
                    <a:cubicBezTo>
                      <a:pt x="36" y="15"/>
                      <a:pt x="36" y="15"/>
                      <a:pt x="36" y="15"/>
                    </a:cubicBezTo>
                    <a:cubicBezTo>
                      <a:pt x="40" y="9"/>
                      <a:pt x="40" y="9"/>
                      <a:pt x="40" y="9"/>
                    </a:cubicBezTo>
                    <a:cubicBezTo>
                      <a:pt x="33" y="5"/>
                      <a:pt x="33" y="5"/>
                      <a:pt x="33" y="5"/>
                    </a:cubicBezTo>
                    <a:cubicBezTo>
                      <a:pt x="39" y="0"/>
                      <a:pt x="39" y="0"/>
                      <a:pt x="39" y="0"/>
                    </a:cubicBezTo>
                    <a:cubicBezTo>
                      <a:pt x="39" y="0"/>
                      <a:pt x="39" y="0"/>
                      <a:pt x="39" y="0"/>
                    </a:cubicBezTo>
                    <a:cubicBezTo>
                      <a:pt x="36" y="0"/>
                      <a:pt x="31" y="0"/>
                      <a:pt x="31" y="0"/>
                    </a:cubicBezTo>
                    <a:cubicBezTo>
                      <a:pt x="29" y="1"/>
                      <a:pt x="27" y="2"/>
                      <a:pt x="25" y="3"/>
                    </a:cubicBezTo>
                    <a:cubicBezTo>
                      <a:pt x="1" y="29"/>
                      <a:pt x="1" y="29"/>
                      <a:pt x="1" y="29"/>
                    </a:cubicBezTo>
                    <a:cubicBezTo>
                      <a:pt x="1" y="29"/>
                      <a:pt x="1" y="29"/>
                      <a:pt x="1" y="29"/>
                    </a:cubicBezTo>
                    <a:cubicBezTo>
                      <a:pt x="1" y="30"/>
                      <a:pt x="1" y="30"/>
                      <a:pt x="1" y="30"/>
                    </a:cubicBezTo>
                    <a:cubicBezTo>
                      <a:pt x="1" y="31"/>
                      <a:pt x="0" y="40"/>
                      <a:pt x="0" y="40"/>
                    </a:cubicBezTo>
                    <a:cubicBezTo>
                      <a:pt x="0" y="41"/>
                      <a:pt x="0" y="41"/>
                      <a:pt x="0" y="41"/>
                    </a:cubicBezTo>
                    <a:cubicBezTo>
                      <a:pt x="0" y="42"/>
                      <a:pt x="0" y="42"/>
                      <a:pt x="0" y="42"/>
                    </a:cubicBezTo>
                    <a:cubicBezTo>
                      <a:pt x="1" y="44"/>
                      <a:pt x="1" y="44"/>
                      <a:pt x="1" y="44"/>
                    </a:cubicBezTo>
                    <a:cubicBezTo>
                      <a:pt x="3" y="48"/>
                      <a:pt x="3" y="48"/>
                      <a:pt x="3" y="48"/>
                    </a:cubicBezTo>
                    <a:cubicBezTo>
                      <a:pt x="7" y="55"/>
                      <a:pt x="7" y="55"/>
                      <a:pt x="7" y="55"/>
                    </a:cubicBezTo>
                    <a:cubicBezTo>
                      <a:pt x="15" y="71"/>
                      <a:pt x="15" y="71"/>
                      <a:pt x="15" y="71"/>
                    </a:cubicBezTo>
                    <a:cubicBezTo>
                      <a:pt x="19" y="69"/>
                      <a:pt x="23" y="67"/>
                      <a:pt x="26" y="65"/>
                    </a:cubicBezTo>
                    <a:cubicBezTo>
                      <a:pt x="26" y="69"/>
                      <a:pt x="26" y="72"/>
                      <a:pt x="26" y="75"/>
                    </a:cubicBezTo>
                    <a:cubicBezTo>
                      <a:pt x="26" y="76"/>
                      <a:pt x="26" y="76"/>
                      <a:pt x="26" y="76"/>
                    </a:cubicBezTo>
                    <a:cubicBezTo>
                      <a:pt x="27" y="76"/>
                      <a:pt x="27" y="76"/>
                      <a:pt x="28" y="76"/>
                    </a:cubicBezTo>
                    <a:cubicBezTo>
                      <a:pt x="30" y="144"/>
                      <a:pt x="30" y="144"/>
                      <a:pt x="30" y="144"/>
                    </a:cubicBezTo>
                    <a:cubicBezTo>
                      <a:pt x="50" y="144"/>
                      <a:pt x="50" y="144"/>
                      <a:pt x="50" y="144"/>
                    </a:cubicBezTo>
                    <a:cubicBezTo>
                      <a:pt x="50" y="124"/>
                      <a:pt x="50" y="89"/>
                      <a:pt x="50" y="76"/>
                    </a:cubicBezTo>
                    <a:cubicBezTo>
                      <a:pt x="50" y="76"/>
                      <a:pt x="51" y="76"/>
                      <a:pt x="52" y="76"/>
                    </a:cubicBezTo>
                    <a:cubicBezTo>
                      <a:pt x="54" y="144"/>
                      <a:pt x="54" y="144"/>
                      <a:pt x="54" y="144"/>
                    </a:cubicBezTo>
                    <a:cubicBezTo>
                      <a:pt x="60" y="144"/>
                      <a:pt x="60" y="144"/>
                      <a:pt x="60" y="144"/>
                    </a:cubicBezTo>
                    <a:lnTo>
                      <a:pt x="60" y="74"/>
                    </a:lnTo>
                    <a:close/>
                    <a:moveTo>
                      <a:pt x="27" y="50"/>
                    </a:moveTo>
                    <a:cubicBezTo>
                      <a:pt x="24" y="46"/>
                      <a:pt x="24" y="46"/>
                      <a:pt x="24" y="46"/>
                    </a:cubicBezTo>
                    <a:cubicBezTo>
                      <a:pt x="20" y="39"/>
                      <a:pt x="20" y="39"/>
                      <a:pt x="20" y="39"/>
                    </a:cubicBezTo>
                    <a:cubicBezTo>
                      <a:pt x="19" y="36"/>
                      <a:pt x="19" y="36"/>
                      <a:pt x="19" y="36"/>
                    </a:cubicBezTo>
                    <a:cubicBezTo>
                      <a:pt x="27" y="26"/>
                      <a:pt x="27" y="26"/>
                      <a:pt x="27" y="26"/>
                    </a:cubicBezTo>
                    <a:cubicBezTo>
                      <a:pt x="27" y="34"/>
                      <a:pt x="27" y="42"/>
                      <a:pt x="27"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5" name="Freeform 165">
                <a:extLst>
                  <a:ext uri="{FF2B5EF4-FFF2-40B4-BE49-F238E27FC236}">
                    <a16:creationId xmlns:a16="http://schemas.microsoft.com/office/drawing/2014/main" id="{109D93F2-39D7-4720-A015-41D1E18020FB}"/>
                  </a:ext>
                </a:extLst>
              </p:cNvPr>
              <p:cNvSpPr/>
              <p:nvPr/>
            </p:nvSpPr>
            <p:spPr bwMode="auto">
              <a:xfrm>
                <a:off x="6099176" y="3230563"/>
                <a:ext cx="220663" cy="198438"/>
              </a:xfrm>
              <a:custGeom>
                <a:avLst/>
                <a:gdLst>
                  <a:gd name="T0" fmla="*/ 1 w 58"/>
                  <a:gd name="T1" fmla="*/ 52 h 52"/>
                  <a:gd name="T2" fmla="*/ 30 w 58"/>
                  <a:gd name="T3" fmla="*/ 52 h 52"/>
                  <a:gd name="T4" fmla="*/ 58 w 58"/>
                  <a:gd name="T5" fmla="*/ 52 h 52"/>
                  <a:gd name="T6" fmla="*/ 55 w 58"/>
                  <a:gd name="T7" fmla="*/ 8 h 52"/>
                  <a:gd name="T8" fmla="*/ 47 w 58"/>
                  <a:gd name="T9" fmla="*/ 0 h 52"/>
                  <a:gd name="T10" fmla="*/ 40 w 58"/>
                  <a:gd name="T11" fmla="*/ 0 h 52"/>
                  <a:gd name="T12" fmla="*/ 45 w 58"/>
                  <a:gd name="T13" fmla="*/ 4 h 52"/>
                  <a:gd name="T14" fmla="*/ 38 w 58"/>
                  <a:gd name="T15" fmla="*/ 8 h 52"/>
                  <a:gd name="T16" fmla="*/ 41 w 58"/>
                  <a:gd name="T17" fmla="*/ 13 h 52"/>
                  <a:gd name="T18" fmla="*/ 29 w 58"/>
                  <a:gd name="T19" fmla="*/ 41 h 52"/>
                  <a:gd name="T20" fmla="*/ 29 w 58"/>
                  <a:gd name="T21" fmla="*/ 41 h 52"/>
                  <a:gd name="T22" fmla="*/ 29 w 58"/>
                  <a:gd name="T23" fmla="*/ 41 h 52"/>
                  <a:gd name="T24" fmla="*/ 29 w 58"/>
                  <a:gd name="T25" fmla="*/ 41 h 52"/>
                  <a:gd name="T26" fmla="*/ 29 w 58"/>
                  <a:gd name="T27" fmla="*/ 41 h 52"/>
                  <a:gd name="T28" fmla="*/ 16 w 58"/>
                  <a:gd name="T29" fmla="*/ 13 h 52"/>
                  <a:gd name="T30" fmla="*/ 19 w 58"/>
                  <a:gd name="T31" fmla="*/ 8 h 52"/>
                  <a:gd name="T32" fmla="*/ 12 w 58"/>
                  <a:gd name="T33" fmla="*/ 4 h 52"/>
                  <a:gd name="T34" fmla="*/ 17 w 58"/>
                  <a:gd name="T35" fmla="*/ 0 h 52"/>
                  <a:gd name="T36" fmla="*/ 11 w 58"/>
                  <a:gd name="T37" fmla="*/ 0 h 52"/>
                  <a:gd name="T38" fmla="*/ 11 w 58"/>
                  <a:gd name="T39" fmla="*/ 0 h 52"/>
                  <a:gd name="T40" fmla="*/ 3 w 58"/>
                  <a:gd name="T41" fmla="*/ 8 h 52"/>
                  <a:gd name="T42" fmla="*/ 0 w 58"/>
                  <a:gd name="T43" fmla="*/ 52 h 52"/>
                  <a:gd name="T44" fmla="*/ 1 w 58"/>
                  <a:gd name="T45"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52">
                    <a:moveTo>
                      <a:pt x="1" y="52"/>
                    </a:moveTo>
                    <a:cubicBezTo>
                      <a:pt x="30" y="52"/>
                      <a:pt x="30" y="52"/>
                      <a:pt x="30" y="52"/>
                    </a:cubicBezTo>
                    <a:cubicBezTo>
                      <a:pt x="58" y="52"/>
                      <a:pt x="58" y="52"/>
                      <a:pt x="58" y="52"/>
                    </a:cubicBezTo>
                    <a:cubicBezTo>
                      <a:pt x="55" y="8"/>
                      <a:pt x="55" y="8"/>
                      <a:pt x="55" y="8"/>
                    </a:cubicBezTo>
                    <a:cubicBezTo>
                      <a:pt x="54" y="3"/>
                      <a:pt x="51" y="0"/>
                      <a:pt x="47" y="0"/>
                    </a:cubicBezTo>
                    <a:cubicBezTo>
                      <a:pt x="47" y="0"/>
                      <a:pt x="44" y="0"/>
                      <a:pt x="40" y="0"/>
                    </a:cubicBezTo>
                    <a:cubicBezTo>
                      <a:pt x="45" y="4"/>
                      <a:pt x="45" y="4"/>
                      <a:pt x="45" y="4"/>
                    </a:cubicBezTo>
                    <a:cubicBezTo>
                      <a:pt x="38" y="8"/>
                      <a:pt x="38" y="8"/>
                      <a:pt x="38" y="8"/>
                    </a:cubicBezTo>
                    <a:cubicBezTo>
                      <a:pt x="41" y="13"/>
                      <a:pt x="41" y="13"/>
                      <a:pt x="41" y="13"/>
                    </a:cubicBezTo>
                    <a:cubicBezTo>
                      <a:pt x="29" y="41"/>
                      <a:pt x="29" y="41"/>
                      <a:pt x="29" y="41"/>
                    </a:cubicBezTo>
                    <a:cubicBezTo>
                      <a:pt x="29" y="41"/>
                      <a:pt x="29" y="41"/>
                      <a:pt x="29" y="41"/>
                    </a:cubicBezTo>
                    <a:cubicBezTo>
                      <a:pt x="29" y="41"/>
                      <a:pt x="29" y="41"/>
                      <a:pt x="29" y="41"/>
                    </a:cubicBezTo>
                    <a:cubicBezTo>
                      <a:pt x="29" y="41"/>
                      <a:pt x="29" y="41"/>
                      <a:pt x="29" y="41"/>
                    </a:cubicBezTo>
                    <a:cubicBezTo>
                      <a:pt x="29" y="41"/>
                      <a:pt x="29" y="41"/>
                      <a:pt x="29" y="41"/>
                    </a:cubicBezTo>
                    <a:cubicBezTo>
                      <a:pt x="16" y="13"/>
                      <a:pt x="16" y="13"/>
                      <a:pt x="16" y="13"/>
                    </a:cubicBezTo>
                    <a:cubicBezTo>
                      <a:pt x="19" y="8"/>
                      <a:pt x="19" y="8"/>
                      <a:pt x="19" y="8"/>
                    </a:cubicBezTo>
                    <a:cubicBezTo>
                      <a:pt x="12" y="4"/>
                      <a:pt x="12" y="4"/>
                      <a:pt x="12" y="4"/>
                    </a:cubicBezTo>
                    <a:cubicBezTo>
                      <a:pt x="17" y="0"/>
                      <a:pt x="17" y="0"/>
                      <a:pt x="17" y="0"/>
                    </a:cubicBezTo>
                    <a:cubicBezTo>
                      <a:pt x="13" y="0"/>
                      <a:pt x="11" y="0"/>
                      <a:pt x="11" y="0"/>
                    </a:cubicBezTo>
                    <a:cubicBezTo>
                      <a:pt x="11" y="0"/>
                      <a:pt x="11" y="0"/>
                      <a:pt x="11" y="0"/>
                    </a:cubicBezTo>
                    <a:cubicBezTo>
                      <a:pt x="7" y="0"/>
                      <a:pt x="3" y="3"/>
                      <a:pt x="3" y="8"/>
                    </a:cubicBezTo>
                    <a:cubicBezTo>
                      <a:pt x="0" y="52"/>
                      <a:pt x="0" y="52"/>
                      <a:pt x="0" y="52"/>
                    </a:cubicBezTo>
                    <a:lnTo>
                      <a:pt x="1" y="5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6" name="Freeform 166">
                <a:extLst>
                  <a:ext uri="{FF2B5EF4-FFF2-40B4-BE49-F238E27FC236}">
                    <a16:creationId xmlns:a16="http://schemas.microsoft.com/office/drawing/2014/main" id="{BEBD6132-55E7-4CA8-9C34-D78B3B190E1E}"/>
                  </a:ext>
                </a:extLst>
              </p:cNvPr>
              <p:cNvSpPr/>
              <p:nvPr/>
            </p:nvSpPr>
            <p:spPr bwMode="auto">
              <a:xfrm>
                <a:off x="6019801" y="3633788"/>
                <a:ext cx="111125" cy="103188"/>
              </a:xfrm>
              <a:custGeom>
                <a:avLst/>
                <a:gdLst>
                  <a:gd name="T0" fmla="*/ 27 w 29"/>
                  <a:gd name="T1" fmla="*/ 0 h 27"/>
                  <a:gd name="T2" fmla="*/ 26 w 29"/>
                  <a:gd name="T3" fmla="*/ 0 h 27"/>
                  <a:gd name="T4" fmla="*/ 1 w 29"/>
                  <a:gd name="T5" fmla="*/ 24 h 27"/>
                  <a:gd name="T6" fmla="*/ 1 w 29"/>
                  <a:gd name="T7" fmla="*/ 27 h 27"/>
                  <a:gd name="T8" fmla="*/ 2 w 29"/>
                  <a:gd name="T9" fmla="*/ 27 h 27"/>
                  <a:gd name="T10" fmla="*/ 4 w 29"/>
                  <a:gd name="T11" fmla="*/ 27 h 27"/>
                  <a:gd name="T12" fmla="*/ 29 w 29"/>
                  <a:gd name="T13" fmla="*/ 3 h 27"/>
                  <a:gd name="T14" fmla="*/ 29 w 29"/>
                  <a:gd name="T15" fmla="*/ 0 h 27"/>
                  <a:gd name="T16" fmla="*/ 27 w 29"/>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27">
                    <a:moveTo>
                      <a:pt x="27" y="0"/>
                    </a:moveTo>
                    <a:cubicBezTo>
                      <a:pt x="26" y="0"/>
                      <a:pt x="26" y="0"/>
                      <a:pt x="26" y="0"/>
                    </a:cubicBezTo>
                    <a:cubicBezTo>
                      <a:pt x="1" y="24"/>
                      <a:pt x="1" y="24"/>
                      <a:pt x="1" y="24"/>
                    </a:cubicBezTo>
                    <a:cubicBezTo>
                      <a:pt x="0" y="25"/>
                      <a:pt x="0" y="26"/>
                      <a:pt x="1" y="27"/>
                    </a:cubicBezTo>
                    <a:cubicBezTo>
                      <a:pt x="1" y="27"/>
                      <a:pt x="2" y="27"/>
                      <a:pt x="2" y="27"/>
                    </a:cubicBezTo>
                    <a:cubicBezTo>
                      <a:pt x="3" y="27"/>
                      <a:pt x="3" y="27"/>
                      <a:pt x="4" y="27"/>
                    </a:cubicBezTo>
                    <a:cubicBezTo>
                      <a:pt x="29" y="3"/>
                      <a:pt x="29" y="3"/>
                      <a:pt x="29" y="3"/>
                    </a:cubicBezTo>
                    <a:cubicBezTo>
                      <a:pt x="29" y="3"/>
                      <a:pt x="29" y="1"/>
                      <a:pt x="29" y="0"/>
                    </a:cubicBezTo>
                    <a:cubicBezTo>
                      <a:pt x="28" y="0"/>
                      <a:pt x="28" y="0"/>
                      <a:pt x="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7" name="Freeform 167">
                <a:extLst>
                  <a:ext uri="{FF2B5EF4-FFF2-40B4-BE49-F238E27FC236}">
                    <a16:creationId xmlns:a16="http://schemas.microsoft.com/office/drawing/2014/main" id="{20B37B38-C020-45B9-9974-0E3BD142BD6C}"/>
                  </a:ext>
                </a:extLst>
              </p:cNvPr>
              <p:cNvSpPr>
                <a:spLocks noEditPoints="1"/>
              </p:cNvSpPr>
              <p:nvPr/>
            </p:nvSpPr>
            <p:spPr bwMode="auto">
              <a:xfrm>
                <a:off x="5967413" y="3448050"/>
                <a:ext cx="504825" cy="346075"/>
              </a:xfrm>
              <a:custGeom>
                <a:avLst/>
                <a:gdLst>
                  <a:gd name="T0" fmla="*/ 128 w 133"/>
                  <a:gd name="T1" fmla="*/ 4 h 91"/>
                  <a:gd name="T2" fmla="*/ 118 w 133"/>
                  <a:gd name="T3" fmla="*/ 0 h 91"/>
                  <a:gd name="T4" fmla="*/ 15 w 133"/>
                  <a:gd name="T5" fmla="*/ 0 h 91"/>
                  <a:gd name="T6" fmla="*/ 5 w 133"/>
                  <a:gd name="T7" fmla="*/ 4 h 91"/>
                  <a:gd name="T8" fmla="*/ 0 w 133"/>
                  <a:gd name="T9" fmla="*/ 17 h 91"/>
                  <a:gd name="T10" fmla="*/ 0 w 133"/>
                  <a:gd name="T11" fmla="*/ 75 h 91"/>
                  <a:gd name="T12" fmla="*/ 15 w 133"/>
                  <a:gd name="T13" fmla="*/ 91 h 91"/>
                  <a:gd name="T14" fmla="*/ 118 w 133"/>
                  <a:gd name="T15" fmla="*/ 91 h 91"/>
                  <a:gd name="T16" fmla="*/ 133 w 133"/>
                  <a:gd name="T17" fmla="*/ 75 h 91"/>
                  <a:gd name="T18" fmla="*/ 133 w 133"/>
                  <a:gd name="T19" fmla="*/ 17 h 91"/>
                  <a:gd name="T20" fmla="*/ 128 w 133"/>
                  <a:gd name="T21" fmla="*/ 4 h 91"/>
                  <a:gd name="T22" fmla="*/ 66 w 133"/>
                  <a:gd name="T23" fmla="*/ 50 h 91"/>
                  <a:gd name="T24" fmla="*/ 17 w 133"/>
                  <a:gd name="T25" fmla="*/ 10 h 91"/>
                  <a:gd name="T26" fmla="*/ 115 w 133"/>
                  <a:gd name="T27" fmla="*/ 10 h 91"/>
                  <a:gd name="T28" fmla="*/ 66 w 133"/>
                  <a:gd name="T29" fmla="*/ 50 h 91"/>
                  <a:gd name="T30" fmla="*/ 123 w 133"/>
                  <a:gd name="T31" fmla="*/ 75 h 91"/>
                  <a:gd name="T32" fmla="*/ 118 w 133"/>
                  <a:gd name="T33" fmla="*/ 80 h 91"/>
                  <a:gd name="T34" fmla="*/ 15 w 133"/>
                  <a:gd name="T35" fmla="*/ 80 h 91"/>
                  <a:gd name="T36" fmla="*/ 10 w 133"/>
                  <a:gd name="T37" fmla="*/ 75 h 91"/>
                  <a:gd name="T38" fmla="*/ 10 w 133"/>
                  <a:gd name="T39" fmla="*/ 17 h 91"/>
                  <a:gd name="T40" fmla="*/ 62 w 133"/>
                  <a:gd name="T41" fmla="*/ 60 h 91"/>
                  <a:gd name="T42" fmla="*/ 66 w 133"/>
                  <a:gd name="T43" fmla="*/ 61 h 91"/>
                  <a:gd name="T44" fmla="*/ 70 w 133"/>
                  <a:gd name="T45" fmla="*/ 60 h 91"/>
                  <a:gd name="T46" fmla="*/ 123 w 133"/>
                  <a:gd name="T47" fmla="*/ 17 h 91"/>
                  <a:gd name="T48" fmla="*/ 123 w 133"/>
                  <a:gd name="T49" fmla="*/ 75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3" h="91">
                    <a:moveTo>
                      <a:pt x="128" y="4"/>
                    </a:moveTo>
                    <a:cubicBezTo>
                      <a:pt x="125" y="1"/>
                      <a:pt x="121" y="0"/>
                      <a:pt x="118" y="0"/>
                    </a:cubicBezTo>
                    <a:cubicBezTo>
                      <a:pt x="15" y="0"/>
                      <a:pt x="15" y="0"/>
                      <a:pt x="15" y="0"/>
                    </a:cubicBezTo>
                    <a:cubicBezTo>
                      <a:pt x="12" y="0"/>
                      <a:pt x="8" y="1"/>
                      <a:pt x="5" y="4"/>
                    </a:cubicBezTo>
                    <a:cubicBezTo>
                      <a:pt x="3" y="6"/>
                      <a:pt x="0" y="11"/>
                      <a:pt x="0" y="17"/>
                    </a:cubicBezTo>
                    <a:cubicBezTo>
                      <a:pt x="0" y="75"/>
                      <a:pt x="0" y="75"/>
                      <a:pt x="0" y="75"/>
                    </a:cubicBezTo>
                    <a:cubicBezTo>
                      <a:pt x="0" y="84"/>
                      <a:pt x="7" y="91"/>
                      <a:pt x="15" y="91"/>
                    </a:cubicBezTo>
                    <a:cubicBezTo>
                      <a:pt x="118" y="91"/>
                      <a:pt x="118" y="91"/>
                      <a:pt x="118" y="91"/>
                    </a:cubicBezTo>
                    <a:cubicBezTo>
                      <a:pt x="126" y="91"/>
                      <a:pt x="133" y="84"/>
                      <a:pt x="133" y="75"/>
                    </a:cubicBezTo>
                    <a:cubicBezTo>
                      <a:pt x="133" y="17"/>
                      <a:pt x="133" y="17"/>
                      <a:pt x="133" y="17"/>
                    </a:cubicBezTo>
                    <a:cubicBezTo>
                      <a:pt x="133" y="11"/>
                      <a:pt x="130" y="6"/>
                      <a:pt x="128" y="4"/>
                    </a:cubicBezTo>
                    <a:close/>
                    <a:moveTo>
                      <a:pt x="66" y="50"/>
                    </a:moveTo>
                    <a:cubicBezTo>
                      <a:pt x="17" y="10"/>
                      <a:pt x="17" y="10"/>
                      <a:pt x="17" y="10"/>
                    </a:cubicBezTo>
                    <a:cubicBezTo>
                      <a:pt x="115" y="10"/>
                      <a:pt x="115" y="10"/>
                      <a:pt x="115" y="10"/>
                    </a:cubicBezTo>
                    <a:lnTo>
                      <a:pt x="66" y="50"/>
                    </a:lnTo>
                    <a:close/>
                    <a:moveTo>
                      <a:pt x="123" y="75"/>
                    </a:moveTo>
                    <a:cubicBezTo>
                      <a:pt x="123" y="78"/>
                      <a:pt x="120" y="80"/>
                      <a:pt x="118" y="80"/>
                    </a:cubicBezTo>
                    <a:cubicBezTo>
                      <a:pt x="15" y="80"/>
                      <a:pt x="15" y="80"/>
                      <a:pt x="15" y="80"/>
                    </a:cubicBezTo>
                    <a:cubicBezTo>
                      <a:pt x="12" y="80"/>
                      <a:pt x="10" y="78"/>
                      <a:pt x="10" y="75"/>
                    </a:cubicBezTo>
                    <a:cubicBezTo>
                      <a:pt x="10" y="17"/>
                      <a:pt x="10" y="17"/>
                      <a:pt x="10" y="17"/>
                    </a:cubicBezTo>
                    <a:cubicBezTo>
                      <a:pt x="62" y="60"/>
                      <a:pt x="62" y="60"/>
                      <a:pt x="62" y="60"/>
                    </a:cubicBezTo>
                    <a:cubicBezTo>
                      <a:pt x="64" y="61"/>
                      <a:pt x="65" y="61"/>
                      <a:pt x="66" y="61"/>
                    </a:cubicBezTo>
                    <a:cubicBezTo>
                      <a:pt x="68" y="61"/>
                      <a:pt x="69" y="61"/>
                      <a:pt x="70" y="60"/>
                    </a:cubicBezTo>
                    <a:cubicBezTo>
                      <a:pt x="123" y="17"/>
                      <a:pt x="123" y="17"/>
                      <a:pt x="123" y="17"/>
                    </a:cubicBezTo>
                    <a:lnTo>
                      <a:pt x="123" y="7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8" name="Freeform 168">
                <a:extLst>
                  <a:ext uri="{FF2B5EF4-FFF2-40B4-BE49-F238E27FC236}">
                    <a16:creationId xmlns:a16="http://schemas.microsoft.com/office/drawing/2014/main" id="{2C1234A7-26C6-4F13-B659-C466C5215F7E}"/>
                  </a:ext>
                </a:extLst>
              </p:cNvPr>
              <p:cNvSpPr/>
              <p:nvPr/>
            </p:nvSpPr>
            <p:spPr bwMode="auto">
              <a:xfrm>
                <a:off x="6305551" y="3633788"/>
                <a:ext cx="114300" cy="103188"/>
              </a:xfrm>
              <a:custGeom>
                <a:avLst/>
                <a:gdLst>
                  <a:gd name="T0" fmla="*/ 26 w 30"/>
                  <a:gd name="T1" fmla="*/ 27 h 27"/>
                  <a:gd name="T2" fmla="*/ 28 w 30"/>
                  <a:gd name="T3" fmla="*/ 27 h 27"/>
                  <a:gd name="T4" fmla="*/ 29 w 30"/>
                  <a:gd name="T5" fmla="*/ 27 h 27"/>
                  <a:gd name="T6" fmla="*/ 29 w 30"/>
                  <a:gd name="T7" fmla="*/ 24 h 27"/>
                  <a:gd name="T8" fmla="*/ 4 w 30"/>
                  <a:gd name="T9" fmla="*/ 0 h 27"/>
                  <a:gd name="T10" fmla="*/ 3 w 30"/>
                  <a:gd name="T11" fmla="*/ 0 h 27"/>
                  <a:gd name="T12" fmla="*/ 1 w 30"/>
                  <a:gd name="T13" fmla="*/ 0 h 27"/>
                  <a:gd name="T14" fmla="*/ 1 w 30"/>
                  <a:gd name="T15" fmla="*/ 3 h 27"/>
                  <a:gd name="T16" fmla="*/ 26 w 30"/>
                  <a:gd name="T1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7">
                    <a:moveTo>
                      <a:pt x="26" y="27"/>
                    </a:moveTo>
                    <a:cubicBezTo>
                      <a:pt x="26" y="27"/>
                      <a:pt x="27" y="27"/>
                      <a:pt x="28" y="27"/>
                    </a:cubicBezTo>
                    <a:cubicBezTo>
                      <a:pt x="28" y="27"/>
                      <a:pt x="29" y="27"/>
                      <a:pt x="29" y="27"/>
                    </a:cubicBezTo>
                    <a:cubicBezTo>
                      <a:pt x="30" y="26"/>
                      <a:pt x="30" y="25"/>
                      <a:pt x="29" y="24"/>
                    </a:cubicBezTo>
                    <a:cubicBezTo>
                      <a:pt x="4" y="0"/>
                      <a:pt x="4" y="0"/>
                      <a:pt x="4" y="0"/>
                    </a:cubicBezTo>
                    <a:cubicBezTo>
                      <a:pt x="4" y="0"/>
                      <a:pt x="3" y="0"/>
                      <a:pt x="3" y="0"/>
                    </a:cubicBezTo>
                    <a:cubicBezTo>
                      <a:pt x="2" y="0"/>
                      <a:pt x="2" y="0"/>
                      <a:pt x="1" y="0"/>
                    </a:cubicBezTo>
                    <a:cubicBezTo>
                      <a:pt x="0" y="1"/>
                      <a:pt x="0" y="3"/>
                      <a:pt x="1" y="3"/>
                    </a:cubicBezTo>
                    <a:lnTo>
                      <a:pt x="26" y="2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9" name="Freeform 169">
                <a:extLst>
                  <a:ext uri="{FF2B5EF4-FFF2-40B4-BE49-F238E27FC236}">
                    <a16:creationId xmlns:a16="http://schemas.microsoft.com/office/drawing/2014/main" id="{1019D8C7-0C18-438D-9A4C-3E06C9220552}"/>
                  </a:ext>
                </a:extLst>
              </p:cNvPr>
              <p:cNvSpPr/>
              <p:nvPr/>
            </p:nvSpPr>
            <p:spPr bwMode="auto">
              <a:xfrm>
                <a:off x="6016626" y="3413125"/>
                <a:ext cx="79375" cy="57150"/>
              </a:xfrm>
              <a:custGeom>
                <a:avLst/>
                <a:gdLst>
                  <a:gd name="T0" fmla="*/ 1 w 21"/>
                  <a:gd name="T1" fmla="*/ 15 h 15"/>
                  <a:gd name="T2" fmla="*/ 21 w 21"/>
                  <a:gd name="T3" fmla="*/ 14 h 15"/>
                  <a:gd name="T4" fmla="*/ 20 w 21"/>
                  <a:gd name="T5" fmla="*/ 0 h 15"/>
                  <a:gd name="T6" fmla="*/ 0 w 21"/>
                  <a:gd name="T7" fmla="*/ 0 h 15"/>
                  <a:gd name="T8" fmla="*/ 1 w 21"/>
                  <a:gd name="T9" fmla="*/ 15 h 15"/>
                </a:gdLst>
                <a:ahLst/>
                <a:cxnLst>
                  <a:cxn ang="0">
                    <a:pos x="T0" y="T1"/>
                  </a:cxn>
                  <a:cxn ang="0">
                    <a:pos x="T2" y="T3"/>
                  </a:cxn>
                  <a:cxn ang="0">
                    <a:pos x="T4" y="T5"/>
                  </a:cxn>
                  <a:cxn ang="0">
                    <a:pos x="T6" y="T7"/>
                  </a:cxn>
                  <a:cxn ang="0">
                    <a:pos x="T8" y="T9"/>
                  </a:cxn>
                </a:cxnLst>
                <a:rect l="0" t="0" r="r" b="b"/>
                <a:pathLst>
                  <a:path w="21" h="15">
                    <a:moveTo>
                      <a:pt x="1" y="15"/>
                    </a:moveTo>
                    <a:cubicBezTo>
                      <a:pt x="8" y="15"/>
                      <a:pt x="14" y="14"/>
                      <a:pt x="21" y="14"/>
                    </a:cubicBezTo>
                    <a:cubicBezTo>
                      <a:pt x="20" y="8"/>
                      <a:pt x="20" y="4"/>
                      <a:pt x="20" y="0"/>
                    </a:cubicBezTo>
                    <a:cubicBezTo>
                      <a:pt x="0" y="0"/>
                      <a:pt x="0" y="0"/>
                      <a:pt x="0" y="0"/>
                    </a:cubicBezTo>
                    <a:cubicBezTo>
                      <a:pt x="1" y="5"/>
                      <a:pt x="1" y="11"/>
                      <a:pt x="1"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grpSp>
      <p:sp>
        <p:nvSpPr>
          <p:cNvPr id="2" name="标题 1"/>
          <p:cNvSpPr>
            <a:spLocks noGrp="1"/>
          </p:cNvSpPr>
          <p:nvPr>
            <p:ph type="ctrTitle"/>
          </p:nvPr>
        </p:nvSpPr>
        <p:spPr>
          <a:xfrm>
            <a:off x="1524001" y="1122365"/>
            <a:ext cx="9477375" cy="2261733"/>
          </a:xfrm>
        </p:spPr>
        <p:txBody>
          <a:bodyPr anchor="b"/>
          <a:lstStyle>
            <a:lvl1pPr algn="ctr">
              <a:defRPr sz="4500">
                <a:solidFill>
                  <a:schemeClr val="bg1"/>
                </a:solidFill>
              </a:defRPr>
            </a:lvl1pPr>
          </a:lstStyle>
          <a:p>
            <a:r>
              <a:rPr lang="zh-CN" altLang="en-US"/>
              <a:t>单击此处编辑母版标题样式</a:t>
            </a:r>
          </a:p>
        </p:txBody>
      </p:sp>
    </p:spTree>
    <p:extLst>
      <p:ext uri="{BB962C8B-B14F-4D97-AF65-F5344CB8AC3E}">
        <p14:creationId xmlns:p14="http://schemas.microsoft.com/office/powerpoint/2010/main" val="1371584990"/>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 presetClass="entr" presetSubtype="4" accel="22000" fill="hold" nodeType="withEffect" p14:presetBounceEnd="20000">
                                      <p:stCondLst>
                                        <p:cond delay="2200"/>
                                      </p:stCondLst>
                                      <p:childTnLst>
                                        <p:set>
                                          <p:cBhvr>
                                            <p:cTn id="9" dur="1" fill="hold">
                                              <p:stCondLst>
                                                <p:cond delay="0"/>
                                              </p:stCondLst>
                                            </p:cTn>
                                            <p:tgtEl>
                                              <p:spTgt spid="8"/>
                                            </p:tgtEl>
                                            <p:attrNameLst>
                                              <p:attrName>style.visibility</p:attrName>
                                            </p:attrNameLst>
                                          </p:cBhvr>
                                          <p:to>
                                            <p:strVal val="visible"/>
                                          </p:to>
                                        </p:set>
                                        <p:anim calcmode="lin" valueType="num" p14:bounceEnd="20000">
                                          <p:cBhvr additive="base">
                                            <p:cTn id="10" dur="500" fill="hold"/>
                                            <p:tgtEl>
                                              <p:spTgt spid="8"/>
                                            </p:tgtEl>
                                            <p:attrNameLst>
                                              <p:attrName>ppt_x</p:attrName>
                                            </p:attrNameLst>
                                          </p:cBhvr>
                                          <p:tavLst>
                                            <p:tav tm="0">
                                              <p:val>
                                                <p:strVal val="#ppt_x"/>
                                              </p:val>
                                            </p:tav>
                                            <p:tav tm="100000">
                                              <p:val>
                                                <p:strVal val="#ppt_x"/>
                                              </p:val>
                                            </p:tav>
                                          </p:tavLst>
                                        </p:anim>
                                        <p:anim calcmode="lin" valueType="num" p14:bounceEnd="20000">
                                          <p:cBhvr additive="base">
                                            <p:cTn id="11" dur="500" fill="hold"/>
                                            <p:tgtEl>
                                              <p:spTgt spid="8"/>
                                            </p:tgtEl>
                                            <p:attrNameLst>
                                              <p:attrName>ppt_y</p:attrName>
                                            </p:attrNameLst>
                                          </p:cBhvr>
                                          <p:tavLst>
                                            <p:tav tm="0">
                                              <p:val>
                                                <p:strVal val="1+#ppt_h/2"/>
                                              </p:val>
                                            </p:tav>
                                            <p:tav tm="100000">
                                              <p:val>
                                                <p:strVal val="#ppt_y"/>
                                              </p:val>
                                            </p:tav>
                                          </p:tavLst>
                                        </p:anim>
                                      </p:childTnLst>
                                    </p:cTn>
                                  </p:par>
                                  <p:par>
                                    <p:cTn id="12" presetID="2" presetClass="entr" presetSubtype="4" accel="22000" fill="hold" nodeType="withEffect" p14:presetBounceEnd="20000">
                                      <p:stCondLst>
                                        <p:cond delay="2400"/>
                                      </p:stCondLst>
                                      <p:childTnLst>
                                        <p:set>
                                          <p:cBhvr>
                                            <p:cTn id="13" dur="1" fill="hold">
                                              <p:stCondLst>
                                                <p:cond delay="0"/>
                                              </p:stCondLst>
                                            </p:cTn>
                                            <p:tgtEl>
                                              <p:spTgt spid="28"/>
                                            </p:tgtEl>
                                            <p:attrNameLst>
                                              <p:attrName>style.visibility</p:attrName>
                                            </p:attrNameLst>
                                          </p:cBhvr>
                                          <p:to>
                                            <p:strVal val="visible"/>
                                          </p:to>
                                        </p:set>
                                        <p:anim calcmode="lin" valueType="num" p14:bounceEnd="20000">
                                          <p:cBhvr additive="base">
                                            <p:cTn id="14" dur="500" fill="hold"/>
                                            <p:tgtEl>
                                              <p:spTgt spid="28"/>
                                            </p:tgtEl>
                                            <p:attrNameLst>
                                              <p:attrName>ppt_x</p:attrName>
                                            </p:attrNameLst>
                                          </p:cBhvr>
                                          <p:tavLst>
                                            <p:tav tm="0">
                                              <p:val>
                                                <p:strVal val="#ppt_x"/>
                                              </p:val>
                                            </p:tav>
                                            <p:tav tm="100000">
                                              <p:val>
                                                <p:strVal val="#ppt_x"/>
                                              </p:val>
                                            </p:tav>
                                          </p:tavLst>
                                        </p:anim>
                                        <p:anim calcmode="lin" valueType="num" p14:bounceEnd="20000">
                                          <p:cBhvr additive="base">
                                            <p:cTn id="15" dur="500" fill="hold"/>
                                            <p:tgtEl>
                                              <p:spTgt spid="28"/>
                                            </p:tgtEl>
                                            <p:attrNameLst>
                                              <p:attrName>ppt_y</p:attrName>
                                            </p:attrNameLst>
                                          </p:cBhvr>
                                          <p:tavLst>
                                            <p:tav tm="0">
                                              <p:val>
                                                <p:strVal val="1+#ppt_h/2"/>
                                              </p:val>
                                            </p:tav>
                                            <p:tav tm="100000">
                                              <p:val>
                                                <p:strVal val="#ppt_y"/>
                                              </p:val>
                                            </p:tav>
                                          </p:tavLst>
                                        </p:anim>
                                      </p:childTnLst>
                                    </p:cTn>
                                  </p:par>
                                  <p:par>
                                    <p:cTn id="16" presetID="2" presetClass="entr" presetSubtype="4" accel="22000" fill="hold" nodeType="withEffect" p14:presetBounceEnd="20000">
                                      <p:stCondLst>
                                        <p:cond delay="2600"/>
                                      </p:stCondLst>
                                      <p:childTnLst>
                                        <p:set>
                                          <p:cBhvr>
                                            <p:cTn id="17" dur="1" fill="hold">
                                              <p:stCondLst>
                                                <p:cond delay="0"/>
                                              </p:stCondLst>
                                            </p:cTn>
                                            <p:tgtEl>
                                              <p:spTgt spid="38"/>
                                            </p:tgtEl>
                                            <p:attrNameLst>
                                              <p:attrName>style.visibility</p:attrName>
                                            </p:attrNameLst>
                                          </p:cBhvr>
                                          <p:to>
                                            <p:strVal val="visible"/>
                                          </p:to>
                                        </p:set>
                                        <p:anim calcmode="lin" valueType="num" p14:bounceEnd="20000">
                                          <p:cBhvr additive="base">
                                            <p:cTn id="18" dur="500" fill="hold"/>
                                            <p:tgtEl>
                                              <p:spTgt spid="38"/>
                                            </p:tgtEl>
                                            <p:attrNameLst>
                                              <p:attrName>ppt_x</p:attrName>
                                            </p:attrNameLst>
                                          </p:cBhvr>
                                          <p:tavLst>
                                            <p:tav tm="0">
                                              <p:val>
                                                <p:strVal val="#ppt_x"/>
                                              </p:val>
                                            </p:tav>
                                            <p:tav tm="100000">
                                              <p:val>
                                                <p:strVal val="#ppt_x"/>
                                              </p:val>
                                            </p:tav>
                                          </p:tavLst>
                                        </p:anim>
                                        <p:anim calcmode="lin" valueType="num" p14:bounceEnd="20000">
                                          <p:cBhvr additive="base">
                                            <p:cTn id="19" dur="500" fill="hold"/>
                                            <p:tgtEl>
                                              <p:spTgt spid="38"/>
                                            </p:tgtEl>
                                            <p:attrNameLst>
                                              <p:attrName>ppt_y</p:attrName>
                                            </p:attrNameLst>
                                          </p:cBhvr>
                                          <p:tavLst>
                                            <p:tav tm="0">
                                              <p:val>
                                                <p:strVal val="1+#ppt_h/2"/>
                                              </p:val>
                                            </p:tav>
                                            <p:tav tm="100000">
                                              <p:val>
                                                <p:strVal val="#ppt_y"/>
                                              </p:val>
                                            </p:tav>
                                          </p:tavLst>
                                        </p:anim>
                                      </p:childTnLst>
                                    </p:cTn>
                                  </p:par>
                                  <p:par>
                                    <p:cTn id="20" presetID="2" presetClass="entr" presetSubtype="4" accel="22000" fill="hold" nodeType="withEffect" p14:presetBounceEnd="20000">
                                      <p:stCondLst>
                                        <p:cond delay="2800"/>
                                      </p:stCondLst>
                                      <p:childTnLst>
                                        <p:set>
                                          <p:cBhvr>
                                            <p:cTn id="21" dur="1" fill="hold">
                                              <p:stCondLst>
                                                <p:cond delay="0"/>
                                              </p:stCondLst>
                                            </p:cTn>
                                            <p:tgtEl>
                                              <p:spTgt spid="46"/>
                                            </p:tgtEl>
                                            <p:attrNameLst>
                                              <p:attrName>style.visibility</p:attrName>
                                            </p:attrNameLst>
                                          </p:cBhvr>
                                          <p:to>
                                            <p:strVal val="visible"/>
                                          </p:to>
                                        </p:set>
                                        <p:anim calcmode="lin" valueType="num" p14:bounceEnd="20000">
                                          <p:cBhvr additive="base">
                                            <p:cTn id="22" dur="500" fill="hold"/>
                                            <p:tgtEl>
                                              <p:spTgt spid="46"/>
                                            </p:tgtEl>
                                            <p:attrNameLst>
                                              <p:attrName>ppt_x</p:attrName>
                                            </p:attrNameLst>
                                          </p:cBhvr>
                                          <p:tavLst>
                                            <p:tav tm="0">
                                              <p:val>
                                                <p:strVal val="#ppt_x"/>
                                              </p:val>
                                            </p:tav>
                                            <p:tav tm="100000">
                                              <p:val>
                                                <p:strVal val="#ppt_x"/>
                                              </p:val>
                                            </p:tav>
                                          </p:tavLst>
                                        </p:anim>
                                        <p:anim calcmode="lin" valueType="num" p14:bounceEnd="20000">
                                          <p:cBhvr additive="base">
                                            <p:cTn id="23" dur="500" fill="hold"/>
                                            <p:tgtEl>
                                              <p:spTgt spid="46"/>
                                            </p:tgtEl>
                                            <p:attrNameLst>
                                              <p:attrName>ppt_y</p:attrName>
                                            </p:attrNameLst>
                                          </p:cBhvr>
                                          <p:tavLst>
                                            <p:tav tm="0">
                                              <p:val>
                                                <p:strVal val="1+#ppt_h/2"/>
                                              </p:val>
                                            </p:tav>
                                            <p:tav tm="100000">
                                              <p:val>
                                                <p:strVal val="#ppt_y"/>
                                              </p:val>
                                            </p:tav>
                                          </p:tavLst>
                                        </p:anim>
                                      </p:childTnLst>
                                    </p:cTn>
                                  </p:par>
                                  <p:par>
                                    <p:cTn id="24" presetID="2" presetClass="entr" presetSubtype="4" accel="22000" fill="hold" nodeType="withEffect" p14:presetBounceEnd="20000">
                                      <p:stCondLst>
                                        <p:cond delay="3000"/>
                                      </p:stCondLst>
                                      <p:childTnLst>
                                        <p:set>
                                          <p:cBhvr>
                                            <p:cTn id="25" dur="1" fill="hold">
                                              <p:stCondLst>
                                                <p:cond delay="0"/>
                                              </p:stCondLst>
                                            </p:cTn>
                                            <p:tgtEl>
                                              <p:spTgt spid="51"/>
                                            </p:tgtEl>
                                            <p:attrNameLst>
                                              <p:attrName>style.visibility</p:attrName>
                                            </p:attrNameLst>
                                          </p:cBhvr>
                                          <p:to>
                                            <p:strVal val="visible"/>
                                          </p:to>
                                        </p:set>
                                        <p:anim calcmode="lin" valueType="num" p14:bounceEnd="20000">
                                          <p:cBhvr additive="base">
                                            <p:cTn id="26" dur="500" fill="hold"/>
                                            <p:tgtEl>
                                              <p:spTgt spid="51"/>
                                            </p:tgtEl>
                                            <p:attrNameLst>
                                              <p:attrName>ppt_x</p:attrName>
                                            </p:attrNameLst>
                                          </p:cBhvr>
                                          <p:tavLst>
                                            <p:tav tm="0">
                                              <p:val>
                                                <p:strVal val="#ppt_x"/>
                                              </p:val>
                                            </p:tav>
                                            <p:tav tm="100000">
                                              <p:val>
                                                <p:strVal val="#ppt_x"/>
                                              </p:val>
                                            </p:tav>
                                          </p:tavLst>
                                        </p:anim>
                                        <p:anim calcmode="lin" valueType="num" p14:bounceEnd="20000">
                                          <p:cBhvr additive="base">
                                            <p:cTn id="27"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 presetClass="entr" presetSubtype="4" accel="22000" fill="hold" nodeType="withEffect">
                                      <p:stCondLst>
                                        <p:cond delay="2200"/>
                                      </p:stCondLst>
                                      <p:childTnLst>
                                        <p:set>
                                          <p:cBhvr>
                                            <p:cTn id="9" dur="1" fill="hold">
                                              <p:stCondLst>
                                                <p:cond delay="0"/>
                                              </p:stCondLst>
                                            </p:cTn>
                                            <p:tgtEl>
                                              <p:spTgt spid="8"/>
                                            </p:tgtEl>
                                            <p:attrNameLst>
                                              <p:attrName>style.visibility</p:attrName>
                                            </p:attrNameLst>
                                          </p:cBhvr>
                                          <p:to>
                                            <p:strVal val="visible"/>
                                          </p:to>
                                        </p:set>
                                        <p:anim calcmode="lin" valueType="num">
                                          <p:cBhvr additive="base">
                                            <p:cTn id="10" dur="500" fill="hold"/>
                                            <p:tgtEl>
                                              <p:spTgt spid="8"/>
                                            </p:tgtEl>
                                            <p:attrNameLst>
                                              <p:attrName>ppt_x</p:attrName>
                                            </p:attrNameLst>
                                          </p:cBhvr>
                                          <p:tavLst>
                                            <p:tav tm="0">
                                              <p:val>
                                                <p:strVal val="#ppt_x"/>
                                              </p:val>
                                            </p:tav>
                                            <p:tav tm="100000">
                                              <p:val>
                                                <p:strVal val="#ppt_x"/>
                                              </p:val>
                                            </p:tav>
                                          </p:tavLst>
                                        </p:anim>
                                        <p:anim calcmode="lin" valueType="num">
                                          <p:cBhvr additive="base">
                                            <p:cTn id="11" dur="500" fill="hold"/>
                                            <p:tgtEl>
                                              <p:spTgt spid="8"/>
                                            </p:tgtEl>
                                            <p:attrNameLst>
                                              <p:attrName>ppt_y</p:attrName>
                                            </p:attrNameLst>
                                          </p:cBhvr>
                                          <p:tavLst>
                                            <p:tav tm="0">
                                              <p:val>
                                                <p:strVal val="1+#ppt_h/2"/>
                                              </p:val>
                                            </p:tav>
                                            <p:tav tm="100000">
                                              <p:val>
                                                <p:strVal val="#ppt_y"/>
                                              </p:val>
                                            </p:tav>
                                          </p:tavLst>
                                        </p:anim>
                                      </p:childTnLst>
                                    </p:cTn>
                                  </p:par>
                                  <p:par>
                                    <p:cTn id="12" presetID="2" presetClass="entr" presetSubtype="4" accel="22000" fill="hold" nodeType="withEffect">
                                      <p:stCondLst>
                                        <p:cond delay="2400"/>
                                      </p:stCondLst>
                                      <p:childTnLst>
                                        <p:set>
                                          <p:cBhvr>
                                            <p:cTn id="13" dur="1" fill="hold">
                                              <p:stCondLst>
                                                <p:cond delay="0"/>
                                              </p:stCondLst>
                                            </p:cTn>
                                            <p:tgtEl>
                                              <p:spTgt spid="28"/>
                                            </p:tgtEl>
                                            <p:attrNameLst>
                                              <p:attrName>style.visibility</p:attrName>
                                            </p:attrNameLst>
                                          </p:cBhvr>
                                          <p:to>
                                            <p:strVal val="visible"/>
                                          </p:to>
                                        </p:set>
                                        <p:anim calcmode="lin" valueType="num">
                                          <p:cBhvr additive="base">
                                            <p:cTn id="14" dur="500" fill="hold"/>
                                            <p:tgtEl>
                                              <p:spTgt spid="28"/>
                                            </p:tgtEl>
                                            <p:attrNameLst>
                                              <p:attrName>ppt_x</p:attrName>
                                            </p:attrNameLst>
                                          </p:cBhvr>
                                          <p:tavLst>
                                            <p:tav tm="0">
                                              <p:val>
                                                <p:strVal val="#ppt_x"/>
                                              </p:val>
                                            </p:tav>
                                            <p:tav tm="100000">
                                              <p:val>
                                                <p:strVal val="#ppt_x"/>
                                              </p:val>
                                            </p:tav>
                                          </p:tavLst>
                                        </p:anim>
                                        <p:anim calcmode="lin" valueType="num">
                                          <p:cBhvr additive="base">
                                            <p:cTn id="15" dur="500" fill="hold"/>
                                            <p:tgtEl>
                                              <p:spTgt spid="28"/>
                                            </p:tgtEl>
                                            <p:attrNameLst>
                                              <p:attrName>ppt_y</p:attrName>
                                            </p:attrNameLst>
                                          </p:cBhvr>
                                          <p:tavLst>
                                            <p:tav tm="0">
                                              <p:val>
                                                <p:strVal val="1+#ppt_h/2"/>
                                              </p:val>
                                            </p:tav>
                                            <p:tav tm="100000">
                                              <p:val>
                                                <p:strVal val="#ppt_y"/>
                                              </p:val>
                                            </p:tav>
                                          </p:tavLst>
                                        </p:anim>
                                      </p:childTnLst>
                                    </p:cTn>
                                  </p:par>
                                  <p:par>
                                    <p:cTn id="16" presetID="2" presetClass="entr" presetSubtype="4" accel="22000" fill="hold" nodeType="withEffect">
                                      <p:stCondLst>
                                        <p:cond delay="2600"/>
                                      </p:stCondLst>
                                      <p:childTnLst>
                                        <p:set>
                                          <p:cBhvr>
                                            <p:cTn id="17" dur="1" fill="hold">
                                              <p:stCondLst>
                                                <p:cond delay="0"/>
                                              </p:stCondLst>
                                            </p:cTn>
                                            <p:tgtEl>
                                              <p:spTgt spid="38"/>
                                            </p:tgtEl>
                                            <p:attrNameLst>
                                              <p:attrName>style.visibility</p:attrName>
                                            </p:attrNameLst>
                                          </p:cBhvr>
                                          <p:to>
                                            <p:strVal val="visible"/>
                                          </p:to>
                                        </p:set>
                                        <p:anim calcmode="lin" valueType="num">
                                          <p:cBhvr additive="base">
                                            <p:cTn id="18" dur="500" fill="hold"/>
                                            <p:tgtEl>
                                              <p:spTgt spid="38"/>
                                            </p:tgtEl>
                                            <p:attrNameLst>
                                              <p:attrName>ppt_x</p:attrName>
                                            </p:attrNameLst>
                                          </p:cBhvr>
                                          <p:tavLst>
                                            <p:tav tm="0">
                                              <p:val>
                                                <p:strVal val="#ppt_x"/>
                                              </p:val>
                                            </p:tav>
                                            <p:tav tm="100000">
                                              <p:val>
                                                <p:strVal val="#ppt_x"/>
                                              </p:val>
                                            </p:tav>
                                          </p:tavLst>
                                        </p:anim>
                                        <p:anim calcmode="lin" valueType="num">
                                          <p:cBhvr additive="base">
                                            <p:cTn id="19" dur="500" fill="hold"/>
                                            <p:tgtEl>
                                              <p:spTgt spid="38"/>
                                            </p:tgtEl>
                                            <p:attrNameLst>
                                              <p:attrName>ppt_y</p:attrName>
                                            </p:attrNameLst>
                                          </p:cBhvr>
                                          <p:tavLst>
                                            <p:tav tm="0">
                                              <p:val>
                                                <p:strVal val="1+#ppt_h/2"/>
                                              </p:val>
                                            </p:tav>
                                            <p:tav tm="100000">
                                              <p:val>
                                                <p:strVal val="#ppt_y"/>
                                              </p:val>
                                            </p:tav>
                                          </p:tavLst>
                                        </p:anim>
                                      </p:childTnLst>
                                    </p:cTn>
                                  </p:par>
                                  <p:par>
                                    <p:cTn id="20" presetID="2" presetClass="entr" presetSubtype="4" accel="22000" fill="hold" nodeType="withEffect">
                                      <p:stCondLst>
                                        <p:cond delay="2800"/>
                                      </p:stCondLst>
                                      <p:childTnLst>
                                        <p:set>
                                          <p:cBhvr>
                                            <p:cTn id="21" dur="1" fill="hold">
                                              <p:stCondLst>
                                                <p:cond delay="0"/>
                                              </p:stCondLst>
                                            </p:cTn>
                                            <p:tgtEl>
                                              <p:spTgt spid="46"/>
                                            </p:tgtEl>
                                            <p:attrNameLst>
                                              <p:attrName>style.visibility</p:attrName>
                                            </p:attrNameLst>
                                          </p:cBhvr>
                                          <p:to>
                                            <p:strVal val="visible"/>
                                          </p:to>
                                        </p:set>
                                        <p:anim calcmode="lin" valueType="num">
                                          <p:cBhvr additive="base">
                                            <p:cTn id="22" dur="500" fill="hold"/>
                                            <p:tgtEl>
                                              <p:spTgt spid="46"/>
                                            </p:tgtEl>
                                            <p:attrNameLst>
                                              <p:attrName>ppt_x</p:attrName>
                                            </p:attrNameLst>
                                          </p:cBhvr>
                                          <p:tavLst>
                                            <p:tav tm="0">
                                              <p:val>
                                                <p:strVal val="#ppt_x"/>
                                              </p:val>
                                            </p:tav>
                                            <p:tav tm="100000">
                                              <p:val>
                                                <p:strVal val="#ppt_x"/>
                                              </p:val>
                                            </p:tav>
                                          </p:tavLst>
                                        </p:anim>
                                        <p:anim calcmode="lin" valueType="num">
                                          <p:cBhvr additive="base">
                                            <p:cTn id="23" dur="500" fill="hold"/>
                                            <p:tgtEl>
                                              <p:spTgt spid="46"/>
                                            </p:tgtEl>
                                            <p:attrNameLst>
                                              <p:attrName>ppt_y</p:attrName>
                                            </p:attrNameLst>
                                          </p:cBhvr>
                                          <p:tavLst>
                                            <p:tav tm="0">
                                              <p:val>
                                                <p:strVal val="1+#ppt_h/2"/>
                                              </p:val>
                                            </p:tav>
                                            <p:tav tm="100000">
                                              <p:val>
                                                <p:strVal val="#ppt_y"/>
                                              </p:val>
                                            </p:tav>
                                          </p:tavLst>
                                        </p:anim>
                                      </p:childTnLst>
                                    </p:cTn>
                                  </p:par>
                                  <p:par>
                                    <p:cTn id="24" presetID="2" presetClass="entr" presetSubtype="4" accel="22000" fill="hold" nodeType="withEffect">
                                      <p:stCondLst>
                                        <p:cond delay="3000"/>
                                      </p:stCondLst>
                                      <p:childTnLst>
                                        <p:set>
                                          <p:cBhvr>
                                            <p:cTn id="25" dur="1" fill="hold">
                                              <p:stCondLst>
                                                <p:cond delay="0"/>
                                              </p:stCondLst>
                                            </p:cTn>
                                            <p:tgtEl>
                                              <p:spTgt spid="51"/>
                                            </p:tgtEl>
                                            <p:attrNameLst>
                                              <p:attrName>style.visibility</p:attrName>
                                            </p:attrNameLst>
                                          </p:cBhvr>
                                          <p:to>
                                            <p:strVal val="visible"/>
                                          </p:to>
                                        </p:set>
                                        <p:anim calcmode="lin" valueType="num">
                                          <p:cBhvr additive="base">
                                            <p:cTn id="26" dur="500" fill="hold"/>
                                            <p:tgtEl>
                                              <p:spTgt spid="51"/>
                                            </p:tgtEl>
                                            <p:attrNameLst>
                                              <p:attrName>ppt_x</p:attrName>
                                            </p:attrNameLst>
                                          </p:cBhvr>
                                          <p:tavLst>
                                            <p:tav tm="0">
                                              <p:val>
                                                <p:strVal val="#ppt_x"/>
                                              </p:val>
                                            </p:tav>
                                            <p:tav tm="100000">
                                              <p:val>
                                                <p:strVal val="#ppt_x"/>
                                              </p:val>
                                            </p:tav>
                                          </p:tavLst>
                                        </p:anim>
                                        <p:anim calcmode="lin" valueType="num">
                                          <p:cBhvr additive="base">
                                            <p:cTn id="27"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281794" y="238579"/>
            <a:ext cx="9553575" cy="512536"/>
          </a:xfrm>
        </p:spPr>
        <p:txBody>
          <a:bodyPr>
            <a:noAutofit/>
          </a:bodyPr>
          <a:lstStyle>
            <a:lvl1pPr>
              <a:defRPr sz="3600" b="0">
                <a:solidFill>
                  <a:schemeClr val="accent1"/>
                </a:solidFill>
              </a:defRPr>
            </a:lvl1pPr>
          </a:lstStyle>
          <a:p>
            <a:r>
              <a:rPr lang="zh-CN" altLang="en-US" dirty="0"/>
              <a:t>单击此处编辑母版标题样式</a:t>
            </a:r>
          </a:p>
        </p:txBody>
      </p:sp>
      <p:sp>
        <p:nvSpPr>
          <p:cNvPr id="3" name="内容占位符 2"/>
          <p:cNvSpPr>
            <a:spLocks noGrp="1"/>
          </p:cNvSpPr>
          <p:nvPr>
            <p:ph idx="1"/>
          </p:nvPr>
        </p:nvSpPr>
        <p:spPr>
          <a:xfrm>
            <a:off x="838200" y="1147084"/>
            <a:ext cx="10515600" cy="5233307"/>
          </a:xfrm>
        </p:spPr>
        <p:txBody>
          <a:bodyPr/>
          <a:lstStyle>
            <a:lvl1pPr>
              <a:lnSpc>
                <a:spcPct val="100000"/>
              </a:lnSpc>
              <a:spcBef>
                <a:spcPts val="450"/>
              </a:spcBef>
              <a:spcAft>
                <a:spcPts val="450"/>
              </a:spcAft>
              <a:defRPr sz="2800"/>
            </a:lvl1pPr>
            <a:lvl2pPr>
              <a:lnSpc>
                <a:spcPct val="100000"/>
              </a:lnSpc>
              <a:spcBef>
                <a:spcPts val="450"/>
              </a:spcBef>
              <a:spcAft>
                <a:spcPts val="450"/>
              </a:spcAft>
              <a:defRPr sz="2400"/>
            </a:lvl2pPr>
            <a:lvl3pPr>
              <a:lnSpc>
                <a:spcPct val="100000"/>
              </a:lnSpc>
              <a:spcBef>
                <a:spcPts val="450"/>
              </a:spcBef>
              <a:spcAft>
                <a:spcPts val="450"/>
              </a:spcAft>
              <a:defRPr sz="1800"/>
            </a:lvl3pPr>
            <a:lvl4pPr>
              <a:lnSpc>
                <a:spcPct val="100000"/>
              </a:lnSpc>
              <a:spcBef>
                <a:spcPts val="450"/>
              </a:spcBef>
              <a:spcAft>
                <a:spcPts val="450"/>
              </a:spcAft>
              <a:defRPr sz="1600"/>
            </a:lvl4pPr>
            <a:lvl5pPr>
              <a:lnSpc>
                <a:spcPct val="100000"/>
              </a:lnSpc>
              <a:spcBef>
                <a:spcPts val="450"/>
              </a:spcBef>
              <a:spcAft>
                <a:spcPts val="450"/>
              </a:spcAft>
              <a:defRPr sz="16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01B92B5C-1985-464E-9994-6A52BBD32ECE}" type="datetime1">
              <a:rPr lang="zh-CN" altLang="en-US" smtClean="0"/>
              <a:t>2023/12/13</a:t>
            </a:fld>
            <a:endParaRPr lang="zh-CN" altLang="en-US"/>
          </a:p>
        </p:txBody>
      </p:sp>
      <p:sp>
        <p:nvSpPr>
          <p:cNvPr id="5" name="页脚占位符 4"/>
          <p:cNvSpPr>
            <a:spLocks noGrp="1"/>
          </p:cNvSpPr>
          <p:nvPr>
            <p:ph type="ftr" sz="quarter" idx="11"/>
          </p:nvPr>
        </p:nvSpPr>
        <p:spPr/>
        <p:txBody>
          <a:bodyPr/>
          <a:lstStyle/>
          <a:p>
            <a:endParaRPr lang="zh-CN" altLang="en-US" dirty="0"/>
          </a:p>
        </p:txBody>
      </p:sp>
      <p:grpSp>
        <p:nvGrpSpPr>
          <p:cNvPr id="7" name="组合 6">
            <a:extLst>
              <a:ext uri="{FF2B5EF4-FFF2-40B4-BE49-F238E27FC236}">
                <a16:creationId xmlns:a16="http://schemas.microsoft.com/office/drawing/2014/main" id="{B492DC46-649C-4371-BE00-7E12AB77B934}"/>
              </a:ext>
            </a:extLst>
          </p:cNvPr>
          <p:cNvGrpSpPr/>
          <p:nvPr/>
        </p:nvGrpSpPr>
        <p:grpSpPr>
          <a:xfrm>
            <a:off x="1" y="237055"/>
            <a:ext cx="1200151" cy="488496"/>
            <a:chOff x="0" y="254454"/>
            <a:chExt cx="1795510" cy="732518"/>
          </a:xfrm>
        </p:grpSpPr>
        <p:sp>
          <p:nvSpPr>
            <p:cNvPr id="8" name="矩形 1">
              <a:extLst>
                <a:ext uri="{FF2B5EF4-FFF2-40B4-BE49-F238E27FC236}">
                  <a16:creationId xmlns:a16="http://schemas.microsoft.com/office/drawing/2014/main" id="{84087D0E-5E69-4C4D-BBAF-B8A66AD85339}"/>
                </a:ext>
              </a:extLst>
            </p:cNvPr>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sp>
          <p:nvSpPr>
            <p:cNvPr id="9" name="任意多边形 4">
              <a:extLst>
                <a:ext uri="{FF2B5EF4-FFF2-40B4-BE49-F238E27FC236}">
                  <a16:creationId xmlns:a16="http://schemas.microsoft.com/office/drawing/2014/main" id="{1E4C8D98-A40C-4A48-9EA3-A4B8C1C723EF}"/>
                </a:ext>
              </a:extLst>
            </p:cNvPr>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grpSp>
      <p:grpSp>
        <p:nvGrpSpPr>
          <p:cNvPr id="10" name="组合 9">
            <a:extLst>
              <a:ext uri="{FF2B5EF4-FFF2-40B4-BE49-F238E27FC236}">
                <a16:creationId xmlns:a16="http://schemas.microsoft.com/office/drawing/2014/main" id="{202F2469-59F2-4336-87AE-7A3ADA9B58E5}"/>
              </a:ext>
            </a:extLst>
          </p:cNvPr>
          <p:cNvGrpSpPr/>
          <p:nvPr/>
        </p:nvGrpSpPr>
        <p:grpSpPr>
          <a:xfrm>
            <a:off x="0" y="6575727"/>
            <a:ext cx="12195693" cy="282275"/>
            <a:chOff x="-3693" y="6575725"/>
            <a:chExt cx="12195693" cy="282275"/>
          </a:xfrm>
        </p:grpSpPr>
        <p:sp>
          <p:nvSpPr>
            <p:cNvPr id="11" name="矩形 19">
              <a:extLst>
                <a:ext uri="{FF2B5EF4-FFF2-40B4-BE49-F238E27FC236}">
                  <a16:creationId xmlns:a16="http://schemas.microsoft.com/office/drawing/2014/main" id="{13251B82-8654-4AE7-8DCF-E8C422C7F5B9}"/>
                </a:ext>
              </a:extLst>
            </p:cNvPr>
            <p:cNvSpPr/>
            <p:nvPr/>
          </p:nvSpPr>
          <p:spPr>
            <a:xfrm>
              <a:off x="-3693" y="6575725"/>
              <a:ext cx="9213008"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sp>
          <p:nvSpPr>
            <p:cNvPr id="12" name="文本框 11">
              <a:extLst>
                <a:ext uri="{FF2B5EF4-FFF2-40B4-BE49-F238E27FC236}">
                  <a16:creationId xmlns:a16="http://schemas.microsoft.com/office/drawing/2014/main" id="{DF7438A7-23DE-46F1-82DA-7D1E2B69C890}"/>
                </a:ext>
              </a:extLst>
            </p:cNvPr>
            <p:cNvSpPr txBox="1"/>
            <p:nvPr/>
          </p:nvSpPr>
          <p:spPr>
            <a:xfrm>
              <a:off x="9095014" y="6575725"/>
              <a:ext cx="2496912" cy="230832"/>
            </a:xfrm>
            <a:prstGeom prst="rect">
              <a:avLst/>
            </a:prstGeom>
            <a:noFill/>
          </p:spPr>
          <p:txBody>
            <a:bodyPr wrap="square" rtlCol="0">
              <a:spAutoFit/>
            </a:bodyPr>
            <a:lstStyle/>
            <a:p>
              <a:pPr algn="dist"/>
              <a:r>
                <a:rPr lang="zh-CN" altLang="en-US" sz="900" i="1" dirty="0">
                  <a:solidFill>
                    <a:schemeClr val="tx1">
                      <a:lumMod val="75000"/>
                      <a:lumOff val="25000"/>
                    </a:schemeClr>
                  </a:solidFill>
                </a:rPr>
                <a:t>河南大学计算机与信息工程学院</a:t>
              </a:r>
            </a:p>
          </p:txBody>
        </p:sp>
        <p:sp>
          <p:nvSpPr>
            <p:cNvPr id="13" name="矩形 21">
              <a:extLst>
                <a:ext uri="{FF2B5EF4-FFF2-40B4-BE49-F238E27FC236}">
                  <a16:creationId xmlns:a16="http://schemas.microsoft.com/office/drawing/2014/main" id="{F591C9DB-985F-4F14-A901-B51657D6E773}"/>
                </a:ext>
              </a:extLst>
            </p:cNvPr>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grpSp>
      <p:sp>
        <p:nvSpPr>
          <p:cNvPr id="6" name="灯片编号占位符 5"/>
          <p:cNvSpPr>
            <a:spLocks noGrp="1"/>
          </p:cNvSpPr>
          <p:nvPr>
            <p:ph type="sldNum" sz="quarter" idx="12"/>
          </p:nvPr>
        </p:nvSpPr>
        <p:spPr>
          <a:xfrm>
            <a:off x="10919733" y="6584496"/>
            <a:ext cx="1272268" cy="273504"/>
          </a:xfrm>
        </p:spPr>
        <p:txBody>
          <a:bodyPr/>
          <a:lstStyle>
            <a:lvl1pPr>
              <a:defRPr>
                <a:solidFill>
                  <a:schemeClr val="bg1"/>
                </a:solidFill>
              </a:defRPr>
            </a:lvl1pPr>
          </a:lstStyle>
          <a:p>
            <a:fld id="{47C9E101-E51D-431E-84FA-C029B8655B60}" type="slidenum">
              <a:rPr lang="zh-CN" altLang="en-US" smtClean="0"/>
              <a:pPr/>
              <a:t>‹#›</a:t>
            </a:fld>
            <a:endParaRPr lang="zh-CN" altLang="en-US" dirty="0"/>
          </a:p>
        </p:txBody>
      </p:sp>
    </p:spTree>
    <p:extLst>
      <p:ext uri="{BB962C8B-B14F-4D97-AF65-F5344CB8AC3E}">
        <p14:creationId xmlns:p14="http://schemas.microsoft.com/office/powerpoint/2010/main" val="3016141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21F4DE29-5E62-4F5B-9DF3-5DCEBFE68F57}" type="datetime1">
              <a:rPr lang="zh-CN" altLang="en-US" smtClean="0"/>
              <a:t>2023/12/13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1859972009"/>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53A3343A-59AE-4A2F-B3CD-6A009219BBEB}"/>
              </a:ext>
            </a:extLst>
          </p:cNvPr>
          <p:cNvGrpSpPr/>
          <p:nvPr/>
        </p:nvGrpSpPr>
        <p:grpSpPr>
          <a:xfrm>
            <a:off x="0" y="6575727"/>
            <a:ext cx="12195693" cy="282275"/>
            <a:chOff x="-3693" y="6575725"/>
            <a:chExt cx="12195693" cy="282275"/>
          </a:xfrm>
        </p:grpSpPr>
        <p:sp>
          <p:nvSpPr>
            <p:cNvPr id="12" name="矩形 19">
              <a:extLst>
                <a:ext uri="{FF2B5EF4-FFF2-40B4-BE49-F238E27FC236}">
                  <a16:creationId xmlns:a16="http://schemas.microsoft.com/office/drawing/2014/main" id="{77E6E2F6-076F-44AF-A427-D4E574D9DAD9}"/>
                </a:ext>
              </a:extLst>
            </p:cNvPr>
            <p:cNvSpPr/>
            <p:nvPr/>
          </p:nvSpPr>
          <p:spPr>
            <a:xfrm>
              <a:off x="-3693" y="6575725"/>
              <a:ext cx="9213008"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sp>
          <p:nvSpPr>
            <p:cNvPr id="13" name="文本框 12">
              <a:extLst>
                <a:ext uri="{FF2B5EF4-FFF2-40B4-BE49-F238E27FC236}">
                  <a16:creationId xmlns:a16="http://schemas.microsoft.com/office/drawing/2014/main" id="{18A8A0EF-563C-449D-A72A-E94BE5F23A1B}"/>
                </a:ext>
              </a:extLst>
            </p:cNvPr>
            <p:cNvSpPr txBox="1"/>
            <p:nvPr/>
          </p:nvSpPr>
          <p:spPr>
            <a:xfrm>
              <a:off x="9095014" y="6575725"/>
              <a:ext cx="2496912" cy="230832"/>
            </a:xfrm>
            <a:prstGeom prst="rect">
              <a:avLst/>
            </a:prstGeom>
            <a:noFill/>
          </p:spPr>
          <p:txBody>
            <a:bodyPr wrap="square" rtlCol="0">
              <a:spAutoFit/>
            </a:bodyPr>
            <a:lstStyle/>
            <a:p>
              <a:pPr algn="dist"/>
              <a:r>
                <a:rPr lang="zh-CN" altLang="en-US" sz="900" i="1" dirty="0">
                  <a:solidFill>
                    <a:schemeClr val="tx1">
                      <a:lumMod val="75000"/>
                      <a:lumOff val="25000"/>
                    </a:schemeClr>
                  </a:solidFill>
                </a:rPr>
                <a:t>河南大学计算机与信息工程学院</a:t>
              </a:r>
            </a:p>
          </p:txBody>
        </p:sp>
        <p:sp>
          <p:nvSpPr>
            <p:cNvPr id="14" name="矩形 21">
              <a:extLst>
                <a:ext uri="{FF2B5EF4-FFF2-40B4-BE49-F238E27FC236}">
                  <a16:creationId xmlns:a16="http://schemas.microsoft.com/office/drawing/2014/main" id="{2B584D5A-E13D-4D49-BE6D-6370F8729161}"/>
                </a:ext>
              </a:extLst>
            </p:cNvPr>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grpSp>
      <p:sp>
        <p:nvSpPr>
          <p:cNvPr id="3" name="内容占位符 2"/>
          <p:cNvSpPr>
            <a:spLocks noGrp="1"/>
          </p:cNvSpPr>
          <p:nvPr>
            <p:ph sz="half" idx="1"/>
          </p:nvPr>
        </p:nvSpPr>
        <p:spPr>
          <a:xfrm>
            <a:off x="838200" y="1204232"/>
            <a:ext cx="5181600" cy="5139418"/>
          </a:xfrm>
        </p:spPr>
        <p:txBody>
          <a:bodyPr/>
          <a:lstStyle>
            <a:lvl1pPr>
              <a:lnSpc>
                <a:spcPct val="100000"/>
              </a:lnSpc>
              <a:spcBef>
                <a:spcPts val="450"/>
              </a:spcBef>
              <a:spcAft>
                <a:spcPts val="450"/>
              </a:spcAft>
              <a:defRPr/>
            </a:lvl1pPr>
            <a:lvl2pPr>
              <a:lnSpc>
                <a:spcPct val="100000"/>
              </a:lnSpc>
              <a:spcBef>
                <a:spcPts val="450"/>
              </a:spcBef>
              <a:spcAft>
                <a:spcPts val="450"/>
              </a:spcAft>
              <a:defRPr/>
            </a:lvl2pPr>
            <a:lvl3pPr>
              <a:lnSpc>
                <a:spcPct val="100000"/>
              </a:lnSpc>
              <a:spcBef>
                <a:spcPts val="450"/>
              </a:spcBef>
              <a:spcAft>
                <a:spcPts val="450"/>
              </a:spcAft>
              <a:defRPr/>
            </a:lvl3pPr>
            <a:lvl4pPr>
              <a:lnSpc>
                <a:spcPct val="100000"/>
              </a:lnSpc>
              <a:spcBef>
                <a:spcPts val="450"/>
              </a:spcBef>
              <a:spcAft>
                <a:spcPts val="450"/>
              </a:spcAft>
              <a:defRPr/>
            </a:lvl4pPr>
            <a:lvl5pPr>
              <a:lnSpc>
                <a:spcPct val="100000"/>
              </a:lnSpc>
              <a:spcBef>
                <a:spcPts val="450"/>
              </a:spcBef>
              <a:spcAft>
                <a:spcPts val="450"/>
              </a:spcAf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72200" y="1208314"/>
            <a:ext cx="5181600" cy="5139418"/>
          </a:xfrm>
        </p:spPr>
        <p:txBody>
          <a:bodyPr/>
          <a:lstStyle>
            <a:lvl1pPr>
              <a:lnSpc>
                <a:spcPct val="100000"/>
              </a:lnSpc>
              <a:spcBef>
                <a:spcPts val="450"/>
              </a:spcBef>
              <a:spcAft>
                <a:spcPts val="450"/>
              </a:spcAft>
              <a:defRPr/>
            </a:lvl1pPr>
            <a:lvl2pPr>
              <a:lnSpc>
                <a:spcPct val="100000"/>
              </a:lnSpc>
              <a:spcBef>
                <a:spcPts val="450"/>
              </a:spcBef>
              <a:spcAft>
                <a:spcPts val="450"/>
              </a:spcAft>
              <a:defRPr/>
            </a:lvl2pPr>
            <a:lvl3pPr>
              <a:lnSpc>
                <a:spcPct val="100000"/>
              </a:lnSpc>
              <a:spcBef>
                <a:spcPts val="450"/>
              </a:spcBef>
              <a:spcAft>
                <a:spcPts val="450"/>
              </a:spcAft>
              <a:defRPr/>
            </a:lvl3pPr>
            <a:lvl4pPr>
              <a:lnSpc>
                <a:spcPct val="100000"/>
              </a:lnSpc>
              <a:spcBef>
                <a:spcPts val="450"/>
              </a:spcBef>
              <a:spcAft>
                <a:spcPts val="450"/>
              </a:spcAft>
              <a:defRPr/>
            </a:lvl4pPr>
            <a:lvl5pPr>
              <a:lnSpc>
                <a:spcPct val="100000"/>
              </a:lnSpc>
              <a:spcBef>
                <a:spcPts val="450"/>
              </a:spcBef>
              <a:spcAft>
                <a:spcPts val="450"/>
              </a:spcAf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日期占位符 4"/>
          <p:cNvSpPr>
            <a:spLocks noGrp="1"/>
          </p:cNvSpPr>
          <p:nvPr>
            <p:ph type="dt" sz="half" idx="10"/>
          </p:nvPr>
        </p:nvSpPr>
        <p:spPr/>
        <p:txBody>
          <a:bodyPr/>
          <a:lstStyle/>
          <a:p>
            <a:fld id="{85F91FCD-4890-41F0-87A3-8C320F6D5DF6}" type="datetime1">
              <a:rPr lang="zh-CN" altLang="en-US" smtClean="0"/>
              <a:t>2023/12/13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9488261" y="6544131"/>
            <a:ext cx="2668360" cy="365125"/>
          </a:xfrm>
        </p:spPr>
        <p:txBody>
          <a:bodyPr/>
          <a:lstStyle>
            <a:lvl1pPr>
              <a:defRPr>
                <a:solidFill>
                  <a:schemeClr val="bg1"/>
                </a:solidFill>
              </a:defRPr>
            </a:lvl1pPr>
          </a:lstStyle>
          <a:p>
            <a:fld id="{47C9E101-E51D-431E-84FA-C029B8655B60}" type="slidenum">
              <a:rPr lang="zh-CN" altLang="en-US" smtClean="0"/>
              <a:t>‹#›</a:t>
            </a:fld>
            <a:endParaRPr lang="zh-CN" altLang="en-US"/>
          </a:p>
        </p:txBody>
      </p:sp>
      <p:grpSp>
        <p:nvGrpSpPr>
          <p:cNvPr id="8" name="组合 7">
            <a:extLst>
              <a:ext uri="{FF2B5EF4-FFF2-40B4-BE49-F238E27FC236}">
                <a16:creationId xmlns:a16="http://schemas.microsoft.com/office/drawing/2014/main" id="{103E3B63-30D6-436B-84E4-2E5D5DE5788C}"/>
              </a:ext>
            </a:extLst>
          </p:cNvPr>
          <p:cNvGrpSpPr/>
          <p:nvPr/>
        </p:nvGrpSpPr>
        <p:grpSpPr>
          <a:xfrm>
            <a:off x="1" y="237055"/>
            <a:ext cx="1200151" cy="488496"/>
            <a:chOff x="0" y="254454"/>
            <a:chExt cx="1795510" cy="732518"/>
          </a:xfrm>
        </p:grpSpPr>
        <p:sp>
          <p:nvSpPr>
            <p:cNvPr id="9" name="矩形 1">
              <a:extLst>
                <a:ext uri="{FF2B5EF4-FFF2-40B4-BE49-F238E27FC236}">
                  <a16:creationId xmlns:a16="http://schemas.microsoft.com/office/drawing/2014/main" id="{BECDD563-4923-4C59-92AB-A46BE222C13D}"/>
                </a:ext>
              </a:extLst>
            </p:cNvPr>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sp>
          <p:nvSpPr>
            <p:cNvPr id="10" name="任意多边形 4">
              <a:extLst>
                <a:ext uri="{FF2B5EF4-FFF2-40B4-BE49-F238E27FC236}">
                  <a16:creationId xmlns:a16="http://schemas.microsoft.com/office/drawing/2014/main" id="{CBA445E0-EF1F-4322-B5E9-96A323AF683A}"/>
                </a:ext>
              </a:extLst>
            </p:cNvPr>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grpSp>
      <p:sp>
        <p:nvSpPr>
          <p:cNvPr id="16" name="标题 1">
            <a:extLst>
              <a:ext uri="{FF2B5EF4-FFF2-40B4-BE49-F238E27FC236}">
                <a16:creationId xmlns:a16="http://schemas.microsoft.com/office/drawing/2014/main" id="{228A6188-E823-42CA-A942-9C975B55B7F1}"/>
              </a:ext>
            </a:extLst>
          </p:cNvPr>
          <p:cNvSpPr>
            <a:spLocks noGrp="1"/>
          </p:cNvSpPr>
          <p:nvPr>
            <p:ph type="title"/>
          </p:nvPr>
        </p:nvSpPr>
        <p:spPr>
          <a:xfrm>
            <a:off x="1281794" y="238579"/>
            <a:ext cx="9553575" cy="512536"/>
          </a:xfrm>
        </p:spPr>
        <p:txBody>
          <a:bodyPr>
            <a:noAutofit/>
          </a:bodyPr>
          <a:lstStyle>
            <a:lvl1pPr>
              <a:defRPr sz="3000" b="0">
                <a:solidFill>
                  <a:schemeClr val="accent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469191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CFF45FF-9B57-47EC-93D3-167B42D12FC7}" type="datetime1">
              <a:rPr lang="zh-CN" altLang="en-US" smtClean="0"/>
              <a:t>2023/12/13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C9E101-E51D-431E-84FA-C029B8655B60}" type="slidenum">
              <a:rPr lang="zh-CN" altLang="en-US" smtClean="0"/>
              <a:t>‹#›</a:t>
            </a:fld>
            <a:endParaRPr lang="zh-CN" altLang="en-US"/>
          </a:p>
        </p:txBody>
      </p:sp>
    </p:spTree>
    <p:extLst>
      <p:ext uri="{BB962C8B-B14F-4D97-AF65-F5344CB8AC3E}">
        <p14:creationId xmlns:p14="http://schemas.microsoft.com/office/powerpoint/2010/main" val="482303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01C5D3A-D1CC-4837-A9BF-289192324C07}" type="datetime1">
              <a:rPr lang="zh-CN" altLang="en-US" smtClean="0"/>
              <a:t>2023/12/13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C9E101-E51D-431E-84FA-C029B8655B60}" type="slidenum">
              <a:rPr lang="zh-CN" altLang="en-US" smtClean="0"/>
              <a:t>‹#›</a:t>
            </a:fld>
            <a:endParaRPr lang="zh-CN" altLang="en-US"/>
          </a:p>
        </p:txBody>
      </p:sp>
    </p:spTree>
    <p:extLst>
      <p:ext uri="{BB962C8B-B14F-4D97-AF65-F5344CB8AC3E}">
        <p14:creationId xmlns:p14="http://schemas.microsoft.com/office/powerpoint/2010/main" val="1866953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0C72DFE-ADEC-4C3D-B0BD-FF8EFF404081}" type="datetime1">
              <a:rPr lang="zh-CN" altLang="en-US" smtClean="0"/>
              <a:t>2023/12/13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7C9E101-E51D-431E-84FA-C029B8655B60}" type="slidenum">
              <a:rPr lang="zh-CN" altLang="en-US" smtClean="0"/>
              <a:t>‹#›</a:t>
            </a:fld>
            <a:endParaRPr lang="zh-CN" altLang="en-US"/>
          </a:p>
        </p:txBody>
      </p:sp>
    </p:spTree>
    <p:extLst>
      <p:ext uri="{BB962C8B-B14F-4D97-AF65-F5344CB8AC3E}">
        <p14:creationId xmlns:p14="http://schemas.microsoft.com/office/powerpoint/2010/main" val="4846500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02CD34D9-2AB5-4C74-9A02-A01D6A33B092}" type="datetime1">
              <a:rPr lang="zh-CN" altLang="en-US" smtClean="0"/>
              <a:t>2023/12/13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309742973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4FA75877-D5D1-455D-A148-32690FA48C4F}" type="datetime1">
              <a:rPr lang="zh-CN" altLang="en-US" smtClean="0"/>
              <a:t>2023/12/13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21908434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225A3A-E24D-406E-947E-8CC215A62C75}" type="datetime1">
              <a:rPr lang="zh-CN" altLang="en-US" smtClean="0"/>
              <a:t>2023/12/13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129814767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B42F575-1E14-40DE-A315-1C8F4BAF63B9}" type="datetime1">
              <a:rPr lang="zh-CN" altLang="en-US" smtClean="0"/>
              <a:t>2023/12/13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263440801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3"/>
            <a:ext cx="53848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0"/>
            <a:ext cx="5384800" cy="21859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38591"/>
            <a:ext cx="5384800" cy="21875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6"/>
          <p:cNvSpPr>
            <a:spLocks noGrp="1" noChangeArrowheads="1"/>
          </p:cNvSpPr>
          <p:nvPr>
            <p:ph type="sldNum" sz="quarter" idx="10"/>
          </p:nvPr>
        </p:nvSpPr>
        <p:spPr/>
        <p:txBody>
          <a:bodyPr/>
          <a:lstStyle>
            <a:lvl1pPr>
              <a:defRPr/>
            </a:lvl1p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2336413007"/>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BC5590A-D886-4962-AEDA-DC2589578889}" type="datetime1">
              <a:rPr lang="zh-CN" altLang="en-US" smtClean="0"/>
              <a:t>2023/12/13</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700973956"/>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opengauss.org/zh/docs/3.1.0/docs/Developerguide/%E4%BA%8B%E5%8A%A1%E6%8E%A7%E5%88%B6.htmlhttps:/www.modb.pro/db/30010" TargetMode="External"/><Relationship Id="rId2" Type="http://schemas.openxmlformats.org/officeDocument/2006/relationships/hyperlink" Target="https://www.opengauss.org/zh/docs/3.1.0/docs/Developerguide/%E4%BA%8B%E5%8A%A1%E6%8E%A7%E5%88%B6.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modb.pro/doc/46420" TargetMode="External"/><Relationship Id="rId2" Type="http://schemas.openxmlformats.org/officeDocument/2006/relationships/hyperlink" Target="https://www.opengauss.org/zh/docs/3.1.0/docs/Administratorguide/%E5%A4%87%E4%BB%BD%E4%B8%8E%E6%81%A2%E5%A4%8D.html"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modb.pro/db/30794" TargetMode="External"/><Relationship Id="rId2" Type="http://schemas.openxmlformats.org/officeDocument/2006/relationships/hyperlink" Target="https://www.opengauss.org/zh/docs/3.1.0/docs/Developerguide/%E6%A3%80%E6%9F%A5%E7%82%B9.html" TargetMode="External"/><Relationship Id="rId1" Type="http://schemas.openxmlformats.org/officeDocument/2006/relationships/slideLayout" Target="../slideLayouts/slideLayout2.xml"/><Relationship Id="rId4" Type="http://schemas.openxmlformats.org/officeDocument/2006/relationships/hyperlink" Target="https://www.modb.pro/db/214502"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3" Type="http://schemas.openxmlformats.org/officeDocument/2006/relationships/hyperlink" Target="https://www.modb.pro/db/30014" TargetMode="External"/><Relationship Id="rId2" Type="http://schemas.openxmlformats.org/officeDocument/2006/relationships/hyperlink" Target="https://www.opengauss.org/zh/docs/3.1.0/docs/CharacteristicDescription/%E4%B8%BB%E5%A4%87%E6%9C%BA.html" TargetMode="External"/><Relationship Id="rId1" Type="http://schemas.openxmlformats.org/officeDocument/2006/relationships/slideLayout" Target="../slideLayouts/slideLayout2.xml"/><Relationship Id="rId4" Type="http://schemas.openxmlformats.org/officeDocument/2006/relationships/hyperlink" Target="https://www.modb.pro/db/31066"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3B3A9379-A7F0-473C-A8D9-BC37FEB8742C}"/>
              </a:ext>
            </a:extLst>
          </p:cNvPr>
          <p:cNvSpPr>
            <a:spLocks noGrp="1"/>
          </p:cNvSpPr>
          <p:nvPr>
            <p:ph type="subTitle" idx="1"/>
          </p:nvPr>
        </p:nvSpPr>
        <p:spPr/>
        <p:txBody>
          <a:bodyPr/>
          <a:lstStyle/>
          <a:p>
            <a:r>
              <a:rPr lang="zh-CN" altLang="en-US"/>
              <a:t>苗茹</a:t>
            </a:r>
            <a:endParaRPr lang="en-US" altLang="zh-CN"/>
          </a:p>
          <a:p>
            <a:r>
              <a:rPr lang="zh-CN" altLang="en-US"/>
              <a:t>河南大学计算机与信息工程学院</a:t>
            </a:r>
            <a:endParaRPr lang="en-US" altLang="zh-CN" dirty="0"/>
          </a:p>
        </p:txBody>
      </p:sp>
      <p:sp>
        <p:nvSpPr>
          <p:cNvPr id="2" name="标题 1">
            <a:extLst>
              <a:ext uri="{FF2B5EF4-FFF2-40B4-BE49-F238E27FC236}">
                <a16:creationId xmlns:a16="http://schemas.microsoft.com/office/drawing/2014/main" id="{1F55F539-9931-4D3D-AF16-2BD782C59D02}"/>
              </a:ext>
            </a:extLst>
          </p:cNvPr>
          <p:cNvSpPr>
            <a:spLocks noGrp="1"/>
          </p:cNvSpPr>
          <p:nvPr>
            <p:ph type="ctrTitle"/>
          </p:nvPr>
        </p:nvSpPr>
        <p:spPr/>
        <p:txBody>
          <a:bodyPr/>
          <a:lstStyle/>
          <a:p>
            <a:r>
              <a:rPr lang="zh-CN" altLang="en-US" dirty="0"/>
              <a:t>第十章  数据库恢复技术</a:t>
            </a:r>
          </a:p>
        </p:txBody>
      </p:sp>
      <p:sp>
        <p:nvSpPr>
          <p:cNvPr id="6" name="矩形 5">
            <a:extLst>
              <a:ext uri="{FF2B5EF4-FFF2-40B4-BE49-F238E27FC236}">
                <a16:creationId xmlns:a16="http://schemas.microsoft.com/office/drawing/2014/main" id="{A09BE498-7047-40C7-9402-B5B2F69DF31E}"/>
              </a:ext>
            </a:extLst>
          </p:cNvPr>
          <p:cNvSpPr/>
          <p:nvPr/>
        </p:nvSpPr>
        <p:spPr>
          <a:xfrm>
            <a:off x="208551" y="894417"/>
            <a:ext cx="4801314" cy="646331"/>
          </a:xfrm>
          <a:prstGeom prst="rect">
            <a:avLst/>
          </a:prstGeom>
        </p:spPr>
        <p:txBody>
          <a:bodyPr wrap="none">
            <a:spAutoFit/>
          </a:bodyPr>
          <a:lstStyle/>
          <a:p>
            <a:r>
              <a:rPr lang="zh-CN" altLang="en-US" sz="3600" dirty="0"/>
              <a:t>数据库系统原理及应用</a:t>
            </a:r>
          </a:p>
        </p:txBody>
      </p:sp>
    </p:spTree>
    <p:extLst>
      <p:ext uri="{BB962C8B-B14F-4D97-AF65-F5344CB8AC3E}">
        <p14:creationId xmlns:p14="http://schemas.microsoft.com/office/powerpoint/2010/main" val="1323493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373761">
            <a:extLst>
              <a:ext uri="{FF2B5EF4-FFF2-40B4-BE49-F238E27FC236}">
                <a16:creationId xmlns:a16="http://schemas.microsoft.com/office/drawing/2014/main" id="{A16AFB6F-B294-4323-9651-454493722E31}"/>
              </a:ext>
            </a:extLst>
          </p:cNvPr>
          <p:cNvSpPr>
            <a:spLocks noGrp="1" noChangeArrowheads="1"/>
          </p:cNvSpPr>
          <p:nvPr>
            <p:ph type="title"/>
          </p:nvPr>
        </p:nvSpPr>
        <p:spPr/>
        <p:txBody>
          <a:bodyPr/>
          <a:lstStyle/>
          <a:p>
            <a:r>
              <a:rPr lang="zh-CN" altLang="en-US" dirty="0"/>
              <a:t>第十章  数据库恢复技术</a:t>
            </a:r>
          </a:p>
        </p:txBody>
      </p:sp>
      <p:sp>
        <p:nvSpPr>
          <p:cNvPr id="21507" name="文本占位符 373762">
            <a:extLst>
              <a:ext uri="{FF2B5EF4-FFF2-40B4-BE49-F238E27FC236}">
                <a16:creationId xmlns:a16="http://schemas.microsoft.com/office/drawing/2014/main" id="{82ACEA5D-FA67-4CB8-B176-998C8E830984}"/>
              </a:ext>
            </a:extLst>
          </p:cNvPr>
          <p:cNvSpPr>
            <a:spLocks noGrp="1" noChangeArrowheads="1"/>
          </p:cNvSpPr>
          <p:nvPr>
            <p:ph idx="1"/>
          </p:nvPr>
        </p:nvSpPr>
        <p:spPr/>
        <p:txBody>
          <a:bodyPr/>
          <a:lstStyle/>
          <a:p>
            <a:r>
              <a:rPr lang="en-US" altLang="zh-CN" dirty="0"/>
              <a:t>10.1 </a:t>
            </a:r>
            <a:r>
              <a:rPr lang="zh-CN" altLang="en-US" dirty="0"/>
              <a:t>事务的基本概念</a:t>
            </a:r>
          </a:p>
          <a:p>
            <a:r>
              <a:rPr lang="en-US" altLang="zh-CN" dirty="0"/>
              <a:t>10.2 </a:t>
            </a:r>
            <a:r>
              <a:rPr lang="zh-CN" altLang="en-US" dirty="0"/>
              <a:t>数据库恢复概述</a:t>
            </a:r>
          </a:p>
          <a:p>
            <a:r>
              <a:rPr lang="en-US" altLang="zh-CN" dirty="0"/>
              <a:t>10.3 </a:t>
            </a:r>
            <a:r>
              <a:rPr lang="zh-CN" altLang="en-US" dirty="0"/>
              <a:t>故障的种类</a:t>
            </a:r>
          </a:p>
          <a:p>
            <a:r>
              <a:rPr lang="en-US" altLang="zh-CN" dirty="0"/>
              <a:t>10.4 </a:t>
            </a:r>
            <a:r>
              <a:rPr lang="zh-CN" altLang="en-US" dirty="0"/>
              <a:t>恢复的实现技术</a:t>
            </a:r>
          </a:p>
          <a:p>
            <a:r>
              <a:rPr lang="en-US" altLang="zh-CN" dirty="0"/>
              <a:t>10.5 </a:t>
            </a:r>
            <a:r>
              <a:rPr lang="zh-CN" altLang="en-US" dirty="0"/>
              <a:t>恢复策略</a:t>
            </a:r>
          </a:p>
          <a:p>
            <a:r>
              <a:rPr lang="en-US" altLang="zh-CN" dirty="0"/>
              <a:t>10.6 </a:t>
            </a:r>
            <a:r>
              <a:rPr lang="zh-CN" altLang="en-US" dirty="0"/>
              <a:t>具有检查点的恢复技术</a:t>
            </a:r>
          </a:p>
          <a:p>
            <a:r>
              <a:rPr lang="en-US" altLang="zh-CN" dirty="0"/>
              <a:t>10.7 </a:t>
            </a:r>
            <a:r>
              <a:rPr lang="zh-CN" altLang="en-US" dirty="0"/>
              <a:t>数据库镜像</a:t>
            </a:r>
          </a:p>
          <a:p>
            <a:r>
              <a:rPr lang="en-US" altLang="zh-CN" dirty="0"/>
              <a:t>10.8 </a:t>
            </a:r>
            <a:r>
              <a:rPr lang="zh-CN" altLang="en-US" dirty="0"/>
              <a:t>小结</a:t>
            </a:r>
          </a:p>
        </p:txBody>
      </p:sp>
      <p:sp>
        <p:nvSpPr>
          <p:cNvPr id="2" name="灯片编号占位符 1">
            <a:extLst>
              <a:ext uri="{FF2B5EF4-FFF2-40B4-BE49-F238E27FC236}">
                <a16:creationId xmlns:a16="http://schemas.microsoft.com/office/drawing/2014/main" id="{D7C4268A-AA42-49EF-975B-22D450A1B823}"/>
              </a:ext>
            </a:extLst>
          </p:cNvPr>
          <p:cNvSpPr>
            <a:spLocks noGrp="1"/>
          </p:cNvSpPr>
          <p:nvPr>
            <p:ph type="sldNum" sz="quarter" idx="12"/>
          </p:nvPr>
        </p:nvSpPr>
        <p:spPr/>
        <p:txBody>
          <a:bodyPr/>
          <a:lstStyle/>
          <a:p>
            <a:fld id="{47C9E101-E51D-431E-84FA-C029B8655B60}" type="slidenum">
              <a:rPr lang="zh-CN" altLang="en-US" smtClean="0"/>
              <a:pPr/>
              <a:t>2</a:t>
            </a:fld>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C4AC72-8995-4864-8307-09BAAB27AFFA}"/>
              </a:ext>
            </a:extLst>
          </p:cNvPr>
          <p:cNvSpPr>
            <a:spLocks noGrp="1"/>
          </p:cNvSpPr>
          <p:nvPr>
            <p:ph type="title"/>
          </p:nvPr>
        </p:nvSpPr>
        <p:spPr/>
        <p:txBody>
          <a:bodyPr/>
          <a:lstStyle/>
          <a:p>
            <a:r>
              <a:rPr lang="en-US" altLang="zh-CN" dirty="0"/>
              <a:t>10.1 </a:t>
            </a:r>
            <a:r>
              <a:rPr lang="zh-CN" altLang="en-US" dirty="0"/>
              <a:t>事务的基本概念</a:t>
            </a:r>
          </a:p>
        </p:txBody>
      </p:sp>
      <p:sp>
        <p:nvSpPr>
          <p:cNvPr id="3" name="内容占位符 2">
            <a:extLst>
              <a:ext uri="{FF2B5EF4-FFF2-40B4-BE49-F238E27FC236}">
                <a16:creationId xmlns:a16="http://schemas.microsoft.com/office/drawing/2014/main" id="{1C9BE99E-961E-4CC6-9686-21CBFD3880A9}"/>
              </a:ext>
            </a:extLst>
          </p:cNvPr>
          <p:cNvSpPr>
            <a:spLocks noGrp="1"/>
          </p:cNvSpPr>
          <p:nvPr>
            <p:ph idx="1"/>
          </p:nvPr>
        </p:nvSpPr>
        <p:spPr/>
        <p:txBody>
          <a:bodyPr>
            <a:normAutofit fontScale="92500" lnSpcReduction="20000"/>
          </a:bodyPr>
          <a:lstStyle/>
          <a:p>
            <a:pPr>
              <a:lnSpc>
                <a:spcPct val="120000"/>
              </a:lnSpc>
            </a:pPr>
            <a:r>
              <a:rPr lang="zh-CN" altLang="en-US" sz="2800" dirty="0">
                <a:solidFill>
                  <a:srgbClr val="FF0000"/>
                </a:solidFill>
              </a:rPr>
              <a:t>事务处理</a:t>
            </a:r>
            <a:r>
              <a:rPr lang="zh-CN" altLang="en-US" sz="2800" dirty="0"/>
              <a:t>也称</a:t>
            </a:r>
            <a:r>
              <a:rPr lang="zh-CN" altLang="en-US" sz="2800" dirty="0">
                <a:solidFill>
                  <a:srgbClr val="0000FF"/>
                </a:solidFill>
              </a:rPr>
              <a:t>联机事务处理</a:t>
            </a:r>
            <a:r>
              <a:rPr lang="en-US" altLang="zh-CN" sz="2800" dirty="0"/>
              <a:t>(Online transaction processing, </a:t>
            </a:r>
            <a:r>
              <a:rPr lang="en-US" altLang="zh-CN" sz="2800" dirty="0">
                <a:solidFill>
                  <a:srgbClr val="FF0000"/>
                </a:solidFill>
              </a:rPr>
              <a:t>OLTP</a:t>
            </a:r>
            <a:r>
              <a:rPr lang="en-US" altLang="zh-CN" sz="2800" dirty="0"/>
              <a:t>)</a:t>
            </a:r>
          </a:p>
          <a:p>
            <a:pPr lvl="1">
              <a:lnSpc>
                <a:spcPct val="120000"/>
              </a:lnSpc>
            </a:pPr>
            <a:r>
              <a:rPr lang="zh-CN" altLang="en-US" sz="2400" dirty="0"/>
              <a:t>事务处理技术主要包括</a:t>
            </a:r>
            <a:r>
              <a:rPr lang="zh-CN" altLang="en-US" sz="2400" dirty="0">
                <a:solidFill>
                  <a:srgbClr val="FF0000"/>
                </a:solidFill>
              </a:rPr>
              <a:t>数据库恢复技术</a:t>
            </a:r>
            <a:r>
              <a:rPr lang="zh-CN" altLang="en-US" sz="2400" dirty="0"/>
              <a:t>和</a:t>
            </a:r>
            <a:r>
              <a:rPr lang="zh-CN" altLang="en-US" sz="2400" dirty="0">
                <a:solidFill>
                  <a:srgbClr val="FF0000"/>
                </a:solidFill>
              </a:rPr>
              <a:t>并发控制技术</a:t>
            </a:r>
            <a:endParaRPr lang="en-US" altLang="zh-CN" sz="2400" dirty="0">
              <a:solidFill>
                <a:srgbClr val="FF0000"/>
              </a:solidFill>
            </a:endParaRPr>
          </a:p>
          <a:p>
            <a:pPr lvl="1">
              <a:lnSpc>
                <a:spcPct val="120000"/>
              </a:lnSpc>
            </a:pPr>
            <a:r>
              <a:rPr lang="zh-CN" altLang="en-US" sz="2400" dirty="0">
                <a:solidFill>
                  <a:srgbClr val="FF0000"/>
                </a:solidFill>
              </a:rPr>
              <a:t>事务是恢复与并发控制的基本单位</a:t>
            </a:r>
            <a:endParaRPr lang="en-US" altLang="zh-CN" sz="2400" dirty="0">
              <a:solidFill>
                <a:srgbClr val="FF0000"/>
              </a:solidFill>
            </a:endParaRPr>
          </a:p>
          <a:p>
            <a:pPr lvl="1">
              <a:lnSpc>
                <a:spcPct val="120000"/>
              </a:lnSpc>
            </a:pPr>
            <a:endParaRPr lang="en-US" altLang="zh-CN" sz="800" dirty="0">
              <a:solidFill>
                <a:srgbClr val="FF0000"/>
              </a:solidFill>
            </a:endParaRPr>
          </a:p>
          <a:p>
            <a:pPr>
              <a:lnSpc>
                <a:spcPct val="120000"/>
              </a:lnSpc>
            </a:pPr>
            <a:r>
              <a:rPr lang="zh-CN" altLang="en-US" sz="2800" dirty="0">
                <a:solidFill>
                  <a:srgbClr val="0000FF"/>
                </a:solidFill>
              </a:rPr>
              <a:t>事务</a:t>
            </a:r>
            <a:r>
              <a:rPr lang="en-US" altLang="zh-CN" sz="2800" dirty="0">
                <a:solidFill>
                  <a:srgbClr val="0000FF"/>
                </a:solidFill>
              </a:rPr>
              <a:t>(Transaction)</a:t>
            </a:r>
            <a:endParaRPr lang="zh-CN" altLang="en-US" sz="2800" dirty="0">
              <a:solidFill>
                <a:srgbClr val="0000FF"/>
              </a:solidFill>
            </a:endParaRPr>
          </a:p>
          <a:p>
            <a:pPr lvl="1">
              <a:lnSpc>
                <a:spcPct val="120000"/>
              </a:lnSpc>
            </a:pPr>
            <a:r>
              <a:rPr lang="zh-CN" altLang="en-US" sz="2400" dirty="0"/>
              <a:t>事务是用户定义的一个数据库操作序列，这些操作要么全做，要么全不做，是一个</a:t>
            </a:r>
            <a:r>
              <a:rPr lang="zh-CN" altLang="en-US" sz="2400" dirty="0">
                <a:solidFill>
                  <a:srgbClr val="FF0000"/>
                </a:solidFill>
              </a:rPr>
              <a:t>不可分割的工作单位</a:t>
            </a:r>
            <a:r>
              <a:rPr lang="zh-CN" altLang="en-US" sz="2400" dirty="0"/>
              <a:t>。</a:t>
            </a:r>
            <a:endParaRPr lang="en-US" altLang="zh-CN" sz="2400" dirty="0"/>
          </a:p>
          <a:p>
            <a:pPr lvl="1">
              <a:lnSpc>
                <a:spcPct val="120000"/>
              </a:lnSpc>
            </a:pPr>
            <a:endParaRPr lang="en-US" altLang="zh-CN" sz="800" dirty="0">
              <a:solidFill>
                <a:srgbClr val="FF0000"/>
              </a:solidFill>
            </a:endParaRPr>
          </a:p>
          <a:p>
            <a:pPr>
              <a:lnSpc>
                <a:spcPct val="120000"/>
              </a:lnSpc>
            </a:pPr>
            <a:r>
              <a:rPr lang="zh-CN" altLang="en-US" sz="2800" dirty="0">
                <a:solidFill>
                  <a:srgbClr val="0000FF"/>
                </a:solidFill>
              </a:rPr>
              <a:t>事务与程序</a:t>
            </a:r>
          </a:p>
          <a:p>
            <a:pPr lvl="1">
              <a:lnSpc>
                <a:spcPct val="120000"/>
              </a:lnSpc>
            </a:pPr>
            <a:r>
              <a:rPr lang="zh-CN" altLang="en-US" sz="2400" dirty="0"/>
              <a:t>事务是数据库应用程序的基本逻辑单元</a:t>
            </a:r>
            <a:endParaRPr lang="en-US" altLang="zh-CN" sz="2400" dirty="0"/>
          </a:p>
          <a:p>
            <a:pPr lvl="1">
              <a:lnSpc>
                <a:spcPct val="120000"/>
              </a:lnSpc>
            </a:pPr>
            <a:r>
              <a:rPr lang="zh-CN" altLang="en-US" sz="2400" dirty="0"/>
              <a:t>在关系数据库中，一个事务可以是一条</a:t>
            </a:r>
            <a:r>
              <a:rPr lang="en-US" altLang="zh-CN" sz="2400" dirty="0"/>
              <a:t>SQL</a:t>
            </a:r>
            <a:r>
              <a:rPr lang="zh-CN" altLang="en-US" sz="2400" dirty="0"/>
              <a:t>语句，一组</a:t>
            </a:r>
            <a:r>
              <a:rPr lang="en-US" altLang="zh-CN" sz="2400" dirty="0"/>
              <a:t>SQL</a:t>
            </a:r>
            <a:r>
              <a:rPr lang="zh-CN" altLang="en-US" sz="2400" dirty="0"/>
              <a:t>语句或整个程序</a:t>
            </a:r>
            <a:endParaRPr lang="en-US" altLang="zh-CN" sz="2400" dirty="0"/>
          </a:p>
          <a:p>
            <a:pPr lvl="1">
              <a:lnSpc>
                <a:spcPct val="120000"/>
              </a:lnSpc>
            </a:pPr>
            <a:r>
              <a:rPr lang="zh-CN" altLang="en-US" sz="2400" dirty="0"/>
              <a:t>一个程序通常包含多个事务</a:t>
            </a:r>
          </a:p>
        </p:txBody>
      </p:sp>
      <p:sp>
        <p:nvSpPr>
          <p:cNvPr id="4" name="灯片编号占位符 3">
            <a:extLst>
              <a:ext uri="{FF2B5EF4-FFF2-40B4-BE49-F238E27FC236}">
                <a16:creationId xmlns:a16="http://schemas.microsoft.com/office/drawing/2014/main" id="{02CB2BE5-50D5-4EE4-BF13-C693A9A294D8}"/>
              </a:ext>
            </a:extLst>
          </p:cNvPr>
          <p:cNvSpPr>
            <a:spLocks noGrp="1"/>
          </p:cNvSpPr>
          <p:nvPr>
            <p:ph type="sldNum" sz="quarter" idx="12"/>
          </p:nvPr>
        </p:nvSpPr>
        <p:spPr/>
        <p:txBody>
          <a:bodyPr/>
          <a:lstStyle/>
          <a:p>
            <a:fld id="{47C9E101-E51D-431E-84FA-C029B8655B60}" type="slidenum">
              <a:rPr lang="zh-CN" altLang="en-US" smtClean="0"/>
              <a:pPr/>
              <a:t>3</a:t>
            </a:fld>
            <a:endParaRPr lang="zh-CN" altLang="en-US" dirty="0"/>
          </a:p>
        </p:txBody>
      </p:sp>
    </p:spTree>
    <p:extLst>
      <p:ext uri="{BB962C8B-B14F-4D97-AF65-F5344CB8AC3E}">
        <p14:creationId xmlns:p14="http://schemas.microsoft.com/office/powerpoint/2010/main" val="2387100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5915F25-EF79-40B3-AA58-11B7F17917C0}"/>
              </a:ext>
            </a:extLst>
          </p:cNvPr>
          <p:cNvSpPr>
            <a:spLocks noGrp="1"/>
          </p:cNvSpPr>
          <p:nvPr>
            <p:ph type="sldNum" sz="quarter" idx="12"/>
          </p:nvPr>
        </p:nvSpPr>
        <p:spPr/>
        <p:txBody>
          <a:bodyPr/>
          <a:lstStyle/>
          <a:p>
            <a:fld id="{E63F6D5D-9733-4D44-9C56-AEFEDD5A4BA7}" type="slidenum">
              <a:rPr lang="en-US" smtClean="0"/>
              <a:pPr/>
              <a:t>4</a:t>
            </a:fld>
            <a:endParaRPr lang="en-US" dirty="0"/>
          </a:p>
        </p:txBody>
      </p:sp>
      <p:sp>
        <p:nvSpPr>
          <p:cNvPr id="6" name="内容占位符 5">
            <a:extLst>
              <a:ext uri="{FF2B5EF4-FFF2-40B4-BE49-F238E27FC236}">
                <a16:creationId xmlns:a16="http://schemas.microsoft.com/office/drawing/2014/main" id="{6E3390FF-990C-403D-A4FB-E34AC7EC008A}"/>
              </a:ext>
            </a:extLst>
          </p:cNvPr>
          <p:cNvSpPr>
            <a:spLocks noGrp="1"/>
          </p:cNvSpPr>
          <p:nvPr>
            <p:ph idx="1"/>
          </p:nvPr>
        </p:nvSpPr>
        <p:spPr/>
        <p:txBody>
          <a:bodyPr>
            <a:normAutofit lnSpcReduction="10000"/>
          </a:bodyPr>
          <a:lstStyle/>
          <a:p>
            <a:r>
              <a:rPr lang="zh-CN" altLang="en-US" dirty="0">
                <a:solidFill>
                  <a:srgbClr val="0000FF"/>
                </a:solidFill>
              </a:rPr>
              <a:t>定义事务的两种方式：</a:t>
            </a:r>
            <a:endParaRPr lang="en-US" altLang="zh-CN" dirty="0">
              <a:solidFill>
                <a:srgbClr val="0000FF"/>
              </a:solidFill>
            </a:endParaRPr>
          </a:p>
          <a:p>
            <a:pPr lvl="1"/>
            <a:r>
              <a:rPr lang="zh-CN" altLang="en-US" dirty="0">
                <a:solidFill>
                  <a:srgbClr val="FF0000"/>
                </a:solidFill>
              </a:rPr>
              <a:t>显式定义</a:t>
            </a:r>
            <a:endParaRPr lang="en-US" altLang="zh-CN" dirty="0">
              <a:solidFill>
                <a:srgbClr val="FF0000"/>
              </a:solidFill>
            </a:endParaRPr>
          </a:p>
          <a:p>
            <a:pPr lvl="2"/>
            <a:r>
              <a:rPr lang="zh-CN" altLang="en-US" sz="2000" dirty="0"/>
              <a:t>事务的开始和结束由用户定义</a:t>
            </a:r>
            <a:endParaRPr lang="en-US" altLang="zh-CN" sz="2000" dirty="0"/>
          </a:p>
          <a:p>
            <a:pPr lvl="2"/>
            <a:r>
              <a:rPr lang="zh-CN" altLang="en-US" sz="2000" dirty="0"/>
              <a:t>事务定义的三条主要语句：</a:t>
            </a:r>
            <a:r>
              <a:rPr lang="en-US" altLang="zh-CN" sz="2000" dirty="0">
                <a:solidFill>
                  <a:srgbClr val="FF0000"/>
                </a:solidFill>
              </a:rPr>
              <a:t>BEGIN TRANSACTION; COMMIT; ROLLBACK</a:t>
            </a:r>
          </a:p>
          <a:p>
            <a:pPr lvl="2"/>
            <a:endParaRPr lang="en-US" altLang="zh-CN" dirty="0">
              <a:solidFill>
                <a:srgbClr val="FF0000"/>
              </a:solidFill>
            </a:endParaRPr>
          </a:p>
          <a:p>
            <a:pPr lvl="2"/>
            <a:endParaRPr lang="en-US" altLang="zh-CN" dirty="0"/>
          </a:p>
          <a:p>
            <a:pPr lvl="2"/>
            <a:endParaRPr lang="en-US" altLang="zh-CN" dirty="0"/>
          </a:p>
          <a:p>
            <a:pPr lvl="2"/>
            <a:endParaRPr lang="en-US" altLang="zh-CN" dirty="0"/>
          </a:p>
          <a:p>
            <a:pPr lvl="2"/>
            <a:endParaRPr lang="en-US" altLang="zh-CN" sz="1200" dirty="0"/>
          </a:p>
          <a:p>
            <a:pPr lvl="1"/>
            <a:endParaRPr lang="en-US" altLang="zh-CN" dirty="0">
              <a:solidFill>
                <a:srgbClr val="FF0000"/>
              </a:solidFill>
            </a:endParaRPr>
          </a:p>
          <a:p>
            <a:pPr lvl="1"/>
            <a:r>
              <a:rPr lang="zh-CN" altLang="en-US" dirty="0">
                <a:solidFill>
                  <a:srgbClr val="FF0000"/>
                </a:solidFill>
              </a:rPr>
              <a:t>隐式定义</a:t>
            </a:r>
            <a:endParaRPr lang="en-US" altLang="zh-CN" dirty="0">
              <a:solidFill>
                <a:srgbClr val="FF0000"/>
              </a:solidFill>
            </a:endParaRPr>
          </a:p>
          <a:p>
            <a:pPr lvl="2"/>
            <a:r>
              <a:rPr lang="zh-CN" altLang="en-US" sz="2000" dirty="0"/>
              <a:t>当用户没有显式地定义事务时，</a:t>
            </a:r>
            <a:r>
              <a:rPr lang="en-US" altLang="zh-CN" sz="2000" dirty="0"/>
              <a:t>DBMS</a:t>
            </a:r>
            <a:r>
              <a:rPr lang="zh-CN" altLang="en-US" sz="2000" dirty="0"/>
              <a:t>按</a:t>
            </a:r>
            <a:r>
              <a:rPr lang="zh-CN" altLang="en-US" sz="2000" dirty="0">
                <a:solidFill>
                  <a:srgbClr val="FF0000"/>
                </a:solidFill>
              </a:rPr>
              <a:t>缺省规定自动划分事务</a:t>
            </a:r>
          </a:p>
          <a:p>
            <a:pPr lvl="2"/>
            <a:endParaRPr lang="zh-CN" altLang="en-US" dirty="0"/>
          </a:p>
        </p:txBody>
      </p:sp>
      <p:sp>
        <p:nvSpPr>
          <p:cNvPr id="7" name="矩形 6">
            <a:extLst>
              <a:ext uri="{FF2B5EF4-FFF2-40B4-BE49-F238E27FC236}">
                <a16:creationId xmlns:a16="http://schemas.microsoft.com/office/drawing/2014/main" id="{3CEA8299-DE88-4A04-9489-FDC9992783D5}"/>
              </a:ext>
            </a:extLst>
          </p:cNvPr>
          <p:cNvSpPr/>
          <p:nvPr/>
        </p:nvSpPr>
        <p:spPr>
          <a:xfrm>
            <a:off x="3558188" y="3200400"/>
            <a:ext cx="2537812" cy="1754326"/>
          </a:xfrm>
          <a:prstGeom prst="rect">
            <a:avLst/>
          </a:prstGeom>
          <a:ln w="3175">
            <a:solidFill>
              <a:schemeClr val="tx1"/>
            </a:solidFill>
          </a:ln>
        </p:spPr>
        <p:txBody>
          <a:bodyPr wrap="square">
            <a:spAutoFit/>
          </a:bodyPr>
          <a:lstStyle/>
          <a:p>
            <a:pPr>
              <a:lnSpc>
                <a:spcPct val="120000"/>
              </a:lnSpc>
            </a:pPr>
            <a:r>
              <a:rPr lang="en-US" altLang="zh-CN" b="1" dirty="0">
                <a:solidFill>
                  <a:srgbClr val="D60093"/>
                </a:solidFill>
                <a:latin typeface="Courier New" panose="02070309020205020404" pitchFamily="49" charset="0"/>
                <a:cs typeface="Courier New" panose="02070309020205020404" pitchFamily="49" charset="0"/>
              </a:rPr>
              <a:t>BEGIN TRANSACTION</a:t>
            </a:r>
          </a:p>
          <a:p>
            <a:pPr>
              <a:lnSpc>
                <a:spcPct val="120000"/>
              </a:lnSpc>
            </a:pPr>
            <a:r>
              <a:rPr lang="en-US" altLang="zh-CN" b="1" dirty="0">
                <a:solidFill>
                  <a:srgbClr val="0000CC"/>
                </a:solidFill>
                <a:latin typeface="Courier New" panose="02070309020205020404" pitchFamily="49" charset="0"/>
                <a:cs typeface="Courier New" panose="02070309020205020404" pitchFamily="49" charset="0"/>
              </a:rPr>
              <a:t>    SQL </a:t>
            </a:r>
            <a:r>
              <a:rPr lang="zh-CN" altLang="en-US" b="1" dirty="0">
                <a:solidFill>
                  <a:srgbClr val="0000CC"/>
                </a:solidFill>
                <a:latin typeface="Courier New" panose="02070309020205020404" pitchFamily="49" charset="0"/>
                <a:cs typeface="Courier New" panose="02070309020205020404" pitchFamily="49" charset="0"/>
              </a:rPr>
              <a:t>语句1</a:t>
            </a:r>
            <a:r>
              <a:rPr lang="en-US" altLang="zh-CN" b="1" dirty="0">
                <a:solidFill>
                  <a:srgbClr val="0000CC"/>
                </a:solidFill>
                <a:latin typeface="Courier New" panose="02070309020205020404" pitchFamily="49" charset="0"/>
                <a:cs typeface="Courier New" panose="02070309020205020404" pitchFamily="49" charset="0"/>
              </a:rPr>
              <a:t> </a:t>
            </a:r>
          </a:p>
          <a:p>
            <a:pPr>
              <a:lnSpc>
                <a:spcPct val="120000"/>
              </a:lnSpc>
            </a:pPr>
            <a:r>
              <a:rPr lang="en-US" altLang="zh-CN" b="1" dirty="0">
                <a:solidFill>
                  <a:srgbClr val="0000CC"/>
                </a:solidFill>
                <a:latin typeface="Courier New" panose="02070309020205020404" pitchFamily="49" charset="0"/>
                <a:cs typeface="Courier New" panose="02070309020205020404" pitchFamily="49" charset="0"/>
              </a:rPr>
              <a:t>    SQL </a:t>
            </a:r>
            <a:r>
              <a:rPr lang="zh-CN" altLang="en-US" b="1" dirty="0">
                <a:solidFill>
                  <a:srgbClr val="0000CC"/>
                </a:solidFill>
                <a:latin typeface="Courier New" panose="02070309020205020404" pitchFamily="49" charset="0"/>
                <a:cs typeface="Courier New" panose="02070309020205020404" pitchFamily="49" charset="0"/>
              </a:rPr>
              <a:t>语句2</a:t>
            </a:r>
            <a:endParaRPr lang="en-US" altLang="zh-CN" b="1" dirty="0">
              <a:solidFill>
                <a:srgbClr val="0000CC"/>
              </a:solidFill>
              <a:latin typeface="Courier New" panose="02070309020205020404" pitchFamily="49" charset="0"/>
              <a:cs typeface="Courier New" panose="02070309020205020404" pitchFamily="49" charset="0"/>
            </a:endParaRPr>
          </a:p>
          <a:p>
            <a:pPr>
              <a:lnSpc>
                <a:spcPct val="120000"/>
              </a:lnSpc>
            </a:pPr>
            <a:r>
              <a:rPr lang="en-US" altLang="zh-CN" b="1" dirty="0">
                <a:solidFill>
                  <a:srgbClr val="0000CC"/>
                </a:solidFill>
                <a:latin typeface="Courier New" panose="02070309020205020404" pitchFamily="49" charset="0"/>
                <a:cs typeface="Courier New" panose="02070309020205020404" pitchFamily="49" charset="0"/>
              </a:rPr>
              <a:t>    ……</a:t>
            </a:r>
          </a:p>
          <a:p>
            <a:pPr>
              <a:lnSpc>
                <a:spcPct val="120000"/>
              </a:lnSpc>
            </a:pPr>
            <a:r>
              <a:rPr lang="en-US" altLang="zh-CN" b="1" dirty="0">
                <a:solidFill>
                  <a:srgbClr val="D60093"/>
                </a:solidFill>
                <a:latin typeface="Courier New" panose="02070309020205020404" pitchFamily="49" charset="0"/>
                <a:cs typeface="Courier New" panose="02070309020205020404" pitchFamily="49" charset="0"/>
              </a:rPr>
              <a:t>COMMIT </a:t>
            </a:r>
            <a:r>
              <a:rPr lang="en-US" altLang="zh-CN" b="1" dirty="0">
                <a:solidFill>
                  <a:srgbClr val="0000CC"/>
                </a:solidFill>
                <a:latin typeface="Courier New" panose="02070309020205020404" pitchFamily="49" charset="0"/>
                <a:cs typeface="Courier New" panose="02070309020205020404" pitchFamily="49" charset="0"/>
              </a:rPr>
              <a:t>                                      </a:t>
            </a:r>
          </a:p>
        </p:txBody>
      </p:sp>
      <p:sp>
        <p:nvSpPr>
          <p:cNvPr id="8" name="矩形 7">
            <a:extLst>
              <a:ext uri="{FF2B5EF4-FFF2-40B4-BE49-F238E27FC236}">
                <a16:creationId xmlns:a16="http://schemas.microsoft.com/office/drawing/2014/main" id="{3189C351-B599-4AFB-A37D-4C264A82B69D}"/>
              </a:ext>
            </a:extLst>
          </p:cNvPr>
          <p:cNvSpPr/>
          <p:nvPr/>
        </p:nvSpPr>
        <p:spPr>
          <a:xfrm>
            <a:off x="6187088" y="3200400"/>
            <a:ext cx="2537812" cy="1754326"/>
          </a:xfrm>
          <a:prstGeom prst="rect">
            <a:avLst/>
          </a:prstGeom>
          <a:ln w="3175">
            <a:solidFill>
              <a:schemeClr val="tx1"/>
            </a:solidFill>
          </a:ln>
        </p:spPr>
        <p:txBody>
          <a:bodyPr wrap="square">
            <a:spAutoFit/>
          </a:bodyPr>
          <a:lstStyle/>
          <a:p>
            <a:pPr>
              <a:lnSpc>
                <a:spcPct val="120000"/>
              </a:lnSpc>
            </a:pPr>
            <a:r>
              <a:rPr lang="en-US" altLang="zh-CN" b="1" dirty="0">
                <a:solidFill>
                  <a:srgbClr val="D60093"/>
                </a:solidFill>
                <a:latin typeface="Courier New" panose="02070309020205020404" pitchFamily="49" charset="0"/>
                <a:cs typeface="Courier New" panose="02070309020205020404" pitchFamily="49" charset="0"/>
              </a:rPr>
              <a:t>BEGIN TRANSACTION</a:t>
            </a:r>
          </a:p>
          <a:p>
            <a:pPr>
              <a:lnSpc>
                <a:spcPct val="120000"/>
              </a:lnSpc>
            </a:pPr>
            <a:r>
              <a:rPr lang="en-US" altLang="zh-CN" b="1" dirty="0">
                <a:solidFill>
                  <a:srgbClr val="0000CC"/>
                </a:solidFill>
                <a:latin typeface="Courier New" panose="02070309020205020404" pitchFamily="49" charset="0"/>
                <a:cs typeface="Courier New" panose="02070309020205020404" pitchFamily="49" charset="0"/>
              </a:rPr>
              <a:t>    SQL </a:t>
            </a:r>
            <a:r>
              <a:rPr lang="zh-CN" altLang="en-US" b="1" dirty="0">
                <a:solidFill>
                  <a:srgbClr val="0000CC"/>
                </a:solidFill>
                <a:latin typeface="Courier New" panose="02070309020205020404" pitchFamily="49" charset="0"/>
                <a:cs typeface="Courier New" panose="02070309020205020404" pitchFamily="49" charset="0"/>
              </a:rPr>
              <a:t>语句1</a:t>
            </a:r>
            <a:r>
              <a:rPr lang="en-US" altLang="zh-CN" b="1" dirty="0">
                <a:solidFill>
                  <a:srgbClr val="0000CC"/>
                </a:solidFill>
                <a:latin typeface="Courier New" panose="02070309020205020404" pitchFamily="49" charset="0"/>
                <a:cs typeface="Courier New" panose="02070309020205020404" pitchFamily="49" charset="0"/>
              </a:rPr>
              <a:t> </a:t>
            </a:r>
          </a:p>
          <a:p>
            <a:pPr>
              <a:lnSpc>
                <a:spcPct val="120000"/>
              </a:lnSpc>
            </a:pPr>
            <a:r>
              <a:rPr lang="en-US" altLang="zh-CN" b="1" dirty="0">
                <a:solidFill>
                  <a:srgbClr val="0000CC"/>
                </a:solidFill>
                <a:latin typeface="Courier New" panose="02070309020205020404" pitchFamily="49" charset="0"/>
                <a:cs typeface="Courier New" panose="02070309020205020404" pitchFamily="49" charset="0"/>
              </a:rPr>
              <a:t>    SQL </a:t>
            </a:r>
            <a:r>
              <a:rPr lang="zh-CN" altLang="en-US" b="1" dirty="0">
                <a:solidFill>
                  <a:srgbClr val="0000CC"/>
                </a:solidFill>
                <a:latin typeface="Courier New" panose="02070309020205020404" pitchFamily="49" charset="0"/>
                <a:cs typeface="Courier New" panose="02070309020205020404" pitchFamily="49" charset="0"/>
              </a:rPr>
              <a:t>语句2</a:t>
            </a:r>
            <a:endParaRPr lang="en-US" altLang="zh-CN" b="1" dirty="0">
              <a:solidFill>
                <a:srgbClr val="0000CC"/>
              </a:solidFill>
              <a:latin typeface="Courier New" panose="02070309020205020404" pitchFamily="49" charset="0"/>
              <a:cs typeface="Courier New" panose="02070309020205020404" pitchFamily="49" charset="0"/>
            </a:endParaRPr>
          </a:p>
          <a:p>
            <a:pPr>
              <a:lnSpc>
                <a:spcPct val="120000"/>
              </a:lnSpc>
            </a:pPr>
            <a:r>
              <a:rPr lang="en-US" altLang="zh-CN" b="1" dirty="0">
                <a:solidFill>
                  <a:srgbClr val="0000CC"/>
                </a:solidFill>
                <a:latin typeface="Courier New" panose="02070309020205020404" pitchFamily="49" charset="0"/>
                <a:cs typeface="Courier New" panose="02070309020205020404" pitchFamily="49" charset="0"/>
              </a:rPr>
              <a:t>    ……</a:t>
            </a:r>
          </a:p>
          <a:p>
            <a:pPr>
              <a:lnSpc>
                <a:spcPct val="120000"/>
              </a:lnSpc>
            </a:pPr>
            <a:r>
              <a:rPr lang="en-US" altLang="zh-CN" b="1" dirty="0">
                <a:solidFill>
                  <a:srgbClr val="D60093"/>
                </a:solidFill>
                <a:latin typeface="Courier New" panose="02070309020205020404" pitchFamily="49" charset="0"/>
                <a:cs typeface="Courier New" panose="02070309020205020404" pitchFamily="49" charset="0"/>
              </a:rPr>
              <a:t>ROLLBACK</a:t>
            </a:r>
            <a:r>
              <a:rPr lang="en-US" altLang="zh-CN" b="1" dirty="0">
                <a:solidFill>
                  <a:srgbClr val="0000CC"/>
                </a:solidFill>
                <a:latin typeface="Courier New" panose="02070309020205020404" pitchFamily="49" charset="0"/>
                <a:cs typeface="Courier New" panose="02070309020205020404" pitchFamily="49" charset="0"/>
              </a:rPr>
              <a:t>                                      </a:t>
            </a:r>
          </a:p>
        </p:txBody>
      </p:sp>
      <p:sp>
        <p:nvSpPr>
          <p:cNvPr id="9" name="文本框 8">
            <a:extLst>
              <a:ext uri="{FF2B5EF4-FFF2-40B4-BE49-F238E27FC236}">
                <a16:creationId xmlns:a16="http://schemas.microsoft.com/office/drawing/2014/main" id="{ADA42570-754A-42B6-B259-0D55875F0AF7}"/>
              </a:ext>
            </a:extLst>
          </p:cNvPr>
          <p:cNvSpPr txBox="1"/>
          <p:nvPr/>
        </p:nvSpPr>
        <p:spPr>
          <a:xfrm>
            <a:off x="907905" y="3176081"/>
            <a:ext cx="2140571" cy="1754326"/>
          </a:xfrm>
          <a:prstGeom prst="rect">
            <a:avLst/>
          </a:prstGeom>
          <a:noFill/>
        </p:spPr>
        <p:txBody>
          <a:bodyPr wrap="square" rtlCol="0">
            <a:spAutoFit/>
          </a:bodyPr>
          <a:lstStyle/>
          <a:p>
            <a:pPr marL="177800" indent="-177800">
              <a:lnSpc>
                <a:spcPct val="150000"/>
              </a:lnSpc>
              <a:buFont typeface="Arial" panose="020B0604020202020204" pitchFamily="34" charset="0"/>
              <a:buChar char="•"/>
            </a:pPr>
            <a:r>
              <a:rPr lang="zh-CN" altLang="en-US" sz="1200" b="1" dirty="0">
                <a:solidFill>
                  <a:srgbClr val="0000FF"/>
                </a:solidFill>
                <a:latin typeface="微软雅黑" panose="020B0503020204020204" pitchFamily="34" charset="-122"/>
                <a:ea typeface="微软雅黑" panose="020B0503020204020204" pitchFamily="34" charset="-122"/>
              </a:rPr>
              <a:t>事务正常结束</a:t>
            </a:r>
            <a:endParaRPr lang="en-US" altLang="zh-CN" sz="1200" b="1" dirty="0">
              <a:solidFill>
                <a:srgbClr val="0000FF"/>
              </a:solidFill>
              <a:latin typeface="微软雅黑" panose="020B0503020204020204" pitchFamily="34" charset="-122"/>
              <a:ea typeface="微软雅黑" panose="020B0503020204020204" pitchFamily="34" charset="-122"/>
            </a:endParaRPr>
          </a:p>
          <a:p>
            <a:pPr marL="177800" indent="-177800">
              <a:lnSpc>
                <a:spcPct val="150000"/>
              </a:lnSpc>
              <a:buFont typeface="Arial" panose="020B0604020202020204" pitchFamily="34" charset="0"/>
              <a:buChar char="•"/>
            </a:pPr>
            <a:r>
              <a:rPr lang="zh-CN" altLang="en-US" sz="1200" b="1" dirty="0">
                <a:solidFill>
                  <a:srgbClr val="0000FF"/>
                </a:solidFill>
                <a:latin typeface="微软雅黑" panose="020B0503020204020204" pitchFamily="34" charset="-122"/>
                <a:ea typeface="微软雅黑" panose="020B0503020204020204" pitchFamily="34" charset="-122"/>
              </a:rPr>
              <a:t>提交事务的所有操作</a:t>
            </a:r>
            <a:endParaRPr lang="en-US" altLang="zh-CN" sz="1200" b="1" dirty="0">
              <a:solidFill>
                <a:srgbClr val="0000FF"/>
              </a:solidFill>
              <a:latin typeface="微软雅黑" panose="020B0503020204020204" pitchFamily="34" charset="-122"/>
              <a:ea typeface="微软雅黑" panose="020B0503020204020204" pitchFamily="34" charset="-122"/>
            </a:endParaRPr>
          </a:p>
          <a:p>
            <a:pPr>
              <a:lnSpc>
                <a:spcPct val="150000"/>
              </a:lnSpc>
            </a:pPr>
            <a:r>
              <a:rPr lang="en-US" altLang="zh-CN" sz="1200" b="1">
                <a:solidFill>
                  <a:srgbClr val="FF0000"/>
                </a:solidFill>
                <a:latin typeface="微软雅黑" panose="020B0503020204020204" pitchFamily="34" charset="-122"/>
                <a:ea typeface="微软雅黑" panose="020B0503020204020204" pitchFamily="34" charset="-122"/>
              </a:rPr>
              <a:t>    (</a:t>
            </a:r>
            <a:r>
              <a:rPr lang="zh-CN" altLang="en-US" sz="1200" b="1" dirty="0">
                <a:solidFill>
                  <a:srgbClr val="FF0000"/>
                </a:solidFill>
                <a:latin typeface="微软雅黑" panose="020B0503020204020204" pitchFamily="34" charset="-122"/>
                <a:ea typeface="微软雅黑" panose="020B0503020204020204" pitchFamily="34" charset="-122"/>
              </a:rPr>
              <a:t>读</a:t>
            </a:r>
            <a:r>
              <a:rPr lang="en-US" altLang="zh-CN" sz="1200" b="1" dirty="0">
                <a:solidFill>
                  <a:srgbClr val="FF0000"/>
                </a:solidFill>
                <a:latin typeface="微软雅黑" panose="020B0503020204020204" pitchFamily="34" charset="-122"/>
                <a:ea typeface="微软雅黑" panose="020B0503020204020204" pitchFamily="34" charset="-122"/>
              </a:rPr>
              <a:t>+</a:t>
            </a:r>
            <a:r>
              <a:rPr lang="zh-CN" altLang="en-US" sz="1200" b="1" dirty="0">
                <a:solidFill>
                  <a:srgbClr val="FF0000"/>
                </a:solidFill>
                <a:latin typeface="微软雅黑" panose="020B0503020204020204" pitchFamily="34" charset="-122"/>
                <a:ea typeface="微软雅黑" panose="020B0503020204020204" pitchFamily="34" charset="-122"/>
              </a:rPr>
              <a:t>更新</a:t>
            </a:r>
            <a:r>
              <a:rPr lang="en-US" altLang="zh-CN" sz="1200" b="1" dirty="0">
                <a:solidFill>
                  <a:srgbClr val="FF0000"/>
                </a:solidFill>
                <a:latin typeface="微软雅黑" panose="020B0503020204020204" pitchFamily="34" charset="-122"/>
                <a:ea typeface="微软雅黑" panose="020B0503020204020204" pitchFamily="34" charset="-122"/>
              </a:rPr>
              <a:t>)</a:t>
            </a:r>
            <a:endParaRPr lang="zh-CN" altLang="en-US" sz="1200" b="1" dirty="0">
              <a:solidFill>
                <a:srgbClr val="FF0000"/>
              </a:solidFill>
              <a:latin typeface="微软雅黑" panose="020B0503020204020204" pitchFamily="34" charset="-122"/>
              <a:ea typeface="微软雅黑" panose="020B0503020204020204" pitchFamily="34" charset="-122"/>
            </a:endParaRPr>
          </a:p>
          <a:p>
            <a:pPr marL="177800" indent="-177800">
              <a:lnSpc>
                <a:spcPct val="150000"/>
              </a:lnSpc>
              <a:buFont typeface="Arial" panose="020B0604020202020204" pitchFamily="34" charset="0"/>
              <a:buChar char="•"/>
            </a:pPr>
            <a:r>
              <a:rPr lang="zh-CN" altLang="en-US" sz="1200" b="1" dirty="0">
                <a:solidFill>
                  <a:srgbClr val="0000FF"/>
                </a:solidFill>
                <a:latin typeface="微软雅黑" panose="020B0503020204020204" pitchFamily="34" charset="-122"/>
                <a:ea typeface="微软雅黑" panose="020B0503020204020204" pitchFamily="34" charset="-122"/>
              </a:rPr>
              <a:t>事务中所有对数据库的更新写回到磁盘上的物理数据库中</a:t>
            </a:r>
          </a:p>
        </p:txBody>
      </p:sp>
      <p:sp>
        <p:nvSpPr>
          <p:cNvPr id="10" name="左箭头 8">
            <a:extLst>
              <a:ext uri="{FF2B5EF4-FFF2-40B4-BE49-F238E27FC236}">
                <a16:creationId xmlns:a16="http://schemas.microsoft.com/office/drawing/2014/main" id="{AD021547-3813-46A6-8434-99832781E95A}"/>
              </a:ext>
            </a:extLst>
          </p:cNvPr>
          <p:cNvSpPr/>
          <p:nvPr/>
        </p:nvSpPr>
        <p:spPr>
          <a:xfrm>
            <a:off x="3036342" y="3760073"/>
            <a:ext cx="345736" cy="58883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8047617C-76B8-48A9-A53C-DC41E739F3D5}"/>
              </a:ext>
            </a:extLst>
          </p:cNvPr>
          <p:cNvSpPr txBox="1"/>
          <p:nvPr/>
        </p:nvSpPr>
        <p:spPr>
          <a:xfrm>
            <a:off x="9262218" y="3212673"/>
            <a:ext cx="2209800" cy="1754326"/>
          </a:xfrm>
          <a:prstGeom prst="rect">
            <a:avLst/>
          </a:prstGeom>
          <a:noFill/>
        </p:spPr>
        <p:txBody>
          <a:bodyPr wrap="square" rtlCol="0">
            <a:spAutoFit/>
          </a:bodyPr>
          <a:lstStyle/>
          <a:p>
            <a:pPr marL="177800" indent="-177800">
              <a:lnSpc>
                <a:spcPct val="150000"/>
              </a:lnSpc>
              <a:buFont typeface="Arial" panose="020B0604020202020204" pitchFamily="34" charset="0"/>
              <a:buChar char="•"/>
            </a:pPr>
            <a:r>
              <a:rPr lang="zh-CN" altLang="en-US" sz="1200" b="1" dirty="0">
                <a:solidFill>
                  <a:srgbClr val="0000FF"/>
                </a:solidFill>
                <a:latin typeface="微软雅黑" panose="020B0503020204020204" pitchFamily="34" charset="-122"/>
                <a:ea typeface="微软雅黑" panose="020B0503020204020204" pitchFamily="34" charset="-122"/>
              </a:rPr>
              <a:t>事务异常终止</a:t>
            </a:r>
            <a:endParaRPr lang="en-US" altLang="zh-CN" sz="1200" b="1" dirty="0">
              <a:solidFill>
                <a:srgbClr val="0000FF"/>
              </a:solidFill>
              <a:latin typeface="微软雅黑" panose="020B0503020204020204" pitchFamily="34" charset="-122"/>
              <a:ea typeface="微软雅黑" panose="020B0503020204020204" pitchFamily="34" charset="-122"/>
            </a:endParaRPr>
          </a:p>
          <a:p>
            <a:pPr marL="177800" indent="-177800">
              <a:lnSpc>
                <a:spcPct val="150000"/>
              </a:lnSpc>
              <a:buFont typeface="Arial" panose="020B0604020202020204" pitchFamily="34" charset="0"/>
              <a:buChar char="•"/>
            </a:pPr>
            <a:r>
              <a:rPr lang="zh-CN" altLang="en-US" sz="1200" b="1" dirty="0">
                <a:solidFill>
                  <a:srgbClr val="0000FF"/>
                </a:solidFill>
                <a:latin typeface="微软雅黑" panose="020B0503020204020204" pitchFamily="34" charset="-122"/>
                <a:ea typeface="微软雅黑" panose="020B0503020204020204" pitchFamily="34" charset="-122"/>
              </a:rPr>
              <a:t>事务运行过程中发生了故障，不能继续下去</a:t>
            </a:r>
          </a:p>
          <a:p>
            <a:pPr marL="177800" indent="-177800">
              <a:lnSpc>
                <a:spcPct val="150000"/>
              </a:lnSpc>
              <a:buFont typeface="Arial" panose="020B0604020202020204" pitchFamily="34" charset="0"/>
              <a:buChar char="•"/>
            </a:pPr>
            <a:r>
              <a:rPr lang="zh-CN" altLang="en-US" sz="1200" b="1" dirty="0">
                <a:solidFill>
                  <a:srgbClr val="0000FF"/>
                </a:solidFill>
                <a:latin typeface="微软雅黑" panose="020B0503020204020204" pitchFamily="34" charset="-122"/>
                <a:ea typeface="微软雅黑" panose="020B0503020204020204" pitchFamily="34" charset="-122"/>
              </a:rPr>
              <a:t>系统将事务中对数据库的所有已完成的操作全部撤销，事务滚回到开始时的状态</a:t>
            </a:r>
          </a:p>
        </p:txBody>
      </p:sp>
      <p:sp>
        <p:nvSpPr>
          <p:cNvPr id="12" name="左箭头 10">
            <a:extLst>
              <a:ext uri="{FF2B5EF4-FFF2-40B4-BE49-F238E27FC236}">
                <a16:creationId xmlns:a16="http://schemas.microsoft.com/office/drawing/2014/main" id="{DD78DB97-7C68-4259-8E04-04D86EADAFFA}"/>
              </a:ext>
            </a:extLst>
          </p:cNvPr>
          <p:cNvSpPr/>
          <p:nvPr/>
        </p:nvSpPr>
        <p:spPr>
          <a:xfrm rot="10800000">
            <a:off x="8825335" y="3830768"/>
            <a:ext cx="430398" cy="518136"/>
          </a:xfrm>
          <a:prstGeom prst="leftArrow">
            <a:avLst>
              <a:gd name="adj1" fmla="val 33437"/>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标题 1">
            <a:extLst>
              <a:ext uri="{FF2B5EF4-FFF2-40B4-BE49-F238E27FC236}">
                <a16:creationId xmlns:a16="http://schemas.microsoft.com/office/drawing/2014/main" id="{400C9AE6-9EC3-4389-8CCE-E52EA4BF7D33}"/>
              </a:ext>
            </a:extLst>
          </p:cNvPr>
          <p:cNvSpPr>
            <a:spLocks noGrp="1"/>
          </p:cNvSpPr>
          <p:nvPr>
            <p:ph type="title"/>
          </p:nvPr>
        </p:nvSpPr>
        <p:spPr>
          <a:xfrm>
            <a:off x="1281113" y="238125"/>
            <a:ext cx="9553575" cy="512763"/>
          </a:xfrm>
        </p:spPr>
        <p:txBody>
          <a:bodyPr/>
          <a:lstStyle/>
          <a:p>
            <a:r>
              <a:rPr lang="en-US" altLang="zh-CN"/>
              <a:t>10.1 </a:t>
            </a:r>
            <a:r>
              <a:rPr lang="zh-CN" altLang="en-US"/>
              <a:t>事务的基本概念</a:t>
            </a:r>
            <a:endParaRPr lang="zh-CN" altLang="en-US" dirty="0"/>
          </a:p>
        </p:txBody>
      </p:sp>
    </p:spTree>
    <p:extLst>
      <p:ext uri="{BB962C8B-B14F-4D97-AF65-F5344CB8AC3E}">
        <p14:creationId xmlns:p14="http://schemas.microsoft.com/office/powerpoint/2010/main" val="3024938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AEB9E4-6D0D-4915-9A99-FA0F1E38440E}"/>
              </a:ext>
            </a:extLst>
          </p:cNvPr>
          <p:cNvSpPr>
            <a:spLocks noGrp="1"/>
          </p:cNvSpPr>
          <p:nvPr>
            <p:ph type="title"/>
          </p:nvPr>
        </p:nvSpPr>
        <p:spPr/>
        <p:txBody>
          <a:bodyPr/>
          <a:lstStyle/>
          <a:p>
            <a:r>
              <a:rPr lang="en-US" altLang="zh-CN"/>
              <a:t>openGauss</a:t>
            </a:r>
            <a:r>
              <a:rPr lang="zh-CN" altLang="en-US"/>
              <a:t>的事务机制</a:t>
            </a:r>
          </a:p>
        </p:txBody>
      </p:sp>
      <p:sp>
        <p:nvSpPr>
          <p:cNvPr id="3" name="内容占位符 2">
            <a:extLst>
              <a:ext uri="{FF2B5EF4-FFF2-40B4-BE49-F238E27FC236}">
                <a16:creationId xmlns:a16="http://schemas.microsoft.com/office/drawing/2014/main" id="{08B9099D-E6A4-4DB4-B82B-D87396BB2725}"/>
              </a:ext>
            </a:extLst>
          </p:cNvPr>
          <p:cNvSpPr>
            <a:spLocks noGrp="1"/>
          </p:cNvSpPr>
          <p:nvPr>
            <p:ph idx="1"/>
          </p:nvPr>
        </p:nvSpPr>
        <p:spPr/>
        <p:txBody>
          <a:bodyPr>
            <a:normAutofit fontScale="92500" lnSpcReduction="10000"/>
          </a:bodyPr>
          <a:lstStyle/>
          <a:p>
            <a:pPr>
              <a:lnSpc>
                <a:spcPct val="120000"/>
              </a:lnSpc>
            </a:pPr>
            <a:r>
              <a:rPr lang="zh-CN" altLang="en-US" dirty="0">
                <a:solidFill>
                  <a:srgbClr val="FF0000"/>
                </a:solidFill>
              </a:rPr>
              <a:t>启动事务</a:t>
            </a:r>
            <a:endParaRPr lang="en-US" altLang="zh-CN" dirty="0">
              <a:solidFill>
                <a:srgbClr val="FF0000"/>
              </a:solidFill>
            </a:endParaRPr>
          </a:p>
          <a:p>
            <a:pPr lvl="1">
              <a:lnSpc>
                <a:spcPct val="120000"/>
              </a:lnSpc>
            </a:pPr>
            <a:r>
              <a:rPr lang="en-US" altLang="zh-CN" dirty="0">
                <a:solidFill>
                  <a:srgbClr val="0000FF"/>
                </a:solidFill>
              </a:rPr>
              <a:t>START TRANSACTION</a:t>
            </a:r>
          </a:p>
          <a:p>
            <a:pPr lvl="1">
              <a:lnSpc>
                <a:spcPct val="120000"/>
              </a:lnSpc>
            </a:pPr>
            <a:r>
              <a:rPr lang="en-US" altLang="zh-CN" dirty="0">
                <a:solidFill>
                  <a:srgbClr val="0000FF"/>
                </a:solidFill>
              </a:rPr>
              <a:t>BEGIN</a:t>
            </a:r>
          </a:p>
          <a:p>
            <a:pPr>
              <a:lnSpc>
                <a:spcPct val="120000"/>
              </a:lnSpc>
            </a:pPr>
            <a:r>
              <a:rPr lang="zh-CN" altLang="en-US" dirty="0">
                <a:solidFill>
                  <a:srgbClr val="FF0000"/>
                </a:solidFill>
              </a:rPr>
              <a:t>设置事务</a:t>
            </a:r>
            <a:endParaRPr lang="en-US" altLang="zh-CN" dirty="0">
              <a:solidFill>
                <a:srgbClr val="FF0000"/>
              </a:solidFill>
            </a:endParaRPr>
          </a:p>
          <a:p>
            <a:pPr lvl="1">
              <a:lnSpc>
                <a:spcPct val="120000"/>
              </a:lnSpc>
            </a:pPr>
            <a:r>
              <a:rPr lang="en-US" altLang="zh-CN" dirty="0">
                <a:solidFill>
                  <a:srgbClr val="0000FF"/>
                </a:solidFill>
              </a:rPr>
              <a:t>SET TRANSACTION</a:t>
            </a:r>
          </a:p>
          <a:p>
            <a:pPr>
              <a:lnSpc>
                <a:spcPct val="120000"/>
              </a:lnSpc>
            </a:pPr>
            <a:r>
              <a:rPr lang="zh-CN" altLang="en-US" dirty="0">
                <a:solidFill>
                  <a:srgbClr val="FF0000"/>
                </a:solidFill>
              </a:rPr>
              <a:t>提交事务</a:t>
            </a:r>
            <a:endParaRPr lang="en-US" altLang="zh-CN" dirty="0">
              <a:solidFill>
                <a:srgbClr val="FF0000"/>
              </a:solidFill>
            </a:endParaRPr>
          </a:p>
          <a:p>
            <a:pPr lvl="1">
              <a:lnSpc>
                <a:spcPct val="120000"/>
              </a:lnSpc>
            </a:pPr>
            <a:r>
              <a:rPr lang="en-US" altLang="zh-CN" dirty="0">
                <a:solidFill>
                  <a:srgbClr val="0000FF"/>
                </a:solidFill>
              </a:rPr>
              <a:t>COMMIT</a:t>
            </a:r>
          </a:p>
          <a:p>
            <a:pPr lvl="1">
              <a:lnSpc>
                <a:spcPct val="120000"/>
              </a:lnSpc>
            </a:pPr>
            <a:r>
              <a:rPr lang="en-US" altLang="zh-CN" dirty="0">
                <a:solidFill>
                  <a:srgbClr val="0000FF"/>
                </a:solidFill>
              </a:rPr>
              <a:t>END</a:t>
            </a:r>
          </a:p>
          <a:p>
            <a:pPr>
              <a:lnSpc>
                <a:spcPct val="120000"/>
              </a:lnSpc>
            </a:pPr>
            <a:r>
              <a:rPr lang="zh-CN" altLang="en-US" dirty="0">
                <a:solidFill>
                  <a:srgbClr val="FF0000"/>
                </a:solidFill>
              </a:rPr>
              <a:t>回滚事务</a:t>
            </a:r>
            <a:endParaRPr lang="en-US" altLang="zh-CN" dirty="0">
              <a:solidFill>
                <a:srgbClr val="FF0000"/>
              </a:solidFill>
            </a:endParaRPr>
          </a:p>
          <a:p>
            <a:pPr lvl="1">
              <a:lnSpc>
                <a:spcPct val="120000"/>
              </a:lnSpc>
            </a:pPr>
            <a:r>
              <a:rPr lang="en-US" altLang="zh-CN" dirty="0">
                <a:solidFill>
                  <a:srgbClr val="0000FF"/>
                </a:solidFill>
              </a:rPr>
              <a:t>ROLLBACK</a:t>
            </a:r>
            <a:endParaRPr lang="zh-CN" altLang="en-US" dirty="0">
              <a:solidFill>
                <a:srgbClr val="0000FF"/>
              </a:solidFill>
            </a:endParaRPr>
          </a:p>
        </p:txBody>
      </p:sp>
      <p:sp>
        <p:nvSpPr>
          <p:cNvPr id="4" name="灯片编号占位符 3">
            <a:extLst>
              <a:ext uri="{FF2B5EF4-FFF2-40B4-BE49-F238E27FC236}">
                <a16:creationId xmlns:a16="http://schemas.microsoft.com/office/drawing/2014/main" id="{61C459D6-9258-4E6F-9D60-D1AC5C0FD14A}"/>
              </a:ext>
            </a:extLst>
          </p:cNvPr>
          <p:cNvSpPr>
            <a:spLocks noGrp="1"/>
          </p:cNvSpPr>
          <p:nvPr>
            <p:ph type="sldNum" sz="quarter" idx="12"/>
          </p:nvPr>
        </p:nvSpPr>
        <p:spPr/>
        <p:txBody>
          <a:bodyPr/>
          <a:lstStyle/>
          <a:p>
            <a:fld id="{E63F6D5D-9733-4D44-9C56-AEFEDD5A4BA7}" type="slidenum">
              <a:rPr lang="en-US" smtClean="0"/>
              <a:pPr/>
              <a:t>5</a:t>
            </a:fld>
            <a:endParaRPr lang="en-US" dirty="0"/>
          </a:p>
        </p:txBody>
      </p:sp>
      <p:sp>
        <p:nvSpPr>
          <p:cNvPr id="5" name="矩形 4">
            <a:extLst>
              <a:ext uri="{FF2B5EF4-FFF2-40B4-BE49-F238E27FC236}">
                <a16:creationId xmlns:a16="http://schemas.microsoft.com/office/drawing/2014/main" id="{9D877056-B47C-41D1-B7FB-C90408644586}"/>
              </a:ext>
            </a:extLst>
          </p:cNvPr>
          <p:cNvSpPr/>
          <p:nvPr/>
        </p:nvSpPr>
        <p:spPr>
          <a:xfrm>
            <a:off x="5168348" y="2167116"/>
            <a:ext cx="5562600" cy="2523768"/>
          </a:xfrm>
          <a:prstGeom prst="rect">
            <a:avLst/>
          </a:prstGeom>
          <a:ln>
            <a:solidFill>
              <a:schemeClr val="accent1"/>
            </a:solidFill>
          </a:ln>
        </p:spPr>
        <p:txBody>
          <a:bodyPr wrap="square">
            <a:spAutoFit/>
          </a:bodyPr>
          <a:lstStyle/>
          <a:p>
            <a:r>
              <a:rPr lang="en-US" altLang="zh-CN" sz="2400">
                <a:solidFill>
                  <a:srgbClr val="C00000"/>
                </a:solidFill>
                <a:latin typeface="微软雅黑" panose="020B0503020204020204" pitchFamily="34" charset="-122"/>
                <a:ea typeface="微软雅黑" panose="020B0503020204020204" pitchFamily="34" charset="-122"/>
              </a:rPr>
              <a:t>openGauss</a:t>
            </a:r>
            <a:r>
              <a:rPr lang="zh-CN" altLang="en-US" sz="2400">
                <a:solidFill>
                  <a:srgbClr val="C00000"/>
                </a:solidFill>
                <a:latin typeface="微软雅黑" panose="020B0503020204020204" pitchFamily="34" charset="-122"/>
                <a:ea typeface="微软雅黑" panose="020B0503020204020204" pitchFamily="34" charset="-122"/>
              </a:rPr>
              <a:t>事务的具体用法参见：</a:t>
            </a:r>
            <a:endParaRPr lang="en-US" altLang="zh-CN" sz="2400">
              <a:solidFill>
                <a:srgbClr val="C00000"/>
              </a:solidFill>
              <a:latin typeface="微软雅黑" panose="020B0503020204020204" pitchFamily="34" charset="-122"/>
              <a:ea typeface="微软雅黑" panose="020B0503020204020204" pitchFamily="34" charset="-122"/>
            </a:endParaRPr>
          </a:p>
          <a:p>
            <a:endParaRPr lang="en-US" altLang="zh-CN" sz="1000">
              <a:hlinkClick r:id="rId2"/>
            </a:endParaRPr>
          </a:p>
          <a:p>
            <a:r>
              <a:rPr lang="zh-CN" altLang="en-US">
                <a:hlinkClick r:id="rId2"/>
              </a:rPr>
              <a:t>https://www.opengauss.org/zh/docs/3.1.0/docs/Developerguide/%E4%BA%8B%E5%8A%A1%E6%8E%A7%E5%88%B6.html</a:t>
            </a:r>
            <a:endParaRPr lang="en-US" altLang="zh-CN"/>
          </a:p>
          <a:p>
            <a:endParaRPr lang="en-US" altLang="zh-CN"/>
          </a:p>
          <a:p>
            <a:r>
              <a:rPr lang="zh-CN" altLang="en-US" sz="2400">
                <a:solidFill>
                  <a:srgbClr val="C00000"/>
                </a:solidFill>
                <a:latin typeface="微软雅黑" panose="020B0503020204020204" pitchFamily="34" charset="-122"/>
                <a:ea typeface="微软雅黑" panose="020B0503020204020204" pitchFamily="34" charset="-122"/>
              </a:rPr>
              <a:t>墨天轮对</a:t>
            </a:r>
            <a:r>
              <a:rPr lang="en-US" altLang="zh-CN" sz="2400">
                <a:solidFill>
                  <a:srgbClr val="C00000"/>
                </a:solidFill>
                <a:latin typeface="微软雅黑" panose="020B0503020204020204" pitchFamily="34" charset="-122"/>
                <a:ea typeface="微软雅黑" panose="020B0503020204020204" pitchFamily="34" charset="-122"/>
              </a:rPr>
              <a:t>openGauss</a:t>
            </a:r>
            <a:r>
              <a:rPr lang="zh-CN" altLang="en-US" sz="2400">
                <a:solidFill>
                  <a:srgbClr val="C00000"/>
                </a:solidFill>
                <a:latin typeface="微软雅黑" panose="020B0503020204020204" pitchFamily="34" charset="-122"/>
                <a:ea typeface="微软雅黑" panose="020B0503020204020204" pitchFamily="34" charset="-122"/>
              </a:rPr>
              <a:t>高可靠事务的介绍：</a:t>
            </a:r>
            <a:endParaRPr lang="en-US" altLang="zh-CN" sz="2400">
              <a:solidFill>
                <a:srgbClr val="C00000"/>
              </a:solidFill>
              <a:latin typeface="微软雅黑" panose="020B0503020204020204" pitchFamily="34" charset="-122"/>
              <a:ea typeface="微软雅黑" panose="020B0503020204020204" pitchFamily="34" charset="-122"/>
            </a:endParaRPr>
          </a:p>
          <a:p>
            <a:endParaRPr lang="en-US" altLang="zh-CN" sz="1000">
              <a:hlinkClick r:id="rId2"/>
            </a:endParaRPr>
          </a:p>
          <a:p>
            <a:r>
              <a:rPr lang="en-US" altLang="zh-CN">
                <a:hlinkClick r:id="rId3"/>
              </a:rPr>
              <a:t>https://www.modb.pro/db/30010</a:t>
            </a:r>
            <a:endParaRPr lang="en-US" altLang="zh-CN"/>
          </a:p>
        </p:txBody>
      </p:sp>
    </p:spTree>
    <p:extLst>
      <p:ext uri="{BB962C8B-B14F-4D97-AF65-F5344CB8AC3E}">
        <p14:creationId xmlns:p14="http://schemas.microsoft.com/office/powerpoint/2010/main" val="1992570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DEBA29-F3C6-49C6-A53E-3B566DF26769}"/>
              </a:ext>
            </a:extLst>
          </p:cNvPr>
          <p:cNvSpPr>
            <a:spLocks noGrp="1"/>
          </p:cNvSpPr>
          <p:nvPr>
            <p:ph type="title"/>
          </p:nvPr>
        </p:nvSpPr>
        <p:spPr/>
        <p:txBody>
          <a:bodyPr/>
          <a:lstStyle/>
          <a:p>
            <a:r>
              <a:rPr lang="zh-CN" altLang="en-US"/>
              <a:t>事务的</a:t>
            </a:r>
            <a:r>
              <a:rPr lang="en-US" altLang="zh-CN"/>
              <a:t>ACID</a:t>
            </a:r>
            <a:r>
              <a:rPr lang="zh-CN" altLang="en-US"/>
              <a:t>特性</a:t>
            </a:r>
          </a:p>
        </p:txBody>
      </p:sp>
      <p:sp>
        <p:nvSpPr>
          <p:cNvPr id="4" name="灯片编号占位符 3">
            <a:extLst>
              <a:ext uri="{FF2B5EF4-FFF2-40B4-BE49-F238E27FC236}">
                <a16:creationId xmlns:a16="http://schemas.microsoft.com/office/drawing/2014/main" id="{D99FC5CA-45B6-4A90-85D5-4DEA4CA9180E}"/>
              </a:ext>
            </a:extLst>
          </p:cNvPr>
          <p:cNvSpPr>
            <a:spLocks noGrp="1"/>
          </p:cNvSpPr>
          <p:nvPr>
            <p:ph type="sldNum" sz="quarter" idx="12"/>
          </p:nvPr>
        </p:nvSpPr>
        <p:spPr/>
        <p:txBody>
          <a:bodyPr/>
          <a:lstStyle/>
          <a:p>
            <a:fld id="{E63F6D5D-9733-4D44-9C56-AEFEDD5A4BA7}" type="slidenum">
              <a:rPr lang="en-US" smtClean="0"/>
              <a:pPr/>
              <a:t>6</a:t>
            </a:fld>
            <a:endParaRPr lang="en-US" dirty="0"/>
          </a:p>
        </p:txBody>
      </p:sp>
      <p:graphicFrame>
        <p:nvGraphicFramePr>
          <p:cNvPr id="7" name="内容占位符 6">
            <a:extLst>
              <a:ext uri="{FF2B5EF4-FFF2-40B4-BE49-F238E27FC236}">
                <a16:creationId xmlns:a16="http://schemas.microsoft.com/office/drawing/2014/main" id="{C145169B-68A8-442A-AE12-67CC7D50FD54}"/>
              </a:ext>
            </a:extLst>
          </p:cNvPr>
          <p:cNvGraphicFramePr>
            <a:graphicFrameLocks noGrp="1"/>
          </p:cNvGraphicFramePr>
          <p:nvPr>
            <p:ph idx="1"/>
            <p:extLst/>
          </p:nvPr>
        </p:nvGraphicFramePr>
        <p:xfrm>
          <a:off x="152400" y="942310"/>
          <a:ext cx="11506200" cy="5760720"/>
        </p:xfrm>
        <a:graphic>
          <a:graphicData uri="http://schemas.openxmlformats.org/drawingml/2006/table">
            <a:tbl>
              <a:tblPr firstRow="1" bandRow="1">
                <a:tableStyleId>{21E4AEA4-8DFA-4A89-87EB-49C32662AFE0}</a:tableStyleId>
              </a:tblPr>
              <a:tblGrid>
                <a:gridCol w="2632137">
                  <a:extLst>
                    <a:ext uri="{9D8B030D-6E8A-4147-A177-3AD203B41FA5}">
                      <a16:colId xmlns:a16="http://schemas.microsoft.com/office/drawing/2014/main" val="1216804079"/>
                    </a:ext>
                  </a:extLst>
                </a:gridCol>
                <a:gridCol w="3008157">
                  <a:extLst>
                    <a:ext uri="{9D8B030D-6E8A-4147-A177-3AD203B41FA5}">
                      <a16:colId xmlns:a16="http://schemas.microsoft.com/office/drawing/2014/main" val="1516923723"/>
                    </a:ext>
                  </a:extLst>
                </a:gridCol>
                <a:gridCol w="2989356">
                  <a:extLst>
                    <a:ext uri="{9D8B030D-6E8A-4147-A177-3AD203B41FA5}">
                      <a16:colId xmlns:a16="http://schemas.microsoft.com/office/drawing/2014/main" val="1900962686"/>
                    </a:ext>
                  </a:extLst>
                </a:gridCol>
                <a:gridCol w="2876550">
                  <a:extLst>
                    <a:ext uri="{9D8B030D-6E8A-4147-A177-3AD203B41FA5}">
                      <a16:colId xmlns:a16="http://schemas.microsoft.com/office/drawing/2014/main" val="327399602"/>
                    </a:ext>
                  </a:extLst>
                </a:gridCol>
              </a:tblGrid>
              <a:tr h="370840">
                <a:tc>
                  <a:txBody>
                    <a:bodyPr/>
                    <a:lstStyle/>
                    <a:p>
                      <a:r>
                        <a:rPr lang="zh-CN" altLang="en-US" sz="2400">
                          <a:latin typeface="微软雅黑" panose="020B0503020204020204" pitchFamily="34" charset="-122"/>
                          <a:ea typeface="微软雅黑" panose="020B0503020204020204" pitchFamily="34" charset="-122"/>
                        </a:rPr>
                        <a:t>原子性</a:t>
                      </a:r>
                      <a:r>
                        <a:rPr lang="en-US" altLang="zh-CN" sz="2400">
                          <a:solidFill>
                            <a:srgbClr val="FFFF00"/>
                          </a:solidFill>
                          <a:latin typeface="微软雅黑" panose="020B0503020204020204" pitchFamily="34" charset="-122"/>
                          <a:ea typeface="微软雅黑" panose="020B0503020204020204" pitchFamily="34" charset="-122"/>
                        </a:rPr>
                        <a:t>A</a:t>
                      </a:r>
                      <a:r>
                        <a:rPr lang="en-US" altLang="zh-CN" sz="2400">
                          <a:latin typeface="微软雅黑" panose="020B0503020204020204" pitchFamily="34" charset="-122"/>
                          <a:ea typeface="微软雅黑" panose="020B0503020204020204" pitchFamily="34" charset="-122"/>
                        </a:rPr>
                        <a:t>tomicity</a:t>
                      </a:r>
                      <a:endParaRPr lang="zh-CN" altLang="en-US" sz="2400">
                        <a:latin typeface="微软雅黑" panose="020B0503020204020204" pitchFamily="34" charset="-122"/>
                        <a:ea typeface="微软雅黑" panose="020B0503020204020204" pitchFamily="34" charset="-122"/>
                      </a:endParaRPr>
                    </a:p>
                  </a:txBody>
                  <a:tcPr/>
                </a:tc>
                <a:tc>
                  <a:txBody>
                    <a:bodyPr/>
                    <a:lstStyle/>
                    <a:p>
                      <a:r>
                        <a:rPr lang="zh-CN" altLang="en-US" sz="2400">
                          <a:latin typeface="微软雅黑" panose="020B0503020204020204" pitchFamily="34" charset="-122"/>
                          <a:ea typeface="微软雅黑" panose="020B0503020204020204" pitchFamily="34" charset="-122"/>
                        </a:rPr>
                        <a:t>一致性</a:t>
                      </a:r>
                      <a:r>
                        <a:rPr lang="en-US" altLang="zh-CN" sz="2400">
                          <a:solidFill>
                            <a:srgbClr val="FFFF00"/>
                          </a:solidFill>
                          <a:latin typeface="微软雅黑" panose="020B0503020204020204" pitchFamily="34" charset="-122"/>
                          <a:ea typeface="微软雅黑" panose="020B0503020204020204" pitchFamily="34" charset="-122"/>
                        </a:rPr>
                        <a:t>C</a:t>
                      </a:r>
                      <a:r>
                        <a:rPr lang="en-US" altLang="zh-CN" sz="2400">
                          <a:latin typeface="微软雅黑" panose="020B0503020204020204" pitchFamily="34" charset="-122"/>
                          <a:ea typeface="微软雅黑" panose="020B0503020204020204" pitchFamily="34" charset="-122"/>
                        </a:rPr>
                        <a:t>onsistency</a:t>
                      </a:r>
                      <a:endParaRPr lang="zh-CN" altLang="en-US" sz="2400">
                        <a:latin typeface="微软雅黑" panose="020B0503020204020204" pitchFamily="34" charset="-122"/>
                        <a:ea typeface="微软雅黑" panose="020B0503020204020204" pitchFamily="34" charset="-122"/>
                      </a:endParaRPr>
                    </a:p>
                  </a:txBody>
                  <a:tcPr/>
                </a:tc>
                <a:tc>
                  <a:txBody>
                    <a:bodyPr/>
                    <a:lstStyle/>
                    <a:p>
                      <a:r>
                        <a:rPr lang="zh-CN" altLang="en-US" sz="2400">
                          <a:latin typeface="微软雅黑" panose="020B0503020204020204" pitchFamily="34" charset="-122"/>
                          <a:ea typeface="微软雅黑" panose="020B0503020204020204" pitchFamily="34" charset="-122"/>
                        </a:rPr>
                        <a:t>隔离性</a:t>
                      </a:r>
                      <a:r>
                        <a:rPr lang="en-US" altLang="zh-CN" sz="2400">
                          <a:solidFill>
                            <a:srgbClr val="FFFF00"/>
                          </a:solidFill>
                          <a:latin typeface="微软雅黑" panose="020B0503020204020204" pitchFamily="34" charset="-122"/>
                          <a:ea typeface="微软雅黑" panose="020B0503020204020204" pitchFamily="34" charset="-122"/>
                        </a:rPr>
                        <a:t>I</a:t>
                      </a:r>
                      <a:r>
                        <a:rPr lang="en-US" altLang="zh-CN" sz="2400">
                          <a:latin typeface="微软雅黑" panose="020B0503020204020204" pitchFamily="34" charset="-122"/>
                          <a:ea typeface="微软雅黑" panose="020B0503020204020204" pitchFamily="34" charset="-122"/>
                        </a:rPr>
                        <a:t>solation</a:t>
                      </a:r>
                      <a:endParaRPr lang="zh-CN" altLang="en-US" sz="2400">
                        <a:latin typeface="微软雅黑" panose="020B0503020204020204" pitchFamily="34" charset="-122"/>
                        <a:ea typeface="微软雅黑" panose="020B0503020204020204" pitchFamily="34" charset="-122"/>
                      </a:endParaRPr>
                    </a:p>
                  </a:txBody>
                  <a:tcPr/>
                </a:tc>
                <a:tc>
                  <a:txBody>
                    <a:bodyPr/>
                    <a:lstStyle/>
                    <a:p>
                      <a:r>
                        <a:rPr lang="zh-CN" altLang="en-US" sz="2400">
                          <a:latin typeface="微软雅黑" panose="020B0503020204020204" pitchFamily="34" charset="-122"/>
                          <a:ea typeface="微软雅黑" panose="020B0503020204020204" pitchFamily="34" charset="-122"/>
                        </a:rPr>
                        <a:t>持久性</a:t>
                      </a:r>
                      <a:r>
                        <a:rPr lang="en-US" altLang="zh-CN" sz="2400">
                          <a:solidFill>
                            <a:srgbClr val="FFFF00"/>
                          </a:solidFill>
                          <a:latin typeface="微软雅黑" panose="020B0503020204020204" pitchFamily="34" charset="-122"/>
                          <a:ea typeface="微软雅黑" panose="020B0503020204020204" pitchFamily="34" charset="-122"/>
                        </a:rPr>
                        <a:t>D</a:t>
                      </a:r>
                      <a:r>
                        <a:rPr lang="en-US" altLang="zh-CN" sz="2400">
                          <a:latin typeface="微软雅黑" panose="020B0503020204020204" pitchFamily="34" charset="-122"/>
                          <a:ea typeface="微软雅黑" panose="020B0503020204020204" pitchFamily="34" charset="-122"/>
                        </a:rPr>
                        <a:t>urability</a:t>
                      </a:r>
                      <a:endParaRPr lang="zh-CN" altLang="en-US" sz="240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677059054"/>
                  </a:ext>
                </a:extLst>
              </a:tr>
              <a:tr h="370840">
                <a:tc>
                  <a:txBody>
                    <a:bodyPr/>
                    <a:lstStyle/>
                    <a:p>
                      <a:pPr marL="285750" indent="-285750">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rPr>
                        <a:t>事务是数据库的逻辑工作单位，事务中包括的诸操作要么都做，要么都不做</a:t>
                      </a:r>
                    </a:p>
                  </a:txBody>
                  <a:tcPr/>
                </a:tc>
                <a:tc>
                  <a:txBody>
                    <a:bodyPr/>
                    <a:lstStyle/>
                    <a:p>
                      <a:pPr marL="285750" indent="-285750">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rPr>
                        <a:t>事务执行的结果必须是使数据库从一个一致性状态变到另一个一致性状态</a:t>
                      </a:r>
                      <a:endParaRPr lang="en-US" altLang="zh-CN" sz="1800">
                        <a:latin typeface="微软雅黑" panose="020B0503020204020204" pitchFamily="34" charset="-122"/>
                        <a:ea typeface="微软雅黑" panose="020B0503020204020204" pitchFamily="34" charset="-122"/>
                      </a:endParaRPr>
                    </a:p>
                    <a:p>
                      <a:pPr marL="0" indent="0">
                        <a:buFont typeface="Arial" panose="020B0604020202020204" pitchFamily="34" charset="0"/>
                        <a:buNone/>
                      </a:pPr>
                      <a:endParaRPr lang="zh-CN" altLang="en-US" sz="12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800">
                          <a:solidFill>
                            <a:srgbClr val="0000CC"/>
                          </a:solidFill>
                          <a:latin typeface="微软雅黑" panose="020B0503020204020204" pitchFamily="34" charset="-122"/>
                          <a:ea typeface="微软雅黑" panose="020B0503020204020204" pitchFamily="34" charset="-122"/>
                        </a:rPr>
                        <a:t>一致性状态：</a:t>
                      </a:r>
                      <a:r>
                        <a:rPr lang="zh-CN" altLang="en-US" sz="1800">
                          <a:latin typeface="微软雅黑" panose="020B0503020204020204" pitchFamily="34" charset="-122"/>
                          <a:ea typeface="微软雅黑" panose="020B0503020204020204" pitchFamily="34" charset="-122"/>
                        </a:rPr>
                        <a:t>只包含成功事务提交的结果</a:t>
                      </a:r>
                      <a:endParaRPr lang="en-US" altLang="zh-CN" sz="18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2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800">
                          <a:solidFill>
                            <a:srgbClr val="0000CC"/>
                          </a:solidFill>
                          <a:latin typeface="微软雅黑" panose="020B0503020204020204" pitchFamily="34" charset="-122"/>
                          <a:ea typeface="微软雅黑" panose="020B0503020204020204" pitchFamily="34" charset="-122"/>
                        </a:rPr>
                        <a:t>不一致性状态</a:t>
                      </a:r>
                      <a:r>
                        <a:rPr lang="zh-CN" altLang="en-US" sz="1800">
                          <a:latin typeface="微软雅黑" panose="020B0503020204020204" pitchFamily="34" charset="-122"/>
                          <a:ea typeface="微软雅黑" panose="020B0503020204020204" pitchFamily="34" charset="-122"/>
                        </a:rPr>
                        <a:t>：不正确的状态（因故障造成）</a:t>
                      </a:r>
                      <a:endParaRPr lang="en-US" altLang="zh-CN" sz="18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2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800">
                          <a:solidFill>
                            <a:srgbClr val="0000CC"/>
                          </a:solidFill>
                          <a:latin typeface="微软雅黑" panose="020B0503020204020204" pitchFamily="34" charset="-122"/>
                          <a:ea typeface="微软雅黑" panose="020B0503020204020204" pitchFamily="34" charset="-122"/>
                        </a:rPr>
                        <a:t>确保单个事务的一致性是编写该事务的应用程序员的责任</a:t>
                      </a:r>
                      <a:endParaRPr lang="en-US" altLang="zh-CN" sz="1800">
                        <a:solidFill>
                          <a:srgbClr val="0000CC"/>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200">
                        <a:solidFill>
                          <a:srgbClr val="0000CC"/>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rPr>
                        <a:t>完整性约束的自动检查是实现一致性的一种方法</a:t>
                      </a:r>
                      <a:endParaRPr lang="en-US" altLang="zh-CN" sz="1800">
                        <a:latin typeface="微软雅黑" panose="020B0503020204020204" pitchFamily="34" charset="-122"/>
                        <a:ea typeface="微软雅黑" panose="020B0503020204020204" pitchFamily="34" charset="-122"/>
                      </a:endParaRPr>
                    </a:p>
                  </a:txBody>
                  <a:tcPr/>
                </a:tc>
                <a:tc>
                  <a:txBody>
                    <a:bodyPr/>
                    <a:lstStyle/>
                    <a:p>
                      <a:pPr marL="285750" indent="-285750">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rPr>
                        <a:t>一个事务的执行不能被其他事务干扰</a:t>
                      </a:r>
                      <a:endParaRPr lang="en-US" altLang="zh-CN" sz="18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8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rPr>
                        <a:t>即一个事务的内部操作及使用的数据对其他并发事务是隔离的，并发执行的各个事务之间不能互相干扰</a:t>
                      </a:r>
                    </a:p>
                    <a:p>
                      <a:pPr marL="285750" indent="-285750">
                        <a:buFont typeface="Arial" panose="020B0604020202020204" pitchFamily="34" charset="0"/>
                        <a:buChar char="•"/>
                      </a:pPr>
                      <a:endParaRPr lang="zh-CN" altLang="en-US" sz="1800">
                        <a:latin typeface="微软雅黑" panose="020B0503020204020204" pitchFamily="34" charset="-122"/>
                        <a:ea typeface="微软雅黑" panose="020B0503020204020204" pitchFamily="34" charset="-122"/>
                      </a:endParaRPr>
                    </a:p>
                  </a:txBody>
                  <a:tcPr/>
                </a:tc>
                <a:tc>
                  <a:txBody>
                    <a:bodyPr/>
                    <a:lstStyle/>
                    <a:p>
                      <a:pPr marL="285750" indent="-285750">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rPr>
                        <a:t>指一个事务一旦提交，它对数据库中数据的改变就是永久性的，接下来的其他操作或故障不应该对其执行结果有任何影响</a:t>
                      </a:r>
                    </a:p>
                  </a:txBody>
                  <a:tcPr/>
                </a:tc>
                <a:extLst>
                  <a:ext uri="{0D108BD9-81ED-4DB2-BD59-A6C34878D82A}">
                    <a16:rowId xmlns:a16="http://schemas.microsoft.com/office/drawing/2014/main" val="2077912373"/>
                  </a:ext>
                </a:extLst>
              </a:tr>
              <a:tr h="370840">
                <a:tc gridSpan="4">
                  <a:txBody>
                    <a:bodyPr/>
                    <a:lstStyle/>
                    <a:p>
                      <a:pPr marL="285750" indent="-285750">
                        <a:buFont typeface="Arial" panose="020B0604020202020204" pitchFamily="34" charset="0"/>
                        <a:buChar char="•"/>
                      </a:pPr>
                      <a:r>
                        <a:rPr lang="zh-CN" altLang="en-US" sz="2400" b="1">
                          <a:latin typeface="微软雅黑" panose="020B0503020204020204" pitchFamily="34" charset="-122"/>
                          <a:ea typeface="微软雅黑" panose="020B0503020204020204" pitchFamily="34" charset="-122"/>
                        </a:rPr>
                        <a:t>保证事务</a:t>
                      </a:r>
                      <a:r>
                        <a:rPr lang="en-US" altLang="zh-CN" sz="2400" b="1">
                          <a:latin typeface="微软雅黑" panose="020B0503020204020204" pitchFamily="34" charset="-122"/>
                          <a:ea typeface="微软雅黑" panose="020B0503020204020204" pitchFamily="34" charset="-122"/>
                        </a:rPr>
                        <a:t>ACID</a:t>
                      </a:r>
                      <a:r>
                        <a:rPr lang="zh-CN" altLang="en-US" sz="2400" b="1">
                          <a:latin typeface="微软雅黑" panose="020B0503020204020204" pitchFamily="34" charset="-122"/>
                          <a:ea typeface="微软雅黑" panose="020B0503020204020204" pitchFamily="34" charset="-122"/>
                        </a:rPr>
                        <a:t>特性是事务管理的重要任务</a:t>
                      </a:r>
                      <a:endParaRPr lang="en-US" altLang="zh-CN" sz="2400" b="1">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2400" b="1">
                          <a:latin typeface="微软雅黑" panose="020B0503020204020204" pitchFamily="34" charset="-122"/>
                          <a:ea typeface="微软雅黑" panose="020B0503020204020204" pitchFamily="34" charset="-122"/>
                        </a:rPr>
                        <a:t>事务</a:t>
                      </a:r>
                      <a:r>
                        <a:rPr lang="en-US" altLang="zh-CN" sz="2400" b="1">
                          <a:latin typeface="微软雅黑" panose="020B0503020204020204" pitchFamily="34" charset="-122"/>
                          <a:ea typeface="微软雅黑" panose="020B0503020204020204" pitchFamily="34" charset="-122"/>
                        </a:rPr>
                        <a:t>ACID</a:t>
                      </a:r>
                      <a:r>
                        <a:rPr lang="zh-CN" altLang="en-US" sz="2400" b="1">
                          <a:latin typeface="微软雅黑" panose="020B0503020204020204" pitchFamily="34" charset="-122"/>
                          <a:ea typeface="微软雅黑" panose="020B0503020204020204" pitchFamily="34" charset="-122"/>
                        </a:rPr>
                        <a:t>特性可能</a:t>
                      </a:r>
                      <a:r>
                        <a:rPr lang="zh-CN" altLang="en-US" sz="2400" b="1">
                          <a:solidFill>
                            <a:srgbClr val="FF0000"/>
                          </a:solidFill>
                          <a:latin typeface="微软雅黑" panose="020B0503020204020204" pitchFamily="34" charset="-122"/>
                          <a:ea typeface="微软雅黑" panose="020B0503020204020204" pitchFamily="34" charset="-122"/>
                        </a:rPr>
                        <a:t>遭到破坏的因素</a:t>
                      </a:r>
                      <a:r>
                        <a:rPr lang="zh-CN" altLang="en-US" sz="2400" b="1">
                          <a:latin typeface="微软雅黑" panose="020B0503020204020204" pitchFamily="34" charset="-122"/>
                          <a:ea typeface="微软雅黑" panose="020B0503020204020204" pitchFamily="34" charset="-122"/>
                        </a:rPr>
                        <a:t>有：</a:t>
                      </a:r>
                      <a:endParaRPr lang="en-US" altLang="zh-CN" sz="2400" b="1">
                        <a:latin typeface="微软雅黑" panose="020B0503020204020204" pitchFamily="34" charset="-122"/>
                        <a:ea typeface="微软雅黑" panose="020B0503020204020204" pitchFamily="34" charset="-122"/>
                      </a:endParaRPr>
                    </a:p>
                    <a:p>
                      <a:pPr marL="536575" indent="-268288">
                        <a:buFont typeface="Wingdings" panose="05000000000000000000" pitchFamily="2" charset="2"/>
                        <a:buChar char="Ø"/>
                      </a:pPr>
                      <a:r>
                        <a:rPr lang="zh-CN" altLang="en-US" sz="1800" b="0">
                          <a:latin typeface="微软雅黑" panose="020B0503020204020204" pitchFamily="34" charset="-122"/>
                          <a:ea typeface="微软雅黑" panose="020B0503020204020204" pitchFamily="34" charset="-122"/>
                        </a:rPr>
                        <a:t>多个事务并行运行时，</a:t>
                      </a:r>
                      <a:r>
                        <a:rPr lang="zh-CN" altLang="en-US" sz="1800" b="0">
                          <a:solidFill>
                            <a:srgbClr val="FF0000"/>
                          </a:solidFill>
                          <a:latin typeface="微软雅黑" panose="020B0503020204020204" pitchFamily="34" charset="-122"/>
                          <a:ea typeface="微软雅黑" panose="020B0503020204020204" pitchFamily="34" charset="-122"/>
                        </a:rPr>
                        <a:t>不同事务的操作交叉执行</a:t>
                      </a:r>
                      <a:r>
                        <a:rPr lang="zh-CN" altLang="en-US" sz="2400" b="1">
                          <a:latin typeface="微软雅黑" panose="020B0503020204020204" pitchFamily="34" charset="-122"/>
                          <a:ea typeface="微软雅黑" panose="020B0503020204020204" pitchFamily="34" charset="-122"/>
                        </a:rPr>
                        <a:t>；</a:t>
                      </a:r>
                      <a:r>
                        <a:rPr lang="zh-CN" altLang="en-US" sz="1800" b="0" kern="1200">
                          <a:solidFill>
                            <a:schemeClr val="dk1"/>
                          </a:solidFill>
                          <a:latin typeface="微软雅黑" panose="020B0503020204020204" pitchFamily="34" charset="-122"/>
                          <a:ea typeface="微软雅黑" panose="020B0503020204020204" pitchFamily="34" charset="-122"/>
                          <a:cs typeface="+mn-cs"/>
                        </a:rPr>
                        <a:t>事务中运行过程中</a:t>
                      </a:r>
                      <a:r>
                        <a:rPr lang="zh-CN" altLang="en-US" sz="1800" b="0" kern="1200">
                          <a:solidFill>
                            <a:srgbClr val="FF0000"/>
                          </a:solidFill>
                          <a:latin typeface="微软雅黑" panose="020B0503020204020204" pitchFamily="34" charset="-122"/>
                          <a:ea typeface="微软雅黑" panose="020B0503020204020204" pitchFamily="34" charset="-122"/>
                          <a:cs typeface="+mn-cs"/>
                        </a:rPr>
                        <a:t>被强行终止</a:t>
                      </a:r>
                    </a:p>
                  </a:txBody>
                  <a:tcPr/>
                </a:tc>
                <a:tc hMerge="1">
                  <a:txBody>
                    <a:bodyPr/>
                    <a:lstStyle/>
                    <a:p>
                      <a:pPr marL="285750" indent="-285750">
                        <a:buFont typeface="Arial" panose="020B0604020202020204" pitchFamily="34" charset="0"/>
                        <a:buChar char="•"/>
                      </a:pPr>
                      <a:endParaRPr lang="zh-CN" altLang="en-US" sz="1800">
                        <a:latin typeface="微软雅黑" panose="020B0503020204020204" pitchFamily="34" charset="-122"/>
                        <a:ea typeface="微软雅黑" panose="020B0503020204020204" pitchFamily="34" charset="-122"/>
                      </a:endParaRPr>
                    </a:p>
                  </a:txBody>
                  <a:tcPr/>
                </a:tc>
                <a:tc hMerge="1">
                  <a:txBody>
                    <a:bodyPr/>
                    <a:lstStyle/>
                    <a:p>
                      <a:pPr marL="285750" indent="-285750">
                        <a:buFont typeface="Arial" panose="020B0604020202020204" pitchFamily="34" charset="0"/>
                        <a:buChar char="•"/>
                      </a:pPr>
                      <a:endParaRPr lang="zh-CN" altLang="en-US" sz="1800">
                        <a:latin typeface="微软雅黑" panose="020B0503020204020204" pitchFamily="34" charset="-122"/>
                        <a:ea typeface="微软雅黑" panose="020B0503020204020204" pitchFamily="34" charset="-122"/>
                      </a:endParaRPr>
                    </a:p>
                  </a:txBody>
                  <a:tcPr/>
                </a:tc>
                <a:tc hMerge="1">
                  <a:txBody>
                    <a:bodyPr/>
                    <a:lstStyle/>
                    <a:p>
                      <a:pPr marL="285750" indent="-285750">
                        <a:buFont typeface="Arial" panose="020B0604020202020204" pitchFamily="34" charset="0"/>
                        <a:buChar char="•"/>
                      </a:pPr>
                      <a:endParaRPr lang="zh-CN" altLang="en-US" sz="180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567644438"/>
                  </a:ext>
                </a:extLst>
              </a:tr>
            </a:tbl>
          </a:graphicData>
        </a:graphic>
      </p:graphicFrame>
    </p:spTree>
    <p:extLst>
      <p:ext uri="{BB962C8B-B14F-4D97-AF65-F5344CB8AC3E}">
        <p14:creationId xmlns:p14="http://schemas.microsoft.com/office/powerpoint/2010/main" val="3951347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E52F55-D042-427E-820A-955FB64B3D9A}"/>
              </a:ext>
            </a:extLst>
          </p:cNvPr>
          <p:cNvSpPr>
            <a:spLocks noGrp="1"/>
          </p:cNvSpPr>
          <p:nvPr>
            <p:ph type="title"/>
          </p:nvPr>
        </p:nvSpPr>
        <p:spPr/>
        <p:txBody>
          <a:bodyPr/>
          <a:lstStyle/>
          <a:p>
            <a:r>
              <a:rPr lang="zh-CN" altLang="en-US"/>
              <a:t>原子性示例</a:t>
            </a:r>
          </a:p>
        </p:txBody>
      </p:sp>
      <p:sp>
        <p:nvSpPr>
          <p:cNvPr id="3" name="内容占位符 2">
            <a:extLst>
              <a:ext uri="{FF2B5EF4-FFF2-40B4-BE49-F238E27FC236}">
                <a16:creationId xmlns:a16="http://schemas.microsoft.com/office/drawing/2014/main" id="{0472E2D0-A744-4C65-8499-AF1B746F1B01}"/>
              </a:ext>
            </a:extLst>
          </p:cNvPr>
          <p:cNvSpPr>
            <a:spLocks noGrp="1"/>
          </p:cNvSpPr>
          <p:nvPr>
            <p:ph idx="1"/>
          </p:nvPr>
        </p:nvSpPr>
        <p:spPr/>
        <p:txBody>
          <a:bodyPr/>
          <a:lstStyle/>
          <a:p>
            <a:r>
              <a:rPr lang="zh-CN" altLang="en-US">
                <a:solidFill>
                  <a:srgbClr val="0000CC"/>
                </a:solidFill>
              </a:rPr>
              <a:t>业务场景</a:t>
            </a:r>
            <a:r>
              <a:rPr lang="en-US" altLang="zh-CN">
                <a:solidFill>
                  <a:srgbClr val="0000CC"/>
                </a:solidFill>
              </a:rPr>
              <a:t>-</a:t>
            </a:r>
            <a:r>
              <a:rPr lang="zh-CN" altLang="en-US">
                <a:solidFill>
                  <a:srgbClr val="0000CC"/>
                </a:solidFill>
              </a:rPr>
              <a:t>银行转帐：从帐号</a:t>
            </a:r>
            <a:r>
              <a:rPr lang="en-US" altLang="zh-CN">
                <a:solidFill>
                  <a:srgbClr val="0000CC"/>
                </a:solidFill>
              </a:rPr>
              <a:t>A</a:t>
            </a:r>
            <a:r>
              <a:rPr lang="zh-CN" altLang="en-US">
                <a:solidFill>
                  <a:srgbClr val="0000CC"/>
                </a:solidFill>
              </a:rPr>
              <a:t>中取出一万元，存入帐号</a:t>
            </a:r>
            <a:r>
              <a:rPr lang="en-US" altLang="zh-CN">
                <a:solidFill>
                  <a:srgbClr val="0000CC"/>
                </a:solidFill>
              </a:rPr>
              <a:t>B</a:t>
            </a:r>
          </a:p>
          <a:p>
            <a:endParaRPr lang="en-US" altLang="zh-CN" sz="1200"/>
          </a:p>
          <a:p>
            <a:pPr lvl="1">
              <a:lnSpc>
                <a:spcPct val="130000"/>
              </a:lnSpc>
            </a:pPr>
            <a:r>
              <a:rPr lang="zh-CN" altLang="en-US"/>
              <a:t>上述业务逻辑可被定义为一个事务，该事务包括两个操作：账号</a:t>
            </a:r>
            <a:r>
              <a:rPr lang="en-US" altLang="zh-CN"/>
              <a:t>A</a:t>
            </a:r>
            <a:r>
              <a:rPr lang="zh-CN" altLang="en-US"/>
              <a:t>的余额先减去</a:t>
            </a:r>
            <a:r>
              <a:rPr lang="en-US" altLang="zh-CN"/>
              <a:t>1</a:t>
            </a:r>
            <a:r>
              <a:rPr lang="zh-CN" altLang="en-US"/>
              <a:t>万元，然后账号</a:t>
            </a:r>
            <a:r>
              <a:rPr lang="en-US" altLang="zh-CN"/>
              <a:t>B</a:t>
            </a:r>
            <a:r>
              <a:rPr lang="zh-CN" altLang="en-US"/>
              <a:t>的余额增加</a:t>
            </a:r>
            <a:r>
              <a:rPr lang="en-US" altLang="zh-CN"/>
              <a:t>1</a:t>
            </a:r>
            <a:r>
              <a:rPr lang="zh-CN" altLang="en-US"/>
              <a:t>万元，图示如下：</a:t>
            </a:r>
            <a:endParaRPr lang="en-US" altLang="zh-CN"/>
          </a:p>
          <a:p>
            <a:endParaRPr lang="zh-CN" altLang="en-US"/>
          </a:p>
        </p:txBody>
      </p:sp>
      <p:sp>
        <p:nvSpPr>
          <p:cNvPr id="4" name="灯片编号占位符 3">
            <a:extLst>
              <a:ext uri="{FF2B5EF4-FFF2-40B4-BE49-F238E27FC236}">
                <a16:creationId xmlns:a16="http://schemas.microsoft.com/office/drawing/2014/main" id="{F33FB973-2290-4728-A99B-666E24AD6597}"/>
              </a:ext>
            </a:extLst>
          </p:cNvPr>
          <p:cNvSpPr>
            <a:spLocks noGrp="1"/>
          </p:cNvSpPr>
          <p:nvPr>
            <p:ph type="sldNum" sz="quarter" idx="12"/>
          </p:nvPr>
        </p:nvSpPr>
        <p:spPr/>
        <p:txBody>
          <a:bodyPr/>
          <a:lstStyle/>
          <a:p>
            <a:fld id="{E63F6D5D-9733-4D44-9C56-AEFEDD5A4BA7}" type="slidenum">
              <a:rPr lang="en-US" smtClean="0"/>
              <a:pPr/>
              <a:t>7</a:t>
            </a:fld>
            <a:endParaRPr lang="en-US" dirty="0"/>
          </a:p>
        </p:txBody>
      </p:sp>
      <p:graphicFrame>
        <p:nvGraphicFramePr>
          <p:cNvPr id="5" name="表格 4">
            <a:extLst>
              <a:ext uri="{FF2B5EF4-FFF2-40B4-BE49-F238E27FC236}">
                <a16:creationId xmlns:a16="http://schemas.microsoft.com/office/drawing/2014/main" id="{792D25CF-BDCC-4F0B-A072-207D3840795D}"/>
              </a:ext>
            </a:extLst>
          </p:cNvPr>
          <p:cNvGraphicFramePr>
            <a:graphicFrameLocks noGrp="1"/>
          </p:cNvGraphicFramePr>
          <p:nvPr>
            <p:extLst/>
          </p:nvPr>
        </p:nvGraphicFramePr>
        <p:xfrm>
          <a:off x="1533939" y="3485773"/>
          <a:ext cx="3124200" cy="2377440"/>
        </p:xfrm>
        <a:graphic>
          <a:graphicData uri="http://schemas.openxmlformats.org/drawingml/2006/table">
            <a:tbl>
              <a:tblPr firstRow="1" bandRow="1"/>
              <a:tblGrid>
                <a:gridCol w="1562100">
                  <a:extLst>
                    <a:ext uri="{9D8B030D-6E8A-4147-A177-3AD203B41FA5}">
                      <a16:colId xmlns:a16="http://schemas.microsoft.com/office/drawing/2014/main" val="1142007073"/>
                    </a:ext>
                  </a:extLst>
                </a:gridCol>
                <a:gridCol w="1562100">
                  <a:extLst>
                    <a:ext uri="{9D8B030D-6E8A-4147-A177-3AD203B41FA5}">
                      <a16:colId xmlns:a16="http://schemas.microsoft.com/office/drawing/2014/main" val="3897027959"/>
                    </a:ext>
                  </a:extLst>
                </a:gridCol>
              </a:tblGrid>
              <a:tr h="542367">
                <a:tc>
                  <a:txBody>
                    <a:bodyPr/>
                    <a:lstStyle/>
                    <a:p>
                      <a:pPr algn="ctr">
                        <a:lnSpc>
                          <a:spcPct val="100000"/>
                        </a:lnSpc>
                      </a:pPr>
                      <a:r>
                        <a:rPr lang="en-US" altLang="zh-CN" sz="3200" b="1" dirty="0">
                          <a:solidFill>
                            <a:srgbClr val="0000FF"/>
                          </a:solidFill>
                        </a:rPr>
                        <a:t>A</a:t>
                      </a:r>
                      <a:endParaRPr lang="zh-CN" altLang="en-US" sz="3200" b="1" dirty="0">
                        <a:solidFill>
                          <a:srgbClr val="0000FF"/>
                        </a:solidFill>
                      </a:endParaRPr>
                    </a:p>
                  </a:txBody>
                  <a:tcPr/>
                </a:tc>
                <a:tc>
                  <a:txBody>
                    <a:bodyPr/>
                    <a:lstStyle/>
                    <a:p>
                      <a:pPr algn="ctr">
                        <a:lnSpc>
                          <a:spcPct val="100000"/>
                        </a:lnSpc>
                      </a:pPr>
                      <a:r>
                        <a:rPr lang="en-US" altLang="zh-CN" sz="3200" b="1" dirty="0">
                          <a:solidFill>
                            <a:srgbClr val="0000FF"/>
                          </a:solidFill>
                        </a:rPr>
                        <a:t>B</a:t>
                      </a:r>
                      <a:endParaRPr lang="zh-CN" altLang="en-US" sz="3200" b="1" dirty="0">
                        <a:solidFill>
                          <a:srgbClr val="0000FF"/>
                        </a:solidFill>
                      </a:endParaRPr>
                    </a:p>
                  </a:txBody>
                  <a:tcPr/>
                </a:tc>
                <a:extLst>
                  <a:ext uri="{0D108BD9-81ED-4DB2-BD59-A6C34878D82A}">
                    <a16:rowId xmlns:a16="http://schemas.microsoft.com/office/drawing/2014/main" val="1951745098"/>
                  </a:ext>
                </a:extLst>
              </a:tr>
              <a:tr h="1342251">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US" altLang="zh-CN" sz="3200" b="1">
                          <a:solidFill>
                            <a:srgbClr val="0000FF"/>
                          </a:solidFill>
                        </a:rPr>
                        <a:t>A</a:t>
                      </a:r>
                      <a:r>
                        <a:rPr lang="en-US" altLang="zh-CN" sz="3200" b="1" dirty="0">
                          <a:solidFill>
                            <a:srgbClr val="0000FF"/>
                          </a:solidFill>
                        </a:rPr>
                        <a:t>=A-1</a:t>
                      </a:r>
                    </a:p>
                    <a:p>
                      <a:pPr>
                        <a:lnSpc>
                          <a:spcPct val="100000"/>
                        </a:lnSpc>
                      </a:pPr>
                      <a:endParaRPr lang="zh-CN" altLang="en-US" sz="1600" b="1" dirty="0"/>
                    </a:p>
                  </a:txBody>
                  <a:tcPr/>
                </a:tc>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lang="en-US" altLang="zh-CN" sz="3200" b="1">
                        <a:solidFill>
                          <a:srgbClr val="0000FF"/>
                        </a:solidFill>
                      </a:endParaRPr>
                    </a:p>
                    <a:p>
                      <a:pPr marL="0" marR="0" lvl="0" indent="0" algn="l" defTabSz="514350" rtl="0" eaLnBrk="1" fontAlgn="auto" latinLnBrk="0" hangingPunct="1">
                        <a:lnSpc>
                          <a:spcPct val="100000"/>
                        </a:lnSpc>
                        <a:spcBef>
                          <a:spcPts val="0"/>
                        </a:spcBef>
                        <a:spcAft>
                          <a:spcPts val="0"/>
                        </a:spcAft>
                        <a:buClrTx/>
                        <a:buSzTx/>
                        <a:buFontTx/>
                        <a:buNone/>
                        <a:tabLst/>
                        <a:defRPr/>
                      </a:pPr>
                      <a:endParaRPr lang="en-US" altLang="zh-CN" sz="1600" b="1" dirty="0">
                        <a:solidFill>
                          <a:srgbClr val="0000FF"/>
                        </a:solidFill>
                      </a:endParaRPr>
                    </a:p>
                    <a:p>
                      <a:pPr marL="0" marR="0" lvl="0" indent="0" algn="l" defTabSz="514350" rtl="0" eaLnBrk="1" fontAlgn="auto" latinLnBrk="0" hangingPunct="1">
                        <a:lnSpc>
                          <a:spcPct val="100000"/>
                        </a:lnSpc>
                        <a:spcBef>
                          <a:spcPts val="0"/>
                        </a:spcBef>
                        <a:spcAft>
                          <a:spcPts val="0"/>
                        </a:spcAft>
                        <a:buClrTx/>
                        <a:buSzTx/>
                        <a:buFontTx/>
                        <a:buNone/>
                        <a:tabLst/>
                        <a:defRPr/>
                      </a:pPr>
                      <a:r>
                        <a:rPr lang="en-US" altLang="zh-CN" sz="3200" b="1">
                          <a:solidFill>
                            <a:srgbClr val="0000FF"/>
                          </a:solidFill>
                        </a:rPr>
                        <a:t>B</a:t>
                      </a:r>
                      <a:r>
                        <a:rPr lang="en-US" altLang="zh-CN" sz="3200" b="1" dirty="0">
                          <a:solidFill>
                            <a:srgbClr val="0000FF"/>
                          </a:solidFill>
                        </a:rPr>
                        <a:t>=B+1 </a:t>
                      </a:r>
                    </a:p>
                  </a:txBody>
                  <a:tcPr/>
                </a:tc>
                <a:extLst>
                  <a:ext uri="{0D108BD9-81ED-4DB2-BD59-A6C34878D82A}">
                    <a16:rowId xmlns:a16="http://schemas.microsoft.com/office/drawing/2014/main" val="301460276"/>
                  </a:ext>
                </a:extLst>
              </a:tr>
            </a:tbl>
          </a:graphicData>
        </a:graphic>
      </p:graphicFrame>
      <p:sp>
        <p:nvSpPr>
          <p:cNvPr id="6" name="文本框 5">
            <a:extLst>
              <a:ext uri="{FF2B5EF4-FFF2-40B4-BE49-F238E27FC236}">
                <a16:creationId xmlns:a16="http://schemas.microsoft.com/office/drawing/2014/main" id="{E350E0C7-9297-4A7A-9526-D86F6EF6919C}"/>
              </a:ext>
            </a:extLst>
          </p:cNvPr>
          <p:cNvSpPr txBox="1"/>
          <p:nvPr/>
        </p:nvSpPr>
        <p:spPr>
          <a:xfrm>
            <a:off x="5019261" y="3489086"/>
            <a:ext cx="5638800" cy="188461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000">
                <a:solidFill>
                  <a:srgbClr val="0000CC"/>
                </a:solidFill>
                <a:latin typeface="微软雅黑" panose="020B0503020204020204" pitchFamily="34" charset="-122"/>
                <a:ea typeface="微软雅黑" panose="020B0503020204020204" pitchFamily="34" charset="-122"/>
              </a:rPr>
              <a:t>这两个操作</a:t>
            </a:r>
            <a:r>
              <a:rPr lang="zh-CN" altLang="en-US" sz="2000">
                <a:solidFill>
                  <a:srgbClr val="FF0000"/>
                </a:solidFill>
                <a:latin typeface="微软雅黑" panose="020B0503020204020204" pitchFamily="34" charset="-122"/>
                <a:ea typeface="微软雅黑" panose="020B0503020204020204" pitchFamily="34" charset="-122"/>
              </a:rPr>
              <a:t>要么全做</a:t>
            </a:r>
            <a:r>
              <a:rPr lang="zh-CN" altLang="en-US" sz="2000">
                <a:solidFill>
                  <a:srgbClr val="0000CC"/>
                </a:solidFill>
                <a:latin typeface="微软雅黑" panose="020B0503020204020204" pitchFamily="34" charset="-122"/>
                <a:ea typeface="微软雅黑" panose="020B0503020204020204" pitchFamily="34" charset="-122"/>
              </a:rPr>
              <a:t>，</a:t>
            </a:r>
            <a:r>
              <a:rPr lang="zh-CN" altLang="en-US" sz="2000">
                <a:solidFill>
                  <a:srgbClr val="FF0000"/>
                </a:solidFill>
                <a:latin typeface="微软雅黑" panose="020B0503020204020204" pitchFamily="34" charset="-122"/>
                <a:ea typeface="微软雅黑" panose="020B0503020204020204" pitchFamily="34" charset="-122"/>
              </a:rPr>
              <a:t>要么全不做</a:t>
            </a:r>
            <a:endParaRPr lang="en-US" altLang="zh-CN" sz="2000">
              <a:solidFill>
                <a:srgbClr val="FF0000"/>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a:solidFill>
                  <a:srgbClr val="0000CC"/>
                </a:solidFill>
                <a:latin typeface="微软雅黑" panose="020B0503020204020204" pitchFamily="34" charset="-122"/>
                <a:ea typeface="微软雅黑" panose="020B0503020204020204" pitchFamily="34" charset="-122"/>
              </a:rPr>
              <a:t>全做或者全不做，数据库都处于一致性状态</a:t>
            </a:r>
            <a:endParaRPr lang="en-US" altLang="zh-CN" sz="2000">
              <a:solidFill>
                <a:srgbClr val="0000CC"/>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a:solidFill>
                  <a:srgbClr val="0000CC"/>
                </a:solidFill>
                <a:latin typeface="微软雅黑" panose="020B0503020204020204" pitchFamily="34" charset="-122"/>
                <a:ea typeface="微软雅黑" panose="020B0503020204020204" pitchFamily="34" charset="-122"/>
              </a:rPr>
              <a:t>如果只做一个操作，用户逻辑上就会发生错误，少了</a:t>
            </a:r>
            <a:r>
              <a:rPr lang="en-US" altLang="zh-CN" sz="2000">
                <a:solidFill>
                  <a:srgbClr val="0000CC"/>
                </a:solidFill>
                <a:latin typeface="微软雅黑" panose="020B0503020204020204" pitchFamily="34" charset="-122"/>
                <a:ea typeface="微软雅黑" panose="020B0503020204020204" pitchFamily="34" charset="-122"/>
              </a:rPr>
              <a:t>1</a:t>
            </a:r>
            <a:r>
              <a:rPr lang="zh-CN" altLang="en-US" sz="2000">
                <a:solidFill>
                  <a:srgbClr val="0000CC"/>
                </a:solidFill>
                <a:latin typeface="微软雅黑" panose="020B0503020204020204" pitchFamily="34" charset="-122"/>
                <a:ea typeface="微软雅黑" panose="020B0503020204020204" pitchFamily="34" charset="-122"/>
              </a:rPr>
              <a:t>万元，数据库就处于不一致性状态</a:t>
            </a:r>
          </a:p>
        </p:txBody>
      </p:sp>
    </p:spTree>
    <p:extLst>
      <p:ext uri="{BB962C8B-B14F-4D97-AF65-F5344CB8AC3E}">
        <p14:creationId xmlns:p14="http://schemas.microsoft.com/office/powerpoint/2010/main" val="4039293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2AF533-CDBE-44EE-AF85-418067212456}"/>
              </a:ext>
            </a:extLst>
          </p:cNvPr>
          <p:cNvSpPr>
            <a:spLocks noGrp="1"/>
          </p:cNvSpPr>
          <p:nvPr>
            <p:ph type="title"/>
          </p:nvPr>
        </p:nvSpPr>
        <p:spPr/>
        <p:txBody>
          <a:bodyPr/>
          <a:lstStyle/>
          <a:p>
            <a:r>
              <a:rPr lang="zh-CN" altLang="en-US"/>
              <a:t>隔离性示例</a:t>
            </a:r>
          </a:p>
        </p:txBody>
      </p:sp>
      <p:sp>
        <p:nvSpPr>
          <p:cNvPr id="4" name="灯片编号占位符 3">
            <a:extLst>
              <a:ext uri="{FF2B5EF4-FFF2-40B4-BE49-F238E27FC236}">
                <a16:creationId xmlns:a16="http://schemas.microsoft.com/office/drawing/2014/main" id="{1D583DE7-3B70-4F23-B2EF-8CB904E6C43D}"/>
              </a:ext>
            </a:extLst>
          </p:cNvPr>
          <p:cNvSpPr>
            <a:spLocks noGrp="1"/>
          </p:cNvSpPr>
          <p:nvPr>
            <p:ph type="sldNum" sz="quarter" idx="12"/>
          </p:nvPr>
        </p:nvSpPr>
        <p:spPr/>
        <p:txBody>
          <a:bodyPr/>
          <a:lstStyle/>
          <a:p>
            <a:fld id="{E63F6D5D-9733-4D44-9C56-AEFEDD5A4BA7}" type="slidenum">
              <a:rPr lang="en-US" smtClean="0"/>
              <a:pPr/>
              <a:t>8</a:t>
            </a:fld>
            <a:endParaRPr lang="en-US" dirty="0"/>
          </a:p>
        </p:txBody>
      </p:sp>
      <p:pic>
        <p:nvPicPr>
          <p:cNvPr id="5" name="内容占位符 4">
            <a:extLst>
              <a:ext uri="{FF2B5EF4-FFF2-40B4-BE49-F238E27FC236}">
                <a16:creationId xmlns:a16="http://schemas.microsoft.com/office/drawing/2014/main" id="{0D5BEB95-5868-4FDE-8CD0-873DC04207EB}"/>
              </a:ext>
            </a:extLst>
          </p:cNvPr>
          <p:cNvPicPr>
            <a:picLocks noGrp="1" noChangeAspect="1"/>
          </p:cNvPicPr>
          <p:nvPr>
            <p:ph idx="1"/>
          </p:nvPr>
        </p:nvPicPr>
        <p:blipFill>
          <a:blip r:embed="rId2"/>
          <a:stretch>
            <a:fillRect/>
          </a:stretch>
        </p:blipFill>
        <p:spPr>
          <a:xfrm>
            <a:off x="2669406" y="1447799"/>
            <a:ext cx="3529263" cy="4191000"/>
          </a:xfrm>
          <a:prstGeom prst="rect">
            <a:avLst/>
          </a:prstGeom>
        </p:spPr>
      </p:pic>
      <p:sp>
        <p:nvSpPr>
          <p:cNvPr id="7" name="文本框 6">
            <a:extLst>
              <a:ext uri="{FF2B5EF4-FFF2-40B4-BE49-F238E27FC236}">
                <a16:creationId xmlns:a16="http://schemas.microsoft.com/office/drawing/2014/main" id="{24CB136C-9A41-404A-B88E-476E0A6FC15E}"/>
              </a:ext>
            </a:extLst>
          </p:cNvPr>
          <p:cNvSpPr txBox="1"/>
          <p:nvPr/>
        </p:nvSpPr>
        <p:spPr>
          <a:xfrm>
            <a:off x="6287703" y="1749635"/>
            <a:ext cx="5638800" cy="358732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2200" dirty="0">
                <a:solidFill>
                  <a:srgbClr val="0000CC"/>
                </a:solidFill>
                <a:latin typeface="微软雅黑" panose="020B0503020204020204" pitchFamily="34" charset="-122"/>
                <a:ea typeface="微软雅黑" panose="020B0503020204020204" pitchFamily="34" charset="-122"/>
              </a:rPr>
              <a:t>T</a:t>
            </a:r>
            <a:r>
              <a:rPr lang="en-US" altLang="zh-CN" sz="2200" baseline="-25000" dirty="0">
                <a:solidFill>
                  <a:srgbClr val="0000CC"/>
                </a:solidFill>
                <a:latin typeface="微软雅黑" panose="020B0503020204020204" pitchFamily="34" charset="-122"/>
                <a:ea typeface="微软雅黑" panose="020B0503020204020204" pitchFamily="34" charset="-122"/>
              </a:rPr>
              <a:t>1</a:t>
            </a:r>
            <a:r>
              <a:rPr lang="zh-CN" altLang="en-US" sz="2200" dirty="0">
                <a:solidFill>
                  <a:srgbClr val="0000CC"/>
                </a:solidFill>
                <a:latin typeface="微软雅黑" panose="020B0503020204020204" pitchFamily="34" charset="-122"/>
                <a:ea typeface="微软雅黑" panose="020B0503020204020204" pitchFamily="34" charset="-122"/>
              </a:rPr>
              <a:t>和</a:t>
            </a:r>
            <a:r>
              <a:rPr lang="en-US" altLang="zh-CN" sz="2200" dirty="0">
                <a:solidFill>
                  <a:srgbClr val="0000CC"/>
                </a:solidFill>
                <a:latin typeface="微软雅黑" panose="020B0503020204020204" pitchFamily="34" charset="-122"/>
                <a:ea typeface="微软雅黑" panose="020B0503020204020204" pitchFamily="34" charset="-122"/>
              </a:rPr>
              <a:t>T</a:t>
            </a:r>
            <a:r>
              <a:rPr lang="en-US" altLang="zh-CN" sz="2200" baseline="-25000" dirty="0">
                <a:solidFill>
                  <a:srgbClr val="0000CC"/>
                </a:solidFill>
                <a:latin typeface="微软雅黑" panose="020B0503020204020204" pitchFamily="34" charset="-122"/>
                <a:ea typeface="微软雅黑" panose="020B0503020204020204" pitchFamily="34" charset="-122"/>
              </a:rPr>
              <a:t>2</a:t>
            </a:r>
            <a:r>
              <a:rPr lang="zh-CN" altLang="en-US" sz="2200" dirty="0">
                <a:solidFill>
                  <a:srgbClr val="0000CC"/>
                </a:solidFill>
                <a:latin typeface="微软雅黑" panose="020B0503020204020204" pitchFamily="34" charset="-122"/>
                <a:ea typeface="微软雅黑" panose="020B0503020204020204" pitchFamily="34" charset="-122"/>
              </a:rPr>
              <a:t>是两个事务</a:t>
            </a:r>
            <a:endParaRPr lang="en-US" altLang="zh-CN" sz="2200" dirty="0">
              <a:solidFill>
                <a:srgbClr val="0000CC"/>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200" dirty="0">
                <a:solidFill>
                  <a:srgbClr val="0000CC"/>
                </a:solidFill>
                <a:latin typeface="微软雅黑" panose="020B0503020204020204" pitchFamily="34" charset="-122"/>
                <a:ea typeface="微软雅黑" panose="020B0503020204020204" pitchFamily="34" charset="-122"/>
              </a:rPr>
              <a:t>这两个事务同时读取到</a:t>
            </a:r>
            <a:r>
              <a:rPr lang="en-US" altLang="zh-CN" sz="2200" dirty="0">
                <a:solidFill>
                  <a:srgbClr val="0000CC"/>
                </a:solidFill>
                <a:latin typeface="微软雅黑" panose="020B0503020204020204" pitchFamily="34" charset="-122"/>
                <a:ea typeface="微软雅黑" panose="020B0503020204020204" pitchFamily="34" charset="-122"/>
              </a:rPr>
              <a:t>A</a:t>
            </a:r>
            <a:r>
              <a:rPr lang="zh-CN" altLang="en-US" sz="2200" dirty="0">
                <a:solidFill>
                  <a:srgbClr val="0000CC"/>
                </a:solidFill>
                <a:latin typeface="微软雅黑" panose="020B0503020204020204" pitchFamily="34" charset="-122"/>
                <a:ea typeface="微软雅黑" panose="020B0503020204020204" pitchFamily="34" charset="-122"/>
              </a:rPr>
              <a:t>的值为</a:t>
            </a:r>
            <a:r>
              <a:rPr lang="en-US" altLang="zh-CN" sz="2200" dirty="0">
                <a:solidFill>
                  <a:srgbClr val="0000CC"/>
                </a:solidFill>
                <a:latin typeface="微软雅黑" panose="020B0503020204020204" pitchFamily="34" charset="-122"/>
                <a:ea typeface="微软雅黑" panose="020B0503020204020204" pitchFamily="34" charset="-122"/>
              </a:rPr>
              <a:t>16</a:t>
            </a:r>
          </a:p>
          <a:p>
            <a:pPr marL="285750" indent="-285750">
              <a:lnSpc>
                <a:spcPct val="150000"/>
              </a:lnSpc>
              <a:buFont typeface="Arial" panose="020B0604020202020204" pitchFamily="34" charset="0"/>
              <a:buChar char="•"/>
            </a:pPr>
            <a:r>
              <a:rPr lang="en-US" altLang="zh-CN" sz="2200" dirty="0">
                <a:solidFill>
                  <a:srgbClr val="0000CC"/>
                </a:solidFill>
                <a:latin typeface="微软雅黑" panose="020B0503020204020204" pitchFamily="34" charset="-122"/>
                <a:ea typeface="微软雅黑" panose="020B0503020204020204" pitchFamily="34" charset="-122"/>
              </a:rPr>
              <a:t>T</a:t>
            </a:r>
            <a:r>
              <a:rPr lang="en-US" altLang="zh-CN" sz="2200" baseline="-25000" dirty="0">
                <a:solidFill>
                  <a:srgbClr val="0000CC"/>
                </a:solidFill>
                <a:latin typeface="微软雅黑" panose="020B0503020204020204" pitchFamily="34" charset="-122"/>
                <a:ea typeface="微软雅黑" panose="020B0503020204020204" pitchFamily="34" charset="-122"/>
              </a:rPr>
              <a:t>1</a:t>
            </a:r>
            <a:r>
              <a:rPr lang="zh-CN" altLang="en-US" sz="2200" dirty="0">
                <a:solidFill>
                  <a:srgbClr val="0000CC"/>
                </a:solidFill>
                <a:latin typeface="微软雅黑" panose="020B0503020204020204" pitchFamily="34" charset="-122"/>
                <a:ea typeface="微软雅黑" panose="020B0503020204020204" pitchFamily="34" charset="-122"/>
              </a:rPr>
              <a:t>更新</a:t>
            </a:r>
            <a:r>
              <a:rPr lang="en-US" altLang="zh-CN" sz="2200" dirty="0">
                <a:solidFill>
                  <a:srgbClr val="0000CC"/>
                </a:solidFill>
                <a:latin typeface="微软雅黑" panose="020B0503020204020204" pitchFamily="34" charset="-122"/>
                <a:ea typeface="微软雅黑" panose="020B0503020204020204" pitchFamily="34" charset="-122"/>
              </a:rPr>
              <a:t>A</a:t>
            </a:r>
            <a:r>
              <a:rPr lang="zh-CN" altLang="en-US" sz="2200" dirty="0">
                <a:solidFill>
                  <a:srgbClr val="0000CC"/>
                </a:solidFill>
                <a:latin typeface="微软雅黑" panose="020B0503020204020204" pitchFamily="34" charset="-122"/>
                <a:ea typeface="微软雅黑" panose="020B0503020204020204" pitchFamily="34" charset="-122"/>
              </a:rPr>
              <a:t>的值为</a:t>
            </a:r>
            <a:r>
              <a:rPr lang="en-US" altLang="zh-CN" sz="2200" dirty="0">
                <a:solidFill>
                  <a:srgbClr val="0000CC"/>
                </a:solidFill>
                <a:latin typeface="微软雅黑" panose="020B0503020204020204" pitchFamily="34" charset="-122"/>
                <a:ea typeface="微软雅黑" panose="020B0503020204020204" pitchFamily="34" charset="-122"/>
              </a:rPr>
              <a:t>15</a:t>
            </a:r>
          </a:p>
          <a:p>
            <a:pPr marL="285750" indent="-285750">
              <a:lnSpc>
                <a:spcPct val="150000"/>
              </a:lnSpc>
              <a:buFont typeface="Arial" panose="020B0604020202020204" pitchFamily="34" charset="0"/>
              <a:buChar char="•"/>
            </a:pPr>
            <a:r>
              <a:rPr lang="en-US" altLang="zh-CN" sz="2200" dirty="0">
                <a:solidFill>
                  <a:srgbClr val="0000CC"/>
                </a:solidFill>
                <a:latin typeface="微软雅黑" panose="020B0503020204020204" pitchFamily="34" charset="-122"/>
                <a:ea typeface="微软雅黑" panose="020B0503020204020204" pitchFamily="34" charset="-122"/>
              </a:rPr>
              <a:t>T</a:t>
            </a:r>
            <a:r>
              <a:rPr lang="en-US" altLang="zh-CN" sz="2200" baseline="-25000" dirty="0">
                <a:solidFill>
                  <a:srgbClr val="0000CC"/>
                </a:solidFill>
                <a:latin typeface="微软雅黑" panose="020B0503020204020204" pitchFamily="34" charset="-122"/>
                <a:ea typeface="微软雅黑" panose="020B0503020204020204" pitchFamily="34" charset="-122"/>
              </a:rPr>
              <a:t>2</a:t>
            </a:r>
            <a:r>
              <a:rPr lang="zh-CN" altLang="en-US" sz="2200" dirty="0">
                <a:solidFill>
                  <a:srgbClr val="0000CC"/>
                </a:solidFill>
                <a:latin typeface="微软雅黑" panose="020B0503020204020204" pitchFamily="34" charset="-122"/>
                <a:ea typeface="微软雅黑" panose="020B0503020204020204" pitchFamily="34" charset="-122"/>
              </a:rPr>
              <a:t>更新</a:t>
            </a:r>
            <a:r>
              <a:rPr lang="en-US" altLang="zh-CN" sz="2200" dirty="0">
                <a:solidFill>
                  <a:srgbClr val="0000CC"/>
                </a:solidFill>
                <a:latin typeface="微软雅黑" panose="020B0503020204020204" pitchFamily="34" charset="-122"/>
                <a:ea typeface="微软雅黑" panose="020B0503020204020204" pitchFamily="34" charset="-122"/>
              </a:rPr>
              <a:t>A</a:t>
            </a:r>
            <a:r>
              <a:rPr lang="zh-CN" altLang="en-US" sz="2200" dirty="0">
                <a:solidFill>
                  <a:srgbClr val="0000CC"/>
                </a:solidFill>
                <a:latin typeface="微软雅黑" panose="020B0503020204020204" pitchFamily="34" charset="-122"/>
                <a:ea typeface="微软雅黑" panose="020B0503020204020204" pitchFamily="34" charset="-122"/>
              </a:rPr>
              <a:t>的值为</a:t>
            </a:r>
            <a:r>
              <a:rPr lang="en-US" altLang="zh-CN" sz="2200" dirty="0">
                <a:solidFill>
                  <a:srgbClr val="0000CC"/>
                </a:solidFill>
                <a:latin typeface="微软雅黑" panose="020B0503020204020204" pitchFamily="34" charset="-122"/>
                <a:ea typeface="微软雅黑" panose="020B0503020204020204" pitchFamily="34" charset="-122"/>
              </a:rPr>
              <a:t>13</a:t>
            </a:r>
          </a:p>
          <a:p>
            <a:pPr marL="285750" indent="-285750">
              <a:lnSpc>
                <a:spcPct val="150000"/>
              </a:lnSpc>
              <a:buFont typeface="Arial" panose="020B0604020202020204" pitchFamily="34" charset="0"/>
              <a:buChar char="•"/>
            </a:pPr>
            <a:r>
              <a:rPr lang="zh-CN" altLang="en-US" sz="2200" dirty="0">
                <a:solidFill>
                  <a:srgbClr val="0000CC"/>
                </a:solidFill>
                <a:latin typeface="微软雅黑" panose="020B0503020204020204" pitchFamily="34" charset="-122"/>
                <a:ea typeface="微软雅黑" panose="020B0503020204020204" pitchFamily="34" charset="-122"/>
              </a:rPr>
              <a:t>因为没有隔离机制，这导致</a:t>
            </a:r>
            <a:r>
              <a:rPr lang="en-US" altLang="zh-CN" sz="2200" dirty="0">
                <a:solidFill>
                  <a:srgbClr val="FF0000"/>
                </a:solidFill>
                <a:latin typeface="微软雅黑" panose="020B0503020204020204" pitchFamily="34" charset="-122"/>
                <a:ea typeface="微软雅黑" panose="020B0503020204020204" pitchFamily="34" charset="-122"/>
              </a:rPr>
              <a:t>T</a:t>
            </a:r>
            <a:r>
              <a:rPr lang="en-US" altLang="zh-CN" sz="2200" baseline="-25000" dirty="0">
                <a:solidFill>
                  <a:srgbClr val="FF0000"/>
                </a:solidFill>
                <a:latin typeface="微软雅黑" panose="020B0503020204020204" pitchFamily="34" charset="-122"/>
                <a:ea typeface="微软雅黑" panose="020B0503020204020204" pitchFamily="34" charset="-122"/>
              </a:rPr>
              <a:t>1</a:t>
            </a:r>
            <a:r>
              <a:rPr lang="zh-CN" altLang="en-US" sz="2200" dirty="0">
                <a:solidFill>
                  <a:srgbClr val="FF0000"/>
                </a:solidFill>
                <a:latin typeface="微软雅黑" panose="020B0503020204020204" pitchFamily="34" charset="-122"/>
                <a:ea typeface="微软雅黑" panose="020B0503020204020204" pitchFamily="34" charset="-122"/>
              </a:rPr>
              <a:t>的修改被</a:t>
            </a:r>
            <a:r>
              <a:rPr lang="en-US" altLang="zh-CN" sz="2200" dirty="0">
                <a:solidFill>
                  <a:srgbClr val="FF0000"/>
                </a:solidFill>
                <a:latin typeface="微软雅黑" panose="020B0503020204020204" pitchFamily="34" charset="-122"/>
                <a:ea typeface="微软雅黑" panose="020B0503020204020204" pitchFamily="34" charset="-122"/>
              </a:rPr>
              <a:t>T</a:t>
            </a:r>
            <a:r>
              <a:rPr lang="en-US" altLang="zh-CN" sz="2200" baseline="-25000" dirty="0">
                <a:solidFill>
                  <a:srgbClr val="FF0000"/>
                </a:solidFill>
                <a:latin typeface="微软雅黑" panose="020B0503020204020204" pitchFamily="34" charset="-122"/>
                <a:ea typeface="微软雅黑" panose="020B0503020204020204" pitchFamily="34" charset="-122"/>
              </a:rPr>
              <a:t>2</a:t>
            </a:r>
            <a:r>
              <a:rPr lang="zh-CN" altLang="en-US" sz="2200" dirty="0">
                <a:solidFill>
                  <a:srgbClr val="FF0000"/>
                </a:solidFill>
                <a:latin typeface="微软雅黑" panose="020B0503020204020204" pitchFamily="34" charset="-122"/>
                <a:ea typeface="微软雅黑" panose="020B0503020204020204" pitchFamily="34" charset="-122"/>
              </a:rPr>
              <a:t>的结果所覆盖！，即</a:t>
            </a:r>
            <a:r>
              <a:rPr lang="en-US" altLang="zh-CN" sz="2200" dirty="0">
                <a:solidFill>
                  <a:srgbClr val="FF0000"/>
                </a:solidFill>
                <a:latin typeface="微软雅黑" panose="020B0503020204020204" pitchFamily="34" charset="-122"/>
                <a:ea typeface="微软雅黑" panose="020B0503020204020204" pitchFamily="34" charset="-122"/>
              </a:rPr>
              <a:t>T</a:t>
            </a:r>
            <a:r>
              <a:rPr lang="en-US" altLang="zh-CN" sz="2200" baseline="-25000" dirty="0">
                <a:solidFill>
                  <a:srgbClr val="FF0000"/>
                </a:solidFill>
                <a:latin typeface="微软雅黑" panose="020B0503020204020204" pitchFamily="34" charset="-122"/>
                <a:ea typeface="微软雅黑" panose="020B0503020204020204" pitchFamily="34" charset="-122"/>
              </a:rPr>
              <a:t>1</a:t>
            </a:r>
            <a:r>
              <a:rPr lang="zh-CN" altLang="en-US" sz="2200" dirty="0">
                <a:solidFill>
                  <a:srgbClr val="FF0000"/>
                </a:solidFill>
                <a:latin typeface="微软雅黑" panose="020B0503020204020204" pitchFamily="34" charset="-122"/>
                <a:ea typeface="微软雅黑" panose="020B0503020204020204" pitchFamily="34" charset="-122"/>
              </a:rPr>
              <a:t>的更新操作没有被体现</a:t>
            </a:r>
            <a:endParaRPr lang="zh-CN" altLang="en-US" sz="2200" dirty="0">
              <a:solidFill>
                <a:srgbClr val="0000CC"/>
              </a:solidFill>
              <a:latin typeface="微软雅黑" panose="020B0503020204020204" pitchFamily="34" charset="-122"/>
              <a:ea typeface="微软雅黑" panose="020B0503020204020204" pitchFamily="34" charset="-122"/>
            </a:endParaRPr>
          </a:p>
        </p:txBody>
      </p:sp>
      <p:sp>
        <p:nvSpPr>
          <p:cNvPr id="6" name="AutoShape 15">
            <a:extLst>
              <a:ext uri="{FF2B5EF4-FFF2-40B4-BE49-F238E27FC236}">
                <a16:creationId xmlns:a16="http://schemas.microsoft.com/office/drawing/2014/main" id="{1E3D4726-4B46-4744-ABF4-B481CCB4B1D8}"/>
              </a:ext>
            </a:extLst>
          </p:cNvPr>
          <p:cNvSpPr>
            <a:spLocks/>
          </p:cNvSpPr>
          <p:nvPr/>
        </p:nvSpPr>
        <p:spPr bwMode="auto">
          <a:xfrm>
            <a:off x="194068" y="4111167"/>
            <a:ext cx="2386304" cy="443988"/>
          </a:xfrm>
          <a:prstGeom prst="borderCallout2">
            <a:avLst>
              <a:gd name="adj1" fmla="val 44309"/>
              <a:gd name="adj2" fmla="val 100697"/>
              <a:gd name="adj3" fmla="val 55669"/>
              <a:gd name="adj4" fmla="val 118527"/>
              <a:gd name="adj5" fmla="val 183708"/>
              <a:gd name="adj6" fmla="val 140389"/>
            </a:avLst>
          </a:prstGeom>
          <a:solidFill>
            <a:srgbClr val="CCFF33"/>
          </a:solidFill>
          <a:ln w="9525">
            <a:solidFill>
              <a:srgbClr val="79710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solidFill>
                  <a:schemeClr val="tx2"/>
                </a:solidFill>
                <a:ea typeface="楷体_GB2312" pitchFamily="49" charset="-122"/>
              </a:rPr>
              <a:t>T1</a:t>
            </a:r>
            <a:r>
              <a:rPr lang="zh-CN" altLang="en-US" b="1" dirty="0">
                <a:solidFill>
                  <a:schemeClr val="tx2"/>
                </a:solidFill>
                <a:ea typeface="楷体_GB2312" pitchFamily="49" charset="-122"/>
              </a:rPr>
              <a:t>的修改被</a:t>
            </a:r>
            <a:r>
              <a:rPr lang="en-US" altLang="zh-CN" b="1" dirty="0">
                <a:solidFill>
                  <a:schemeClr val="tx2"/>
                </a:solidFill>
                <a:ea typeface="楷体_GB2312" pitchFamily="49" charset="-122"/>
              </a:rPr>
              <a:t>T2</a:t>
            </a:r>
            <a:r>
              <a:rPr lang="zh-CN" altLang="en-US" b="1" dirty="0">
                <a:solidFill>
                  <a:schemeClr val="tx2"/>
                </a:solidFill>
                <a:ea typeface="楷体_GB2312" pitchFamily="49" charset="-122"/>
              </a:rPr>
              <a:t>覆盖了！</a:t>
            </a:r>
          </a:p>
        </p:txBody>
      </p:sp>
    </p:spTree>
    <p:extLst>
      <p:ext uri="{BB962C8B-B14F-4D97-AF65-F5344CB8AC3E}">
        <p14:creationId xmlns:p14="http://schemas.microsoft.com/office/powerpoint/2010/main" val="4167117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F7CD21DD-D393-4F0D-B444-FC53FDC78CC4}"/>
              </a:ext>
            </a:extLst>
          </p:cNvPr>
          <p:cNvSpPr>
            <a:spLocks noGrp="1"/>
          </p:cNvSpPr>
          <p:nvPr>
            <p:ph type="title"/>
          </p:nvPr>
        </p:nvSpPr>
        <p:spPr/>
        <p:txBody>
          <a:bodyPr/>
          <a:lstStyle/>
          <a:p>
            <a:r>
              <a:rPr lang="zh-CN" altLang="en-US" dirty="0"/>
              <a:t>事务的基本概念（续）</a:t>
            </a:r>
          </a:p>
        </p:txBody>
      </p:sp>
      <p:sp>
        <p:nvSpPr>
          <p:cNvPr id="3" name="内容占位符 2"/>
          <p:cNvSpPr>
            <a:spLocks noGrp="1"/>
          </p:cNvSpPr>
          <p:nvPr>
            <p:ph idx="1"/>
          </p:nvPr>
        </p:nvSpPr>
        <p:spPr/>
        <p:txBody>
          <a:bodyPr/>
          <a:lstStyle/>
          <a:p>
            <a:r>
              <a:rPr lang="zh-CN" altLang="en-US" dirty="0"/>
              <a:t>保证事务</a:t>
            </a:r>
            <a:r>
              <a:rPr lang="en-US" altLang="zh-CN" dirty="0">
                <a:solidFill>
                  <a:srgbClr val="C00000"/>
                </a:solidFill>
              </a:rPr>
              <a:t>ACID</a:t>
            </a:r>
            <a:r>
              <a:rPr lang="zh-CN" altLang="en-US" dirty="0">
                <a:solidFill>
                  <a:srgbClr val="C00000"/>
                </a:solidFill>
              </a:rPr>
              <a:t>特性</a:t>
            </a:r>
            <a:r>
              <a:rPr lang="zh-CN" altLang="en-US" dirty="0"/>
              <a:t>是事务处理的任务</a:t>
            </a:r>
          </a:p>
          <a:p>
            <a:r>
              <a:rPr lang="zh-CN" altLang="en-US" dirty="0"/>
              <a:t>破坏事务</a:t>
            </a:r>
            <a:r>
              <a:rPr lang="en-US" altLang="zh-CN" dirty="0"/>
              <a:t>ACID</a:t>
            </a:r>
            <a:r>
              <a:rPr lang="zh-CN" altLang="en-US" dirty="0"/>
              <a:t>特性的因素</a:t>
            </a:r>
          </a:p>
          <a:p>
            <a:pPr marL="342900" lvl="1" indent="0">
              <a:buNone/>
            </a:pPr>
            <a:r>
              <a:rPr lang="zh-CN" altLang="en-US" dirty="0"/>
              <a:t>（</a:t>
            </a:r>
            <a:r>
              <a:rPr lang="en-US" altLang="zh-CN" dirty="0"/>
              <a:t>1</a:t>
            </a:r>
            <a:r>
              <a:rPr lang="zh-CN" altLang="en-US" dirty="0"/>
              <a:t>） 多个事务并行运行时，不同事务的操作交叉执行</a:t>
            </a:r>
          </a:p>
          <a:p>
            <a:pPr lvl="1"/>
            <a:r>
              <a:rPr lang="zh-CN" altLang="en-US" dirty="0"/>
              <a:t>数据库管理系统必须保证多个事务的交叉运行不影响这些事务的隔离性</a:t>
            </a:r>
          </a:p>
          <a:p>
            <a:pPr marL="342900" lvl="1" indent="0">
              <a:buNone/>
            </a:pPr>
            <a:r>
              <a:rPr lang="zh-CN" altLang="en-US" dirty="0"/>
              <a:t>（</a:t>
            </a:r>
            <a:r>
              <a:rPr lang="en-US" altLang="zh-CN" dirty="0"/>
              <a:t>2</a:t>
            </a:r>
            <a:r>
              <a:rPr lang="zh-CN" altLang="en-US" dirty="0"/>
              <a:t>）事务在运行过程中被强行停止</a:t>
            </a:r>
          </a:p>
          <a:p>
            <a:pPr lvl="1"/>
            <a:r>
              <a:rPr lang="zh-CN" altLang="en-US" dirty="0"/>
              <a:t>数据库管理系统必须保证被强行终止的事务对数据库和其他事务没有任何影响</a:t>
            </a:r>
          </a:p>
        </p:txBody>
      </p:sp>
      <p:sp>
        <p:nvSpPr>
          <p:cNvPr id="2" name="灯片编号占位符 1">
            <a:extLst>
              <a:ext uri="{FF2B5EF4-FFF2-40B4-BE49-F238E27FC236}">
                <a16:creationId xmlns:a16="http://schemas.microsoft.com/office/drawing/2014/main" id="{40FD7718-605F-46FC-AA52-612A3BB43FA9}"/>
              </a:ext>
            </a:extLst>
          </p:cNvPr>
          <p:cNvSpPr>
            <a:spLocks noGrp="1"/>
          </p:cNvSpPr>
          <p:nvPr>
            <p:ph type="sldNum" sz="quarter" idx="12"/>
          </p:nvPr>
        </p:nvSpPr>
        <p:spPr/>
        <p:txBody>
          <a:bodyPr/>
          <a:lstStyle/>
          <a:p>
            <a:fld id="{47C9E101-E51D-431E-84FA-C029B8655B60}" type="slidenum">
              <a:rPr lang="zh-CN" altLang="en-US" smtClean="0"/>
              <a:pPr/>
              <a:t>9</a:t>
            </a:fld>
            <a:endParaRPr lang="zh-CN" altLang="en-US" dirty="0"/>
          </a:p>
        </p:txBody>
      </p:sp>
    </p:spTree>
    <p:extLst>
      <p:ext uri="{BB962C8B-B14F-4D97-AF65-F5344CB8AC3E}">
        <p14:creationId xmlns:p14="http://schemas.microsoft.com/office/powerpoint/2010/main" val="343187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10.2 </a:t>
            </a:r>
            <a:r>
              <a:rPr lang="zh-CN" altLang="en-US" dirty="0"/>
              <a:t>数据库恢复概述</a:t>
            </a:r>
          </a:p>
        </p:txBody>
      </p:sp>
      <p:sp>
        <p:nvSpPr>
          <p:cNvPr id="3" name="内容占位符 2"/>
          <p:cNvSpPr>
            <a:spLocks noGrp="1"/>
          </p:cNvSpPr>
          <p:nvPr>
            <p:ph idx="1"/>
          </p:nvPr>
        </p:nvSpPr>
        <p:spPr/>
        <p:txBody>
          <a:bodyPr>
            <a:normAutofit fontScale="92500" lnSpcReduction="20000"/>
          </a:bodyPr>
          <a:lstStyle/>
          <a:p>
            <a:r>
              <a:rPr lang="zh-CN" altLang="en-US" dirty="0">
                <a:solidFill>
                  <a:srgbClr val="FF0000"/>
                </a:solidFill>
              </a:rPr>
              <a:t>故障是不可避免的</a:t>
            </a:r>
          </a:p>
          <a:p>
            <a:pPr lvl="1"/>
            <a:r>
              <a:rPr lang="zh-CN" altLang="en-US" dirty="0"/>
              <a:t>硬件故障、软件错误、操作员失误、恶意破坏</a:t>
            </a:r>
            <a:endParaRPr lang="en-US" altLang="zh-CN" dirty="0"/>
          </a:p>
          <a:p>
            <a:pPr marL="289225" lvl="1" indent="0">
              <a:buNone/>
            </a:pPr>
            <a:endParaRPr lang="en-US" altLang="zh-CN" sz="1100" dirty="0"/>
          </a:p>
          <a:p>
            <a:r>
              <a:rPr lang="zh-CN" altLang="en-US" dirty="0">
                <a:solidFill>
                  <a:srgbClr val="FF0000"/>
                </a:solidFill>
              </a:rPr>
              <a:t>故障影响</a:t>
            </a:r>
            <a:endParaRPr lang="en-US" altLang="zh-CN" dirty="0">
              <a:solidFill>
                <a:srgbClr val="FF0000"/>
              </a:solidFill>
            </a:endParaRPr>
          </a:p>
          <a:p>
            <a:pPr lvl="1"/>
            <a:r>
              <a:rPr lang="zh-CN" altLang="en-US" dirty="0">
                <a:solidFill>
                  <a:srgbClr val="FF0000"/>
                </a:solidFill>
              </a:rPr>
              <a:t>轻</a:t>
            </a:r>
            <a:r>
              <a:rPr lang="zh-CN" altLang="en-US" dirty="0"/>
              <a:t>：运行事务非正常中断，影响数据库中数据的正确性</a:t>
            </a:r>
            <a:endParaRPr lang="en-US" altLang="zh-CN" dirty="0"/>
          </a:p>
          <a:p>
            <a:pPr lvl="1"/>
            <a:r>
              <a:rPr lang="zh-CN" altLang="en-US" dirty="0">
                <a:solidFill>
                  <a:srgbClr val="FF0000"/>
                </a:solidFill>
              </a:rPr>
              <a:t>重</a:t>
            </a:r>
            <a:r>
              <a:rPr lang="zh-CN" altLang="en-US" dirty="0"/>
              <a:t>：破坏数据库，使数据库中全部或部分数据丢失</a:t>
            </a:r>
            <a:endParaRPr lang="en-US" altLang="zh-CN" dirty="0"/>
          </a:p>
          <a:p>
            <a:pPr marL="289225" lvl="1" indent="0">
              <a:buNone/>
            </a:pPr>
            <a:endParaRPr lang="en-US" altLang="zh-CN" sz="1200" dirty="0"/>
          </a:p>
          <a:p>
            <a:r>
              <a:rPr lang="en-US" altLang="zh-CN" dirty="0">
                <a:solidFill>
                  <a:srgbClr val="FF0000"/>
                </a:solidFill>
              </a:rPr>
              <a:t>DBMS</a:t>
            </a:r>
            <a:r>
              <a:rPr lang="zh-CN" altLang="en-US" dirty="0">
                <a:solidFill>
                  <a:srgbClr val="FF0000"/>
                </a:solidFill>
              </a:rPr>
              <a:t>必须具有数据恢复的功能</a:t>
            </a:r>
            <a:endParaRPr lang="en-US" altLang="zh-CN" dirty="0">
              <a:solidFill>
                <a:srgbClr val="FF0000"/>
              </a:solidFill>
            </a:endParaRPr>
          </a:p>
          <a:p>
            <a:pPr lvl="1"/>
            <a:r>
              <a:rPr lang="zh-CN" altLang="en-US" dirty="0"/>
              <a:t>即把数据库从</a:t>
            </a:r>
            <a:r>
              <a:rPr lang="zh-CN" altLang="en-US" dirty="0">
                <a:solidFill>
                  <a:srgbClr val="FF0000"/>
                </a:solidFill>
              </a:rPr>
              <a:t>错误状态</a:t>
            </a:r>
            <a:r>
              <a:rPr lang="zh-CN" altLang="en-US" dirty="0"/>
              <a:t>恢复到某一已知</a:t>
            </a:r>
            <a:r>
              <a:rPr lang="zh-CN" altLang="en-US" dirty="0">
                <a:solidFill>
                  <a:srgbClr val="FF0000"/>
                </a:solidFill>
              </a:rPr>
              <a:t>正确状态</a:t>
            </a:r>
            <a:r>
              <a:rPr lang="en-US" altLang="zh-CN" dirty="0"/>
              <a:t>(</a:t>
            </a:r>
            <a:r>
              <a:rPr lang="zh-CN" altLang="en-US" dirty="0">
                <a:solidFill>
                  <a:srgbClr val="0000FF"/>
                </a:solidFill>
              </a:rPr>
              <a:t>一致性状态</a:t>
            </a:r>
            <a:r>
              <a:rPr lang="zh-CN" altLang="en-US" dirty="0"/>
              <a:t>或</a:t>
            </a:r>
            <a:r>
              <a:rPr lang="zh-CN" altLang="en-US" dirty="0">
                <a:solidFill>
                  <a:srgbClr val="0000FF"/>
                </a:solidFill>
              </a:rPr>
              <a:t>完整状态</a:t>
            </a:r>
            <a:r>
              <a:rPr lang="en-US" altLang="zh-CN" dirty="0"/>
              <a:t>)</a:t>
            </a:r>
            <a:r>
              <a:rPr lang="zh-CN" altLang="en-US" dirty="0"/>
              <a:t>的功能</a:t>
            </a:r>
            <a:endParaRPr lang="en-US" altLang="zh-CN" dirty="0"/>
          </a:p>
          <a:p>
            <a:pPr marL="289225" lvl="1" indent="0">
              <a:buNone/>
            </a:pPr>
            <a:endParaRPr lang="en-US" altLang="zh-CN" sz="1200" dirty="0"/>
          </a:p>
          <a:p>
            <a:r>
              <a:rPr lang="zh-CN" altLang="en-US" u="sng" dirty="0">
                <a:solidFill>
                  <a:srgbClr val="FF0000"/>
                </a:solidFill>
              </a:rPr>
              <a:t>恢复子系统</a:t>
            </a:r>
            <a:r>
              <a:rPr lang="zh-CN" altLang="en-US" dirty="0"/>
              <a:t>是</a:t>
            </a:r>
            <a:r>
              <a:rPr lang="en-US" altLang="zh-CN" dirty="0"/>
              <a:t>DBMS</a:t>
            </a:r>
            <a:r>
              <a:rPr lang="zh-CN" altLang="en-US" dirty="0"/>
              <a:t>的一个重要组成部分 </a:t>
            </a:r>
          </a:p>
          <a:p>
            <a:pPr lvl="1"/>
            <a:r>
              <a:rPr lang="zh-CN" altLang="en-US" dirty="0"/>
              <a:t>相当庞大，整个系统代码的</a:t>
            </a:r>
            <a:r>
              <a:rPr lang="en-US" altLang="zh-CN" dirty="0"/>
              <a:t>10%</a:t>
            </a:r>
            <a:r>
              <a:rPr lang="zh-CN" altLang="en-US" dirty="0"/>
              <a:t>以上</a:t>
            </a:r>
            <a:endParaRPr lang="en-US" altLang="zh-CN" dirty="0"/>
          </a:p>
          <a:p>
            <a:pPr lvl="1"/>
            <a:r>
              <a:rPr lang="zh-CN" altLang="en-US" dirty="0"/>
              <a:t>恢复技术衡量系统优劣的重要指标</a:t>
            </a:r>
          </a:p>
        </p:txBody>
      </p:sp>
      <p:sp>
        <p:nvSpPr>
          <p:cNvPr id="4" name="灯片编号占位符 3">
            <a:extLst>
              <a:ext uri="{FF2B5EF4-FFF2-40B4-BE49-F238E27FC236}">
                <a16:creationId xmlns:a16="http://schemas.microsoft.com/office/drawing/2014/main" id="{9ABA4E02-14A9-440E-850D-C6DCEC79615E}"/>
              </a:ext>
            </a:extLst>
          </p:cNvPr>
          <p:cNvSpPr>
            <a:spLocks noGrp="1"/>
          </p:cNvSpPr>
          <p:nvPr>
            <p:ph type="sldNum" sz="quarter" idx="12"/>
          </p:nvPr>
        </p:nvSpPr>
        <p:spPr/>
        <p:txBody>
          <a:bodyPr/>
          <a:lstStyle/>
          <a:p>
            <a:fld id="{47C9E101-E51D-431E-84FA-C029B8655B60}" type="slidenum">
              <a:rPr lang="zh-CN" altLang="en-US" smtClean="0"/>
              <a:pPr/>
              <a:t>10</a:t>
            </a:fld>
            <a:endParaRPr lang="zh-CN" altLang="en-US" dirty="0"/>
          </a:p>
        </p:txBody>
      </p:sp>
    </p:spTree>
    <p:extLst>
      <p:ext uri="{BB962C8B-B14F-4D97-AF65-F5344CB8AC3E}">
        <p14:creationId xmlns:p14="http://schemas.microsoft.com/office/powerpoint/2010/main" val="2177837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zh-CN"/>
              <a:t>10.3  </a:t>
            </a:r>
            <a:r>
              <a:rPr lang="zh-CN" altLang="en-US"/>
              <a:t>故障的种类</a:t>
            </a:r>
          </a:p>
        </p:txBody>
      </p:sp>
      <p:sp>
        <p:nvSpPr>
          <p:cNvPr id="20483" name="Rectangle 3"/>
          <p:cNvSpPr>
            <a:spLocks noGrp="1" noChangeArrowheads="1"/>
          </p:cNvSpPr>
          <p:nvPr>
            <p:ph idx="1"/>
          </p:nvPr>
        </p:nvSpPr>
        <p:spPr/>
        <p:txBody>
          <a:bodyPr/>
          <a:lstStyle/>
          <a:p>
            <a:r>
              <a:rPr lang="zh-CN" altLang="en-US"/>
              <a:t>事务内部故障</a:t>
            </a:r>
          </a:p>
          <a:p>
            <a:r>
              <a:rPr lang="zh-CN" altLang="en-US"/>
              <a:t>系统故障</a:t>
            </a:r>
          </a:p>
          <a:p>
            <a:r>
              <a:rPr lang="zh-CN" altLang="en-US"/>
              <a:t>介质故障</a:t>
            </a:r>
          </a:p>
          <a:p>
            <a:r>
              <a:rPr lang="zh-CN" altLang="en-US"/>
              <a:t>计算机病毒</a:t>
            </a:r>
          </a:p>
        </p:txBody>
      </p:sp>
      <p:sp>
        <p:nvSpPr>
          <p:cNvPr id="2" name="灯片编号占位符 1">
            <a:extLst>
              <a:ext uri="{FF2B5EF4-FFF2-40B4-BE49-F238E27FC236}">
                <a16:creationId xmlns:a16="http://schemas.microsoft.com/office/drawing/2014/main" id="{A7EE5B58-C190-4864-B2B4-97D64DDE1A52}"/>
              </a:ext>
            </a:extLst>
          </p:cNvPr>
          <p:cNvSpPr>
            <a:spLocks noGrp="1"/>
          </p:cNvSpPr>
          <p:nvPr>
            <p:ph type="sldNum" sz="quarter" idx="12"/>
          </p:nvPr>
        </p:nvSpPr>
        <p:spPr/>
        <p:txBody>
          <a:bodyPr/>
          <a:lstStyle/>
          <a:p>
            <a:fld id="{47C9E101-E51D-431E-84FA-C029B8655B60}" type="slidenum">
              <a:rPr lang="zh-CN" altLang="en-US" smtClean="0"/>
              <a:pPr/>
              <a:t>11</a:t>
            </a:fld>
            <a:endParaRPr lang="zh-CN" altLang="en-US" dirty="0"/>
          </a:p>
        </p:txBody>
      </p:sp>
    </p:spTree>
    <p:extLst>
      <p:ext uri="{BB962C8B-B14F-4D97-AF65-F5344CB8AC3E}">
        <p14:creationId xmlns:p14="http://schemas.microsoft.com/office/powerpoint/2010/main" val="4191982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8CFAA7-B672-4004-A1AC-03CC9B8D773C}"/>
              </a:ext>
            </a:extLst>
          </p:cNvPr>
          <p:cNvSpPr>
            <a:spLocks noGrp="1"/>
          </p:cNvSpPr>
          <p:nvPr>
            <p:ph type="title"/>
          </p:nvPr>
        </p:nvSpPr>
        <p:spPr/>
        <p:txBody>
          <a:bodyPr/>
          <a:lstStyle/>
          <a:p>
            <a:r>
              <a:rPr lang="en-US" altLang="zh-CN" dirty="0"/>
              <a:t>1. </a:t>
            </a:r>
            <a:r>
              <a:rPr lang="zh-CN" altLang="zh-CN" dirty="0"/>
              <a:t>事务内部故障</a:t>
            </a:r>
            <a:endParaRPr lang="zh-CN" altLang="en-US" dirty="0"/>
          </a:p>
        </p:txBody>
      </p:sp>
      <p:sp>
        <p:nvSpPr>
          <p:cNvPr id="3" name="内容占位符 2">
            <a:extLst>
              <a:ext uri="{FF2B5EF4-FFF2-40B4-BE49-F238E27FC236}">
                <a16:creationId xmlns:a16="http://schemas.microsoft.com/office/drawing/2014/main" id="{DDEF63BD-7B42-4899-A103-60A39ECB52F3}"/>
              </a:ext>
            </a:extLst>
          </p:cNvPr>
          <p:cNvSpPr>
            <a:spLocks noGrp="1"/>
          </p:cNvSpPr>
          <p:nvPr>
            <p:ph idx="1"/>
          </p:nvPr>
        </p:nvSpPr>
        <p:spPr/>
        <p:txBody>
          <a:bodyPr>
            <a:normAutofit lnSpcReduction="10000"/>
          </a:bodyPr>
          <a:lstStyle/>
          <a:p>
            <a:r>
              <a:rPr lang="zh-CN" altLang="en-US" dirty="0"/>
              <a:t>事务故障意味着</a:t>
            </a:r>
            <a:r>
              <a:rPr lang="zh-CN" altLang="en-US" dirty="0">
                <a:solidFill>
                  <a:srgbClr val="FF0000"/>
                </a:solidFill>
              </a:rPr>
              <a:t>事务没有达到预期的终点</a:t>
            </a:r>
            <a:r>
              <a:rPr lang="en-US" altLang="zh-CN" dirty="0"/>
              <a:t>(</a:t>
            </a:r>
            <a:r>
              <a:rPr lang="en-US" altLang="zh-CN" dirty="0">
                <a:solidFill>
                  <a:srgbClr val="0000FF"/>
                </a:solidFill>
              </a:rPr>
              <a:t>COMMIT</a:t>
            </a:r>
            <a:r>
              <a:rPr lang="zh-CN" altLang="en-US" dirty="0">
                <a:solidFill>
                  <a:srgbClr val="0000FF"/>
                </a:solidFill>
              </a:rPr>
              <a:t>或显式的</a:t>
            </a:r>
            <a:r>
              <a:rPr lang="en-US" altLang="zh-CN" dirty="0">
                <a:solidFill>
                  <a:srgbClr val="0000FF"/>
                </a:solidFill>
              </a:rPr>
              <a:t>ROLLBACK</a:t>
            </a:r>
            <a:r>
              <a:rPr lang="en-US" altLang="zh-CN" dirty="0"/>
              <a:t>)</a:t>
            </a:r>
            <a:r>
              <a:rPr lang="zh-CN" altLang="en-US" dirty="0"/>
              <a:t>，因此数据库可能处于不正确的状态。</a:t>
            </a:r>
            <a:endParaRPr lang="en-US" altLang="zh-CN" dirty="0"/>
          </a:p>
          <a:p>
            <a:endParaRPr lang="en-US" altLang="zh-CN" sz="1100" dirty="0"/>
          </a:p>
          <a:p>
            <a:r>
              <a:rPr lang="zh-CN" altLang="en-US" dirty="0">
                <a:solidFill>
                  <a:srgbClr val="0000FF"/>
                </a:solidFill>
              </a:rPr>
              <a:t>事务故障的发现</a:t>
            </a:r>
            <a:endParaRPr lang="en-US" altLang="zh-CN" dirty="0">
              <a:solidFill>
                <a:srgbClr val="0000FF"/>
              </a:solidFill>
            </a:endParaRPr>
          </a:p>
          <a:p>
            <a:pPr lvl="1"/>
            <a:r>
              <a:rPr lang="zh-CN" altLang="en-US" dirty="0"/>
              <a:t>有些可</a:t>
            </a:r>
            <a:r>
              <a:rPr lang="zh-CN" altLang="en-US" dirty="0">
                <a:solidFill>
                  <a:srgbClr val="FF0000"/>
                </a:solidFill>
              </a:rPr>
              <a:t>通过事务程序本身</a:t>
            </a:r>
            <a:r>
              <a:rPr lang="zh-CN" altLang="en-US" dirty="0"/>
              <a:t>发现</a:t>
            </a:r>
            <a:endParaRPr lang="en-US" altLang="zh-CN" dirty="0"/>
          </a:p>
          <a:p>
            <a:pPr lvl="1"/>
            <a:r>
              <a:rPr lang="zh-CN" altLang="en-US" dirty="0"/>
              <a:t>更多的是</a:t>
            </a:r>
            <a:r>
              <a:rPr lang="zh-CN" altLang="en-US" dirty="0">
                <a:solidFill>
                  <a:srgbClr val="FF0000"/>
                </a:solidFill>
              </a:rPr>
              <a:t>非预期的</a:t>
            </a:r>
            <a:r>
              <a:rPr lang="zh-CN" altLang="en-US" dirty="0"/>
              <a:t>，不能由应用程序处理</a:t>
            </a:r>
            <a:endParaRPr lang="en-US" altLang="zh-CN" dirty="0"/>
          </a:p>
          <a:p>
            <a:pPr lvl="2"/>
            <a:r>
              <a:rPr lang="zh-CN" altLang="en-US" dirty="0">
                <a:solidFill>
                  <a:srgbClr val="0000FF"/>
                </a:solidFill>
              </a:rPr>
              <a:t>运算溢出</a:t>
            </a:r>
          </a:p>
          <a:p>
            <a:pPr lvl="2"/>
            <a:r>
              <a:rPr lang="zh-CN" altLang="en-US" dirty="0">
                <a:solidFill>
                  <a:srgbClr val="0000FF"/>
                </a:solidFill>
              </a:rPr>
              <a:t>并发事务发生死锁而被选中撤销该事务</a:t>
            </a:r>
          </a:p>
          <a:p>
            <a:pPr lvl="2"/>
            <a:r>
              <a:rPr lang="zh-CN" altLang="en-US" dirty="0">
                <a:solidFill>
                  <a:srgbClr val="0000FF"/>
                </a:solidFill>
              </a:rPr>
              <a:t>违反了某些完整性限制而被终止</a:t>
            </a:r>
            <a:endParaRPr lang="en-US" altLang="zh-CN" dirty="0">
              <a:solidFill>
                <a:srgbClr val="0000FF"/>
              </a:solidFill>
            </a:endParaRPr>
          </a:p>
          <a:p>
            <a:pPr lvl="2"/>
            <a:endParaRPr lang="en-US" altLang="zh-CN" sz="1100" dirty="0">
              <a:solidFill>
                <a:srgbClr val="0000FF"/>
              </a:solidFill>
            </a:endParaRPr>
          </a:p>
          <a:p>
            <a:r>
              <a:rPr lang="zh-CN" altLang="en-US" dirty="0">
                <a:solidFill>
                  <a:srgbClr val="0000FF"/>
                </a:solidFill>
              </a:rPr>
              <a:t>事务故障的恢复操作</a:t>
            </a:r>
            <a:endParaRPr lang="en-US" altLang="zh-CN" dirty="0">
              <a:solidFill>
                <a:srgbClr val="0000FF"/>
              </a:solidFill>
            </a:endParaRPr>
          </a:p>
          <a:p>
            <a:pPr lvl="1"/>
            <a:r>
              <a:rPr lang="zh-CN" altLang="en-US" dirty="0">
                <a:solidFill>
                  <a:srgbClr val="FF0000"/>
                </a:solidFill>
              </a:rPr>
              <a:t>事务撤销</a:t>
            </a:r>
            <a:r>
              <a:rPr lang="en-US" altLang="zh-CN" dirty="0">
                <a:solidFill>
                  <a:srgbClr val="FF0000"/>
                </a:solidFill>
              </a:rPr>
              <a:t>(UNDO)</a:t>
            </a:r>
            <a:endParaRPr lang="zh-CN" altLang="en-US" dirty="0"/>
          </a:p>
        </p:txBody>
      </p:sp>
      <p:sp>
        <p:nvSpPr>
          <p:cNvPr id="4" name="灯片编号占位符 3">
            <a:extLst>
              <a:ext uri="{FF2B5EF4-FFF2-40B4-BE49-F238E27FC236}">
                <a16:creationId xmlns:a16="http://schemas.microsoft.com/office/drawing/2014/main" id="{2425F0C2-66E2-4C90-9CDF-F22D3AE7A48C}"/>
              </a:ext>
            </a:extLst>
          </p:cNvPr>
          <p:cNvSpPr>
            <a:spLocks noGrp="1"/>
          </p:cNvSpPr>
          <p:nvPr>
            <p:ph type="sldNum" sz="quarter" idx="12"/>
          </p:nvPr>
        </p:nvSpPr>
        <p:spPr/>
        <p:txBody>
          <a:bodyPr/>
          <a:lstStyle/>
          <a:p>
            <a:fld id="{E63F6D5D-9733-4D44-9C56-AEFEDD5A4BA7}" type="slidenum">
              <a:rPr lang="en-US" smtClean="0"/>
              <a:pPr/>
              <a:t>12</a:t>
            </a:fld>
            <a:endParaRPr lang="en-US" dirty="0"/>
          </a:p>
        </p:txBody>
      </p:sp>
      <p:sp>
        <p:nvSpPr>
          <p:cNvPr id="5" name="矩形 4">
            <a:extLst>
              <a:ext uri="{FF2B5EF4-FFF2-40B4-BE49-F238E27FC236}">
                <a16:creationId xmlns:a16="http://schemas.microsoft.com/office/drawing/2014/main" id="{9210E765-C5C6-4C14-8C3D-2BF932BE714C}"/>
              </a:ext>
            </a:extLst>
          </p:cNvPr>
          <p:cNvSpPr/>
          <p:nvPr/>
        </p:nvSpPr>
        <p:spPr>
          <a:xfrm>
            <a:off x="7426731" y="2209800"/>
            <a:ext cx="4044137" cy="3884140"/>
          </a:xfrm>
          <a:prstGeom prst="rect">
            <a:avLst/>
          </a:prstGeom>
          <a:ln w="3175">
            <a:solidFill>
              <a:schemeClr val="tx1"/>
            </a:solidFill>
          </a:ln>
        </p:spPr>
        <p:txBody>
          <a:bodyPr wrap="square">
            <a:spAutoFit/>
          </a:bodyPr>
          <a:lstStyle/>
          <a:p>
            <a:pPr marL="177800" indent="-177800">
              <a:spcBef>
                <a:spcPct val="20000"/>
              </a:spcBef>
              <a:buClr>
                <a:srgbClr val="CC00CC"/>
              </a:buClr>
              <a:buSzPct val="110000"/>
              <a:defRPr/>
            </a:pPr>
            <a:r>
              <a:rPr lang="zh-CN" altLang="en-US" sz="1600" b="1"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BEGIN TRANSACTION</a:t>
            </a:r>
          </a:p>
          <a:p>
            <a:pPr marL="177800" indent="-177800">
              <a:spcBef>
                <a:spcPct val="20000"/>
              </a:spcBef>
              <a:buClr>
                <a:srgbClr val="CC00CC"/>
              </a:buClr>
              <a:buSzPct val="110000"/>
              <a:defRPr/>
            </a:pPr>
            <a:r>
              <a:rPr lang="en-US" altLang="zh-CN" sz="1600" b="1">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   </a:t>
            </a:r>
            <a:r>
              <a:rPr lang="zh-CN" altLang="en-US" sz="1600" b="1">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读</a:t>
            </a:r>
            <a:r>
              <a:rPr lang="zh-CN" altLang="en-US"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账户甲的余额</a:t>
            </a:r>
            <a:r>
              <a:rPr lang="en-US" altLang="zh-CN"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BALANCE</a:t>
            </a:r>
            <a:r>
              <a:rPr lang="zh-CN" altLang="en-US"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a:t>
            </a:r>
          </a:p>
          <a:p>
            <a:pPr marL="177800" indent="-177800">
              <a:spcBef>
                <a:spcPct val="20000"/>
              </a:spcBef>
              <a:buClr>
                <a:srgbClr val="CC00CC"/>
              </a:buClr>
              <a:buSzPct val="110000"/>
              <a:defRPr/>
            </a:pPr>
            <a:r>
              <a:rPr lang="zh-CN" altLang="en-US" sz="1600" b="1">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   </a:t>
            </a:r>
            <a:r>
              <a:rPr lang="en-US" altLang="zh-CN" sz="1600" b="1">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BALANCE</a:t>
            </a:r>
            <a:r>
              <a:rPr lang="en-US" altLang="zh-CN"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=BALANCE-AMOUNT</a:t>
            </a:r>
            <a:r>
              <a:rPr lang="zh-CN" altLang="en-US"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a:t>
            </a:r>
            <a:endParaRPr lang="en-US" altLang="zh-CN"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endParaRPr>
          </a:p>
          <a:p>
            <a:pPr marL="177800" indent="-177800">
              <a:spcBef>
                <a:spcPct val="20000"/>
              </a:spcBef>
              <a:buClr>
                <a:srgbClr val="CC00CC"/>
              </a:buClr>
              <a:buSzPct val="110000"/>
              <a:defRPr/>
            </a:pPr>
            <a:r>
              <a:rPr lang="en-US" altLang="zh-CN" sz="1600" b="1">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   IF</a:t>
            </a:r>
            <a:r>
              <a:rPr lang="en-US" altLang="zh-CN"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(BALANCE &lt; 0 ) THEN</a:t>
            </a:r>
          </a:p>
          <a:p>
            <a:pPr marL="177800" indent="-177800">
              <a:spcBef>
                <a:spcPct val="20000"/>
              </a:spcBef>
              <a:buClr>
                <a:srgbClr val="CC00CC"/>
              </a:buClr>
              <a:buSzPct val="110000"/>
              <a:defRPr/>
            </a:pPr>
            <a:r>
              <a:rPr lang="en-US" altLang="zh-CN" sz="1600" b="1">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    </a:t>
            </a:r>
            <a:r>
              <a:rPr lang="en-US" altLang="zh-CN"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a:t>
            </a:r>
            <a:r>
              <a:rPr lang="zh-CN" altLang="en-US"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打印</a:t>
            </a:r>
            <a:r>
              <a:rPr lang="en-US" altLang="zh-CN"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a:t>
            </a:r>
            <a:r>
              <a:rPr lang="zh-CN" altLang="en-US"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金额不足，不能转账</a:t>
            </a:r>
            <a:r>
              <a:rPr lang="en-US" altLang="zh-CN"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a:t>
            </a:r>
            <a:endParaRPr lang="zh-CN" altLang="en-US"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endParaRPr>
          </a:p>
          <a:p>
            <a:pPr marL="177800" indent="-177800">
              <a:spcBef>
                <a:spcPct val="20000"/>
              </a:spcBef>
              <a:buClr>
                <a:srgbClr val="CC00CC"/>
              </a:buClr>
              <a:buSzPct val="110000"/>
              <a:defRPr/>
            </a:pPr>
            <a:r>
              <a:rPr lang="en-US" altLang="zh-CN" sz="1600" b="1">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     </a:t>
            </a:r>
            <a:r>
              <a:rPr lang="en-US" altLang="zh-CN"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ROLLBACK</a:t>
            </a:r>
            <a:r>
              <a:rPr lang="zh-CN" altLang="en-US"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a:t>
            </a:r>
            <a:endParaRPr lang="en-US" altLang="zh-CN"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endParaRPr>
          </a:p>
          <a:p>
            <a:pPr marL="177800" indent="-177800">
              <a:spcBef>
                <a:spcPct val="20000"/>
              </a:spcBef>
              <a:buClr>
                <a:srgbClr val="CC00CC"/>
              </a:buClr>
              <a:buSzPct val="110000"/>
              <a:defRPr/>
            </a:pPr>
            <a:r>
              <a:rPr lang="en-US" altLang="zh-CN"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     }</a:t>
            </a:r>
          </a:p>
          <a:p>
            <a:pPr marL="177800" indent="-177800">
              <a:spcBef>
                <a:spcPct val="20000"/>
              </a:spcBef>
              <a:buClr>
                <a:srgbClr val="CC00CC"/>
              </a:buClr>
              <a:buSzPct val="110000"/>
              <a:defRPr/>
            </a:pPr>
            <a:r>
              <a:rPr lang="en-US" altLang="zh-CN" sz="1600" b="1">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   ELSE</a:t>
            </a:r>
            <a:endParaRPr lang="en-US" altLang="zh-CN"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endParaRPr>
          </a:p>
          <a:p>
            <a:pPr marL="177800" indent="-177800">
              <a:spcBef>
                <a:spcPct val="20000"/>
              </a:spcBef>
              <a:buClr>
                <a:srgbClr val="CC00CC"/>
              </a:buClr>
              <a:buSzPct val="110000"/>
              <a:defRPr/>
            </a:pPr>
            <a:r>
              <a:rPr lang="en-US" altLang="zh-CN" sz="1600" b="1">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    </a:t>
            </a:r>
            <a:r>
              <a:rPr lang="en-US" altLang="zh-CN"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a:t>
            </a:r>
            <a:r>
              <a:rPr lang="zh-CN" altLang="en-US"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读账户乙的余额</a:t>
            </a:r>
            <a:r>
              <a:rPr lang="en-US" altLang="zh-CN"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BALANCE1</a:t>
            </a:r>
            <a:r>
              <a:rPr lang="zh-CN" altLang="en-US"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a:t>
            </a:r>
            <a:endParaRPr lang="en-US" altLang="zh-CN"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endParaRPr>
          </a:p>
          <a:p>
            <a:pPr marL="177800" indent="-177800">
              <a:spcBef>
                <a:spcPct val="20000"/>
              </a:spcBef>
              <a:buClr>
                <a:srgbClr val="CC00CC"/>
              </a:buClr>
              <a:buSzPct val="110000"/>
              <a:defRPr/>
            </a:pPr>
            <a:r>
              <a:rPr lang="en-US" altLang="zh-CN" sz="1600" b="1">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    BALANCE1</a:t>
            </a:r>
            <a:r>
              <a:rPr lang="en-US" altLang="zh-CN"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=BALANCE1+AMOUNT</a:t>
            </a:r>
            <a:r>
              <a:rPr lang="zh-CN" altLang="en-US"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a:t>
            </a:r>
          </a:p>
          <a:p>
            <a:pPr marL="177800" indent="-177800">
              <a:spcBef>
                <a:spcPct val="20000"/>
              </a:spcBef>
              <a:buClr>
                <a:srgbClr val="CC00CC"/>
              </a:buClr>
              <a:buSzPct val="110000"/>
              <a:defRPr/>
            </a:pPr>
            <a:r>
              <a:rPr lang="zh-CN" altLang="en-US" sz="1600" b="1">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     </a:t>
            </a:r>
            <a:r>
              <a:rPr lang="zh-CN" altLang="en-US"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写回</a:t>
            </a:r>
            <a:r>
              <a:rPr lang="en-US" altLang="zh-CN"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BALANCE1</a:t>
            </a:r>
            <a:r>
              <a:rPr lang="zh-CN" altLang="en-US"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a:t>
            </a:r>
          </a:p>
          <a:p>
            <a:pPr marL="177800" indent="-177800">
              <a:spcBef>
                <a:spcPct val="20000"/>
              </a:spcBef>
              <a:buClr>
                <a:srgbClr val="CC00CC"/>
              </a:buClr>
              <a:buSzPct val="110000"/>
              <a:defRPr/>
            </a:pPr>
            <a:r>
              <a:rPr lang="en-US" altLang="zh-CN" sz="1600" b="1">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     </a:t>
            </a:r>
            <a:r>
              <a:rPr lang="en-US" altLang="zh-CN"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COMMIT</a:t>
            </a:r>
            <a:r>
              <a:rPr lang="zh-CN" altLang="en-US"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a:t>
            </a:r>
          </a:p>
          <a:p>
            <a:pPr marL="177800" indent="-177800">
              <a:spcBef>
                <a:spcPct val="20000"/>
              </a:spcBef>
              <a:buClr>
                <a:srgbClr val="CC00CC"/>
              </a:buClr>
              <a:buSzPct val="110000"/>
              <a:defRPr/>
            </a:pPr>
            <a:r>
              <a:rPr lang="zh-CN" altLang="en-US"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      </a:t>
            </a:r>
            <a:r>
              <a:rPr lang="en-US" altLang="zh-CN" sz="1600" b="1" dirty="0">
                <a:solidFill>
                  <a:srgbClr val="3333CC"/>
                </a:solidFill>
                <a:latin typeface="微软雅黑" panose="020B0503020204020204" pitchFamily="34" charset="-122"/>
                <a:ea typeface="微软雅黑" panose="020B0503020204020204" pitchFamily="34" charset="-122"/>
                <a:cs typeface="Courier New" panose="02070309020205020404" pitchFamily="49" charset="0"/>
              </a:rPr>
              <a:t>}</a:t>
            </a:r>
            <a:endParaRPr lang="zh-CN" altLang="en-US" sz="1600" b="1" dirty="0">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6" name="右箭头 5">
            <a:extLst>
              <a:ext uri="{FF2B5EF4-FFF2-40B4-BE49-F238E27FC236}">
                <a16:creationId xmlns:a16="http://schemas.microsoft.com/office/drawing/2014/main" id="{5D67C865-9C65-48B7-A614-E15A703B5CB5}"/>
              </a:ext>
            </a:extLst>
          </p:cNvPr>
          <p:cNvSpPr/>
          <p:nvPr/>
        </p:nvSpPr>
        <p:spPr>
          <a:xfrm>
            <a:off x="5850835" y="2819400"/>
            <a:ext cx="1444572"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37058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par>
                                <p:cTn id="22" presetID="1" presetClass="entr" presetSubtype="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wipe(left)">
                                      <p:cBhvr>
                                        <p:cTn id="38" dur="500"/>
                                        <p:tgtEl>
                                          <p:spTgt spid="3">
                                            <p:txEl>
                                              <p:pRg st="9" end="9"/>
                                            </p:txEl>
                                          </p:spTgt>
                                        </p:tgtEl>
                                      </p:cBhvr>
                                    </p:animEffect>
                                  </p:childTnLst>
                                </p:cTn>
                              </p:par>
                              <p:par>
                                <p:cTn id="39" presetID="22" presetClass="entr" presetSubtype="8" fill="hold"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wipe(left)">
                                      <p:cBhvr>
                                        <p:cTn id="41"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6B7028-143E-4E64-AC26-D6FA64B9116C}"/>
              </a:ext>
            </a:extLst>
          </p:cNvPr>
          <p:cNvSpPr>
            <a:spLocks noGrp="1"/>
          </p:cNvSpPr>
          <p:nvPr>
            <p:ph type="title"/>
          </p:nvPr>
        </p:nvSpPr>
        <p:spPr/>
        <p:txBody>
          <a:bodyPr/>
          <a:lstStyle/>
          <a:p>
            <a:r>
              <a:rPr lang="en-US" altLang="zh-CN" dirty="0"/>
              <a:t>2. </a:t>
            </a:r>
            <a:r>
              <a:rPr lang="zh-CN" altLang="en-US" dirty="0"/>
              <a:t>系统故障</a:t>
            </a:r>
          </a:p>
        </p:txBody>
      </p:sp>
      <p:sp>
        <p:nvSpPr>
          <p:cNvPr id="3" name="内容占位符 2">
            <a:extLst>
              <a:ext uri="{FF2B5EF4-FFF2-40B4-BE49-F238E27FC236}">
                <a16:creationId xmlns:a16="http://schemas.microsoft.com/office/drawing/2014/main" id="{E5E40F85-39A8-4529-B6F9-4B2A205276AB}"/>
              </a:ext>
            </a:extLst>
          </p:cNvPr>
          <p:cNvSpPr>
            <a:spLocks noGrp="1"/>
          </p:cNvSpPr>
          <p:nvPr>
            <p:ph idx="1"/>
          </p:nvPr>
        </p:nvSpPr>
        <p:spPr/>
        <p:txBody>
          <a:bodyPr>
            <a:normAutofit fontScale="85000" lnSpcReduction="20000"/>
          </a:bodyPr>
          <a:lstStyle/>
          <a:p>
            <a:r>
              <a:rPr lang="zh-CN" altLang="en-US" u="sng">
                <a:solidFill>
                  <a:srgbClr val="FF0000"/>
                </a:solidFill>
              </a:rPr>
              <a:t>系统故障</a:t>
            </a:r>
            <a:r>
              <a:rPr lang="zh-CN" altLang="en-US"/>
              <a:t>是指造成系统停止运转的任何事件，使得系统要</a:t>
            </a:r>
            <a:r>
              <a:rPr lang="zh-CN" altLang="en-US">
                <a:solidFill>
                  <a:srgbClr val="FF0000"/>
                </a:solidFill>
              </a:rPr>
              <a:t>重新启动</a:t>
            </a:r>
            <a:r>
              <a:rPr lang="zh-CN" altLang="en-US"/>
              <a:t>。也称为</a:t>
            </a:r>
            <a:r>
              <a:rPr lang="zh-CN" altLang="en-US">
                <a:solidFill>
                  <a:srgbClr val="FF0000"/>
                </a:solidFill>
              </a:rPr>
              <a:t>软故障</a:t>
            </a:r>
            <a:r>
              <a:rPr lang="en-US" altLang="zh-CN"/>
              <a:t>(soft crash)</a:t>
            </a:r>
            <a:r>
              <a:rPr lang="zh-CN" altLang="en-US"/>
              <a:t> </a:t>
            </a:r>
          </a:p>
          <a:p>
            <a:pPr lvl="1"/>
            <a:r>
              <a:rPr lang="zh-CN" altLang="en-US"/>
              <a:t>特定类型的硬件错误（如</a:t>
            </a:r>
            <a:r>
              <a:rPr lang="en-US" altLang="zh-CN"/>
              <a:t>CPU</a:t>
            </a:r>
            <a:r>
              <a:rPr lang="zh-CN" altLang="en-US"/>
              <a:t>故障）</a:t>
            </a:r>
          </a:p>
          <a:p>
            <a:pPr lvl="1"/>
            <a:r>
              <a:rPr lang="zh-CN" altLang="en-US"/>
              <a:t>操作系统故障</a:t>
            </a:r>
          </a:p>
          <a:p>
            <a:pPr lvl="1"/>
            <a:r>
              <a:rPr lang="en-US" altLang="zh-CN"/>
              <a:t>DBMS</a:t>
            </a:r>
            <a:r>
              <a:rPr lang="zh-CN" altLang="en-US"/>
              <a:t>代码错误</a:t>
            </a:r>
            <a:endParaRPr lang="en-US" altLang="zh-CN"/>
          </a:p>
          <a:p>
            <a:pPr lvl="1"/>
            <a:r>
              <a:rPr lang="zh-CN" altLang="en-US"/>
              <a:t>系统断电</a:t>
            </a:r>
            <a:endParaRPr lang="en-US" altLang="zh-CN"/>
          </a:p>
          <a:p>
            <a:pPr lvl="1"/>
            <a:endParaRPr lang="en-US" altLang="zh-CN" sz="1000"/>
          </a:p>
          <a:p>
            <a:r>
              <a:rPr lang="zh-CN" altLang="en-US">
                <a:solidFill>
                  <a:srgbClr val="0000FF"/>
                </a:solidFill>
              </a:rPr>
              <a:t>系统故障特点：</a:t>
            </a:r>
            <a:endParaRPr lang="en-US" altLang="zh-CN">
              <a:solidFill>
                <a:srgbClr val="0000FF"/>
              </a:solidFill>
            </a:endParaRPr>
          </a:p>
          <a:p>
            <a:pPr lvl="1"/>
            <a:r>
              <a:rPr lang="zh-CN" altLang="en-US"/>
              <a:t>所有运行的事务都非正常终止，但不破坏数据库</a:t>
            </a:r>
            <a:endParaRPr lang="en-US" altLang="zh-CN"/>
          </a:p>
          <a:p>
            <a:pPr lvl="1"/>
            <a:r>
              <a:rPr lang="zh-CN" altLang="en-US"/>
              <a:t>内存中数据库缓冲区的信息全部丢失</a:t>
            </a:r>
            <a:endParaRPr lang="en-US" altLang="zh-CN"/>
          </a:p>
          <a:p>
            <a:pPr lvl="1"/>
            <a:endParaRPr lang="en-US" altLang="zh-CN" sz="1300"/>
          </a:p>
          <a:p>
            <a:r>
              <a:rPr lang="zh-CN" altLang="en-US">
                <a:solidFill>
                  <a:srgbClr val="0000FF"/>
                </a:solidFill>
              </a:rPr>
              <a:t>系统故障的恢复操作</a:t>
            </a:r>
            <a:endParaRPr lang="en-US" altLang="zh-CN">
              <a:solidFill>
                <a:srgbClr val="0000FF"/>
              </a:solidFill>
            </a:endParaRPr>
          </a:p>
          <a:p>
            <a:pPr lvl="1"/>
            <a:r>
              <a:rPr lang="zh-CN" altLang="en-US"/>
              <a:t>系统重新启动时，恢复程序让所有非正常终止的事务回滚，强行</a:t>
            </a:r>
            <a:r>
              <a:rPr lang="zh-CN" altLang="en-US">
                <a:solidFill>
                  <a:srgbClr val="FF0000"/>
                </a:solidFill>
              </a:rPr>
              <a:t>撤消</a:t>
            </a:r>
            <a:r>
              <a:rPr lang="en-US" altLang="zh-CN">
                <a:solidFill>
                  <a:srgbClr val="FF0000"/>
                </a:solidFill>
              </a:rPr>
              <a:t>(UNDO)</a:t>
            </a:r>
            <a:r>
              <a:rPr lang="zh-CN" altLang="en-US"/>
              <a:t>所有</a:t>
            </a:r>
            <a:r>
              <a:rPr lang="zh-CN" altLang="en-US">
                <a:solidFill>
                  <a:srgbClr val="FF0000"/>
                </a:solidFill>
              </a:rPr>
              <a:t>未完成事务</a:t>
            </a:r>
          </a:p>
          <a:p>
            <a:pPr lvl="1"/>
            <a:r>
              <a:rPr lang="zh-CN" altLang="en-US"/>
              <a:t>系统重新启动时，恢复程序</a:t>
            </a:r>
            <a:r>
              <a:rPr lang="zh-CN" altLang="en-US">
                <a:solidFill>
                  <a:srgbClr val="FF0000"/>
                </a:solidFill>
              </a:rPr>
              <a:t>重做</a:t>
            </a:r>
            <a:r>
              <a:rPr lang="en-US" altLang="zh-CN">
                <a:solidFill>
                  <a:srgbClr val="FF0000"/>
                </a:solidFill>
              </a:rPr>
              <a:t>(REDO)</a:t>
            </a:r>
            <a:r>
              <a:rPr lang="zh-CN" altLang="en-US"/>
              <a:t>所有</a:t>
            </a:r>
            <a:r>
              <a:rPr lang="zh-CN" altLang="en-US">
                <a:solidFill>
                  <a:srgbClr val="FF0000"/>
                </a:solidFill>
              </a:rPr>
              <a:t>已完成的事务</a:t>
            </a:r>
            <a:endParaRPr lang="en-US" altLang="zh-CN">
              <a:solidFill>
                <a:srgbClr val="FF0000"/>
              </a:solidFill>
            </a:endParaRPr>
          </a:p>
        </p:txBody>
      </p:sp>
      <p:sp>
        <p:nvSpPr>
          <p:cNvPr id="4" name="灯片编号占位符 3">
            <a:extLst>
              <a:ext uri="{FF2B5EF4-FFF2-40B4-BE49-F238E27FC236}">
                <a16:creationId xmlns:a16="http://schemas.microsoft.com/office/drawing/2014/main" id="{DA33A8A2-8588-4567-BC28-54571BD6116C}"/>
              </a:ext>
            </a:extLst>
          </p:cNvPr>
          <p:cNvSpPr>
            <a:spLocks noGrp="1"/>
          </p:cNvSpPr>
          <p:nvPr>
            <p:ph type="sldNum" sz="quarter" idx="12"/>
          </p:nvPr>
        </p:nvSpPr>
        <p:spPr/>
        <p:txBody>
          <a:bodyPr/>
          <a:lstStyle/>
          <a:p>
            <a:fld id="{E63F6D5D-9733-4D44-9C56-AEFEDD5A4BA7}" type="slidenum">
              <a:rPr lang="en-US" smtClean="0"/>
              <a:pPr/>
              <a:t>13</a:t>
            </a:fld>
            <a:endParaRPr lang="en-US" dirty="0"/>
          </a:p>
        </p:txBody>
      </p:sp>
    </p:spTree>
    <p:extLst>
      <p:ext uri="{BB962C8B-B14F-4D97-AF65-F5344CB8AC3E}">
        <p14:creationId xmlns:p14="http://schemas.microsoft.com/office/powerpoint/2010/main" val="259668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F9B739-3707-4049-B56D-139985481029}"/>
              </a:ext>
            </a:extLst>
          </p:cNvPr>
          <p:cNvSpPr>
            <a:spLocks noGrp="1"/>
          </p:cNvSpPr>
          <p:nvPr>
            <p:ph type="title"/>
          </p:nvPr>
        </p:nvSpPr>
        <p:spPr/>
        <p:txBody>
          <a:bodyPr/>
          <a:lstStyle/>
          <a:p>
            <a:r>
              <a:rPr lang="en-US" altLang="zh-CN" dirty="0"/>
              <a:t>3. </a:t>
            </a:r>
            <a:r>
              <a:rPr lang="zh-CN" altLang="en-US" dirty="0"/>
              <a:t>介质故障</a:t>
            </a:r>
          </a:p>
        </p:txBody>
      </p:sp>
      <p:sp>
        <p:nvSpPr>
          <p:cNvPr id="3" name="内容占位符 2">
            <a:extLst>
              <a:ext uri="{FF2B5EF4-FFF2-40B4-BE49-F238E27FC236}">
                <a16:creationId xmlns:a16="http://schemas.microsoft.com/office/drawing/2014/main" id="{F5DFC12E-798F-440A-8905-904E880C85B6}"/>
              </a:ext>
            </a:extLst>
          </p:cNvPr>
          <p:cNvSpPr>
            <a:spLocks noGrp="1"/>
          </p:cNvSpPr>
          <p:nvPr>
            <p:ph idx="1"/>
          </p:nvPr>
        </p:nvSpPr>
        <p:spPr/>
        <p:txBody>
          <a:bodyPr/>
          <a:lstStyle/>
          <a:p>
            <a:r>
              <a:rPr lang="zh-CN" altLang="en-US" u="sng">
                <a:solidFill>
                  <a:srgbClr val="FF0000"/>
                </a:solidFill>
              </a:rPr>
              <a:t>介质故障</a:t>
            </a:r>
            <a:r>
              <a:rPr lang="zh-CN" altLang="en-US"/>
              <a:t>也称为</a:t>
            </a:r>
            <a:r>
              <a:rPr lang="zh-CN" altLang="en-US">
                <a:solidFill>
                  <a:srgbClr val="FF0000"/>
                </a:solidFill>
              </a:rPr>
              <a:t>硬故障</a:t>
            </a:r>
            <a:r>
              <a:rPr lang="en-US" altLang="zh-CN">
                <a:solidFill>
                  <a:srgbClr val="FF0000"/>
                </a:solidFill>
              </a:rPr>
              <a:t>(Hard crash)</a:t>
            </a:r>
            <a:r>
              <a:rPr lang="zh-CN" altLang="en-US"/>
              <a:t>，指</a:t>
            </a:r>
            <a:r>
              <a:rPr lang="zh-CN" altLang="en-US">
                <a:solidFill>
                  <a:srgbClr val="0000FF"/>
                </a:solidFill>
              </a:rPr>
              <a:t>外存故障</a:t>
            </a:r>
            <a:endParaRPr lang="en-US" altLang="zh-CN">
              <a:solidFill>
                <a:srgbClr val="0000FF"/>
              </a:solidFill>
            </a:endParaRPr>
          </a:p>
          <a:p>
            <a:pPr lvl="1"/>
            <a:r>
              <a:rPr lang="zh-CN" altLang="en-US" sz="2400"/>
              <a:t>磁盘损坏</a:t>
            </a:r>
            <a:endParaRPr lang="en-US" altLang="zh-CN" sz="2400"/>
          </a:p>
          <a:p>
            <a:pPr lvl="1"/>
            <a:r>
              <a:rPr lang="zh-CN" altLang="en-US" sz="2400"/>
              <a:t>磁头碰撞</a:t>
            </a:r>
            <a:endParaRPr lang="en-US" altLang="zh-CN" sz="2400"/>
          </a:p>
          <a:p>
            <a:pPr lvl="1"/>
            <a:r>
              <a:rPr lang="zh-CN" altLang="en-US" sz="2400"/>
              <a:t>瞬时强磁场干扰</a:t>
            </a:r>
            <a:endParaRPr lang="en-US" altLang="zh-CN" sz="2400"/>
          </a:p>
          <a:p>
            <a:pPr marL="357187" lvl="1" indent="0">
              <a:buNone/>
            </a:pPr>
            <a:endParaRPr lang="en-US" altLang="zh-CN" sz="1100"/>
          </a:p>
          <a:p>
            <a:r>
              <a:rPr lang="zh-CN" altLang="en-US">
                <a:solidFill>
                  <a:srgbClr val="0000FF"/>
                </a:solidFill>
              </a:rPr>
              <a:t>介质故障特点</a:t>
            </a:r>
            <a:endParaRPr lang="en-US" altLang="zh-CN">
              <a:solidFill>
                <a:srgbClr val="0000FF"/>
              </a:solidFill>
            </a:endParaRPr>
          </a:p>
          <a:p>
            <a:pPr lvl="1"/>
            <a:r>
              <a:rPr lang="zh-CN" altLang="en-US" sz="2400"/>
              <a:t>破坏数据库或部分数据库，并影响正在存取这部分数据的所有事务</a:t>
            </a:r>
            <a:endParaRPr lang="en-US" altLang="zh-CN" sz="2400"/>
          </a:p>
          <a:p>
            <a:pPr lvl="1"/>
            <a:r>
              <a:rPr lang="zh-CN" altLang="en-US" sz="2400"/>
              <a:t>与事务故障和系统故障相比，发生的可能性小，但破坏性最大</a:t>
            </a:r>
            <a:endParaRPr lang="en-US" altLang="zh-CN" sz="2400"/>
          </a:p>
          <a:p>
            <a:pPr marL="0" indent="0">
              <a:buNone/>
            </a:pPr>
            <a:endParaRPr lang="zh-CN" altLang="en-US"/>
          </a:p>
        </p:txBody>
      </p:sp>
      <p:sp>
        <p:nvSpPr>
          <p:cNvPr id="4" name="灯片编号占位符 3">
            <a:extLst>
              <a:ext uri="{FF2B5EF4-FFF2-40B4-BE49-F238E27FC236}">
                <a16:creationId xmlns:a16="http://schemas.microsoft.com/office/drawing/2014/main" id="{10C55313-A59C-41CA-BDDE-2B28D18981FD}"/>
              </a:ext>
            </a:extLst>
          </p:cNvPr>
          <p:cNvSpPr>
            <a:spLocks noGrp="1"/>
          </p:cNvSpPr>
          <p:nvPr>
            <p:ph type="sldNum" sz="quarter" idx="12"/>
          </p:nvPr>
        </p:nvSpPr>
        <p:spPr/>
        <p:txBody>
          <a:bodyPr/>
          <a:lstStyle/>
          <a:p>
            <a:fld id="{E63F6D5D-9733-4D44-9C56-AEFEDD5A4BA7}" type="slidenum">
              <a:rPr lang="en-US" smtClean="0"/>
              <a:pPr/>
              <a:t>14</a:t>
            </a:fld>
            <a:endParaRPr lang="en-US" dirty="0"/>
          </a:p>
        </p:txBody>
      </p:sp>
    </p:spTree>
    <p:extLst>
      <p:ext uri="{BB962C8B-B14F-4D97-AF65-F5344CB8AC3E}">
        <p14:creationId xmlns:p14="http://schemas.microsoft.com/office/powerpoint/2010/main" val="3654142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AB019C-69FE-40A6-BBDA-8C73E2DA6F38}"/>
              </a:ext>
            </a:extLst>
          </p:cNvPr>
          <p:cNvSpPr>
            <a:spLocks noGrp="1"/>
          </p:cNvSpPr>
          <p:nvPr>
            <p:ph type="title"/>
          </p:nvPr>
        </p:nvSpPr>
        <p:spPr/>
        <p:txBody>
          <a:bodyPr/>
          <a:lstStyle/>
          <a:p>
            <a:r>
              <a:rPr lang="en-US" altLang="zh-CN" dirty="0"/>
              <a:t>4. </a:t>
            </a:r>
            <a:r>
              <a:rPr lang="zh-CN" altLang="en-US" dirty="0"/>
              <a:t>计算机病毒</a:t>
            </a:r>
          </a:p>
        </p:txBody>
      </p:sp>
      <p:sp>
        <p:nvSpPr>
          <p:cNvPr id="3" name="内容占位符 2">
            <a:extLst>
              <a:ext uri="{FF2B5EF4-FFF2-40B4-BE49-F238E27FC236}">
                <a16:creationId xmlns:a16="http://schemas.microsoft.com/office/drawing/2014/main" id="{3FB38D9C-A9D2-4DD1-AB3E-FD6617EC83F1}"/>
              </a:ext>
            </a:extLst>
          </p:cNvPr>
          <p:cNvSpPr>
            <a:spLocks noGrp="1"/>
          </p:cNvSpPr>
          <p:nvPr>
            <p:ph idx="1"/>
          </p:nvPr>
        </p:nvSpPr>
        <p:spPr/>
        <p:txBody>
          <a:bodyPr>
            <a:normAutofit/>
          </a:bodyPr>
          <a:lstStyle/>
          <a:p>
            <a:pPr>
              <a:lnSpc>
                <a:spcPct val="100000"/>
              </a:lnSpc>
            </a:pPr>
            <a:r>
              <a:rPr lang="zh-CN" altLang="en-US" u="sng">
                <a:solidFill>
                  <a:srgbClr val="FF0000"/>
                </a:solidFill>
              </a:rPr>
              <a:t>计算机病毒</a:t>
            </a:r>
            <a:r>
              <a:rPr lang="zh-CN" altLang="en-US"/>
              <a:t>是一种</a:t>
            </a:r>
            <a:r>
              <a:rPr lang="zh-CN" altLang="en-US">
                <a:solidFill>
                  <a:srgbClr val="FF0000"/>
                </a:solidFill>
              </a:rPr>
              <a:t>人为的</a:t>
            </a:r>
            <a:r>
              <a:rPr lang="zh-CN" altLang="en-US"/>
              <a:t>故障或破坏，是一种</a:t>
            </a:r>
            <a:r>
              <a:rPr lang="zh-CN" altLang="en-US">
                <a:solidFill>
                  <a:srgbClr val="FF0000"/>
                </a:solidFill>
              </a:rPr>
              <a:t>恶意</a:t>
            </a:r>
            <a:r>
              <a:rPr lang="zh-CN" altLang="en-US"/>
              <a:t>计算机程序</a:t>
            </a:r>
            <a:endParaRPr lang="en-US" altLang="zh-CN"/>
          </a:p>
          <a:p>
            <a:pPr>
              <a:lnSpc>
                <a:spcPct val="100000"/>
              </a:lnSpc>
            </a:pPr>
            <a:endParaRPr lang="en-US" altLang="zh-CN" sz="1100"/>
          </a:p>
          <a:p>
            <a:pPr>
              <a:lnSpc>
                <a:spcPct val="100000"/>
              </a:lnSpc>
            </a:pPr>
            <a:r>
              <a:rPr lang="zh-CN" altLang="en-US">
                <a:solidFill>
                  <a:srgbClr val="0000FF"/>
                </a:solidFill>
              </a:rPr>
              <a:t>计算机病毒特点</a:t>
            </a:r>
            <a:endParaRPr lang="en-US" altLang="zh-CN">
              <a:solidFill>
                <a:srgbClr val="0000FF"/>
              </a:solidFill>
            </a:endParaRPr>
          </a:p>
          <a:p>
            <a:pPr lvl="1">
              <a:lnSpc>
                <a:spcPct val="100000"/>
              </a:lnSpc>
            </a:pPr>
            <a:r>
              <a:rPr lang="zh-CN" altLang="en-US"/>
              <a:t>可以</a:t>
            </a:r>
            <a:r>
              <a:rPr lang="zh-CN" altLang="en-US">
                <a:solidFill>
                  <a:srgbClr val="FF0000"/>
                </a:solidFill>
              </a:rPr>
              <a:t>繁殖</a:t>
            </a:r>
            <a:r>
              <a:rPr lang="zh-CN" altLang="en-US"/>
              <a:t>和</a:t>
            </a:r>
            <a:r>
              <a:rPr lang="zh-CN" altLang="en-US">
                <a:solidFill>
                  <a:srgbClr val="FF0000"/>
                </a:solidFill>
              </a:rPr>
              <a:t>传播</a:t>
            </a:r>
            <a:r>
              <a:rPr lang="zh-CN" altLang="en-US"/>
              <a:t>，造成对计算机系统包括数据库的危害</a:t>
            </a:r>
            <a:endParaRPr lang="en-US" altLang="zh-CN"/>
          </a:p>
          <a:p>
            <a:pPr lvl="2">
              <a:lnSpc>
                <a:spcPct val="100000"/>
              </a:lnSpc>
            </a:pPr>
            <a:r>
              <a:rPr lang="zh-CN" altLang="en-US" sz="2000"/>
              <a:t>有的病毒传播很快，一旦侵入系统就马上摧毁系统</a:t>
            </a:r>
          </a:p>
          <a:p>
            <a:pPr lvl="2">
              <a:lnSpc>
                <a:spcPct val="100000"/>
              </a:lnSpc>
            </a:pPr>
            <a:r>
              <a:rPr lang="zh-CN" altLang="en-US" sz="2000"/>
              <a:t>有的病毒有较长的潜伏期，计算机在感染后数天或数月才开始发病</a:t>
            </a:r>
          </a:p>
          <a:p>
            <a:pPr lvl="2">
              <a:lnSpc>
                <a:spcPct val="100000"/>
              </a:lnSpc>
            </a:pPr>
            <a:r>
              <a:rPr lang="zh-CN" altLang="en-US" sz="2000"/>
              <a:t>有的病毒感染系统所有的程序和数据</a:t>
            </a:r>
          </a:p>
          <a:p>
            <a:pPr lvl="2">
              <a:lnSpc>
                <a:spcPct val="100000"/>
              </a:lnSpc>
            </a:pPr>
            <a:r>
              <a:rPr lang="zh-CN" altLang="en-US" sz="2000"/>
              <a:t>有的只对某些特定的程序和数据感兴趣</a:t>
            </a:r>
            <a:endParaRPr lang="en-US" altLang="zh-CN" sz="2000"/>
          </a:p>
          <a:p>
            <a:pPr lvl="2">
              <a:lnSpc>
                <a:spcPct val="100000"/>
              </a:lnSpc>
            </a:pPr>
            <a:endParaRPr lang="zh-CN" altLang="en-US" sz="1000"/>
          </a:p>
          <a:p>
            <a:pPr>
              <a:lnSpc>
                <a:spcPct val="100000"/>
              </a:lnSpc>
            </a:pPr>
            <a:r>
              <a:rPr lang="zh-CN" altLang="en-US" sz="2400"/>
              <a:t>计算机病毒已成为计算机系统的主要威胁，自然也是数据库系统的主要威胁</a:t>
            </a:r>
            <a:endParaRPr lang="en-US" altLang="zh-CN" sz="2400"/>
          </a:p>
          <a:p>
            <a:pPr>
              <a:lnSpc>
                <a:spcPct val="100000"/>
              </a:lnSpc>
            </a:pPr>
            <a:endParaRPr lang="zh-CN" altLang="en-US" sz="1100"/>
          </a:p>
          <a:p>
            <a:pPr>
              <a:lnSpc>
                <a:spcPct val="100000"/>
              </a:lnSpc>
            </a:pPr>
            <a:r>
              <a:rPr lang="zh-CN" altLang="en-US" sz="2400"/>
              <a:t>数据库一旦被破坏仍要用恢复技术把数据库加以恢复</a:t>
            </a:r>
          </a:p>
        </p:txBody>
      </p:sp>
      <p:sp>
        <p:nvSpPr>
          <p:cNvPr id="4" name="灯片编号占位符 3">
            <a:extLst>
              <a:ext uri="{FF2B5EF4-FFF2-40B4-BE49-F238E27FC236}">
                <a16:creationId xmlns:a16="http://schemas.microsoft.com/office/drawing/2014/main" id="{951A8D39-E4D4-401F-8A15-B2F6D458792B}"/>
              </a:ext>
            </a:extLst>
          </p:cNvPr>
          <p:cNvSpPr>
            <a:spLocks noGrp="1"/>
          </p:cNvSpPr>
          <p:nvPr>
            <p:ph type="sldNum" sz="quarter" idx="12"/>
          </p:nvPr>
        </p:nvSpPr>
        <p:spPr/>
        <p:txBody>
          <a:bodyPr/>
          <a:lstStyle/>
          <a:p>
            <a:fld id="{E63F6D5D-9733-4D44-9C56-AEFEDD5A4BA7}" type="slidenum">
              <a:rPr lang="en-US" smtClean="0"/>
              <a:pPr/>
              <a:t>15</a:t>
            </a:fld>
            <a:endParaRPr lang="en-US" dirty="0"/>
          </a:p>
        </p:txBody>
      </p:sp>
    </p:spTree>
    <p:extLst>
      <p:ext uri="{BB962C8B-B14F-4D97-AF65-F5344CB8AC3E}">
        <p14:creationId xmlns:p14="http://schemas.microsoft.com/office/powerpoint/2010/main" val="2493727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73B8EF-D9C1-408C-BF5B-490835822659}"/>
              </a:ext>
            </a:extLst>
          </p:cNvPr>
          <p:cNvSpPr>
            <a:spLocks noGrp="1"/>
          </p:cNvSpPr>
          <p:nvPr>
            <p:ph type="title"/>
          </p:nvPr>
        </p:nvSpPr>
        <p:spPr/>
        <p:txBody>
          <a:bodyPr/>
          <a:lstStyle/>
          <a:p>
            <a:r>
              <a:rPr lang="zh-CN" altLang="en-US"/>
              <a:t>故障小结</a:t>
            </a:r>
          </a:p>
        </p:txBody>
      </p:sp>
      <p:sp>
        <p:nvSpPr>
          <p:cNvPr id="3" name="内容占位符 2">
            <a:extLst>
              <a:ext uri="{FF2B5EF4-FFF2-40B4-BE49-F238E27FC236}">
                <a16:creationId xmlns:a16="http://schemas.microsoft.com/office/drawing/2014/main" id="{BF2D11D8-3DB3-447F-8D9F-D87C54A8BA8F}"/>
              </a:ext>
            </a:extLst>
          </p:cNvPr>
          <p:cNvSpPr>
            <a:spLocks noGrp="1"/>
          </p:cNvSpPr>
          <p:nvPr>
            <p:ph idx="1"/>
          </p:nvPr>
        </p:nvSpPr>
        <p:spPr/>
        <p:txBody>
          <a:bodyPr>
            <a:normAutofit lnSpcReduction="10000"/>
          </a:bodyPr>
          <a:lstStyle/>
          <a:p>
            <a:r>
              <a:rPr lang="zh-CN" altLang="en-US"/>
              <a:t>各类故障对数据库的影响有</a:t>
            </a:r>
            <a:r>
              <a:rPr lang="zh-CN" altLang="en-US" u="sng">
                <a:solidFill>
                  <a:srgbClr val="FF0000"/>
                </a:solidFill>
              </a:rPr>
              <a:t>两种可能性</a:t>
            </a:r>
            <a:r>
              <a:rPr lang="zh-CN" altLang="en-US"/>
              <a:t>：</a:t>
            </a:r>
          </a:p>
          <a:p>
            <a:pPr marL="814387" lvl="1" indent="-457200">
              <a:buFont typeface="+mj-lt"/>
              <a:buAutoNum type="arabicPeriod"/>
            </a:pPr>
            <a:r>
              <a:rPr lang="zh-CN" altLang="en-US"/>
              <a:t>数据库本身被破坏</a:t>
            </a:r>
            <a:endParaRPr lang="en-US" altLang="zh-CN"/>
          </a:p>
          <a:p>
            <a:pPr marL="814387" lvl="1" indent="-457200">
              <a:buFont typeface="+mj-lt"/>
              <a:buAutoNum type="arabicPeriod"/>
            </a:pPr>
            <a:r>
              <a:rPr lang="zh-CN" altLang="en-US"/>
              <a:t>数据库没有被破坏，但数据可能不正确，这是由于事务的运行被非正常终止造成的</a:t>
            </a:r>
            <a:endParaRPr lang="en-US" altLang="zh-CN"/>
          </a:p>
          <a:p>
            <a:pPr marL="357187" lvl="1" indent="0">
              <a:buNone/>
            </a:pPr>
            <a:endParaRPr lang="en-US" altLang="zh-CN" sz="1100"/>
          </a:p>
          <a:p>
            <a:r>
              <a:rPr lang="zh-CN" altLang="en-US">
                <a:solidFill>
                  <a:srgbClr val="0000FF"/>
                </a:solidFill>
              </a:rPr>
              <a:t>恢复的基本原理</a:t>
            </a:r>
            <a:endParaRPr lang="en-US" altLang="zh-CN">
              <a:solidFill>
                <a:srgbClr val="0000FF"/>
              </a:solidFill>
            </a:endParaRPr>
          </a:p>
          <a:p>
            <a:pPr lvl="1"/>
            <a:r>
              <a:rPr lang="zh-CN" altLang="en-US" b="1">
                <a:solidFill>
                  <a:srgbClr val="FF0000"/>
                </a:solidFill>
              </a:rPr>
              <a:t>冗余</a:t>
            </a:r>
            <a:endParaRPr lang="en-US" altLang="zh-CN" b="1">
              <a:solidFill>
                <a:srgbClr val="FF0000"/>
              </a:solidFill>
            </a:endParaRPr>
          </a:p>
          <a:p>
            <a:pPr lvl="1"/>
            <a:r>
              <a:rPr lang="zh-CN" altLang="en-US" sz="2200"/>
              <a:t>即，可以利用存储在系统别处的</a:t>
            </a:r>
            <a:r>
              <a:rPr lang="zh-CN" altLang="en-US" sz="2200">
                <a:solidFill>
                  <a:srgbClr val="FF0000"/>
                </a:solidFill>
              </a:rPr>
              <a:t>冗余数据</a:t>
            </a:r>
            <a:r>
              <a:rPr lang="zh-CN" altLang="en-US" sz="2200"/>
              <a:t>来</a:t>
            </a:r>
            <a:r>
              <a:rPr lang="zh-CN" altLang="en-US" sz="2200">
                <a:solidFill>
                  <a:srgbClr val="FF0000"/>
                </a:solidFill>
              </a:rPr>
              <a:t>重建</a:t>
            </a:r>
            <a:r>
              <a:rPr lang="zh-CN" altLang="en-US" sz="2200"/>
              <a:t>数据库中已被破坏或不正确的那部分数据</a:t>
            </a:r>
            <a:endParaRPr lang="en-US" altLang="zh-CN" sz="2200"/>
          </a:p>
          <a:p>
            <a:pPr lvl="1"/>
            <a:endParaRPr lang="en-US" altLang="zh-CN" sz="1100"/>
          </a:p>
          <a:p>
            <a:r>
              <a:rPr lang="zh-CN" altLang="en-US"/>
              <a:t>恢复的基本原理简单，但</a:t>
            </a:r>
            <a:r>
              <a:rPr lang="zh-CN" altLang="en-US">
                <a:solidFill>
                  <a:srgbClr val="FF0000"/>
                </a:solidFill>
              </a:rPr>
              <a:t>实现技术的细节</a:t>
            </a:r>
            <a:r>
              <a:rPr lang="zh-CN" altLang="en-US"/>
              <a:t>却相当</a:t>
            </a:r>
            <a:r>
              <a:rPr lang="zh-CN" altLang="en-US">
                <a:solidFill>
                  <a:srgbClr val="FF0000"/>
                </a:solidFill>
              </a:rPr>
              <a:t>复杂</a:t>
            </a:r>
            <a:endParaRPr lang="en-US" altLang="zh-CN">
              <a:solidFill>
                <a:srgbClr val="FF0000"/>
              </a:solidFill>
            </a:endParaRPr>
          </a:p>
          <a:p>
            <a:pPr lvl="1"/>
            <a:r>
              <a:rPr lang="zh-CN" altLang="en-US"/>
              <a:t>一个大型数据库产品，恢复子系统的代码要占全部代码的</a:t>
            </a:r>
            <a:r>
              <a:rPr lang="en-US" altLang="zh-CN"/>
              <a:t>10%</a:t>
            </a:r>
            <a:r>
              <a:rPr lang="zh-CN" altLang="en-US"/>
              <a:t>以上</a:t>
            </a:r>
          </a:p>
        </p:txBody>
      </p:sp>
      <p:sp>
        <p:nvSpPr>
          <p:cNvPr id="4" name="灯片编号占位符 3">
            <a:extLst>
              <a:ext uri="{FF2B5EF4-FFF2-40B4-BE49-F238E27FC236}">
                <a16:creationId xmlns:a16="http://schemas.microsoft.com/office/drawing/2014/main" id="{77B30B67-738D-413D-9FB0-209237D718F7}"/>
              </a:ext>
            </a:extLst>
          </p:cNvPr>
          <p:cNvSpPr>
            <a:spLocks noGrp="1"/>
          </p:cNvSpPr>
          <p:nvPr>
            <p:ph type="sldNum" sz="quarter" idx="12"/>
          </p:nvPr>
        </p:nvSpPr>
        <p:spPr/>
        <p:txBody>
          <a:bodyPr/>
          <a:lstStyle/>
          <a:p>
            <a:fld id="{E63F6D5D-9733-4D44-9C56-AEFEDD5A4BA7}" type="slidenum">
              <a:rPr lang="en-US" smtClean="0"/>
              <a:pPr/>
              <a:t>16</a:t>
            </a:fld>
            <a:endParaRPr lang="en-US" dirty="0"/>
          </a:p>
        </p:txBody>
      </p:sp>
    </p:spTree>
    <p:extLst>
      <p:ext uri="{BB962C8B-B14F-4D97-AF65-F5344CB8AC3E}">
        <p14:creationId xmlns:p14="http://schemas.microsoft.com/office/powerpoint/2010/main" val="1019089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zh-CN"/>
              <a:t>10.4  </a:t>
            </a:r>
            <a:r>
              <a:rPr lang="zh-CN" altLang="en-US"/>
              <a:t>恢复的实现技术</a:t>
            </a:r>
          </a:p>
        </p:txBody>
      </p:sp>
      <p:sp>
        <p:nvSpPr>
          <p:cNvPr id="30723" name="Rectangle 3"/>
          <p:cNvSpPr>
            <a:spLocks noGrp="1" noChangeArrowheads="1"/>
          </p:cNvSpPr>
          <p:nvPr>
            <p:ph idx="1"/>
          </p:nvPr>
        </p:nvSpPr>
        <p:spPr/>
        <p:txBody>
          <a:bodyPr/>
          <a:lstStyle/>
          <a:p>
            <a:r>
              <a:rPr lang="zh-CN" altLang="en-US" dirty="0">
                <a:solidFill>
                  <a:srgbClr val="0000FF"/>
                </a:solidFill>
              </a:rPr>
              <a:t>恢复机制涉及的关键问题</a:t>
            </a:r>
            <a:endParaRPr lang="zh-CN" altLang="en-US" sz="2000" dirty="0">
              <a:solidFill>
                <a:srgbClr val="0000FF"/>
              </a:solidFill>
            </a:endParaRPr>
          </a:p>
          <a:p>
            <a:pPr lvl="1"/>
            <a:r>
              <a:rPr lang="zh-CN" altLang="en-US" dirty="0"/>
              <a:t>如何建立冗余数据</a:t>
            </a:r>
            <a:endParaRPr lang="en-US" altLang="zh-CN" dirty="0"/>
          </a:p>
          <a:p>
            <a:pPr lvl="1"/>
            <a:r>
              <a:rPr lang="zh-CN" altLang="en-US" dirty="0"/>
              <a:t>如何利用这些冗余数据实施数据库恢复</a:t>
            </a:r>
            <a:endParaRPr lang="en-US" altLang="zh-CN" dirty="0"/>
          </a:p>
          <a:p>
            <a:pPr marL="357187" lvl="1" indent="0">
              <a:buNone/>
            </a:pPr>
            <a:endParaRPr lang="en-US" altLang="zh-CN" sz="1000" dirty="0"/>
          </a:p>
          <a:p>
            <a:r>
              <a:rPr lang="zh-CN" altLang="en-US" dirty="0">
                <a:solidFill>
                  <a:srgbClr val="0000FF"/>
                </a:solidFill>
              </a:rPr>
              <a:t>建立冗余数据最常用的技术</a:t>
            </a:r>
            <a:endParaRPr lang="en-US" altLang="zh-CN" dirty="0">
              <a:solidFill>
                <a:srgbClr val="0000FF"/>
              </a:solidFill>
            </a:endParaRPr>
          </a:p>
          <a:p>
            <a:pPr lvl="1"/>
            <a:r>
              <a:rPr lang="zh-CN" altLang="en-US" dirty="0">
                <a:solidFill>
                  <a:srgbClr val="FF0000"/>
                </a:solidFill>
              </a:rPr>
              <a:t>数据转储</a:t>
            </a:r>
            <a:endParaRPr lang="en-US" altLang="zh-CN" dirty="0">
              <a:solidFill>
                <a:srgbClr val="FF0000"/>
              </a:solidFill>
            </a:endParaRPr>
          </a:p>
          <a:p>
            <a:pPr lvl="1"/>
            <a:r>
              <a:rPr lang="zh-CN" altLang="en-US" dirty="0">
                <a:solidFill>
                  <a:srgbClr val="FF0000"/>
                </a:solidFill>
              </a:rPr>
              <a:t>登记日志文件</a:t>
            </a:r>
            <a:r>
              <a:rPr lang="en-US" altLang="zh-CN" dirty="0">
                <a:solidFill>
                  <a:srgbClr val="FF0000"/>
                </a:solidFill>
              </a:rPr>
              <a:t>(logging)</a:t>
            </a:r>
          </a:p>
          <a:p>
            <a:pPr marL="357187" lvl="1" indent="0">
              <a:buNone/>
            </a:pPr>
            <a:endParaRPr lang="en-US" altLang="zh-CN" sz="1000" dirty="0">
              <a:solidFill>
                <a:srgbClr val="FF0000"/>
              </a:solidFill>
            </a:endParaRPr>
          </a:p>
          <a:p>
            <a:r>
              <a:rPr lang="zh-CN" altLang="en-US" dirty="0"/>
              <a:t>通常在一个数据库系统中，这两种方法一起使用。</a:t>
            </a:r>
          </a:p>
        </p:txBody>
      </p:sp>
      <p:sp>
        <p:nvSpPr>
          <p:cNvPr id="2" name="灯片编号占位符 1">
            <a:extLst>
              <a:ext uri="{FF2B5EF4-FFF2-40B4-BE49-F238E27FC236}">
                <a16:creationId xmlns:a16="http://schemas.microsoft.com/office/drawing/2014/main" id="{C92E6EFC-110F-4E16-AD56-33596DAB6449}"/>
              </a:ext>
            </a:extLst>
          </p:cNvPr>
          <p:cNvSpPr>
            <a:spLocks noGrp="1"/>
          </p:cNvSpPr>
          <p:nvPr>
            <p:ph type="sldNum" sz="quarter" idx="12"/>
          </p:nvPr>
        </p:nvSpPr>
        <p:spPr/>
        <p:txBody>
          <a:bodyPr/>
          <a:lstStyle/>
          <a:p>
            <a:fld id="{47C9E101-E51D-431E-84FA-C029B8655B60}" type="slidenum">
              <a:rPr lang="zh-CN" altLang="en-US" smtClean="0"/>
              <a:pPr/>
              <a:t>17</a:t>
            </a:fld>
            <a:endParaRPr lang="zh-CN" altLang="en-US" dirty="0"/>
          </a:p>
        </p:txBody>
      </p:sp>
    </p:spTree>
    <p:extLst>
      <p:ext uri="{BB962C8B-B14F-4D97-AF65-F5344CB8AC3E}">
        <p14:creationId xmlns:p14="http://schemas.microsoft.com/office/powerpoint/2010/main" val="23152775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79AFA0-CE80-41DB-A57D-2E8C29CF50DE}"/>
              </a:ext>
            </a:extLst>
          </p:cNvPr>
          <p:cNvSpPr>
            <a:spLocks noGrp="1"/>
          </p:cNvSpPr>
          <p:nvPr>
            <p:ph type="title"/>
          </p:nvPr>
        </p:nvSpPr>
        <p:spPr/>
        <p:txBody>
          <a:bodyPr/>
          <a:lstStyle/>
          <a:p>
            <a:r>
              <a:rPr lang="en-US" altLang="zh-CN" dirty="0"/>
              <a:t>1. </a:t>
            </a:r>
            <a:r>
              <a:rPr lang="zh-CN" altLang="en-US" dirty="0"/>
              <a:t>数据转储</a:t>
            </a:r>
          </a:p>
        </p:txBody>
      </p:sp>
      <p:sp>
        <p:nvSpPr>
          <p:cNvPr id="3" name="内容占位符 2">
            <a:extLst>
              <a:ext uri="{FF2B5EF4-FFF2-40B4-BE49-F238E27FC236}">
                <a16:creationId xmlns:a16="http://schemas.microsoft.com/office/drawing/2014/main" id="{537F5C75-0363-47D8-88BF-EC7D8CEB54E8}"/>
              </a:ext>
            </a:extLst>
          </p:cNvPr>
          <p:cNvSpPr>
            <a:spLocks noGrp="1"/>
          </p:cNvSpPr>
          <p:nvPr>
            <p:ph idx="1"/>
          </p:nvPr>
        </p:nvSpPr>
        <p:spPr/>
        <p:txBody>
          <a:bodyPr/>
          <a:lstStyle/>
          <a:p>
            <a:r>
              <a:rPr lang="zh-CN" altLang="en-US" u="sng">
                <a:solidFill>
                  <a:srgbClr val="FF0000"/>
                </a:solidFill>
              </a:rPr>
              <a:t>数据转储</a:t>
            </a:r>
            <a:r>
              <a:rPr lang="zh-CN" altLang="en-US"/>
              <a:t>是指数据库管理员定期地将整个数据库复制到磁带、磁盘或其他存储介质上保存起来的过程。</a:t>
            </a:r>
            <a:endParaRPr lang="zh-CN" altLang="en-US" sz="1100"/>
          </a:p>
          <a:p>
            <a:pPr lvl="1"/>
            <a:r>
              <a:rPr lang="zh-CN" altLang="en-US"/>
              <a:t>备用的数据称为后备副本或后援副本</a:t>
            </a:r>
            <a:r>
              <a:rPr lang="en-US" altLang="zh-CN"/>
              <a:t>(backup)</a:t>
            </a:r>
          </a:p>
          <a:p>
            <a:pPr lvl="1"/>
            <a:r>
              <a:rPr lang="zh-CN" altLang="en-US"/>
              <a:t>数据库恢复采用的基本技术</a:t>
            </a:r>
            <a:endParaRPr lang="en-US" altLang="zh-CN"/>
          </a:p>
          <a:p>
            <a:pPr marL="357187" lvl="1" indent="0">
              <a:buNone/>
            </a:pPr>
            <a:endParaRPr lang="en-US" altLang="zh-CN" sz="800"/>
          </a:p>
          <a:p>
            <a:r>
              <a:rPr lang="zh-CN" altLang="en-US">
                <a:solidFill>
                  <a:srgbClr val="0000FF"/>
                </a:solidFill>
              </a:rPr>
              <a:t>利用后备副本进行数据库的恢复</a:t>
            </a:r>
            <a:endParaRPr lang="en-US" altLang="zh-CN">
              <a:solidFill>
                <a:srgbClr val="0000FF"/>
              </a:solidFill>
            </a:endParaRPr>
          </a:p>
          <a:p>
            <a:pPr lvl="1"/>
            <a:r>
              <a:rPr lang="zh-CN" altLang="en-US"/>
              <a:t>当数据库遭到破坏后可以将后备副本重新装入，</a:t>
            </a:r>
            <a:endParaRPr lang="en-US" altLang="zh-CN"/>
          </a:p>
          <a:p>
            <a:pPr lvl="1"/>
            <a:r>
              <a:rPr lang="zh-CN" altLang="en-US"/>
              <a:t>但重装后备副本只能将数据库恢复到转储时的状态，</a:t>
            </a:r>
          </a:p>
          <a:p>
            <a:pPr lvl="1"/>
            <a:r>
              <a:rPr lang="zh-CN" altLang="en-US"/>
              <a:t>要想恢复到故障发生时的状态，必须重新运行自转储以后的所有更新事务。</a:t>
            </a:r>
          </a:p>
        </p:txBody>
      </p:sp>
      <p:sp>
        <p:nvSpPr>
          <p:cNvPr id="4" name="灯片编号占位符 3">
            <a:extLst>
              <a:ext uri="{FF2B5EF4-FFF2-40B4-BE49-F238E27FC236}">
                <a16:creationId xmlns:a16="http://schemas.microsoft.com/office/drawing/2014/main" id="{E4297B07-79FD-4221-B404-7996C79FE8AA}"/>
              </a:ext>
            </a:extLst>
          </p:cNvPr>
          <p:cNvSpPr>
            <a:spLocks noGrp="1"/>
          </p:cNvSpPr>
          <p:nvPr>
            <p:ph type="sldNum" sz="quarter" idx="12"/>
          </p:nvPr>
        </p:nvSpPr>
        <p:spPr/>
        <p:txBody>
          <a:bodyPr/>
          <a:lstStyle/>
          <a:p>
            <a:fld id="{E63F6D5D-9733-4D44-9C56-AEFEDD5A4BA7}" type="slidenum">
              <a:rPr lang="en-US" smtClean="0"/>
              <a:pPr/>
              <a:t>18</a:t>
            </a:fld>
            <a:endParaRPr lang="en-US" dirty="0"/>
          </a:p>
        </p:txBody>
      </p:sp>
    </p:spTree>
    <p:extLst>
      <p:ext uri="{BB962C8B-B14F-4D97-AF65-F5344CB8AC3E}">
        <p14:creationId xmlns:p14="http://schemas.microsoft.com/office/powerpoint/2010/main" val="2218652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F601BD5-6B2B-44DA-BBAB-9C35D5F26CED}"/>
              </a:ext>
            </a:extLst>
          </p:cNvPr>
          <p:cNvSpPr>
            <a:spLocks noGrp="1"/>
          </p:cNvSpPr>
          <p:nvPr>
            <p:ph type="sldNum" sz="quarter" idx="12"/>
          </p:nvPr>
        </p:nvSpPr>
        <p:spPr/>
        <p:txBody>
          <a:bodyPr/>
          <a:lstStyle/>
          <a:p>
            <a:fld id="{E63F6D5D-9733-4D44-9C56-AEFEDD5A4BA7}" type="slidenum">
              <a:rPr lang="en-US" smtClean="0"/>
              <a:pPr/>
              <a:t>19</a:t>
            </a:fld>
            <a:endParaRPr lang="en-US" dirty="0"/>
          </a:p>
        </p:txBody>
      </p:sp>
      <p:sp>
        <p:nvSpPr>
          <p:cNvPr id="6" name="Text Box 4">
            <a:extLst>
              <a:ext uri="{FF2B5EF4-FFF2-40B4-BE49-F238E27FC236}">
                <a16:creationId xmlns:a16="http://schemas.microsoft.com/office/drawing/2014/main" id="{8A09A2F4-C641-4A01-B53D-040AE2A0A3A5}"/>
              </a:ext>
            </a:extLst>
          </p:cNvPr>
          <p:cNvSpPr txBox="1">
            <a:spLocks noChangeArrowheads="1"/>
          </p:cNvSpPr>
          <p:nvPr/>
        </p:nvSpPr>
        <p:spPr bwMode="auto">
          <a:xfrm>
            <a:off x="1828800" y="1182336"/>
            <a:ext cx="8077200" cy="3886200"/>
          </a:xfrm>
          <a:prstGeom prst="rect">
            <a:avLst/>
          </a:prstGeom>
          <a:gradFill rotWithShape="1">
            <a:gsLst>
              <a:gs pos="0">
                <a:srgbClr val="98D4FF"/>
              </a:gs>
              <a:gs pos="35001">
                <a:srgbClr val="B6DFFF"/>
              </a:gs>
              <a:gs pos="100000">
                <a:srgbClr val="E1F2FF"/>
              </a:gs>
            </a:gsLst>
            <a:lin ang="5400000" scaled="1"/>
          </a:gradFill>
          <a:ln w="9525">
            <a:solidFill>
              <a:srgbClr val="5FA6E7"/>
            </a:solidFill>
            <a:miter lim="800000"/>
            <a:headEnd/>
            <a:tailEnd/>
          </a:ln>
          <a:effectLst>
            <a:outerShdw dist="20000" dir="5400000" algn="ctr" rotWithShape="0">
              <a:srgbClr val="000000">
                <a:alpha val="37000"/>
              </a:srgbClr>
            </a:outerShdw>
          </a:effectLst>
        </p:spPr>
        <p:txBody>
          <a:bodyPr/>
          <a:lstStyle/>
          <a:p>
            <a:pPr algn="just">
              <a:lnSpc>
                <a:spcPct val="160000"/>
              </a:lnSpc>
              <a:buSzPct val="100000"/>
              <a:buFont typeface="Wingdings" pitchFamily="2" charset="2"/>
              <a:buNone/>
              <a:defRPr/>
            </a:pPr>
            <a:r>
              <a:rPr lang="en-US" altLang="zh-CN" sz="800" b="1" dirty="0">
                <a:latin typeface="宋体" pitchFamily="2" charset="-122"/>
              </a:rPr>
              <a:t>                                       </a:t>
            </a:r>
          </a:p>
          <a:p>
            <a:pPr algn="just">
              <a:lnSpc>
                <a:spcPct val="160000"/>
              </a:lnSpc>
              <a:buSzPct val="100000"/>
              <a:buFont typeface="Wingdings" pitchFamily="2" charset="2"/>
              <a:buNone/>
              <a:defRPr/>
            </a:pPr>
            <a:r>
              <a:rPr lang="en-US" altLang="zh-CN" sz="800" b="1" dirty="0">
                <a:latin typeface="宋体" pitchFamily="2" charset="-122"/>
              </a:rPr>
              <a:t>          </a:t>
            </a:r>
            <a:r>
              <a:rPr lang="en-US" altLang="zh-CN" sz="1000" b="1" dirty="0">
                <a:latin typeface="宋体" pitchFamily="2" charset="-122"/>
              </a:rPr>
              <a:t>			 </a:t>
            </a:r>
            <a:endParaRPr lang="zh-CN" altLang="en-US" sz="2000" b="1" dirty="0">
              <a:solidFill>
                <a:srgbClr val="FF0000"/>
              </a:solidFill>
              <a:latin typeface="宋体" pitchFamily="2" charset="-122"/>
            </a:endParaRPr>
          </a:p>
          <a:p>
            <a:pPr algn="just">
              <a:lnSpc>
                <a:spcPct val="160000"/>
              </a:lnSpc>
              <a:buSzPct val="100000"/>
              <a:buFont typeface="Wingdings" pitchFamily="2" charset="2"/>
              <a:buNone/>
              <a:defRPr/>
            </a:pPr>
            <a:r>
              <a:rPr lang="zh-CN" altLang="en-US" sz="1600" b="1" dirty="0">
                <a:latin typeface="宋体" pitchFamily="2" charset="-122"/>
              </a:rPr>
              <a:t>                         </a:t>
            </a:r>
            <a:r>
              <a:rPr lang="zh-CN" altLang="en-US" sz="2000" b="1" dirty="0">
                <a:solidFill>
                  <a:srgbClr val="0000FF"/>
                </a:solidFill>
                <a:latin typeface="宋体" pitchFamily="2" charset="-122"/>
              </a:rPr>
              <a:t>转储</a:t>
            </a:r>
            <a:r>
              <a:rPr lang="zh-CN" altLang="en-US" sz="1600" b="1" dirty="0">
                <a:latin typeface="宋体" pitchFamily="2" charset="-122"/>
              </a:rPr>
              <a:t>           </a:t>
            </a:r>
            <a:r>
              <a:rPr lang="zh-CN" altLang="en-US" sz="2000" b="1" dirty="0">
                <a:solidFill>
                  <a:srgbClr val="0000FF"/>
                </a:solidFill>
                <a:latin typeface="宋体" pitchFamily="2" charset="-122"/>
              </a:rPr>
              <a:t>运行事务   </a:t>
            </a:r>
            <a:r>
              <a:rPr lang="zh-CN" altLang="en-US" sz="2000" b="1" dirty="0">
                <a:solidFill>
                  <a:srgbClr val="FF0000"/>
                </a:solidFill>
                <a:latin typeface="宋体" pitchFamily="2" charset="-122"/>
              </a:rPr>
              <a:t>故障发生点</a:t>
            </a:r>
            <a:endParaRPr lang="zh-CN" altLang="en-US" b="1" dirty="0">
              <a:solidFill>
                <a:srgbClr val="FF0000"/>
              </a:solidFill>
              <a:latin typeface="宋体" pitchFamily="2" charset="-122"/>
            </a:endParaRPr>
          </a:p>
          <a:p>
            <a:pPr algn="just">
              <a:lnSpc>
                <a:spcPct val="160000"/>
              </a:lnSpc>
              <a:buSzPct val="100000"/>
              <a:buFont typeface="Wingdings" pitchFamily="2" charset="2"/>
              <a:buNone/>
              <a:defRPr/>
            </a:pPr>
            <a:r>
              <a:rPr lang="zh-CN" altLang="en-US" sz="2000" b="1" dirty="0">
                <a:latin typeface="宋体" pitchFamily="2" charset="-122"/>
              </a:rPr>
              <a:t>正常运行</a:t>
            </a:r>
            <a:r>
              <a:rPr lang="zh-CN" altLang="en-US" b="1" dirty="0">
                <a:latin typeface="宋体" pitchFamily="2" charset="-122"/>
              </a:rPr>
              <a:t>     ─┼───────┼─────────↓────</a:t>
            </a:r>
          </a:p>
          <a:p>
            <a:pPr algn="just">
              <a:lnSpc>
                <a:spcPct val="160000"/>
              </a:lnSpc>
              <a:buSzPct val="100000"/>
              <a:buFont typeface="Wingdings" pitchFamily="2" charset="2"/>
              <a:buNone/>
              <a:defRPr/>
            </a:pPr>
            <a:r>
              <a:rPr lang="zh-CN" altLang="en-US" b="1" dirty="0">
                <a:latin typeface="宋体" pitchFamily="2" charset="-122"/>
              </a:rPr>
              <a:t>                 </a:t>
            </a:r>
            <a:r>
              <a:rPr lang="en-US" altLang="zh-CN" b="1" dirty="0">
                <a:latin typeface="宋体" pitchFamily="2" charset="-122"/>
              </a:rPr>
              <a:t>T</a:t>
            </a:r>
            <a:r>
              <a:rPr lang="en-US" altLang="zh-CN" b="1" baseline="-25000" dirty="0">
                <a:latin typeface="宋体" pitchFamily="2" charset="-122"/>
              </a:rPr>
              <a:t>a</a:t>
            </a:r>
            <a:r>
              <a:rPr lang="en-US" altLang="zh-CN" b="1" dirty="0">
                <a:latin typeface="宋体" pitchFamily="2" charset="-122"/>
              </a:rPr>
              <a:t>        </a:t>
            </a:r>
            <a:r>
              <a:rPr lang="zh-CN" altLang="en-US" b="1" dirty="0">
                <a:latin typeface="宋体" pitchFamily="2" charset="-122"/>
              </a:rPr>
              <a:t>　　　</a:t>
            </a:r>
            <a:r>
              <a:rPr lang="en-US" altLang="zh-CN" b="1" dirty="0">
                <a:latin typeface="宋体" pitchFamily="2" charset="-122"/>
              </a:rPr>
              <a:t>T</a:t>
            </a:r>
            <a:r>
              <a:rPr lang="en-US" altLang="zh-CN" b="1" baseline="-25000" dirty="0">
                <a:latin typeface="宋体" pitchFamily="2" charset="-122"/>
              </a:rPr>
              <a:t>b</a:t>
            </a:r>
            <a:r>
              <a:rPr lang="en-US" altLang="zh-CN" b="1" dirty="0">
                <a:latin typeface="宋体" pitchFamily="2" charset="-122"/>
              </a:rPr>
              <a:t>        </a:t>
            </a:r>
            <a:r>
              <a:rPr lang="en-US" altLang="zh-CN" sz="2000" b="1" dirty="0">
                <a:latin typeface="宋体" pitchFamily="2" charset="-122"/>
              </a:rPr>
              <a:t>         </a:t>
            </a:r>
            <a:r>
              <a:rPr lang="en-US" altLang="zh-CN" sz="2000" b="1" dirty="0" err="1">
                <a:latin typeface="宋体" pitchFamily="2" charset="-122"/>
              </a:rPr>
              <a:t>T</a:t>
            </a:r>
            <a:r>
              <a:rPr lang="en-US" altLang="zh-CN" b="1" baseline="-25000" dirty="0" err="1">
                <a:latin typeface="宋体" pitchFamily="2" charset="-122"/>
              </a:rPr>
              <a:t>f</a:t>
            </a:r>
            <a:endParaRPr lang="en-US" altLang="zh-CN" b="1" baseline="-25000" dirty="0">
              <a:latin typeface="宋体" pitchFamily="2" charset="-122"/>
            </a:endParaRPr>
          </a:p>
          <a:p>
            <a:pPr algn="just">
              <a:lnSpc>
                <a:spcPct val="160000"/>
              </a:lnSpc>
              <a:buSzPct val="100000"/>
              <a:buFont typeface="Wingdings" pitchFamily="2" charset="2"/>
              <a:buNone/>
              <a:defRPr/>
            </a:pPr>
            <a:endParaRPr lang="en-US" altLang="zh-CN" b="1" dirty="0">
              <a:latin typeface="宋体" pitchFamily="2" charset="-122"/>
            </a:endParaRPr>
          </a:p>
          <a:p>
            <a:pPr algn="just">
              <a:lnSpc>
                <a:spcPct val="160000"/>
              </a:lnSpc>
              <a:buSzPct val="100000"/>
              <a:buFont typeface="Wingdings" pitchFamily="2" charset="2"/>
              <a:buNone/>
              <a:defRPr/>
            </a:pPr>
            <a:r>
              <a:rPr lang="en-US" altLang="zh-CN" b="1" dirty="0">
                <a:latin typeface="宋体" pitchFamily="2" charset="-122"/>
              </a:rPr>
              <a:t>            </a:t>
            </a:r>
            <a:r>
              <a:rPr lang="zh-CN" altLang="en-US" sz="2000" b="1" dirty="0">
                <a:latin typeface="宋体" pitchFamily="2" charset="-122"/>
              </a:rPr>
              <a:t>重装后备副本</a:t>
            </a:r>
            <a:r>
              <a:rPr lang="zh-CN" altLang="en-US" b="1" dirty="0">
                <a:latin typeface="宋体" pitchFamily="2" charset="-122"/>
              </a:rPr>
              <a:t>     </a:t>
            </a:r>
            <a:r>
              <a:rPr lang="zh-CN" altLang="en-US" sz="2000" b="1" dirty="0">
                <a:latin typeface="宋体" pitchFamily="2" charset="-122"/>
              </a:rPr>
              <a:t>重新运行事务</a:t>
            </a:r>
          </a:p>
          <a:p>
            <a:pPr algn="just">
              <a:lnSpc>
                <a:spcPct val="160000"/>
              </a:lnSpc>
              <a:buSzPct val="100000"/>
              <a:buFont typeface="Wingdings" pitchFamily="2" charset="2"/>
              <a:buNone/>
              <a:defRPr/>
            </a:pPr>
            <a:r>
              <a:rPr lang="zh-CN" altLang="en-US" sz="2000" b="1" dirty="0">
                <a:latin typeface="宋体" pitchFamily="2" charset="-122"/>
              </a:rPr>
              <a:t>恢复</a:t>
            </a:r>
            <a:r>
              <a:rPr lang="zh-CN" altLang="en-US" sz="1600" b="1" dirty="0">
                <a:latin typeface="宋体" pitchFamily="2" charset="-122"/>
              </a:rPr>
              <a:t> </a:t>
            </a:r>
            <a:r>
              <a:rPr lang="zh-CN" altLang="en-US" b="1" dirty="0">
                <a:latin typeface="宋体" pitchFamily="2" charset="-122"/>
              </a:rPr>
              <a:t>         ─┼───────┴－－－－－－－－－－－</a:t>
            </a:r>
            <a:r>
              <a:rPr lang="zh-CN" altLang="en-US" sz="2000" b="1" dirty="0">
                <a:latin typeface="宋体" pitchFamily="2" charset="-122"/>
              </a:rPr>
              <a:t>→</a:t>
            </a:r>
          </a:p>
          <a:p>
            <a:pPr algn="just">
              <a:buSzPct val="100000"/>
              <a:buFont typeface="Wingdings" pitchFamily="2" charset="2"/>
              <a:buNone/>
              <a:defRPr/>
            </a:pPr>
            <a:endParaRPr lang="en-US" b="1" dirty="0">
              <a:latin typeface="Times New Roman" pitchFamily="18" charset="0"/>
            </a:endParaRPr>
          </a:p>
        </p:txBody>
      </p:sp>
      <p:sp>
        <p:nvSpPr>
          <p:cNvPr id="7" name="Text Box 6">
            <a:extLst>
              <a:ext uri="{FF2B5EF4-FFF2-40B4-BE49-F238E27FC236}">
                <a16:creationId xmlns:a16="http://schemas.microsoft.com/office/drawing/2014/main" id="{B302F781-3434-4155-8073-192CA3BEAD8D}"/>
              </a:ext>
            </a:extLst>
          </p:cNvPr>
          <p:cNvSpPr txBox="1">
            <a:spLocks noChangeArrowheads="1"/>
          </p:cNvSpPr>
          <p:nvPr/>
        </p:nvSpPr>
        <p:spPr bwMode="auto">
          <a:xfrm>
            <a:off x="4572000" y="5257800"/>
            <a:ext cx="223651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buSzPct val="100000"/>
              <a:buFont typeface="Wingdings" pitchFamily="2" charset="2"/>
              <a:buNone/>
            </a:pPr>
            <a:r>
              <a:rPr lang="zh-CN" altLang="zh-CN" sz="3200" dirty="0">
                <a:solidFill>
                  <a:srgbClr val="FF0000"/>
                </a:solidFill>
                <a:latin typeface="微软雅黑" panose="020B0503020204020204" pitchFamily="34" charset="-122"/>
                <a:ea typeface="微软雅黑" panose="020B0503020204020204" pitchFamily="34" charset="-122"/>
              </a:rPr>
              <a:t>转储和恢复</a:t>
            </a:r>
          </a:p>
        </p:txBody>
      </p:sp>
      <p:sp>
        <p:nvSpPr>
          <p:cNvPr id="8" name="标题 1">
            <a:extLst>
              <a:ext uri="{FF2B5EF4-FFF2-40B4-BE49-F238E27FC236}">
                <a16:creationId xmlns:a16="http://schemas.microsoft.com/office/drawing/2014/main" id="{0AEDEDFA-9CD1-46C8-96F8-A6719C8655CE}"/>
              </a:ext>
            </a:extLst>
          </p:cNvPr>
          <p:cNvSpPr>
            <a:spLocks noGrp="1"/>
          </p:cNvSpPr>
          <p:nvPr>
            <p:ph type="title"/>
          </p:nvPr>
        </p:nvSpPr>
        <p:spPr>
          <a:xfrm>
            <a:off x="1281113" y="238125"/>
            <a:ext cx="9553575" cy="512763"/>
          </a:xfrm>
        </p:spPr>
        <p:txBody>
          <a:bodyPr/>
          <a:lstStyle/>
          <a:p>
            <a:r>
              <a:rPr lang="en-US" altLang="zh-CN" dirty="0"/>
              <a:t>1. </a:t>
            </a:r>
            <a:r>
              <a:rPr lang="zh-CN" altLang="en-US" dirty="0"/>
              <a:t>数据转储</a:t>
            </a:r>
          </a:p>
        </p:txBody>
      </p:sp>
    </p:spTree>
    <p:extLst>
      <p:ext uri="{BB962C8B-B14F-4D97-AF65-F5344CB8AC3E}">
        <p14:creationId xmlns:p14="http://schemas.microsoft.com/office/powerpoint/2010/main" val="22665526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F711242E-70E8-4D72-9B2A-7909E2954707}"/>
              </a:ext>
            </a:extLst>
          </p:cNvPr>
          <p:cNvSpPr>
            <a:spLocks noGrp="1"/>
          </p:cNvSpPr>
          <p:nvPr>
            <p:ph type="title"/>
          </p:nvPr>
        </p:nvSpPr>
        <p:spPr/>
        <p:txBody>
          <a:bodyPr/>
          <a:lstStyle/>
          <a:p>
            <a:r>
              <a:rPr lang="en-US" altLang="zh-CN" dirty="0"/>
              <a:t>1. </a:t>
            </a:r>
            <a:r>
              <a:rPr lang="zh-CN" altLang="en-US" dirty="0"/>
              <a:t>数据转储</a:t>
            </a:r>
          </a:p>
        </p:txBody>
      </p:sp>
      <p:sp>
        <p:nvSpPr>
          <p:cNvPr id="3" name="内容占位符 2">
            <a:extLst>
              <a:ext uri="{FF2B5EF4-FFF2-40B4-BE49-F238E27FC236}">
                <a16:creationId xmlns:a16="http://schemas.microsoft.com/office/drawing/2014/main" id="{D49A82FA-F46C-4E04-9DD3-8A1C08FAA2A6}"/>
              </a:ext>
            </a:extLst>
          </p:cNvPr>
          <p:cNvSpPr>
            <a:spLocks noGrp="1"/>
          </p:cNvSpPr>
          <p:nvPr>
            <p:ph idx="1"/>
          </p:nvPr>
        </p:nvSpPr>
        <p:spPr/>
        <p:txBody>
          <a:bodyPr/>
          <a:lstStyle/>
          <a:p>
            <a:r>
              <a:rPr lang="zh-CN" altLang="en-US" dirty="0"/>
              <a:t>转储是十分耗费时间和资源的，不能频繁进行。</a:t>
            </a:r>
            <a:r>
              <a:rPr lang="en-US" altLang="zh-CN" dirty="0"/>
              <a:t>DBA</a:t>
            </a:r>
            <a:r>
              <a:rPr lang="zh-CN" altLang="en-US" dirty="0"/>
              <a:t>应根据数据库使用情况确定一个适当的转储周期。</a:t>
            </a:r>
            <a:endParaRPr lang="en-US" altLang="zh-CN" dirty="0"/>
          </a:p>
          <a:p>
            <a:r>
              <a:rPr lang="zh-CN" altLang="en-US" dirty="0"/>
              <a:t>转储可分为</a:t>
            </a:r>
            <a:r>
              <a:rPr lang="zh-CN" altLang="en-US" dirty="0">
                <a:solidFill>
                  <a:srgbClr val="C00000"/>
                </a:solidFill>
              </a:rPr>
              <a:t>静态转储</a:t>
            </a:r>
            <a:r>
              <a:rPr lang="zh-CN" altLang="en-US" dirty="0"/>
              <a:t>和</a:t>
            </a:r>
            <a:r>
              <a:rPr lang="zh-CN" altLang="en-US" dirty="0">
                <a:solidFill>
                  <a:srgbClr val="C00000"/>
                </a:solidFill>
              </a:rPr>
              <a:t>动态转储</a:t>
            </a:r>
          </a:p>
        </p:txBody>
      </p:sp>
      <p:sp>
        <p:nvSpPr>
          <p:cNvPr id="4" name="灯片编号占位符 3">
            <a:extLst>
              <a:ext uri="{FF2B5EF4-FFF2-40B4-BE49-F238E27FC236}">
                <a16:creationId xmlns:a16="http://schemas.microsoft.com/office/drawing/2014/main" id="{97150AD1-2ACE-4BF7-B1DF-C6A712420040}"/>
              </a:ext>
            </a:extLst>
          </p:cNvPr>
          <p:cNvSpPr>
            <a:spLocks noGrp="1"/>
          </p:cNvSpPr>
          <p:nvPr>
            <p:ph type="sldNum" sz="quarter" idx="12"/>
          </p:nvPr>
        </p:nvSpPr>
        <p:spPr/>
        <p:txBody>
          <a:bodyPr/>
          <a:lstStyle/>
          <a:p>
            <a:fld id="{E63F6D5D-9733-4D44-9C56-AEFEDD5A4BA7}" type="slidenum">
              <a:rPr lang="en-US" smtClean="0"/>
              <a:pPr/>
              <a:t>20</a:t>
            </a:fld>
            <a:endParaRPr lang="en-US" dirty="0"/>
          </a:p>
        </p:txBody>
      </p:sp>
      <p:graphicFrame>
        <p:nvGraphicFramePr>
          <p:cNvPr id="5" name="表格 4">
            <a:extLst>
              <a:ext uri="{FF2B5EF4-FFF2-40B4-BE49-F238E27FC236}">
                <a16:creationId xmlns:a16="http://schemas.microsoft.com/office/drawing/2014/main" id="{F101C376-3AC9-42AE-8883-12C4C0E74C76}"/>
              </a:ext>
            </a:extLst>
          </p:cNvPr>
          <p:cNvGraphicFramePr>
            <a:graphicFrameLocks noGrp="1"/>
          </p:cNvGraphicFramePr>
          <p:nvPr>
            <p:extLst>
              <p:ext uri="{D42A27DB-BD31-4B8C-83A1-F6EECF244321}">
                <p14:modId xmlns:p14="http://schemas.microsoft.com/office/powerpoint/2010/main" val="2379128157"/>
              </p:ext>
            </p:extLst>
          </p:nvPr>
        </p:nvGraphicFramePr>
        <p:xfrm>
          <a:off x="838200" y="2653135"/>
          <a:ext cx="10363200" cy="4068113"/>
        </p:xfrm>
        <a:graphic>
          <a:graphicData uri="http://schemas.openxmlformats.org/drawingml/2006/table">
            <a:tbl>
              <a:tblPr firstRow="1" bandRow="1">
                <a:tableStyleId>{8A107856-5554-42FB-B03E-39F5DBC370BA}</a:tableStyleId>
              </a:tblPr>
              <a:tblGrid>
                <a:gridCol w="5181600">
                  <a:extLst>
                    <a:ext uri="{9D8B030D-6E8A-4147-A177-3AD203B41FA5}">
                      <a16:colId xmlns:a16="http://schemas.microsoft.com/office/drawing/2014/main" val="4263827132"/>
                    </a:ext>
                  </a:extLst>
                </a:gridCol>
                <a:gridCol w="5181600">
                  <a:extLst>
                    <a:ext uri="{9D8B030D-6E8A-4147-A177-3AD203B41FA5}">
                      <a16:colId xmlns:a16="http://schemas.microsoft.com/office/drawing/2014/main" val="2177854754"/>
                    </a:ext>
                  </a:extLst>
                </a:gridCol>
              </a:tblGrid>
              <a:tr h="501953">
                <a:tc>
                  <a:txBody>
                    <a:bodyPr/>
                    <a:lstStyle/>
                    <a:p>
                      <a:pPr algn="ctr"/>
                      <a:r>
                        <a:rPr lang="zh-CN" altLang="en-US" sz="2400" dirty="0">
                          <a:solidFill>
                            <a:srgbClr val="0000FF"/>
                          </a:solidFill>
                          <a:latin typeface="微软雅黑" panose="020B0503020204020204" pitchFamily="34" charset="-122"/>
                          <a:ea typeface="微软雅黑" panose="020B0503020204020204" pitchFamily="34" charset="-122"/>
                        </a:rPr>
                        <a:t>静态转储</a:t>
                      </a:r>
                    </a:p>
                  </a:txBody>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动态转储</a:t>
                      </a:r>
                    </a:p>
                  </a:txBody>
                  <a:tcPr/>
                </a:tc>
                <a:extLst>
                  <a:ext uri="{0D108BD9-81ED-4DB2-BD59-A6C34878D82A}">
                    <a16:rowId xmlns:a16="http://schemas.microsoft.com/office/drawing/2014/main" val="2997227028"/>
                  </a:ext>
                </a:extLst>
              </a:tr>
              <a:tr h="370840">
                <a:tc>
                  <a:txBody>
                    <a:bodyPr/>
                    <a:lstStyle/>
                    <a:p>
                      <a:pPr marL="171450" indent="-171450">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rPr>
                        <a:t>是在系统中无运行事务时进行的转储操作，即转储操作开始的时刻数据库处于一致性状态，在转储期间不允许</a:t>
                      </a:r>
                      <a:r>
                        <a:rPr lang="en-US" altLang="zh-CN" sz="1800">
                          <a:latin typeface="微软雅黑" panose="020B0503020204020204" pitchFamily="34" charset="-122"/>
                          <a:ea typeface="微软雅黑" panose="020B0503020204020204" pitchFamily="34" charset="-122"/>
                        </a:rPr>
                        <a:t>(</a:t>
                      </a:r>
                      <a:r>
                        <a:rPr lang="zh-CN" altLang="en-US" sz="1800">
                          <a:latin typeface="微软雅黑" panose="020B0503020204020204" pitchFamily="34" charset="-122"/>
                          <a:ea typeface="微软雅黑" panose="020B0503020204020204" pitchFamily="34" charset="-122"/>
                        </a:rPr>
                        <a:t>或不存在</a:t>
                      </a:r>
                      <a:r>
                        <a:rPr lang="en-US" altLang="zh-CN" sz="1800">
                          <a:latin typeface="微软雅黑" panose="020B0503020204020204" pitchFamily="34" charset="-122"/>
                          <a:ea typeface="微软雅黑" panose="020B0503020204020204" pitchFamily="34" charset="-122"/>
                        </a:rPr>
                        <a:t>)</a:t>
                      </a:r>
                      <a:r>
                        <a:rPr lang="zh-CN" altLang="en-US" sz="1800">
                          <a:latin typeface="微软雅黑" panose="020B0503020204020204" pitchFamily="34" charset="-122"/>
                          <a:ea typeface="微软雅黑" panose="020B0503020204020204" pitchFamily="34" charset="-122"/>
                        </a:rPr>
                        <a:t>对数据库的任何存取、修改。</a:t>
                      </a:r>
                    </a:p>
                    <a:p>
                      <a:pPr marL="171450" indent="-171450">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rPr>
                        <a:t>静态转储得到的一定是一个数据一致性的副本</a:t>
                      </a:r>
                    </a:p>
                  </a:txBody>
                  <a:tcPr/>
                </a:tc>
                <a:tc>
                  <a:txBody>
                    <a:bodyPr/>
                    <a:lstStyle/>
                    <a:p>
                      <a:pPr marL="171450" marR="0" lvl="0" indent="-171450" algn="l" defTabSz="51435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是指转储期间允许对数据库进行存取或修改，即转储和用户事务可以并发执行</a:t>
                      </a:r>
                    </a:p>
                  </a:txBody>
                  <a:tcPr/>
                </a:tc>
                <a:extLst>
                  <a:ext uri="{0D108BD9-81ED-4DB2-BD59-A6C34878D82A}">
                    <a16:rowId xmlns:a16="http://schemas.microsoft.com/office/drawing/2014/main" val="3956929652"/>
                  </a:ext>
                </a:extLst>
              </a:tr>
              <a:tr h="370840">
                <a:tc>
                  <a:txBody>
                    <a:bodyPr/>
                    <a:lstStyle/>
                    <a:p>
                      <a:pPr marL="0" indent="0">
                        <a:buFont typeface="Arial" panose="020B0604020202020204" pitchFamily="34" charset="0"/>
                        <a:buNone/>
                      </a:pPr>
                      <a:r>
                        <a:rPr lang="zh-CN" altLang="en-US" sz="1800" kern="1200">
                          <a:solidFill>
                            <a:srgbClr val="FF0000"/>
                          </a:solidFill>
                          <a:latin typeface="微软雅黑" panose="020B0503020204020204" pitchFamily="34" charset="-122"/>
                          <a:ea typeface="微软雅黑" panose="020B0503020204020204" pitchFamily="34" charset="-122"/>
                          <a:cs typeface="+mn-cs"/>
                        </a:rPr>
                        <a:t>优点：</a:t>
                      </a:r>
                      <a:endParaRPr lang="en-US" altLang="zh-CN" sz="1800" kern="1200">
                        <a:solidFill>
                          <a:srgbClr val="FF0000"/>
                        </a:solidFill>
                        <a:latin typeface="微软雅黑" panose="020B0503020204020204" pitchFamily="34" charset="-122"/>
                        <a:ea typeface="微软雅黑" panose="020B0503020204020204" pitchFamily="34" charset="-122"/>
                        <a:cs typeface="+mn-cs"/>
                      </a:endParaRPr>
                    </a:p>
                    <a:p>
                      <a:pPr marL="285750" indent="-285750">
                        <a:buFont typeface="Arial" panose="020B0604020202020204" pitchFamily="34" charset="0"/>
                        <a:buChar char="•"/>
                      </a:pPr>
                      <a:r>
                        <a:rPr lang="zh-CN" altLang="en-US" sz="1800" kern="1200">
                          <a:solidFill>
                            <a:schemeClr val="dk1"/>
                          </a:solidFill>
                          <a:latin typeface="微软雅黑" panose="020B0503020204020204" pitchFamily="34" charset="-122"/>
                          <a:ea typeface="微软雅黑" panose="020B0503020204020204" pitchFamily="34" charset="-122"/>
                          <a:cs typeface="+mn-cs"/>
                        </a:rPr>
                        <a:t>实现简单</a:t>
                      </a:r>
                    </a:p>
                  </a:txBody>
                  <a:tcPr/>
                </a:tc>
                <a:tc>
                  <a:txBody>
                    <a:bodyPr/>
                    <a:lstStyle/>
                    <a:p>
                      <a:pPr marL="0" marR="0" lvl="0" indent="0" algn="l" defTabSz="51435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优点：</a:t>
                      </a:r>
                      <a:endParaRPr kumimoji="0" lang="en-US" altLang="zh-CN" sz="18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51435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克服了静态转储的缺点，不用等待正在运行的用户事务结束，也不会影响新事务的运行</a:t>
                      </a:r>
                    </a:p>
                  </a:txBody>
                  <a:tcPr/>
                </a:tc>
                <a:extLst>
                  <a:ext uri="{0D108BD9-81ED-4DB2-BD59-A6C34878D82A}">
                    <a16:rowId xmlns:a16="http://schemas.microsoft.com/office/drawing/2014/main" val="3163658255"/>
                  </a:ext>
                </a:extLst>
              </a:tr>
              <a:tr h="370840">
                <a:tc>
                  <a:txBody>
                    <a:bodyPr/>
                    <a:lstStyle/>
                    <a:p>
                      <a:pPr marL="0" indent="0">
                        <a:buFont typeface="Arial" panose="020B0604020202020204" pitchFamily="34" charset="0"/>
                        <a:buNone/>
                      </a:pPr>
                      <a:r>
                        <a:rPr lang="zh-CN" altLang="en-US" sz="1800">
                          <a:solidFill>
                            <a:srgbClr val="FF0000"/>
                          </a:solidFill>
                          <a:latin typeface="微软雅黑" panose="020B0503020204020204" pitchFamily="34" charset="-122"/>
                          <a:ea typeface="微软雅黑" panose="020B0503020204020204" pitchFamily="34" charset="-122"/>
                        </a:rPr>
                        <a:t>缺点：</a:t>
                      </a:r>
                      <a:endParaRPr lang="en-US" altLang="zh-CN" sz="1800">
                        <a:solidFill>
                          <a:srgbClr val="FF0000"/>
                        </a:solidFill>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rPr>
                        <a:t>降低了数据库的可用性</a:t>
                      </a:r>
                      <a:endParaRPr lang="en-US" altLang="zh-CN" sz="180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rPr>
                        <a:t>转储必须等待正运行的用户事务结束 </a:t>
                      </a:r>
                    </a:p>
                    <a:p>
                      <a:pPr marL="171450" indent="-171450">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rPr>
                        <a:t>新的事务必须等转储结束</a:t>
                      </a:r>
                    </a:p>
                  </a:txBody>
                  <a:tcPr/>
                </a:tc>
                <a:tc>
                  <a:txBody>
                    <a:bodyPr/>
                    <a:lstStyle/>
                    <a:p>
                      <a:pPr marL="0" marR="0" lvl="0" indent="0" algn="l" defTabSz="51435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缺点：</a:t>
                      </a:r>
                      <a:endPar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p>
                      <a:pPr marL="171450" marR="0" lvl="0" indent="-171450" algn="l" defTabSz="51435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不能保证转储结束后后援副本的数据正确有效</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928030450"/>
                  </a:ext>
                </a:extLst>
              </a:tr>
            </a:tbl>
          </a:graphicData>
        </a:graphic>
      </p:graphicFrame>
    </p:spTree>
    <p:extLst>
      <p:ext uri="{BB962C8B-B14F-4D97-AF65-F5344CB8AC3E}">
        <p14:creationId xmlns:p14="http://schemas.microsoft.com/office/powerpoint/2010/main" val="4175912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B7A1EAF-1F13-4B27-8BEF-A3EB546B7AFC}"/>
              </a:ext>
            </a:extLst>
          </p:cNvPr>
          <p:cNvSpPr>
            <a:spLocks noGrp="1"/>
          </p:cNvSpPr>
          <p:nvPr>
            <p:ph idx="1"/>
          </p:nvPr>
        </p:nvSpPr>
        <p:spPr/>
        <p:txBody>
          <a:bodyPr/>
          <a:lstStyle/>
          <a:p>
            <a:r>
              <a:rPr lang="zh-CN" altLang="en-US">
                <a:solidFill>
                  <a:srgbClr val="FF0000"/>
                </a:solidFill>
              </a:rPr>
              <a:t>动态转储缺点示例</a:t>
            </a:r>
            <a:endParaRPr lang="en-US" altLang="zh-CN">
              <a:solidFill>
                <a:srgbClr val="FF0000"/>
              </a:solidFill>
            </a:endParaRPr>
          </a:p>
          <a:p>
            <a:pPr lvl="1"/>
            <a:r>
              <a:rPr lang="zh-CN" altLang="en-US"/>
              <a:t>在转储期间的某时刻</a:t>
            </a:r>
            <a:r>
              <a:rPr lang="en-US" altLang="zh-CN"/>
              <a:t>T</a:t>
            </a:r>
            <a:r>
              <a:rPr lang="en-US" altLang="zh-CN" baseline="-25000"/>
              <a:t>c</a:t>
            </a:r>
            <a:r>
              <a:rPr lang="zh-CN" altLang="en-US"/>
              <a:t>，系统把数据</a:t>
            </a:r>
            <a:r>
              <a:rPr lang="en-US" altLang="zh-CN"/>
              <a:t>A=100</a:t>
            </a:r>
            <a:r>
              <a:rPr lang="zh-CN" altLang="en-US"/>
              <a:t>转储到磁带上，而在下一时刻</a:t>
            </a:r>
            <a:r>
              <a:rPr lang="en-US" altLang="zh-CN"/>
              <a:t>T</a:t>
            </a:r>
            <a:r>
              <a:rPr lang="en-US" altLang="zh-CN" baseline="-25000"/>
              <a:t>d</a:t>
            </a:r>
            <a:r>
              <a:rPr lang="zh-CN" altLang="en-US"/>
              <a:t>，某一事务将</a:t>
            </a:r>
            <a:r>
              <a:rPr lang="en-US" altLang="zh-CN"/>
              <a:t>A</a:t>
            </a:r>
            <a:r>
              <a:rPr lang="zh-CN" altLang="en-US"/>
              <a:t>改为</a:t>
            </a:r>
            <a:r>
              <a:rPr lang="en-US" altLang="zh-CN"/>
              <a:t>200</a:t>
            </a:r>
            <a:r>
              <a:rPr lang="zh-CN" altLang="en-US"/>
              <a:t>，后备副本上的</a:t>
            </a:r>
            <a:r>
              <a:rPr lang="en-US" altLang="zh-CN"/>
              <a:t>A</a:t>
            </a:r>
            <a:r>
              <a:rPr lang="zh-CN" altLang="en-US"/>
              <a:t>过时了</a:t>
            </a:r>
            <a:endParaRPr lang="en-US" altLang="zh-CN"/>
          </a:p>
          <a:p>
            <a:pPr lvl="1"/>
            <a:endParaRPr lang="en-US" altLang="zh-CN" sz="1000"/>
          </a:p>
          <a:p>
            <a:r>
              <a:rPr lang="zh-CN" altLang="en-US">
                <a:solidFill>
                  <a:srgbClr val="FF0000"/>
                </a:solidFill>
              </a:rPr>
              <a:t>动态转储缺点的解决方案</a:t>
            </a:r>
            <a:endParaRPr lang="en-US" altLang="zh-CN">
              <a:solidFill>
                <a:srgbClr val="FF0000"/>
              </a:solidFill>
            </a:endParaRPr>
          </a:p>
          <a:p>
            <a:pPr lvl="1"/>
            <a:r>
              <a:rPr lang="zh-CN" altLang="en-US"/>
              <a:t>把动态转储期间各事务对数据库的修改活动登记下来，建立</a:t>
            </a:r>
            <a:r>
              <a:rPr lang="zh-CN" altLang="en-US" u="sng">
                <a:solidFill>
                  <a:srgbClr val="FF0000"/>
                </a:solidFill>
              </a:rPr>
              <a:t>日志文件</a:t>
            </a:r>
            <a:r>
              <a:rPr lang="en-US" altLang="zh-CN" u="sng">
                <a:solidFill>
                  <a:srgbClr val="FF0000"/>
                </a:solidFill>
              </a:rPr>
              <a:t>(log file</a:t>
            </a:r>
            <a:r>
              <a:rPr lang="en-US" altLang="zh-CN"/>
              <a:t>)</a:t>
            </a:r>
            <a:r>
              <a:rPr lang="zh-CN" altLang="en-US"/>
              <a:t>。</a:t>
            </a:r>
            <a:endParaRPr lang="en-US" altLang="zh-CN"/>
          </a:p>
          <a:p>
            <a:pPr lvl="1"/>
            <a:r>
              <a:rPr lang="zh-CN" altLang="en-US"/>
              <a:t>后援副本加上日志文件就能把数据库恢复到某一时刻的正确状态。</a:t>
            </a:r>
          </a:p>
        </p:txBody>
      </p:sp>
      <p:sp>
        <p:nvSpPr>
          <p:cNvPr id="4" name="灯片编号占位符 3">
            <a:extLst>
              <a:ext uri="{FF2B5EF4-FFF2-40B4-BE49-F238E27FC236}">
                <a16:creationId xmlns:a16="http://schemas.microsoft.com/office/drawing/2014/main" id="{ED73F1F5-7C75-41D5-9128-592BD29DE212}"/>
              </a:ext>
            </a:extLst>
          </p:cNvPr>
          <p:cNvSpPr>
            <a:spLocks noGrp="1"/>
          </p:cNvSpPr>
          <p:nvPr>
            <p:ph type="sldNum" sz="quarter" idx="12"/>
          </p:nvPr>
        </p:nvSpPr>
        <p:spPr/>
        <p:txBody>
          <a:bodyPr/>
          <a:lstStyle/>
          <a:p>
            <a:fld id="{E63F6D5D-9733-4D44-9C56-AEFEDD5A4BA7}" type="slidenum">
              <a:rPr lang="en-US" smtClean="0"/>
              <a:pPr/>
              <a:t>21</a:t>
            </a:fld>
            <a:endParaRPr lang="en-US" dirty="0"/>
          </a:p>
        </p:txBody>
      </p:sp>
      <p:sp>
        <p:nvSpPr>
          <p:cNvPr id="5" name="标题 1">
            <a:extLst>
              <a:ext uri="{FF2B5EF4-FFF2-40B4-BE49-F238E27FC236}">
                <a16:creationId xmlns:a16="http://schemas.microsoft.com/office/drawing/2014/main" id="{377729FC-7248-4EF3-B812-29670683A2E4}"/>
              </a:ext>
            </a:extLst>
          </p:cNvPr>
          <p:cNvSpPr>
            <a:spLocks noGrp="1"/>
          </p:cNvSpPr>
          <p:nvPr>
            <p:ph type="title"/>
          </p:nvPr>
        </p:nvSpPr>
        <p:spPr>
          <a:xfrm>
            <a:off x="1281113" y="238125"/>
            <a:ext cx="9553575" cy="512763"/>
          </a:xfrm>
        </p:spPr>
        <p:txBody>
          <a:bodyPr/>
          <a:lstStyle/>
          <a:p>
            <a:r>
              <a:rPr lang="en-US" altLang="zh-CN" dirty="0"/>
              <a:t>1. </a:t>
            </a:r>
            <a:r>
              <a:rPr lang="zh-CN" altLang="en-US" dirty="0"/>
              <a:t>数据转储</a:t>
            </a:r>
          </a:p>
        </p:txBody>
      </p:sp>
    </p:spTree>
    <p:extLst>
      <p:ext uri="{BB962C8B-B14F-4D97-AF65-F5344CB8AC3E}">
        <p14:creationId xmlns:p14="http://schemas.microsoft.com/office/powerpoint/2010/main" val="526894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E9E54C8-2CC6-4979-B782-A5C80CC56886}"/>
              </a:ext>
            </a:extLst>
          </p:cNvPr>
          <p:cNvSpPr>
            <a:spLocks noGrp="1"/>
          </p:cNvSpPr>
          <p:nvPr>
            <p:ph type="sldNum" sz="quarter" idx="12"/>
          </p:nvPr>
        </p:nvSpPr>
        <p:spPr/>
        <p:txBody>
          <a:bodyPr/>
          <a:lstStyle/>
          <a:p>
            <a:fld id="{E63F6D5D-9733-4D44-9C56-AEFEDD5A4BA7}" type="slidenum">
              <a:rPr lang="en-US" smtClean="0"/>
              <a:pPr/>
              <a:t>22</a:t>
            </a:fld>
            <a:endParaRPr lang="en-US" dirty="0"/>
          </a:p>
        </p:txBody>
      </p:sp>
      <p:sp>
        <p:nvSpPr>
          <p:cNvPr id="6" name="内容占位符 5">
            <a:extLst>
              <a:ext uri="{FF2B5EF4-FFF2-40B4-BE49-F238E27FC236}">
                <a16:creationId xmlns:a16="http://schemas.microsoft.com/office/drawing/2014/main" id="{94E5AFFA-5437-49E1-B8FA-F49E0BB5D229}"/>
              </a:ext>
            </a:extLst>
          </p:cNvPr>
          <p:cNvSpPr>
            <a:spLocks noGrp="1"/>
          </p:cNvSpPr>
          <p:nvPr>
            <p:ph idx="1"/>
          </p:nvPr>
        </p:nvSpPr>
        <p:spPr/>
        <p:txBody>
          <a:bodyPr/>
          <a:lstStyle/>
          <a:p>
            <a:r>
              <a:rPr lang="zh-CN" altLang="en-US">
                <a:solidFill>
                  <a:srgbClr val="0000FF"/>
                </a:solidFill>
              </a:rPr>
              <a:t>转储也可分为</a:t>
            </a:r>
            <a:r>
              <a:rPr lang="zh-CN" altLang="en-US" u="sng">
                <a:solidFill>
                  <a:srgbClr val="FF0000"/>
                </a:solidFill>
              </a:rPr>
              <a:t>海量转储</a:t>
            </a:r>
            <a:r>
              <a:rPr lang="zh-CN" altLang="en-US">
                <a:solidFill>
                  <a:srgbClr val="0000FF"/>
                </a:solidFill>
              </a:rPr>
              <a:t>和</a:t>
            </a:r>
            <a:r>
              <a:rPr lang="zh-CN" altLang="en-US" u="sng">
                <a:solidFill>
                  <a:srgbClr val="FF0000"/>
                </a:solidFill>
              </a:rPr>
              <a:t>增量转储</a:t>
            </a:r>
            <a:r>
              <a:rPr lang="zh-CN" altLang="en-US">
                <a:solidFill>
                  <a:srgbClr val="FF0000"/>
                </a:solidFill>
              </a:rPr>
              <a:t>。</a:t>
            </a:r>
            <a:endParaRPr lang="en-US" altLang="zh-CN">
              <a:solidFill>
                <a:srgbClr val="FF0000"/>
              </a:solidFill>
            </a:endParaRPr>
          </a:p>
          <a:p>
            <a:pPr lvl="1"/>
            <a:r>
              <a:rPr lang="zh-CN" altLang="en-US" sz="2400">
                <a:solidFill>
                  <a:srgbClr val="FF0000"/>
                </a:solidFill>
              </a:rPr>
              <a:t>海量转储</a:t>
            </a:r>
            <a:r>
              <a:rPr lang="zh-CN" altLang="en-US" sz="2400"/>
              <a:t>是指每次转储全部数据库</a:t>
            </a:r>
            <a:endParaRPr lang="en-US" altLang="zh-CN" sz="2400"/>
          </a:p>
          <a:p>
            <a:pPr lvl="1"/>
            <a:r>
              <a:rPr lang="zh-CN" altLang="en-US" sz="2400">
                <a:solidFill>
                  <a:srgbClr val="FF0000"/>
                </a:solidFill>
              </a:rPr>
              <a:t>增量转储</a:t>
            </a:r>
            <a:r>
              <a:rPr lang="zh-CN" altLang="en-US" sz="2400"/>
              <a:t>是指每次只转储上一次转储后</a:t>
            </a:r>
            <a:r>
              <a:rPr lang="zh-CN" altLang="en-US" sz="2400">
                <a:solidFill>
                  <a:srgbClr val="FF0000"/>
                </a:solidFill>
              </a:rPr>
              <a:t>更新过</a:t>
            </a:r>
            <a:r>
              <a:rPr lang="zh-CN" altLang="en-US" sz="2400"/>
              <a:t>的数据</a:t>
            </a:r>
            <a:endParaRPr lang="en-US" altLang="zh-CN" sz="2400"/>
          </a:p>
          <a:p>
            <a:pPr lvl="1"/>
            <a:endParaRPr lang="en-US" altLang="zh-CN" sz="1200"/>
          </a:p>
          <a:p>
            <a:r>
              <a:rPr lang="zh-CN" altLang="en-US">
                <a:solidFill>
                  <a:srgbClr val="0000FF"/>
                </a:solidFill>
              </a:rPr>
              <a:t>海量转储与增量转储比较</a:t>
            </a:r>
          </a:p>
          <a:p>
            <a:pPr lvl="1"/>
            <a:r>
              <a:rPr lang="zh-CN" altLang="en-US" sz="2400"/>
              <a:t>从恢复角度看，使用海量转储得到的后备副本进行恢复往往更方便</a:t>
            </a:r>
          </a:p>
          <a:p>
            <a:pPr lvl="1"/>
            <a:r>
              <a:rPr lang="zh-CN" altLang="en-US" sz="2400"/>
              <a:t>如果数据库很大，事务处理又十分频繁，则增量转储方式更实用更有效</a:t>
            </a:r>
          </a:p>
        </p:txBody>
      </p:sp>
      <p:graphicFrame>
        <p:nvGraphicFramePr>
          <p:cNvPr id="7" name="表格 6">
            <a:extLst>
              <a:ext uri="{FF2B5EF4-FFF2-40B4-BE49-F238E27FC236}">
                <a16:creationId xmlns:a16="http://schemas.microsoft.com/office/drawing/2014/main" id="{952BF615-6CA0-44EB-ADD3-0F71D2B8940F}"/>
              </a:ext>
            </a:extLst>
          </p:cNvPr>
          <p:cNvGraphicFramePr>
            <a:graphicFrameLocks noGrp="1"/>
          </p:cNvGraphicFramePr>
          <p:nvPr>
            <p:extLst>
              <p:ext uri="{D42A27DB-BD31-4B8C-83A1-F6EECF244321}">
                <p14:modId xmlns:p14="http://schemas.microsoft.com/office/powerpoint/2010/main" val="240960604"/>
              </p:ext>
            </p:extLst>
          </p:nvPr>
        </p:nvGraphicFramePr>
        <p:xfrm>
          <a:off x="2819398" y="4979396"/>
          <a:ext cx="5569167" cy="1463040"/>
        </p:xfrm>
        <a:graphic>
          <a:graphicData uri="http://schemas.openxmlformats.org/drawingml/2006/table">
            <a:tbl>
              <a:tblPr firstRow="1" bandRow="1">
                <a:tableStyleId>{5940675A-B579-460E-94D1-54222C63F5DA}</a:tableStyleId>
              </a:tblPr>
              <a:tblGrid>
                <a:gridCol w="1856389">
                  <a:extLst>
                    <a:ext uri="{9D8B030D-6E8A-4147-A177-3AD203B41FA5}">
                      <a16:colId xmlns:a16="http://schemas.microsoft.com/office/drawing/2014/main" val="3638924116"/>
                    </a:ext>
                  </a:extLst>
                </a:gridCol>
                <a:gridCol w="1856389">
                  <a:extLst>
                    <a:ext uri="{9D8B030D-6E8A-4147-A177-3AD203B41FA5}">
                      <a16:colId xmlns:a16="http://schemas.microsoft.com/office/drawing/2014/main" val="15100448"/>
                    </a:ext>
                  </a:extLst>
                </a:gridCol>
                <a:gridCol w="1856389">
                  <a:extLst>
                    <a:ext uri="{9D8B030D-6E8A-4147-A177-3AD203B41FA5}">
                      <a16:colId xmlns:a16="http://schemas.microsoft.com/office/drawing/2014/main" val="2072034852"/>
                    </a:ext>
                  </a:extLst>
                </a:gridCol>
              </a:tblGrid>
              <a:tr h="313690">
                <a:tc rowSpan="2">
                  <a:txBody>
                    <a:bodyPr/>
                    <a:lstStyle/>
                    <a:p>
                      <a:pPr algn="ctr"/>
                      <a:r>
                        <a:rPr lang="zh-CN" altLang="en-US" sz="1800" b="0" dirty="0">
                          <a:solidFill>
                            <a:srgbClr val="0000FF"/>
                          </a:solidFill>
                          <a:latin typeface="微软雅黑" panose="020B0503020204020204" pitchFamily="34" charset="-122"/>
                          <a:ea typeface="微软雅黑" panose="020B0503020204020204" pitchFamily="34" charset="-122"/>
                        </a:rPr>
                        <a:t>转储方式</a:t>
                      </a:r>
                    </a:p>
                  </a:txBody>
                  <a:tcPr/>
                </a:tc>
                <a:tc gridSpan="2">
                  <a:txBody>
                    <a:bodyPr/>
                    <a:lstStyle/>
                    <a:p>
                      <a:pPr algn="ctr"/>
                      <a:r>
                        <a:rPr lang="zh-CN" altLang="en-US" sz="1800" b="0" dirty="0">
                          <a:solidFill>
                            <a:srgbClr val="0000FF"/>
                          </a:solidFill>
                          <a:latin typeface="微软雅黑" panose="020B0503020204020204" pitchFamily="34" charset="-122"/>
                          <a:ea typeface="微软雅黑" panose="020B0503020204020204" pitchFamily="34" charset="-122"/>
                        </a:rPr>
                        <a:t>转储状态</a:t>
                      </a:r>
                    </a:p>
                  </a:txBody>
                  <a:tcPr/>
                </a:tc>
                <a:tc hMerge="1">
                  <a:txBody>
                    <a:bodyPr/>
                    <a:lstStyle/>
                    <a:p>
                      <a:pPr algn="ctr"/>
                      <a:endParaRPr lang="zh-CN" altLang="en-US" sz="1800" b="1" dirty="0">
                        <a:solidFill>
                          <a:srgbClr val="0000FF"/>
                        </a:solidFill>
                        <a:latin typeface="等线 Light" panose="02010600030101010101" pitchFamily="2" charset="-122"/>
                        <a:ea typeface="等线 Light" panose="02010600030101010101" pitchFamily="2" charset="-122"/>
                      </a:endParaRPr>
                    </a:p>
                  </a:txBody>
                  <a:tcPr/>
                </a:tc>
                <a:extLst>
                  <a:ext uri="{0D108BD9-81ED-4DB2-BD59-A6C34878D82A}">
                    <a16:rowId xmlns:a16="http://schemas.microsoft.com/office/drawing/2014/main" val="3580505505"/>
                  </a:ext>
                </a:extLst>
              </a:tr>
              <a:tr h="313690">
                <a:tc vMerge="1">
                  <a:txBody>
                    <a:bodyPr/>
                    <a:lstStyle/>
                    <a:p>
                      <a:endParaRPr lang="zh-CN" altLang="en-US" dirty="0"/>
                    </a:p>
                  </a:txBody>
                  <a:tcPr/>
                </a:tc>
                <a:tc>
                  <a:txBody>
                    <a:bodyPr/>
                    <a:lstStyle/>
                    <a:p>
                      <a:pPr algn="ctr"/>
                      <a:r>
                        <a:rPr lang="zh-CN" altLang="en-US" sz="1800" b="0" dirty="0">
                          <a:solidFill>
                            <a:srgbClr val="0000FF"/>
                          </a:solidFill>
                          <a:latin typeface="微软雅黑" panose="020B0503020204020204" pitchFamily="34" charset="-122"/>
                          <a:ea typeface="微软雅黑" panose="020B0503020204020204" pitchFamily="34" charset="-122"/>
                        </a:rPr>
                        <a:t>动态转储</a:t>
                      </a:r>
                    </a:p>
                  </a:txBody>
                  <a:tcPr/>
                </a:tc>
                <a:tc>
                  <a:txBody>
                    <a:bodyPr/>
                    <a:lstStyle/>
                    <a:p>
                      <a:pPr algn="ctr"/>
                      <a:r>
                        <a:rPr lang="zh-CN" altLang="en-US" sz="1800" b="0" dirty="0">
                          <a:solidFill>
                            <a:srgbClr val="0000FF"/>
                          </a:solidFill>
                          <a:latin typeface="微软雅黑" panose="020B0503020204020204" pitchFamily="34" charset="-122"/>
                          <a:ea typeface="微软雅黑" panose="020B0503020204020204" pitchFamily="34" charset="-122"/>
                        </a:rPr>
                        <a:t>静态转储</a:t>
                      </a:r>
                    </a:p>
                  </a:txBody>
                  <a:tcPr/>
                </a:tc>
                <a:extLst>
                  <a:ext uri="{0D108BD9-81ED-4DB2-BD59-A6C34878D82A}">
                    <a16:rowId xmlns:a16="http://schemas.microsoft.com/office/drawing/2014/main" val="1115808580"/>
                  </a:ext>
                </a:extLst>
              </a:tr>
              <a:tr h="313690">
                <a:tc>
                  <a:txBody>
                    <a:bodyPr/>
                    <a:lstStyle/>
                    <a:p>
                      <a:pPr algn="ctr"/>
                      <a:r>
                        <a:rPr lang="zh-CN" altLang="en-US" sz="1800" b="0" dirty="0">
                          <a:solidFill>
                            <a:srgbClr val="0000FF"/>
                          </a:solidFill>
                          <a:latin typeface="微软雅黑" panose="020B0503020204020204" pitchFamily="34" charset="-122"/>
                          <a:ea typeface="微软雅黑" panose="020B0503020204020204" pitchFamily="34" charset="-122"/>
                        </a:rPr>
                        <a:t>海量转储</a:t>
                      </a:r>
                    </a:p>
                  </a:txBody>
                  <a:tcPr/>
                </a:tc>
                <a:tc>
                  <a:txBody>
                    <a:bodyPr/>
                    <a:lstStyle/>
                    <a:p>
                      <a:pPr algn="ctr"/>
                      <a:r>
                        <a:rPr lang="zh-CN" altLang="en-US" sz="1800" b="0" dirty="0">
                          <a:solidFill>
                            <a:srgbClr val="0000FF"/>
                          </a:solidFill>
                          <a:latin typeface="微软雅黑" panose="020B0503020204020204" pitchFamily="34" charset="-122"/>
                          <a:ea typeface="微软雅黑" panose="020B0503020204020204" pitchFamily="34" charset="-122"/>
                        </a:rPr>
                        <a:t>动态海量转储</a:t>
                      </a:r>
                    </a:p>
                  </a:txBody>
                  <a:tcPr/>
                </a:tc>
                <a:tc>
                  <a:txBody>
                    <a:bodyPr/>
                    <a:lstStyle/>
                    <a:p>
                      <a:pPr algn="ctr"/>
                      <a:r>
                        <a:rPr lang="zh-CN" altLang="en-US" sz="1800" b="0" dirty="0">
                          <a:solidFill>
                            <a:srgbClr val="0000FF"/>
                          </a:solidFill>
                          <a:latin typeface="微软雅黑" panose="020B0503020204020204" pitchFamily="34" charset="-122"/>
                          <a:ea typeface="微软雅黑" panose="020B0503020204020204" pitchFamily="34" charset="-122"/>
                        </a:rPr>
                        <a:t>静态海量转储</a:t>
                      </a:r>
                    </a:p>
                  </a:txBody>
                  <a:tcPr/>
                </a:tc>
                <a:extLst>
                  <a:ext uri="{0D108BD9-81ED-4DB2-BD59-A6C34878D82A}">
                    <a16:rowId xmlns:a16="http://schemas.microsoft.com/office/drawing/2014/main" val="4178732427"/>
                  </a:ext>
                </a:extLst>
              </a:tr>
              <a:tr h="313690">
                <a:tc>
                  <a:txBody>
                    <a:bodyPr/>
                    <a:lstStyle/>
                    <a:p>
                      <a:pPr algn="ctr"/>
                      <a:r>
                        <a:rPr lang="zh-CN" altLang="en-US" sz="1800" b="0" dirty="0">
                          <a:solidFill>
                            <a:srgbClr val="0000FF"/>
                          </a:solidFill>
                          <a:latin typeface="微软雅黑" panose="020B0503020204020204" pitchFamily="34" charset="-122"/>
                          <a:ea typeface="微软雅黑" panose="020B0503020204020204" pitchFamily="34" charset="-122"/>
                        </a:rPr>
                        <a:t>增量转储</a:t>
                      </a:r>
                    </a:p>
                  </a:txBody>
                  <a:tcPr/>
                </a:tc>
                <a:tc>
                  <a:txBody>
                    <a:bodyPr/>
                    <a:lstStyle/>
                    <a:p>
                      <a:pPr algn="ctr"/>
                      <a:r>
                        <a:rPr lang="zh-CN" altLang="en-US" sz="1800" b="0" dirty="0">
                          <a:solidFill>
                            <a:srgbClr val="0000FF"/>
                          </a:solidFill>
                          <a:latin typeface="微软雅黑" panose="020B0503020204020204" pitchFamily="34" charset="-122"/>
                          <a:ea typeface="微软雅黑" panose="020B0503020204020204" pitchFamily="34" charset="-122"/>
                        </a:rPr>
                        <a:t>动态增量转储</a:t>
                      </a:r>
                    </a:p>
                  </a:txBody>
                  <a:tcPr/>
                </a:tc>
                <a:tc>
                  <a:txBody>
                    <a:bodyPr/>
                    <a:lstStyle/>
                    <a:p>
                      <a:pPr algn="ctr"/>
                      <a:r>
                        <a:rPr lang="zh-CN" altLang="en-US" sz="1800" b="0" dirty="0">
                          <a:solidFill>
                            <a:srgbClr val="0000FF"/>
                          </a:solidFill>
                          <a:latin typeface="微软雅黑" panose="020B0503020204020204" pitchFamily="34" charset="-122"/>
                          <a:ea typeface="微软雅黑" panose="020B0503020204020204" pitchFamily="34" charset="-122"/>
                        </a:rPr>
                        <a:t>静态增量转储</a:t>
                      </a:r>
                    </a:p>
                  </a:txBody>
                  <a:tcPr/>
                </a:tc>
                <a:extLst>
                  <a:ext uri="{0D108BD9-81ED-4DB2-BD59-A6C34878D82A}">
                    <a16:rowId xmlns:a16="http://schemas.microsoft.com/office/drawing/2014/main" val="1124912343"/>
                  </a:ext>
                </a:extLst>
              </a:tr>
            </a:tbl>
          </a:graphicData>
        </a:graphic>
      </p:graphicFrame>
      <p:sp>
        <p:nvSpPr>
          <p:cNvPr id="8" name="文本框 7">
            <a:extLst>
              <a:ext uri="{FF2B5EF4-FFF2-40B4-BE49-F238E27FC236}">
                <a16:creationId xmlns:a16="http://schemas.microsoft.com/office/drawing/2014/main" id="{8B896253-D0EE-45C6-9B9E-61E684A5E96B}"/>
              </a:ext>
            </a:extLst>
          </p:cNvPr>
          <p:cNvSpPr txBox="1"/>
          <p:nvPr/>
        </p:nvSpPr>
        <p:spPr>
          <a:xfrm>
            <a:off x="3927582" y="4512768"/>
            <a:ext cx="3352800" cy="461665"/>
          </a:xfrm>
          <a:prstGeom prst="rect">
            <a:avLst/>
          </a:prstGeom>
          <a:noFill/>
        </p:spPr>
        <p:txBody>
          <a:bodyPr wrap="square" rtlCol="0">
            <a:spAutoFit/>
          </a:bodyPr>
          <a:lstStyle/>
          <a:p>
            <a:pPr algn="ctr"/>
            <a:r>
              <a:rPr lang="zh-CN" altLang="en-US" sz="2400" dirty="0">
                <a:solidFill>
                  <a:srgbClr val="FF0000"/>
                </a:solidFill>
                <a:latin typeface="微软雅黑" panose="020B0503020204020204" pitchFamily="34" charset="-122"/>
                <a:ea typeface="微软雅黑" panose="020B0503020204020204" pitchFamily="34" charset="-122"/>
              </a:rPr>
              <a:t>数据转储分类</a:t>
            </a:r>
          </a:p>
        </p:txBody>
      </p:sp>
      <p:sp>
        <p:nvSpPr>
          <p:cNvPr id="9" name="标题 1">
            <a:extLst>
              <a:ext uri="{FF2B5EF4-FFF2-40B4-BE49-F238E27FC236}">
                <a16:creationId xmlns:a16="http://schemas.microsoft.com/office/drawing/2014/main" id="{46DE3600-91C5-406D-9507-CF65BBAC9DF1}"/>
              </a:ext>
            </a:extLst>
          </p:cNvPr>
          <p:cNvSpPr>
            <a:spLocks noGrp="1"/>
          </p:cNvSpPr>
          <p:nvPr>
            <p:ph type="title"/>
          </p:nvPr>
        </p:nvSpPr>
        <p:spPr>
          <a:xfrm>
            <a:off x="1281113" y="238125"/>
            <a:ext cx="9553575" cy="512763"/>
          </a:xfrm>
        </p:spPr>
        <p:txBody>
          <a:bodyPr/>
          <a:lstStyle/>
          <a:p>
            <a:r>
              <a:rPr lang="en-US" altLang="zh-CN" dirty="0"/>
              <a:t>1. </a:t>
            </a:r>
            <a:r>
              <a:rPr lang="zh-CN" altLang="en-US" dirty="0"/>
              <a:t>数据转储</a:t>
            </a:r>
          </a:p>
        </p:txBody>
      </p:sp>
    </p:spTree>
    <p:extLst>
      <p:ext uri="{BB962C8B-B14F-4D97-AF65-F5344CB8AC3E}">
        <p14:creationId xmlns:p14="http://schemas.microsoft.com/office/powerpoint/2010/main" val="23212008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42AEBD-F761-44C9-8855-ED9404CEB79C}"/>
              </a:ext>
            </a:extLst>
          </p:cNvPr>
          <p:cNvSpPr>
            <a:spLocks noGrp="1"/>
          </p:cNvSpPr>
          <p:nvPr>
            <p:ph type="title"/>
          </p:nvPr>
        </p:nvSpPr>
        <p:spPr/>
        <p:txBody>
          <a:bodyPr/>
          <a:lstStyle/>
          <a:p>
            <a:r>
              <a:rPr lang="en-US" altLang="zh-CN"/>
              <a:t>openGauss</a:t>
            </a:r>
            <a:r>
              <a:rPr lang="zh-CN" altLang="en-US"/>
              <a:t>的备份与恢复</a:t>
            </a:r>
          </a:p>
        </p:txBody>
      </p:sp>
      <p:sp>
        <p:nvSpPr>
          <p:cNvPr id="3" name="内容占位符 2">
            <a:extLst>
              <a:ext uri="{FF2B5EF4-FFF2-40B4-BE49-F238E27FC236}">
                <a16:creationId xmlns:a16="http://schemas.microsoft.com/office/drawing/2014/main" id="{4CC1D291-DC7D-4844-8617-4C68191AB40A}"/>
              </a:ext>
            </a:extLst>
          </p:cNvPr>
          <p:cNvSpPr>
            <a:spLocks noGrp="1"/>
          </p:cNvSpPr>
          <p:nvPr>
            <p:ph idx="1"/>
          </p:nvPr>
        </p:nvSpPr>
        <p:spPr/>
        <p:txBody>
          <a:bodyPr/>
          <a:lstStyle/>
          <a:p>
            <a:r>
              <a:rPr lang="en-US" altLang="zh-CN"/>
              <a:t>openGauss</a:t>
            </a:r>
            <a:r>
              <a:rPr lang="zh-CN" altLang="en-US"/>
              <a:t>的备份与恢复可参见官网：</a:t>
            </a:r>
            <a:endParaRPr lang="en-US" altLang="zh-CN"/>
          </a:p>
          <a:p>
            <a:pPr marL="0" indent="0">
              <a:buNone/>
            </a:pPr>
            <a:r>
              <a:rPr lang="en-US" altLang="zh-CN" sz="2400">
                <a:hlinkClick r:id="rId2"/>
              </a:rPr>
              <a:t>https://www.opengauss.org/zh/docs/3.1.0/docs/Administratorguide/%E5%A4%87%E4%BB%BD%E4%B8%8E%E6%81%A2%E5%A4%8D.html</a:t>
            </a:r>
            <a:endParaRPr lang="en-US" altLang="zh-CN" sz="2400"/>
          </a:p>
          <a:p>
            <a:pPr marL="0" indent="0">
              <a:buNone/>
            </a:pPr>
            <a:endParaRPr lang="en-US" altLang="zh-CN" sz="2400"/>
          </a:p>
          <a:p>
            <a:r>
              <a:rPr lang="zh-CN" altLang="en-US"/>
              <a:t>墨天轮：</a:t>
            </a:r>
            <a:endParaRPr lang="en-US" altLang="zh-CN"/>
          </a:p>
          <a:p>
            <a:pPr marL="0" indent="0">
              <a:buNone/>
            </a:pPr>
            <a:r>
              <a:rPr lang="en-US" altLang="zh-CN" sz="2400">
                <a:hlinkClick r:id="rId3"/>
              </a:rPr>
              <a:t>https://www.modb.pro/doc/46420</a:t>
            </a:r>
            <a:endParaRPr lang="en-US" altLang="zh-CN" sz="2400"/>
          </a:p>
          <a:p>
            <a:endParaRPr lang="en-US" altLang="zh-CN" sz="2400"/>
          </a:p>
          <a:p>
            <a:endParaRPr lang="zh-CN" altLang="en-US"/>
          </a:p>
        </p:txBody>
      </p:sp>
      <p:sp>
        <p:nvSpPr>
          <p:cNvPr id="4" name="灯片编号占位符 3">
            <a:extLst>
              <a:ext uri="{FF2B5EF4-FFF2-40B4-BE49-F238E27FC236}">
                <a16:creationId xmlns:a16="http://schemas.microsoft.com/office/drawing/2014/main" id="{A2D745F2-E3DB-4EB9-9F75-2A8C88ADC107}"/>
              </a:ext>
            </a:extLst>
          </p:cNvPr>
          <p:cNvSpPr>
            <a:spLocks noGrp="1"/>
          </p:cNvSpPr>
          <p:nvPr>
            <p:ph type="sldNum" sz="quarter" idx="12"/>
          </p:nvPr>
        </p:nvSpPr>
        <p:spPr/>
        <p:txBody>
          <a:bodyPr/>
          <a:lstStyle/>
          <a:p>
            <a:fld id="{E63F6D5D-9733-4D44-9C56-AEFEDD5A4BA7}" type="slidenum">
              <a:rPr lang="en-US" smtClean="0"/>
              <a:pPr/>
              <a:t>23</a:t>
            </a:fld>
            <a:endParaRPr lang="en-US" dirty="0"/>
          </a:p>
        </p:txBody>
      </p:sp>
    </p:spTree>
    <p:extLst>
      <p:ext uri="{BB962C8B-B14F-4D97-AF65-F5344CB8AC3E}">
        <p14:creationId xmlns:p14="http://schemas.microsoft.com/office/powerpoint/2010/main" val="12658346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25BBE9-FB4D-4317-B810-D5311C8FE6EC}"/>
              </a:ext>
            </a:extLst>
          </p:cNvPr>
          <p:cNvSpPr>
            <a:spLocks noGrp="1"/>
          </p:cNvSpPr>
          <p:nvPr>
            <p:ph type="title"/>
          </p:nvPr>
        </p:nvSpPr>
        <p:spPr/>
        <p:txBody>
          <a:bodyPr/>
          <a:lstStyle/>
          <a:p>
            <a:r>
              <a:rPr lang="en-US" altLang="zh-CN" dirty="0"/>
              <a:t>2. </a:t>
            </a:r>
            <a:r>
              <a:rPr lang="zh-CN" altLang="en-US" dirty="0"/>
              <a:t>登记日志文件</a:t>
            </a:r>
          </a:p>
        </p:txBody>
      </p:sp>
      <p:sp>
        <p:nvSpPr>
          <p:cNvPr id="3" name="内容占位符 2">
            <a:extLst>
              <a:ext uri="{FF2B5EF4-FFF2-40B4-BE49-F238E27FC236}">
                <a16:creationId xmlns:a16="http://schemas.microsoft.com/office/drawing/2014/main" id="{9B487835-3FEF-4F84-9DBD-4CC806D74A87}"/>
              </a:ext>
            </a:extLst>
          </p:cNvPr>
          <p:cNvSpPr>
            <a:spLocks noGrp="1"/>
          </p:cNvSpPr>
          <p:nvPr>
            <p:ph idx="1"/>
          </p:nvPr>
        </p:nvSpPr>
        <p:spPr/>
        <p:txBody>
          <a:bodyPr/>
          <a:lstStyle/>
          <a:p>
            <a:pPr>
              <a:lnSpc>
                <a:spcPct val="100000"/>
              </a:lnSpc>
            </a:pPr>
            <a:r>
              <a:rPr lang="zh-CN" altLang="en-US" dirty="0">
                <a:solidFill>
                  <a:srgbClr val="FF0000"/>
                </a:solidFill>
              </a:rPr>
              <a:t>日志文件</a:t>
            </a:r>
            <a:r>
              <a:rPr lang="zh-CN" altLang="en-US" dirty="0"/>
              <a:t>是用来记录事务对数据库的</a:t>
            </a:r>
            <a:r>
              <a:rPr lang="zh-CN" altLang="en-US" dirty="0">
                <a:solidFill>
                  <a:srgbClr val="FF0000"/>
                </a:solidFill>
              </a:rPr>
              <a:t>更新操作</a:t>
            </a:r>
            <a:r>
              <a:rPr lang="zh-CN" altLang="en-US" dirty="0"/>
              <a:t>的文件。</a:t>
            </a:r>
            <a:endParaRPr lang="en-US" altLang="zh-CN" dirty="0"/>
          </a:p>
          <a:p>
            <a:pPr>
              <a:lnSpc>
                <a:spcPct val="100000"/>
              </a:lnSpc>
            </a:pPr>
            <a:r>
              <a:rPr lang="zh-CN" altLang="en-US" dirty="0">
                <a:solidFill>
                  <a:srgbClr val="0000FF"/>
                </a:solidFill>
              </a:rPr>
              <a:t>日志文件的格式和内容：</a:t>
            </a:r>
            <a:endParaRPr lang="en-US" altLang="zh-CN" dirty="0">
              <a:solidFill>
                <a:srgbClr val="0000FF"/>
              </a:solidFill>
            </a:endParaRPr>
          </a:p>
          <a:p>
            <a:pPr marL="642937" lvl="1" indent="-285750"/>
            <a:r>
              <a:rPr lang="zh-CN" altLang="en-US" u="sng" dirty="0">
                <a:solidFill>
                  <a:srgbClr val="D60093"/>
                </a:solidFill>
              </a:rPr>
              <a:t>以记录为单位的日志文件</a:t>
            </a:r>
            <a:r>
              <a:rPr lang="zh-CN" altLang="en-US" dirty="0">
                <a:solidFill>
                  <a:srgbClr val="D60093"/>
                </a:solidFill>
              </a:rPr>
              <a:t>，需要登记的内容包括：</a:t>
            </a:r>
            <a:endParaRPr lang="en-US" altLang="zh-CN" dirty="0">
              <a:solidFill>
                <a:srgbClr val="D60093"/>
              </a:solidFill>
            </a:endParaRPr>
          </a:p>
          <a:p>
            <a:pPr lvl="2">
              <a:lnSpc>
                <a:spcPct val="100000"/>
              </a:lnSpc>
            </a:pPr>
            <a:r>
              <a:rPr lang="zh-CN" altLang="en-US" sz="1800" dirty="0">
                <a:solidFill>
                  <a:srgbClr val="0000FF"/>
                </a:solidFill>
              </a:rPr>
              <a:t>各个事务的开始标记</a:t>
            </a:r>
            <a:r>
              <a:rPr lang="en-US" altLang="zh-CN" sz="1800" dirty="0">
                <a:solidFill>
                  <a:srgbClr val="0000FF"/>
                </a:solidFill>
              </a:rPr>
              <a:t>(BEGIN TRANSACTION)</a:t>
            </a:r>
          </a:p>
          <a:p>
            <a:pPr lvl="2">
              <a:lnSpc>
                <a:spcPct val="100000"/>
              </a:lnSpc>
            </a:pPr>
            <a:r>
              <a:rPr lang="zh-CN" altLang="en-US" sz="1800" dirty="0">
                <a:solidFill>
                  <a:srgbClr val="0000FF"/>
                </a:solidFill>
              </a:rPr>
              <a:t>各个事务的结束标记</a:t>
            </a:r>
            <a:r>
              <a:rPr lang="en-US" altLang="zh-CN" sz="1800" dirty="0">
                <a:solidFill>
                  <a:srgbClr val="0000FF"/>
                </a:solidFill>
              </a:rPr>
              <a:t>(COMMIT</a:t>
            </a:r>
            <a:r>
              <a:rPr lang="zh-CN" altLang="en-US" sz="1800" dirty="0">
                <a:solidFill>
                  <a:srgbClr val="0000FF"/>
                </a:solidFill>
              </a:rPr>
              <a:t>或</a:t>
            </a:r>
            <a:r>
              <a:rPr lang="en-US" altLang="zh-CN" sz="1800" dirty="0">
                <a:solidFill>
                  <a:srgbClr val="0000FF"/>
                </a:solidFill>
              </a:rPr>
              <a:t>ROLLBACK)</a:t>
            </a:r>
          </a:p>
          <a:p>
            <a:pPr lvl="2">
              <a:lnSpc>
                <a:spcPct val="100000"/>
              </a:lnSpc>
            </a:pPr>
            <a:r>
              <a:rPr lang="zh-CN" altLang="en-US" sz="1800" dirty="0">
                <a:solidFill>
                  <a:srgbClr val="0000FF"/>
                </a:solidFill>
              </a:rPr>
              <a:t>各个事务的所有更新操作</a:t>
            </a:r>
          </a:p>
        </p:txBody>
      </p:sp>
      <p:sp>
        <p:nvSpPr>
          <p:cNvPr id="4" name="灯片编号占位符 3">
            <a:extLst>
              <a:ext uri="{FF2B5EF4-FFF2-40B4-BE49-F238E27FC236}">
                <a16:creationId xmlns:a16="http://schemas.microsoft.com/office/drawing/2014/main" id="{E18D91DA-7328-477E-AC4C-6698DAC54B90}"/>
              </a:ext>
            </a:extLst>
          </p:cNvPr>
          <p:cNvSpPr>
            <a:spLocks noGrp="1"/>
          </p:cNvSpPr>
          <p:nvPr>
            <p:ph type="sldNum" sz="quarter" idx="12"/>
          </p:nvPr>
        </p:nvSpPr>
        <p:spPr/>
        <p:txBody>
          <a:bodyPr/>
          <a:lstStyle/>
          <a:p>
            <a:fld id="{E63F6D5D-9733-4D44-9C56-AEFEDD5A4BA7}" type="slidenum">
              <a:rPr lang="en-US" smtClean="0"/>
              <a:pPr/>
              <a:t>24</a:t>
            </a:fld>
            <a:endParaRPr lang="en-US" dirty="0"/>
          </a:p>
        </p:txBody>
      </p:sp>
      <p:sp>
        <p:nvSpPr>
          <p:cNvPr id="5" name="右大括号 4">
            <a:extLst>
              <a:ext uri="{FF2B5EF4-FFF2-40B4-BE49-F238E27FC236}">
                <a16:creationId xmlns:a16="http://schemas.microsoft.com/office/drawing/2014/main" id="{5D8F0804-1492-48A3-8C98-9642F9D0585E}"/>
              </a:ext>
            </a:extLst>
          </p:cNvPr>
          <p:cNvSpPr/>
          <p:nvPr/>
        </p:nvSpPr>
        <p:spPr>
          <a:xfrm>
            <a:off x="6597977" y="2839739"/>
            <a:ext cx="228600" cy="990600"/>
          </a:xfrm>
          <a:prstGeom prst="rightBrace">
            <a:avLst/>
          </a:prstGeom>
          <a:ln>
            <a:solidFill>
              <a:srgbClr val="D6009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61594387-FA2F-40F3-87F3-2E183A88B2DA}"/>
              </a:ext>
            </a:extLst>
          </p:cNvPr>
          <p:cNvSpPr txBox="1"/>
          <p:nvPr/>
        </p:nvSpPr>
        <p:spPr>
          <a:xfrm>
            <a:off x="7010400" y="3104206"/>
            <a:ext cx="4343400" cy="461665"/>
          </a:xfrm>
          <a:prstGeom prst="rect">
            <a:avLst/>
          </a:prstGeom>
          <a:noFill/>
        </p:spPr>
        <p:txBody>
          <a:bodyPr wrap="square" rtlCol="0">
            <a:spAutoFit/>
          </a:bodyPr>
          <a:lstStyle/>
          <a:p>
            <a:pPr algn="ctr"/>
            <a:r>
              <a:rPr lang="zh-CN" altLang="en-US" sz="2400" dirty="0">
                <a:solidFill>
                  <a:srgbClr val="D60093"/>
                </a:solidFill>
                <a:latin typeface="微软雅黑" panose="020B0503020204020204" pitchFamily="34" charset="-122"/>
                <a:ea typeface="微软雅黑" panose="020B0503020204020204" pitchFamily="34" charset="-122"/>
              </a:rPr>
              <a:t>作为一个日志记录</a:t>
            </a:r>
            <a:r>
              <a:rPr lang="en-US" altLang="zh-CN" sz="2400" dirty="0">
                <a:solidFill>
                  <a:srgbClr val="D60093"/>
                </a:solidFill>
                <a:latin typeface="微软雅黑" panose="020B0503020204020204" pitchFamily="34" charset="-122"/>
                <a:ea typeface="微软雅黑" panose="020B0503020204020204" pitchFamily="34" charset="-122"/>
              </a:rPr>
              <a:t>(log record)</a:t>
            </a:r>
            <a:endParaRPr lang="zh-CN" altLang="en-US" sz="2400" dirty="0">
              <a:solidFill>
                <a:srgbClr val="D60093"/>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8C9A9AA4-4B3C-4290-A854-782C992E6252}"/>
              </a:ext>
            </a:extLst>
          </p:cNvPr>
          <p:cNvSpPr/>
          <p:nvPr/>
        </p:nvSpPr>
        <p:spPr>
          <a:xfrm>
            <a:off x="1281794" y="4018261"/>
            <a:ext cx="5791200" cy="2292935"/>
          </a:xfrm>
          <a:prstGeom prst="rect">
            <a:avLst/>
          </a:prstGeom>
        </p:spPr>
        <p:txBody>
          <a:bodyPr wrap="square">
            <a:spAutoFit/>
          </a:bodyPr>
          <a:lstStyle/>
          <a:p>
            <a:pPr marL="88900" lvl="2">
              <a:lnSpc>
                <a:spcPct val="130000"/>
              </a:lnSpc>
            </a:pPr>
            <a:r>
              <a:rPr lang="zh-CN" altLang="en-US" sz="2000" dirty="0">
                <a:solidFill>
                  <a:srgbClr val="D60093"/>
                </a:solidFill>
                <a:latin typeface="微软雅黑" panose="020B0503020204020204" pitchFamily="34" charset="-122"/>
                <a:ea typeface="微软雅黑" panose="020B0503020204020204" pitchFamily="34" charset="-122"/>
              </a:rPr>
              <a:t>每个日志记录的内容主要包括：</a:t>
            </a:r>
            <a:endParaRPr lang="en-US" altLang="zh-CN" sz="2000" dirty="0">
              <a:solidFill>
                <a:srgbClr val="D60093"/>
              </a:solidFill>
              <a:latin typeface="微软雅黑" panose="020B0503020204020204" pitchFamily="34" charset="-122"/>
              <a:ea typeface="微软雅黑" panose="020B0503020204020204" pitchFamily="34" charset="-122"/>
            </a:endParaRPr>
          </a:p>
          <a:p>
            <a:pPr marL="355600" lvl="2" indent="-266700">
              <a:lnSpc>
                <a:spcPct val="130000"/>
              </a:lnSpc>
              <a:buFont typeface="Arial" panose="020B0604020202020204" pitchFamily="34" charset="0"/>
              <a:buChar char="•"/>
            </a:pPr>
            <a:r>
              <a:rPr lang="zh-CN" altLang="en-US" dirty="0">
                <a:solidFill>
                  <a:srgbClr val="0000FF"/>
                </a:solidFill>
                <a:latin typeface="微软雅黑" panose="020B0503020204020204" pitchFamily="34" charset="-122"/>
                <a:ea typeface="微软雅黑" panose="020B0503020204020204" pitchFamily="34" charset="-122"/>
              </a:rPr>
              <a:t>事务标识（标明是哪个事务）</a:t>
            </a:r>
            <a:endParaRPr lang="en-US" altLang="zh-CN" dirty="0">
              <a:solidFill>
                <a:srgbClr val="0000FF"/>
              </a:solidFill>
              <a:latin typeface="微软雅黑" panose="020B0503020204020204" pitchFamily="34" charset="-122"/>
              <a:ea typeface="微软雅黑" panose="020B0503020204020204" pitchFamily="34" charset="-122"/>
            </a:endParaRPr>
          </a:p>
          <a:p>
            <a:pPr marL="355600" lvl="2" indent="-266700">
              <a:lnSpc>
                <a:spcPct val="130000"/>
              </a:lnSpc>
              <a:buFont typeface="Arial" panose="020B0604020202020204" pitchFamily="34" charset="0"/>
              <a:buChar char="•"/>
            </a:pPr>
            <a:r>
              <a:rPr lang="zh-CN" altLang="en-US" dirty="0">
                <a:solidFill>
                  <a:srgbClr val="0000FF"/>
                </a:solidFill>
                <a:latin typeface="微软雅黑" panose="020B0503020204020204" pitchFamily="34" charset="-122"/>
                <a:ea typeface="微软雅黑" panose="020B0503020204020204" pitchFamily="34" charset="-122"/>
              </a:rPr>
              <a:t>操作的类型（插入、删除或修改）</a:t>
            </a:r>
            <a:endParaRPr lang="en-US" altLang="zh-CN" dirty="0">
              <a:solidFill>
                <a:srgbClr val="0000FF"/>
              </a:solidFill>
              <a:latin typeface="微软雅黑" panose="020B0503020204020204" pitchFamily="34" charset="-122"/>
              <a:ea typeface="微软雅黑" panose="020B0503020204020204" pitchFamily="34" charset="-122"/>
            </a:endParaRPr>
          </a:p>
          <a:p>
            <a:pPr marL="355600" lvl="2" indent="-266700">
              <a:lnSpc>
                <a:spcPct val="130000"/>
              </a:lnSpc>
              <a:buFont typeface="Arial" panose="020B0604020202020204" pitchFamily="34" charset="0"/>
              <a:buChar char="•"/>
            </a:pPr>
            <a:r>
              <a:rPr lang="zh-CN" altLang="en-US" dirty="0">
                <a:solidFill>
                  <a:srgbClr val="0000FF"/>
                </a:solidFill>
                <a:latin typeface="微软雅黑" panose="020B0503020204020204" pitchFamily="34" charset="-122"/>
                <a:ea typeface="微软雅黑" panose="020B0503020204020204" pitchFamily="34" charset="-122"/>
              </a:rPr>
              <a:t>操作对象（记录内部标识）</a:t>
            </a:r>
            <a:endParaRPr lang="en-US" altLang="zh-CN" dirty="0">
              <a:solidFill>
                <a:srgbClr val="0000FF"/>
              </a:solidFill>
              <a:latin typeface="微软雅黑" panose="020B0503020204020204" pitchFamily="34" charset="-122"/>
              <a:ea typeface="微软雅黑" panose="020B0503020204020204" pitchFamily="34" charset="-122"/>
            </a:endParaRPr>
          </a:p>
          <a:p>
            <a:pPr marL="355600" lvl="2" indent="-266700">
              <a:lnSpc>
                <a:spcPct val="130000"/>
              </a:lnSpc>
              <a:buFont typeface="Arial" panose="020B0604020202020204" pitchFamily="34" charset="0"/>
              <a:buChar char="•"/>
            </a:pPr>
            <a:r>
              <a:rPr lang="zh-CN" altLang="en-US" dirty="0">
                <a:solidFill>
                  <a:srgbClr val="0000FF"/>
                </a:solidFill>
                <a:latin typeface="微软雅黑" panose="020B0503020204020204" pitchFamily="34" charset="-122"/>
                <a:ea typeface="微软雅黑" panose="020B0503020204020204" pitchFamily="34" charset="-122"/>
              </a:rPr>
              <a:t>更新前数据的旧值（对插入操作而言，此项为空值）</a:t>
            </a:r>
            <a:endParaRPr lang="en-US" altLang="zh-CN" dirty="0">
              <a:solidFill>
                <a:srgbClr val="0000FF"/>
              </a:solidFill>
              <a:latin typeface="微软雅黑" panose="020B0503020204020204" pitchFamily="34" charset="-122"/>
              <a:ea typeface="微软雅黑" panose="020B0503020204020204" pitchFamily="34" charset="-122"/>
            </a:endParaRPr>
          </a:p>
          <a:p>
            <a:pPr marL="355600" lvl="2" indent="-266700">
              <a:lnSpc>
                <a:spcPct val="130000"/>
              </a:lnSpc>
              <a:buFont typeface="Arial" panose="020B0604020202020204" pitchFamily="34" charset="0"/>
              <a:buChar char="•"/>
            </a:pPr>
            <a:r>
              <a:rPr lang="zh-CN" altLang="en-US" dirty="0">
                <a:solidFill>
                  <a:srgbClr val="0000FF"/>
                </a:solidFill>
                <a:latin typeface="微软雅黑" panose="020B0503020204020204" pitchFamily="34" charset="-122"/>
                <a:ea typeface="微软雅黑" panose="020B0503020204020204" pitchFamily="34" charset="-122"/>
              </a:rPr>
              <a:t>更新后数据的新值（对删除操作而言，此项为空值）</a:t>
            </a:r>
            <a:endParaRPr lang="en-US" altLang="zh-CN" dirty="0">
              <a:solidFill>
                <a:srgbClr val="0000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017933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F4685E9-E0C7-4FA5-859A-22748897144F}"/>
              </a:ext>
            </a:extLst>
          </p:cNvPr>
          <p:cNvSpPr>
            <a:spLocks noGrp="1"/>
          </p:cNvSpPr>
          <p:nvPr>
            <p:ph idx="1"/>
          </p:nvPr>
        </p:nvSpPr>
        <p:spPr/>
        <p:txBody>
          <a:bodyPr/>
          <a:lstStyle/>
          <a:p>
            <a:r>
              <a:rPr lang="zh-CN" altLang="en-US" dirty="0">
                <a:solidFill>
                  <a:srgbClr val="0000FF"/>
                </a:solidFill>
              </a:rPr>
              <a:t>日志文件的格式和内容</a:t>
            </a:r>
            <a:endParaRPr lang="en-US" altLang="zh-CN" dirty="0"/>
          </a:p>
          <a:p>
            <a:pPr marL="642937" lvl="1" indent="-285750"/>
            <a:r>
              <a:rPr lang="zh-CN" altLang="en-US" u="sng" dirty="0">
                <a:solidFill>
                  <a:srgbClr val="D60093"/>
                </a:solidFill>
              </a:rPr>
              <a:t>以数据块为单位的日志文件</a:t>
            </a:r>
            <a:r>
              <a:rPr lang="zh-CN" altLang="en-US" dirty="0">
                <a:solidFill>
                  <a:srgbClr val="D60093"/>
                </a:solidFill>
              </a:rPr>
              <a:t>，日志记录的内容包括：</a:t>
            </a:r>
            <a:endParaRPr lang="en-US" altLang="zh-CN" dirty="0">
              <a:solidFill>
                <a:srgbClr val="D60093"/>
              </a:solidFill>
            </a:endParaRPr>
          </a:p>
          <a:p>
            <a:pPr lvl="2"/>
            <a:r>
              <a:rPr lang="zh-CN" altLang="en-US" dirty="0"/>
              <a:t>事务标识</a:t>
            </a:r>
            <a:endParaRPr lang="en-US" altLang="zh-CN" dirty="0"/>
          </a:p>
          <a:p>
            <a:pPr lvl="2"/>
            <a:r>
              <a:rPr lang="zh-CN" altLang="en-US" dirty="0"/>
              <a:t>更新的数据块</a:t>
            </a:r>
            <a:endParaRPr lang="en-US" altLang="zh-CN" dirty="0"/>
          </a:p>
          <a:p>
            <a:pPr lvl="2"/>
            <a:r>
              <a:rPr lang="zh-CN" altLang="en-US" dirty="0"/>
              <a:t>由于将更新前的整个块和更新后的整个块都放入日志文件中，操作类型和操作对象等信息就无需放入日志记录中</a:t>
            </a:r>
            <a:endParaRPr lang="en-US" altLang="zh-CN" dirty="0"/>
          </a:p>
          <a:p>
            <a:pPr marL="622300" lvl="2" indent="0">
              <a:buNone/>
            </a:pPr>
            <a:endParaRPr lang="en-US" altLang="zh-CN" sz="900" dirty="0"/>
          </a:p>
          <a:p>
            <a:r>
              <a:rPr lang="zh-CN" altLang="en-US" u="sng" dirty="0">
                <a:solidFill>
                  <a:srgbClr val="0000FF"/>
                </a:solidFill>
              </a:rPr>
              <a:t>日志文件的作用</a:t>
            </a:r>
            <a:endParaRPr lang="en-US" altLang="zh-CN" u="sng" dirty="0">
              <a:solidFill>
                <a:srgbClr val="0000FF"/>
              </a:solidFill>
            </a:endParaRPr>
          </a:p>
          <a:p>
            <a:pPr lvl="1"/>
            <a:r>
              <a:rPr lang="zh-CN" altLang="en-US" dirty="0"/>
              <a:t>用来进行</a:t>
            </a:r>
            <a:r>
              <a:rPr lang="zh-CN" altLang="en-US" u="sng" dirty="0">
                <a:solidFill>
                  <a:srgbClr val="FF0000"/>
                </a:solidFill>
              </a:rPr>
              <a:t>事务故障恢复</a:t>
            </a:r>
            <a:r>
              <a:rPr lang="zh-CN" altLang="en-US" dirty="0"/>
              <a:t>和</a:t>
            </a:r>
            <a:r>
              <a:rPr lang="zh-CN" altLang="en-US" u="sng" dirty="0">
                <a:solidFill>
                  <a:srgbClr val="FF0000"/>
                </a:solidFill>
              </a:rPr>
              <a:t>系统故障恢复</a:t>
            </a:r>
            <a:endParaRPr lang="en-US" altLang="zh-CN" u="sng" dirty="0">
              <a:solidFill>
                <a:srgbClr val="FF0000"/>
              </a:solidFill>
            </a:endParaRPr>
          </a:p>
          <a:p>
            <a:pPr lvl="1"/>
            <a:r>
              <a:rPr lang="zh-CN" altLang="en-US" dirty="0"/>
              <a:t>协助后备副本进行</a:t>
            </a:r>
            <a:r>
              <a:rPr lang="zh-CN" altLang="en-US" u="sng" dirty="0">
                <a:solidFill>
                  <a:srgbClr val="FF0000"/>
                </a:solidFill>
              </a:rPr>
              <a:t>介质故障恢复</a:t>
            </a:r>
            <a:endParaRPr lang="en-US" altLang="zh-CN" u="sng" dirty="0">
              <a:solidFill>
                <a:srgbClr val="FF0000"/>
              </a:solidFill>
            </a:endParaRPr>
          </a:p>
        </p:txBody>
      </p:sp>
      <p:sp>
        <p:nvSpPr>
          <p:cNvPr id="4" name="灯片编号占位符 3">
            <a:extLst>
              <a:ext uri="{FF2B5EF4-FFF2-40B4-BE49-F238E27FC236}">
                <a16:creationId xmlns:a16="http://schemas.microsoft.com/office/drawing/2014/main" id="{CE706689-B941-4F74-BF4E-BA68D78483FF}"/>
              </a:ext>
            </a:extLst>
          </p:cNvPr>
          <p:cNvSpPr>
            <a:spLocks noGrp="1"/>
          </p:cNvSpPr>
          <p:nvPr>
            <p:ph type="sldNum" sz="quarter" idx="12"/>
          </p:nvPr>
        </p:nvSpPr>
        <p:spPr/>
        <p:txBody>
          <a:bodyPr/>
          <a:lstStyle/>
          <a:p>
            <a:fld id="{E63F6D5D-9733-4D44-9C56-AEFEDD5A4BA7}" type="slidenum">
              <a:rPr lang="en-US" smtClean="0"/>
              <a:pPr/>
              <a:t>25</a:t>
            </a:fld>
            <a:endParaRPr lang="en-US" dirty="0"/>
          </a:p>
        </p:txBody>
      </p:sp>
      <p:sp>
        <p:nvSpPr>
          <p:cNvPr id="5" name="标题 1">
            <a:extLst>
              <a:ext uri="{FF2B5EF4-FFF2-40B4-BE49-F238E27FC236}">
                <a16:creationId xmlns:a16="http://schemas.microsoft.com/office/drawing/2014/main" id="{CB8F1554-9EA1-42EC-BE74-C1A7D9833A7D}"/>
              </a:ext>
            </a:extLst>
          </p:cNvPr>
          <p:cNvSpPr>
            <a:spLocks noGrp="1"/>
          </p:cNvSpPr>
          <p:nvPr>
            <p:ph type="title"/>
          </p:nvPr>
        </p:nvSpPr>
        <p:spPr>
          <a:xfrm>
            <a:off x="1281113" y="238125"/>
            <a:ext cx="9553575" cy="512763"/>
          </a:xfrm>
        </p:spPr>
        <p:txBody>
          <a:bodyPr/>
          <a:lstStyle/>
          <a:p>
            <a:r>
              <a:rPr lang="en-US" altLang="zh-CN"/>
              <a:t>2. </a:t>
            </a:r>
            <a:r>
              <a:rPr lang="zh-CN" altLang="en-US"/>
              <a:t>登记日志文件</a:t>
            </a:r>
            <a:endParaRPr lang="zh-CN" altLang="en-US" dirty="0"/>
          </a:p>
        </p:txBody>
      </p:sp>
    </p:spTree>
    <p:extLst>
      <p:ext uri="{BB962C8B-B14F-4D97-AF65-F5344CB8AC3E}">
        <p14:creationId xmlns:p14="http://schemas.microsoft.com/office/powerpoint/2010/main" val="31904280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D24A477-54EB-440D-B0A5-0BA12C848183}"/>
              </a:ext>
            </a:extLst>
          </p:cNvPr>
          <p:cNvSpPr>
            <a:spLocks noGrp="1"/>
          </p:cNvSpPr>
          <p:nvPr>
            <p:ph idx="1"/>
          </p:nvPr>
        </p:nvSpPr>
        <p:spPr/>
        <p:txBody>
          <a:bodyPr>
            <a:normAutofit/>
          </a:bodyPr>
          <a:lstStyle/>
          <a:p>
            <a:r>
              <a:rPr lang="zh-CN" altLang="en-US" dirty="0">
                <a:solidFill>
                  <a:srgbClr val="0000FF"/>
                </a:solidFill>
              </a:rPr>
              <a:t>日志文件的具体作用</a:t>
            </a:r>
            <a:endParaRPr lang="en-US" altLang="zh-CN" dirty="0">
              <a:solidFill>
                <a:srgbClr val="0000FF"/>
              </a:solidFill>
            </a:endParaRPr>
          </a:p>
          <a:p>
            <a:pPr marL="814387" lvl="1" indent="-457200">
              <a:buFont typeface="+mj-lt"/>
              <a:buAutoNum type="arabicPeriod"/>
            </a:pPr>
            <a:r>
              <a:rPr lang="zh-CN" altLang="en-US" u="sng" dirty="0">
                <a:solidFill>
                  <a:srgbClr val="0000CC"/>
                </a:solidFill>
              </a:rPr>
              <a:t>事务故障恢复</a:t>
            </a:r>
            <a:r>
              <a:rPr lang="zh-CN" altLang="en-US" dirty="0"/>
              <a:t>和</a:t>
            </a:r>
            <a:r>
              <a:rPr lang="zh-CN" altLang="en-US" u="sng" dirty="0">
                <a:solidFill>
                  <a:srgbClr val="0000CC"/>
                </a:solidFill>
              </a:rPr>
              <a:t>系统故障恢复</a:t>
            </a:r>
            <a:r>
              <a:rPr lang="zh-CN" altLang="en-US" dirty="0">
                <a:solidFill>
                  <a:srgbClr val="FF0000"/>
                </a:solidFill>
              </a:rPr>
              <a:t>必须用日志文件</a:t>
            </a:r>
            <a:r>
              <a:rPr lang="zh-CN" altLang="en-US" dirty="0"/>
              <a:t>。</a:t>
            </a:r>
            <a:endParaRPr lang="en-US" altLang="zh-CN" dirty="0"/>
          </a:p>
          <a:p>
            <a:pPr marL="814387" lvl="1" indent="-457200">
              <a:buFont typeface="+mj-lt"/>
              <a:buAutoNum type="arabicPeriod"/>
            </a:pPr>
            <a:r>
              <a:rPr lang="zh-CN" altLang="en-US" dirty="0"/>
              <a:t>在动态转储方式中必须建立日志文件，后备副本和日志文件结合起来才能有效地恢复数据库。</a:t>
            </a:r>
            <a:endParaRPr lang="en-US" altLang="zh-CN" dirty="0"/>
          </a:p>
          <a:p>
            <a:pPr marL="814387" lvl="1" indent="-457200">
              <a:buFont typeface="+mj-lt"/>
              <a:buAutoNum type="arabicPeriod"/>
            </a:pPr>
            <a:r>
              <a:rPr lang="zh-CN" altLang="en-US" dirty="0"/>
              <a:t>在静态转储方式中，也可以建立日志文件。</a:t>
            </a:r>
            <a:endParaRPr lang="en-US" altLang="zh-CN" dirty="0"/>
          </a:p>
          <a:p>
            <a:pPr lvl="2"/>
            <a:r>
              <a:rPr lang="zh-CN" altLang="en-US" sz="2000" dirty="0"/>
              <a:t>当数据库毁坏后可重新装入后援副本把数据库恢复到转储结束时刻的正确状态</a:t>
            </a:r>
          </a:p>
          <a:p>
            <a:pPr lvl="2"/>
            <a:r>
              <a:rPr lang="zh-CN" altLang="en-US" sz="2000" dirty="0"/>
              <a:t>利用日志文件，把已完成的事务进行重做处理</a:t>
            </a:r>
          </a:p>
          <a:p>
            <a:pPr lvl="2"/>
            <a:r>
              <a:rPr lang="zh-CN" altLang="en-US" sz="2000" dirty="0"/>
              <a:t>对故障发生时尚未完成的事务进行撤销处理</a:t>
            </a:r>
          </a:p>
          <a:p>
            <a:pPr lvl="2"/>
            <a:r>
              <a:rPr lang="zh-CN" altLang="en-US" sz="2000" dirty="0"/>
              <a:t>不必重新运行那些已完成的事务程序就可把数据库恢复到故障前某一时刻的正确状态</a:t>
            </a:r>
          </a:p>
        </p:txBody>
      </p:sp>
      <p:sp>
        <p:nvSpPr>
          <p:cNvPr id="4" name="灯片编号占位符 3">
            <a:extLst>
              <a:ext uri="{FF2B5EF4-FFF2-40B4-BE49-F238E27FC236}">
                <a16:creationId xmlns:a16="http://schemas.microsoft.com/office/drawing/2014/main" id="{FF66BFE3-AE9F-4D22-BC16-B656DB9843B0}"/>
              </a:ext>
            </a:extLst>
          </p:cNvPr>
          <p:cNvSpPr>
            <a:spLocks noGrp="1"/>
          </p:cNvSpPr>
          <p:nvPr>
            <p:ph type="sldNum" sz="quarter" idx="12"/>
          </p:nvPr>
        </p:nvSpPr>
        <p:spPr/>
        <p:txBody>
          <a:bodyPr/>
          <a:lstStyle/>
          <a:p>
            <a:fld id="{E63F6D5D-9733-4D44-9C56-AEFEDD5A4BA7}" type="slidenum">
              <a:rPr lang="en-US" smtClean="0"/>
              <a:pPr/>
              <a:t>26</a:t>
            </a:fld>
            <a:endParaRPr lang="en-US" dirty="0"/>
          </a:p>
        </p:txBody>
      </p:sp>
      <p:sp>
        <p:nvSpPr>
          <p:cNvPr id="5" name="标题 1">
            <a:extLst>
              <a:ext uri="{FF2B5EF4-FFF2-40B4-BE49-F238E27FC236}">
                <a16:creationId xmlns:a16="http://schemas.microsoft.com/office/drawing/2014/main" id="{CF81FAD9-E1AA-4680-8E76-596F02FED74A}"/>
              </a:ext>
            </a:extLst>
          </p:cNvPr>
          <p:cNvSpPr>
            <a:spLocks noGrp="1"/>
          </p:cNvSpPr>
          <p:nvPr>
            <p:ph type="title"/>
          </p:nvPr>
        </p:nvSpPr>
        <p:spPr>
          <a:xfrm>
            <a:off x="1281113" y="238125"/>
            <a:ext cx="9553575" cy="512763"/>
          </a:xfrm>
        </p:spPr>
        <p:txBody>
          <a:bodyPr/>
          <a:lstStyle/>
          <a:p>
            <a:r>
              <a:rPr lang="en-US" altLang="zh-CN" dirty="0"/>
              <a:t>2. </a:t>
            </a:r>
            <a:r>
              <a:rPr lang="zh-CN" altLang="en-US" dirty="0"/>
              <a:t>登记日志文件</a:t>
            </a:r>
          </a:p>
        </p:txBody>
      </p:sp>
    </p:spTree>
    <p:extLst>
      <p:ext uri="{BB962C8B-B14F-4D97-AF65-F5344CB8AC3E}">
        <p14:creationId xmlns:p14="http://schemas.microsoft.com/office/powerpoint/2010/main" val="11963442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8A5CC78-9696-458E-9B66-F5B4637762B8}"/>
              </a:ext>
            </a:extLst>
          </p:cNvPr>
          <p:cNvSpPr>
            <a:spLocks noGrp="1"/>
          </p:cNvSpPr>
          <p:nvPr>
            <p:ph type="sldNum" sz="quarter" idx="12"/>
          </p:nvPr>
        </p:nvSpPr>
        <p:spPr/>
        <p:txBody>
          <a:bodyPr/>
          <a:lstStyle/>
          <a:p>
            <a:fld id="{E63F6D5D-9733-4D44-9C56-AEFEDD5A4BA7}" type="slidenum">
              <a:rPr lang="en-US" smtClean="0"/>
              <a:pPr/>
              <a:t>27</a:t>
            </a:fld>
            <a:endParaRPr lang="en-US" dirty="0"/>
          </a:p>
        </p:txBody>
      </p:sp>
      <p:sp>
        <p:nvSpPr>
          <p:cNvPr id="6" name="Text Box 3">
            <a:extLst>
              <a:ext uri="{FF2B5EF4-FFF2-40B4-BE49-F238E27FC236}">
                <a16:creationId xmlns:a16="http://schemas.microsoft.com/office/drawing/2014/main" id="{F50958E5-3E3F-409C-91C6-D413376E2692}"/>
              </a:ext>
            </a:extLst>
          </p:cNvPr>
          <p:cNvSpPr txBox="1">
            <a:spLocks noChangeArrowheads="1"/>
          </p:cNvSpPr>
          <p:nvPr/>
        </p:nvSpPr>
        <p:spPr bwMode="auto">
          <a:xfrm>
            <a:off x="2286000" y="1104900"/>
            <a:ext cx="7348067" cy="4648200"/>
          </a:xfrm>
          <a:prstGeom prst="rect">
            <a:avLst/>
          </a:prstGeom>
          <a:gradFill rotWithShape="1">
            <a:gsLst>
              <a:gs pos="0">
                <a:srgbClr val="98D4FF"/>
              </a:gs>
              <a:gs pos="35001">
                <a:srgbClr val="B6DFFF"/>
              </a:gs>
              <a:gs pos="100000">
                <a:srgbClr val="E1F2FF"/>
              </a:gs>
            </a:gsLst>
            <a:lin ang="5400000" scaled="1"/>
          </a:gradFill>
          <a:ln w="9525">
            <a:solidFill>
              <a:srgbClr val="5FA6E7"/>
            </a:solidFill>
            <a:miter lim="800000"/>
            <a:headEnd/>
            <a:tailEnd/>
          </a:ln>
          <a:effectLst>
            <a:outerShdw dist="20000" dir="5400000" algn="ctr" rotWithShape="0">
              <a:srgbClr val="000000">
                <a:alpha val="37000"/>
              </a:srgbClr>
            </a:outerShdw>
          </a:effectLst>
        </p:spPr>
        <p:txBody>
          <a:bodyPr/>
          <a:lstStyle/>
          <a:p>
            <a:pPr algn="just">
              <a:lnSpc>
                <a:spcPct val="160000"/>
              </a:lnSpc>
              <a:buSzPct val="100000"/>
              <a:buFont typeface="Wingdings" pitchFamily="2" charset="2"/>
              <a:buNone/>
              <a:defRPr/>
            </a:pPr>
            <a:r>
              <a:rPr lang="en-US" altLang="zh-CN" sz="1000" b="1" dirty="0">
                <a:latin typeface="宋体" pitchFamily="2" charset="-122"/>
              </a:rPr>
              <a:t>                                                     		        </a:t>
            </a:r>
            <a:r>
              <a:rPr lang="zh-CN" altLang="en-US" sz="1600" b="1" dirty="0">
                <a:solidFill>
                  <a:srgbClr val="FF0000"/>
                </a:solidFill>
                <a:latin typeface="宋体" pitchFamily="2" charset="-122"/>
              </a:rPr>
              <a:t>故障发生点</a:t>
            </a:r>
          </a:p>
          <a:p>
            <a:pPr algn="just">
              <a:lnSpc>
                <a:spcPct val="160000"/>
              </a:lnSpc>
              <a:buSzPct val="100000"/>
              <a:buFont typeface="Wingdings" pitchFamily="2" charset="2"/>
              <a:buNone/>
              <a:defRPr/>
            </a:pPr>
            <a:r>
              <a:rPr lang="zh-CN" altLang="en-US" sz="1400" b="1" dirty="0">
                <a:latin typeface="宋体" pitchFamily="2" charset="-122"/>
              </a:rPr>
              <a:t>                  　</a:t>
            </a:r>
            <a:r>
              <a:rPr lang="zh-CN" altLang="en-US" sz="1600" b="1" dirty="0">
                <a:solidFill>
                  <a:srgbClr val="0000FF"/>
                </a:solidFill>
                <a:latin typeface="宋体" pitchFamily="2" charset="-122"/>
              </a:rPr>
              <a:t>静态转储</a:t>
            </a:r>
            <a:r>
              <a:rPr lang="zh-CN" altLang="en-US" sz="1600" b="1" dirty="0">
                <a:latin typeface="宋体" pitchFamily="2" charset="-122"/>
              </a:rPr>
              <a:t>          </a:t>
            </a:r>
            <a:r>
              <a:rPr lang="zh-CN" altLang="en-US" sz="1600" b="1" dirty="0">
                <a:solidFill>
                  <a:srgbClr val="0000FF"/>
                </a:solidFill>
                <a:latin typeface="宋体" pitchFamily="2" charset="-122"/>
              </a:rPr>
              <a:t>运行事务          </a:t>
            </a:r>
            <a:r>
              <a:rPr lang="zh-CN" altLang="en-US" sz="1600" b="1" dirty="0">
                <a:solidFill>
                  <a:srgbClr val="FF0000"/>
                </a:solidFill>
                <a:latin typeface="宋体" pitchFamily="2" charset="-122"/>
              </a:rPr>
              <a:t>↓</a:t>
            </a:r>
          </a:p>
          <a:p>
            <a:pPr algn="just">
              <a:lnSpc>
                <a:spcPct val="160000"/>
              </a:lnSpc>
              <a:buSzPct val="100000"/>
              <a:buFont typeface="Wingdings" pitchFamily="2" charset="2"/>
              <a:buNone/>
              <a:defRPr/>
            </a:pPr>
            <a:r>
              <a:rPr lang="zh-CN" altLang="en-US" sz="1600" b="1" dirty="0">
                <a:solidFill>
                  <a:srgbClr val="CC3399"/>
                </a:solidFill>
                <a:latin typeface="宋体" pitchFamily="2" charset="-122"/>
              </a:rPr>
              <a:t>正常运行  </a:t>
            </a:r>
            <a:r>
              <a:rPr lang="zh-CN" altLang="en-US" b="1" dirty="0">
                <a:solidFill>
                  <a:srgbClr val="CC3399"/>
                </a:solidFill>
                <a:latin typeface="宋体" pitchFamily="2" charset="-122"/>
              </a:rPr>
              <a:t> </a:t>
            </a:r>
            <a:r>
              <a:rPr lang="zh-CN" altLang="en-US" b="1" dirty="0">
                <a:latin typeface="宋体" pitchFamily="2" charset="-122"/>
              </a:rPr>
              <a:t>─┼──────┼──────────┼──</a:t>
            </a:r>
            <a:endParaRPr lang="zh-CN" altLang="en-US" sz="1600" b="1" dirty="0">
              <a:latin typeface="宋体" pitchFamily="2" charset="-122"/>
            </a:endParaRPr>
          </a:p>
          <a:p>
            <a:pPr algn="just">
              <a:lnSpc>
                <a:spcPct val="160000"/>
              </a:lnSpc>
              <a:buSzPct val="100000"/>
              <a:buFont typeface="Wingdings" pitchFamily="2" charset="2"/>
              <a:buNone/>
              <a:defRPr/>
            </a:pPr>
            <a:r>
              <a:rPr lang="zh-CN" altLang="en-US" sz="1600" b="1" dirty="0">
                <a:latin typeface="宋体" pitchFamily="2" charset="-122"/>
              </a:rPr>
              <a:t>              </a:t>
            </a:r>
            <a:r>
              <a:rPr lang="en-US" altLang="zh-CN" sz="1600" b="1" dirty="0">
                <a:latin typeface="宋体" pitchFamily="2" charset="-122"/>
              </a:rPr>
              <a:t>T</a:t>
            </a:r>
            <a:r>
              <a:rPr lang="en-US" altLang="zh-CN" sz="1600" b="1" baseline="-25000" dirty="0">
                <a:latin typeface="宋体" pitchFamily="2" charset="-122"/>
              </a:rPr>
              <a:t>a</a:t>
            </a:r>
            <a:r>
              <a:rPr lang="en-US" altLang="zh-CN" sz="1600" b="1" dirty="0">
                <a:latin typeface="宋体" pitchFamily="2" charset="-122"/>
              </a:rPr>
              <a:t>        </a:t>
            </a:r>
            <a:r>
              <a:rPr lang="zh-CN" altLang="en-US" sz="1600" b="1" dirty="0">
                <a:latin typeface="宋体" pitchFamily="2" charset="-122"/>
              </a:rPr>
              <a:t>　　　</a:t>
            </a:r>
            <a:r>
              <a:rPr lang="en-US" altLang="zh-CN" sz="1600" b="1" dirty="0">
                <a:latin typeface="宋体" pitchFamily="2" charset="-122"/>
              </a:rPr>
              <a:t>T</a:t>
            </a:r>
            <a:r>
              <a:rPr lang="en-US" altLang="zh-CN" sz="1600" b="1" baseline="-25000" dirty="0">
                <a:latin typeface="宋体" pitchFamily="2" charset="-122"/>
              </a:rPr>
              <a:t>b</a:t>
            </a:r>
            <a:r>
              <a:rPr lang="en-US" altLang="zh-CN" sz="1600" b="1" dirty="0">
                <a:latin typeface="宋体" pitchFamily="2" charset="-122"/>
              </a:rPr>
              <a:t>                        </a:t>
            </a:r>
            <a:r>
              <a:rPr lang="en-US" altLang="zh-CN" sz="1600" b="1" dirty="0" err="1">
                <a:latin typeface="宋体" pitchFamily="2" charset="-122"/>
              </a:rPr>
              <a:t>T</a:t>
            </a:r>
            <a:r>
              <a:rPr lang="en-US" altLang="zh-CN" sz="1600" b="1" baseline="-25000" dirty="0" err="1">
                <a:latin typeface="宋体" pitchFamily="2" charset="-122"/>
              </a:rPr>
              <a:t>f</a:t>
            </a:r>
            <a:endParaRPr lang="en-US" altLang="zh-CN" sz="1600" b="1" baseline="-25000" dirty="0">
              <a:latin typeface="宋体" pitchFamily="2" charset="-122"/>
            </a:endParaRPr>
          </a:p>
          <a:p>
            <a:pPr algn="just">
              <a:lnSpc>
                <a:spcPct val="160000"/>
              </a:lnSpc>
              <a:buSzPct val="100000"/>
              <a:buFont typeface="Wingdings" pitchFamily="2" charset="2"/>
              <a:buNone/>
              <a:defRPr/>
            </a:pPr>
            <a:r>
              <a:rPr lang="en-US" altLang="zh-CN" sz="1400" b="1" dirty="0">
                <a:latin typeface="宋体" pitchFamily="2" charset="-122"/>
              </a:rPr>
              <a:t>                                        </a:t>
            </a:r>
            <a:r>
              <a:rPr lang="zh-CN" altLang="en-US" sz="1600" b="1" dirty="0">
                <a:solidFill>
                  <a:srgbClr val="FF0000"/>
                </a:solidFill>
                <a:latin typeface="宋体" pitchFamily="2" charset="-122"/>
              </a:rPr>
              <a:t>登记日志文件</a:t>
            </a:r>
          </a:p>
          <a:p>
            <a:pPr algn="just">
              <a:lnSpc>
                <a:spcPct val="160000"/>
              </a:lnSpc>
              <a:buSzPct val="100000"/>
              <a:buFont typeface="Wingdings" pitchFamily="2" charset="2"/>
              <a:buNone/>
              <a:defRPr/>
            </a:pPr>
            <a:r>
              <a:rPr lang="zh-CN" altLang="en-US" sz="1600" b="1" dirty="0">
                <a:latin typeface="宋体" pitchFamily="2" charset="-122"/>
              </a:rPr>
              <a:t>                              └───────────</a:t>
            </a:r>
          </a:p>
          <a:p>
            <a:pPr algn="just">
              <a:lnSpc>
                <a:spcPct val="160000"/>
              </a:lnSpc>
              <a:buSzPct val="100000"/>
              <a:buFont typeface="Wingdings" pitchFamily="2" charset="2"/>
              <a:buNone/>
              <a:defRPr/>
            </a:pPr>
            <a:endParaRPr lang="zh-CN" altLang="en-US" sz="1400" b="1" dirty="0">
              <a:latin typeface="宋体" pitchFamily="2" charset="-122"/>
            </a:endParaRPr>
          </a:p>
          <a:p>
            <a:pPr algn="just">
              <a:lnSpc>
                <a:spcPct val="160000"/>
              </a:lnSpc>
              <a:buSzPct val="100000"/>
              <a:buFont typeface="Wingdings" pitchFamily="2" charset="2"/>
              <a:buNone/>
              <a:defRPr/>
            </a:pPr>
            <a:r>
              <a:rPr lang="zh-CN" altLang="en-US" sz="1400" b="1" dirty="0">
                <a:latin typeface="宋体" pitchFamily="2" charset="-122"/>
              </a:rPr>
              <a:t>                  </a:t>
            </a:r>
            <a:r>
              <a:rPr lang="zh-CN" altLang="en-US" sz="1600" b="1" dirty="0">
                <a:solidFill>
                  <a:srgbClr val="0000FF"/>
                </a:solidFill>
                <a:latin typeface="宋体" pitchFamily="2" charset="-122"/>
              </a:rPr>
              <a:t>重装后备副本   </a:t>
            </a:r>
            <a:r>
              <a:rPr lang="zh-CN" altLang="en-US" sz="1600" b="1" dirty="0">
                <a:solidFill>
                  <a:srgbClr val="FF0000"/>
                </a:solidFill>
                <a:latin typeface="宋体" pitchFamily="2" charset="-122"/>
              </a:rPr>
              <a:t>利用日志文件恢复事务     </a:t>
            </a:r>
            <a:r>
              <a:rPr lang="zh-CN" altLang="en-US" sz="1600" b="1" dirty="0">
                <a:solidFill>
                  <a:srgbClr val="0000FF"/>
                </a:solidFill>
                <a:latin typeface="宋体" pitchFamily="2" charset="-122"/>
              </a:rPr>
              <a:t>继续运行</a:t>
            </a:r>
            <a:endParaRPr lang="zh-CN" altLang="en-US" sz="1400" b="1" dirty="0">
              <a:solidFill>
                <a:srgbClr val="0000FF"/>
              </a:solidFill>
              <a:latin typeface="宋体" pitchFamily="2" charset="-122"/>
            </a:endParaRPr>
          </a:p>
          <a:p>
            <a:pPr algn="just">
              <a:lnSpc>
                <a:spcPct val="160000"/>
              </a:lnSpc>
              <a:buSzPct val="100000"/>
              <a:buFont typeface="Wingdings" pitchFamily="2" charset="2"/>
              <a:buNone/>
              <a:defRPr/>
            </a:pPr>
            <a:r>
              <a:rPr lang="zh-CN" altLang="en-US" sz="1600" b="1" dirty="0">
                <a:solidFill>
                  <a:srgbClr val="CC3399"/>
                </a:solidFill>
                <a:latin typeface="宋体" pitchFamily="2" charset="-122"/>
              </a:rPr>
              <a:t>介质故障恢复</a:t>
            </a:r>
            <a:r>
              <a:rPr lang="zh-CN" altLang="en-US" sz="1400" b="1" dirty="0">
                <a:solidFill>
                  <a:srgbClr val="CC3399"/>
                </a:solidFill>
                <a:latin typeface="宋体" pitchFamily="2" charset="-122"/>
              </a:rPr>
              <a:t> </a:t>
            </a:r>
            <a:r>
              <a:rPr lang="zh-CN" altLang="en-US" sz="1400" b="1" dirty="0">
                <a:latin typeface="宋体" pitchFamily="2" charset="-122"/>
              </a:rPr>
              <a:t>─────────┴－－－－－－－－</a:t>
            </a:r>
            <a:r>
              <a:rPr lang="zh-CN" altLang="en-US" b="1" dirty="0">
                <a:latin typeface="Times New Roman" pitchFamily="18" charset="0"/>
              </a:rPr>
              <a:t>－</a:t>
            </a:r>
            <a:r>
              <a:rPr lang="zh-CN" altLang="en-US" sz="1400" b="1" dirty="0">
                <a:latin typeface="宋体" pitchFamily="2" charset="-122"/>
              </a:rPr>
              <a:t>－－－－┴─────</a:t>
            </a:r>
            <a:r>
              <a:rPr lang="en-US" altLang="zh-CN" sz="1400" b="1" dirty="0">
                <a:latin typeface="宋体" pitchFamily="2" charset="-122"/>
              </a:rPr>
              <a:t>〉</a:t>
            </a:r>
          </a:p>
          <a:p>
            <a:pPr algn="just">
              <a:lnSpc>
                <a:spcPct val="160000"/>
              </a:lnSpc>
              <a:buSzPct val="100000"/>
              <a:buFont typeface="Wingdings" pitchFamily="2" charset="2"/>
              <a:buNone/>
              <a:defRPr/>
            </a:pPr>
            <a:r>
              <a:rPr lang="en-US" sz="1400" b="1" dirty="0">
                <a:latin typeface="宋体" pitchFamily="2" charset="-122"/>
              </a:rPr>
              <a:t>                                                               </a:t>
            </a:r>
            <a:r>
              <a:rPr lang="zh-CN" altLang="en-US" sz="1600" b="1" dirty="0">
                <a:solidFill>
                  <a:srgbClr val="FF0000"/>
                </a:solidFill>
                <a:latin typeface="宋体" pitchFamily="2" charset="-122"/>
              </a:rPr>
              <a:t>登记日志文件</a:t>
            </a:r>
            <a:endParaRPr lang="zh-CN" altLang="en-US" sz="1400" b="1" dirty="0">
              <a:solidFill>
                <a:srgbClr val="FF0000"/>
              </a:solidFill>
              <a:latin typeface="宋体" pitchFamily="2" charset="-122"/>
            </a:endParaRPr>
          </a:p>
          <a:p>
            <a:pPr algn="just">
              <a:lnSpc>
                <a:spcPct val="160000"/>
              </a:lnSpc>
              <a:buSzPct val="100000"/>
              <a:buFont typeface="Wingdings" pitchFamily="2" charset="2"/>
              <a:buNone/>
              <a:defRPr/>
            </a:pPr>
            <a:r>
              <a:rPr lang="zh-CN" altLang="en-US" sz="1400" b="1" dirty="0">
                <a:latin typeface="宋体" pitchFamily="2" charset="-122"/>
              </a:rPr>
              <a:t>                                                              └─────</a:t>
            </a:r>
            <a:r>
              <a:rPr lang="en-US" altLang="zh-CN" sz="1400" b="1" dirty="0">
                <a:latin typeface="宋体" pitchFamily="2" charset="-122"/>
              </a:rPr>
              <a:t>〉</a:t>
            </a:r>
          </a:p>
        </p:txBody>
      </p:sp>
      <p:sp>
        <p:nvSpPr>
          <p:cNvPr id="7" name="Text Box 4">
            <a:extLst>
              <a:ext uri="{FF2B5EF4-FFF2-40B4-BE49-F238E27FC236}">
                <a16:creationId xmlns:a16="http://schemas.microsoft.com/office/drawing/2014/main" id="{F9C93E94-A76E-4ABF-B420-5EF986B19565}"/>
              </a:ext>
            </a:extLst>
          </p:cNvPr>
          <p:cNvSpPr txBox="1">
            <a:spLocks noChangeArrowheads="1"/>
          </p:cNvSpPr>
          <p:nvPr/>
        </p:nvSpPr>
        <p:spPr bwMode="auto">
          <a:xfrm>
            <a:off x="4267200" y="5799483"/>
            <a:ext cx="307007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buSzPct val="100000"/>
              <a:buFont typeface="Wingdings" pitchFamily="2" charset="2"/>
              <a:buNone/>
            </a:pPr>
            <a:r>
              <a:rPr lang="zh-CN" altLang="zh-CN" sz="2800" dirty="0">
                <a:solidFill>
                  <a:srgbClr val="FF0000"/>
                </a:solidFill>
                <a:latin typeface="微软雅黑" panose="020B0503020204020204" pitchFamily="34" charset="-122"/>
                <a:ea typeface="微软雅黑" panose="020B0503020204020204" pitchFamily="34" charset="-122"/>
              </a:rPr>
              <a:t>利用日志文件恢复</a:t>
            </a:r>
          </a:p>
        </p:txBody>
      </p:sp>
      <p:sp>
        <p:nvSpPr>
          <p:cNvPr id="8" name="标题 1">
            <a:extLst>
              <a:ext uri="{FF2B5EF4-FFF2-40B4-BE49-F238E27FC236}">
                <a16:creationId xmlns:a16="http://schemas.microsoft.com/office/drawing/2014/main" id="{2BE0F533-9464-4559-B652-43D1CA1884DD}"/>
              </a:ext>
            </a:extLst>
          </p:cNvPr>
          <p:cNvSpPr>
            <a:spLocks noGrp="1"/>
          </p:cNvSpPr>
          <p:nvPr>
            <p:ph type="title"/>
          </p:nvPr>
        </p:nvSpPr>
        <p:spPr>
          <a:xfrm>
            <a:off x="1281113" y="238125"/>
            <a:ext cx="9553575" cy="512763"/>
          </a:xfrm>
        </p:spPr>
        <p:txBody>
          <a:bodyPr/>
          <a:lstStyle/>
          <a:p>
            <a:r>
              <a:rPr lang="en-US" altLang="zh-CN" dirty="0"/>
              <a:t>2. </a:t>
            </a:r>
            <a:r>
              <a:rPr lang="zh-CN" altLang="en-US" dirty="0"/>
              <a:t>登记日志文件</a:t>
            </a:r>
          </a:p>
        </p:txBody>
      </p:sp>
    </p:spTree>
    <p:extLst>
      <p:ext uri="{BB962C8B-B14F-4D97-AF65-F5344CB8AC3E}">
        <p14:creationId xmlns:p14="http://schemas.microsoft.com/office/powerpoint/2010/main" val="6861550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4DB64BF-1797-467E-87D1-6DD380D16A07}"/>
              </a:ext>
            </a:extLst>
          </p:cNvPr>
          <p:cNvSpPr>
            <a:spLocks noGrp="1"/>
          </p:cNvSpPr>
          <p:nvPr>
            <p:ph idx="1"/>
          </p:nvPr>
        </p:nvSpPr>
        <p:spPr/>
        <p:txBody>
          <a:bodyPr>
            <a:normAutofit/>
          </a:bodyPr>
          <a:lstStyle/>
          <a:p>
            <a:r>
              <a:rPr lang="zh-CN" altLang="en-US" sz="2800">
                <a:solidFill>
                  <a:srgbClr val="0000FF"/>
                </a:solidFill>
              </a:rPr>
              <a:t>为保证</a:t>
            </a:r>
            <a:r>
              <a:rPr lang="zh-CN" altLang="en-US" sz="2800"/>
              <a:t>数据库是可恢复的，</a:t>
            </a:r>
            <a:r>
              <a:rPr lang="zh-CN" altLang="en-US" sz="2800">
                <a:solidFill>
                  <a:srgbClr val="FF0000"/>
                </a:solidFill>
              </a:rPr>
              <a:t>登记日志文件必须遵循两条原则</a:t>
            </a:r>
            <a:r>
              <a:rPr lang="zh-CN" altLang="en-US" sz="2800"/>
              <a:t>：</a:t>
            </a:r>
            <a:endParaRPr lang="en-US" altLang="zh-CN" sz="2800">
              <a:solidFill>
                <a:srgbClr val="0000FF"/>
              </a:solidFill>
            </a:endParaRPr>
          </a:p>
          <a:p>
            <a:pPr marL="982663" lvl="2" indent="-360363">
              <a:buFont typeface="+mj-lt"/>
              <a:buAutoNum type="arabicPeriod"/>
            </a:pPr>
            <a:r>
              <a:rPr lang="zh-CN" altLang="en-US">
                <a:solidFill>
                  <a:srgbClr val="FF0000"/>
                </a:solidFill>
              </a:rPr>
              <a:t>登记的次序严格按并发事务执行的时间次序</a:t>
            </a:r>
            <a:endParaRPr lang="en-US" altLang="zh-CN">
              <a:solidFill>
                <a:srgbClr val="FF0000"/>
              </a:solidFill>
            </a:endParaRPr>
          </a:p>
          <a:p>
            <a:pPr marL="982663" lvl="2" indent="-360363">
              <a:buFont typeface="+mj-lt"/>
              <a:buAutoNum type="arabicPeriod"/>
            </a:pPr>
            <a:r>
              <a:rPr lang="zh-CN" altLang="en-US">
                <a:solidFill>
                  <a:srgbClr val="FF0000"/>
                </a:solidFill>
              </a:rPr>
              <a:t>必须先写日志文件，后写数据库</a:t>
            </a:r>
            <a:endParaRPr lang="en-US" altLang="zh-CN">
              <a:solidFill>
                <a:srgbClr val="FF0000"/>
              </a:solidFill>
            </a:endParaRPr>
          </a:p>
          <a:p>
            <a:pPr lvl="2"/>
            <a:r>
              <a:rPr lang="zh-CN" altLang="en-US">
                <a:solidFill>
                  <a:srgbClr val="0000FF"/>
                </a:solidFill>
              </a:rPr>
              <a:t>写日志文件操作</a:t>
            </a:r>
            <a:r>
              <a:rPr lang="zh-CN" altLang="en-US"/>
              <a:t>：把表示这个修改的日志记录写到日志文件中</a:t>
            </a:r>
          </a:p>
          <a:p>
            <a:pPr lvl="2"/>
            <a:r>
              <a:rPr lang="zh-CN" altLang="en-US">
                <a:solidFill>
                  <a:srgbClr val="0000FF"/>
                </a:solidFill>
              </a:rPr>
              <a:t>写数据库操作</a:t>
            </a:r>
            <a:r>
              <a:rPr lang="zh-CN" altLang="en-US"/>
              <a:t>：把对数据的修改写到数据库中</a:t>
            </a:r>
            <a:endParaRPr lang="en-US" altLang="zh-CN"/>
          </a:p>
          <a:p>
            <a:pPr lvl="2"/>
            <a:endParaRPr lang="en-US" altLang="zh-CN" sz="1100"/>
          </a:p>
          <a:p>
            <a:r>
              <a:rPr lang="zh-CN" altLang="en-US" sz="3000">
                <a:solidFill>
                  <a:srgbClr val="FF0000"/>
                </a:solidFill>
              </a:rPr>
              <a:t>为什么要先写日志文件再写数据库？</a:t>
            </a:r>
            <a:endParaRPr lang="en-US" altLang="zh-CN" sz="3000">
              <a:solidFill>
                <a:srgbClr val="FF0000"/>
              </a:solidFill>
            </a:endParaRPr>
          </a:p>
          <a:p>
            <a:pPr lvl="1"/>
            <a:r>
              <a:rPr lang="zh-CN" altLang="en-US" sz="2200"/>
              <a:t>把对数据的修改写到数据库中和把表示这个修改的日志记录写到日志文件中是两个不同的操作。有可能在这两个操作之间发生故障，即这两个写操作只完成了一个。如果先写了数据库修改，而在运行记录中没有登记这个修改，则以后就无法恢复这个修改。如果先写日志，但没有修改数据库，按日志文件恢复时只不过多执行一次不必要的</a:t>
            </a:r>
            <a:r>
              <a:rPr lang="en-US" altLang="zh-CN" sz="2200"/>
              <a:t>UNDO</a:t>
            </a:r>
            <a:r>
              <a:rPr lang="zh-CN" altLang="en-US" sz="2200"/>
              <a:t>操作，并不会影响数据库的正确性。</a:t>
            </a:r>
            <a:endParaRPr lang="en-US" altLang="zh-CN" sz="2200"/>
          </a:p>
        </p:txBody>
      </p:sp>
      <p:sp>
        <p:nvSpPr>
          <p:cNvPr id="4" name="灯片编号占位符 3">
            <a:extLst>
              <a:ext uri="{FF2B5EF4-FFF2-40B4-BE49-F238E27FC236}">
                <a16:creationId xmlns:a16="http://schemas.microsoft.com/office/drawing/2014/main" id="{71152695-581F-4414-A6E9-2B08530AD651}"/>
              </a:ext>
            </a:extLst>
          </p:cNvPr>
          <p:cNvSpPr>
            <a:spLocks noGrp="1"/>
          </p:cNvSpPr>
          <p:nvPr>
            <p:ph type="sldNum" sz="quarter" idx="12"/>
          </p:nvPr>
        </p:nvSpPr>
        <p:spPr/>
        <p:txBody>
          <a:bodyPr/>
          <a:lstStyle/>
          <a:p>
            <a:fld id="{E63F6D5D-9733-4D44-9C56-AEFEDD5A4BA7}" type="slidenum">
              <a:rPr lang="en-US" smtClean="0"/>
              <a:pPr/>
              <a:t>28</a:t>
            </a:fld>
            <a:endParaRPr lang="en-US" dirty="0"/>
          </a:p>
        </p:txBody>
      </p:sp>
      <p:sp>
        <p:nvSpPr>
          <p:cNvPr id="5" name="标题 1">
            <a:extLst>
              <a:ext uri="{FF2B5EF4-FFF2-40B4-BE49-F238E27FC236}">
                <a16:creationId xmlns:a16="http://schemas.microsoft.com/office/drawing/2014/main" id="{FB9FCCF3-88D1-463F-8FC1-51A57D289A51}"/>
              </a:ext>
            </a:extLst>
          </p:cNvPr>
          <p:cNvSpPr>
            <a:spLocks noGrp="1"/>
          </p:cNvSpPr>
          <p:nvPr>
            <p:ph type="title"/>
          </p:nvPr>
        </p:nvSpPr>
        <p:spPr>
          <a:xfrm>
            <a:off x="1281113" y="238125"/>
            <a:ext cx="9553575" cy="512763"/>
          </a:xfrm>
        </p:spPr>
        <p:txBody>
          <a:bodyPr/>
          <a:lstStyle/>
          <a:p>
            <a:r>
              <a:rPr lang="en-US" altLang="zh-CN" dirty="0"/>
              <a:t>2. </a:t>
            </a:r>
            <a:r>
              <a:rPr lang="zh-CN" altLang="en-US" dirty="0"/>
              <a:t>登记日志文件</a:t>
            </a:r>
          </a:p>
        </p:txBody>
      </p:sp>
    </p:spTree>
    <p:extLst>
      <p:ext uri="{BB962C8B-B14F-4D97-AF65-F5344CB8AC3E}">
        <p14:creationId xmlns:p14="http://schemas.microsoft.com/office/powerpoint/2010/main" val="36167822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EDBAB9-7B82-4D9F-8C64-484E3BF1488A}"/>
              </a:ext>
            </a:extLst>
          </p:cNvPr>
          <p:cNvSpPr>
            <a:spLocks noGrp="1"/>
          </p:cNvSpPr>
          <p:nvPr>
            <p:ph type="title"/>
          </p:nvPr>
        </p:nvSpPr>
        <p:spPr/>
        <p:txBody>
          <a:bodyPr/>
          <a:lstStyle/>
          <a:p>
            <a:r>
              <a:rPr lang="en-US" altLang="zh-CN" dirty="0"/>
              <a:t>10.5 </a:t>
            </a:r>
            <a:r>
              <a:rPr lang="zh-CN" altLang="en-US" dirty="0"/>
              <a:t>恢复策略</a:t>
            </a:r>
          </a:p>
        </p:txBody>
      </p:sp>
      <p:sp>
        <p:nvSpPr>
          <p:cNvPr id="3" name="内容占位符 2">
            <a:extLst>
              <a:ext uri="{FF2B5EF4-FFF2-40B4-BE49-F238E27FC236}">
                <a16:creationId xmlns:a16="http://schemas.microsoft.com/office/drawing/2014/main" id="{4B149A5B-A317-49D4-A463-84764ADC9B22}"/>
              </a:ext>
            </a:extLst>
          </p:cNvPr>
          <p:cNvSpPr>
            <a:spLocks noGrp="1"/>
          </p:cNvSpPr>
          <p:nvPr>
            <p:ph idx="1"/>
          </p:nvPr>
        </p:nvSpPr>
        <p:spPr/>
        <p:txBody>
          <a:bodyPr/>
          <a:lstStyle/>
          <a:p>
            <a:pPr>
              <a:lnSpc>
                <a:spcPct val="120000"/>
              </a:lnSpc>
            </a:pPr>
            <a:r>
              <a:rPr lang="zh-CN" altLang="en-US"/>
              <a:t>当对数据库进行恢复时，</a:t>
            </a:r>
            <a:r>
              <a:rPr lang="zh-CN" altLang="en-US">
                <a:solidFill>
                  <a:srgbClr val="CC3399"/>
                </a:solidFill>
              </a:rPr>
              <a:t>不同故障（</a:t>
            </a:r>
            <a:r>
              <a:rPr lang="zh-CN" altLang="en-US" u="sng">
                <a:solidFill>
                  <a:srgbClr val="0000FF"/>
                </a:solidFill>
              </a:rPr>
              <a:t>事务故障</a:t>
            </a:r>
            <a:r>
              <a:rPr lang="zh-CN" altLang="en-US">
                <a:solidFill>
                  <a:srgbClr val="CC3399"/>
                </a:solidFill>
              </a:rPr>
              <a:t>、</a:t>
            </a:r>
            <a:r>
              <a:rPr lang="zh-CN" altLang="en-US" u="sng">
                <a:solidFill>
                  <a:srgbClr val="0000FF"/>
                </a:solidFill>
              </a:rPr>
              <a:t>系统故障</a:t>
            </a:r>
            <a:r>
              <a:rPr lang="zh-CN" altLang="en-US">
                <a:solidFill>
                  <a:srgbClr val="CC3399"/>
                </a:solidFill>
              </a:rPr>
              <a:t>和</a:t>
            </a:r>
            <a:r>
              <a:rPr lang="zh-CN" altLang="en-US" u="sng">
                <a:solidFill>
                  <a:srgbClr val="0000FF"/>
                </a:solidFill>
              </a:rPr>
              <a:t>介质故障</a:t>
            </a:r>
            <a:r>
              <a:rPr lang="zh-CN" altLang="en-US">
                <a:solidFill>
                  <a:srgbClr val="CC3399"/>
                </a:solidFill>
              </a:rPr>
              <a:t>）的恢复策略和方法</a:t>
            </a:r>
            <a:r>
              <a:rPr lang="zh-CN" altLang="en-US"/>
              <a:t>也都不一样。</a:t>
            </a:r>
            <a:endParaRPr lang="en-US" altLang="zh-CN"/>
          </a:p>
          <a:p>
            <a:pPr>
              <a:lnSpc>
                <a:spcPct val="120000"/>
              </a:lnSpc>
            </a:pPr>
            <a:endParaRPr lang="en-US" altLang="zh-CN" sz="1200"/>
          </a:p>
          <a:p>
            <a:pPr>
              <a:lnSpc>
                <a:spcPct val="120000"/>
              </a:lnSpc>
            </a:pPr>
            <a:r>
              <a:rPr lang="zh-CN" altLang="en-US" u="sng">
                <a:solidFill>
                  <a:srgbClr val="D60093"/>
                </a:solidFill>
              </a:rPr>
              <a:t>事务故障的恢复</a:t>
            </a:r>
            <a:endParaRPr lang="en-US" altLang="zh-CN" u="sng">
              <a:solidFill>
                <a:srgbClr val="D60093"/>
              </a:solidFill>
            </a:endParaRPr>
          </a:p>
          <a:p>
            <a:pPr lvl="1">
              <a:lnSpc>
                <a:spcPct val="120000"/>
              </a:lnSpc>
            </a:pPr>
            <a:r>
              <a:rPr lang="zh-CN" altLang="en-US"/>
              <a:t>事务故障是指事务中运行至正常终点前被终止。</a:t>
            </a:r>
            <a:endParaRPr lang="en-US" altLang="zh-CN"/>
          </a:p>
          <a:p>
            <a:pPr lvl="1">
              <a:lnSpc>
                <a:spcPct val="120000"/>
              </a:lnSpc>
            </a:pPr>
            <a:r>
              <a:rPr lang="zh-CN" altLang="en-US">
                <a:solidFill>
                  <a:srgbClr val="D60093"/>
                </a:solidFill>
              </a:rPr>
              <a:t>恢复策略</a:t>
            </a:r>
            <a:endParaRPr lang="en-US" altLang="zh-CN">
              <a:solidFill>
                <a:srgbClr val="D60093"/>
              </a:solidFill>
            </a:endParaRPr>
          </a:p>
          <a:p>
            <a:pPr lvl="2">
              <a:lnSpc>
                <a:spcPct val="120000"/>
              </a:lnSpc>
            </a:pPr>
            <a:r>
              <a:rPr lang="zh-CN" altLang="en-US"/>
              <a:t>由恢复子系统利用日志文件撤消（</a:t>
            </a:r>
            <a:r>
              <a:rPr lang="en-US" altLang="zh-CN"/>
              <a:t>UNDO</a:t>
            </a:r>
            <a:r>
              <a:rPr lang="zh-CN" altLang="en-US"/>
              <a:t>）此事务已对数据库进行的修改</a:t>
            </a:r>
            <a:endParaRPr lang="en-US" altLang="zh-CN"/>
          </a:p>
          <a:p>
            <a:pPr lvl="1">
              <a:lnSpc>
                <a:spcPct val="120000"/>
              </a:lnSpc>
            </a:pPr>
            <a:r>
              <a:rPr lang="zh-CN" altLang="en-US">
                <a:solidFill>
                  <a:srgbClr val="D60093"/>
                </a:solidFill>
              </a:rPr>
              <a:t>事务故障的恢复</a:t>
            </a:r>
            <a:r>
              <a:rPr lang="zh-CN" altLang="en-US"/>
              <a:t>由</a:t>
            </a:r>
            <a:r>
              <a:rPr lang="zh-CN" altLang="en-US" u="sng">
                <a:solidFill>
                  <a:srgbClr val="D60093"/>
                </a:solidFill>
              </a:rPr>
              <a:t>系统自动完成</a:t>
            </a:r>
            <a:r>
              <a:rPr lang="zh-CN" altLang="en-US"/>
              <a:t>，对用户透明。</a:t>
            </a:r>
          </a:p>
        </p:txBody>
      </p:sp>
      <p:sp>
        <p:nvSpPr>
          <p:cNvPr id="4" name="灯片编号占位符 3">
            <a:extLst>
              <a:ext uri="{FF2B5EF4-FFF2-40B4-BE49-F238E27FC236}">
                <a16:creationId xmlns:a16="http://schemas.microsoft.com/office/drawing/2014/main" id="{657182F5-94B8-45AE-AF58-B89BBECB29BE}"/>
              </a:ext>
            </a:extLst>
          </p:cNvPr>
          <p:cNvSpPr>
            <a:spLocks noGrp="1"/>
          </p:cNvSpPr>
          <p:nvPr>
            <p:ph type="sldNum" sz="quarter" idx="12"/>
          </p:nvPr>
        </p:nvSpPr>
        <p:spPr/>
        <p:txBody>
          <a:bodyPr/>
          <a:lstStyle/>
          <a:p>
            <a:fld id="{E63F6D5D-9733-4D44-9C56-AEFEDD5A4BA7}" type="slidenum">
              <a:rPr lang="en-US" smtClean="0"/>
              <a:pPr/>
              <a:t>29</a:t>
            </a:fld>
            <a:endParaRPr lang="en-US" dirty="0"/>
          </a:p>
        </p:txBody>
      </p:sp>
    </p:spTree>
    <p:extLst>
      <p:ext uri="{BB962C8B-B14F-4D97-AF65-F5344CB8AC3E}">
        <p14:creationId xmlns:p14="http://schemas.microsoft.com/office/powerpoint/2010/main" val="30154705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D8F3C4-5800-4EDE-958E-783F595F9B9B}"/>
              </a:ext>
            </a:extLst>
          </p:cNvPr>
          <p:cNvSpPr>
            <a:spLocks noGrp="1"/>
          </p:cNvSpPr>
          <p:nvPr>
            <p:ph type="title"/>
          </p:nvPr>
        </p:nvSpPr>
        <p:spPr/>
        <p:txBody>
          <a:bodyPr/>
          <a:lstStyle/>
          <a:p>
            <a:r>
              <a:rPr lang="en-US" altLang="zh-CN" dirty="0"/>
              <a:t>1. </a:t>
            </a:r>
            <a:r>
              <a:rPr lang="zh-CN" altLang="en-US" dirty="0"/>
              <a:t>事务故障的恢复</a:t>
            </a:r>
          </a:p>
        </p:txBody>
      </p:sp>
      <p:sp>
        <p:nvSpPr>
          <p:cNvPr id="3" name="内容占位符 2">
            <a:extLst>
              <a:ext uri="{FF2B5EF4-FFF2-40B4-BE49-F238E27FC236}">
                <a16:creationId xmlns:a16="http://schemas.microsoft.com/office/drawing/2014/main" id="{0F23DFC7-2F1C-473B-9C2A-E7CC01E66BF8}"/>
              </a:ext>
            </a:extLst>
          </p:cNvPr>
          <p:cNvSpPr>
            <a:spLocks noGrp="1"/>
          </p:cNvSpPr>
          <p:nvPr>
            <p:ph idx="1"/>
          </p:nvPr>
        </p:nvSpPr>
        <p:spPr/>
        <p:txBody>
          <a:bodyPr>
            <a:normAutofit lnSpcReduction="10000"/>
          </a:bodyPr>
          <a:lstStyle/>
          <a:p>
            <a:r>
              <a:rPr lang="zh-CN" altLang="en-US" dirty="0">
                <a:solidFill>
                  <a:srgbClr val="FF0000"/>
                </a:solidFill>
              </a:rPr>
              <a:t>反向扫描日志文件</a:t>
            </a:r>
            <a:r>
              <a:rPr lang="zh-CN" altLang="en-US" dirty="0"/>
              <a:t>（即从最后向前扫描日志文件），查找该事务的更新操作。</a:t>
            </a:r>
          </a:p>
          <a:p>
            <a:r>
              <a:rPr lang="zh-CN" altLang="en-US" dirty="0">
                <a:solidFill>
                  <a:srgbClr val="FF0000"/>
                </a:solidFill>
              </a:rPr>
              <a:t>对该事务的更新操作执行逆操作</a:t>
            </a:r>
            <a:r>
              <a:rPr lang="zh-CN" altLang="en-US" dirty="0"/>
              <a:t>，即将日志文件中“更新前的值”写入数据库。</a:t>
            </a:r>
            <a:endParaRPr lang="en-US" altLang="zh-CN" dirty="0"/>
          </a:p>
          <a:p>
            <a:pPr lvl="1"/>
            <a:r>
              <a:rPr lang="zh-CN" altLang="en-US" dirty="0"/>
              <a:t>插入操作，“更新前的值”为空，则相当于做删除操作</a:t>
            </a:r>
          </a:p>
          <a:p>
            <a:pPr lvl="1"/>
            <a:r>
              <a:rPr lang="zh-CN" altLang="en-US" dirty="0"/>
              <a:t>删除操作，“更新后的值”为空，则相当于做插入操作</a:t>
            </a:r>
          </a:p>
          <a:p>
            <a:pPr lvl="1"/>
            <a:r>
              <a:rPr lang="zh-CN" altLang="en-US" dirty="0"/>
              <a:t>修改操作，则相当于用修改前值代替修改后值 </a:t>
            </a:r>
          </a:p>
          <a:p>
            <a:r>
              <a:rPr lang="zh-CN" altLang="en-US" dirty="0">
                <a:solidFill>
                  <a:srgbClr val="FF0000"/>
                </a:solidFill>
              </a:rPr>
              <a:t>继续反向扫描日志文件</a:t>
            </a:r>
            <a:r>
              <a:rPr lang="zh-CN" altLang="en-US" dirty="0"/>
              <a:t>，查找该事务的其他更新操作，并做同样处理</a:t>
            </a:r>
          </a:p>
          <a:p>
            <a:r>
              <a:rPr lang="zh-CN" altLang="en-US" dirty="0"/>
              <a:t>如此处理下去，</a:t>
            </a:r>
            <a:r>
              <a:rPr lang="zh-CN" altLang="en-US" dirty="0">
                <a:solidFill>
                  <a:srgbClr val="FF0000"/>
                </a:solidFill>
              </a:rPr>
              <a:t>直到读到此事务的开始标记</a:t>
            </a:r>
            <a:r>
              <a:rPr lang="zh-CN" altLang="en-US" dirty="0"/>
              <a:t>，事务故障恢复就完成了。</a:t>
            </a:r>
          </a:p>
        </p:txBody>
      </p:sp>
      <p:sp>
        <p:nvSpPr>
          <p:cNvPr id="4" name="灯片编号占位符 3">
            <a:extLst>
              <a:ext uri="{FF2B5EF4-FFF2-40B4-BE49-F238E27FC236}">
                <a16:creationId xmlns:a16="http://schemas.microsoft.com/office/drawing/2014/main" id="{8871BE51-032F-415B-A830-9523F74CEEFF}"/>
              </a:ext>
            </a:extLst>
          </p:cNvPr>
          <p:cNvSpPr>
            <a:spLocks noGrp="1"/>
          </p:cNvSpPr>
          <p:nvPr>
            <p:ph type="sldNum" sz="quarter" idx="12"/>
          </p:nvPr>
        </p:nvSpPr>
        <p:spPr/>
        <p:txBody>
          <a:bodyPr/>
          <a:lstStyle/>
          <a:p>
            <a:fld id="{E63F6D5D-9733-4D44-9C56-AEFEDD5A4BA7}" type="slidenum">
              <a:rPr lang="en-US" smtClean="0"/>
              <a:pPr/>
              <a:t>30</a:t>
            </a:fld>
            <a:endParaRPr lang="en-US" dirty="0"/>
          </a:p>
        </p:txBody>
      </p:sp>
    </p:spTree>
    <p:extLst>
      <p:ext uri="{BB962C8B-B14F-4D97-AF65-F5344CB8AC3E}">
        <p14:creationId xmlns:p14="http://schemas.microsoft.com/office/powerpoint/2010/main" val="9134030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D4D4EF-C357-4F05-BBFE-A4AB8EC326B3}"/>
              </a:ext>
            </a:extLst>
          </p:cNvPr>
          <p:cNvSpPr>
            <a:spLocks noGrp="1"/>
          </p:cNvSpPr>
          <p:nvPr>
            <p:ph type="title"/>
          </p:nvPr>
        </p:nvSpPr>
        <p:spPr/>
        <p:txBody>
          <a:bodyPr/>
          <a:lstStyle/>
          <a:p>
            <a:r>
              <a:rPr lang="en-US" altLang="zh-CN" dirty="0"/>
              <a:t>2. </a:t>
            </a:r>
            <a:r>
              <a:rPr lang="zh-CN" altLang="en-US" dirty="0"/>
              <a:t>系统故障的恢复</a:t>
            </a:r>
          </a:p>
        </p:txBody>
      </p:sp>
      <p:sp>
        <p:nvSpPr>
          <p:cNvPr id="3" name="内容占位符 2">
            <a:extLst>
              <a:ext uri="{FF2B5EF4-FFF2-40B4-BE49-F238E27FC236}">
                <a16:creationId xmlns:a16="http://schemas.microsoft.com/office/drawing/2014/main" id="{110B80BF-E90E-4AA9-9CA0-0089D3BCABD4}"/>
              </a:ext>
            </a:extLst>
          </p:cNvPr>
          <p:cNvSpPr>
            <a:spLocks noGrp="1"/>
          </p:cNvSpPr>
          <p:nvPr>
            <p:ph idx="1"/>
          </p:nvPr>
        </p:nvSpPr>
        <p:spPr/>
        <p:txBody>
          <a:bodyPr>
            <a:normAutofit/>
          </a:bodyPr>
          <a:lstStyle/>
          <a:p>
            <a:r>
              <a:rPr lang="zh-CN" altLang="en-US" dirty="0"/>
              <a:t>系统故障造成数据库不一致状态的原因</a:t>
            </a:r>
          </a:p>
          <a:p>
            <a:pPr lvl="1"/>
            <a:r>
              <a:rPr lang="zh-CN" altLang="en-US" dirty="0">
                <a:solidFill>
                  <a:srgbClr val="FF0000"/>
                </a:solidFill>
              </a:rPr>
              <a:t>未完成事务</a:t>
            </a:r>
            <a:r>
              <a:rPr lang="zh-CN" altLang="en-US" dirty="0"/>
              <a:t>对数据库的</a:t>
            </a:r>
            <a:r>
              <a:rPr lang="zh-CN" altLang="en-US" dirty="0">
                <a:solidFill>
                  <a:srgbClr val="FF0000"/>
                </a:solidFill>
              </a:rPr>
              <a:t>更新</a:t>
            </a:r>
            <a:r>
              <a:rPr lang="zh-CN" altLang="en-US" dirty="0"/>
              <a:t>可能</a:t>
            </a:r>
            <a:r>
              <a:rPr lang="zh-CN" altLang="en-US" dirty="0">
                <a:solidFill>
                  <a:srgbClr val="FF0000"/>
                </a:solidFill>
              </a:rPr>
              <a:t>已写入数据库</a:t>
            </a:r>
          </a:p>
          <a:p>
            <a:pPr lvl="1"/>
            <a:r>
              <a:rPr lang="zh-CN" altLang="en-US" dirty="0">
                <a:solidFill>
                  <a:srgbClr val="FF0000"/>
                </a:solidFill>
              </a:rPr>
              <a:t>已提交事务</a:t>
            </a:r>
            <a:r>
              <a:rPr lang="zh-CN" altLang="en-US" dirty="0"/>
              <a:t>对数据库的</a:t>
            </a:r>
            <a:r>
              <a:rPr lang="zh-CN" altLang="en-US" dirty="0">
                <a:solidFill>
                  <a:srgbClr val="FF0000"/>
                </a:solidFill>
              </a:rPr>
              <a:t>更新</a:t>
            </a:r>
            <a:r>
              <a:rPr lang="zh-CN" altLang="en-US" dirty="0"/>
              <a:t>可能还留在缓冲区</a:t>
            </a:r>
            <a:r>
              <a:rPr lang="zh-CN" altLang="en-US" dirty="0">
                <a:solidFill>
                  <a:srgbClr val="FF0000"/>
                </a:solidFill>
              </a:rPr>
              <a:t>没来得及写入数据库</a:t>
            </a:r>
            <a:endParaRPr lang="en-US" altLang="zh-CN" dirty="0">
              <a:solidFill>
                <a:srgbClr val="FF0000"/>
              </a:solidFill>
            </a:endParaRPr>
          </a:p>
          <a:p>
            <a:pPr lvl="1"/>
            <a:endParaRPr lang="zh-CN" altLang="en-US" sz="1600" dirty="0"/>
          </a:p>
          <a:p>
            <a:r>
              <a:rPr lang="zh-CN" altLang="en-US" dirty="0">
                <a:solidFill>
                  <a:srgbClr val="FF0000"/>
                </a:solidFill>
              </a:rPr>
              <a:t>恢复策略</a:t>
            </a:r>
          </a:p>
          <a:p>
            <a:pPr lvl="1"/>
            <a:r>
              <a:rPr lang="zh-CN" altLang="en-US" dirty="0">
                <a:solidFill>
                  <a:srgbClr val="FF0000"/>
                </a:solidFill>
              </a:rPr>
              <a:t>撤消（</a:t>
            </a:r>
            <a:r>
              <a:rPr lang="en-US" altLang="zh-CN" dirty="0">
                <a:solidFill>
                  <a:srgbClr val="FF0000"/>
                </a:solidFill>
              </a:rPr>
              <a:t>UNDO</a:t>
            </a:r>
            <a:r>
              <a:rPr lang="zh-CN" altLang="en-US" dirty="0">
                <a:solidFill>
                  <a:srgbClr val="FF0000"/>
                </a:solidFill>
              </a:rPr>
              <a:t>）</a:t>
            </a:r>
            <a:r>
              <a:rPr lang="zh-CN" altLang="en-US" dirty="0"/>
              <a:t>故障发生时</a:t>
            </a:r>
            <a:r>
              <a:rPr lang="zh-CN" altLang="en-US" dirty="0">
                <a:solidFill>
                  <a:srgbClr val="FF0000"/>
                </a:solidFill>
              </a:rPr>
              <a:t>未完成的事务</a:t>
            </a:r>
            <a:r>
              <a:rPr lang="zh-CN" altLang="en-US" dirty="0"/>
              <a:t>；</a:t>
            </a:r>
          </a:p>
          <a:p>
            <a:pPr lvl="1"/>
            <a:r>
              <a:rPr lang="zh-CN" altLang="en-US" dirty="0">
                <a:solidFill>
                  <a:srgbClr val="FF0000"/>
                </a:solidFill>
              </a:rPr>
              <a:t>重做（</a:t>
            </a:r>
            <a:r>
              <a:rPr lang="en-US" altLang="zh-CN" dirty="0">
                <a:solidFill>
                  <a:srgbClr val="FF0000"/>
                </a:solidFill>
              </a:rPr>
              <a:t>REDO</a:t>
            </a:r>
            <a:r>
              <a:rPr lang="zh-CN" altLang="en-US" dirty="0">
                <a:solidFill>
                  <a:srgbClr val="FF0000"/>
                </a:solidFill>
              </a:rPr>
              <a:t>）已完成的事务</a:t>
            </a:r>
            <a:endParaRPr lang="en-US" altLang="zh-CN" dirty="0">
              <a:solidFill>
                <a:srgbClr val="FF0000"/>
              </a:solidFill>
            </a:endParaRPr>
          </a:p>
          <a:p>
            <a:pPr lvl="1"/>
            <a:endParaRPr lang="zh-CN" altLang="en-US" sz="1600" dirty="0"/>
          </a:p>
          <a:p>
            <a:r>
              <a:rPr lang="zh-CN" altLang="en-US" dirty="0"/>
              <a:t>系统故障的恢复由</a:t>
            </a:r>
            <a:r>
              <a:rPr lang="zh-CN" altLang="en-US" dirty="0">
                <a:solidFill>
                  <a:srgbClr val="FF0000"/>
                </a:solidFill>
              </a:rPr>
              <a:t>系统在重新启动时自动完成</a:t>
            </a:r>
            <a:r>
              <a:rPr lang="zh-CN" altLang="en-US" dirty="0"/>
              <a:t>，对用户透明</a:t>
            </a:r>
          </a:p>
        </p:txBody>
      </p:sp>
      <p:sp>
        <p:nvSpPr>
          <p:cNvPr id="4" name="灯片编号占位符 3">
            <a:extLst>
              <a:ext uri="{FF2B5EF4-FFF2-40B4-BE49-F238E27FC236}">
                <a16:creationId xmlns:a16="http://schemas.microsoft.com/office/drawing/2014/main" id="{539C5A3D-A0C3-4CE2-9A24-5EFE5D5380B5}"/>
              </a:ext>
            </a:extLst>
          </p:cNvPr>
          <p:cNvSpPr>
            <a:spLocks noGrp="1"/>
          </p:cNvSpPr>
          <p:nvPr>
            <p:ph type="sldNum" sz="quarter" idx="12"/>
          </p:nvPr>
        </p:nvSpPr>
        <p:spPr/>
        <p:txBody>
          <a:bodyPr/>
          <a:lstStyle/>
          <a:p>
            <a:fld id="{E63F6D5D-9733-4D44-9C56-AEFEDD5A4BA7}" type="slidenum">
              <a:rPr lang="en-US" smtClean="0"/>
              <a:pPr/>
              <a:t>31</a:t>
            </a:fld>
            <a:endParaRPr lang="en-US" dirty="0"/>
          </a:p>
        </p:txBody>
      </p:sp>
    </p:spTree>
    <p:extLst>
      <p:ext uri="{BB962C8B-B14F-4D97-AF65-F5344CB8AC3E}">
        <p14:creationId xmlns:p14="http://schemas.microsoft.com/office/powerpoint/2010/main" val="9776134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A4A2F11-8D9B-47CC-9EC2-780072C0F006}"/>
              </a:ext>
            </a:extLst>
          </p:cNvPr>
          <p:cNvSpPr>
            <a:spLocks noGrp="1"/>
          </p:cNvSpPr>
          <p:nvPr>
            <p:ph idx="1"/>
          </p:nvPr>
        </p:nvSpPr>
        <p:spPr/>
        <p:txBody>
          <a:bodyPr>
            <a:normAutofit fontScale="70000" lnSpcReduction="20000"/>
          </a:bodyPr>
          <a:lstStyle/>
          <a:p>
            <a:pPr marL="282575" indent="-336550">
              <a:lnSpc>
                <a:spcPct val="130000"/>
              </a:lnSpc>
              <a:buFont typeface="+mj-lt"/>
              <a:buAutoNum type="arabicPeriod"/>
            </a:pPr>
            <a:r>
              <a:rPr lang="zh-CN" altLang="en-US" sz="3000" dirty="0">
                <a:solidFill>
                  <a:srgbClr val="FF0000"/>
                </a:solidFill>
              </a:rPr>
              <a:t>正向扫描日志文件</a:t>
            </a:r>
            <a:r>
              <a:rPr lang="en-US" altLang="zh-CN" sz="3000" dirty="0"/>
              <a:t>(</a:t>
            </a:r>
            <a:r>
              <a:rPr lang="zh-CN" altLang="en-US" sz="3000" dirty="0"/>
              <a:t>即从头向后扫描日志文件</a:t>
            </a:r>
            <a:r>
              <a:rPr lang="en-US" altLang="zh-CN" sz="3000" dirty="0"/>
              <a:t>)</a:t>
            </a:r>
            <a:r>
              <a:rPr lang="zh-CN" altLang="en-US" sz="3000" dirty="0"/>
              <a:t>，找出故障发生前</a:t>
            </a:r>
            <a:r>
              <a:rPr lang="zh-CN" altLang="en-US" sz="3000" dirty="0">
                <a:solidFill>
                  <a:srgbClr val="FF0000"/>
                </a:solidFill>
              </a:rPr>
              <a:t>已提交的事务</a:t>
            </a:r>
            <a:r>
              <a:rPr lang="en-US" altLang="zh-CN" sz="3000" dirty="0">
                <a:solidFill>
                  <a:srgbClr val="FF0000"/>
                </a:solidFill>
              </a:rPr>
              <a:t>(</a:t>
            </a:r>
            <a:r>
              <a:rPr lang="zh-CN" altLang="en-US" sz="3000" dirty="0">
                <a:solidFill>
                  <a:srgbClr val="FF0000"/>
                </a:solidFill>
              </a:rPr>
              <a:t>特征：既有</a:t>
            </a:r>
            <a:r>
              <a:rPr lang="en-US" altLang="zh-CN" sz="3000" dirty="0">
                <a:solidFill>
                  <a:srgbClr val="FF0000"/>
                </a:solidFill>
              </a:rPr>
              <a:t>BEGIN TRANSACTION</a:t>
            </a:r>
            <a:r>
              <a:rPr lang="zh-CN" altLang="en-US" sz="3000" dirty="0">
                <a:solidFill>
                  <a:srgbClr val="FF0000"/>
                </a:solidFill>
              </a:rPr>
              <a:t>记录，也有</a:t>
            </a:r>
            <a:r>
              <a:rPr lang="en-US" altLang="zh-CN" sz="3000" dirty="0">
                <a:solidFill>
                  <a:srgbClr val="FF0000"/>
                </a:solidFill>
              </a:rPr>
              <a:t>COMMIT</a:t>
            </a:r>
            <a:r>
              <a:rPr lang="zh-CN" altLang="en-US" sz="3000" dirty="0">
                <a:solidFill>
                  <a:srgbClr val="FF0000"/>
                </a:solidFill>
              </a:rPr>
              <a:t>记录</a:t>
            </a:r>
            <a:r>
              <a:rPr lang="en-US" altLang="zh-CN" sz="3000" dirty="0">
                <a:solidFill>
                  <a:srgbClr val="FF0000"/>
                </a:solidFill>
              </a:rPr>
              <a:t>)</a:t>
            </a:r>
            <a:r>
              <a:rPr lang="zh-CN" altLang="en-US" sz="3000" dirty="0"/>
              <a:t>，将其事务标识记入重做队列</a:t>
            </a:r>
            <a:r>
              <a:rPr lang="en-US" altLang="zh-CN" sz="3000" dirty="0">
                <a:solidFill>
                  <a:srgbClr val="FF0000"/>
                </a:solidFill>
              </a:rPr>
              <a:t>(REDO-LIST)</a:t>
            </a:r>
            <a:r>
              <a:rPr lang="zh-CN" altLang="en-US" sz="3000" dirty="0"/>
              <a:t>。同时找出故障发生时</a:t>
            </a:r>
            <a:r>
              <a:rPr lang="zh-CN" altLang="en-US" sz="3000" dirty="0">
                <a:solidFill>
                  <a:srgbClr val="FF0000"/>
                </a:solidFill>
              </a:rPr>
              <a:t>尚未完成的事务</a:t>
            </a:r>
            <a:r>
              <a:rPr lang="en-US" altLang="zh-CN" sz="3000" dirty="0">
                <a:solidFill>
                  <a:srgbClr val="FF0000"/>
                </a:solidFill>
              </a:rPr>
              <a:t>(</a:t>
            </a:r>
            <a:r>
              <a:rPr lang="zh-CN" altLang="en-US" sz="3000" dirty="0">
                <a:solidFill>
                  <a:srgbClr val="FF0000"/>
                </a:solidFill>
              </a:rPr>
              <a:t>特征：只有</a:t>
            </a:r>
            <a:r>
              <a:rPr lang="en-US" altLang="zh-CN" sz="3000" dirty="0">
                <a:solidFill>
                  <a:srgbClr val="FF0000"/>
                </a:solidFill>
              </a:rPr>
              <a:t>BEGIN TRANSACTION</a:t>
            </a:r>
            <a:r>
              <a:rPr lang="zh-CN" altLang="en-US" sz="3000" dirty="0">
                <a:solidFill>
                  <a:srgbClr val="FF0000"/>
                </a:solidFill>
              </a:rPr>
              <a:t>记录，无相应的</a:t>
            </a:r>
            <a:r>
              <a:rPr lang="en-US" altLang="zh-CN" sz="3000" dirty="0">
                <a:solidFill>
                  <a:srgbClr val="FF0000"/>
                </a:solidFill>
              </a:rPr>
              <a:t>COMMIT</a:t>
            </a:r>
            <a:r>
              <a:rPr lang="zh-CN" altLang="en-US" sz="3000" dirty="0">
                <a:solidFill>
                  <a:srgbClr val="FF0000"/>
                </a:solidFill>
              </a:rPr>
              <a:t>记录</a:t>
            </a:r>
            <a:r>
              <a:rPr lang="en-US" altLang="zh-CN" sz="3000" dirty="0">
                <a:solidFill>
                  <a:srgbClr val="FF0000"/>
                </a:solidFill>
              </a:rPr>
              <a:t>)</a:t>
            </a:r>
            <a:r>
              <a:rPr lang="zh-CN" altLang="en-US" sz="3000" dirty="0"/>
              <a:t>，将其事务标识记入撤销队列</a:t>
            </a:r>
            <a:r>
              <a:rPr lang="en-US" altLang="zh-CN" sz="3000" dirty="0">
                <a:solidFill>
                  <a:srgbClr val="FF0000"/>
                </a:solidFill>
              </a:rPr>
              <a:t>(UNDO-LIST)</a:t>
            </a:r>
          </a:p>
          <a:p>
            <a:pPr marL="0" indent="-53675">
              <a:lnSpc>
                <a:spcPct val="130000"/>
              </a:lnSpc>
              <a:buNone/>
            </a:pPr>
            <a:endParaRPr lang="zh-CN" altLang="en-US" sz="1300" dirty="0"/>
          </a:p>
          <a:p>
            <a:pPr marL="282575" indent="-336550">
              <a:lnSpc>
                <a:spcPct val="130000"/>
              </a:lnSpc>
              <a:buFont typeface="+mj-lt"/>
              <a:buAutoNum type="arabicPeriod" startAt="2"/>
            </a:pPr>
            <a:r>
              <a:rPr lang="zh-CN" altLang="en-US" sz="3000" dirty="0"/>
              <a:t>对</a:t>
            </a:r>
            <a:r>
              <a:rPr lang="zh-CN" altLang="en-US" sz="3000" dirty="0">
                <a:solidFill>
                  <a:srgbClr val="FF0000"/>
                </a:solidFill>
              </a:rPr>
              <a:t>撤销队列</a:t>
            </a:r>
            <a:r>
              <a:rPr lang="zh-CN" altLang="en-US" sz="3000" dirty="0"/>
              <a:t>中的各个事务进行</a:t>
            </a:r>
            <a:r>
              <a:rPr lang="zh-CN" altLang="en-US" sz="3000" dirty="0">
                <a:solidFill>
                  <a:srgbClr val="FF0000"/>
                </a:solidFill>
              </a:rPr>
              <a:t>撤销</a:t>
            </a:r>
            <a:r>
              <a:rPr lang="en-US" altLang="zh-CN" sz="3000" dirty="0">
                <a:solidFill>
                  <a:srgbClr val="FF0000"/>
                </a:solidFill>
              </a:rPr>
              <a:t>(UNDO)</a:t>
            </a:r>
            <a:r>
              <a:rPr lang="zh-CN" altLang="en-US" sz="3000" dirty="0">
                <a:solidFill>
                  <a:srgbClr val="FF0000"/>
                </a:solidFill>
              </a:rPr>
              <a:t>处理</a:t>
            </a:r>
            <a:endParaRPr lang="en-US" altLang="zh-CN" sz="3000" dirty="0">
              <a:solidFill>
                <a:srgbClr val="FF0000"/>
              </a:solidFill>
            </a:endParaRPr>
          </a:p>
          <a:p>
            <a:pPr marL="730250" indent="-268288">
              <a:lnSpc>
                <a:spcPct val="130000"/>
              </a:lnSpc>
              <a:tabLst>
                <a:tab pos="1163638" algn="l"/>
              </a:tabLst>
            </a:pPr>
            <a:r>
              <a:rPr lang="zh-CN" altLang="en-US" sz="2600" dirty="0"/>
              <a:t>反向扫描日志文件，对每个撤销事务的更新操作执行逆操作，即将日志文件中“更新后的值”写入数据库</a:t>
            </a:r>
            <a:endParaRPr lang="en-US" altLang="zh-CN" sz="2600" dirty="0"/>
          </a:p>
          <a:p>
            <a:pPr marL="461962" indent="0">
              <a:lnSpc>
                <a:spcPct val="130000"/>
              </a:lnSpc>
              <a:buNone/>
              <a:tabLst>
                <a:tab pos="1163638" algn="l"/>
              </a:tabLst>
            </a:pPr>
            <a:endParaRPr lang="en-US" altLang="zh-CN" sz="1300" dirty="0"/>
          </a:p>
          <a:p>
            <a:pPr marL="282575" indent="-336550">
              <a:lnSpc>
                <a:spcPct val="130000"/>
              </a:lnSpc>
              <a:buFont typeface="+mj-lt"/>
              <a:buAutoNum type="arabicPeriod" startAt="3"/>
            </a:pPr>
            <a:r>
              <a:rPr lang="zh-CN" altLang="en-US" dirty="0"/>
              <a:t>对</a:t>
            </a:r>
            <a:r>
              <a:rPr lang="zh-CN" altLang="en-US" dirty="0">
                <a:solidFill>
                  <a:srgbClr val="FF0000"/>
                </a:solidFill>
              </a:rPr>
              <a:t>重做队列</a:t>
            </a:r>
            <a:r>
              <a:rPr lang="zh-CN" altLang="en-US" dirty="0"/>
              <a:t>中的各个事务进行</a:t>
            </a:r>
            <a:r>
              <a:rPr lang="zh-CN" altLang="en-US" dirty="0">
                <a:solidFill>
                  <a:srgbClr val="FF0000"/>
                </a:solidFill>
              </a:rPr>
              <a:t>重做处理</a:t>
            </a:r>
            <a:endParaRPr lang="en-US" altLang="zh-CN" dirty="0">
              <a:solidFill>
                <a:srgbClr val="FF0000"/>
              </a:solidFill>
            </a:endParaRPr>
          </a:p>
          <a:p>
            <a:pPr marL="730250" indent="-268288">
              <a:lnSpc>
                <a:spcPct val="130000"/>
              </a:lnSpc>
              <a:tabLst>
                <a:tab pos="1163638" algn="l"/>
              </a:tabLst>
            </a:pPr>
            <a:r>
              <a:rPr lang="zh-CN" altLang="en-US" sz="2600" dirty="0">
                <a:solidFill>
                  <a:prstClr val="black"/>
                </a:solidFill>
              </a:rPr>
              <a:t>正向扫描日志文件，对每个重做事务重新执行日志文件登记的操作，即将日志文件中“更新后的值”写入数据库</a:t>
            </a:r>
            <a:endParaRPr lang="zh-CN" altLang="en-US" sz="2600" dirty="0"/>
          </a:p>
          <a:p>
            <a:pPr marL="803575" lvl="1" indent="-514350">
              <a:lnSpc>
                <a:spcPct val="130000"/>
              </a:lnSpc>
              <a:buFont typeface="+mj-lt"/>
              <a:buAutoNum type="arabicPeriod"/>
            </a:pPr>
            <a:endParaRPr lang="en-US" altLang="zh-CN" dirty="0"/>
          </a:p>
        </p:txBody>
      </p:sp>
      <p:sp>
        <p:nvSpPr>
          <p:cNvPr id="4" name="灯片编号占位符 3">
            <a:extLst>
              <a:ext uri="{FF2B5EF4-FFF2-40B4-BE49-F238E27FC236}">
                <a16:creationId xmlns:a16="http://schemas.microsoft.com/office/drawing/2014/main" id="{BA88171F-CD15-4804-AFF2-D966CDD42763}"/>
              </a:ext>
            </a:extLst>
          </p:cNvPr>
          <p:cNvSpPr>
            <a:spLocks noGrp="1"/>
          </p:cNvSpPr>
          <p:nvPr>
            <p:ph type="sldNum" sz="quarter" idx="12"/>
          </p:nvPr>
        </p:nvSpPr>
        <p:spPr/>
        <p:txBody>
          <a:bodyPr/>
          <a:lstStyle/>
          <a:p>
            <a:fld id="{E63F6D5D-9733-4D44-9C56-AEFEDD5A4BA7}" type="slidenum">
              <a:rPr lang="en-US" smtClean="0"/>
              <a:pPr/>
              <a:t>32</a:t>
            </a:fld>
            <a:endParaRPr lang="en-US" dirty="0"/>
          </a:p>
        </p:txBody>
      </p:sp>
      <p:sp>
        <p:nvSpPr>
          <p:cNvPr id="5" name="标题 1">
            <a:extLst>
              <a:ext uri="{FF2B5EF4-FFF2-40B4-BE49-F238E27FC236}">
                <a16:creationId xmlns:a16="http://schemas.microsoft.com/office/drawing/2014/main" id="{D8795883-D7EF-45C3-8E91-E888AA4939F1}"/>
              </a:ext>
            </a:extLst>
          </p:cNvPr>
          <p:cNvSpPr>
            <a:spLocks noGrp="1"/>
          </p:cNvSpPr>
          <p:nvPr>
            <p:ph type="title"/>
          </p:nvPr>
        </p:nvSpPr>
        <p:spPr>
          <a:xfrm>
            <a:off x="1281113" y="238125"/>
            <a:ext cx="9553575" cy="512763"/>
          </a:xfrm>
        </p:spPr>
        <p:txBody>
          <a:bodyPr/>
          <a:lstStyle/>
          <a:p>
            <a:r>
              <a:rPr lang="en-US" altLang="zh-CN" dirty="0"/>
              <a:t>2. </a:t>
            </a:r>
            <a:r>
              <a:rPr lang="zh-CN" altLang="en-US" dirty="0"/>
              <a:t>系统故障的恢复</a:t>
            </a:r>
          </a:p>
        </p:txBody>
      </p:sp>
    </p:spTree>
    <p:extLst>
      <p:ext uri="{BB962C8B-B14F-4D97-AF65-F5344CB8AC3E}">
        <p14:creationId xmlns:p14="http://schemas.microsoft.com/office/powerpoint/2010/main" val="40107007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63D0BA-695D-42C2-99C6-4DCC39994F0C}"/>
              </a:ext>
            </a:extLst>
          </p:cNvPr>
          <p:cNvSpPr>
            <a:spLocks noGrp="1"/>
          </p:cNvSpPr>
          <p:nvPr>
            <p:ph type="title"/>
          </p:nvPr>
        </p:nvSpPr>
        <p:spPr/>
        <p:txBody>
          <a:bodyPr/>
          <a:lstStyle/>
          <a:p>
            <a:r>
              <a:rPr lang="en-US" altLang="zh-CN" dirty="0"/>
              <a:t>3. </a:t>
            </a:r>
            <a:r>
              <a:rPr lang="zh-CN" altLang="en-US" dirty="0"/>
              <a:t>介质故障的恢复</a:t>
            </a:r>
          </a:p>
        </p:txBody>
      </p:sp>
      <p:sp>
        <p:nvSpPr>
          <p:cNvPr id="3" name="内容占位符 2">
            <a:extLst>
              <a:ext uri="{FF2B5EF4-FFF2-40B4-BE49-F238E27FC236}">
                <a16:creationId xmlns:a16="http://schemas.microsoft.com/office/drawing/2014/main" id="{6BE25BD4-C3EA-49C5-8628-9CA36887F4FC}"/>
              </a:ext>
            </a:extLst>
          </p:cNvPr>
          <p:cNvSpPr>
            <a:spLocks noGrp="1"/>
          </p:cNvSpPr>
          <p:nvPr>
            <p:ph idx="1"/>
          </p:nvPr>
        </p:nvSpPr>
        <p:spPr/>
        <p:txBody>
          <a:bodyPr/>
          <a:lstStyle/>
          <a:p>
            <a:r>
              <a:rPr lang="zh-CN" altLang="en-US" dirty="0"/>
              <a:t>发生介质故障后，磁盘上的物理数据和日志文件被破坏，这是最严重的一种故障。</a:t>
            </a:r>
            <a:endParaRPr lang="en-US" altLang="zh-CN" dirty="0"/>
          </a:p>
          <a:p>
            <a:endParaRPr lang="en-US" altLang="zh-CN" sz="1400" dirty="0"/>
          </a:p>
          <a:p>
            <a:r>
              <a:rPr lang="zh-CN" altLang="en-US" dirty="0">
                <a:solidFill>
                  <a:srgbClr val="FF0000"/>
                </a:solidFill>
              </a:rPr>
              <a:t>恢复策略</a:t>
            </a:r>
            <a:endParaRPr lang="en-US" altLang="zh-CN" dirty="0">
              <a:solidFill>
                <a:srgbClr val="FF0000"/>
              </a:solidFill>
            </a:endParaRPr>
          </a:p>
          <a:p>
            <a:pPr lvl="1"/>
            <a:r>
              <a:rPr lang="zh-CN" altLang="en-US" dirty="0"/>
              <a:t>重装数据库，然后重做已完成的事务。</a:t>
            </a:r>
            <a:endParaRPr lang="en-US" altLang="zh-CN" dirty="0"/>
          </a:p>
          <a:p>
            <a:pPr lvl="1"/>
            <a:endParaRPr lang="en-US" altLang="zh-CN" sz="1600" dirty="0"/>
          </a:p>
          <a:p>
            <a:r>
              <a:rPr lang="zh-CN" altLang="en-US" dirty="0"/>
              <a:t>介质故障的恢复</a:t>
            </a:r>
            <a:r>
              <a:rPr lang="zh-CN" altLang="en-US" dirty="0">
                <a:solidFill>
                  <a:srgbClr val="FF0000"/>
                </a:solidFill>
              </a:rPr>
              <a:t>需要</a:t>
            </a:r>
            <a:r>
              <a:rPr lang="en-US" altLang="zh-CN" dirty="0">
                <a:solidFill>
                  <a:srgbClr val="FF0000"/>
                </a:solidFill>
              </a:rPr>
              <a:t>DBA</a:t>
            </a:r>
            <a:r>
              <a:rPr lang="zh-CN" altLang="en-US" dirty="0">
                <a:solidFill>
                  <a:srgbClr val="FF0000"/>
                </a:solidFill>
              </a:rPr>
              <a:t>介入</a:t>
            </a:r>
            <a:endParaRPr lang="en-US" altLang="zh-CN" dirty="0">
              <a:solidFill>
                <a:srgbClr val="FF0000"/>
              </a:solidFill>
            </a:endParaRPr>
          </a:p>
          <a:p>
            <a:pPr lvl="1"/>
            <a:r>
              <a:rPr lang="en-US" altLang="zh-CN" dirty="0"/>
              <a:t>DBA</a:t>
            </a:r>
            <a:r>
              <a:rPr lang="zh-CN" altLang="en-US" dirty="0"/>
              <a:t>只需要重装最近转储的数据库副本和有关的各日志文件副本，然后执行系统提供恢复命令即可，具体的恢复操作仍由</a:t>
            </a:r>
            <a:r>
              <a:rPr lang="en-US" altLang="zh-CN" dirty="0"/>
              <a:t>DBMS</a:t>
            </a:r>
            <a:r>
              <a:rPr lang="zh-CN" altLang="en-US" dirty="0"/>
              <a:t>完成。</a:t>
            </a:r>
          </a:p>
        </p:txBody>
      </p:sp>
      <p:sp>
        <p:nvSpPr>
          <p:cNvPr id="4" name="灯片编号占位符 3">
            <a:extLst>
              <a:ext uri="{FF2B5EF4-FFF2-40B4-BE49-F238E27FC236}">
                <a16:creationId xmlns:a16="http://schemas.microsoft.com/office/drawing/2014/main" id="{EF0F01D7-F260-48DE-B06C-9BE5B10A3A04}"/>
              </a:ext>
            </a:extLst>
          </p:cNvPr>
          <p:cNvSpPr>
            <a:spLocks noGrp="1"/>
          </p:cNvSpPr>
          <p:nvPr>
            <p:ph type="sldNum" sz="quarter" idx="12"/>
          </p:nvPr>
        </p:nvSpPr>
        <p:spPr/>
        <p:txBody>
          <a:bodyPr/>
          <a:lstStyle/>
          <a:p>
            <a:fld id="{E63F6D5D-9733-4D44-9C56-AEFEDD5A4BA7}" type="slidenum">
              <a:rPr lang="en-US" smtClean="0"/>
              <a:pPr/>
              <a:t>33</a:t>
            </a:fld>
            <a:endParaRPr lang="en-US" dirty="0"/>
          </a:p>
        </p:txBody>
      </p:sp>
    </p:spTree>
    <p:extLst>
      <p:ext uri="{BB962C8B-B14F-4D97-AF65-F5344CB8AC3E}">
        <p14:creationId xmlns:p14="http://schemas.microsoft.com/office/powerpoint/2010/main" val="8093472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C372CDB-EF48-4E38-8BBB-90D3695DD20F}"/>
              </a:ext>
            </a:extLst>
          </p:cNvPr>
          <p:cNvSpPr>
            <a:spLocks noGrp="1"/>
          </p:cNvSpPr>
          <p:nvPr>
            <p:ph idx="1"/>
          </p:nvPr>
        </p:nvSpPr>
        <p:spPr/>
        <p:txBody>
          <a:bodyPr>
            <a:normAutofit lnSpcReduction="10000"/>
          </a:bodyPr>
          <a:lstStyle/>
          <a:p>
            <a:pPr marL="471487" indent="-457200">
              <a:buFont typeface="+mj-lt"/>
              <a:buAutoNum type="arabicPeriod"/>
            </a:pPr>
            <a:r>
              <a:rPr lang="zh-CN" altLang="en-US" dirty="0">
                <a:solidFill>
                  <a:srgbClr val="0000FF"/>
                </a:solidFill>
              </a:rPr>
              <a:t>装入最新的数据库后备副本</a:t>
            </a:r>
            <a:r>
              <a:rPr lang="en-US" altLang="zh-CN" dirty="0">
                <a:solidFill>
                  <a:srgbClr val="FF0000"/>
                </a:solidFill>
              </a:rPr>
              <a:t>(</a:t>
            </a:r>
            <a:r>
              <a:rPr lang="zh-CN" altLang="en-US" dirty="0">
                <a:solidFill>
                  <a:srgbClr val="D60093"/>
                </a:solidFill>
              </a:rPr>
              <a:t>离故障发生时刻最近的转储副本</a:t>
            </a:r>
            <a:r>
              <a:rPr lang="en-US" altLang="zh-CN" dirty="0">
                <a:solidFill>
                  <a:srgbClr val="D60093"/>
                </a:solidFill>
              </a:rPr>
              <a:t>)</a:t>
            </a:r>
            <a:r>
              <a:rPr lang="zh-CN" altLang="en-US" dirty="0"/>
              <a:t>，</a:t>
            </a:r>
            <a:r>
              <a:rPr lang="zh-CN" altLang="en-US" dirty="0">
                <a:solidFill>
                  <a:srgbClr val="0000FF"/>
                </a:solidFill>
              </a:rPr>
              <a:t>使数据库恢复到最近一次转储时的一致性状态。</a:t>
            </a:r>
            <a:endParaRPr lang="en-US" altLang="zh-CN" dirty="0">
              <a:solidFill>
                <a:srgbClr val="0000FF"/>
              </a:solidFill>
            </a:endParaRPr>
          </a:p>
          <a:p>
            <a:pPr marL="641350" lvl="1" indent="-179388"/>
            <a:r>
              <a:rPr lang="zh-CN" altLang="en-US" dirty="0"/>
              <a:t>对静态转储的数据库副本，装入后数据库即处于一致性状态。</a:t>
            </a:r>
            <a:endParaRPr lang="en-US" altLang="zh-CN" dirty="0"/>
          </a:p>
          <a:p>
            <a:pPr marL="641350" lvl="1" indent="-179388"/>
            <a:r>
              <a:rPr lang="zh-CN" altLang="en-US" dirty="0"/>
              <a:t>对于动态转储的数据库副本，还须同时装入转储时刻的日志文件副本，利用恢复系统故障的方法（即</a:t>
            </a:r>
            <a:r>
              <a:rPr lang="en-US" altLang="zh-CN" dirty="0"/>
              <a:t>REDO+UNDO</a:t>
            </a:r>
            <a:r>
              <a:rPr lang="zh-CN" altLang="en-US" dirty="0"/>
              <a:t>），才能将数据库恢复到一致性状态。</a:t>
            </a:r>
            <a:endParaRPr lang="en-US" altLang="zh-CN" dirty="0"/>
          </a:p>
          <a:p>
            <a:pPr lvl="1"/>
            <a:endParaRPr lang="en-US" altLang="zh-CN" sz="1700" dirty="0"/>
          </a:p>
          <a:p>
            <a:pPr marL="471487" indent="-457200">
              <a:buFont typeface="+mj-lt"/>
              <a:buAutoNum type="arabicPeriod"/>
            </a:pPr>
            <a:r>
              <a:rPr lang="zh-CN" altLang="en-US" dirty="0">
                <a:solidFill>
                  <a:srgbClr val="D60093"/>
                </a:solidFill>
              </a:rPr>
              <a:t>装入相应的日志文件副本（转储结束时刻的日志文件副本），重做已完成的事务</a:t>
            </a:r>
            <a:r>
              <a:rPr lang="zh-CN" altLang="en-US" dirty="0"/>
              <a:t>。</a:t>
            </a:r>
            <a:endParaRPr lang="en-US" altLang="zh-CN" dirty="0"/>
          </a:p>
          <a:p>
            <a:pPr marL="641350" lvl="1" indent="-179388"/>
            <a:r>
              <a:rPr lang="zh-CN" altLang="en-US" dirty="0"/>
              <a:t>即首先扫描日志文件，找出故障发生时已提交的事务的标识，将其记入重做队列；然后正向扫描日志文件，对重做队列中的所有事务进行重做处理，即将日志记录中“更新后的值”写入数据库。</a:t>
            </a:r>
            <a:endParaRPr lang="en-US" altLang="zh-CN" dirty="0"/>
          </a:p>
        </p:txBody>
      </p:sp>
      <p:sp>
        <p:nvSpPr>
          <p:cNvPr id="4" name="灯片编号占位符 3">
            <a:extLst>
              <a:ext uri="{FF2B5EF4-FFF2-40B4-BE49-F238E27FC236}">
                <a16:creationId xmlns:a16="http://schemas.microsoft.com/office/drawing/2014/main" id="{5D2E6EE9-7FEB-4AE3-AE6B-3DE470B31AF5}"/>
              </a:ext>
            </a:extLst>
          </p:cNvPr>
          <p:cNvSpPr>
            <a:spLocks noGrp="1"/>
          </p:cNvSpPr>
          <p:nvPr>
            <p:ph type="sldNum" sz="quarter" idx="12"/>
          </p:nvPr>
        </p:nvSpPr>
        <p:spPr/>
        <p:txBody>
          <a:bodyPr/>
          <a:lstStyle/>
          <a:p>
            <a:fld id="{E63F6D5D-9733-4D44-9C56-AEFEDD5A4BA7}" type="slidenum">
              <a:rPr lang="en-US" smtClean="0"/>
              <a:pPr/>
              <a:t>34</a:t>
            </a:fld>
            <a:endParaRPr lang="en-US" dirty="0"/>
          </a:p>
        </p:txBody>
      </p:sp>
      <p:sp>
        <p:nvSpPr>
          <p:cNvPr id="5" name="标题 1">
            <a:extLst>
              <a:ext uri="{FF2B5EF4-FFF2-40B4-BE49-F238E27FC236}">
                <a16:creationId xmlns:a16="http://schemas.microsoft.com/office/drawing/2014/main" id="{863D8211-B78D-4D68-A196-9BAD57D50F52}"/>
              </a:ext>
            </a:extLst>
          </p:cNvPr>
          <p:cNvSpPr>
            <a:spLocks noGrp="1"/>
          </p:cNvSpPr>
          <p:nvPr>
            <p:ph type="title"/>
          </p:nvPr>
        </p:nvSpPr>
        <p:spPr>
          <a:xfrm>
            <a:off x="1281113" y="238125"/>
            <a:ext cx="9553575" cy="512763"/>
          </a:xfrm>
        </p:spPr>
        <p:txBody>
          <a:bodyPr/>
          <a:lstStyle/>
          <a:p>
            <a:r>
              <a:rPr lang="en-US" altLang="zh-CN" dirty="0"/>
              <a:t>3. </a:t>
            </a:r>
            <a:r>
              <a:rPr lang="zh-CN" altLang="en-US" dirty="0"/>
              <a:t>介质故障的恢复</a:t>
            </a:r>
          </a:p>
        </p:txBody>
      </p:sp>
    </p:spTree>
    <p:extLst>
      <p:ext uri="{BB962C8B-B14F-4D97-AF65-F5344CB8AC3E}">
        <p14:creationId xmlns:p14="http://schemas.microsoft.com/office/powerpoint/2010/main" val="18302390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D11E4-01C0-4A96-9708-1E2099A05A34}"/>
              </a:ext>
            </a:extLst>
          </p:cNvPr>
          <p:cNvSpPr>
            <a:spLocks noGrp="1"/>
          </p:cNvSpPr>
          <p:nvPr>
            <p:ph type="title"/>
          </p:nvPr>
        </p:nvSpPr>
        <p:spPr/>
        <p:txBody>
          <a:bodyPr/>
          <a:lstStyle/>
          <a:p>
            <a:r>
              <a:rPr lang="en-US" altLang="zh-CN" dirty="0"/>
              <a:t>10.6 </a:t>
            </a:r>
            <a:r>
              <a:rPr lang="zh-CN" altLang="en-US" dirty="0"/>
              <a:t>具有检查点的恢复技术</a:t>
            </a:r>
          </a:p>
        </p:txBody>
      </p:sp>
      <p:sp>
        <p:nvSpPr>
          <p:cNvPr id="3" name="内容占位符 2">
            <a:extLst>
              <a:ext uri="{FF2B5EF4-FFF2-40B4-BE49-F238E27FC236}">
                <a16:creationId xmlns:a16="http://schemas.microsoft.com/office/drawing/2014/main" id="{C87296F0-3540-40A9-974B-56D30E6BF5F1}"/>
              </a:ext>
            </a:extLst>
          </p:cNvPr>
          <p:cNvSpPr>
            <a:spLocks noGrp="1"/>
          </p:cNvSpPr>
          <p:nvPr>
            <p:ph idx="1"/>
          </p:nvPr>
        </p:nvSpPr>
        <p:spPr/>
        <p:txBody>
          <a:bodyPr>
            <a:normAutofit/>
          </a:bodyPr>
          <a:lstStyle/>
          <a:p>
            <a:r>
              <a:rPr lang="zh-CN" altLang="en-US"/>
              <a:t>利用日志技术进行数据库恢复时，恢复子系统必须搜索日志，确定哪些事务需要重做，哪些事务需要撤销。</a:t>
            </a:r>
            <a:endParaRPr lang="en-US" altLang="zh-CN"/>
          </a:p>
          <a:p>
            <a:pPr marL="0" indent="0">
              <a:buNone/>
            </a:pPr>
            <a:endParaRPr lang="en-US" altLang="zh-CN" sz="1300"/>
          </a:p>
          <a:p>
            <a:r>
              <a:rPr lang="zh-CN" altLang="en-US"/>
              <a:t>搜索过程中</a:t>
            </a:r>
            <a:r>
              <a:rPr lang="zh-CN" altLang="en-US">
                <a:solidFill>
                  <a:srgbClr val="FF0000"/>
                </a:solidFill>
              </a:rPr>
              <a:t>存在两个问题：</a:t>
            </a:r>
            <a:endParaRPr lang="en-US" altLang="zh-CN">
              <a:solidFill>
                <a:srgbClr val="FF0000"/>
              </a:solidFill>
            </a:endParaRPr>
          </a:p>
          <a:p>
            <a:pPr marL="814387" lvl="1" indent="-457200">
              <a:buFont typeface="+mj-lt"/>
              <a:buAutoNum type="arabicPeriod"/>
            </a:pPr>
            <a:r>
              <a:rPr lang="zh-CN" altLang="en-US"/>
              <a:t>搜索整个日志将耗费大量的时间；</a:t>
            </a:r>
            <a:endParaRPr lang="en-US" altLang="zh-CN"/>
          </a:p>
          <a:p>
            <a:pPr marL="814387" lvl="1" indent="-457200">
              <a:buFont typeface="+mj-lt"/>
              <a:buAutoNum type="arabicPeriod"/>
            </a:pPr>
            <a:r>
              <a:rPr lang="zh-CN" altLang="en-US"/>
              <a:t>重做处理：重新执行，浪费了大量时间</a:t>
            </a:r>
            <a:endParaRPr lang="en-US" altLang="zh-CN"/>
          </a:p>
          <a:p>
            <a:pPr marL="357187" lvl="1" indent="0">
              <a:buNone/>
            </a:pPr>
            <a:endParaRPr lang="zh-CN" altLang="en-US" sz="1200"/>
          </a:p>
          <a:p>
            <a:r>
              <a:rPr lang="zh-CN" altLang="en-US">
                <a:solidFill>
                  <a:srgbClr val="0000FF"/>
                </a:solidFill>
              </a:rPr>
              <a:t>解决方案：</a:t>
            </a:r>
            <a:r>
              <a:rPr lang="zh-CN" altLang="en-US">
                <a:solidFill>
                  <a:srgbClr val="FF0000"/>
                </a:solidFill>
              </a:rPr>
              <a:t>具有检查点的恢复技术</a:t>
            </a:r>
            <a:endParaRPr lang="en-US" altLang="zh-CN">
              <a:solidFill>
                <a:srgbClr val="FF0000"/>
              </a:solidFill>
            </a:endParaRPr>
          </a:p>
          <a:p>
            <a:pPr lvl="1"/>
            <a:r>
              <a:rPr lang="zh-CN" altLang="en-US"/>
              <a:t>在日志记录中增加</a:t>
            </a:r>
            <a:r>
              <a:rPr lang="zh-CN" altLang="en-US">
                <a:solidFill>
                  <a:srgbClr val="0000FF"/>
                </a:solidFill>
              </a:rPr>
              <a:t>检查点</a:t>
            </a:r>
            <a:r>
              <a:rPr lang="en-US" altLang="zh-CN">
                <a:solidFill>
                  <a:srgbClr val="0000FF"/>
                </a:solidFill>
              </a:rPr>
              <a:t>(checkpoint)</a:t>
            </a:r>
            <a:r>
              <a:rPr lang="zh-CN" altLang="en-US"/>
              <a:t>记录</a:t>
            </a:r>
            <a:endParaRPr lang="en-US" altLang="zh-CN"/>
          </a:p>
          <a:p>
            <a:pPr lvl="1"/>
            <a:r>
              <a:rPr lang="zh-CN" altLang="en-US"/>
              <a:t>增加重新开始文件</a:t>
            </a:r>
          </a:p>
          <a:p>
            <a:pPr lvl="1"/>
            <a:r>
              <a:rPr lang="zh-CN" altLang="en-US"/>
              <a:t>恢复子系统在登录日志文件期间动态地维护日志</a:t>
            </a:r>
          </a:p>
        </p:txBody>
      </p:sp>
      <p:sp>
        <p:nvSpPr>
          <p:cNvPr id="4" name="灯片编号占位符 3">
            <a:extLst>
              <a:ext uri="{FF2B5EF4-FFF2-40B4-BE49-F238E27FC236}">
                <a16:creationId xmlns:a16="http://schemas.microsoft.com/office/drawing/2014/main" id="{D13C757B-7F6A-419C-936D-53465BD35B97}"/>
              </a:ext>
            </a:extLst>
          </p:cNvPr>
          <p:cNvSpPr>
            <a:spLocks noGrp="1"/>
          </p:cNvSpPr>
          <p:nvPr>
            <p:ph type="sldNum" sz="quarter" idx="12"/>
          </p:nvPr>
        </p:nvSpPr>
        <p:spPr/>
        <p:txBody>
          <a:bodyPr/>
          <a:lstStyle/>
          <a:p>
            <a:fld id="{E63F6D5D-9733-4D44-9C56-AEFEDD5A4BA7}" type="slidenum">
              <a:rPr lang="en-US" smtClean="0"/>
              <a:pPr/>
              <a:t>35</a:t>
            </a:fld>
            <a:endParaRPr lang="en-US" dirty="0"/>
          </a:p>
        </p:txBody>
      </p:sp>
    </p:spTree>
    <p:extLst>
      <p:ext uri="{BB962C8B-B14F-4D97-AF65-F5344CB8AC3E}">
        <p14:creationId xmlns:p14="http://schemas.microsoft.com/office/powerpoint/2010/main" val="5905048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C5485B4-4898-4F56-B9F6-4833F64796C1}"/>
              </a:ext>
            </a:extLst>
          </p:cNvPr>
          <p:cNvSpPr>
            <a:spLocks noGrp="1"/>
          </p:cNvSpPr>
          <p:nvPr>
            <p:ph idx="1"/>
          </p:nvPr>
        </p:nvSpPr>
        <p:spPr/>
        <p:txBody>
          <a:bodyPr/>
          <a:lstStyle/>
          <a:p>
            <a:pPr>
              <a:lnSpc>
                <a:spcPct val="100000"/>
              </a:lnSpc>
            </a:pPr>
            <a:r>
              <a:rPr lang="zh-CN" altLang="en-US" sz="2800" dirty="0">
                <a:solidFill>
                  <a:srgbClr val="FF0000"/>
                </a:solidFill>
              </a:rPr>
              <a:t>检查点记录的内容</a:t>
            </a:r>
            <a:endParaRPr lang="en-US" altLang="zh-CN" sz="2800" dirty="0">
              <a:solidFill>
                <a:srgbClr val="FF0000"/>
              </a:solidFill>
            </a:endParaRPr>
          </a:p>
          <a:p>
            <a:pPr lvl="1">
              <a:lnSpc>
                <a:spcPct val="100000"/>
              </a:lnSpc>
            </a:pPr>
            <a:r>
              <a:rPr lang="zh-CN" altLang="en-US" sz="2400" dirty="0">
                <a:solidFill>
                  <a:srgbClr val="0000FF"/>
                </a:solidFill>
              </a:rPr>
              <a:t>建立检查点时刻所有正在执行的事务清单</a:t>
            </a:r>
            <a:endParaRPr lang="en-US" altLang="zh-CN" sz="2400" dirty="0">
              <a:solidFill>
                <a:srgbClr val="0000FF"/>
              </a:solidFill>
            </a:endParaRPr>
          </a:p>
          <a:p>
            <a:pPr lvl="1">
              <a:lnSpc>
                <a:spcPct val="100000"/>
              </a:lnSpc>
            </a:pPr>
            <a:r>
              <a:rPr lang="zh-CN" altLang="en-US" sz="2400" dirty="0">
                <a:solidFill>
                  <a:srgbClr val="0000FF"/>
                </a:solidFill>
              </a:rPr>
              <a:t>这些事务最近一个日志记录的地址</a:t>
            </a:r>
            <a:endParaRPr lang="en-US" altLang="zh-CN" sz="2400" dirty="0">
              <a:solidFill>
                <a:srgbClr val="0000FF"/>
              </a:solidFill>
            </a:endParaRPr>
          </a:p>
          <a:p>
            <a:pPr>
              <a:lnSpc>
                <a:spcPct val="100000"/>
              </a:lnSpc>
            </a:pPr>
            <a:r>
              <a:rPr lang="zh-CN" altLang="en-US" sz="2800" dirty="0">
                <a:solidFill>
                  <a:srgbClr val="FF0000"/>
                </a:solidFill>
              </a:rPr>
              <a:t>重新开始文件</a:t>
            </a:r>
            <a:endParaRPr lang="en-US" altLang="zh-CN" sz="2800" dirty="0">
              <a:solidFill>
                <a:srgbClr val="FF0000"/>
              </a:solidFill>
            </a:endParaRPr>
          </a:p>
          <a:p>
            <a:pPr lvl="1">
              <a:lnSpc>
                <a:spcPct val="100000"/>
              </a:lnSpc>
            </a:pPr>
            <a:r>
              <a:rPr lang="zh-CN" altLang="en-US" sz="2400" dirty="0">
                <a:solidFill>
                  <a:srgbClr val="0000FF"/>
                </a:solidFill>
              </a:rPr>
              <a:t>重新开始文件用来记录各个检查点记录在日志文件中的地址</a:t>
            </a:r>
          </a:p>
          <a:p>
            <a:endParaRPr lang="zh-CN" altLang="en-US" dirty="0"/>
          </a:p>
        </p:txBody>
      </p:sp>
      <p:sp>
        <p:nvSpPr>
          <p:cNvPr id="4" name="灯片编号占位符 3">
            <a:extLst>
              <a:ext uri="{FF2B5EF4-FFF2-40B4-BE49-F238E27FC236}">
                <a16:creationId xmlns:a16="http://schemas.microsoft.com/office/drawing/2014/main" id="{66BF6E8E-154C-4E64-A1AE-FA21DEB95457}"/>
              </a:ext>
            </a:extLst>
          </p:cNvPr>
          <p:cNvSpPr>
            <a:spLocks noGrp="1"/>
          </p:cNvSpPr>
          <p:nvPr>
            <p:ph type="sldNum" sz="quarter" idx="12"/>
          </p:nvPr>
        </p:nvSpPr>
        <p:spPr/>
        <p:txBody>
          <a:bodyPr/>
          <a:lstStyle/>
          <a:p>
            <a:fld id="{E63F6D5D-9733-4D44-9C56-AEFEDD5A4BA7}" type="slidenum">
              <a:rPr lang="en-US" smtClean="0"/>
              <a:pPr/>
              <a:t>36</a:t>
            </a:fld>
            <a:endParaRPr lang="en-US" dirty="0"/>
          </a:p>
        </p:txBody>
      </p:sp>
      <p:pic>
        <p:nvPicPr>
          <p:cNvPr id="5" name="Picture 5" descr="103">
            <a:extLst>
              <a:ext uri="{FF2B5EF4-FFF2-40B4-BE49-F238E27FC236}">
                <a16:creationId xmlns:a16="http://schemas.microsoft.com/office/drawing/2014/main" id="{A3C615B8-7A5E-48D7-91B4-4308801722A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90191" y="3666996"/>
            <a:ext cx="6344392" cy="275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1">
            <a:extLst>
              <a:ext uri="{FF2B5EF4-FFF2-40B4-BE49-F238E27FC236}">
                <a16:creationId xmlns:a16="http://schemas.microsoft.com/office/drawing/2014/main" id="{0A351D81-65CE-425E-BDAD-EC490907EB28}"/>
              </a:ext>
            </a:extLst>
          </p:cNvPr>
          <p:cNvSpPr>
            <a:spLocks noGrp="1"/>
          </p:cNvSpPr>
          <p:nvPr>
            <p:ph type="title"/>
          </p:nvPr>
        </p:nvSpPr>
        <p:spPr>
          <a:xfrm>
            <a:off x="1281113" y="238125"/>
            <a:ext cx="9553575" cy="512763"/>
          </a:xfrm>
        </p:spPr>
        <p:txBody>
          <a:bodyPr/>
          <a:lstStyle/>
          <a:p>
            <a:r>
              <a:rPr lang="en-US" altLang="zh-CN" dirty="0"/>
              <a:t>10.6 </a:t>
            </a:r>
            <a:r>
              <a:rPr lang="zh-CN" altLang="en-US" dirty="0"/>
              <a:t>具有检查点的恢复技术</a:t>
            </a:r>
          </a:p>
        </p:txBody>
      </p:sp>
    </p:spTree>
    <p:extLst>
      <p:ext uri="{BB962C8B-B14F-4D97-AF65-F5344CB8AC3E}">
        <p14:creationId xmlns:p14="http://schemas.microsoft.com/office/powerpoint/2010/main" val="2557068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AF40A3A-E237-4772-989C-F677D9BEE89B}"/>
              </a:ext>
            </a:extLst>
          </p:cNvPr>
          <p:cNvSpPr>
            <a:spLocks noGrp="1"/>
          </p:cNvSpPr>
          <p:nvPr>
            <p:ph idx="1"/>
          </p:nvPr>
        </p:nvSpPr>
        <p:spPr/>
        <p:txBody>
          <a:bodyPr>
            <a:normAutofit lnSpcReduction="10000"/>
          </a:bodyPr>
          <a:lstStyle/>
          <a:p>
            <a:r>
              <a:rPr lang="zh-CN" altLang="en-US">
                <a:solidFill>
                  <a:srgbClr val="FF0000"/>
                </a:solidFill>
              </a:rPr>
              <a:t>动态维护日志文件的方法</a:t>
            </a:r>
          </a:p>
          <a:p>
            <a:pPr lvl="1"/>
            <a:r>
              <a:rPr lang="zh-CN" altLang="en-US"/>
              <a:t>周期性地执行如下操作：</a:t>
            </a:r>
            <a:r>
              <a:rPr lang="zh-CN" altLang="en-US">
                <a:solidFill>
                  <a:srgbClr val="0000FF"/>
                </a:solidFill>
              </a:rPr>
              <a:t>建立检查点、保存数据库状态</a:t>
            </a:r>
            <a:endParaRPr lang="en-US" altLang="zh-CN">
              <a:solidFill>
                <a:srgbClr val="0000FF"/>
              </a:solidFill>
            </a:endParaRPr>
          </a:p>
          <a:p>
            <a:pPr lvl="1"/>
            <a:endParaRPr lang="en-US" altLang="zh-CN" sz="800">
              <a:solidFill>
                <a:srgbClr val="0000FF"/>
              </a:solidFill>
            </a:endParaRPr>
          </a:p>
          <a:p>
            <a:pPr lvl="1"/>
            <a:r>
              <a:rPr lang="zh-CN" altLang="en-US"/>
              <a:t>具体步骤如下：</a:t>
            </a:r>
            <a:endParaRPr lang="en-US" altLang="zh-CN"/>
          </a:p>
          <a:p>
            <a:pPr marL="1252538" lvl="2" indent="-358775">
              <a:buFont typeface="+mj-lt"/>
              <a:buAutoNum type="arabicPeriod"/>
            </a:pPr>
            <a:r>
              <a:rPr lang="zh-CN" altLang="en-US" sz="2200"/>
              <a:t>将当前日志缓冲区中的所有日志记录写入磁盘的日志文件上</a:t>
            </a:r>
            <a:endParaRPr lang="en-US" altLang="zh-CN" sz="2200"/>
          </a:p>
          <a:p>
            <a:pPr marL="1252538" lvl="2" indent="-358775">
              <a:buFont typeface="+mj-lt"/>
              <a:buAutoNum type="arabicPeriod"/>
            </a:pPr>
            <a:r>
              <a:rPr lang="zh-CN" altLang="en-US" sz="2200"/>
              <a:t>在日志文件中写入一个检查点记录</a:t>
            </a:r>
            <a:endParaRPr lang="en-US" altLang="zh-CN" sz="2200"/>
          </a:p>
          <a:p>
            <a:pPr marL="1252538" lvl="2" indent="-358775">
              <a:buFont typeface="+mj-lt"/>
              <a:buAutoNum type="arabicPeriod"/>
            </a:pPr>
            <a:r>
              <a:rPr lang="zh-CN" altLang="en-US" sz="2200"/>
              <a:t>将当前数据缓冲区的所有数据记录写入磁盘的数据库中</a:t>
            </a:r>
            <a:endParaRPr lang="en-US" altLang="zh-CN" sz="2200"/>
          </a:p>
          <a:p>
            <a:pPr marL="1252538" lvl="2" indent="-358775">
              <a:buFont typeface="+mj-lt"/>
              <a:buAutoNum type="arabicPeriod"/>
            </a:pPr>
            <a:r>
              <a:rPr lang="zh-CN" altLang="en-US" sz="2200"/>
              <a:t>把检查点记录在日志文件中的地址写入一个重新开始文件</a:t>
            </a:r>
            <a:endParaRPr lang="en-US" altLang="zh-CN" sz="2200"/>
          </a:p>
          <a:p>
            <a:pPr marL="622300" lvl="2" indent="0">
              <a:buNone/>
            </a:pPr>
            <a:endParaRPr lang="en-US" altLang="zh-CN" sz="1100"/>
          </a:p>
          <a:p>
            <a:r>
              <a:rPr lang="zh-CN" altLang="en-US">
                <a:solidFill>
                  <a:srgbClr val="FF0000"/>
                </a:solidFill>
              </a:rPr>
              <a:t>恢复子系统建立检查点的一般方法</a:t>
            </a:r>
            <a:endParaRPr lang="en-US" altLang="zh-CN">
              <a:solidFill>
                <a:srgbClr val="FF0000"/>
              </a:solidFill>
            </a:endParaRPr>
          </a:p>
          <a:p>
            <a:pPr lvl="2"/>
            <a:r>
              <a:rPr lang="zh-CN" altLang="en-US" sz="2200">
                <a:solidFill>
                  <a:srgbClr val="FF0000"/>
                </a:solidFill>
              </a:rPr>
              <a:t>定期</a:t>
            </a:r>
            <a:r>
              <a:rPr lang="zh-CN" altLang="en-US" sz="2200"/>
              <a:t>：按预定的一个时间间隔建立。如每隔一小时建立一个检查点</a:t>
            </a:r>
            <a:endParaRPr lang="en-US" altLang="zh-CN" sz="2200"/>
          </a:p>
          <a:p>
            <a:pPr lvl="2"/>
            <a:r>
              <a:rPr lang="zh-CN" altLang="en-US" sz="2200">
                <a:solidFill>
                  <a:srgbClr val="FF0000"/>
                </a:solidFill>
              </a:rPr>
              <a:t>不定期</a:t>
            </a:r>
            <a:r>
              <a:rPr lang="zh-CN" altLang="en-US" sz="2200"/>
              <a:t>：按照某种规则建立。如日志文件已写满一半建立一个检查点</a:t>
            </a:r>
          </a:p>
        </p:txBody>
      </p:sp>
      <p:sp>
        <p:nvSpPr>
          <p:cNvPr id="4" name="灯片编号占位符 3">
            <a:extLst>
              <a:ext uri="{FF2B5EF4-FFF2-40B4-BE49-F238E27FC236}">
                <a16:creationId xmlns:a16="http://schemas.microsoft.com/office/drawing/2014/main" id="{F3F2D751-1EDD-4E7D-B825-A407083B36CD}"/>
              </a:ext>
            </a:extLst>
          </p:cNvPr>
          <p:cNvSpPr>
            <a:spLocks noGrp="1"/>
          </p:cNvSpPr>
          <p:nvPr>
            <p:ph type="sldNum" sz="quarter" idx="12"/>
          </p:nvPr>
        </p:nvSpPr>
        <p:spPr/>
        <p:txBody>
          <a:bodyPr/>
          <a:lstStyle/>
          <a:p>
            <a:fld id="{E63F6D5D-9733-4D44-9C56-AEFEDD5A4BA7}" type="slidenum">
              <a:rPr lang="en-US" smtClean="0"/>
              <a:pPr/>
              <a:t>37</a:t>
            </a:fld>
            <a:endParaRPr lang="en-US" dirty="0"/>
          </a:p>
        </p:txBody>
      </p:sp>
      <p:sp>
        <p:nvSpPr>
          <p:cNvPr id="5" name="标题 1">
            <a:extLst>
              <a:ext uri="{FF2B5EF4-FFF2-40B4-BE49-F238E27FC236}">
                <a16:creationId xmlns:a16="http://schemas.microsoft.com/office/drawing/2014/main" id="{A1543C1F-BB18-4ECB-B217-735CE020146D}"/>
              </a:ext>
            </a:extLst>
          </p:cNvPr>
          <p:cNvSpPr>
            <a:spLocks noGrp="1"/>
          </p:cNvSpPr>
          <p:nvPr>
            <p:ph type="title"/>
          </p:nvPr>
        </p:nvSpPr>
        <p:spPr>
          <a:xfrm>
            <a:off x="1281113" y="238125"/>
            <a:ext cx="9553575" cy="512763"/>
          </a:xfrm>
        </p:spPr>
        <p:txBody>
          <a:bodyPr/>
          <a:lstStyle/>
          <a:p>
            <a:r>
              <a:rPr lang="en-US" altLang="zh-CN" dirty="0"/>
              <a:t>10.6 </a:t>
            </a:r>
            <a:r>
              <a:rPr lang="zh-CN" altLang="en-US" dirty="0"/>
              <a:t>具有检查点的恢复技术</a:t>
            </a:r>
          </a:p>
        </p:txBody>
      </p:sp>
    </p:spTree>
    <p:extLst>
      <p:ext uri="{BB962C8B-B14F-4D97-AF65-F5344CB8AC3E}">
        <p14:creationId xmlns:p14="http://schemas.microsoft.com/office/powerpoint/2010/main" val="42463559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C89EBE4-06BC-4C38-B750-941361F2B11F}"/>
              </a:ext>
            </a:extLst>
          </p:cNvPr>
          <p:cNvSpPr>
            <a:spLocks noGrp="1"/>
          </p:cNvSpPr>
          <p:nvPr>
            <p:ph idx="1"/>
          </p:nvPr>
        </p:nvSpPr>
        <p:spPr/>
        <p:txBody>
          <a:bodyPr/>
          <a:lstStyle/>
          <a:p>
            <a:pPr>
              <a:lnSpc>
                <a:spcPct val="130000"/>
              </a:lnSpc>
            </a:pPr>
            <a:r>
              <a:rPr lang="zh-CN" altLang="en-US">
                <a:solidFill>
                  <a:srgbClr val="FF0000"/>
                </a:solidFill>
              </a:rPr>
              <a:t>利用检查点的恢复策略：</a:t>
            </a:r>
          </a:p>
          <a:p>
            <a:pPr lvl="1">
              <a:lnSpc>
                <a:spcPct val="130000"/>
              </a:lnSpc>
            </a:pPr>
            <a:r>
              <a:rPr lang="zh-CN" altLang="en-US">
                <a:solidFill>
                  <a:srgbClr val="0000FF"/>
                </a:solidFill>
              </a:rPr>
              <a:t>使用检查点方法可以改善恢复效率</a:t>
            </a:r>
          </a:p>
          <a:p>
            <a:pPr lvl="2">
              <a:lnSpc>
                <a:spcPct val="130000"/>
              </a:lnSpc>
            </a:pPr>
            <a:r>
              <a:rPr lang="zh-CN" altLang="en-US"/>
              <a:t>当事务</a:t>
            </a:r>
            <a:r>
              <a:rPr lang="en-US" altLang="zh-CN"/>
              <a:t>T</a:t>
            </a:r>
            <a:r>
              <a:rPr lang="zh-CN" altLang="en-US"/>
              <a:t>在一个</a:t>
            </a:r>
            <a:r>
              <a:rPr lang="zh-CN" altLang="en-US">
                <a:solidFill>
                  <a:srgbClr val="FF0000"/>
                </a:solidFill>
              </a:rPr>
              <a:t>检查点之前提交</a:t>
            </a:r>
            <a:r>
              <a:rPr lang="zh-CN" altLang="en-US"/>
              <a:t>，</a:t>
            </a:r>
            <a:r>
              <a:rPr lang="en-US" altLang="zh-CN"/>
              <a:t>T</a:t>
            </a:r>
            <a:r>
              <a:rPr lang="zh-CN" altLang="en-US"/>
              <a:t>对数据库所做的</a:t>
            </a:r>
            <a:r>
              <a:rPr lang="zh-CN" altLang="en-US">
                <a:solidFill>
                  <a:srgbClr val="FF0000"/>
                </a:solidFill>
              </a:rPr>
              <a:t>修改一定都已写入数据库</a:t>
            </a:r>
            <a:r>
              <a:rPr lang="zh-CN" altLang="en-US"/>
              <a:t>，</a:t>
            </a:r>
            <a:r>
              <a:rPr lang="zh-CN" altLang="en-US">
                <a:solidFill>
                  <a:srgbClr val="FF0000"/>
                </a:solidFill>
              </a:rPr>
              <a:t>写入时间</a:t>
            </a:r>
            <a:r>
              <a:rPr lang="zh-CN" altLang="en-US"/>
              <a:t>是</a:t>
            </a:r>
            <a:r>
              <a:rPr lang="zh-CN" altLang="en-US">
                <a:solidFill>
                  <a:srgbClr val="FF0000"/>
                </a:solidFill>
              </a:rPr>
              <a:t>在这个检查点建立之前</a:t>
            </a:r>
            <a:r>
              <a:rPr lang="zh-CN" altLang="en-US"/>
              <a:t>或在</a:t>
            </a:r>
            <a:r>
              <a:rPr lang="zh-CN" altLang="en-US">
                <a:solidFill>
                  <a:srgbClr val="FF0000"/>
                </a:solidFill>
              </a:rPr>
              <a:t>这个检查点建立之时</a:t>
            </a:r>
            <a:r>
              <a:rPr lang="zh-CN" altLang="en-US"/>
              <a:t>，</a:t>
            </a:r>
            <a:endParaRPr lang="en-US" altLang="zh-CN"/>
          </a:p>
          <a:p>
            <a:pPr lvl="2">
              <a:lnSpc>
                <a:spcPct val="130000"/>
              </a:lnSpc>
            </a:pPr>
            <a:r>
              <a:rPr lang="zh-CN" altLang="en-US"/>
              <a:t>这样，在进行恢复处理时，</a:t>
            </a:r>
            <a:r>
              <a:rPr lang="zh-CN" altLang="en-US">
                <a:solidFill>
                  <a:srgbClr val="FF0000"/>
                </a:solidFill>
              </a:rPr>
              <a:t>没有必要对事务</a:t>
            </a:r>
            <a:r>
              <a:rPr lang="en-US" altLang="zh-CN">
                <a:solidFill>
                  <a:srgbClr val="FF0000"/>
                </a:solidFill>
              </a:rPr>
              <a:t>T</a:t>
            </a:r>
            <a:r>
              <a:rPr lang="zh-CN" altLang="en-US">
                <a:solidFill>
                  <a:srgbClr val="FF0000"/>
                </a:solidFill>
              </a:rPr>
              <a:t>执行重做操作</a:t>
            </a:r>
            <a:endParaRPr lang="en-US" altLang="zh-CN">
              <a:solidFill>
                <a:srgbClr val="FF0000"/>
              </a:solidFill>
            </a:endParaRPr>
          </a:p>
          <a:p>
            <a:pPr>
              <a:lnSpc>
                <a:spcPct val="130000"/>
              </a:lnSpc>
            </a:pPr>
            <a:endParaRPr lang="zh-CN" altLang="en-US"/>
          </a:p>
        </p:txBody>
      </p:sp>
      <p:sp>
        <p:nvSpPr>
          <p:cNvPr id="4" name="灯片编号占位符 3">
            <a:extLst>
              <a:ext uri="{FF2B5EF4-FFF2-40B4-BE49-F238E27FC236}">
                <a16:creationId xmlns:a16="http://schemas.microsoft.com/office/drawing/2014/main" id="{E7D03799-2A3D-46A5-890B-B25443E9616D}"/>
              </a:ext>
            </a:extLst>
          </p:cNvPr>
          <p:cNvSpPr>
            <a:spLocks noGrp="1"/>
          </p:cNvSpPr>
          <p:nvPr>
            <p:ph type="sldNum" sz="quarter" idx="12"/>
          </p:nvPr>
        </p:nvSpPr>
        <p:spPr/>
        <p:txBody>
          <a:bodyPr/>
          <a:lstStyle/>
          <a:p>
            <a:fld id="{E63F6D5D-9733-4D44-9C56-AEFEDD5A4BA7}" type="slidenum">
              <a:rPr lang="en-US" smtClean="0"/>
              <a:pPr/>
              <a:t>38</a:t>
            </a:fld>
            <a:endParaRPr lang="en-US" dirty="0"/>
          </a:p>
        </p:txBody>
      </p:sp>
      <p:sp>
        <p:nvSpPr>
          <p:cNvPr id="5" name="标题 1">
            <a:extLst>
              <a:ext uri="{FF2B5EF4-FFF2-40B4-BE49-F238E27FC236}">
                <a16:creationId xmlns:a16="http://schemas.microsoft.com/office/drawing/2014/main" id="{9DBD2695-618D-4FBF-82BC-EF9442C75F9B}"/>
              </a:ext>
            </a:extLst>
          </p:cNvPr>
          <p:cNvSpPr>
            <a:spLocks noGrp="1"/>
          </p:cNvSpPr>
          <p:nvPr>
            <p:ph type="title"/>
          </p:nvPr>
        </p:nvSpPr>
        <p:spPr>
          <a:xfrm>
            <a:off x="1281113" y="238125"/>
            <a:ext cx="9553575" cy="512763"/>
          </a:xfrm>
        </p:spPr>
        <p:txBody>
          <a:bodyPr/>
          <a:lstStyle/>
          <a:p>
            <a:r>
              <a:rPr lang="en-US" altLang="zh-CN" dirty="0"/>
              <a:t>10.6 </a:t>
            </a:r>
            <a:r>
              <a:rPr lang="zh-CN" altLang="en-US" dirty="0"/>
              <a:t>具有检查点的恢复技术</a:t>
            </a:r>
          </a:p>
        </p:txBody>
      </p:sp>
    </p:spTree>
    <p:extLst>
      <p:ext uri="{BB962C8B-B14F-4D97-AF65-F5344CB8AC3E}">
        <p14:creationId xmlns:p14="http://schemas.microsoft.com/office/powerpoint/2010/main" val="26273080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06F082E-6B15-4D05-97F8-D2B406E78D88}"/>
              </a:ext>
            </a:extLst>
          </p:cNvPr>
          <p:cNvSpPr>
            <a:spLocks noGrp="1"/>
          </p:cNvSpPr>
          <p:nvPr>
            <p:ph type="sldNum" sz="quarter" idx="12"/>
          </p:nvPr>
        </p:nvSpPr>
        <p:spPr/>
        <p:txBody>
          <a:bodyPr/>
          <a:lstStyle/>
          <a:p>
            <a:fld id="{E63F6D5D-9733-4D44-9C56-AEFEDD5A4BA7}" type="slidenum">
              <a:rPr lang="en-US" smtClean="0"/>
              <a:pPr/>
              <a:t>39</a:t>
            </a:fld>
            <a:endParaRPr lang="en-US" dirty="0"/>
          </a:p>
        </p:txBody>
      </p:sp>
      <p:grpSp>
        <p:nvGrpSpPr>
          <p:cNvPr id="7" name="Group 4">
            <a:extLst>
              <a:ext uri="{FF2B5EF4-FFF2-40B4-BE49-F238E27FC236}">
                <a16:creationId xmlns:a16="http://schemas.microsoft.com/office/drawing/2014/main" id="{336A5FB7-EE27-4352-9349-BD720A7C2018}"/>
              </a:ext>
            </a:extLst>
          </p:cNvPr>
          <p:cNvGrpSpPr>
            <a:grpSpLocks/>
          </p:cNvGrpSpPr>
          <p:nvPr/>
        </p:nvGrpSpPr>
        <p:grpSpPr bwMode="auto">
          <a:xfrm>
            <a:off x="2590800" y="1272602"/>
            <a:ext cx="6858000" cy="4365625"/>
            <a:chOff x="0" y="0"/>
            <a:chExt cx="4320" cy="2750"/>
          </a:xfrm>
        </p:grpSpPr>
        <p:sp>
          <p:nvSpPr>
            <p:cNvPr id="8" name="Freeform 5">
              <a:extLst>
                <a:ext uri="{FF2B5EF4-FFF2-40B4-BE49-F238E27FC236}">
                  <a16:creationId xmlns:a16="http://schemas.microsoft.com/office/drawing/2014/main" id="{8FDDF764-D8EB-4A66-8D2D-7E1D141E6EE9}"/>
                </a:ext>
              </a:extLst>
            </p:cNvPr>
            <p:cNvSpPr>
              <a:spLocks/>
            </p:cNvSpPr>
            <p:nvPr/>
          </p:nvSpPr>
          <p:spPr bwMode="auto">
            <a:xfrm>
              <a:off x="1113" y="382"/>
              <a:ext cx="1" cy="2278"/>
            </a:xfrm>
            <a:custGeom>
              <a:avLst/>
              <a:gdLst>
                <a:gd name="T0" fmla="*/ 0 w 3"/>
                <a:gd name="T1" fmla="*/ 0 h 2423"/>
                <a:gd name="T2" fmla="*/ 0 w 3"/>
                <a:gd name="T3" fmla="*/ 705 h 2423"/>
                <a:gd name="T4" fmla="*/ 0 60000 65536"/>
                <a:gd name="T5" fmla="*/ 0 60000 65536"/>
                <a:gd name="T6" fmla="*/ 0 w 3"/>
                <a:gd name="T7" fmla="*/ 0 h 2423"/>
                <a:gd name="T8" fmla="*/ 3 w 3"/>
                <a:gd name="T9" fmla="*/ 2423 h 2423"/>
              </a:gdLst>
              <a:ahLst/>
              <a:cxnLst>
                <a:cxn ang="T4">
                  <a:pos x="T0" y="T1"/>
                </a:cxn>
                <a:cxn ang="T5">
                  <a:pos x="T2" y="T3"/>
                </a:cxn>
              </a:cxnLst>
              <a:rect l="T6" t="T7" r="T8" b="T9"/>
              <a:pathLst>
                <a:path w="3" h="2423">
                  <a:moveTo>
                    <a:pt x="0" y="0"/>
                  </a:moveTo>
                  <a:lnTo>
                    <a:pt x="3" y="2423"/>
                  </a:lnTo>
                </a:path>
              </a:pathLst>
            </a:cu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9" name="Freeform 6">
              <a:extLst>
                <a:ext uri="{FF2B5EF4-FFF2-40B4-BE49-F238E27FC236}">
                  <a16:creationId xmlns:a16="http://schemas.microsoft.com/office/drawing/2014/main" id="{E20258EC-D915-4060-81B2-5413BEBE5E14}"/>
                </a:ext>
              </a:extLst>
            </p:cNvPr>
            <p:cNvSpPr>
              <a:spLocks/>
            </p:cNvSpPr>
            <p:nvPr/>
          </p:nvSpPr>
          <p:spPr bwMode="auto">
            <a:xfrm>
              <a:off x="3139" y="395"/>
              <a:ext cx="0" cy="2280"/>
            </a:xfrm>
            <a:custGeom>
              <a:avLst/>
              <a:gdLst>
                <a:gd name="T0" fmla="*/ 0 w 1"/>
                <a:gd name="T1" fmla="*/ 0 h 2423"/>
                <a:gd name="T2" fmla="*/ 0 w 1"/>
                <a:gd name="T3" fmla="*/ 718 h 2423"/>
                <a:gd name="T4" fmla="*/ 0 60000 65536"/>
                <a:gd name="T5" fmla="*/ 0 60000 65536"/>
                <a:gd name="T6" fmla="*/ 0 w 1"/>
                <a:gd name="T7" fmla="*/ 0 h 2423"/>
                <a:gd name="T8" fmla="*/ 0 w 1"/>
                <a:gd name="T9" fmla="*/ 2423 h 2423"/>
              </a:gdLst>
              <a:ahLst/>
              <a:cxnLst>
                <a:cxn ang="T4">
                  <a:pos x="T0" y="T1"/>
                </a:cxn>
                <a:cxn ang="T5">
                  <a:pos x="T2" y="T3"/>
                </a:cxn>
              </a:cxnLst>
              <a:rect l="T6" t="T7" r="T8" b="T9"/>
              <a:pathLst>
                <a:path w="1" h="2423">
                  <a:moveTo>
                    <a:pt x="0" y="0"/>
                  </a:moveTo>
                  <a:lnTo>
                    <a:pt x="1" y="2423"/>
                  </a:lnTo>
                </a:path>
              </a:pathLst>
            </a:cu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10" name="Freeform 7">
              <a:extLst>
                <a:ext uri="{FF2B5EF4-FFF2-40B4-BE49-F238E27FC236}">
                  <a16:creationId xmlns:a16="http://schemas.microsoft.com/office/drawing/2014/main" id="{469D673B-0743-467D-9303-8729CDF998C2}"/>
                </a:ext>
              </a:extLst>
            </p:cNvPr>
            <p:cNvSpPr>
              <a:spLocks/>
            </p:cNvSpPr>
            <p:nvPr/>
          </p:nvSpPr>
          <p:spPr bwMode="auto">
            <a:xfrm>
              <a:off x="129" y="1352"/>
              <a:ext cx="1260" cy="1"/>
            </a:xfrm>
            <a:custGeom>
              <a:avLst/>
              <a:gdLst>
                <a:gd name="T0" fmla="*/ 0 w 1176"/>
                <a:gd name="T1" fmla="*/ 0 h 1"/>
                <a:gd name="T2" fmla="*/ 4671 w 1176"/>
                <a:gd name="T3" fmla="*/ 0 h 1"/>
                <a:gd name="T4" fmla="*/ 0 60000 65536"/>
                <a:gd name="T5" fmla="*/ 0 60000 65536"/>
                <a:gd name="T6" fmla="*/ 0 w 1176"/>
                <a:gd name="T7" fmla="*/ 0 h 1"/>
                <a:gd name="T8" fmla="*/ 1176 w 1176"/>
                <a:gd name="T9" fmla="*/ 1 h 1"/>
              </a:gdLst>
              <a:ahLst/>
              <a:cxnLst>
                <a:cxn ang="T4">
                  <a:pos x="T0" y="T1"/>
                </a:cxn>
                <a:cxn ang="T5">
                  <a:pos x="T2" y="T3"/>
                </a:cxn>
              </a:cxnLst>
              <a:rect l="T6" t="T7" r="T8" b="T9"/>
              <a:pathLst>
                <a:path w="1176" h="1">
                  <a:moveTo>
                    <a:pt x="0" y="0"/>
                  </a:moveTo>
                  <a:lnTo>
                    <a:pt x="1176" y="0"/>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11" name="Freeform 8">
              <a:extLst>
                <a:ext uri="{FF2B5EF4-FFF2-40B4-BE49-F238E27FC236}">
                  <a16:creationId xmlns:a16="http://schemas.microsoft.com/office/drawing/2014/main" id="{37C90018-8E5F-45AC-897A-88DE23C7A9F5}"/>
                </a:ext>
              </a:extLst>
            </p:cNvPr>
            <p:cNvSpPr>
              <a:spLocks/>
            </p:cNvSpPr>
            <p:nvPr/>
          </p:nvSpPr>
          <p:spPr bwMode="auto">
            <a:xfrm>
              <a:off x="133" y="1237"/>
              <a:ext cx="1" cy="98"/>
            </a:xfrm>
            <a:custGeom>
              <a:avLst/>
              <a:gdLst>
                <a:gd name="T0" fmla="*/ 0 w 4"/>
                <a:gd name="T1" fmla="*/ 0 h 105"/>
                <a:gd name="T2" fmla="*/ 0 w 4"/>
                <a:gd name="T3" fmla="*/ 27 h 105"/>
                <a:gd name="T4" fmla="*/ 0 60000 65536"/>
                <a:gd name="T5" fmla="*/ 0 60000 65536"/>
                <a:gd name="T6" fmla="*/ 0 w 4"/>
                <a:gd name="T7" fmla="*/ 0 h 105"/>
                <a:gd name="T8" fmla="*/ 4 w 4"/>
                <a:gd name="T9" fmla="*/ 105 h 105"/>
              </a:gdLst>
              <a:ahLst/>
              <a:cxnLst>
                <a:cxn ang="T4">
                  <a:pos x="T0" y="T1"/>
                </a:cxn>
                <a:cxn ang="T5">
                  <a:pos x="T2" y="T3"/>
                </a:cxn>
              </a:cxnLst>
              <a:rect l="T6" t="T7" r="T8" b="T9"/>
              <a:pathLst>
                <a:path w="4" h="105">
                  <a:moveTo>
                    <a:pt x="4" y="0"/>
                  </a:moveTo>
                  <a:lnTo>
                    <a:pt x="0" y="105"/>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12" name="Freeform 9">
              <a:extLst>
                <a:ext uri="{FF2B5EF4-FFF2-40B4-BE49-F238E27FC236}">
                  <a16:creationId xmlns:a16="http://schemas.microsoft.com/office/drawing/2014/main" id="{7CD482E4-B1FD-46EB-9FC6-625CB8AC5A4D}"/>
                </a:ext>
              </a:extLst>
            </p:cNvPr>
            <p:cNvSpPr>
              <a:spLocks/>
            </p:cNvSpPr>
            <p:nvPr/>
          </p:nvSpPr>
          <p:spPr bwMode="auto">
            <a:xfrm>
              <a:off x="1376" y="1207"/>
              <a:ext cx="1" cy="145"/>
            </a:xfrm>
            <a:custGeom>
              <a:avLst/>
              <a:gdLst>
                <a:gd name="T0" fmla="*/ 0 w 1"/>
                <a:gd name="T1" fmla="*/ 0 h 120"/>
                <a:gd name="T2" fmla="*/ 0 w 1"/>
                <a:gd name="T3" fmla="*/ 5268 h 120"/>
                <a:gd name="T4" fmla="*/ 0 60000 65536"/>
                <a:gd name="T5" fmla="*/ 0 60000 65536"/>
                <a:gd name="T6" fmla="*/ 0 w 1"/>
                <a:gd name="T7" fmla="*/ 0 h 120"/>
                <a:gd name="T8" fmla="*/ 1 w 1"/>
                <a:gd name="T9" fmla="*/ 120 h 120"/>
              </a:gdLst>
              <a:ahLst/>
              <a:cxnLst>
                <a:cxn ang="T4">
                  <a:pos x="T0" y="T1"/>
                </a:cxn>
                <a:cxn ang="T5">
                  <a:pos x="T2" y="T3"/>
                </a:cxn>
              </a:cxnLst>
              <a:rect l="T6" t="T7" r="T8" b="T9"/>
              <a:pathLst>
                <a:path w="1" h="120">
                  <a:moveTo>
                    <a:pt x="0" y="0"/>
                  </a:moveTo>
                  <a:lnTo>
                    <a:pt x="0" y="120"/>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13" name="Line 10">
              <a:extLst>
                <a:ext uri="{FF2B5EF4-FFF2-40B4-BE49-F238E27FC236}">
                  <a16:creationId xmlns:a16="http://schemas.microsoft.com/office/drawing/2014/main" id="{57D6572F-6417-456D-8735-7148C562A35A}"/>
                </a:ext>
              </a:extLst>
            </p:cNvPr>
            <p:cNvSpPr>
              <a:spLocks noChangeShapeType="1"/>
            </p:cNvSpPr>
            <p:nvPr/>
          </p:nvSpPr>
          <p:spPr bwMode="auto">
            <a:xfrm>
              <a:off x="514" y="1721"/>
              <a:ext cx="262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1">
              <a:extLst>
                <a:ext uri="{FF2B5EF4-FFF2-40B4-BE49-F238E27FC236}">
                  <a16:creationId xmlns:a16="http://schemas.microsoft.com/office/drawing/2014/main" id="{24E2C2C7-02DD-4350-8C89-4D2A6A566F40}"/>
                </a:ext>
              </a:extLst>
            </p:cNvPr>
            <p:cNvSpPr>
              <a:spLocks noChangeShapeType="1"/>
            </p:cNvSpPr>
            <p:nvPr/>
          </p:nvSpPr>
          <p:spPr bwMode="auto">
            <a:xfrm>
              <a:off x="3136" y="1721"/>
              <a:ext cx="579"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Freeform 12">
              <a:extLst>
                <a:ext uri="{FF2B5EF4-FFF2-40B4-BE49-F238E27FC236}">
                  <a16:creationId xmlns:a16="http://schemas.microsoft.com/office/drawing/2014/main" id="{6ADCD5BC-8DBC-4E8B-B057-6B4E5E98DF2F}"/>
                </a:ext>
              </a:extLst>
            </p:cNvPr>
            <p:cNvSpPr>
              <a:spLocks/>
            </p:cNvSpPr>
            <p:nvPr/>
          </p:nvSpPr>
          <p:spPr bwMode="auto">
            <a:xfrm>
              <a:off x="3715" y="1616"/>
              <a:ext cx="1" cy="104"/>
            </a:xfrm>
            <a:custGeom>
              <a:avLst/>
              <a:gdLst>
                <a:gd name="T0" fmla="*/ 0 w 1"/>
                <a:gd name="T1" fmla="*/ 0 h 111"/>
                <a:gd name="T2" fmla="*/ 0 w 1"/>
                <a:gd name="T3" fmla="*/ 31 h 111"/>
                <a:gd name="T4" fmla="*/ 0 60000 65536"/>
                <a:gd name="T5" fmla="*/ 0 60000 65536"/>
                <a:gd name="T6" fmla="*/ 0 w 1"/>
                <a:gd name="T7" fmla="*/ 0 h 111"/>
                <a:gd name="T8" fmla="*/ 1 w 1"/>
                <a:gd name="T9" fmla="*/ 111 h 111"/>
              </a:gdLst>
              <a:ahLst/>
              <a:cxnLst>
                <a:cxn ang="T4">
                  <a:pos x="T0" y="T1"/>
                </a:cxn>
                <a:cxn ang="T5">
                  <a:pos x="T2" y="T3"/>
                </a:cxn>
              </a:cxnLst>
              <a:rect l="T6" t="T7" r="T8" b="T9"/>
              <a:pathLst>
                <a:path w="1" h="111">
                  <a:moveTo>
                    <a:pt x="0" y="0"/>
                  </a:moveTo>
                  <a:lnTo>
                    <a:pt x="0" y="111"/>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16" name="Line 13">
              <a:extLst>
                <a:ext uri="{FF2B5EF4-FFF2-40B4-BE49-F238E27FC236}">
                  <a16:creationId xmlns:a16="http://schemas.microsoft.com/office/drawing/2014/main" id="{2BF8E6FB-232A-499E-B1E0-C4C46D0E7749}"/>
                </a:ext>
              </a:extLst>
            </p:cNvPr>
            <p:cNvSpPr>
              <a:spLocks noChangeShapeType="1"/>
            </p:cNvSpPr>
            <p:nvPr/>
          </p:nvSpPr>
          <p:spPr bwMode="auto">
            <a:xfrm>
              <a:off x="516" y="1611"/>
              <a:ext cx="0" cy="11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Freeform 14">
              <a:extLst>
                <a:ext uri="{FF2B5EF4-FFF2-40B4-BE49-F238E27FC236}">
                  <a16:creationId xmlns:a16="http://schemas.microsoft.com/office/drawing/2014/main" id="{87D030A9-B88C-4CBD-875C-1752621A886E}"/>
                </a:ext>
              </a:extLst>
            </p:cNvPr>
            <p:cNvSpPr>
              <a:spLocks/>
            </p:cNvSpPr>
            <p:nvPr/>
          </p:nvSpPr>
          <p:spPr bwMode="auto">
            <a:xfrm>
              <a:off x="1229" y="2126"/>
              <a:ext cx="1109" cy="5"/>
            </a:xfrm>
            <a:custGeom>
              <a:avLst/>
              <a:gdLst>
                <a:gd name="T0" fmla="*/ 0 w 1465"/>
                <a:gd name="T1" fmla="*/ 5 h 5"/>
                <a:gd name="T2" fmla="*/ 6 w 1465"/>
                <a:gd name="T3" fmla="*/ 0 h 5"/>
                <a:gd name="T4" fmla="*/ 0 60000 65536"/>
                <a:gd name="T5" fmla="*/ 0 60000 65536"/>
                <a:gd name="T6" fmla="*/ 0 w 1465"/>
                <a:gd name="T7" fmla="*/ 0 h 5"/>
                <a:gd name="T8" fmla="*/ 1465 w 1465"/>
                <a:gd name="T9" fmla="*/ 5 h 5"/>
              </a:gdLst>
              <a:ahLst/>
              <a:cxnLst>
                <a:cxn ang="T4">
                  <a:pos x="T0" y="T1"/>
                </a:cxn>
                <a:cxn ang="T5">
                  <a:pos x="T2" y="T3"/>
                </a:cxn>
              </a:cxnLst>
              <a:rect l="T6" t="T7" r="T8" b="T9"/>
              <a:pathLst>
                <a:path w="1465" h="5">
                  <a:moveTo>
                    <a:pt x="0" y="5"/>
                  </a:moveTo>
                  <a:lnTo>
                    <a:pt x="1465" y="0"/>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18" name="Freeform 15">
              <a:extLst>
                <a:ext uri="{FF2B5EF4-FFF2-40B4-BE49-F238E27FC236}">
                  <a16:creationId xmlns:a16="http://schemas.microsoft.com/office/drawing/2014/main" id="{1113D83D-A454-4F34-9A8B-1844A5A93865}"/>
                </a:ext>
              </a:extLst>
            </p:cNvPr>
            <p:cNvSpPr>
              <a:spLocks/>
            </p:cNvSpPr>
            <p:nvPr/>
          </p:nvSpPr>
          <p:spPr bwMode="auto">
            <a:xfrm>
              <a:off x="1221" y="2023"/>
              <a:ext cx="2" cy="108"/>
            </a:xfrm>
            <a:custGeom>
              <a:avLst/>
              <a:gdLst>
                <a:gd name="T0" fmla="*/ 1 w 4"/>
                <a:gd name="T1" fmla="*/ 0 h 115"/>
                <a:gd name="T2" fmla="*/ 0 w 4"/>
                <a:gd name="T3" fmla="*/ 33 h 115"/>
                <a:gd name="T4" fmla="*/ 0 60000 65536"/>
                <a:gd name="T5" fmla="*/ 0 60000 65536"/>
                <a:gd name="T6" fmla="*/ 0 w 4"/>
                <a:gd name="T7" fmla="*/ 0 h 115"/>
                <a:gd name="T8" fmla="*/ 4 w 4"/>
                <a:gd name="T9" fmla="*/ 115 h 115"/>
              </a:gdLst>
              <a:ahLst/>
              <a:cxnLst>
                <a:cxn ang="T4">
                  <a:pos x="T0" y="T1"/>
                </a:cxn>
                <a:cxn ang="T5">
                  <a:pos x="T2" y="T3"/>
                </a:cxn>
              </a:cxnLst>
              <a:rect l="T6" t="T7" r="T8" b="T9"/>
              <a:pathLst>
                <a:path w="4" h="115">
                  <a:moveTo>
                    <a:pt x="4" y="0"/>
                  </a:moveTo>
                  <a:lnTo>
                    <a:pt x="0" y="115"/>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19" name="Freeform 16">
              <a:extLst>
                <a:ext uri="{FF2B5EF4-FFF2-40B4-BE49-F238E27FC236}">
                  <a16:creationId xmlns:a16="http://schemas.microsoft.com/office/drawing/2014/main" id="{E3546C39-3E96-450F-A03C-1D2C9CDE0422}"/>
                </a:ext>
              </a:extLst>
            </p:cNvPr>
            <p:cNvSpPr>
              <a:spLocks/>
            </p:cNvSpPr>
            <p:nvPr/>
          </p:nvSpPr>
          <p:spPr bwMode="auto">
            <a:xfrm>
              <a:off x="2342" y="2041"/>
              <a:ext cx="1" cy="90"/>
            </a:xfrm>
            <a:custGeom>
              <a:avLst/>
              <a:gdLst>
                <a:gd name="T0" fmla="*/ 0 w 1"/>
                <a:gd name="T1" fmla="*/ 0 h 95"/>
                <a:gd name="T2" fmla="*/ 1 w 1"/>
                <a:gd name="T3" fmla="*/ 33 h 95"/>
                <a:gd name="T4" fmla="*/ 0 60000 65536"/>
                <a:gd name="T5" fmla="*/ 0 60000 65536"/>
                <a:gd name="T6" fmla="*/ 0 w 1"/>
                <a:gd name="T7" fmla="*/ 0 h 95"/>
                <a:gd name="T8" fmla="*/ 1 w 1"/>
                <a:gd name="T9" fmla="*/ 95 h 95"/>
              </a:gdLst>
              <a:ahLst/>
              <a:cxnLst>
                <a:cxn ang="T4">
                  <a:pos x="T0" y="T1"/>
                </a:cxn>
                <a:cxn ang="T5">
                  <a:pos x="T2" y="T3"/>
                </a:cxn>
              </a:cxnLst>
              <a:rect l="T6" t="T7" r="T8" b="T9"/>
              <a:pathLst>
                <a:path w="1" h="95">
                  <a:moveTo>
                    <a:pt x="0" y="0"/>
                  </a:moveTo>
                  <a:lnTo>
                    <a:pt x="1" y="95"/>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20" name="Line 17">
              <a:extLst>
                <a:ext uri="{FF2B5EF4-FFF2-40B4-BE49-F238E27FC236}">
                  <a16:creationId xmlns:a16="http://schemas.microsoft.com/office/drawing/2014/main" id="{2BD9DCF0-2A5F-4E9D-97AC-7E538589188E}"/>
                </a:ext>
              </a:extLst>
            </p:cNvPr>
            <p:cNvSpPr>
              <a:spLocks noChangeShapeType="1"/>
            </p:cNvSpPr>
            <p:nvPr/>
          </p:nvSpPr>
          <p:spPr bwMode="auto">
            <a:xfrm>
              <a:off x="1697" y="2559"/>
              <a:ext cx="14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18">
              <a:extLst>
                <a:ext uri="{FF2B5EF4-FFF2-40B4-BE49-F238E27FC236}">
                  <a16:creationId xmlns:a16="http://schemas.microsoft.com/office/drawing/2014/main" id="{3BA189DC-5A92-4B15-B126-1452D2018199}"/>
                </a:ext>
              </a:extLst>
            </p:cNvPr>
            <p:cNvSpPr>
              <a:spLocks noChangeShapeType="1"/>
            </p:cNvSpPr>
            <p:nvPr/>
          </p:nvSpPr>
          <p:spPr bwMode="auto">
            <a:xfrm>
              <a:off x="1697" y="2446"/>
              <a:ext cx="0"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Freeform 19">
              <a:extLst>
                <a:ext uri="{FF2B5EF4-FFF2-40B4-BE49-F238E27FC236}">
                  <a16:creationId xmlns:a16="http://schemas.microsoft.com/office/drawing/2014/main" id="{F6A998D8-2EE8-4745-965A-F2EAEF73C9E0}"/>
                </a:ext>
              </a:extLst>
            </p:cNvPr>
            <p:cNvSpPr>
              <a:spLocks/>
            </p:cNvSpPr>
            <p:nvPr/>
          </p:nvSpPr>
          <p:spPr bwMode="auto">
            <a:xfrm>
              <a:off x="3495" y="2464"/>
              <a:ext cx="0" cy="91"/>
            </a:xfrm>
            <a:custGeom>
              <a:avLst/>
              <a:gdLst>
                <a:gd name="T0" fmla="*/ 0 w 1"/>
                <a:gd name="T1" fmla="*/ 0 h 97"/>
                <a:gd name="T2" fmla="*/ 0 w 1"/>
                <a:gd name="T3" fmla="*/ 27 h 97"/>
                <a:gd name="T4" fmla="*/ 0 60000 65536"/>
                <a:gd name="T5" fmla="*/ 0 60000 65536"/>
                <a:gd name="T6" fmla="*/ 0 w 1"/>
                <a:gd name="T7" fmla="*/ 0 h 97"/>
                <a:gd name="T8" fmla="*/ 0 w 1"/>
                <a:gd name="T9" fmla="*/ 97 h 97"/>
              </a:gdLst>
              <a:ahLst/>
              <a:cxnLst>
                <a:cxn ang="T4">
                  <a:pos x="T0" y="T1"/>
                </a:cxn>
                <a:cxn ang="T5">
                  <a:pos x="T2" y="T3"/>
                </a:cxn>
              </a:cxnLst>
              <a:rect l="T6" t="T7" r="T8" b="T9"/>
              <a:pathLst>
                <a:path w="1" h="97">
                  <a:moveTo>
                    <a:pt x="0" y="0"/>
                  </a:moveTo>
                  <a:lnTo>
                    <a:pt x="0" y="97"/>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23" name="Line 20">
              <a:extLst>
                <a:ext uri="{FF2B5EF4-FFF2-40B4-BE49-F238E27FC236}">
                  <a16:creationId xmlns:a16="http://schemas.microsoft.com/office/drawing/2014/main" id="{1FEC6E40-2829-4777-9A43-503864FBC3E7}"/>
                </a:ext>
              </a:extLst>
            </p:cNvPr>
            <p:cNvSpPr>
              <a:spLocks noChangeShapeType="1"/>
            </p:cNvSpPr>
            <p:nvPr/>
          </p:nvSpPr>
          <p:spPr bwMode="auto">
            <a:xfrm>
              <a:off x="3211" y="2555"/>
              <a:ext cx="284"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Text Box 21">
              <a:extLst>
                <a:ext uri="{FF2B5EF4-FFF2-40B4-BE49-F238E27FC236}">
                  <a16:creationId xmlns:a16="http://schemas.microsoft.com/office/drawing/2014/main" id="{E972B30A-78C2-4DF9-9C96-3F0FDBA95B8F}"/>
                </a:ext>
              </a:extLst>
            </p:cNvPr>
            <p:cNvSpPr txBox="1">
              <a:spLocks noChangeArrowheads="1"/>
            </p:cNvSpPr>
            <p:nvPr/>
          </p:nvSpPr>
          <p:spPr bwMode="auto">
            <a:xfrm>
              <a:off x="741" y="0"/>
              <a:ext cx="897"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eaLnBrk="1" hangingPunct="1">
                <a:buSzPct val="100000"/>
                <a:buFont typeface="Wingdings" pitchFamily="2" charset="2"/>
                <a:buNone/>
              </a:pPr>
              <a:r>
                <a:rPr lang="en-US" altLang="zh-CN" b="1">
                  <a:solidFill>
                    <a:srgbClr val="0000FF"/>
                  </a:solidFill>
                  <a:latin typeface="微软雅黑" panose="020B0503020204020204" pitchFamily="34" charset="-122"/>
                  <a:ea typeface="微软雅黑" panose="020B0503020204020204" pitchFamily="34" charset="-122"/>
                </a:rPr>
                <a:t>T</a:t>
              </a:r>
              <a:r>
                <a:rPr lang="en-US" altLang="zh-CN" b="1" baseline="-25000">
                  <a:solidFill>
                    <a:srgbClr val="0000FF"/>
                  </a:solidFill>
                  <a:latin typeface="微软雅黑" panose="020B0503020204020204" pitchFamily="34" charset="-122"/>
                  <a:ea typeface="微软雅黑" panose="020B0503020204020204" pitchFamily="34" charset="-122"/>
                </a:rPr>
                <a:t>c </a:t>
              </a:r>
              <a:r>
                <a:rPr lang="en-US" altLang="zh-CN" b="1">
                  <a:solidFill>
                    <a:srgbClr val="0000FF"/>
                  </a:solidFill>
                  <a:latin typeface="微软雅黑" panose="020B0503020204020204" pitchFamily="34" charset="-122"/>
                  <a:ea typeface="微软雅黑" panose="020B0503020204020204" pitchFamily="34" charset="-122"/>
                </a:rPr>
                <a:t>(</a:t>
              </a:r>
              <a:r>
                <a:rPr lang="zh-CN" altLang="en-US" b="1">
                  <a:solidFill>
                    <a:srgbClr val="0000FF"/>
                  </a:solidFill>
                  <a:latin typeface="微软雅黑" panose="020B0503020204020204" pitchFamily="34" charset="-122"/>
                  <a:ea typeface="微软雅黑" panose="020B0503020204020204" pitchFamily="34" charset="-122"/>
                </a:rPr>
                <a:t>检查点</a:t>
              </a:r>
              <a:r>
                <a:rPr lang="en-US" altLang="zh-CN" b="1">
                  <a:solidFill>
                    <a:srgbClr val="0000FF"/>
                  </a:solidFill>
                  <a:latin typeface="微软雅黑" panose="020B0503020204020204" pitchFamily="34" charset="-122"/>
                  <a:ea typeface="微软雅黑" panose="020B0503020204020204" pitchFamily="34" charset="-122"/>
                </a:rPr>
                <a:t>)</a:t>
              </a:r>
            </a:p>
          </p:txBody>
        </p:sp>
        <p:sp>
          <p:nvSpPr>
            <p:cNvPr id="25" name="Text Box 22">
              <a:extLst>
                <a:ext uri="{FF2B5EF4-FFF2-40B4-BE49-F238E27FC236}">
                  <a16:creationId xmlns:a16="http://schemas.microsoft.com/office/drawing/2014/main" id="{5D77F230-DCD7-4816-A5BD-3626AB53B9BC}"/>
                </a:ext>
              </a:extLst>
            </p:cNvPr>
            <p:cNvSpPr txBox="1">
              <a:spLocks noChangeArrowheads="1"/>
            </p:cNvSpPr>
            <p:nvPr/>
          </p:nvSpPr>
          <p:spPr bwMode="auto">
            <a:xfrm>
              <a:off x="2728" y="15"/>
              <a:ext cx="987"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eaLnBrk="1" hangingPunct="1">
                <a:buSzPct val="100000"/>
                <a:buFont typeface="Wingdings" pitchFamily="2" charset="2"/>
                <a:buNone/>
              </a:pPr>
              <a:r>
                <a:rPr lang="en-US" altLang="zh-CN" b="1">
                  <a:solidFill>
                    <a:srgbClr val="0000FF"/>
                  </a:solidFill>
                  <a:latin typeface="微软雅黑" panose="020B0503020204020204" pitchFamily="34" charset="-122"/>
                  <a:ea typeface="微软雅黑" panose="020B0503020204020204" pitchFamily="34" charset="-122"/>
                </a:rPr>
                <a:t>T</a:t>
              </a:r>
              <a:r>
                <a:rPr lang="en-US" altLang="zh-CN" b="1" baseline="-25000">
                  <a:solidFill>
                    <a:srgbClr val="0000FF"/>
                  </a:solidFill>
                  <a:latin typeface="微软雅黑" panose="020B0503020204020204" pitchFamily="34" charset="-122"/>
                  <a:ea typeface="微软雅黑" panose="020B0503020204020204" pitchFamily="34" charset="-122"/>
                </a:rPr>
                <a:t>f </a:t>
              </a:r>
              <a:r>
                <a:rPr lang="en-US" altLang="zh-CN" b="1">
                  <a:solidFill>
                    <a:srgbClr val="0000FF"/>
                  </a:solidFill>
                  <a:latin typeface="微软雅黑" panose="020B0503020204020204" pitchFamily="34" charset="-122"/>
                  <a:ea typeface="微软雅黑" panose="020B0503020204020204" pitchFamily="34" charset="-122"/>
                </a:rPr>
                <a:t>(</a:t>
              </a:r>
              <a:r>
                <a:rPr lang="zh-CN" altLang="en-US" b="1">
                  <a:solidFill>
                    <a:srgbClr val="0000FF"/>
                  </a:solidFill>
                  <a:latin typeface="微软雅黑" panose="020B0503020204020204" pitchFamily="34" charset="-122"/>
                  <a:ea typeface="微软雅黑" panose="020B0503020204020204" pitchFamily="34" charset="-122"/>
                </a:rPr>
                <a:t>系统故障</a:t>
              </a:r>
              <a:r>
                <a:rPr lang="en-US" altLang="zh-CN" b="1">
                  <a:solidFill>
                    <a:srgbClr val="0000FF"/>
                  </a:solidFill>
                  <a:latin typeface="微软雅黑" panose="020B0503020204020204" pitchFamily="34" charset="-122"/>
                  <a:ea typeface="微软雅黑" panose="020B0503020204020204" pitchFamily="34" charset="-122"/>
                </a:rPr>
                <a:t>)</a:t>
              </a:r>
            </a:p>
          </p:txBody>
        </p:sp>
        <p:sp>
          <p:nvSpPr>
            <p:cNvPr id="26" name="Text Box 23">
              <a:extLst>
                <a:ext uri="{FF2B5EF4-FFF2-40B4-BE49-F238E27FC236}">
                  <a16:creationId xmlns:a16="http://schemas.microsoft.com/office/drawing/2014/main" id="{691C4624-4534-4F27-B490-B372A45DF9B8}"/>
                </a:ext>
              </a:extLst>
            </p:cNvPr>
            <p:cNvSpPr txBox="1">
              <a:spLocks noChangeArrowheads="1"/>
            </p:cNvSpPr>
            <p:nvPr/>
          </p:nvSpPr>
          <p:spPr bwMode="auto">
            <a:xfrm>
              <a:off x="1337" y="989"/>
              <a:ext cx="71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buSzPct val="100000"/>
                <a:buFont typeface="Wingdings" pitchFamily="2" charset="2"/>
                <a:buNone/>
              </a:pPr>
              <a:r>
                <a:rPr lang="en-US" altLang="zh-CN" b="1">
                  <a:solidFill>
                    <a:srgbClr val="FF0000"/>
                  </a:solidFill>
                  <a:latin typeface="微软雅黑" panose="020B0503020204020204" pitchFamily="34" charset="-122"/>
                  <a:ea typeface="微软雅黑" panose="020B0503020204020204" pitchFamily="34" charset="-122"/>
                </a:rPr>
                <a:t> </a:t>
              </a:r>
              <a:r>
                <a:rPr lang="zh-CN" altLang="en-US" b="1">
                  <a:solidFill>
                    <a:srgbClr val="FF0000"/>
                  </a:solidFill>
                  <a:latin typeface="微软雅黑" panose="020B0503020204020204" pitchFamily="34" charset="-122"/>
                  <a:ea typeface="微软雅黑" panose="020B0503020204020204" pitchFamily="34" charset="-122"/>
                </a:rPr>
                <a:t>重做</a:t>
              </a:r>
              <a:endParaRPr lang="en-US" altLang="zh-CN" b="1">
                <a:solidFill>
                  <a:srgbClr val="FF0000"/>
                </a:solidFill>
                <a:latin typeface="微软雅黑" panose="020B0503020204020204" pitchFamily="34" charset="-122"/>
                <a:ea typeface="微软雅黑" panose="020B0503020204020204" pitchFamily="34" charset="-122"/>
              </a:endParaRPr>
            </a:p>
          </p:txBody>
        </p:sp>
        <p:sp>
          <p:nvSpPr>
            <p:cNvPr id="27" name="Text Box 24">
              <a:extLst>
                <a:ext uri="{FF2B5EF4-FFF2-40B4-BE49-F238E27FC236}">
                  <a16:creationId xmlns:a16="http://schemas.microsoft.com/office/drawing/2014/main" id="{C62AF85F-9E29-4002-96F9-01A21D286A34}"/>
                </a:ext>
              </a:extLst>
            </p:cNvPr>
            <p:cNvSpPr txBox="1">
              <a:spLocks noChangeArrowheads="1"/>
            </p:cNvSpPr>
            <p:nvPr/>
          </p:nvSpPr>
          <p:spPr bwMode="auto">
            <a:xfrm>
              <a:off x="3680" y="1383"/>
              <a:ext cx="640"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eaLnBrk="1" hangingPunct="1">
                <a:buSzPct val="100000"/>
                <a:buFont typeface="Wingdings" pitchFamily="2" charset="2"/>
                <a:buNone/>
              </a:pPr>
              <a:r>
                <a:rPr lang="zh-CN" altLang="en-US" b="1">
                  <a:solidFill>
                    <a:srgbClr val="FF0000"/>
                  </a:solidFill>
                  <a:latin typeface="微软雅黑" panose="020B0503020204020204" pitchFamily="34" charset="-122"/>
                  <a:ea typeface="微软雅黑" panose="020B0503020204020204" pitchFamily="34" charset="-122"/>
                </a:rPr>
                <a:t>撤销</a:t>
              </a:r>
              <a:endParaRPr lang="en-US" altLang="zh-CN" b="1">
                <a:solidFill>
                  <a:srgbClr val="FF0000"/>
                </a:solidFill>
                <a:latin typeface="微软雅黑" panose="020B0503020204020204" pitchFamily="34" charset="-122"/>
                <a:ea typeface="微软雅黑" panose="020B0503020204020204" pitchFamily="34" charset="-122"/>
              </a:endParaRPr>
            </a:p>
          </p:txBody>
        </p:sp>
        <p:sp>
          <p:nvSpPr>
            <p:cNvPr id="28" name="Text Box 25">
              <a:extLst>
                <a:ext uri="{FF2B5EF4-FFF2-40B4-BE49-F238E27FC236}">
                  <a16:creationId xmlns:a16="http://schemas.microsoft.com/office/drawing/2014/main" id="{0BBA476A-6826-415F-8D1D-1FF09895667A}"/>
                </a:ext>
              </a:extLst>
            </p:cNvPr>
            <p:cNvSpPr txBox="1">
              <a:spLocks noChangeArrowheads="1"/>
            </p:cNvSpPr>
            <p:nvPr/>
          </p:nvSpPr>
          <p:spPr bwMode="auto">
            <a:xfrm>
              <a:off x="3446" y="2210"/>
              <a:ext cx="589"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eaLnBrk="1" hangingPunct="1">
                <a:buSzPct val="100000"/>
                <a:buFont typeface="Wingdings" pitchFamily="2" charset="2"/>
                <a:buNone/>
              </a:pPr>
              <a:r>
                <a:rPr lang="zh-CN" altLang="en-US" b="1">
                  <a:solidFill>
                    <a:srgbClr val="FF0000"/>
                  </a:solidFill>
                  <a:latin typeface="微软雅黑" panose="020B0503020204020204" pitchFamily="34" charset="-122"/>
                  <a:ea typeface="微软雅黑" panose="020B0503020204020204" pitchFamily="34" charset="-122"/>
                </a:rPr>
                <a:t>撤销</a:t>
              </a:r>
              <a:endParaRPr lang="en-US" altLang="zh-CN" b="1">
                <a:solidFill>
                  <a:srgbClr val="FF0000"/>
                </a:solidFill>
                <a:latin typeface="微软雅黑" panose="020B0503020204020204" pitchFamily="34" charset="-122"/>
                <a:ea typeface="微软雅黑" panose="020B0503020204020204" pitchFamily="34" charset="-122"/>
              </a:endParaRPr>
            </a:p>
          </p:txBody>
        </p:sp>
        <p:sp>
          <p:nvSpPr>
            <p:cNvPr id="29" name="Text Box 26">
              <a:extLst>
                <a:ext uri="{FF2B5EF4-FFF2-40B4-BE49-F238E27FC236}">
                  <a16:creationId xmlns:a16="http://schemas.microsoft.com/office/drawing/2014/main" id="{BC62CA85-E991-4E31-9E9C-B6A68E71CBD3}"/>
                </a:ext>
              </a:extLst>
            </p:cNvPr>
            <p:cNvSpPr txBox="1">
              <a:spLocks noChangeArrowheads="1"/>
            </p:cNvSpPr>
            <p:nvPr/>
          </p:nvSpPr>
          <p:spPr bwMode="auto">
            <a:xfrm>
              <a:off x="2262" y="1806"/>
              <a:ext cx="716"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buSzPct val="100000"/>
                <a:buFont typeface="Wingdings" pitchFamily="2" charset="2"/>
                <a:buNone/>
              </a:pPr>
              <a:r>
                <a:rPr lang="en-US" altLang="zh-CN" b="1">
                  <a:solidFill>
                    <a:srgbClr val="FF0000"/>
                  </a:solidFill>
                  <a:latin typeface="微软雅黑" panose="020B0503020204020204" pitchFamily="34" charset="-122"/>
                  <a:ea typeface="微软雅黑" panose="020B0503020204020204" pitchFamily="34" charset="-122"/>
                </a:rPr>
                <a:t> </a:t>
              </a:r>
              <a:r>
                <a:rPr lang="zh-CN" altLang="en-US" b="1">
                  <a:solidFill>
                    <a:srgbClr val="FF0000"/>
                  </a:solidFill>
                  <a:latin typeface="微软雅黑" panose="020B0503020204020204" pitchFamily="34" charset="-122"/>
                  <a:ea typeface="微软雅黑" panose="020B0503020204020204" pitchFamily="34" charset="-122"/>
                </a:rPr>
                <a:t>重做</a:t>
              </a:r>
              <a:endParaRPr lang="en-US" altLang="zh-CN" b="1">
                <a:solidFill>
                  <a:srgbClr val="FF0000"/>
                </a:solidFill>
                <a:latin typeface="微软雅黑" panose="020B0503020204020204" pitchFamily="34" charset="-122"/>
                <a:ea typeface="微软雅黑" panose="020B0503020204020204" pitchFamily="34" charset="-122"/>
              </a:endParaRPr>
            </a:p>
          </p:txBody>
        </p:sp>
        <p:sp>
          <p:nvSpPr>
            <p:cNvPr id="30" name="Text Box 27">
              <a:extLst>
                <a:ext uri="{FF2B5EF4-FFF2-40B4-BE49-F238E27FC236}">
                  <a16:creationId xmlns:a16="http://schemas.microsoft.com/office/drawing/2014/main" id="{1CEF9CCA-6354-4850-B47E-E5ABB9F246C0}"/>
                </a:ext>
              </a:extLst>
            </p:cNvPr>
            <p:cNvSpPr txBox="1">
              <a:spLocks noChangeArrowheads="1"/>
            </p:cNvSpPr>
            <p:nvPr/>
          </p:nvSpPr>
          <p:spPr bwMode="auto">
            <a:xfrm>
              <a:off x="154" y="1047"/>
              <a:ext cx="463"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buSzPct val="100000"/>
                <a:buFont typeface="Wingdings" pitchFamily="2" charset="2"/>
                <a:buNone/>
              </a:pPr>
              <a:r>
                <a:rPr lang="en-US" altLang="zh-CN" sz="2000" b="1">
                  <a:latin typeface="Times New Roman" pitchFamily="18" charset="0"/>
                </a:rPr>
                <a:t>T</a:t>
              </a:r>
              <a:r>
                <a:rPr lang="en-US" altLang="zh-CN" sz="2000" b="1" baseline="-25000">
                  <a:latin typeface="Times New Roman" pitchFamily="18" charset="0"/>
                </a:rPr>
                <a:t>2</a:t>
              </a:r>
              <a:endParaRPr lang="en-US" altLang="zh-CN" sz="1600" b="1">
                <a:latin typeface="Times New Roman" pitchFamily="18" charset="0"/>
              </a:endParaRPr>
            </a:p>
          </p:txBody>
        </p:sp>
        <p:sp>
          <p:nvSpPr>
            <p:cNvPr id="31" name="Text Box 28">
              <a:extLst>
                <a:ext uri="{FF2B5EF4-FFF2-40B4-BE49-F238E27FC236}">
                  <a16:creationId xmlns:a16="http://schemas.microsoft.com/office/drawing/2014/main" id="{403AD650-0A09-424C-A280-95E082A6FF5B}"/>
                </a:ext>
              </a:extLst>
            </p:cNvPr>
            <p:cNvSpPr txBox="1">
              <a:spLocks noChangeArrowheads="1"/>
            </p:cNvSpPr>
            <p:nvPr/>
          </p:nvSpPr>
          <p:spPr bwMode="auto">
            <a:xfrm>
              <a:off x="566" y="1454"/>
              <a:ext cx="714"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buSzPct val="100000"/>
                <a:buFont typeface="Wingdings" pitchFamily="2" charset="2"/>
                <a:buNone/>
              </a:pPr>
              <a:r>
                <a:rPr lang="en-US" altLang="zh-CN" sz="2000" b="1" dirty="0">
                  <a:latin typeface="Times New Roman" pitchFamily="18" charset="0"/>
                </a:rPr>
                <a:t>T</a:t>
              </a:r>
              <a:r>
                <a:rPr lang="en-US" altLang="zh-CN" sz="2000" b="1" baseline="-25000" dirty="0">
                  <a:latin typeface="Times New Roman" pitchFamily="18" charset="0"/>
                </a:rPr>
                <a:t>3</a:t>
              </a:r>
              <a:endParaRPr lang="en-US" altLang="zh-CN" sz="1600" b="1" dirty="0">
                <a:latin typeface="Times New Roman" pitchFamily="18" charset="0"/>
              </a:endParaRPr>
            </a:p>
          </p:txBody>
        </p:sp>
        <p:sp>
          <p:nvSpPr>
            <p:cNvPr id="32" name="Text Box 29">
              <a:extLst>
                <a:ext uri="{FF2B5EF4-FFF2-40B4-BE49-F238E27FC236}">
                  <a16:creationId xmlns:a16="http://schemas.microsoft.com/office/drawing/2014/main" id="{17824EB8-172F-417A-9342-6AE45926876C}"/>
                </a:ext>
              </a:extLst>
            </p:cNvPr>
            <p:cNvSpPr txBox="1">
              <a:spLocks noChangeArrowheads="1"/>
            </p:cNvSpPr>
            <p:nvPr/>
          </p:nvSpPr>
          <p:spPr bwMode="auto">
            <a:xfrm>
              <a:off x="1234" y="1803"/>
              <a:ext cx="715"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buSzPct val="100000"/>
                <a:buFont typeface="Wingdings" pitchFamily="2" charset="2"/>
                <a:buNone/>
              </a:pPr>
              <a:r>
                <a:rPr lang="en-US" altLang="zh-CN" b="1">
                  <a:latin typeface="Times New Roman" pitchFamily="18" charset="0"/>
                </a:rPr>
                <a:t>T</a:t>
              </a:r>
              <a:r>
                <a:rPr lang="en-US" altLang="zh-CN" b="1" baseline="-25000">
                  <a:latin typeface="Times New Roman" pitchFamily="18" charset="0"/>
                </a:rPr>
                <a:t>4</a:t>
              </a:r>
              <a:endParaRPr lang="en-US" altLang="zh-CN" sz="1400" b="1">
                <a:latin typeface="Times New Roman" pitchFamily="18" charset="0"/>
              </a:endParaRPr>
            </a:p>
            <a:p>
              <a:pPr eaLnBrk="1" hangingPunct="1">
                <a:buSzPct val="100000"/>
                <a:buFont typeface="Wingdings" pitchFamily="2" charset="2"/>
                <a:buNone/>
              </a:pPr>
              <a:endParaRPr lang="en-US" altLang="zh-CN" sz="1400" b="1">
                <a:latin typeface="Times New Roman" pitchFamily="18" charset="0"/>
              </a:endParaRPr>
            </a:p>
          </p:txBody>
        </p:sp>
        <p:sp>
          <p:nvSpPr>
            <p:cNvPr id="33" name="Text Box 30">
              <a:extLst>
                <a:ext uri="{FF2B5EF4-FFF2-40B4-BE49-F238E27FC236}">
                  <a16:creationId xmlns:a16="http://schemas.microsoft.com/office/drawing/2014/main" id="{3A6B4FF3-65E7-451E-9B6E-B680FB3F3DB3}"/>
                </a:ext>
              </a:extLst>
            </p:cNvPr>
            <p:cNvSpPr txBox="1">
              <a:spLocks noChangeArrowheads="1"/>
            </p:cNvSpPr>
            <p:nvPr/>
          </p:nvSpPr>
          <p:spPr bwMode="auto">
            <a:xfrm>
              <a:off x="1731" y="2228"/>
              <a:ext cx="715"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buSzPct val="100000"/>
                <a:buFont typeface="Wingdings" pitchFamily="2" charset="2"/>
                <a:buNone/>
              </a:pPr>
              <a:r>
                <a:rPr lang="en-US" altLang="zh-CN" b="1">
                  <a:latin typeface="Times New Roman" pitchFamily="18" charset="0"/>
                </a:rPr>
                <a:t>T</a:t>
              </a:r>
              <a:r>
                <a:rPr lang="en-US" altLang="zh-CN" b="1" baseline="-25000">
                  <a:latin typeface="Times New Roman" pitchFamily="18" charset="0"/>
                </a:rPr>
                <a:t>5</a:t>
              </a:r>
              <a:endParaRPr lang="en-US" altLang="zh-CN" sz="1400" b="1">
                <a:latin typeface="Times New Roman" pitchFamily="18" charset="0"/>
              </a:endParaRPr>
            </a:p>
          </p:txBody>
        </p:sp>
        <p:sp>
          <p:nvSpPr>
            <p:cNvPr id="34" name="Text Box 31">
              <a:extLst>
                <a:ext uri="{FF2B5EF4-FFF2-40B4-BE49-F238E27FC236}">
                  <a16:creationId xmlns:a16="http://schemas.microsoft.com/office/drawing/2014/main" id="{2E96D5C2-BCA4-481F-8C38-882246DB7660}"/>
                </a:ext>
              </a:extLst>
            </p:cNvPr>
            <p:cNvSpPr txBox="1">
              <a:spLocks noChangeArrowheads="1"/>
            </p:cNvSpPr>
            <p:nvPr/>
          </p:nvSpPr>
          <p:spPr bwMode="auto">
            <a:xfrm>
              <a:off x="317" y="590"/>
              <a:ext cx="897"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eaLnBrk="1" hangingPunct="1">
                <a:buSzPct val="100000"/>
                <a:buFont typeface="Wingdings" pitchFamily="2" charset="2"/>
                <a:buNone/>
              </a:pPr>
              <a:r>
                <a:rPr lang="zh-CN" altLang="en-US" b="1">
                  <a:solidFill>
                    <a:srgbClr val="FF0000"/>
                  </a:solidFill>
                  <a:latin typeface="微软雅黑" panose="020B0503020204020204" pitchFamily="34" charset="-122"/>
                  <a:ea typeface="微软雅黑" panose="020B0503020204020204" pitchFamily="34" charset="-122"/>
                </a:rPr>
                <a:t>不要重做</a:t>
              </a:r>
              <a:endParaRPr lang="en-US" altLang="zh-CN" sz="1600" b="1">
                <a:solidFill>
                  <a:srgbClr val="FF0000"/>
                </a:solidFill>
                <a:latin typeface="微软雅黑" panose="020B0503020204020204" pitchFamily="34" charset="-122"/>
                <a:ea typeface="微软雅黑" panose="020B0503020204020204" pitchFamily="34" charset="-122"/>
              </a:endParaRPr>
            </a:p>
          </p:txBody>
        </p:sp>
        <p:sp>
          <p:nvSpPr>
            <p:cNvPr id="35" name="Text Box 32">
              <a:extLst>
                <a:ext uri="{FF2B5EF4-FFF2-40B4-BE49-F238E27FC236}">
                  <a16:creationId xmlns:a16="http://schemas.microsoft.com/office/drawing/2014/main" id="{2D26D2DA-B547-41A1-B31B-C885A5BB589E}"/>
                </a:ext>
              </a:extLst>
            </p:cNvPr>
            <p:cNvSpPr txBox="1">
              <a:spLocks noChangeArrowheads="1"/>
            </p:cNvSpPr>
            <p:nvPr/>
          </p:nvSpPr>
          <p:spPr bwMode="auto">
            <a:xfrm>
              <a:off x="51" y="640"/>
              <a:ext cx="477"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eaLnBrk="1" hangingPunct="1">
                <a:buSzPct val="100000"/>
                <a:buFont typeface="Wingdings" pitchFamily="2" charset="2"/>
                <a:buNone/>
              </a:pPr>
              <a:r>
                <a:rPr lang="en-US" altLang="zh-CN" sz="2000" b="1">
                  <a:latin typeface="Times New Roman" pitchFamily="18" charset="0"/>
                </a:rPr>
                <a:t>T</a:t>
              </a:r>
              <a:r>
                <a:rPr lang="en-US" altLang="zh-CN" sz="2000" b="1" baseline="-25000">
                  <a:latin typeface="Times New Roman" pitchFamily="18" charset="0"/>
                </a:rPr>
                <a:t>1</a:t>
              </a:r>
              <a:endParaRPr lang="en-US" altLang="zh-CN" sz="1600" b="1">
                <a:latin typeface="Times New Roman" pitchFamily="18" charset="0"/>
              </a:endParaRPr>
            </a:p>
          </p:txBody>
        </p:sp>
        <p:sp>
          <p:nvSpPr>
            <p:cNvPr id="36" name="Freeform 33">
              <a:extLst>
                <a:ext uri="{FF2B5EF4-FFF2-40B4-BE49-F238E27FC236}">
                  <a16:creationId xmlns:a16="http://schemas.microsoft.com/office/drawing/2014/main" id="{75479638-A267-4C07-927E-CB6AFAFE90FD}"/>
                </a:ext>
              </a:extLst>
            </p:cNvPr>
            <p:cNvSpPr>
              <a:spLocks/>
            </p:cNvSpPr>
            <p:nvPr/>
          </p:nvSpPr>
          <p:spPr bwMode="auto">
            <a:xfrm>
              <a:off x="0" y="974"/>
              <a:ext cx="463" cy="1"/>
            </a:xfrm>
            <a:custGeom>
              <a:avLst/>
              <a:gdLst>
                <a:gd name="T0" fmla="*/ 0 w 432"/>
                <a:gd name="T1" fmla="*/ 0 h 1"/>
                <a:gd name="T2" fmla="*/ 1728 w 432"/>
                <a:gd name="T3" fmla="*/ 0 h 1"/>
                <a:gd name="T4" fmla="*/ 0 60000 65536"/>
                <a:gd name="T5" fmla="*/ 0 60000 65536"/>
                <a:gd name="T6" fmla="*/ 0 w 432"/>
                <a:gd name="T7" fmla="*/ 0 h 1"/>
                <a:gd name="T8" fmla="*/ 432 w 432"/>
                <a:gd name="T9" fmla="*/ 1 h 1"/>
              </a:gdLst>
              <a:ahLst/>
              <a:cxnLst>
                <a:cxn ang="T4">
                  <a:pos x="T0" y="T1"/>
                </a:cxn>
                <a:cxn ang="T5">
                  <a:pos x="T2" y="T3"/>
                </a:cxn>
              </a:cxnLst>
              <a:rect l="T6" t="T7" r="T8" b="T9"/>
              <a:pathLst>
                <a:path w="432" h="1">
                  <a:moveTo>
                    <a:pt x="0" y="0"/>
                  </a:moveTo>
                  <a:lnTo>
                    <a:pt x="432" y="0"/>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37" name="Freeform 34">
              <a:extLst>
                <a:ext uri="{FF2B5EF4-FFF2-40B4-BE49-F238E27FC236}">
                  <a16:creationId xmlns:a16="http://schemas.microsoft.com/office/drawing/2014/main" id="{EDD32DCD-8D24-4957-B9A9-C7437482C02C}"/>
                </a:ext>
              </a:extLst>
            </p:cNvPr>
            <p:cNvSpPr>
              <a:spLocks/>
            </p:cNvSpPr>
            <p:nvPr/>
          </p:nvSpPr>
          <p:spPr bwMode="auto">
            <a:xfrm>
              <a:off x="0" y="867"/>
              <a:ext cx="1" cy="101"/>
            </a:xfrm>
            <a:custGeom>
              <a:avLst/>
              <a:gdLst>
                <a:gd name="T0" fmla="*/ 0 w 3"/>
                <a:gd name="T1" fmla="*/ 0 h 107"/>
                <a:gd name="T2" fmla="*/ 0 w 3"/>
                <a:gd name="T3" fmla="*/ 34 h 107"/>
                <a:gd name="T4" fmla="*/ 0 60000 65536"/>
                <a:gd name="T5" fmla="*/ 0 60000 65536"/>
                <a:gd name="T6" fmla="*/ 0 w 3"/>
                <a:gd name="T7" fmla="*/ 0 h 107"/>
                <a:gd name="T8" fmla="*/ 3 w 3"/>
                <a:gd name="T9" fmla="*/ 107 h 107"/>
              </a:gdLst>
              <a:ahLst/>
              <a:cxnLst>
                <a:cxn ang="T4">
                  <a:pos x="T0" y="T1"/>
                </a:cxn>
                <a:cxn ang="T5">
                  <a:pos x="T2" y="T3"/>
                </a:cxn>
              </a:cxnLst>
              <a:rect l="T6" t="T7" r="T8" b="T9"/>
              <a:pathLst>
                <a:path w="3" h="107">
                  <a:moveTo>
                    <a:pt x="0" y="0"/>
                  </a:moveTo>
                  <a:lnTo>
                    <a:pt x="3" y="107"/>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38" name="Freeform 35">
              <a:extLst>
                <a:ext uri="{FF2B5EF4-FFF2-40B4-BE49-F238E27FC236}">
                  <a16:creationId xmlns:a16="http://schemas.microsoft.com/office/drawing/2014/main" id="{401B6409-5A86-4C21-86DE-FFB69AC9DD0D}"/>
                </a:ext>
              </a:extLst>
            </p:cNvPr>
            <p:cNvSpPr>
              <a:spLocks/>
            </p:cNvSpPr>
            <p:nvPr/>
          </p:nvSpPr>
          <p:spPr bwMode="auto">
            <a:xfrm>
              <a:off x="463" y="870"/>
              <a:ext cx="1" cy="98"/>
            </a:xfrm>
            <a:custGeom>
              <a:avLst/>
              <a:gdLst>
                <a:gd name="T0" fmla="*/ 0 w 4"/>
                <a:gd name="T1" fmla="*/ 0 h 105"/>
                <a:gd name="T2" fmla="*/ 0 w 4"/>
                <a:gd name="T3" fmla="*/ 27 h 105"/>
                <a:gd name="T4" fmla="*/ 0 60000 65536"/>
                <a:gd name="T5" fmla="*/ 0 60000 65536"/>
                <a:gd name="T6" fmla="*/ 0 w 4"/>
                <a:gd name="T7" fmla="*/ 0 h 105"/>
                <a:gd name="T8" fmla="*/ 4 w 4"/>
                <a:gd name="T9" fmla="*/ 105 h 105"/>
              </a:gdLst>
              <a:ahLst/>
              <a:cxnLst>
                <a:cxn ang="T4">
                  <a:pos x="T0" y="T1"/>
                </a:cxn>
                <a:cxn ang="T5">
                  <a:pos x="T2" y="T3"/>
                </a:cxn>
              </a:cxnLst>
              <a:rect l="T6" t="T7" r="T8" b="T9"/>
              <a:pathLst>
                <a:path w="4" h="105">
                  <a:moveTo>
                    <a:pt x="4" y="0"/>
                  </a:moveTo>
                  <a:lnTo>
                    <a:pt x="0" y="105"/>
                  </a:lnTo>
                </a:path>
              </a:pathLst>
            </a:cu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grpSp>
      <p:sp>
        <p:nvSpPr>
          <p:cNvPr id="39" name="Text Box 6">
            <a:extLst>
              <a:ext uri="{FF2B5EF4-FFF2-40B4-BE49-F238E27FC236}">
                <a16:creationId xmlns:a16="http://schemas.microsoft.com/office/drawing/2014/main" id="{42234C73-F500-43CE-A78E-2009A13CFA6D}"/>
              </a:ext>
            </a:extLst>
          </p:cNvPr>
          <p:cNvSpPr txBox="1">
            <a:spLocks noChangeArrowheads="1"/>
          </p:cNvSpPr>
          <p:nvPr/>
        </p:nvSpPr>
        <p:spPr bwMode="auto">
          <a:xfrm>
            <a:off x="3202781" y="5770317"/>
            <a:ext cx="547260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spcBef>
                <a:spcPct val="50000"/>
              </a:spcBef>
              <a:buSzPct val="100000"/>
              <a:buFont typeface="Wingdings" pitchFamily="2" charset="2"/>
              <a:buNone/>
            </a:pPr>
            <a:r>
              <a:rPr lang="zh-CN" altLang="en-US" sz="2800" dirty="0">
                <a:solidFill>
                  <a:srgbClr val="FF0000"/>
                </a:solidFill>
                <a:latin typeface="微软雅黑" panose="020B0503020204020204" pitchFamily="34" charset="-122"/>
                <a:ea typeface="微软雅黑" panose="020B0503020204020204" pitchFamily="34" charset="-122"/>
              </a:rPr>
              <a:t>恢复子系统采取的不同策略</a:t>
            </a:r>
            <a:endParaRPr lang="zh-CN" altLang="zh-CN" sz="2800" dirty="0">
              <a:solidFill>
                <a:srgbClr val="FF0000"/>
              </a:solidFill>
              <a:latin typeface="微软雅黑" panose="020B0503020204020204" pitchFamily="34" charset="-122"/>
              <a:ea typeface="微软雅黑" panose="020B0503020204020204" pitchFamily="34" charset="-122"/>
            </a:endParaRPr>
          </a:p>
        </p:txBody>
      </p:sp>
      <p:sp>
        <p:nvSpPr>
          <p:cNvPr id="40" name="标题 1">
            <a:extLst>
              <a:ext uri="{FF2B5EF4-FFF2-40B4-BE49-F238E27FC236}">
                <a16:creationId xmlns:a16="http://schemas.microsoft.com/office/drawing/2014/main" id="{36D85887-66EB-4D2D-B511-D8C8014A0D26}"/>
              </a:ext>
            </a:extLst>
          </p:cNvPr>
          <p:cNvSpPr>
            <a:spLocks noGrp="1"/>
          </p:cNvSpPr>
          <p:nvPr>
            <p:ph type="title"/>
          </p:nvPr>
        </p:nvSpPr>
        <p:spPr>
          <a:xfrm>
            <a:off x="1281113" y="238125"/>
            <a:ext cx="9553575" cy="512763"/>
          </a:xfrm>
        </p:spPr>
        <p:txBody>
          <a:bodyPr/>
          <a:lstStyle/>
          <a:p>
            <a:r>
              <a:rPr lang="en-US" altLang="zh-CN" dirty="0"/>
              <a:t>10.6 </a:t>
            </a:r>
            <a:r>
              <a:rPr lang="zh-CN" altLang="en-US" dirty="0"/>
              <a:t>具有检查点的恢复技术</a:t>
            </a:r>
          </a:p>
        </p:txBody>
      </p:sp>
    </p:spTree>
    <p:extLst>
      <p:ext uri="{BB962C8B-B14F-4D97-AF65-F5344CB8AC3E}">
        <p14:creationId xmlns:p14="http://schemas.microsoft.com/office/powerpoint/2010/main" val="1255294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A32D19-1107-4B2E-9A17-99D3110143AA}"/>
              </a:ext>
            </a:extLst>
          </p:cNvPr>
          <p:cNvSpPr>
            <a:spLocks noGrp="1"/>
          </p:cNvSpPr>
          <p:nvPr>
            <p:ph type="title"/>
          </p:nvPr>
        </p:nvSpPr>
        <p:spPr/>
        <p:txBody>
          <a:bodyPr/>
          <a:lstStyle/>
          <a:p>
            <a:r>
              <a:rPr lang="zh-CN" altLang="en-US" dirty="0"/>
              <a:t>使用检查点方法进行恢复的步骤</a:t>
            </a:r>
          </a:p>
        </p:txBody>
      </p:sp>
      <p:sp>
        <p:nvSpPr>
          <p:cNvPr id="3" name="内容占位符 2">
            <a:extLst>
              <a:ext uri="{FF2B5EF4-FFF2-40B4-BE49-F238E27FC236}">
                <a16:creationId xmlns:a16="http://schemas.microsoft.com/office/drawing/2014/main" id="{E432FB16-3E08-43DF-89EB-6038D55895E7}"/>
              </a:ext>
            </a:extLst>
          </p:cNvPr>
          <p:cNvSpPr>
            <a:spLocks noGrp="1"/>
          </p:cNvSpPr>
          <p:nvPr>
            <p:ph idx="1"/>
          </p:nvPr>
        </p:nvSpPr>
        <p:spPr/>
        <p:txBody>
          <a:bodyPr>
            <a:normAutofit fontScale="77500" lnSpcReduction="20000"/>
          </a:bodyPr>
          <a:lstStyle/>
          <a:p>
            <a:pPr marL="641350">
              <a:lnSpc>
                <a:spcPct val="130000"/>
              </a:lnSpc>
              <a:buFont typeface="+mj-lt"/>
              <a:buAutoNum type="arabicPeriod"/>
            </a:pPr>
            <a:r>
              <a:rPr lang="zh-CN" altLang="en-US" dirty="0">
                <a:solidFill>
                  <a:srgbClr val="0000FF"/>
                </a:solidFill>
              </a:rPr>
              <a:t>从</a:t>
            </a:r>
            <a:r>
              <a:rPr lang="zh-CN" altLang="en-US" dirty="0"/>
              <a:t>重新开始文件中找到最后一个检查点记录在日志文件中的地址，由该地址在日志文件中找到最后一个检查点记录</a:t>
            </a:r>
            <a:endParaRPr lang="en-US" altLang="zh-CN" dirty="0"/>
          </a:p>
          <a:p>
            <a:pPr marL="641350">
              <a:lnSpc>
                <a:spcPct val="130000"/>
              </a:lnSpc>
              <a:buFont typeface="+mj-lt"/>
              <a:buAutoNum type="arabicPeriod"/>
            </a:pPr>
            <a:r>
              <a:rPr lang="zh-CN" altLang="en-US" dirty="0"/>
              <a:t>由该检查点记录得到检查点建立时刻所有正在执行的事务清单</a:t>
            </a:r>
            <a:r>
              <a:rPr lang="en-US" altLang="zh-CN" dirty="0"/>
              <a:t>ACTIVE-LIST</a:t>
            </a:r>
          </a:p>
          <a:p>
            <a:pPr marL="909638" lvl="1" indent="-179388">
              <a:lnSpc>
                <a:spcPct val="130000"/>
              </a:lnSpc>
            </a:pPr>
            <a:r>
              <a:rPr lang="en-US" altLang="zh-CN" dirty="0">
                <a:solidFill>
                  <a:srgbClr val="0000FF"/>
                </a:solidFill>
              </a:rPr>
              <a:t>UNDO-LIST</a:t>
            </a:r>
            <a:r>
              <a:rPr lang="zh-CN" altLang="en-US" dirty="0">
                <a:solidFill>
                  <a:srgbClr val="0000FF"/>
                </a:solidFill>
              </a:rPr>
              <a:t>：需要执行</a:t>
            </a:r>
            <a:r>
              <a:rPr lang="en-US" altLang="zh-CN" dirty="0">
                <a:solidFill>
                  <a:srgbClr val="0000FF"/>
                </a:solidFill>
              </a:rPr>
              <a:t>UNDO</a:t>
            </a:r>
            <a:r>
              <a:rPr lang="zh-CN" altLang="en-US" dirty="0">
                <a:solidFill>
                  <a:srgbClr val="0000FF"/>
                </a:solidFill>
              </a:rPr>
              <a:t>操作的事务集合</a:t>
            </a:r>
            <a:endParaRPr lang="en-US" altLang="zh-CN" dirty="0">
              <a:solidFill>
                <a:srgbClr val="0000FF"/>
              </a:solidFill>
            </a:endParaRPr>
          </a:p>
          <a:p>
            <a:pPr marL="909638" lvl="1" indent="-179388">
              <a:lnSpc>
                <a:spcPct val="130000"/>
              </a:lnSpc>
            </a:pPr>
            <a:r>
              <a:rPr lang="en-US" altLang="zh-CN" dirty="0">
                <a:solidFill>
                  <a:srgbClr val="0000FF"/>
                </a:solidFill>
              </a:rPr>
              <a:t>REDO-LIST</a:t>
            </a:r>
            <a:r>
              <a:rPr lang="zh-CN" altLang="en-US" dirty="0">
                <a:solidFill>
                  <a:srgbClr val="0000FF"/>
                </a:solidFill>
              </a:rPr>
              <a:t>：需要执行</a:t>
            </a:r>
            <a:r>
              <a:rPr lang="en-US" altLang="zh-CN" dirty="0">
                <a:solidFill>
                  <a:srgbClr val="0000FF"/>
                </a:solidFill>
              </a:rPr>
              <a:t>REDO</a:t>
            </a:r>
            <a:r>
              <a:rPr lang="zh-CN" altLang="en-US" dirty="0">
                <a:solidFill>
                  <a:srgbClr val="0000FF"/>
                </a:solidFill>
              </a:rPr>
              <a:t>操作的事务集合</a:t>
            </a:r>
            <a:endParaRPr lang="en-US" altLang="zh-CN" dirty="0">
              <a:solidFill>
                <a:srgbClr val="0000FF"/>
              </a:solidFill>
            </a:endParaRPr>
          </a:p>
          <a:p>
            <a:pPr marL="641350">
              <a:lnSpc>
                <a:spcPct val="130000"/>
              </a:lnSpc>
              <a:buFont typeface="+mj-lt"/>
              <a:buAutoNum type="arabicPeriod" startAt="3"/>
            </a:pPr>
            <a:r>
              <a:rPr lang="zh-CN" altLang="en-US" dirty="0">
                <a:solidFill>
                  <a:srgbClr val="0000FF"/>
                </a:solidFill>
              </a:rPr>
              <a:t>从</a:t>
            </a:r>
            <a:r>
              <a:rPr lang="zh-CN" altLang="en-US" dirty="0"/>
              <a:t>检查点开始正向扫描日志文件：</a:t>
            </a:r>
            <a:endParaRPr lang="en-US" altLang="zh-CN" dirty="0"/>
          </a:p>
          <a:p>
            <a:pPr marL="1089025" lvl="1" indent="-358775">
              <a:lnSpc>
                <a:spcPct val="130000"/>
              </a:lnSpc>
              <a:buFont typeface="+mj-ea"/>
              <a:buAutoNum type="arabicPeriod" startAt="3"/>
            </a:pPr>
            <a:r>
              <a:rPr lang="zh-CN" altLang="en-US" dirty="0"/>
              <a:t>如有新开始的事务</a:t>
            </a:r>
            <a:r>
              <a:rPr lang="en-US" altLang="zh-CN" dirty="0" err="1"/>
              <a:t>Ti</a:t>
            </a:r>
            <a:r>
              <a:rPr lang="zh-CN" altLang="en-US" dirty="0"/>
              <a:t>，把</a:t>
            </a:r>
            <a:r>
              <a:rPr lang="en-US" altLang="zh-CN" dirty="0" err="1"/>
              <a:t>Ti</a:t>
            </a:r>
            <a:r>
              <a:rPr lang="zh-CN" altLang="en-US" dirty="0"/>
              <a:t>暂时放入</a:t>
            </a:r>
            <a:r>
              <a:rPr lang="en-US" altLang="zh-CN" dirty="0"/>
              <a:t>UNDO-LIST</a:t>
            </a:r>
            <a:r>
              <a:rPr lang="zh-CN" altLang="en-US" dirty="0"/>
              <a:t>队列；</a:t>
            </a:r>
            <a:endParaRPr lang="en-US" altLang="zh-CN" dirty="0"/>
          </a:p>
          <a:p>
            <a:pPr marL="1089025" lvl="1" indent="-358775">
              <a:lnSpc>
                <a:spcPct val="130000"/>
              </a:lnSpc>
              <a:buFont typeface="+mj-ea"/>
              <a:buAutoNum type="arabicPeriod" startAt="3"/>
            </a:pPr>
            <a:r>
              <a:rPr lang="zh-CN" altLang="en-US" dirty="0"/>
              <a:t>如有提交的事务</a:t>
            </a:r>
            <a:r>
              <a:rPr lang="en-US" altLang="zh-CN" dirty="0" err="1"/>
              <a:t>Tj</a:t>
            </a:r>
            <a:r>
              <a:rPr lang="zh-CN" altLang="en-US" dirty="0"/>
              <a:t>，把</a:t>
            </a:r>
            <a:r>
              <a:rPr lang="en-US" altLang="zh-CN" dirty="0" err="1"/>
              <a:t>Tj</a:t>
            </a:r>
            <a:r>
              <a:rPr lang="zh-CN" altLang="en-US" dirty="0"/>
              <a:t>从</a:t>
            </a:r>
            <a:r>
              <a:rPr lang="en-US" altLang="zh-CN" dirty="0"/>
              <a:t>UNDO-LIST</a:t>
            </a:r>
            <a:r>
              <a:rPr lang="zh-CN" altLang="en-US" dirty="0"/>
              <a:t>队列移到</a:t>
            </a:r>
            <a:r>
              <a:rPr lang="en-US" altLang="zh-CN" dirty="0"/>
              <a:t>REDO-LIST</a:t>
            </a:r>
            <a:r>
              <a:rPr lang="zh-CN" altLang="en-US" dirty="0"/>
              <a:t>队列</a:t>
            </a:r>
            <a:r>
              <a:rPr lang="en-US" altLang="zh-CN" dirty="0"/>
              <a:t>;</a:t>
            </a:r>
          </a:p>
          <a:p>
            <a:pPr marL="1089025" lvl="1" indent="-358775">
              <a:lnSpc>
                <a:spcPct val="130000"/>
              </a:lnSpc>
              <a:buFont typeface="+mj-ea"/>
              <a:buAutoNum type="arabicPeriod" startAt="3"/>
            </a:pPr>
            <a:r>
              <a:rPr lang="zh-CN" altLang="en-US" dirty="0"/>
              <a:t>继续以上过程，直到日志文件结束。</a:t>
            </a:r>
            <a:endParaRPr lang="en-US" altLang="zh-CN" dirty="0"/>
          </a:p>
          <a:p>
            <a:pPr marL="641350">
              <a:lnSpc>
                <a:spcPct val="130000"/>
              </a:lnSpc>
              <a:buFont typeface="+mj-lt"/>
              <a:buAutoNum type="arabicPeriod" startAt="4"/>
            </a:pPr>
            <a:r>
              <a:rPr lang="zh-CN" altLang="en-US" dirty="0"/>
              <a:t>对</a:t>
            </a:r>
            <a:r>
              <a:rPr lang="en-US" altLang="zh-CN" dirty="0">
                <a:solidFill>
                  <a:srgbClr val="0000FF"/>
                </a:solidFill>
              </a:rPr>
              <a:t>UNDO-LIST</a:t>
            </a:r>
            <a:r>
              <a:rPr lang="zh-CN" altLang="en-US" dirty="0"/>
              <a:t>中的每个事务执行</a:t>
            </a:r>
            <a:r>
              <a:rPr lang="en-US" altLang="zh-CN" dirty="0"/>
              <a:t>UNDO</a:t>
            </a:r>
            <a:r>
              <a:rPr lang="zh-CN" altLang="en-US" dirty="0"/>
              <a:t>操作，对</a:t>
            </a:r>
            <a:r>
              <a:rPr lang="en-US" altLang="zh-CN" dirty="0">
                <a:solidFill>
                  <a:srgbClr val="0000FF"/>
                </a:solidFill>
              </a:rPr>
              <a:t>REDO-LIST</a:t>
            </a:r>
            <a:r>
              <a:rPr lang="zh-CN" altLang="en-US" dirty="0"/>
              <a:t>中的每个事务执行</a:t>
            </a:r>
            <a:r>
              <a:rPr lang="en-US" altLang="zh-CN" dirty="0"/>
              <a:t>REDO</a:t>
            </a:r>
            <a:r>
              <a:rPr lang="zh-CN" altLang="en-US" dirty="0"/>
              <a:t>操作。</a:t>
            </a:r>
            <a:endParaRPr lang="zh-CN" altLang="en-US" dirty="0">
              <a:solidFill>
                <a:srgbClr val="0000FF"/>
              </a:solidFill>
            </a:endParaRPr>
          </a:p>
        </p:txBody>
      </p:sp>
      <p:sp>
        <p:nvSpPr>
          <p:cNvPr id="4" name="灯片编号占位符 3">
            <a:extLst>
              <a:ext uri="{FF2B5EF4-FFF2-40B4-BE49-F238E27FC236}">
                <a16:creationId xmlns:a16="http://schemas.microsoft.com/office/drawing/2014/main" id="{289612F0-86A7-46E5-828F-C0A378CAD7E4}"/>
              </a:ext>
            </a:extLst>
          </p:cNvPr>
          <p:cNvSpPr>
            <a:spLocks noGrp="1"/>
          </p:cNvSpPr>
          <p:nvPr>
            <p:ph type="sldNum" sz="quarter" idx="12"/>
          </p:nvPr>
        </p:nvSpPr>
        <p:spPr/>
        <p:txBody>
          <a:bodyPr/>
          <a:lstStyle/>
          <a:p>
            <a:fld id="{E63F6D5D-9733-4D44-9C56-AEFEDD5A4BA7}" type="slidenum">
              <a:rPr lang="en-US" smtClean="0"/>
              <a:pPr/>
              <a:t>40</a:t>
            </a:fld>
            <a:endParaRPr lang="en-US" dirty="0"/>
          </a:p>
        </p:txBody>
      </p:sp>
    </p:spTree>
    <p:extLst>
      <p:ext uri="{BB962C8B-B14F-4D97-AF65-F5344CB8AC3E}">
        <p14:creationId xmlns:p14="http://schemas.microsoft.com/office/powerpoint/2010/main" val="42418694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255E27-3F7F-4EE2-AD04-9C7B6C908961}"/>
              </a:ext>
            </a:extLst>
          </p:cNvPr>
          <p:cNvSpPr>
            <a:spLocks noGrp="1"/>
          </p:cNvSpPr>
          <p:nvPr>
            <p:ph type="title"/>
          </p:nvPr>
        </p:nvSpPr>
        <p:spPr/>
        <p:txBody>
          <a:bodyPr/>
          <a:lstStyle/>
          <a:p>
            <a:r>
              <a:rPr lang="zh-CN" altLang="en-US"/>
              <a:t>示例</a:t>
            </a:r>
          </a:p>
        </p:txBody>
      </p:sp>
      <p:sp>
        <p:nvSpPr>
          <p:cNvPr id="3" name="内容占位符 2">
            <a:extLst>
              <a:ext uri="{FF2B5EF4-FFF2-40B4-BE49-F238E27FC236}">
                <a16:creationId xmlns:a16="http://schemas.microsoft.com/office/drawing/2014/main" id="{19A2F35D-9571-4759-A281-EEEA2C3DA3BC}"/>
              </a:ext>
            </a:extLst>
          </p:cNvPr>
          <p:cNvSpPr>
            <a:spLocks noGrp="1"/>
          </p:cNvSpPr>
          <p:nvPr>
            <p:ph idx="1"/>
          </p:nvPr>
        </p:nvSpPr>
        <p:spPr>
          <a:xfrm>
            <a:off x="595085" y="1066800"/>
            <a:ext cx="5043715" cy="5469226"/>
          </a:xfrm>
        </p:spPr>
        <p:txBody>
          <a:bodyPr/>
          <a:lstStyle/>
          <a:p>
            <a:pPr>
              <a:lnSpc>
                <a:spcPct val="130000"/>
              </a:lnSpc>
            </a:pPr>
            <a:r>
              <a:rPr lang="zh-CN" altLang="en-US"/>
              <a:t>考虑如下的日志记录：</a:t>
            </a:r>
            <a:endParaRPr lang="en-US" altLang="zh-CN"/>
          </a:p>
          <a:p>
            <a:pPr marL="355600" lvl="1" indent="-87313">
              <a:lnSpc>
                <a:spcPct val="130000"/>
              </a:lnSpc>
              <a:buNone/>
            </a:pPr>
            <a:r>
              <a:rPr lang="zh-CN" altLang="en-US"/>
              <a:t>如果系统故障发生在</a:t>
            </a:r>
            <a:r>
              <a:rPr lang="en-US" altLang="zh-CN"/>
              <a:t>13</a:t>
            </a:r>
            <a:r>
              <a:rPr lang="zh-CN" altLang="en-US"/>
              <a:t>之后，系统该如何恢复？</a:t>
            </a:r>
            <a:endParaRPr lang="en-US" altLang="zh-CN"/>
          </a:p>
          <a:p>
            <a:pPr marL="611187" lvl="1" indent="-342900">
              <a:lnSpc>
                <a:spcPct val="130000"/>
              </a:lnSpc>
            </a:pPr>
            <a:r>
              <a:rPr lang="en-US" altLang="zh-CN"/>
              <a:t>T1:</a:t>
            </a:r>
            <a:r>
              <a:rPr lang="zh-CN" altLang="en-US"/>
              <a:t>不操作</a:t>
            </a:r>
            <a:endParaRPr lang="en-US" altLang="zh-CN"/>
          </a:p>
          <a:p>
            <a:pPr marL="611187" lvl="1" indent="-342900">
              <a:lnSpc>
                <a:spcPct val="130000"/>
              </a:lnSpc>
            </a:pPr>
            <a:r>
              <a:rPr lang="en-US" altLang="zh-CN"/>
              <a:t>T2: </a:t>
            </a:r>
            <a:r>
              <a:rPr lang="zh-CN" altLang="en-US"/>
              <a:t>撤销</a:t>
            </a:r>
            <a:endParaRPr lang="en-US" altLang="zh-CN"/>
          </a:p>
          <a:p>
            <a:pPr marL="611187" lvl="1" indent="-342900">
              <a:lnSpc>
                <a:spcPct val="130000"/>
              </a:lnSpc>
            </a:pPr>
            <a:r>
              <a:rPr lang="en-US" altLang="zh-CN"/>
              <a:t>T3: </a:t>
            </a:r>
            <a:r>
              <a:rPr lang="zh-CN" altLang="en-US"/>
              <a:t>撤销</a:t>
            </a:r>
            <a:endParaRPr lang="en-US" altLang="zh-CN"/>
          </a:p>
          <a:p>
            <a:pPr marL="611187" lvl="1" indent="-342900">
              <a:lnSpc>
                <a:spcPct val="130000"/>
              </a:lnSpc>
            </a:pPr>
            <a:r>
              <a:rPr lang="en-US" altLang="zh-CN"/>
              <a:t>T4:</a:t>
            </a:r>
            <a:r>
              <a:rPr lang="zh-CN" altLang="en-US"/>
              <a:t>重做</a:t>
            </a:r>
          </a:p>
          <a:p>
            <a:pPr>
              <a:lnSpc>
                <a:spcPct val="130000"/>
              </a:lnSpc>
            </a:pPr>
            <a:endParaRPr lang="zh-CN" altLang="en-US"/>
          </a:p>
        </p:txBody>
      </p:sp>
      <p:sp>
        <p:nvSpPr>
          <p:cNvPr id="4" name="灯片编号占位符 3">
            <a:extLst>
              <a:ext uri="{FF2B5EF4-FFF2-40B4-BE49-F238E27FC236}">
                <a16:creationId xmlns:a16="http://schemas.microsoft.com/office/drawing/2014/main" id="{223E944A-BF29-4D1D-8141-65041E9BF524}"/>
              </a:ext>
            </a:extLst>
          </p:cNvPr>
          <p:cNvSpPr>
            <a:spLocks noGrp="1"/>
          </p:cNvSpPr>
          <p:nvPr>
            <p:ph type="sldNum" sz="quarter" idx="12"/>
          </p:nvPr>
        </p:nvSpPr>
        <p:spPr/>
        <p:txBody>
          <a:bodyPr/>
          <a:lstStyle/>
          <a:p>
            <a:fld id="{E63F6D5D-9733-4D44-9C56-AEFEDD5A4BA7}" type="slidenum">
              <a:rPr lang="en-US" smtClean="0"/>
              <a:pPr/>
              <a:t>41</a:t>
            </a:fld>
            <a:endParaRPr lang="en-US" dirty="0"/>
          </a:p>
        </p:txBody>
      </p:sp>
      <p:graphicFrame>
        <p:nvGraphicFramePr>
          <p:cNvPr id="5" name="表格 4">
            <a:extLst>
              <a:ext uri="{FF2B5EF4-FFF2-40B4-BE49-F238E27FC236}">
                <a16:creationId xmlns:a16="http://schemas.microsoft.com/office/drawing/2014/main" id="{A5D5B8ED-11F5-4B39-8763-44AC5DA4D4D1}"/>
              </a:ext>
            </a:extLst>
          </p:cNvPr>
          <p:cNvGraphicFramePr>
            <a:graphicFrameLocks noGrp="1"/>
          </p:cNvGraphicFramePr>
          <p:nvPr>
            <p:extLst/>
          </p:nvPr>
        </p:nvGraphicFramePr>
        <p:xfrm>
          <a:off x="5943600" y="1066800"/>
          <a:ext cx="3581400" cy="5207000"/>
        </p:xfrm>
        <a:graphic>
          <a:graphicData uri="http://schemas.openxmlformats.org/drawingml/2006/table">
            <a:tbl>
              <a:tblPr firstRow="1" bandRow="1">
                <a:tableStyleId>{5940675A-B579-460E-94D1-54222C63F5DA}</a:tableStyleId>
              </a:tblPr>
              <a:tblGrid>
                <a:gridCol w="1377462">
                  <a:extLst>
                    <a:ext uri="{9D8B030D-6E8A-4147-A177-3AD203B41FA5}">
                      <a16:colId xmlns:a16="http://schemas.microsoft.com/office/drawing/2014/main" val="1723702745"/>
                    </a:ext>
                  </a:extLst>
                </a:gridCol>
                <a:gridCol w="2203938">
                  <a:extLst>
                    <a:ext uri="{9D8B030D-6E8A-4147-A177-3AD203B41FA5}">
                      <a16:colId xmlns:a16="http://schemas.microsoft.com/office/drawing/2014/main" val="4265164888"/>
                    </a:ext>
                  </a:extLst>
                </a:gridCol>
              </a:tblGrid>
              <a:tr h="370840">
                <a:tc>
                  <a:txBody>
                    <a:bodyPr/>
                    <a:lstStyle/>
                    <a:p>
                      <a:pPr algn="ctr"/>
                      <a:r>
                        <a:rPr lang="zh-CN" altLang="en-US" sz="2000" b="1" dirty="0">
                          <a:solidFill>
                            <a:srgbClr val="CC3399"/>
                          </a:solidFill>
                          <a:latin typeface="微软雅黑" panose="020B0503020204020204" pitchFamily="34" charset="-122"/>
                          <a:ea typeface="微软雅黑" panose="020B0503020204020204" pitchFamily="34" charset="-122"/>
                        </a:rPr>
                        <a:t>序号</a:t>
                      </a:r>
                    </a:p>
                  </a:txBody>
                  <a:tcPr/>
                </a:tc>
                <a:tc>
                  <a:txBody>
                    <a:bodyPr/>
                    <a:lstStyle/>
                    <a:p>
                      <a:pPr algn="ctr"/>
                      <a:r>
                        <a:rPr lang="zh-CN" altLang="en-US" sz="2000" b="1" dirty="0">
                          <a:solidFill>
                            <a:srgbClr val="CC3399"/>
                          </a:solidFill>
                          <a:latin typeface="微软雅黑" panose="020B0503020204020204" pitchFamily="34" charset="-122"/>
                          <a:ea typeface="微软雅黑" panose="020B0503020204020204" pitchFamily="34" charset="-122"/>
                        </a:rPr>
                        <a:t>日志</a:t>
                      </a:r>
                    </a:p>
                  </a:txBody>
                  <a:tcPr/>
                </a:tc>
                <a:extLst>
                  <a:ext uri="{0D108BD9-81ED-4DB2-BD59-A6C34878D82A}">
                    <a16:rowId xmlns:a16="http://schemas.microsoft.com/office/drawing/2014/main" val="2701624409"/>
                  </a:ext>
                </a:extLst>
              </a:tr>
              <a:tr h="370840">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1</a:t>
                      </a:r>
                      <a:endParaRPr lang="zh-CN" altLang="en-US" sz="1800" dirty="0">
                        <a:solidFill>
                          <a:srgbClr val="0000FF"/>
                        </a:solidFill>
                        <a:latin typeface="微软雅黑" panose="020B0503020204020204" pitchFamily="34" charset="-122"/>
                        <a:ea typeface="微软雅黑" panose="020B0503020204020204" pitchFamily="34" charset="-122"/>
                      </a:endParaRPr>
                    </a:p>
                  </a:txBody>
                  <a:tcPr/>
                </a:tc>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T1:</a:t>
                      </a:r>
                      <a:r>
                        <a:rPr lang="zh-CN" altLang="en-US" sz="1800" dirty="0">
                          <a:solidFill>
                            <a:srgbClr val="0000FF"/>
                          </a:solidFill>
                          <a:latin typeface="微软雅黑" panose="020B0503020204020204" pitchFamily="34" charset="-122"/>
                          <a:ea typeface="微软雅黑" panose="020B0503020204020204" pitchFamily="34" charset="-122"/>
                        </a:rPr>
                        <a:t>开始</a:t>
                      </a:r>
                    </a:p>
                  </a:txBody>
                  <a:tcPr/>
                </a:tc>
                <a:extLst>
                  <a:ext uri="{0D108BD9-81ED-4DB2-BD59-A6C34878D82A}">
                    <a16:rowId xmlns:a16="http://schemas.microsoft.com/office/drawing/2014/main" val="252412476"/>
                  </a:ext>
                </a:extLst>
              </a:tr>
              <a:tr h="370840">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2</a:t>
                      </a:r>
                      <a:endParaRPr lang="zh-CN" altLang="en-US" sz="1800" dirty="0">
                        <a:solidFill>
                          <a:srgbClr val="0000FF"/>
                        </a:solidFill>
                        <a:latin typeface="微软雅黑" panose="020B0503020204020204" pitchFamily="34" charset="-122"/>
                        <a:ea typeface="微软雅黑" panose="020B0503020204020204" pitchFamily="34" charset="-122"/>
                      </a:endParaRPr>
                    </a:p>
                  </a:txBody>
                  <a:tcPr/>
                </a:tc>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T1:</a:t>
                      </a:r>
                      <a:r>
                        <a:rPr lang="zh-CN" altLang="en-US" sz="1800" dirty="0">
                          <a:solidFill>
                            <a:srgbClr val="0000FF"/>
                          </a:solidFill>
                          <a:latin typeface="微软雅黑" panose="020B0503020204020204" pitchFamily="34" charset="-122"/>
                          <a:ea typeface="微软雅黑" panose="020B0503020204020204" pitchFamily="34" charset="-122"/>
                        </a:rPr>
                        <a:t>写</a:t>
                      </a:r>
                      <a:r>
                        <a:rPr lang="en-US" altLang="zh-CN" sz="1800" dirty="0">
                          <a:solidFill>
                            <a:srgbClr val="0000FF"/>
                          </a:solidFill>
                          <a:latin typeface="微软雅黑" panose="020B0503020204020204" pitchFamily="34" charset="-122"/>
                          <a:ea typeface="微软雅黑" panose="020B0503020204020204" pitchFamily="34" charset="-122"/>
                        </a:rPr>
                        <a:t>D</a:t>
                      </a:r>
                      <a:endParaRPr lang="zh-CN" altLang="en-US" sz="1800" dirty="0">
                        <a:solidFill>
                          <a:srgbClr val="0000FF"/>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2710695463"/>
                  </a:ext>
                </a:extLst>
              </a:tr>
              <a:tr h="370840">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3</a:t>
                      </a:r>
                      <a:endParaRPr lang="zh-CN" altLang="en-US" sz="1800" dirty="0">
                        <a:solidFill>
                          <a:srgbClr val="0000FF"/>
                        </a:solidFill>
                        <a:latin typeface="微软雅黑" panose="020B0503020204020204" pitchFamily="34" charset="-122"/>
                        <a:ea typeface="微软雅黑" panose="020B0503020204020204" pitchFamily="34" charset="-122"/>
                      </a:endParaRPr>
                    </a:p>
                  </a:txBody>
                  <a:tcPr/>
                </a:tc>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T1:</a:t>
                      </a:r>
                      <a:r>
                        <a:rPr lang="zh-CN" altLang="en-US" sz="1800" dirty="0">
                          <a:solidFill>
                            <a:srgbClr val="0000FF"/>
                          </a:solidFill>
                          <a:latin typeface="微软雅黑" panose="020B0503020204020204" pitchFamily="34" charset="-122"/>
                          <a:ea typeface="微软雅黑" panose="020B0503020204020204" pitchFamily="34" charset="-122"/>
                        </a:rPr>
                        <a:t>提交</a:t>
                      </a:r>
                    </a:p>
                  </a:txBody>
                  <a:tcPr/>
                </a:tc>
                <a:extLst>
                  <a:ext uri="{0D108BD9-81ED-4DB2-BD59-A6C34878D82A}">
                    <a16:rowId xmlns:a16="http://schemas.microsoft.com/office/drawing/2014/main" val="2646166010"/>
                  </a:ext>
                </a:extLst>
              </a:tr>
              <a:tr h="370840">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4</a:t>
                      </a:r>
                      <a:endParaRPr lang="zh-CN" altLang="en-US" sz="1800" dirty="0">
                        <a:solidFill>
                          <a:srgbClr val="0000FF"/>
                        </a:solidFill>
                        <a:latin typeface="微软雅黑" panose="020B0503020204020204" pitchFamily="34" charset="-122"/>
                        <a:ea typeface="微软雅黑" panose="020B0503020204020204" pitchFamily="34" charset="-122"/>
                      </a:endParaRPr>
                    </a:p>
                  </a:txBody>
                  <a:tcPr/>
                </a:tc>
                <a:tc>
                  <a:txBody>
                    <a:bodyPr/>
                    <a:lstStyle/>
                    <a:p>
                      <a:pPr algn="ctr"/>
                      <a:r>
                        <a:rPr lang="zh-CN" altLang="en-US" sz="1800" dirty="0">
                          <a:solidFill>
                            <a:srgbClr val="0000FF"/>
                          </a:solidFill>
                          <a:latin typeface="微软雅黑" panose="020B0503020204020204" pitchFamily="34" charset="-122"/>
                          <a:ea typeface="微软雅黑" panose="020B0503020204020204" pitchFamily="34" charset="-122"/>
                        </a:rPr>
                        <a:t>检查点</a:t>
                      </a:r>
                    </a:p>
                  </a:txBody>
                  <a:tcPr/>
                </a:tc>
                <a:extLst>
                  <a:ext uri="{0D108BD9-81ED-4DB2-BD59-A6C34878D82A}">
                    <a16:rowId xmlns:a16="http://schemas.microsoft.com/office/drawing/2014/main" val="356140555"/>
                  </a:ext>
                </a:extLst>
              </a:tr>
              <a:tr h="370840">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5</a:t>
                      </a:r>
                      <a:endParaRPr lang="zh-CN" altLang="en-US" sz="1800" dirty="0">
                        <a:solidFill>
                          <a:srgbClr val="0000FF"/>
                        </a:solidFill>
                        <a:latin typeface="微软雅黑" panose="020B0503020204020204" pitchFamily="34" charset="-122"/>
                        <a:ea typeface="微软雅黑" panose="020B0503020204020204" pitchFamily="34" charset="-122"/>
                      </a:endParaRPr>
                    </a:p>
                  </a:txBody>
                  <a:tcPr/>
                </a:tc>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T4:</a:t>
                      </a:r>
                      <a:r>
                        <a:rPr lang="zh-CN" altLang="en-US" sz="1800" dirty="0">
                          <a:solidFill>
                            <a:srgbClr val="0000FF"/>
                          </a:solidFill>
                          <a:latin typeface="微软雅黑" panose="020B0503020204020204" pitchFamily="34" charset="-122"/>
                          <a:ea typeface="微软雅黑" panose="020B0503020204020204" pitchFamily="34" charset="-122"/>
                        </a:rPr>
                        <a:t>开始</a:t>
                      </a:r>
                    </a:p>
                  </a:txBody>
                  <a:tcPr/>
                </a:tc>
                <a:extLst>
                  <a:ext uri="{0D108BD9-81ED-4DB2-BD59-A6C34878D82A}">
                    <a16:rowId xmlns:a16="http://schemas.microsoft.com/office/drawing/2014/main" val="2520856635"/>
                  </a:ext>
                </a:extLst>
              </a:tr>
              <a:tr h="370840">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6</a:t>
                      </a:r>
                      <a:endParaRPr lang="zh-CN" altLang="en-US" sz="1800" dirty="0">
                        <a:solidFill>
                          <a:srgbClr val="0000FF"/>
                        </a:solidFill>
                        <a:latin typeface="微软雅黑" panose="020B0503020204020204" pitchFamily="34" charset="-122"/>
                        <a:ea typeface="微软雅黑" panose="020B0503020204020204" pitchFamily="34" charset="-122"/>
                      </a:endParaRPr>
                    </a:p>
                  </a:txBody>
                  <a:tcPr/>
                </a:tc>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T4:</a:t>
                      </a:r>
                      <a:r>
                        <a:rPr lang="zh-CN" altLang="en-US" sz="1800" dirty="0">
                          <a:solidFill>
                            <a:srgbClr val="0000FF"/>
                          </a:solidFill>
                          <a:latin typeface="微软雅黑" panose="020B0503020204020204" pitchFamily="34" charset="-122"/>
                          <a:ea typeface="微软雅黑" panose="020B0503020204020204" pitchFamily="34" charset="-122"/>
                        </a:rPr>
                        <a:t>写</a:t>
                      </a:r>
                      <a:r>
                        <a:rPr lang="en-US" altLang="zh-CN" sz="1800" dirty="0">
                          <a:solidFill>
                            <a:srgbClr val="0000FF"/>
                          </a:solidFill>
                          <a:latin typeface="微软雅黑" panose="020B0503020204020204" pitchFamily="34" charset="-122"/>
                          <a:ea typeface="微软雅黑" panose="020B0503020204020204" pitchFamily="34" charset="-122"/>
                        </a:rPr>
                        <a:t>B</a:t>
                      </a:r>
                      <a:endParaRPr lang="zh-CN" altLang="en-US" sz="1800" dirty="0">
                        <a:solidFill>
                          <a:srgbClr val="0000FF"/>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2444366738"/>
                  </a:ext>
                </a:extLst>
              </a:tr>
              <a:tr h="370840">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7</a:t>
                      </a:r>
                      <a:endParaRPr lang="zh-CN" altLang="en-US" sz="1800" dirty="0">
                        <a:solidFill>
                          <a:srgbClr val="0000FF"/>
                        </a:solidFill>
                        <a:latin typeface="微软雅黑" panose="020B0503020204020204" pitchFamily="34" charset="-122"/>
                        <a:ea typeface="微软雅黑" panose="020B0503020204020204" pitchFamily="34" charset="-122"/>
                      </a:endParaRPr>
                    </a:p>
                  </a:txBody>
                  <a:tcPr/>
                </a:tc>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T4:</a:t>
                      </a:r>
                      <a:r>
                        <a:rPr lang="zh-CN" altLang="en-US" sz="1800" dirty="0">
                          <a:solidFill>
                            <a:srgbClr val="0000FF"/>
                          </a:solidFill>
                          <a:latin typeface="微软雅黑" panose="020B0503020204020204" pitchFamily="34" charset="-122"/>
                          <a:ea typeface="微软雅黑" panose="020B0503020204020204" pitchFamily="34" charset="-122"/>
                        </a:rPr>
                        <a:t>写</a:t>
                      </a:r>
                      <a:r>
                        <a:rPr lang="en-US" altLang="zh-CN" sz="1800" dirty="0">
                          <a:solidFill>
                            <a:srgbClr val="0000FF"/>
                          </a:solidFill>
                          <a:latin typeface="微软雅黑" panose="020B0503020204020204" pitchFamily="34" charset="-122"/>
                          <a:ea typeface="微软雅黑" panose="020B0503020204020204" pitchFamily="34" charset="-122"/>
                        </a:rPr>
                        <a:t>A</a:t>
                      </a:r>
                      <a:endParaRPr lang="zh-CN" altLang="en-US" sz="1800" dirty="0">
                        <a:solidFill>
                          <a:srgbClr val="0000FF"/>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693748121"/>
                  </a:ext>
                </a:extLst>
              </a:tr>
              <a:tr h="370840">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8</a:t>
                      </a:r>
                      <a:endParaRPr lang="zh-CN" altLang="en-US" sz="1800" dirty="0">
                        <a:solidFill>
                          <a:srgbClr val="0000FF"/>
                        </a:solidFill>
                        <a:latin typeface="微软雅黑" panose="020B0503020204020204" pitchFamily="34" charset="-122"/>
                        <a:ea typeface="微软雅黑" panose="020B0503020204020204" pitchFamily="34" charset="-122"/>
                      </a:endParaRPr>
                    </a:p>
                  </a:txBody>
                  <a:tcPr/>
                </a:tc>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T4:</a:t>
                      </a:r>
                      <a:r>
                        <a:rPr lang="zh-CN" altLang="en-US" sz="1800" dirty="0">
                          <a:solidFill>
                            <a:srgbClr val="0000FF"/>
                          </a:solidFill>
                          <a:latin typeface="微软雅黑" panose="020B0503020204020204" pitchFamily="34" charset="-122"/>
                          <a:ea typeface="微软雅黑" panose="020B0503020204020204" pitchFamily="34" charset="-122"/>
                        </a:rPr>
                        <a:t>提交</a:t>
                      </a:r>
                    </a:p>
                  </a:txBody>
                  <a:tcPr/>
                </a:tc>
                <a:extLst>
                  <a:ext uri="{0D108BD9-81ED-4DB2-BD59-A6C34878D82A}">
                    <a16:rowId xmlns:a16="http://schemas.microsoft.com/office/drawing/2014/main" val="1413806754"/>
                  </a:ext>
                </a:extLst>
              </a:tr>
              <a:tr h="370840">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9</a:t>
                      </a:r>
                      <a:endParaRPr lang="zh-CN" altLang="en-US" sz="1800" dirty="0">
                        <a:solidFill>
                          <a:srgbClr val="0000FF"/>
                        </a:solidFill>
                        <a:latin typeface="微软雅黑" panose="020B0503020204020204" pitchFamily="34" charset="-122"/>
                        <a:ea typeface="微软雅黑" panose="020B0503020204020204" pitchFamily="34" charset="-122"/>
                      </a:endParaRPr>
                    </a:p>
                  </a:txBody>
                  <a:tcPr/>
                </a:tc>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T2:</a:t>
                      </a:r>
                      <a:r>
                        <a:rPr lang="zh-CN" altLang="en-US" sz="1800" dirty="0">
                          <a:solidFill>
                            <a:srgbClr val="0000FF"/>
                          </a:solidFill>
                          <a:latin typeface="微软雅黑" panose="020B0503020204020204" pitchFamily="34" charset="-122"/>
                          <a:ea typeface="微软雅黑" panose="020B0503020204020204" pitchFamily="34" charset="-122"/>
                        </a:rPr>
                        <a:t>开始</a:t>
                      </a:r>
                    </a:p>
                  </a:txBody>
                  <a:tcPr/>
                </a:tc>
                <a:extLst>
                  <a:ext uri="{0D108BD9-81ED-4DB2-BD59-A6C34878D82A}">
                    <a16:rowId xmlns:a16="http://schemas.microsoft.com/office/drawing/2014/main" val="1734535445"/>
                  </a:ext>
                </a:extLst>
              </a:tr>
              <a:tr h="370840">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10</a:t>
                      </a:r>
                      <a:endParaRPr lang="zh-CN" altLang="en-US" sz="1800" dirty="0">
                        <a:solidFill>
                          <a:srgbClr val="0000FF"/>
                        </a:solidFill>
                        <a:latin typeface="微软雅黑" panose="020B0503020204020204" pitchFamily="34" charset="-122"/>
                        <a:ea typeface="微软雅黑" panose="020B0503020204020204" pitchFamily="34" charset="-122"/>
                      </a:endParaRPr>
                    </a:p>
                  </a:txBody>
                  <a:tcPr/>
                </a:tc>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T2:</a:t>
                      </a:r>
                      <a:r>
                        <a:rPr lang="zh-CN" altLang="en-US" sz="1800" dirty="0">
                          <a:solidFill>
                            <a:srgbClr val="0000FF"/>
                          </a:solidFill>
                          <a:latin typeface="微软雅黑" panose="020B0503020204020204" pitchFamily="34" charset="-122"/>
                          <a:ea typeface="微软雅黑" panose="020B0503020204020204" pitchFamily="34" charset="-122"/>
                        </a:rPr>
                        <a:t>写</a:t>
                      </a:r>
                      <a:r>
                        <a:rPr lang="en-US" altLang="zh-CN" sz="1800" dirty="0">
                          <a:solidFill>
                            <a:srgbClr val="0000FF"/>
                          </a:solidFill>
                          <a:latin typeface="微软雅黑" panose="020B0503020204020204" pitchFamily="34" charset="-122"/>
                          <a:ea typeface="微软雅黑" panose="020B0503020204020204" pitchFamily="34" charset="-122"/>
                        </a:rPr>
                        <a:t>B</a:t>
                      </a:r>
                      <a:endParaRPr lang="zh-CN" altLang="en-US" sz="1800" dirty="0">
                        <a:solidFill>
                          <a:srgbClr val="0000FF"/>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2068509517"/>
                  </a:ext>
                </a:extLst>
              </a:tr>
              <a:tr h="370840">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11</a:t>
                      </a:r>
                      <a:endParaRPr lang="zh-CN" altLang="en-US" sz="1800" dirty="0">
                        <a:solidFill>
                          <a:srgbClr val="0000FF"/>
                        </a:solidFill>
                        <a:latin typeface="微软雅黑" panose="020B0503020204020204" pitchFamily="34" charset="-122"/>
                        <a:ea typeface="微软雅黑" panose="020B0503020204020204" pitchFamily="34" charset="-122"/>
                      </a:endParaRPr>
                    </a:p>
                  </a:txBody>
                  <a:tcPr/>
                </a:tc>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T3:</a:t>
                      </a:r>
                      <a:r>
                        <a:rPr lang="zh-CN" altLang="en-US" sz="1800" dirty="0">
                          <a:solidFill>
                            <a:srgbClr val="0000FF"/>
                          </a:solidFill>
                          <a:latin typeface="微软雅黑" panose="020B0503020204020204" pitchFamily="34" charset="-122"/>
                          <a:ea typeface="微软雅黑" panose="020B0503020204020204" pitchFamily="34" charset="-122"/>
                        </a:rPr>
                        <a:t>开始</a:t>
                      </a:r>
                    </a:p>
                  </a:txBody>
                  <a:tcPr/>
                </a:tc>
                <a:extLst>
                  <a:ext uri="{0D108BD9-81ED-4DB2-BD59-A6C34878D82A}">
                    <a16:rowId xmlns:a16="http://schemas.microsoft.com/office/drawing/2014/main" val="3175868165"/>
                  </a:ext>
                </a:extLst>
              </a:tr>
              <a:tr h="198120">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12</a:t>
                      </a:r>
                      <a:endParaRPr lang="zh-CN" altLang="en-US" sz="1800" dirty="0">
                        <a:solidFill>
                          <a:srgbClr val="0000FF"/>
                        </a:solidFill>
                        <a:latin typeface="微软雅黑" panose="020B0503020204020204" pitchFamily="34" charset="-122"/>
                        <a:ea typeface="微软雅黑" panose="020B0503020204020204" pitchFamily="34" charset="-122"/>
                      </a:endParaRPr>
                    </a:p>
                  </a:txBody>
                  <a:tcPr/>
                </a:tc>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T3:</a:t>
                      </a:r>
                      <a:r>
                        <a:rPr lang="zh-CN" altLang="en-US" sz="1800" dirty="0">
                          <a:solidFill>
                            <a:srgbClr val="0000FF"/>
                          </a:solidFill>
                          <a:latin typeface="微软雅黑" panose="020B0503020204020204" pitchFamily="34" charset="-122"/>
                          <a:ea typeface="微软雅黑" panose="020B0503020204020204" pitchFamily="34" charset="-122"/>
                        </a:rPr>
                        <a:t>写</a:t>
                      </a:r>
                      <a:r>
                        <a:rPr lang="en-US" altLang="zh-CN" sz="1800" dirty="0">
                          <a:solidFill>
                            <a:srgbClr val="0000FF"/>
                          </a:solidFill>
                          <a:latin typeface="微软雅黑" panose="020B0503020204020204" pitchFamily="34" charset="-122"/>
                          <a:ea typeface="微软雅黑" panose="020B0503020204020204" pitchFamily="34" charset="-122"/>
                        </a:rPr>
                        <a:t>A</a:t>
                      </a:r>
                      <a:endParaRPr lang="zh-CN" altLang="en-US" sz="1800" dirty="0">
                        <a:solidFill>
                          <a:srgbClr val="0000FF"/>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2804908207"/>
                  </a:ext>
                </a:extLst>
              </a:tr>
              <a:tr h="198120">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13</a:t>
                      </a:r>
                      <a:endParaRPr lang="zh-CN" altLang="en-US" sz="1800" dirty="0">
                        <a:solidFill>
                          <a:srgbClr val="0000FF"/>
                        </a:solidFill>
                        <a:latin typeface="微软雅黑" panose="020B0503020204020204" pitchFamily="34" charset="-122"/>
                        <a:ea typeface="微软雅黑" panose="020B0503020204020204" pitchFamily="34" charset="-122"/>
                      </a:endParaRPr>
                    </a:p>
                  </a:txBody>
                  <a:tcPr/>
                </a:tc>
                <a:tc>
                  <a:txBody>
                    <a:bodyPr/>
                    <a:lstStyle/>
                    <a:p>
                      <a:pPr algn="ctr"/>
                      <a:r>
                        <a:rPr lang="en-US" altLang="zh-CN" sz="1800" dirty="0">
                          <a:solidFill>
                            <a:srgbClr val="0000FF"/>
                          </a:solidFill>
                          <a:latin typeface="微软雅黑" panose="020B0503020204020204" pitchFamily="34" charset="-122"/>
                          <a:ea typeface="微软雅黑" panose="020B0503020204020204" pitchFamily="34" charset="-122"/>
                        </a:rPr>
                        <a:t>T2:</a:t>
                      </a:r>
                      <a:r>
                        <a:rPr lang="zh-CN" altLang="en-US" sz="1800" dirty="0">
                          <a:solidFill>
                            <a:srgbClr val="0000FF"/>
                          </a:solidFill>
                          <a:latin typeface="微软雅黑" panose="020B0503020204020204" pitchFamily="34" charset="-122"/>
                          <a:ea typeface="微软雅黑" panose="020B0503020204020204" pitchFamily="34" charset="-122"/>
                        </a:rPr>
                        <a:t>写</a:t>
                      </a:r>
                      <a:r>
                        <a:rPr lang="en-US" altLang="zh-CN" sz="1800" dirty="0">
                          <a:solidFill>
                            <a:srgbClr val="0000FF"/>
                          </a:solidFill>
                          <a:latin typeface="微软雅黑" panose="020B0503020204020204" pitchFamily="34" charset="-122"/>
                          <a:ea typeface="微软雅黑" panose="020B0503020204020204" pitchFamily="34" charset="-122"/>
                        </a:rPr>
                        <a:t>D</a:t>
                      </a:r>
                      <a:endParaRPr lang="zh-CN" altLang="en-US" sz="1800" dirty="0">
                        <a:solidFill>
                          <a:srgbClr val="0000FF"/>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825784815"/>
                  </a:ext>
                </a:extLst>
              </a:tr>
            </a:tbl>
          </a:graphicData>
        </a:graphic>
      </p:graphicFrame>
    </p:spTree>
    <p:extLst>
      <p:ext uri="{BB962C8B-B14F-4D97-AF65-F5344CB8AC3E}">
        <p14:creationId xmlns:p14="http://schemas.microsoft.com/office/powerpoint/2010/main" val="30736537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AC8941-B4C9-41A4-AA34-D01C30E7C370}"/>
              </a:ext>
            </a:extLst>
          </p:cNvPr>
          <p:cNvSpPr>
            <a:spLocks noGrp="1"/>
          </p:cNvSpPr>
          <p:nvPr>
            <p:ph type="title"/>
          </p:nvPr>
        </p:nvSpPr>
        <p:spPr/>
        <p:txBody>
          <a:bodyPr/>
          <a:lstStyle/>
          <a:p>
            <a:r>
              <a:rPr lang="en-US" altLang="zh-CN"/>
              <a:t>openGauss</a:t>
            </a:r>
            <a:r>
              <a:rPr lang="zh-CN" altLang="en-US"/>
              <a:t>的检查点</a:t>
            </a:r>
          </a:p>
        </p:txBody>
      </p:sp>
      <p:sp>
        <p:nvSpPr>
          <p:cNvPr id="3" name="内容占位符 2">
            <a:extLst>
              <a:ext uri="{FF2B5EF4-FFF2-40B4-BE49-F238E27FC236}">
                <a16:creationId xmlns:a16="http://schemas.microsoft.com/office/drawing/2014/main" id="{235F1A18-E6CA-4C81-A64C-E8613BF55EE7}"/>
              </a:ext>
            </a:extLst>
          </p:cNvPr>
          <p:cNvSpPr>
            <a:spLocks noGrp="1"/>
          </p:cNvSpPr>
          <p:nvPr>
            <p:ph idx="1"/>
          </p:nvPr>
        </p:nvSpPr>
        <p:spPr/>
        <p:txBody>
          <a:bodyPr/>
          <a:lstStyle/>
          <a:p>
            <a:r>
              <a:rPr lang="zh-CN" altLang="en-US"/>
              <a:t>官网：</a:t>
            </a:r>
            <a:endParaRPr lang="en-US" altLang="zh-CN"/>
          </a:p>
          <a:p>
            <a:pPr marL="289225" lvl="1" indent="0">
              <a:buNone/>
            </a:pPr>
            <a:r>
              <a:rPr lang="en-US" altLang="zh-CN" sz="2400">
                <a:hlinkClick r:id="rId2"/>
              </a:rPr>
              <a:t>https://www.opengauss.org/zh/docs/3.1.0/docs/Developerguide/%E6%A3%80%E6%9F%A5%E7%82%B9.html</a:t>
            </a:r>
            <a:endParaRPr lang="en-US" altLang="zh-CN"/>
          </a:p>
          <a:p>
            <a:endParaRPr lang="en-US" altLang="zh-CN"/>
          </a:p>
          <a:p>
            <a:r>
              <a:rPr lang="zh-CN" altLang="en-US"/>
              <a:t>墨天轮：</a:t>
            </a:r>
            <a:endParaRPr lang="en-US" altLang="zh-CN"/>
          </a:p>
          <a:p>
            <a:pPr marL="289225" lvl="1" indent="0">
              <a:buNone/>
            </a:pPr>
            <a:r>
              <a:rPr lang="en-US" altLang="zh-CN" sz="2400">
                <a:hlinkClick r:id="rId3"/>
              </a:rPr>
              <a:t>https://www.modb.pro/db/30794</a:t>
            </a:r>
            <a:endParaRPr lang="en-US" altLang="zh-CN" sz="2400"/>
          </a:p>
          <a:p>
            <a:pPr marL="289225" lvl="1" indent="0">
              <a:buNone/>
            </a:pPr>
            <a:r>
              <a:rPr lang="en-US" altLang="zh-CN" sz="2400">
                <a:hlinkClick r:id="rId4"/>
              </a:rPr>
              <a:t>https://www.modb.pro/db/214502</a:t>
            </a:r>
            <a:endParaRPr lang="en-US" altLang="zh-CN" sz="2400"/>
          </a:p>
          <a:p>
            <a:pPr marL="289225" lvl="1" indent="0">
              <a:buNone/>
            </a:pPr>
            <a:endParaRPr lang="en-US" altLang="zh-CN" sz="2400"/>
          </a:p>
          <a:p>
            <a:pPr lvl="1"/>
            <a:endParaRPr lang="zh-CN" altLang="en-US" sz="2400"/>
          </a:p>
        </p:txBody>
      </p:sp>
      <p:sp>
        <p:nvSpPr>
          <p:cNvPr id="4" name="灯片编号占位符 3">
            <a:extLst>
              <a:ext uri="{FF2B5EF4-FFF2-40B4-BE49-F238E27FC236}">
                <a16:creationId xmlns:a16="http://schemas.microsoft.com/office/drawing/2014/main" id="{47A8186E-8725-4976-9246-AAC0CBFE3E6A}"/>
              </a:ext>
            </a:extLst>
          </p:cNvPr>
          <p:cNvSpPr>
            <a:spLocks noGrp="1"/>
          </p:cNvSpPr>
          <p:nvPr>
            <p:ph type="sldNum" sz="quarter" idx="12"/>
          </p:nvPr>
        </p:nvSpPr>
        <p:spPr/>
        <p:txBody>
          <a:bodyPr/>
          <a:lstStyle/>
          <a:p>
            <a:fld id="{E63F6D5D-9733-4D44-9C56-AEFEDD5A4BA7}" type="slidenum">
              <a:rPr lang="en-US" smtClean="0"/>
              <a:pPr/>
              <a:t>42</a:t>
            </a:fld>
            <a:endParaRPr lang="en-US" dirty="0"/>
          </a:p>
        </p:txBody>
      </p:sp>
    </p:spTree>
    <p:extLst>
      <p:ext uri="{BB962C8B-B14F-4D97-AF65-F5344CB8AC3E}">
        <p14:creationId xmlns:p14="http://schemas.microsoft.com/office/powerpoint/2010/main" val="37593276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CEF549-AAF3-49B4-9531-7F0776E0EEAF}"/>
              </a:ext>
            </a:extLst>
          </p:cNvPr>
          <p:cNvSpPr>
            <a:spLocks noGrp="1"/>
          </p:cNvSpPr>
          <p:nvPr>
            <p:ph type="title"/>
          </p:nvPr>
        </p:nvSpPr>
        <p:spPr/>
        <p:txBody>
          <a:bodyPr/>
          <a:lstStyle/>
          <a:p>
            <a:r>
              <a:rPr lang="en-US" altLang="zh-CN" dirty="0"/>
              <a:t>10.7 </a:t>
            </a:r>
            <a:r>
              <a:rPr lang="zh-CN" altLang="en-US" dirty="0"/>
              <a:t>数据库镜像</a:t>
            </a:r>
          </a:p>
        </p:txBody>
      </p:sp>
      <p:sp>
        <p:nvSpPr>
          <p:cNvPr id="3" name="内容占位符 2">
            <a:extLst>
              <a:ext uri="{FF2B5EF4-FFF2-40B4-BE49-F238E27FC236}">
                <a16:creationId xmlns:a16="http://schemas.microsoft.com/office/drawing/2014/main" id="{6CCFE71E-DE04-406D-8BA3-A2D763681AE2}"/>
              </a:ext>
            </a:extLst>
          </p:cNvPr>
          <p:cNvSpPr>
            <a:spLocks noGrp="1"/>
          </p:cNvSpPr>
          <p:nvPr>
            <p:ph idx="1"/>
          </p:nvPr>
        </p:nvSpPr>
        <p:spPr/>
        <p:txBody>
          <a:bodyPr/>
          <a:lstStyle/>
          <a:p>
            <a:r>
              <a:rPr lang="zh-CN" altLang="en-US" sz="2800">
                <a:solidFill>
                  <a:srgbClr val="0000FF"/>
                </a:solidFill>
              </a:rPr>
              <a:t>介质故障是对系统影响最为严重的一种故障</a:t>
            </a:r>
            <a:r>
              <a:rPr lang="zh-CN" altLang="en-US" sz="2800"/>
              <a:t>，</a:t>
            </a:r>
            <a:r>
              <a:rPr lang="zh-CN" altLang="en-US" sz="2800">
                <a:solidFill>
                  <a:srgbClr val="0000FF"/>
                </a:solidFill>
              </a:rPr>
              <a:t>严重影响数据库的</a:t>
            </a:r>
            <a:r>
              <a:rPr lang="zh-CN" altLang="en-US" sz="2800">
                <a:solidFill>
                  <a:srgbClr val="FF0000"/>
                </a:solidFill>
              </a:rPr>
              <a:t>可用性。</a:t>
            </a:r>
          </a:p>
          <a:p>
            <a:pPr lvl="1"/>
            <a:r>
              <a:rPr lang="zh-CN" altLang="en-US" sz="2400"/>
              <a:t>用户应用全部中断，恢复比较费时</a:t>
            </a:r>
            <a:endParaRPr lang="en-US" altLang="zh-CN" sz="2400"/>
          </a:p>
          <a:p>
            <a:pPr lvl="1"/>
            <a:r>
              <a:rPr lang="en-US" altLang="zh-CN" sz="2400"/>
              <a:t>DBA</a:t>
            </a:r>
            <a:r>
              <a:rPr lang="zh-CN" altLang="en-US" sz="2400"/>
              <a:t>必须周期性地转储数据库，加重了</a:t>
            </a:r>
            <a:r>
              <a:rPr lang="en-US" altLang="zh-CN" sz="2400"/>
              <a:t>DBA</a:t>
            </a:r>
            <a:r>
              <a:rPr lang="zh-CN" altLang="en-US" sz="2400"/>
              <a:t>的负担</a:t>
            </a:r>
            <a:endParaRPr lang="en-US" altLang="zh-CN" sz="2400"/>
          </a:p>
          <a:p>
            <a:pPr marL="357187" lvl="1" indent="0">
              <a:buNone/>
            </a:pPr>
            <a:endParaRPr lang="en-US" altLang="zh-CN" sz="900"/>
          </a:p>
          <a:p>
            <a:r>
              <a:rPr lang="zh-CN" altLang="en-US" sz="2800" u="sng">
                <a:solidFill>
                  <a:srgbClr val="FF0000"/>
                </a:solidFill>
              </a:rPr>
              <a:t>数据库镜像</a:t>
            </a:r>
            <a:r>
              <a:rPr lang="en-US" altLang="zh-CN" sz="2800" u="sng">
                <a:solidFill>
                  <a:srgbClr val="FF0000"/>
                </a:solidFill>
              </a:rPr>
              <a:t>(Mirror)</a:t>
            </a:r>
            <a:r>
              <a:rPr lang="zh-CN" altLang="en-US" sz="2800"/>
              <a:t>是解决介质故障、提高数据库可用性的一种常用方法。</a:t>
            </a:r>
            <a:endParaRPr lang="en-US" altLang="zh-CN" sz="2800"/>
          </a:p>
          <a:p>
            <a:pPr lvl="1"/>
            <a:r>
              <a:rPr lang="zh-CN" altLang="en-US" sz="2400"/>
              <a:t>即根据</a:t>
            </a:r>
            <a:r>
              <a:rPr lang="en-US" altLang="zh-CN" sz="2400"/>
              <a:t>DBA</a:t>
            </a:r>
            <a:r>
              <a:rPr lang="zh-CN" altLang="en-US" sz="2400"/>
              <a:t>的要求，自动把整个数据库或其中的关键数据复制到另一个磁盘上。每当主数据库更新时，</a:t>
            </a:r>
            <a:r>
              <a:rPr lang="en-US" altLang="zh-CN" sz="2400"/>
              <a:t>DBMS</a:t>
            </a:r>
            <a:r>
              <a:rPr lang="zh-CN" altLang="en-US" sz="2400"/>
              <a:t>自动把更新后的数据复制过去，由</a:t>
            </a:r>
            <a:r>
              <a:rPr lang="en-US" altLang="zh-CN" sz="2400"/>
              <a:t>DBMS</a:t>
            </a:r>
            <a:r>
              <a:rPr lang="zh-CN" altLang="en-US" sz="2400"/>
              <a:t>自动保证镜像数据与主数据库的一致性。</a:t>
            </a:r>
          </a:p>
        </p:txBody>
      </p:sp>
      <p:sp>
        <p:nvSpPr>
          <p:cNvPr id="4" name="灯片编号占位符 3">
            <a:extLst>
              <a:ext uri="{FF2B5EF4-FFF2-40B4-BE49-F238E27FC236}">
                <a16:creationId xmlns:a16="http://schemas.microsoft.com/office/drawing/2014/main" id="{E7428D98-15FC-4C00-A875-8A1A5B6B70B8}"/>
              </a:ext>
            </a:extLst>
          </p:cNvPr>
          <p:cNvSpPr>
            <a:spLocks noGrp="1"/>
          </p:cNvSpPr>
          <p:nvPr>
            <p:ph type="sldNum" sz="quarter" idx="12"/>
          </p:nvPr>
        </p:nvSpPr>
        <p:spPr/>
        <p:txBody>
          <a:bodyPr/>
          <a:lstStyle/>
          <a:p>
            <a:fld id="{E63F6D5D-9733-4D44-9C56-AEFEDD5A4BA7}" type="slidenum">
              <a:rPr lang="en-US" smtClean="0"/>
              <a:pPr/>
              <a:t>43</a:t>
            </a:fld>
            <a:endParaRPr lang="en-US" dirty="0"/>
          </a:p>
        </p:txBody>
      </p:sp>
    </p:spTree>
    <p:extLst>
      <p:ext uri="{BB962C8B-B14F-4D97-AF65-F5344CB8AC3E}">
        <p14:creationId xmlns:p14="http://schemas.microsoft.com/office/powerpoint/2010/main" val="15719466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B5308E9-E36C-4E1C-8742-2214F6E4AB91}"/>
              </a:ext>
            </a:extLst>
          </p:cNvPr>
          <p:cNvSpPr>
            <a:spLocks noGrp="1"/>
          </p:cNvSpPr>
          <p:nvPr>
            <p:ph type="sldNum" sz="quarter" idx="12"/>
          </p:nvPr>
        </p:nvSpPr>
        <p:spPr/>
        <p:txBody>
          <a:bodyPr/>
          <a:lstStyle/>
          <a:p>
            <a:fld id="{E63F6D5D-9733-4D44-9C56-AEFEDD5A4BA7}" type="slidenum">
              <a:rPr lang="en-US" smtClean="0"/>
              <a:pPr/>
              <a:t>44</a:t>
            </a:fld>
            <a:endParaRPr lang="en-US" dirty="0"/>
          </a:p>
        </p:txBody>
      </p:sp>
      <p:pic>
        <p:nvPicPr>
          <p:cNvPr id="5" name="Picture 5">
            <a:extLst>
              <a:ext uri="{FF2B5EF4-FFF2-40B4-BE49-F238E27FC236}">
                <a16:creationId xmlns:a16="http://schemas.microsoft.com/office/drawing/2014/main" id="{5349F9E3-5EF5-4FC6-B70D-E2D958AA1C79}"/>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295400" y="2133600"/>
            <a:ext cx="9163050" cy="286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1">
            <a:extLst>
              <a:ext uri="{FF2B5EF4-FFF2-40B4-BE49-F238E27FC236}">
                <a16:creationId xmlns:a16="http://schemas.microsoft.com/office/drawing/2014/main" id="{43065B88-9D00-4E51-973E-0F35A0D8AE2B}"/>
              </a:ext>
            </a:extLst>
          </p:cNvPr>
          <p:cNvSpPr>
            <a:spLocks noGrp="1"/>
          </p:cNvSpPr>
          <p:nvPr>
            <p:ph type="title"/>
          </p:nvPr>
        </p:nvSpPr>
        <p:spPr>
          <a:xfrm>
            <a:off x="1281113" y="238125"/>
            <a:ext cx="9553575" cy="512763"/>
          </a:xfrm>
        </p:spPr>
        <p:txBody>
          <a:bodyPr/>
          <a:lstStyle/>
          <a:p>
            <a:r>
              <a:rPr lang="en-US" altLang="zh-CN" dirty="0"/>
              <a:t>10.7 </a:t>
            </a:r>
            <a:r>
              <a:rPr lang="zh-CN" altLang="en-US" dirty="0"/>
              <a:t>数据库镜像</a:t>
            </a:r>
          </a:p>
        </p:txBody>
      </p:sp>
    </p:spTree>
    <p:extLst>
      <p:ext uri="{BB962C8B-B14F-4D97-AF65-F5344CB8AC3E}">
        <p14:creationId xmlns:p14="http://schemas.microsoft.com/office/powerpoint/2010/main" val="17677536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F44FBEA-A537-4649-BB03-1AB6C18D3690}"/>
              </a:ext>
            </a:extLst>
          </p:cNvPr>
          <p:cNvSpPr>
            <a:spLocks noGrp="1"/>
          </p:cNvSpPr>
          <p:nvPr>
            <p:ph idx="1"/>
          </p:nvPr>
        </p:nvSpPr>
        <p:spPr/>
        <p:txBody>
          <a:bodyPr>
            <a:normAutofit fontScale="92500"/>
          </a:bodyPr>
          <a:lstStyle/>
          <a:p>
            <a:r>
              <a:rPr lang="zh-CN" altLang="en-US">
                <a:solidFill>
                  <a:srgbClr val="FF0000"/>
                </a:solidFill>
              </a:rPr>
              <a:t>镜像数据库的使用：</a:t>
            </a:r>
            <a:endParaRPr lang="en-US" altLang="zh-CN">
              <a:solidFill>
                <a:srgbClr val="FF0000"/>
              </a:solidFill>
            </a:endParaRPr>
          </a:p>
          <a:p>
            <a:pPr lvl="1"/>
            <a:r>
              <a:rPr lang="zh-CN" altLang="en-US" sz="2600"/>
              <a:t>当出现介质故障时，可由镜像磁盘继续提供使用，同时</a:t>
            </a:r>
            <a:r>
              <a:rPr lang="en-US" altLang="zh-CN" sz="2600"/>
              <a:t>DBMS</a:t>
            </a:r>
            <a:r>
              <a:rPr lang="zh-CN" altLang="en-US" sz="2600"/>
              <a:t>自动利用镜像磁盘数据进行数据库的恢复，不需要关闭系统和重装数据库副本。</a:t>
            </a:r>
            <a:endParaRPr lang="en-US" altLang="zh-CN" sz="2600"/>
          </a:p>
          <a:p>
            <a:pPr marL="357187" lvl="1" indent="0">
              <a:buNone/>
            </a:pPr>
            <a:endParaRPr lang="en-US" altLang="zh-CN"/>
          </a:p>
          <a:p>
            <a:pPr marL="357187" lvl="1" indent="0">
              <a:buNone/>
            </a:pPr>
            <a:endParaRPr lang="en-US" altLang="zh-CN"/>
          </a:p>
          <a:p>
            <a:pPr marL="357187" lvl="1" indent="0">
              <a:buNone/>
            </a:pPr>
            <a:endParaRPr lang="en-US" altLang="zh-CN"/>
          </a:p>
          <a:p>
            <a:pPr marL="357187" lvl="1" indent="0">
              <a:buNone/>
            </a:pPr>
            <a:endParaRPr lang="en-US" altLang="zh-CN"/>
          </a:p>
          <a:p>
            <a:pPr lvl="1"/>
            <a:r>
              <a:rPr lang="zh-CN" altLang="en-US" sz="2600"/>
              <a:t>当没有故障时，数据库镜像还可以用于并发操作，即当一个用户对数据加排他锁修改数据时，其他用户可以读镜像数据库上的数据，而</a:t>
            </a:r>
            <a:r>
              <a:rPr lang="zh-CN" altLang="en-US" sz="2400"/>
              <a:t>不必等待该用户释放锁。</a:t>
            </a:r>
            <a:endParaRPr lang="en-US" altLang="zh-CN" sz="2400"/>
          </a:p>
          <a:p>
            <a:pPr lvl="1"/>
            <a:r>
              <a:rPr lang="zh-CN" altLang="en-US" sz="2400"/>
              <a:t>由于数据库镜像是通过</a:t>
            </a:r>
            <a:r>
              <a:rPr lang="zh-CN" altLang="en-US" sz="2400">
                <a:solidFill>
                  <a:srgbClr val="FF0000"/>
                </a:solidFill>
              </a:rPr>
              <a:t>复制数据</a:t>
            </a:r>
            <a:r>
              <a:rPr lang="zh-CN" altLang="en-US" sz="2400"/>
              <a:t>实现，频繁地复制数据自然会降低系统运行效率，因此在实际应用中只对</a:t>
            </a:r>
            <a:r>
              <a:rPr lang="zh-CN" altLang="en-US" sz="2400">
                <a:solidFill>
                  <a:srgbClr val="FF0000"/>
                </a:solidFill>
              </a:rPr>
              <a:t>关键数据</a:t>
            </a:r>
            <a:r>
              <a:rPr lang="zh-CN" altLang="en-US" sz="2400"/>
              <a:t>和</a:t>
            </a:r>
            <a:r>
              <a:rPr lang="zh-CN" altLang="en-US" sz="2400">
                <a:solidFill>
                  <a:srgbClr val="FF0000"/>
                </a:solidFill>
              </a:rPr>
              <a:t>日志文件</a:t>
            </a:r>
            <a:r>
              <a:rPr lang="zh-CN" altLang="en-US" sz="2400"/>
              <a:t>进行镜像，而不是整个数据库。</a:t>
            </a:r>
          </a:p>
        </p:txBody>
      </p:sp>
      <p:sp>
        <p:nvSpPr>
          <p:cNvPr id="4" name="灯片编号占位符 3">
            <a:extLst>
              <a:ext uri="{FF2B5EF4-FFF2-40B4-BE49-F238E27FC236}">
                <a16:creationId xmlns:a16="http://schemas.microsoft.com/office/drawing/2014/main" id="{00020970-FC5B-4669-834D-B306D5EAFB0E}"/>
              </a:ext>
            </a:extLst>
          </p:cNvPr>
          <p:cNvSpPr>
            <a:spLocks noGrp="1"/>
          </p:cNvSpPr>
          <p:nvPr>
            <p:ph type="sldNum" sz="quarter" idx="12"/>
          </p:nvPr>
        </p:nvSpPr>
        <p:spPr/>
        <p:txBody>
          <a:bodyPr/>
          <a:lstStyle/>
          <a:p>
            <a:fld id="{E63F6D5D-9733-4D44-9C56-AEFEDD5A4BA7}" type="slidenum">
              <a:rPr lang="en-US" smtClean="0"/>
              <a:pPr/>
              <a:t>45</a:t>
            </a:fld>
            <a:endParaRPr lang="en-US" dirty="0"/>
          </a:p>
        </p:txBody>
      </p:sp>
      <p:graphicFrame>
        <p:nvGraphicFramePr>
          <p:cNvPr id="5" name="对象 4">
            <a:extLst>
              <a:ext uri="{FF2B5EF4-FFF2-40B4-BE49-F238E27FC236}">
                <a16:creationId xmlns:a16="http://schemas.microsoft.com/office/drawing/2014/main" id="{F524DA94-20A2-4BDF-9931-9F0478FF3F47}"/>
              </a:ext>
            </a:extLst>
          </p:cNvPr>
          <p:cNvGraphicFramePr>
            <a:graphicFrameLocks noChangeAspect="1"/>
          </p:cNvGraphicFramePr>
          <p:nvPr>
            <p:extLst/>
          </p:nvPr>
        </p:nvGraphicFramePr>
        <p:xfrm>
          <a:off x="3581400" y="2514600"/>
          <a:ext cx="5029200" cy="1656883"/>
        </p:xfrm>
        <a:graphic>
          <a:graphicData uri="http://schemas.openxmlformats.org/presentationml/2006/ole">
            <mc:AlternateContent xmlns:mc="http://schemas.openxmlformats.org/markup-compatibility/2006">
              <mc:Choice xmlns:v="urn:schemas-microsoft-com:vml" Requires="v">
                <p:oleObj spid="_x0000_s1028" r:id="rId3" imgW="23669841" imgH="7796825" progId="Photoshop.Image.7">
                  <p:embed/>
                </p:oleObj>
              </mc:Choice>
              <mc:Fallback>
                <p:oleObj r:id="rId3" imgW="23669841" imgH="7796825" progId="Photoshop.Image.7">
                  <p:embed/>
                  <p:pic>
                    <p:nvPicPr>
                      <p:cNvPr id="5" name="对象 4">
                        <a:extLst>
                          <a:ext uri="{FF2B5EF4-FFF2-40B4-BE49-F238E27FC236}">
                            <a16:creationId xmlns:a16="http://schemas.microsoft.com/office/drawing/2014/main" id="{F524DA94-20A2-4BDF-9931-9F0478FF3F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2514600"/>
                        <a:ext cx="5029200" cy="1656883"/>
                      </a:xfrm>
                      <a:prstGeom prst="rect">
                        <a:avLst/>
                      </a:prstGeom>
                      <a:noFill/>
                      <a:ln w="3175">
                        <a:noFill/>
                      </a:ln>
                    </p:spPr>
                  </p:pic>
                </p:oleObj>
              </mc:Fallback>
            </mc:AlternateContent>
          </a:graphicData>
        </a:graphic>
      </p:graphicFrame>
      <p:sp>
        <p:nvSpPr>
          <p:cNvPr id="6" name="标题 1">
            <a:extLst>
              <a:ext uri="{FF2B5EF4-FFF2-40B4-BE49-F238E27FC236}">
                <a16:creationId xmlns:a16="http://schemas.microsoft.com/office/drawing/2014/main" id="{E2387C30-B632-4008-9DCD-2A302A013877}"/>
              </a:ext>
            </a:extLst>
          </p:cNvPr>
          <p:cNvSpPr>
            <a:spLocks noGrp="1"/>
          </p:cNvSpPr>
          <p:nvPr>
            <p:ph type="title"/>
          </p:nvPr>
        </p:nvSpPr>
        <p:spPr>
          <a:xfrm>
            <a:off x="1281113" y="238125"/>
            <a:ext cx="9553575" cy="512763"/>
          </a:xfrm>
        </p:spPr>
        <p:txBody>
          <a:bodyPr/>
          <a:lstStyle/>
          <a:p>
            <a:r>
              <a:rPr lang="en-US" altLang="zh-CN" dirty="0"/>
              <a:t>10.7 </a:t>
            </a:r>
            <a:r>
              <a:rPr lang="zh-CN" altLang="en-US" dirty="0"/>
              <a:t>数据库镜像</a:t>
            </a:r>
          </a:p>
        </p:txBody>
      </p:sp>
    </p:spTree>
    <p:extLst>
      <p:ext uri="{BB962C8B-B14F-4D97-AF65-F5344CB8AC3E}">
        <p14:creationId xmlns:p14="http://schemas.microsoft.com/office/powerpoint/2010/main" val="32442974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06B6DF-B7E4-403A-86DE-F077A4DF78D2}"/>
              </a:ext>
            </a:extLst>
          </p:cNvPr>
          <p:cNvSpPr>
            <a:spLocks noGrp="1"/>
          </p:cNvSpPr>
          <p:nvPr>
            <p:ph type="title"/>
          </p:nvPr>
        </p:nvSpPr>
        <p:spPr/>
        <p:txBody>
          <a:bodyPr/>
          <a:lstStyle/>
          <a:p>
            <a:r>
              <a:rPr lang="en-US" altLang="zh-CN"/>
              <a:t>openGauss</a:t>
            </a:r>
            <a:r>
              <a:rPr lang="zh-CN" altLang="en-US"/>
              <a:t>主备</a:t>
            </a:r>
          </a:p>
        </p:txBody>
      </p:sp>
      <p:sp>
        <p:nvSpPr>
          <p:cNvPr id="3" name="内容占位符 2">
            <a:extLst>
              <a:ext uri="{FF2B5EF4-FFF2-40B4-BE49-F238E27FC236}">
                <a16:creationId xmlns:a16="http://schemas.microsoft.com/office/drawing/2014/main" id="{A30F5C23-56FB-4F5E-A8BC-F170DB438467}"/>
              </a:ext>
            </a:extLst>
          </p:cNvPr>
          <p:cNvSpPr>
            <a:spLocks noGrp="1"/>
          </p:cNvSpPr>
          <p:nvPr>
            <p:ph idx="1"/>
          </p:nvPr>
        </p:nvSpPr>
        <p:spPr/>
        <p:txBody>
          <a:bodyPr/>
          <a:lstStyle/>
          <a:p>
            <a:r>
              <a:rPr lang="zh-CN" altLang="en-US"/>
              <a:t>官网</a:t>
            </a:r>
            <a:endParaRPr lang="en-US" altLang="zh-CN"/>
          </a:p>
          <a:p>
            <a:pPr marL="0" indent="0">
              <a:buNone/>
            </a:pPr>
            <a:r>
              <a:rPr lang="en-US" altLang="zh-CN" sz="2400">
                <a:hlinkClick r:id="rId2"/>
              </a:rPr>
              <a:t>https://www.opengauss.org/zh/docs/3.1.0/docs/CharacteristicDescription/%E4%B8%BB%E5%A4%87%E6%9C%BA.html</a:t>
            </a:r>
            <a:endParaRPr lang="en-US" altLang="zh-CN" sz="2400"/>
          </a:p>
          <a:p>
            <a:pPr marL="0" indent="0">
              <a:buNone/>
            </a:pPr>
            <a:endParaRPr lang="en-US" altLang="zh-CN"/>
          </a:p>
          <a:p>
            <a:r>
              <a:rPr lang="zh-CN" altLang="en-US"/>
              <a:t>墨天轮</a:t>
            </a:r>
            <a:endParaRPr lang="en-US" altLang="zh-CN"/>
          </a:p>
          <a:p>
            <a:pPr marL="0" indent="0">
              <a:buNone/>
            </a:pPr>
            <a:r>
              <a:rPr lang="en-US" altLang="zh-CN" sz="2400">
                <a:hlinkClick r:id="rId3"/>
              </a:rPr>
              <a:t>https://www.modb.pro/db/30014</a:t>
            </a:r>
            <a:endParaRPr lang="en-US" altLang="zh-CN" sz="2400"/>
          </a:p>
          <a:p>
            <a:pPr marL="0" indent="0">
              <a:buNone/>
            </a:pPr>
            <a:r>
              <a:rPr lang="en-US" altLang="zh-CN" sz="2400">
                <a:hlinkClick r:id="rId4"/>
              </a:rPr>
              <a:t>https://www.modb.pro/db/31066</a:t>
            </a:r>
            <a:endParaRPr lang="en-US" altLang="zh-CN" sz="2400"/>
          </a:p>
          <a:p>
            <a:endParaRPr lang="zh-CN" altLang="en-US"/>
          </a:p>
        </p:txBody>
      </p:sp>
      <p:sp>
        <p:nvSpPr>
          <p:cNvPr id="4" name="灯片编号占位符 3">
            <a:extLst>
              <a:ext uri="{FF2B5EF4-FFF2-40B4-BE49-F238E27FC236}">
                <a16:creationId xmlns:a16="http://schemas.microsoft.com/office/drawing/2014/main" id="{B79F097F-8675-4E3A-A9B0-8DABD35D799D}"/>
              </a:ext>
            </a:extLst>
          </p:cNvPr>
          <p:cNvSpPr>
            <a:spLocks noGrp="1"/>
          </p:cNvSpPr>
          <p:nvPr>
            <p:ph type="sldNum" sz="quarter" idx="12"/>
          </p:nvPr>
        </p:nvSpPr>
        <p:spPr/>
        <p:txBody>
          <a:bodyPr/>
          <a:lstStyle/>
          <a:p>
            <a:fld id="{E63F6D5D-9733-4D44-9C56-AEFEDD5A4BA7}" type="slidenum">
              <a:rPr lang="en-US" smtClean="0"/>
              <a:pPr/>
              <a:t>46</a:t>
            </a:fld>
            <a:endParaRPr lang="en-US" dirty="0"/>
          </a:p>
        </p:txBody>
      </p:sp>
    </p:spTree>
    <p:extLst>
      <p:ext uri="{BB962C8B-B14F-4D97-AF65-F5344CB8AC3E}">
        <p14:creationId xmlns:p14="http://schemas.microsoft.com/office/powerpoint/2010/main" val="5313281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a:lstStyle/>
          <a:p>
            <a:r>
              <a:rPr lang="zh-CN" altLang="en-US"/>
              <a:t>例：</a:t>
            </a:r>
            <a:r>
              <a:rPr lang="en-US" altLang="zh-CN"/>
              <a:t>9-11</a:t>
            </a:r>
            <a:r>
              <a:rPr lang="zh-CN" altLang="en-US"/>
              <a:t>事件中的摩根斯坦利证券公司</a:t>
            </a:r>
          </a:p>
        </p:txBody>
      </p:sp>
      <p:sp>
        <p:nvSpPr>
          <p:cNvPr id="88067" name="内容占位符 2"/>
          <p:cNvSpPr>
            <a:spLocks noGrp="1"/>
          </p:cNvSpPr>
          <p:nvPr>
            <p:ph idx="1"/>
          </p:nvPr>
        </p:nvSpPr>
        <p:spPr/>
        <p:txBody>
          <a:bodyPr/>
          <a:lstStyle/>
          <a:p>
            <a:r>
              <a:rPr lang="en-US" altLang="zh-CN"/>
              <a:t>2001.09.11</a:t>
            </a:r>
            <a:r>
              <a:rPr lang="zh-CN" altLang="en-US"/>
              <a:t>，公司所有文案资料被毁</a:t>
            </a:r>
            <a:endParaRPr lang="en-US" altLang="zh-CN"/>
          </a:p>
          <a:p>
            <a:r>
              <a:rPr lang="en-US" altLang="zh-CN"/>
              <a:t>2</a:t>
            </a:r>
            <a:r>
              <a:rPr lang="zh-CN" altLang="en-US"/>
              <a:t>天后位于新泽西州的新办公地点全面恢复营业</a:t>
            </a:r>
            <a:endParaRPr lang="en-US" altLang="zh-CN"/>
          </a:p>
          <a:p>
            <a:r>
              <a:rPr lang="zh-CN" altLang="en-US"/>
              <a:t>得益于公司的远程数据防灾系统，公司在新泽西设有第二套全部股票证券商业文档资料数据和计算机服务器</a:t>
            </a:r>
            <a:endParaRPr lang="en-US" altLang="zh-CN"/>
          </a:p>
          <a:p>
            <a:r>
              <a:rPr lang="zh-CN" altLang="en-US"/>
              <a:t>研究表明，灾害后若无法在</a:t>
            </a:r>
            <a:r>
              <a:rPr lang="en-US" altLang="zh-CN"/>
              <a:t>14</a:t>
            </a:r>
            <a:r>
              <a:rPr lang="zh-CN" altLang="en-US"/>
              <a:t>天内恢复业务数据，</a:t>
            </a:r>
            <a:r>
              <a:rPr lang="en-US" altLang="zh-CN"/>
              <a:t>75%</a:t>
            </a:r>
            <a:r>
              <a:rPr lang="zh-CN" altLang="en-US"/>
              <a:t>的公司业务会完全停顿，</a:t>
            </a:r>
            <a:r>
              <a:rPr lang="en-US" altLang="zh-CN"/>
              <a:t>43%</a:t>
            </a:r>
            <a:r>
              <a:rPr lang="zh-CN" altLang="en-US"/>
              <a:t>的公司再也无法重新开业，</a:t>
            </a:r>
            <a:r>
              <a:rPr lang="en-US" altLang="zh-CN"/>
              <a:t>20%</a:t>
            </a:r>
            <a:r>
              <a:rPr lang="zh-CN" altLang="en-US"/>
              <a:t>的企业将在两年内破产。遇到灾难而无恢复计划的企业，</a:t>
            </a:r>
            <a:r>
              <a:rPr lang="en-US" altLang="zh-CN"/>
              <a:t>60%</a:t>
            </a:r>
            <a:r>
              <a:rPr lang="zh-CN" altLang="en-US"/>
              <a:t>以上将在两三年后退出市场。</a:t>
            </a:r>
          </a:p>
        </p:txBody>
      </p:sp>
      <p:sp>
        <p:nvSpPr>
          <p:cNvPr id="2" name="灯片编号占位符 1">
            <a:extLst>
              <a:ext uri="{FF2B5EF4-FFF2-40B4-BE49-F238E27FC236}">
                <a16:creationId xmlns:a16="http://schemas.microsoft.com/office/drawing/2014/main" id="{0F38505B-095A-405B-AFF2-7E49F5BE633B}"/>
              </a:ext>
            </a:extLst>
          </p:cNvPr>
          <p:cNvSpPr>
            <a:spLocks noGrp="1"/>
          </p:cNvSpPr>
          <p:nvPr>
            <p:ph type="sldNum" sz="quarter" idx="12"/>
          </p:nvPr>
        </p:nvSpPr>
        <p:spPr/>
        <p:txBody>
          <a:bodyPr/>
          <a:lstStyle/>
          <a:p>
            <a:fld id="{47C9E101-E51D-431E-84FA-C029B8655B60}" type="slidenum">
              <a:rPr lang="zh-CN" altLang="en-US" smtClean="0"/>
              <a:pPr/>
              <a:t>47</a:t>
            </a:fld>
            <a:endParaRPr lang="zh-CN" altLang="en-US" dirty="0"/>
          </a:p>
        </p:txBody>
      </p:sp>
    </p:spTree>
    <p:extLst>
      <p:ext uri="{BB962C8B-B14F-4D97-AF65-F5344CB8AC3E}">
        <p14:creationId xmlns:p14="http://schemas.microsoft.com/office/powerpoint/2010/main" val="37768192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73C04B-892A-4884-A572-8B34BBD147DD}"/>
              </a:ext>
            </a:extLst>
          </p:cNvPr>
          <p:cNvSpPr>
            <a:spLocks noGrp="1"/>
          </p:cNvSpPr>
          <p:nvPr>
            <p:ph type="title"/>
          </p:nvPr>
        </p:nvSpPr>
        <p:spPr/>
        <p:txBody>
          <a:bodyPr/>
          <a:lstStyle/>
          <a:p>
            <a:r>
              <a:rPr lang="en-US" altLang="zh-CN" dirty="0"/>
              <a:t>10.8 </a:t>
            </a:r>
            <a:r>
              <a:rPr lang="zh-CN" altLang="en-US" dirty="0"/>
              <a:t>小结</a:t>
            </a:r>
          </a:p>
        </p:txBody>
      </p:sp>
      <p:sp>
        <p:nvSpPr>
          <p:cNvPr id="3" name="内容占位符 2">
            <a:extLst>
              <a:ext uri="{FF2B5EF4-FFF2-40B4-BE49-F238E27FC236}">
                <a16:creationId xmlns:a16="http://schemas.microsoft.com/office/drawing/2014/main" id="{54F1054E-2BC2-49ED-AF0A-05BAB9DE9285}"/>
              </a:ext>
            </a:extLst>
          </p:cNvPr>
          <p:cNvSpPr>
            <a:spLocks noGrp="1"/>
          </p:cNvSpPr>
          <p:nvPr>
            <p:ph idx="1"/>
          </p:nvPr>
        </p:nvSpPr>
        <p:spPr/>
        <p:txBody>
          <a:bodyPr>
            <a:normAutofit fontScale="92500" lnSpcReduction="10000"/>
          </a:bodyPr>
          <a:lstStyle/>
          <a:p>
            <a:pPr>
              <a:lnSpc>
                <a:spcPct val="120000"/>
              </a:lnSpc>
            </a:pPr>
            <a:r>
              <a:rPr lang="zh-CN" altLang="en-US" dirty="0"/>
              <a:t>事务的概念和性质</a:t>
            </a:r>
            <a:endParaRPr lang="en-US" altLang="zh-CN" dirty="0"/>
          </a:p>
          <a:p>
            <a:pPr lvl="1">
              <a:lnSpc>
                <a:spcPct val="120000"/>
              </a:lnSpc>
            </a:pPr>
            <a:r>
              <a:rPr lang="zh-CN" altLang="en-US" dirty="0"/>
              <a:t>事务是数据库的逻辑工作单位。</a:t>
            </a:r>
          </a:p>
          <a:p>
            <a:pPr lvl="1">
              <a:lnSpc>
                <a:spcPct val="120000"/>
              </a:lnSpc>
            </a:pPr>
            <a:r>
              <a:rPr lang="zh-CN" altLang="en-US" dirty="0"/>
              <a:t>数据库管理系统保证系统中一切事务的</a:t>
            </a:r>
            <a:r>
              <a:rPr lang="en-US" altLang="zh-CN" dirty="0">
                <a:solidFill>
                  <a:srgbClr val="FF0000"/>
                </a:solidFill>
              </a:rPr>
              <a:t>ACID</a:t>
            </a:r>
            <a:r>
              <a:rPr lang="zh-CN" altLang="en-US" dirty="0"/>
              <a:t>特性，就保证了事务处于一致状态。</a:t>
            </a:r>
            <a:endParaRPr lang="en-US" altLang="zh-CN" dirty="0"/>
          </a:p>
          <a:p>
            <a:pPr lvl="1">
              <a:lnSpc>
                <a:spcPct val="120000"/>
              </a:lnSpc>
            </a:pPr>
            <a:r>
              <a:rPr lang="zh-CN" altLang="en-US" dirty="0"/>
              <a:t>事务既是数据库恢复的基本单位，也是并发控制的基本单位。</a:t>
            </a:r>
            <a:endParaRPr lang="en-US" altLang="zh-CN" dirty="0"/>
          </a:p>
          <a:p>
            <a:pPr>
              <a:lnSpc>
                <a:spcPct val="120000"/>
              </a:lnSpc>
            </a:pPr>
            <a:r>
              <a:rPr lang="zh-CN" altLang="en-US" dirty="0"/>
              <a:t>故障的种类</a:t>
            </a:r>
            <a:endParaRPr lang="en-US" altLang="zh-CN" dirty="0"/>
          </a:p>
          <a:p>
            <a:pPr lvl="1">
              <a:lnSpc>
                <a:spcPct val="120000"/>
              </a:lnSpc>
            </a:pPr>
            <a:r>
              <a:rPr lang="zh-CN" altLang="en-US" dirty="0">
                <a:solidFill>
                  <a:srgbClr val="FF0000"/>
                </a:solidFill>
              </a:rPr>
              <a:t>事务故障、系统故障、介质故障</a:t>
            </a:r>
            <a:endParaRPr lang="en-US" altLang="zh-CN" dirty="0">
              <a:solidFill>
                <a:srgbClr val="FF0000"/>
              </a:solidFill>
            </a:endParaRPr>
          </a:p>
          <a:p>
            <a:pPr>
              <a:lnSpc>
                <a:spcPct val="120000"/>
              </a:lnSpc>
            </a:pPr>
            <a:r>
              <a:rPr lang="zh-CN" altLang="en-US" dirty="0"/>
              <a:t>系统恢复最经常使用的技术</a:t>
            </a:r>
            <a:endParaRPr lang="en-US" altLang="zh-CN" dirty="0"/>
          </a:p>
          <a:p>
            <a:pPr lvl="1">
              <a:lnSpc>
                <a:spcPct val="120000"/>
              </a:lnSpc>
            </a:pPr>
            <a:r>
              <a:rPr lang="zh-CN" altLang="en-US" dirty="0">
                <a:solidFill>
                  <a:srgbClr val="FF0000"/>
                </a:solidFill>
              </a:rPr>
              <a:t>数据库转储、日志文件</a:t>
            </a:r>
            <a:endParaRPr lang="en-US" altLang="zh-CN" dirty="0">
              <a:solidFill>
                <a:srgbClr val="FF0000"/>
              </a:solidFill>
            </a:endParaRPr>
          </a:p>
          <a:p>
            <a:pPr>
              <a:lnSpc>
                <a:spcPct val="120000"/>
              </a:lnSpc>
            </a:pPr>
            <a:r>
              <a:rPr lang="zh-CN" altLang="en-US" dirty="0"/>
              <a:t>系统恢复的基本原理</a:t>
            </a:r>
            <a:endParaRPr lang="en-US" altLang="zh-CN" dirty="0"/>
          </a:p>
          <a:p>
            <a:pPr lvl="1">
              <a:lnSpc>
                <a:spcPct val="120000"/>
              </a:lnSpc>
            </a:pPr>
            <a:r>
              <a:rPr lang="zh-CN" altLang="en-US" dirty="0"/>
              <a:t>利用存储在</a:t>
            </a:r>
            <a:r>
              <a:rPr lang="zh-CN" altLang="en-US" dirty="0">
                <a:solidFill>
                  <a:srgbClr val="FF0000"/>
                </a:solidFill>
              </a:rPr>
              <a:t>后备副本、日志文件</a:t>
            </a:r>
            <a:r>
              <a:rPr lang="zh-CN" altLang="en-US" dirty="0"/>
              <a:t>和</a:t>
            </a:r>
            <a:r>
              <a:rPr lang="zh-CN" altLang="en-US" dirty="0">
                <a:solidFill>
                  <a:srgbClr val="FF0000"/>
                </a:solidFill>
              </a:rPr>
              <a:t>数据库镜像</a:t>
            </a:r>
            <a:r>
              <a:rPr lang="zh-CN" altLang="en-US" dirty="0"/>
              <a:t>中的冗余数据来重建数据库</a:t>
            </a:r>
          </a:p>
        </p:txBody>
      </p:sp>
      <p:sp>
        <p:nvSpPr>
          <p:cNvPr id="4" name="灯片编号占位符 3">
            <a:extLst>
              <a:ext uri="{FF2B5EF4-FFF2-40B4-BE49-F238E27FC236}">
                <a16:creationId xmlns:a16="http://schemas.microsoft.com/office/drawing/2014/main" id="{54E22749-E0BE-417C-BAAE-C3764D92DA24}"/>
              </a:ext>
            </a:extLst>
          </p:cNvPr>
          <p:cNvSpPr>
            <a:spLocks noGrp="1"/>
          </p:cNvSpPr>
          <p:nvPr>
            <p:ph type="sldNum" sz="quarter" idx="12"/>
          </p:nvPr>
        </p:nvSpPr>
        <p:spPr/>
        <p:txBody>
          <a:bodyPr/>
          <a:lstStyle/>
          <a:p>
            <a:fld id="{47C9E101-E51D-431E-84FA-C029B8655B60}" type="slidenum">
              <a:rPr lang="zh-CN" altLang="en-US" smtClean="0"/>
              <a:pPr/>
              <a:t>48</a:t>
            </a:fld>
            <a:endParaRPr lang="zh-CN" altLang="en-US" dirty="0"/>
          </a:p>
        </p:txBody>
      </p:sp>
    </p:spTree>
    <p:extLst>
      <p:ext uri="{BB962C8B-B14F-4D97-AF65-F5344CB8AC3E}">
        <p14:creationId xmlns:p14="http://schemas.microsoft.com/office/powerpoint/2010/main" val="2754319825"/>
      </p:ext>
    </p:extLst>
  </p:cSld>
  <p:clrMapOvr>
    <a:masterClrMapping/>
  </p:clrMapOvr>
</p:sld>
</file>

<file path=ppt/theme/theme1.xml><?xml version="1.0" encoding="utf-8"?>
<a:theme xmlns:a="http://schemas.openxmlformats.org/drawingml/2006/main" name="主题3">
  <a:themeElements>
    <a:clrScheme name="自定义 4">
      <a:dk1>
        <a:sysClr val="windowText" lastClr="000000"/>
      </a:dk1>
      <a:lt1>
        <a:sysClr val="window" lastClr="FFFFFF"/>
      </a:lt1>
      <a:dk2>
        <a:srgbClr val="44546A"/>
      </a:dk2>
      <a:lt2>
        <a:srgbClr val="E7E6E6"/>
      </a:lt2>
      <a:accent1>
        <a:srgbClr val="0070C0"/>
      </a:accent1>
      <a:accent2>
        <a:srgbClr val="07C1CC"/>
      </a:accent2>
      <a:accent3>
        <a:srgbClr val="839192"/>
      </a:accent3>
      <a:accent4>
        <a:srgbClr val="156595"/>
      </a:accent4>
      <a:accent5>
        <a:srgbClr val="FBD78D"/>
      </a:accent5>
      <a:accent6>
        <a:srgbClr val="F25237"/>
      </a:accent6>
      <a:hlink>
        <a:srgbClr val="0563C1"/>
      </a:hlink>
      <a:folHlink>
        <a:srgbClr val="954F72"/>
      </a:folHlink>
    </a:clrScheme>
    <a:fontScheme name="自定义 2">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主题3" id="{2CBDC48F-6088-4D48-BC12-46C038184917}" vid="{809D37E0-47DA-476A-9B71-7BCD9BFE936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主题3</Template>
  <TotalTime>840</TotalTime>
  <Words>4558</Words>
  <Application>Microsoft Office PowerPoint</Application>
  <PresentationFormat>宽屏</PresentationFormat>
  <Paragraphs>585</Paragraphs>
  <Slides>48</Slides>
  <Notes>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48</vt:i4>
      </vt:variant>
    </vt:vector>
  </HeadingPairs>
  <TitlesOfParts>
    <vt:vector size="58" baseType="lpstr">
      <vt:lpstr>等线</vt:lpstr>
      <vt:lpstr>楷体_GB2312</vt:lpstr>
      <vt:lpstr>宋体</vt:lpstr>
      <vt:lpstr>微软雅黑</vt:lpstr>
      <vt:lpstr>Arial</vt:lpstr>
      <vt:lpstr>Courier New</vt:lpstr>
      <vt:lpstr>Times New Roman</vt:lpstr>
      <vt:lpstr>Wingdings</vt:lpstr>
      <vt:lpstr>主题3</vt:lpstr>
      <vt:lpstr>Photoshop.Image.7</vt:lpstr>
      <vt:lpstr>第十章  数据库恢复技术</vt:lpstr>
      <vt:lpstr>第十章  数据库恢复技术</vt:lpstr>
      <vt:lpstr>10.1 事务的基本概念</vt:lpstr>
      <vt:lpstr>10.1 事务的基本概念</vt:lpstr>
      <vt:lpstr>openGauss的事务机制</vt:lpstr>
      <vt:lpstr>事务的ACID特性</vt:lpstr>
      <vt:lpstr>原子性示例</vt:lpstr>
      <vt:lpstr>隔离性示例</vt:lpstr>
      <vt:lpstr>事务的基本概念（续）</vt:lpstr>
      <vt:lpstr>10.2 数据库恢复概述</vt:lpstr>
      <vt:lpstr>10.3  故障的种类</vt:lpstr>
      <vt:lpstr>1. 事务内部故障</vt:lpstr>
      <vt:lpstr>2. 系统故障</vt:lpstr>
      <vt:lpstr>3. 介质故障</vt:lpstr>
      <vt:lpstr>4. 计算机病毒</vt:lpstr>
      <vt:lpstr>故障小结</vt:lpstr>
      <vt:lpstr>10.4  恢复的实现技术</vt:lpstr>
      <vt:lpstr>1. 数据转储</vt:lpstr>
      <vt:lpstr>1. 数据转储</vt:lpstr>
      <vt:lpstr>1. 数据转储</vt:lpstr>
      <vt:lpstr>1. 数据转储</vt:lpstr>
      <vt:lpstr>1. 数据转储</vt:lpstr>
      <vt:lpstr>openGauss的备份与恢复</vt:lpstr>
      <vt:lpstr>2. 登记日志文件</vt:lpstr>
      <vt:lpstr>2. 登记日志文件</vt:lpstr>
      <vt:lpstr>2. 登记日志文件</vt:lpstr>
      <vt:lpstr>2. 登记日志文件</vt:lpstr>
      <vt:lpstr>2. 登记日志文件</vt:lpstr>
      <vt:lpstr>10.5 恢复策略</vt:lpstr>
      <vt:lpstr>1. 事务故障的恢复</vt:lpstr>
      <vt:lpstr>2. 系统故障的恢复</vt:lpstr>
      <vt:lpstr>2. 系统故障的恢复</vt:lpstr>
      <vt:lpstr>3. 介质故障的恢复</vt:lpstr>
      <vt:lpstr>3. 介质故障的恢复</vt:lpstr>
      <vt:lpstr>10.6 具有检查点的恢复技术</vt:lpstr>
      <vt:lpstr>10.6 具有检查点的恢复技术</vt:lpstr>
      <vt:lpstr>10.6 具有检查点的恢复技术</vt:lpstr>
      <vt:lpstr>10.6 具有检查点的恢复技术</vt:lpstr>
      <vt:lpstr>10.6 具有检查点的恢复技术</vt:lpstr>
      <vt:lpstr>使用检查点方法进行恢复的步骤</vt:lpstr>
      <vt:lpstr>示例</vt:lpstr>
      <vt:lpstr>openGauss的检查点</vt:lpstr>
      <vt:lpstr>10.7 数据库镜像</vt:lpstr>
      <vt:lpstr>10.7 数据库镜像</vt:lpstr>
      <vt:lpstr>10.7 数据库镜像</vt:lpstr>
      <vt:lpstr>openGauss主备</vt:lpstr>
      <vt:lpstr>例：9-11事件中的摩根斯坦利证券公司</vt:lpstr>
      <vt:lpstr>10.8 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数据库原理及应用</dc:title>
  <dc:creator>Miao</dc:creator>
  <cp:lastModifiedBy>Miao</cp:lastModifiedBy>
  <cp:revision>86</cp:revision>
  <dcterms:created xsi:type="dcterms:W3CDTF">2021-08-17T08:04:31Z</dcterms:created>
  <dcterms:modified xsi:type="dcterms:W3CDTF">2023-12-13T09:52:40Z</dcterms:modified>
</cp:coreProperties>
</file>