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8" r:id="rId1"/>
  </p:sldMasterIdLst>
  <p:notesMasterIdLst>
    <p:notesMasterId r:id="rId62"/>
  </p:notesMasterIdLst>
  <p:sldIdLst>
    <p:sldId id="256" r:id="rId2"/>
    <p:sldId id="547" r:id="rId3"/>
    <p:sldId id="542" r:id="rId4"/>
    <p:sldId id="988" r:id="rId5"/>
    <p:sldId id="545" r:id="rId6"/>
    <p:sldId id="375" r:id="rId7"/>
    <p:sldId id="548" r:id="rId8"/>
    <p:sldId id="549" r:id="rId9"/>
    <p:sldId id="550" r:id="rId10"/>
    <p:sldId id="552" r:id="rId11"/>
    <p:sldId id="553" r:id="rId12"/>
    <p:sldId id="554" r:id="rId13"/>
    <p:sldId id="556" r:id="rId14"/>
    <p:sldId id="558" r:id="rId15"/>
    <p:sldId id="559" r:id="rId16"/>
    <p:sldId id="560" r:id="rId17"/>
    <p:sldId id="563" r:id="rId18"/>
    <p:sldId id="989" r:id="rId19"/>
    <p:sldId id="564" r:id="rId20"/>
    <p:sldId id="568" r:id="rId21"/>
    <p:sldId id="1176" r:id="rId22"/>
    <p:sldId id="999" r:id="rId23"/>
    <p:sldId id="1001" r:id="rId24"/>
    <p:sldId id="1000" r:id="rId25"/>
    <p:sldId id="1002" r:id="rId26"/>
    <p:sldId id="1177" r:id="rId27"/>
    <p:sldId id="1178" r:id="rId28"/>
    <p:sldId id="1180" r:id="rId29"/>
    <p:sldId id="569" r:id="rId30"/>
    <p:sldId id="571" r:id="rId31"/>
    <p:sldId id="572" r:id="rId32"/>
    <p:sldId id="573" r:id="rId33"/>
    <p:sldId id="574" r:id="rId34"/>
    <p:sldId id="990" r:id="rId35"/>
    <p:sldId id="576" r:id="rId36"/>
    <p:sldId id="578" r:id="rId37"/>
    <p:sldId id="987" r:id="rId38"/>
    <p:sldId id="580" r:id="rId39"/>
    <p:sldId id="581" r:id="rId40"/>
    <p:sldId id="994" r:id="rId41"/>
    <p:sldId id="991" r:id="rId42"/>
    <p:sldId id="584" r:id="rId43"/>
    <p:sldId id="585" r:id="rId44"/>
    <p:sldId id="385" r:id="rId45"/>
    <p:sldId id="588" r:id="rId46"/>
    <p:sldId id="590" r:id="rId47"/>
    <p:sldId id="591" r:id="rId48"/>
    <p:sldId id="992" r:id="rId49"/>
    <p:sldId id="995" r:id="rId50"/>
    <p:sldId id="594" r:id="rId51"/>
    <p:sldId id="993" r:id="rId52"/>
    <p:sldId id="596" r:id="rId53"/>
    <p:sldId id="598" r:id="rId54"/>
    <p:sldId id="383" r:id="rId55"/>
    <p:sldId id="1181" r:id="rId56"/>
    <p:sldId id="1182" r:id="rId57"/>
    <p:sldId id="996" r:id="rId58"/>
    <p:sldId id="997" r:id="rId59"/>
    <p:sldId id="998" r:id="rId60"/>
    <p:sldId id="599" r:id="rId61"/>
  </p:sldIdLst>
  <p:sldSz cx="12192000" cy="6858000"/>
  <p:notesSz cx="9866313" cy="673576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4ACBC"/>
    <a:srgbClr val="D4E2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86722" autoAdjust="0"/>
  </p:normalViewPr>
  <p:slideViewPr>
    <p:cSldViewPr snapToGrid="0">
      <p:cViewPr varScale="1">
        <p:scale>
          <a:sx n="59" d="100"/>
          <a:sy n="59" d="100"/>
        </p:scale>
        <p:origin x="96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75402" cy="33795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588628" y="0"/>
            <a:ext cx="4275402" cy="337958"/>
          </a:xfrm>
          <a:prstGeom prst="rect">
            <a:avLst/>
          </a:prstGeom>
        </p:spPr>
        <p:txBody>
          <a:bodyPr vert="horz" lIns="91440" tIns="45720" rIns="91440" bIns="45720" rtlCol="0"/>
          <a:lstStyle>
            <a:lvl1pPr algn="r">
              <a:defRPr sz="1200"/>
            </a:lvl1pPr>
          </a:lstStyle>
          <a:p>
            <a:fld id="{7830E76F-B0B7-4B7D-99A2-1AE4E5003A85}" type="datetimeFigureOut">
              <a:rPr lang="zh-CN" altLang="en-US" smtClean="0"/>
              <a:t>2023/11/14</a:t>
            </a:fld>
            <a:endParaRPr lang="zh-CN" altLang="en-US"/>
          </a:p>
        </p:txBody>
      </p:sp>
      <p:sp>
        <p:nvSpPr>
          <p:cNvPr id="4" name="幻灯片图像占位符 3"/>
          <p:cNvSpPr>
            <a:spLocks noGrp="1" noRot="1" noChangeAspect="1"/>
          </p:cNvSpPr>
          <p:nvPr>
            <p:ph type="sldImg" idx="2"/>
          </p:nvPr>
        </p:nvSpPr>
        <p:spPr>
          <a:xfrm>
            <a:off x="2913063" y="841375"/>
            <a:ext cx="4040187" cy="22733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86632" y="3241586"/>
            <a:ext cx="7893050" cy="2652207"/>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397806"/>
            <a:ext cx="4275402" cy="33795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588628" y="6397806"/>
            <a:ext cx="4275402" cy="337957"/>
          </a:xfrm>
          <a:prstGeom prst="rect">
            <a:avLst/>
          </a:prstGeom>
        </p:spPr>
        <p:txBody>
          <a:bodyPr vert="horz" lIns="91440" tIns="45720" rIns="91440" bIns="45720" rtlCol="0" anchor="b"/>
          <a:lstStyle>
            <a:lvl1pPr algn="r">
              <a:defRPr sz="1200"/>
            </a:lvl1pPr>
          </a:lstStyle>
          <a:p>
            <a:fld id="{344ACED3-A290-4E4D-B94F-B458FF2BD3D8}" type="slidenum">
              <a:rPr lang="zh-CN" altLang="en-US" smtClean="0"/>
              <a:t>‹#›</a:t>
            </a:fld>
            <a:endParaRPr lang="zh-CN" altLang="en-US"/>
          </a:p>
        </p:txBody>
      </p:sp>
    </p:spTree>
    <p:extLst>
      <p:ext uri="{BB962C8B-B14F-4D97-AF65-F5344CB8AC3E}">
        <p14:creationId xmlns:p14="http://schemas.microsoft.com/office/powerpoint/2010/main" val="1428078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13063" y="841375"/>
            <a:ext cx="4040187" cy="2273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EC50377-A5DD-48F2-846C-03AD28820F76}" type="slidenum">
              <a:rPr lang="zh-CN" altLang="en-US" smtClean="0"/>
              <a:t>1</a:t>
            </a:fld>
            <a:endParaRPr lang="zh-CN" altLang="en-US"/>
          </a:p>
        </p:txBody>
      </p:sp>
    </p:spTree>
    <p:extLst>
      <p:ext uri="{BB962C8B-B14F-4D97-AF65-F5344CB8AC3E}">
        <p14:creationId xmlns:p14="http://schemas.microsoft.com/office/powerpoint/2010/main" val="2765671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13063" y="841375"/>
            <a:ext cx="4040187" cy="2273300"/>
          </a:xfrm>
        </p:spPr>
      </p:sp>
      <p:sp>
        <p:nvSpPr>
          <p:cNvPr id="3" name="备注占位符 2"/>
          <p:cNvSpPr>
            <a:spLocks noGrp="1"/>
          </p:cNvSpPr>
          <p:nvPr>
            <p:ph type="body" idx="1"/>
          </p:nvPr>
        </p:nvSpPr>
        <p:spPr/>
        <p:txBody>
          <a:bodyPr/>
          <a:lstStyle/>
          <a:p>
            <a:r>
              <a:rPr lang="en-US" altLang="zh-CN" dirty="0"/>
              <a:t>PL/SQL</a:t>
            </a:r>
            <a:r>
              <a:rPr lang="zh-CN" altLang="en-US" dirty="0"/>
              <a:t>（</a:t>
            </a:r>
            <a:r>
              <a:rPr lang="en-US" altLang="zh-CN" dirty="0"/>
              <a:t>Procedural Language/SQL</a:t>
            </a:r>
            <a:r>
              <a:rPr lang="zh-CN" altLang="en-US" dirty="0"/>
              <a:t>，过程化</a:t>
            </a:r>
            <a:r>
              <a:rPr lang="en-US" altLang="zh-CN" dirty="0"/>
              <a:t>SQL</a:t>
            </a:r>
            <a:r>
              <a:rPr lang="zh-CN" altLang="en-US" dirty="0"/>
              <a:t>语言）也是一种程序语言，叫做过程化</a:t>
            </a:r>
            <a:r>
              <a:rPr lang="en-US" altLang="zh-CN" dirty="0"/>
              <a:t>SQL</a:t>
            </a:r>
            <a:r>
              <a:rPr lang="zh-CN" altLang="en-US" dirty="0"/>
              <a:t>语言</a:t>
            </a:r>
            <a:r>
              <a:rPr lang="en-US" altLang="zh-CN" dirty="0"/>
              <a:t>(Procedural Language/SQL)</a:t>
            </a:r>
            <a:r>
              <a:rPr lang="zh-CN" altLang="en-US" dirty="0"/>
              <a:t>。</a:t>
            </a:r>
            <a:r>
              <a:rPr lang="en-US" altLang="zh-CN" dirty="0"/>
              <a:t>PL/SQL</a:t>
            </a:r>
            <a:r>
              <a:rPr lang="zh-CN" altLang="en-US" dirty="0"/>
              <a:t>是</a:t>
            </a:r>
            <a:r>
              <a:rPr lang="en-US" altLang="zh-CN" dirty="0"/>
              <a:t>Oracle</a:t>
            </a:r>
            <a:r>
              <a:rPr lang="zh-CN" altLang="en-US" dirty="0"/>
              <a:t>数据库对</a:t>
            </a:r>
            <a:r>
              <a:rPr lang="en-US" altLang="zh-CN" dirty="0"/>
              <a:t>SQL</a:t>
            </a:r>
            <a:r>
              <a:rPr lang="zh-CN" altLang="en-US" dirty="0"/>
              <a:t>语句的扩展。在普通</a:t>
            </a:r>
            <a:r>
              <a:rPr lang="en-US" altLang="zh-CN" dirty="0"/>
              <a:t>SQL</a:t>
            </a:r>
            <a:r>
              <a:rPr lang="zh-CN" altLang="en-US" dirty="0"/>
              <a:t>语句的使用上增加了编程语言的特点，所以</a:t>
            </a:r>
            <a:r>
              <a:rPr lang="en-US" altLang="zh-CN" dirty="0"/>
              <a:t>PL/SQL</a:t>
            </a:r>
            <a:r>
              <a:rPr lang="zh-CN" altLang="en-US" dirty="0"/>
              <a:t>就是把数据操作和查询语句组织在</a:t>
            </a:r>
            <a:r>
              <a:rPr lang="en-US" altLang="zh-CN" dirty="0"/>
              <a:t>PL/SQL</a:t>
            </a:r>
            <a:r>
              <a:rPr lang="zh-CN" altLang="en-US" dirty="0"/>
              <a:t>代码的过程性单元中，通过逻辑判断、循环等操作实现复杂的功能或者计算的程序语言。</a:t>
            </a:r>
            <a:endParaRPr lang="en-US" altLang="zh-CN" dirty="0"/>
          </a:p>
          <a:p>
            <a:r>
              <a:rPr lang="zh-CN" altLang="en-US" dirty="0"/>
              <a:t>支持高级语言的块操作，条件判断， 循环语句，嵌套等，与数据库核心的数据类型集成，使</a:t>
            </a:r>
            <a:r>
              <a:rPr lang="en-US" altLang="zh-CN" dirty="0"/>
              <a:t>SQL </a:t>
            </a:r>
            <a:r>
              <a:rPr lang="zh-CN" altLang="en-US" dirty="0"/>
              <a:t>的程序设计效率更高</a:t>
            </a:r>
            <a:r>
              <a:rPr lang="en-US" altLang="zh-CN" dirty="0"/>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344ACED3-A290-4E4D-B94F-B458FF2BD3D8}" type="slidenum">
              <a:rPr lang="zh-CN" altLang="en-US" smtClean="0"/>
              <a:t>48</a:t>
            </a:fld>
            <a:endParaRPr lang="zh-CN" altLang="en-US"/>
          </a:p>
        </p:txBody>
      </p:sp>
    </p:spTree>
    <p:extLst>
      <p:ext uri="{BB962C8B-B14F-4D97-AF65-F5344CB8AC3E}">
        <p14:creationId xmlns:p14="http://schemas.microsoft.com/office/powerpoint/2010/main" val="31994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13063" y="841375"/>
            <a:ext cx="4040187" cy="2273300"/>
          </a:xfrm>
        </p:spPr>
      </p:sp>
      <p:sp>
        <p:nvSpPr>
          <p:cNvPr id="3" name="备注占位符 2"/>
          <p:cNvSpPr>
            <a:spLocks noGrp="1"/>
          </p:cNvSpPr>
          <p:nvPr>
            <p:ph type="body" idx="1"/>
          </p:nvPr>
        </p:nvSpPr>
        <p:spPr/>
        <p:txBody>
          <a:bodyPr/>
          <a:lstStyle/>
          <a:p>
            <a:r>
              <a:rPr lang="en-US" altLang="zh-CN" dirty="0"/>
              <a:t>PL/SQL</a:t>
            </a:r>
            <a:r>
              <a:rPr lang="zh-CN" altLang="en-US" dirty="0"/>
              <a:t>（</a:t>
            </a:r>
            <a:r>
              <a:rPr lang="en-US" altLang="zh-CN" dirty="0"/>
              <a:t>Procedural Language/SQL</a:t>
            </a:r>
            <a:r>
              <a:rPr lang="zh-CN" altLang="en-US" dirty="0"/>
              <a:t>，过程化</a:t>
            </a:r>
            <a:r>
              <a:rPr lang="en-US" altLang="zh-CN" dirty="0"/>
              <a:t>SQL</a:t>
            </a:r>
            <a:r>
              <a:rPr lang="zh-CN" altLang="en-US" dirty="0"/>
              <a:t>语言）也是一种程序语言，叫做过程化</a:t>
            </a:r>
            <a:r>
              <a:rPr lang="en-US" altLang="zh-CN" dirty="0"/>
              <a:t>SQL</a:t>
            </a:r>
            <a:r>
              <a:rPr lang="zh-CN" altLang="en-US" dirty="0"/>
              <a:t>语言</a:t>
            </a:r>
            <a:r>
              <a:rPr lang="en-US" altLang="zh-CN" dirty="0"/>
              <a:t>(Procedural Language/SQL)</a:t>
            </a:r>
            <a:r>
              <a:rPr lang="zh-CN" altLang="en-US" dirty="0"/>
              <a:t>。</a:t>
            </a:r>
            <a:r>
              <a:rPr lang="en-US" altLang="zh-CN" dirty="0"/>
              <a:t>PL/SQL</a:t>
            </a:r>
            <a:r>
              <a:rPr lang="zh-CN" altLang="en-US" dirty="0"/>
              <a:t>是</a:t>
            </a:r>
            <a:r>
              <a:rPr lang="en-US" altLang="zh-CN" dirty="0"/>
              <a:t>Oracle</a:t>
            </a:r>
            <a:r>
              <a:rPr lang="zh-CN" altLang="en-US" dirty="0"/>
              <a:t>数据库对</a:t>
            </a:r>
            <a:r>
              <a:rPr lang="en-US" altLang="zh-CN" dirty="0"/>
              <a:t>SQL</a:t>
            </a:r>
            <a:r>
              <a:rPr lang="zh-CN" altLang="en-US" dirty="0"/>
              <a:t>语句的扩展。在普通</a:t>
            </a:r>
            <a:r>
              <a:rPr lang="en-US" altLang="zh-CN" dirty="0"/>
              <a:t>SQL</a:t>
            </a:r>
            <a:r>
              <a:rPr lang="zh-CN" altLang="en-US" dirty="0"/>
              <a:t>语句的使用上增加了编程语言的特点，所以</a:t>
            </a:r>
            <a:r>
              <a:rPr lang="en-US" altLang="zh-CN" dirty="0"/>
              <a:t>PL/SQL</a:t>
            </a:r>
            <a:r>
              <a:rPr lang="zh-CN" altLang="en-US" dirty="0"/>
              <a:t>就是把数据操作和查询语句组织在</a:t>
            </a:r>
            <a:r>
              <a:rPr lang="en-US" altLang="zh-CN" dirty="0"/>
              <a:t>PL/SQL</a:t>
            </a:r>
            <a:r>
              <a:rPr lang="zh-CN" altLang="en-US" dirty="0"/>
              <a:t>代码的过程性单元中，通过逻辑判断、循环等操作实现复杂的功能或者计算的程序语言。</a:t>
            </a:r>
            <a:endParaRPr lang="en-US" altLang="zh-CN" dirty="0"/>
          </a:p>
          <a:p>
            <a:r>
              <a:rPr lang="zh-CN" altLang="en-US" dirty="0"/>
              <a:t>支持高级语言的块操作，条件判断， 循环语句，嵌套等，与数据库核心的数据类型集成，使</a:t>
            </a:r>
            <a:r>
              <a:rPr lang="en-US" altLang="zh-CN" dirty="0"/>
              <a:t>SQL </a:t>
            </a:r>
            <a:r>
              <a:rPr lang="zh-CN" altLang="en-US" dirty="0"/>
              <a:t>的程序设计效率更高</a:t>
            </a:r>
            <a:r>
              <a:rPr lang="en-US" altLang="zh-CN" dirty="0"/>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344ACED3-A290-4E4D-B94F-B458FF2BD3D8}" type="slidenum">
              <a:rPr lang="zh-CN" altLang="en-US" smtClean="0"/>
              <a:t>49</a:t>
            </a:fld>
            <a:endParaRPr lang="zh-CN" altLang="en-US"/>
          </a:p>
        </p:txBody>
      </p:sp>
    </p:spTree>
    <p:extLst>
      <p:ext uri="{BB962C8B-B14F-4D97-AF65-F5344CB8AC3E}">
        <p14:creationId xmlns:p14="http://schemas.microsoft.com/office/powerpoint/2010/main" val="2018208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508" y="437764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764DE79-268F-4C1A-8933-263129D2AF90}" type="datetimeFigureOut">
              <a:rPr lang="en-US" smtClean="0"/>
              <a:t>11/14/2023</a:t>
            </a:fld>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47C9E101-E51D-431E-84FA-C029B8655B60}" type="slidenum">
              <a:rPr lang="zh-CN" altLang="en-US" smtClean="0"/>
              <a:t>‹#›</a:t>
            </a:fld>
            <a:endParaRPr lang="zh-CN" altLang="en-US"/>
          </a:p>
        </p:txBody>
      </p:sp>
      <p:sp>
        <p:nvSpPr>
          <p:cNvPr id="7" name="矩形 6">
            <a:extLst>
              <a:ext uri="{FF2B5EF4-FFF2-40B4-BE49-F238E27FC236}">
                <a16:creationId xmlns:a16="http://schemas.microsoft.com/office/drawing/2014/main" id="{2B68CA98-A398-4530-9020-4D4DB6439D6A}"/>
              </a:ext>
            </a:extLst>
          </p:cNvPr>
          <p:cNvSpPr/>
          <p:nvPr/>
        </p:nvSpPr>
        <p:spPr>
          <a:xfrm>
            <a:off x="0" y="1724896"/>
            <a:ext cx="12192000" cy="2138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9AFCF4C2-E096-4262-8ECB-78D0989EDE7A}"/>
              </a:ext>
            </a:extLst>
          </p:cNvPr>
          <p:cNvGrpSpPr/>
          <p:nvPr/>
        </p:nvGrpSpPr>
        <p:grpSpPr>
          <a:xfrm>
            <a:off x="4688155" y="5875923"/>
            <a:ext cx="342764" cy="342764"/>
            <a:chOff x="4688155" y="5875923"/>
            <a:chExt cx="342764" cy="342764"/>
          </a:xfrm>
        </p:grpSpPr>
        <p:sp>
          <p:nvSpPr>
            <p:cNvPr id="9" name="椭圆 8">
              <a:extLst>
                <a:ext uri="{FF2B5EF4-FFF2-40B4-BE49-F238E27FC236}">
                  <a16:creationId xmlns:a16="http://schemas.microsoft.com/office/drawing/2014/main" id="{CF0BDC3B-A6A3-45D0-B9DB-DF2D639EE734}"/>
                </a:ext>
              </a:extLst>
            </p:cNvPr>
            <p:cNvSpPr/>
            <p:nvPr/>
          </p:nvSpPr>
          <p:spPr>
            <a:xfrm>
              <a:off x="4688155"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a:extLst>
                <a:ext uri="{FF2B5EF4-FFF2-40B4-BE49-F238E27FC236}">
                  <a16:creationId xmlns:a16="http://schemas.microsoft.com/office/drawing/2014/main" id="{C57D6A93-2E21-4CEE-8B0C-82D273459889}"/>
                </a:ext>
              </a:extLst>
            </p:cNvPr>
            <p:cNvGrpSpPr/>
            <p:nvPr/>
          </p:nvGrpSpPr>
          <p:grpSpPr>
            <a:xfrm>
              <a:off x="4763028" y="5947390"/>
              <a:ext cx="193018" cy="199830"/>
              <a:chOff x="5753100" y="3041650"/>
              <a:chExt cx="682626" cy="771526"/>
            </a:xfrm>
            <a:solidFill>
              <a:schemeClr val="accent1"/>
            </a:solidFill>
          </p:grpSpPr>
          <p:sp>
            <p:nvSpPr>
              <p:cNvPr id="11" name="Oval 202">
                <a:extLst>
                  <a:ext uri="{FF2B5EF4-FFF2-40B4-BE49-F238E27FC236}">
                    <a16:creationId xmlns:a16="http://schemas.microsoft.com/office/drawing/2014/main" id="{2F0A091A-AD4E-45CF-AFEB-14261F9539CF}"/>
                  </a:ext>
                </a:extLst>
              </p:cNvPr>
              <p:cNvSpPr>
                <a:spLocks noChangeArrowheads="1"/>
              </p:cNvSpPr>
              <p:nvPr/>
            </p:nvSpPr>
            <p:spPr bwMode="auto">
              <a:xfrm>
                <a:off x="5908675" y="3041650"/>
                <a:ext cx="119063" cy="1476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203">
                <a:extLst>
                  <a:ext uri="{FF2B5EF4-FFF2-40B4-BE49-F238E27FC236}">
                    <a16:creationId xmlns:a16="http://schemas.microsoft.com/office/drawing/2014/main" id="{D6D7EDDD-D438-4D26-8D11-489580AAB1B0}"/>
                  </a:ext>
                </a:extLst>
              </p:cNvPr>
              <p:cNvSpPr/>
              <p:nvPr/>
            </p:nvSpPr>
            <p:spPr bwMode="auto">
              <a:xfrm>
                <a:off x="6103938" y="3413125"/>
                <a:ext cx="46038" cy="84138"/>
              </a:xfrm>
              <a:custGeom>
                <a:avLst/>
                <a:gdLst>
                  <a:gd name="T0" fmla="*/ 2 w 12"/>
                  <a:gd name="T1" fmla="*/ 22 h 22"/>
                  <a:gd name="T2" fmla="*/ 10 w 12"/>
                  <a:gd name="T3" fmla="*/ 22 h 22"/>
                  <a:gd name="T4" fmla="*/ 12 w 12"/>
                  <a:gd name="T5" fmla="*/ 20 h 22"/>
                  <a:gd name="T6" fmla="*/ 12 w 12"/>
                  <a:gd name="T7" fmla="*/ 2 h 22"/>
                  <a:gd name="T8" fmla="*/ 10 w 12"/>
                  <a:gd name="T9" fmla="*/ 0 h 22"/>
                  <a:gd name="T10" fmla="*/ 2 w 12"/>
                  <a:gd name="T11" fmla="*/ 0 h 22"/>
                  <a:gd name="T12" fmla="*/ 0 w 12"/>
                  <a:gd name="T13" fmla="*/ 2 h 22"/>
                  <a:gd name="T14" fmla="*/ 0 w 12"/>
                  <a:gd name="T15" fmla="*/ 20 h 22"/>
                  <a:gd name="T16" fmla="*/ 2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2" y="22"/>
                    </a:moveTo>
                    <a:cubicBezTo>
                      <a:pt x="10" y="22"/>
                      <a:pt x="10" y="22"/>
                      <a:pt x="10" y="22"/>
                    </a:cubicBezTo>
                    <a:cubicBezTo>
                      <a:pt x="11" y="22"/>
                      <a:pt x="12" y="21"/>
                      <a:pt x="12" y="20"/>
                    </a:cubicBezTo>
                    <a:cubicBezTo>
                      <a:pt x="12" y="2"/>
                      <a:pt x="12" y="2"/>
                      <a:pt x="12" y="2"/>
                    </a:cubicBezTo>
                    <a:cubicBezTo>
                      <a:pt x="12" y="1"/>
                      <a:pt x="11" y="0"/>
                      <a:pt x="10" y="0"/>
                    </a:cubicBezTo>
                    <a:cubicBezTo>
                      <a:pt x="2" y="0"/>
                      <a:pt x="2" y="0"/>
                      <a:pt x="2" y="0"/>
                    </a:cubicBezTo>
                    <a:cubicBezTo>
                      <a:pt x="1" y="0"/>
                      <a:pt x="0" y="1"/>
                      <a:pt x="0" y="2"/>
                    </a:cubicBezTo>
                    <a:cubicBezTo>
                      <a:pt x="0" y="20"/>
                      <a:pt x="0" y="20"/>
                      <a:pt x="0" y="20"/>
                    </a:cubicBezTo>
                    <a:cubicBezTo>
                      <a:pt x="0" y="21"/>
                      <a:pt x="1" y="22"/>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204">
                <a:extLst>
                  <a:ext uri="{FF2B5EF4-FFF2-40B4-BE49-F238E27FC236}">
                    <a16:creationId xmlns:a16="http://schemas.microsoft.com/office/drawing/2014/main" id="{63ABB64B-5B7B-41F3-908D-85AF1C674D97}"/>
                  </a:ext>
                </a:extLst>
              </p:cNvPr>
              <p:cNvSpPr/>
              <p:nvPr/>
            </p:nvSpPr>
            <p:spPr bwMode="auto">
              <a:xfrm>
                <a:off x="6313488" y="3413125"/>
                <a:ext cx="46038" cy="84138"/>
              </a:xfrm>
              <a:custGeom>
                <a:avLst/>
                <a:gdLst>
                  <a:gd name="T0" fmla="*/ 3 w 12"/>
                  <a:gd name="T1" fmla="*/ 22 h 22"/>
                  <a:gd name="T2" fmla="*/ 10 w 12"/>
                  <a:gd name="T3" fmla="*/ 22 h 22"/>
                  <a:gd name="T4" fmla="*/ 12 w 12"/>
                  <a:gd name="T5" fmla="*/ 20 h 22"/>
                  <a:gd name="T6" fmla="*/ 12 w 12"/>
                  <a:gd name="T7" fmla="*/ 2 h 22"/>
                  <a:gd name="T8" fmla="*/ 10 w 12"/>
                  <a:gd name="T9" fmla="*/ 0 h 22"/>
                  <a:gd name="T10" fmla="*/ 3 w 12"/>
                  <a:gd name="T11" fmla="*/ 0 h 22"/>
                  <a:gd name="T12" fmla="*/ 0 w 12"/>
                  <a:gd name="T13" fmla="*/ 2 h 22"/>
                  <a:gd name="T14" fmla="*/ 0 w 12"/>
                  <a:gd name="T15" fmla="*/ 20 h 22"/>
                  <a:gd name="T16" fmla="*/ 3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3" y="22"/>
                    </a:moveTo>
                    <a:cubicBezTo>
                      <a:pt x="10" y="22"/>
                      <a:pt x="10" y="22"/>
                      <a:pt x="10" y="22"/>
                    </a:cubicBezTo>
                    <a:cubicBezTo>
                      <a:pt x="12" y="22"/>
                      <a:pt x="12" y="21"/>
                      <a:pt x="12" y="20"/>
                    </a:cubicBezTo>
                    <a:cubicBezTo>
                      <a:pt x="12" y="2"/>
                      <a:pt x="12" y="2"/>
                      <a:pt x="12" y="2"/>
                    </a:cubicBezTo>
                    <a:cubicBezTo>
                      <a:pt x="12" y="1"/>
                      <a:pt x="12" y="0"/>
                      <a:pt x="10" y="0"/>
                    </a:cubicBezTo>
                    <a:cubicBezTo>
                      <a:pt x="3" y="0"/>
                      <a:pt x="3" y="0"/>
                      <a:pt x="3" y="0"/>
                    </a:cubicBezTo>
                    <a:cubicBezTo>
                      <a:pt x="1" y="0"/>
                      <a:pt x="0" y="1"/>
                      <a:pt x="0" y="2"/>
                    </a:cubicBezTo>
                    <a:cubicBezTo>
                      <a:pt x="0" y="20"/>
                      <a:pt x="0" y="20"/>
                      <a:pt x="0" y="20"/>
                    </a:cubicBezTo>
                    <a:cubicBezTo>
                      <a:pt x="0" y="21"/>
                      <a:pt x="1" y="22"/>
                      <a:pt x="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205">
                <a:extLst>
                  <a:ext uri="{FF2B5EF4-FFF2-40B4-BE49-F238E27FC236}">
                    <a16:creationId xmlns:a16="http://schemas.microsoft.com/office/drawing/2014/main" id="{0DC5A647-E6DF-4675-9E56-B3AFBA405D95}"/>
                  </a:ext>
                </a:extLst>
              </p:cNvPr>
              <p:cNvSpPr>
                <a:spLocks noEditPoints="1"/>
              </p:cNvSpPr>
              <p:nvPr/>
            </p:nvSpPr>
            <p:spPr bwMode="auto">
              <a:xfrm>
                <a:off x="6030913" y="3444875"/>
                <a:ext cx="404813" cy="360363"/>
              </a:xfrm>
              <a:custGeom>
                <a:avLst/>
                <a:gdLst>
                  <a:gd name="T0" fmla="*/ 94 w 106"/>
                  <a:gd name="T1" fmla="*/ 0 h 95"/>
                  <a:gd name="T2" fmla="*/ 91 w 106"/>
                  <a:gd name="T3" fmla="*/ 0 h 95"/>
                  <a:gd name="T4" fmla="*/ 91 w 106"/>
                  <a:gd name="T5" fmla="*/ 12 h 95"/>
                  <a:gd name="T6" fmla="*/ 84 w 106"/>
                  <a:gd name="T7" fmla="*/ 18 h 95"/>
                  <a:gd name="T8" fmla="*/ 77 w 106"/>
                  <a:gd name="T9" fmla="*/ 18 h 95"/>
                  <a:gd name="T10" fmla="*/ 70 w 106"/>
                  <a:gd name="T11" fmla="*/ 12 h 95"/>
                  <a:gd name="T12" fmla="*/ 70 w 106"/>
                  <a:gd name="T13" fmla="*/ 0 h 95"/>
                  <a:gd name="T14" fmla="*/ 36 w 106"/>
                  <a:gd name="T15" fmla="*/ 0 h 95"/>
                  <a:gd name="T16" fmla="*/ 36 w 106"/>
                  <a:gd name="T17" fmla="*/ 12 h 95"/>
                  <a:gd name="T18" fmla="*/ 29 w 106"/>
                  <a:gd name="T19" fmla="*/ 18 h 95"/>
                  <a:gd name="T20" fmla="*/ 21 w 106"/>
                  <a:gd name="T21" fmla="*/ 18 h 95"/>
                  <a:gd name="T22" fmla="*/ 15 w 106"/>
                  <a:gd name="T23" fmla="*/ 12 h 95"/>
                  <a:gd name="T24" fmla="*/ 15 w 106"/>
                  <a:gd name="T25" fmla="*/ 0 h 95"/>
                  <a:gd name="T26" fmla="*/ 12 w 106"/>
                  <a:gd name="T27" fmla="*/ 0 h 95"/>
                  <a:gd name="T28" fmla="*/ 0 w 106"/>
                  <a:gd name="T29" fmla="*/ 13 h 95"/>
                  <a:gd name="T30" fmla="*/ 0 w 106"/>
                  <a:gd name="T31" fmla="*/ 36 h 95"/>
                  <a:gd name="T32" fmla="*/ 0 w 106"/>
                  <a:gd name="T33" fmla="*/ 83 h 95"/>
                  <a:gd name="T34" fmla="*/ 12 w 106"/>
                  <a:gd name="T35" fmla="*/ 95 h 95"/>
                  <a:gd name="T36" fmla="*/ 94 w 106"/>
                  <a:gd name="T37" fmla="*/ 95 h 95"/>
                  <a:gd name="T38" fmla="*/ 106 w 106"/>
                  <a:gd name="T39" fmla="*/ 83 h 95"/>
                  <a:gd name="T40" fmla="*/ 106 w 106"/>
                  <a:gd name="T41" fmla="*/ 36 h 95"/>
                  <a:gd name="T42" fmla="*/ 106 w 106"/>
                  <a:gd name="T43" fmla="*/ 13 h 95"/>
                  <a:gd name="T44" fmla="*/ 94 w 106"/>
                  <a:gd name="T45" fmla="*/ 0 h 95"/>
                  <a:gd name="T46" fmla="*/ 98 w 106"/>
                  <a:gd name="T47" fmla="*/ 83 h 95"/>
                  <a:gd name="T48" fmla="*/ 94 w 106"/>
                  <a:gd name="T49" fmla="*/ 88 h 95"/>
                  <a:gd name="T50" fmla="*/ 12 w 106"/>
                  <a:gd name="T51" fmla="*/ 88 h 95"/>
                  <a:gd name="T52" fmla="*/ 8 w 106"/>
                  <a:gd name="T53" fmla="*/ 83 h 95"/>
                  <a:gd name="T54" fmla="*/ 8 w 106"/>
                  <a:gd name="T55" fmla="*/ 36 h 95"/>
                  <a:gd name="T56" fmla="*/ 98 w 106"/>
                  <a:gd name="T57" fmla="*/ 36 h 95"/>
                  <a:gd name="T58" fmla="*/ 98 w 106"/>
                  <a:gd name="T59" fmla="*/ 8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95">
                    <a:moveTo>
                      <a:pt x="94" y="0"/>
                    </a:moveTo>
                    <a:cubicBezTo>
                      <a:pt x="91" y="0"/>
                      <a:pt x="91" y="0"/>
                      <a:pt x="91" y="0"/>
                    </a:cubicBezTo>
                    <a:cubicBezTo>
                      <a:pt x="91" y="12"/>
                      <a:pt x="91" y="12"/>
                      <a:pt x="91" y="12"/>
                    </a:cubicBezTo>
                    <a:cubicBezTo>
                      <a:pt x="91" y="15"/>
                      <a:pt x="88" y="18"/>
                      <a:pt x="84" y="18"/>
                    </a:cubicBezTo>
                    <a:cubicBezTo>
                      <a:pt x="77" y="18"/>
                      <a:pt x="77" y="18"/>
                      <a:pt x="77" y="18"/>
                    </a:cubicBezTo>
                    <a:cubicBezTo>
                      <a:pt x="73" y="18"/>
                      <a:pt x="70" y="15"/>
                      <a:pt x="70" y="12"/>
                    </a:cubicBezTo>
                    <a:cubicBezTo>
                      <a:pt x="70" y="0"/>
                      <a:pt x="70" y="0"/>
                      <a:pt x="70" y="0"/>
                    </a:cubicBezTo>
                    <a:cubicBezTo>
                      <a:pt x="36" y="0"/>
                      <a:pt x="36" y="0"/>
                      <a:pt x="36" y="0"/>
                    </a:cubicBezTo>
                    <a:cubicBezTo>
                      <a:pt x="36" y="12"/>
                      <a:pt x="36" y="12"/>
                      <a:pt x="36" y="12"/>
                    </a:cubicBezTo>
                    <a:cubicBezTo>
                      <a:pt x="36" y="15"/>
                      <a:pt x="33" y="18"/>
                      <a:pt x="29" y="18"/>
                    </a:cubicBezTo>
                    <a:cubicBezTo>
                      <a:pt x="21" y="18"/>
                      <a:pt x="21" y="18"/>
                      <a:pt x="21" y="18"/>
                    </a:cubicBezTo>
                    <a:cubicBezTo>
                      <a:pt x="18" y="18"/>
                      <a:pt x="15" y="15"/>
                      <a:pt x="15" y="12"/>
                    </a:cubicBezTo>
                    <a:cubicBezTo>
                      <a:pt x="15" y="0"/>
                      <a:pt x="15" y="0"/>
                      <a:pt x="15" y="0"/>
                    </a:cubicBezTo>
                    <a:cubicBezTo>
                      <a:pt x="12" y="0"/>
                      <a:pt x="12" y="0"/>
                      <a:pt x="12" y="0"/>
                    </a:cubicBezTo>
                    <a:cubicBezTo>
                      <a:pt x="5" y="0"/>
                      <a:pt x="0" y="6"/>
                      <a:pt x="0" y="13"/>
                    </a:cubicBezTo>
                    <a:cubicBezTo>
                      <a:pt x="0" y="36"/>
                      <a:pt x="0" y="36"/>
                      <a:pt x="0" y="36"/>
                    </a:cubicBezTo>
                    <a:cubicBezTo>
                      <a:pt x="0" y="83"/>
                      <a:pt x="0" y="83"/>
                      <a:pt x="0" y="83"/>
                    </a:cubicBezTo>
                    <a:cubicBezTo>
                      <a:pt x="0" y="90"/>
                      <a:pt x="5" y="95"/>
                      <a:pt x="12" y="95"/>
                    </a:cubicBezTo>
                    <a:cubicBezTo>
                      <a:pt x="94" y="95"/>
                      <a:pt x="94" y="95"/>
                      <a:pt x="94" y="95"/>
                    </a:cubicBezTo>
                    <a:cubicBezTo>
                      <a:pt x="100" y="95"/>
                      <a:pt x="106" y="90"/>
                      <a:pt x="106" y="83"/>
                    </a:cubicBezTo>
                    <a:cubicBezTo>
                      <a:pt x="106" y="36"/>
                      <a:pt x="106" y="36"/>
                      <a:pt x="106" y="36"/>
                    </a:cubicBezTo>
                    <a:cubicBezTo>
                      <a:pt x="106" y="13"/>
                      <a:pt x="106" y="13"/>
                      <a:pt x="106" y="13"/>
                    </a:cubicBezTo>
                    <a:cubicBezTo>
                      <a:pt x="106" y="6"/>
                      <a:pt x="100" y="0"/>
                      <a:pt x="94" y="0"/>
                    </a:cubicBezTo>
                    <a:close/>
                    <a:moveTo>
                      <a:pt x="98" y="83"/>
                    </a:moveTo>
                    <a:cubicBezTo>
                      <a:pt x="98" y="86"/>
                      <a:pt x="96" y="88"/>
                      <a:pt x="94" y="88"/>
                    </a:cubicBezTo>
                    <a:cubicBezTo>
                      <a:pt x="12" y="88"/>
                      <a:pt x="12" y="88"/>
                      <a:pt x="12" y="88"/>
                    </a:cubicBezTo>
                    <a:cubicBezTo>
                      <a:pt x="10" y="88"/>
                      <a:pt x="8" y="86"/>
                      <a:pt x="8" y="83"/>
                    </a:cubicBezTo>
                    <a:cubicBezTo>
                      <a:pt x="8" y="36"/>
                      <a:pt x="8" y="36"/>
                      <a:pt x="8" y="36"/>
                    </a:cubicBezTo>
                    <a:cubicBezTo>
                      <a:pt x="98" y="36"/>
                      <a:pt x="98" y="36"/>
                      <a:pt x="98" y="36"/>
                    </a:cubicBezTo>
                    <a:lnTo>
                      <a:pt x="98"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Rectangle 206">
                <a:extLst>
                  <a:ext uri="{FF2B5EF4-FFF2-40B4-BE49-F238E27FC236}">
                    <a16:creationId xmlns:a16="http://schemas.microsoft.com/office/drawing/2014/main" id="{D0010BBB-DFB9-4175-A76B-C3B2B09AB3A1}"/>
                  </a:ext>
                </a:extLst>
              </p:cNvPr>
              <p:cNvSpPr>
                <a:spLocks noChangeArrowheads="1"/>
              </p:cNvSpPr>
              <p:nvPr/>
            </p:nvSpPr>
            <p:spPr bwMode="auto">
              <a:xfrm>
                <a:off x="608488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6" name="Rectangle 207">
                <a:extLst>
                  <a:ext uri="{FF2B5EF4-FFF2-40B4-BE49-F238E27FC236}">
                    <a16:creationId xmlns:a16="http://schemas.microsoft.com/office/drawing/2014/main" id="{AB3A1A45-8B07-40C8-B06D-85B240A9F309}"/>
                  </a:ext>
                </a:extLst>
              </p:cNvPr>
              <p:cNvSpPr>
                <a:spLocks noChangeArrowheads="1"/>
              </p:cNvSpPr>
              <p:nvPr/>
            </p:nvSpPr>
            <p:spPr bwMode="auto">
              <a:xfrm>
                <a:off x="6191250"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 name="Rectangle 208">
                <a:extLst>
                  <a:ext uri="{FF2B5EF4-FFF2-40B4-BE49-F238E27FC236}">
                    <a16:creationId xmlns:a16="http://schemas.microsoft.com/office/drawing/2014/main" id="{50D6D5DE-227B-4BD8-8872-55F14BF1F98A}"/>
                  </a:ext>
                </a:extLst>
              </p:cNvPr>
              <p:cNvSpPr>
                <a:spLocks noChangeArrowheads="1"/>
              </p:cNvSpPr>
              <p:nvPr/>
            </p:nvSpPr>
            <p:spPr bwMode="auto">
              <a:xfrm>
                <a:off x="629443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 name="Rectangle 209">
                <a:extLst>
                  <a:ext uri="{FF2B5EF4-FFF2-40B4-BE49-F238E27FC236}">
                    <a16:creationId xmlns:a16="http://schemas.microsoft.com/office/drawing/2014/main" id="{2129D8C0-5574-4981-A473-54A4DA5BBC51}"/>
                  </a:ext>
                </a:extLst>
              </p:cNvPr>
              <p:cNvSpPr>
                <a:spLocks noChangeArrowheads="1"/>
              </p:cNvSpPr>
              <p:nvPr/>
            </p:nvSpPr>
            <p:spPr bwMode="auto">
              <a:xfrm>
                <a:off x="608488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 name="Rectangle 210">
                <a:extLst>
                  <a:ext uri="{FF2B5EF4-FFF2-40B4-BE49-F238E27FC236}">
                    <a16:creationId xmlns:a16="http://schemas.microsoft.com/office/drawing/2014/main" id="{42C482E4-5992-4F76-A4FC-FAEA3959B45C}"/>
                  </a:ext>
                </a:extLst>
              </p:cNvPr>
              <p:cNvSpPr>
                <a:spLocks noChangeArrowheads="1"/>
              </p:cNvSpPr>
              <p:nvPr/>
            </p:nvSpPr>
            <p:spPr bwMode="auto">
              <a:xfrm>
                <a:off x="6191250"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 name="Rectangle 211">
                <a:extLst>
                  <a:ext uri="{FF2B5EF4-FFF2-40B4-BE49-F238E27FC236}">
                    <a16:creationId xmlns:a16="http://schemas.microsoft.com/office/drawing/2014/main" id="{608FABB8-F614-48FA-B8BA-76252847C955}"/>
                  </a:ext>
                </a:extLst>
              </p:cNvPr>
              <p:cNvSpPr>
                <a:spLocks noChangeArrowheads="1"/>
              </p:cNvSpPr>
              <p:nvPr/>
            </p:nvSpPr>
            <p:spPr bwMode="auto">
              <a:xfrm>
                <a:off x="629443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 name="Rectangle 212">
                <a:extLst>
                  <a:ext uri="{FF2B5EF4-FFF2-40B4-BE49-F238E27FC236}">
                    <a16:creationId xmlns:a16="http://schemas.microsoft.com/office/drawing/2014/main" id="{BE49BF88-4A04-43E2-8944-E6471A990D7B}"/>
                  </a:ext>
                </a:extLst>
              </p:cNvPr>
              <p:cNvSpPr>
                <a:spLocks noChangeArrowheads="1"/>
              </p:cNvSpPr>
              <p:nvPr/>
            </p:nvSpPr>
            <p:spPr bwMode="auto">
              <a:xfrm>
                <a:off x="608488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2" name="Rectangle 213">
                <a:extLst>
                  <a:ext uri="{FF2B5EF4-FFF2-40B4-BE49-F238E27FC236}">
                    <a16:creationId xmlns:a16="http://schemas.microsoft.com/office/drawing/2014/main" id="{1F29B5A7-F2A1-4F35-A35C-004039DDA113}"/>
                  </a:ext>
                </a:extLst>
              </p:cNvPr>
              <p:cNvSpPr>
                <a:spLocks noChangeArrowheads="1"/>
              </p:cNvSpPr>
              <p:nvPr/>
            </p:nvSpPr>
            <p:spPr bwMode="auto">
              <a:xfrm>
                <a:off x="6191250"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3" name="Rectangle 214">
                <a:extLst>
                  <a:ext uri="{FF2B5EF4-FFF2-40B4-BE49-F238E27FC236}">
                    <a16:creationId xmlns:a16="http://schemas.microsoft.com/office/drawing/2014/main" id="{7A1C70A7-03A0-4142-914C-A675EEB0F1BA}"/>
                  </a:ext>
                </a:extLst>
              </p:cNvPr>
              <p:cNvSpPr>
                <a:spLocks noChangeArrowheads="1"/>
              </p:cNvSpPr>
              <p:nvPr/>
            </p:nvSpPr>
            <p:spPr bwMode="auto">
              <a:xfrm>
                <a:off x="629443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4" name="Rectangle 215">
                <a:extLst>
                  <a:ext uri="{FF2B5EF4-FFF2-40B4-BE49-F238E27FC236}">
                    <a16:creationId xmlns:a16="http://schemas.microsoft.com/office/drawing/2014/main" id="{95C51AC2-93C4-4847-869B-B822FA435768}"/>
                  </a:ext>
                </a:extLst>
              </p:cNvPr>
              <p:cNvSpPr>
                <a:spLocks noChangeArrowheads="1"/>
              </p:cNvSpPr>
              <p:nvPr/>
            </p:nvSpPr>
            <p:spPr bwMode="auto">
              <a:xfrm>
                <a:off x="5965825" y="339883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Freeform 216">
                <a:extLst>
                  <a:ext uri="{FF2B5EF4-FFF2-40B4-BE49-F238E27FC236}">
                    <a16:creationId xmlns:a16="http://schemas.microsoft.com/office/drawing/2014/main" id="{E4FB0AFD-8DFA-47AF-A756-6E3640B92A98}"/>
                  </a:ext>
                </a:extLst>
              </p:cNvPr>
              <p:cNvSpPr>
                <a:spLocks noEditPoints="1"/>
              </p:cNvSpPr>
              <p:nvPr/>
            </p:nvSpPr>
            <p:spPr bwMode="auto">
              <a:xfrm>
                <a:off x="5753100" y="3208338"/>
                <a:ext cx="427038" cy="604838"/>
              </a:xfrm>
              <a:custGeom>
                <a:avLst/>
                <a:gdLst>
                  <a:gd name="T0" fmla="*/ 111 w 112"/>
                  <a:gd name="T1" fmla="*/ 23 h 159"/>
                  <a:gd name="T2" fmla="*/ 106 w 112"/>
                  <a:gd name="T3" fmla="*/ 19 h 159"/>
                  <a:gd name="T4" fmla="*/ 83 w 112"/>
                  <a:gd name="T5" fmla="*/ 2 h 159"/>
                  <a:gd name="T6" fmla="*/ 77 w 112"/>
                  <a:gd name="T7" fmla="*/ 0 h 159"/>
                  <a:gd name="T8" fmla="*/ 70 w 112"/>
                  <a:gd name="T9" fmla="*/ 0 h 159"/>
                  <a:gd name="T10" fmla="*/ 68 w 112"/>
                  <a:gd name="T11" fmla="*/ 10 h 159"/>
                  <a:gd name="T12" fmla="*/ 56 w 112"/>
                  <a:gd name="T13" fmla="*/ 50 h 159"/>
                  <a:gd name="T14" fmla="*/ 56 w 112"/>
                  <a:gd name="T15" fmla="*/ 51 h 159"/>
                  <a:gd name="T16" fmla="*/ 56 w 112"/>
                  <a:gd name="T17" fmla="*/ 50 h 159"/>
                  <a:gd name="T18" fmla="*/ 45 w 112"/>
                  <a:gd name="T19" fmla="*/ 10 h 159"/>
                  <a:gd name="T20" fmla="*/ 43 w 112"/>
                  <a:gd name="T21" fmla="*/ 0 h 159"/>
                  <a:gd name="T22" fmla="*/ 35 w 112"/>
                  <a:gd name="T23" fmla="*/ 0 h 159"/>
                  <a:gd name="T24" fmla="*/ 28 w 112"/>
                  <a:gd name="T25" fmla="*/ 4 h 159"/>
                  <a:gd name="T26" fmla="*/ 0 w 112"/>
                  <a:gd name="T27" fmla="*/ 44 h 159"/>
                  <a:gd name="T28" fmla="*/ 0 w 112"/>
                  <a:gd name="T29" fmla="*/ 44 h 159"/>
                  <a:gd name="T30" fmla="*/ 0 w 112"/>
                  <a:gd name="T31" fmla="*/ 45 h 159"/>
                  <a:gd name="T32" fmla="*/ 2 w 112"/>
                  <a:gd name="T33" fmla="*/ 48 h 159"/>
                  <a:gd name="T34" fmla="*/ 9 w 112"/>
                  <a:gd name="T35" fmla="*/ 61 h 159"/>
                  <a:gd name="T36" fmla="*/ 29 w 112"/>
                  <a:gd name="T37" fmla="*/ 72 h 159"/>
                  <a:gd name="T38" fmla="*/ 29 w 112"/>
                  <a:gd name="T39" fmla="*/ 84 h 159"/>
                  <a:gd name="T40" fmla="*/ 34 w 112"/>
                  <a:gd name="T41" fmla="*/ 159 h 159"/>
                  <a:gd name="T42" fmla="*/ 55 w 112"/>
                  <a:gd name="T43" fmla="*/ 84 h 159"/>
                  <a:gd name="T44" fmla="*/ 60 w 112"/>
                  <a:gd name="T45" fmla="*/ 159 h 159"/>
                  <a:gd name="T46" fmla="*/ 67 w 112"/>
                  <a:gd name="T47" fmla="*/ 145 h 159"/>
                  <a:gd name="T48" fmla="*/ 76 w 112"/>
                  <a:gd name="T49" fmla="*/ 59 h 159"/>
                  <a:gd name="T50" fmla="*/ 110 w 112"/>
                  <a:gd name="T51" fmla="*/ 41 h 159"/>
                  <a:gd name="T52" fmla="*/ 112 w 112"/>
                  <a:gd name="T53" fmla="*/ 24 h 159"/>
                  <a:gd name="T54" fmla="*/ 27 w 112"/>
                  <a:gd name="T55" fmla="*/ 51 h 159"/>
                  <a:gd name="T56" fmla="*/ 21 w 112"/>
                  <a:gd name="T57" fmla="*/ 40 h 159"/>
                  <a:gd name="T58" fmla="*/ 30 w 112"/>
                  <a:gd name="T59" fmla="*/ 55 h 159"/>
                  <a:gd name="T60" fmla="*/ 68 w 112"/>
                  <a:gd name="T61" fmla="*/ 39 h 159"/>
                  <a:gd name="T62" fmla="*/ 82 w 112"/>
                  <a:gd name="T63" fmla="*/ 25 h 159"/>
                  <a:gd name="T64" fmla="*/ 88 w 112"/>
                  <a:gd name="T6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59">
                    <a:moveTo>
                      <a:pt x="112" y="24"/>
                    </a:moveTo>
                    <a:cubicBezTo>
                      <a:pt x="111" y="23"/>
                      <a:pt x="111" y="23"/>
                      <a:pt x="111" y="23"/>
                    </a:cubicBezTo>
                    <a:cubicBezTo>
                      <a:pt x="110" y="22"/>
                      <a:pt x="110" y="22"/>
                      <a:pt x="110" y="22"/>
                    </a:cubicBezTo>
                    <a:cubicBezTo>
                      <a:pt x="106" y="19"/>
                      <a:pt x="106" y="19"/>
                      <a:pt x="106" y="19"/>
                    </a:cubicBezTo>
                    <a:cubicBezTo>
                      <a:pt x="98" y="13"/>
                      <a:pt x="98" y="13"/>
                      <a:pt x="98" y="13"/>
                    </a:cubicBezTo>
                    <a:cubicBezTo>
                      <a:pt x="83" y="2"/>
                      <a:pt x="83" y="2"/>
                      <a:pt x="83" y="2"/>
                    </a:cubicBezTo>
                    <a:cubicBezTo>
                      <a:pt x="81" y="1"/>
                      <a:pt x="80" y="0"/>
                      <a:pt x="78" y="0"/>
                    </a:cubicBezTo>
                    <a:cubicBezTo>
                      <a:pt x="78" y="0"/>
                      <a:pt x="78" y="0"/>
                      <a:pt x="77" y="0"/>
                    </a:cubicBezTo>
                    <a:cubicBezTo>
                      <a:pt x="75" y="0"/>
                      <a:pt x="72" y="0"/>
                      <a:pt x="70" y="0"/>
                    </a:cubicBezTo>
                    <a:cubicBezTo>
                      <a:pt x="70" y="0"/>
                      <a:pt x="70" y="0"/>
                      <a:pt x="70" y="0"/>
                    </a:cubicBezTo>
                    <a:cubicBezTo>
                      <a:pt x="76" y="5"/>
                      <a:pt x="76" y="5"/>
                      <a:pt x="76" y="5"/>
                    </a:cubicBezTo>
                    <a:cubicBezTo>
                      <a:pt x="68" y="10"/>
                      <a:pt x="68" y="10"/>
                      <a:pt x="68" y="10"/>
                    </a:cubicBezTo>
                    <a:cubicBezTo>
                      <a:pt x="72" y="16"/>
                      <a:pt x="72" y="16"/>
                      <a:pt x="72" y="16"/>
                    </a:cubicBezTo>
                    <a:cubicBezTo>
                      <a:pt x="56" y="50"/>
                      <a:pt x="56" y="50"/>
                      <a:pt x="56" y="50"/>
                    </a:cubicBezTo>
                    <a:cubicBezTo>
                      <a:pt x="57" y="51"/>
                      <a:pt x="57" y="51"/>
                      <a:pt x="57" y="51"/>
                    </a:cubicBezTo>
                    <a:cubicBezTo>
                      <a:pt x="56" y="51"/>
                      <a:pt x="56" y="51"/>
                      <a:pt x="56" y="51"/>
                    </a:cubicBezTo>
                    <a:cubicBezTo>
                      <a:pt x="56" y="51"/>
                      <a:pt x="56" y="51"/>
                      <a:pt x="56" y="51"/>
                    </a:cubicBezTo>
                    <a:cubicBezTo>
                      <a:pt x="56" y="50"/>
                      <a:pt x="56" y="50"/>
                      <a:pt x="56" y="50"/>
                    </a:cubicBezTo>
                    <a:cubicBezTo>
                      <a:pt x="41" y="16"/>
                      <a:pt x="41" y="16"/>
                      <a:pt x="41" y="16"/>
                    </a:cubicBezTo>
                    <a:cubicBezTo>
                      <a:pt x="45" y="10"/>
                      <a:pt x="45" y="10"/>
                      <a:pt x="45" y="10"/>
                    </a:cubicBezTo>
                    <a:cubicBezTo>
                      <a:pt x="36" y="5"/>
                      <a:pt x="36" y="5"/>
                      <a:pt x="36" y="5"/>
                    </a:cubicBezTo>
                    <a:cubicBezTo>
                      <a:pt x="43" y="0"/>
                      <a:pt x="43" y="0"/>
                      <a:pt x="43" y="0"/>
                    </a:cubicBezTo>
                    <a:cubicBezTo>
                      <a:pt x="43" y="0"/>
                      <a:pt x="43" y="0"/>
                      <a:pt x="43" y="0"/>
                    </a:cubicBezTo>
                    <a:cubicBezTo>
                      <a:pt x="41" y="0"/>
                      <a:pt x="38" y="0"/>
                      <a:pt x="35" y="0"/>
                    </a:cubicBezTo>
                    <a:cubicBezTo>
                      <a:pt x="35" y="0"/>
                      <a:pt x="35" y="0"/>
                      <a:pt x="35" y="0"/>
                    </a:cubicBezTo>
                    <a:cubicBezTo>
                      <a:pt x="32" y="1"/>
                      <a:pt x="30" y="2"/>
                      <a:pt x="28" y="4"/>
                    </a:cubicBezTo>
                    <a:cubicBezTo>
                      <a:pt x="1" y="32"/>
                      <a:pt x="1" y="32"/>
                      <a:pt x="1" y="32"/>
                    </a:cubicBezTo>
                    <a:cubicBezTo>
                      <a:pt x="0" y="44"/>
                      <a:pt x="0" y="44"/>
                      <a:pt x="0" y="44"/>
                    </a:cubicBezTo>
                    <a:cubicBezTo>
                      <a:pt x="0" y="44"/>
                      <a:pt x="0" y="44"/>
                      <a:pt x="0" y="44"/>
                    </a:cubicBezTo>
                    <a:cubicBezTo>
                      <a:pt x="0" y="44"/>
                      <a:pt x="0" y="44"/>
                      <a:pt x="0" y="44"/>
                    </a:cubicBezTo>
                    <a:cubicBezTo>
                      <a:pt x="0" y="44"/>
                      <a:pt x="0" y="44"/>
                      <a:pt x="0" y="44"/>
                    </a:cubicBezTo>
                    <a:cubicBezTo>
                      <a:pt x="0" y="45"/>
                      <a:pt x="0" y="45"/>
                      <a:pt x="0" y="45"/>
                    </a:cubicBezTo>
                    <a:cubicBezTo>
                      <a:pt x="1" y="46"/>
                      <a:pt x="1" y="46"/>
                      <a:pt x="1" y="46"/>
                    </a:cubicBezTo>
                    <a:cubicBezTo>
                      <a:pt x="2" y="48"/>
                      <a:pt x="2" y="48"/>
                      <a:pt x="2" y="48"/>
                    </a:cubicBezTo>
                    <a:cubicBezTo>
                      <a:pt x="4" y="52"/>
                      <a:pt x="4" y="52"/>
                      <a:pt x="4" y="52"/>
                    </a:cubicBezTo>
                    <a:cubicBezTo>
                      <a:pt x="9" y="61"/>
                      <a:pt x="9" y="61"/>
                      <a:pt x="9" y="61"/>
                    </a:cubicBezTo>
                    <a:cubicBezTo>
                      <a:pt x="18" y="78"/>
                      <a:pt x="18" y="78"/>
                      <a:pt x="18" y="78"/>
                    </a:cubicBezTo>
                    <a:cubicBezTo>
                      <a:pt x="22" y="76"/>
                      <a:pt x="26" y="74"/>
                      <a:pt x="29" y="72"/>
                    </a:cubicBezTo>
                    <a:cubicBezTo>
                      <a:pt x="29" y="76"/>
                      <a:pt x="29" y="80"/>
                      <a:pt x="29" y="83"/>
                    </a:cubicBezTo>
                    <a:cubicBezTo>
                      <a:pt x="29" y="83"/>
                      <a:pt x="29" y="84"/>
                      <a:pt x="29" y="84"/>
                    </a:cubicBezTo>
                    <a:cubicBezTo>
                      <a:pt x="30" y="84"/>
                      <a:pt x="31" y="84"/>
                      <a:pt x="31" y="84"/>
                    </a:cubicBezTo>
                    <a:cubicBezTo>
                      <a:pt x="34" y="159"/>
                      <a:pt x="34" y="159"/>
                      <a:pt x="34" y="159"/>
                    </a:cubicBezTo>
                    <a:cubicBezTo>
                      <a:pt x="55" y="159"/>
                      <a:pt x="55" y="159"/>
                      <a:pt x="55" y="159"/>
                    </a:cubicBezTo>
                    <a:cubicBezTo>
                      <a:pt x="56" y="137"/>
                      <a:pt x="56" y="99"/>
                      <a:pt x="55" y="84"/>
                    </a:cubicBezTo>
                    <a:cubicBezTo>
                      <a:pt x="56" y="84"/>
                      <a:pt x="57" y="84"/>
                      <a:pt x="58" y="84"/>
                    </a:cubicBezTo>
                    <a:cubicBezTo>
                      <a:pt x="60" y="159"/>
                      <a:pt x="60" y="159"/>
                      <a:pt x="60" y="159"/>
                    </a:cubicBezTo>
                    <a:cubicBezTo>
                      <a:pt x="74" y="159"/>
                      <a:pt x="74" y="159"/>
                      <a:pt x="74" y="159"/>
                    </a:cubicBezTo>
                    <a:cubicBezTo>
                      <a:pt x="70" y="156"/>
                      <a:pt x="67" y="151"/>
                      <a:pt x="67" y="145"/>
                    </a:cubicBezTo>
                    <a:cubicBezTo>
                      <a:pt x="67" y="75"/>
                      <a:pt x="67" y="75"/>
                      <a:pt x="67" y="75"/>
                    </a:cubicBezTo>
                    <a:cubicBezTo>
                      <a:pt x="67" y="68"/>
                      <a:pt x="71" y="62"/>
                      <a:pt x="76" y="59"/>
                    </a:cubicBezTo>
                    <a:cubicBezTo>
                      <a:pt x="77" y="60"/>
                      <a:pt x="78" y="61"/>
                      <a:pt x="78" y="62"/>
                    </a:cubicBezTo>
                    <a:cubicBezTo>
                      <a:pt x="110" y="41"/>
                      <a:pt x="110" y="41"/>
                      <a:pt x="110" y="41"/>
                    </a:cubicBezTo>
                    <a:cubicBezTo>
                      <a:pt x="111" y="40"/>
                      <a:pt x="111" y="40"/>
                      <a:pt x="111" y="40"/>
                    </a:cubicBezTo>
                    <a:lnTo>
                      <a:pt x="112" y="24"/>
                    </a:lnTo>
                    <a:close/>
                    <a:moveTo>
                      <a:pt x="30" y="55"/>
                    </a:moveTo>
                    <a:cubicBezTo>
                      <a:pt x="27" y="51"/>
                      <a:pt x="27" y="51"/>
                      <a:pt x="27" y="51"/>
                    </a:cubicBezTo>
                    <a:cubicBezTo>
                      <a:pt x="22" y="43"/>
                      <a:pt x="22" y="43"/>
                      <a:pt x="22" y="43"/>
                    </a:cubicBezTo>
                    <a:cubicBezTo>
                      <a:pt x="21" y="40"/>
                      <a:pt x="21" y="40"/>
                      <a:pt x="21" y="40"/>
                    </a:cubicBezTo>
                    <a:cubicBezTo>
                      <a:pt x="31" y="28"/>
                      <a:pt x="31" y="28"/>
                      <a:pt x="31" y="28"/>
                    </a:cubicBezTo>
                    <a:cubicBezTo>
                      <a:pt x="30" y="37"/>
                      <a:pt x="30" y="46"/>
                      <a:pt x="30" y="55"/>
                    </a:cubicBezTo>
                    <a:close/>
                    <a:moveTo>
                      <a:pt x="70" y="41"/>
                    </a:moveTo>
                    <a:cubicBezTo>
                      <a:pt x="68" y="39"/>
                      <a:pt x="68" y="39"/>
                      <a:pt x="68" y="39"/>
                    </a:cubicBezTo>
                    <a:cubicBezTo>
                      <a:pt x="82" y="30"/>
                      <a:pt x="82" y="30"/>
                      <a:pt x="82" y="30"/>
                    </a:cubicBezTo>
                    <a:cubicBezTo>
                      <a:pt x="82" y="28"/>
                      <a:pt x="82" y="27"/>
                      <a:pt x="82" y="25"/>
                    </a:cubicBezTo>
                    <a:cubicBezTo>
                      <a:pt x="86" y="28"/>
                      <a:pt x="86" y="28"/>
                      <a:pt x="86" y="28"/>
                    </a:cubicBezTo>
                    <a:cubicBezTo>
                      <a:pt x="88" y="30"/>
                      <a:pt x="88" y="30"/>
                      <a:pt x="88" y="30"/>
                    </a:cubicBezTo>
                    <a:lnTo>
                      <a:pt x="70"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217">
                <a:extLst>
                  <a:ext uri="{FF2B5EF4-FFF2-40B4-BE49-F238E27FC236}">
                    <a16:creationId xmlns:a16="http://schemas.microsoft.com/office/drawing/2014/main" id="{7681A10F-763B-493B-994C-DB48180CB530}"/>
                  </a:ext>
                </a:extLst>
              </p:cNvPr>
              <p:cNvSpPr/>
              <p:nvPr/>
            </p:nvSpPr>
            <p:spPr bwMode="auto">
              <a:xfrm>
                <a:off x="5946775" y="3201988"/>
                <a:ext cx="42863" cy="44450"/>
              </a:xfrm>
              <a:custGeom>
                <a:avLst/>
                <a:gdLst>
                  <a:gd name="T0" fmla="*/ 22 w 27"/>
                  <a:gd name="T1" fmla="*/ 0 h 28"/>
                  <a:gd name="T2" fmla="*/ 27 w 27"/>
                  <a:gd name="T3" fmla="*/ 16 h 28"/>
                  <a:gd name="T4" fmla="*/ 12 w 27"/>
                  <a:gd name="T5" fmla="*/ 28 h 28"/>
                  <a:gd name="T6" fmla="*/ 0 w 27"/>
                  <a:gd name="T7" fmla="*/ 16 h 28"/>
                  <a:gd name="T8" fmla="*/ 5 w 27"/>
                  <a:gd name="T9" fmla="*/ 0 h 28"/>
                  <a:gd name="T10" fmla="*/ 22 w 27"/>
                  <a:gd name="T11" fmla="*/ 0 h 28"/>
                </a:gdLst>
                <a:ahLst/>
                <a:cxnLst>
                  <a:cxn ang="0">
                    <a:pos x="T0" y="T1"/>
                  </a:cxn>
                  <a:cxn ang="0">
                    <a:pos x="T2" y="T3"/>
                  </a:cxn>
                  <a:cxn ang="0">
                    <a:pos x="T4" y="T5"/>
                  </a:cxn>
                  <a:cxn ang="0">
                    <a:pos x="T6" y="T7"/>
                  </a:cxn>
                  <a:cxn ang="0">
                    <a:pos x="T8" y="T9"/>
                  </a:cxn>
                  <a:cxn ang="0">
                    <a:pos x="T10" y="T11"/>
                  </a:cxn>
                </a:cxnLst>
                <a:rect l="0" t="0" r="r" b="b"/>
                <a:pathLst>
                  <a:path w="27" h="28">
                    <a:moveTo>
                      <a:pt x="22" y="0"/>
                    </a:moveTo>
                    <a:lnTo>
                      <a:pt x="27" y="16"/>
                    </a:lnTo>
                    <a:lnTo>
                      <a:pt x="12" y="28"/>
                    </a:lnTo>
                    <a:lnTo>
                      <a:pt x="0" y="16"/>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18">
                <a:extLst>
                  <a:ext uri="{FF2B5EF4-FFF2-40B4-BE49-F238E27FC236}">
                    <a16:creationId xmlns:a16="http://schemas.microsoft.com/office/drawing/2014/main" id="{52EF81C8-1053-48B5-90C5-0CB1F16929B1}"/>
                  </a:ext>
                </a:extLst>
              </p:cNvPr>
              <p:cNvSpPr/>
              <p:nvPr/>
            </p:nvSpPr>
            <p:spPr bwMode="auto">
              <a:xfrm>
                <a:off x="5946775" y="3232150"/>
                <a:ext cx="42863" cy="185738"/>
              </a:xfrm>
              <a:custGeom>
                <a:avLst/>
                <a:gdLst>
                  <a:gd name="T0" fmla="*/ 22 w 27"/>
                  <a:gd name="T1" fmla="*/ 0 h 117"/>
                  <a:gd name="T2" fmla="*/ 27 w 27"/>
                  <a:gd name="T3" fmla="*/ 105 h 117"/>
                  <a:gd name="T4" fmla="*/ 12 w 27"/>
                  <a:gd name="T5" fmla="*/ 117 h 117"/>
                  <a:gd name="T6" fmla="*/ 0 w 27"/>
                  <a:gd name="T7" fmla="*/ 105 h 117"/>
                  <a:gd name="T8" fmla="*/ 5 w 27"/>
                  <a:gd name="T9" fmla="*/ 0 h 117"/>
                  <a:gd name="T10" fmla="*/ 22 w 27"/>
                  <a:gd name="T11" fmla="*/ 0 h 117"/>
                </a:gdLst>
                <a:ahLst/>
                <a:cxnLst>
                  <a:cxn ang="0">
                    <a:pos x="T0" y="T1"/>
                  </a:cxn>
                  <a:cxn ang="0">
                    <a:pos x="T2" y="T3"/>
                  </a:cxn>
                  <a:cxn ang="0">
                    <a:pos x="T4" y="T5"/>
                  </a:cxn>
                  <a:cxn ang="0">
                    <a:pos x="T6" y="T7"/>
                  </a:cxn>
                  <a:cxn ang="0">
                    <a:pos x="T8" y="T9"/>
                  </a:cxn>
                  <a:cxn ang="0">
                    <a:pos x="T10" y="T11"/>
                  </a:cxn>
                </a:cxnLst>
                <a:rect l="0" t="0" r="r" b="b"/>
                <a:pathLst>
                  <a:path w="27" h="117">
                    <a:moveTo>
                      <a:pt x="22" y="0"/>
                    </a:moveTo>
                    <a:lnTo>
                      <a:pt x="27" y="105"/>
                    </a:lnTo>
                    <a:lnTo>
                      <a:pt x="12" y="117"/>
                    </a:lnTo>
                    <a:lnTo>
                      <a:pt x="0" y="105"/>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28" name="组合 27">
            <a:extLst>
              <a:ext uri="{FF2B5EF4-FFF2-40B4-BE49-F238E27FC236}">
                <a16:creationId xmlns:a16="http://schemas.microsoft.com/office/drawing/2014/main" id="{A0A7B8D9-00C8-461B-8C07-C40FC740B4E6}"/>
              </a:ext>
            </a:extLst>
          </p:cNvPr>
          <p:cNvGrpSpPr/>
          <p:nvPr/>
        </p:nvGrpSpPr>
        <p:grpSpPr>
          <a:xfrm>
            <a:off x="5306387" y="5875923"/>
            <a:ext cx="342764" cy="342764"/>
            <a:chOff x="5306387" y="5875923"/>
            <a:chExt cx="342764" cy="342764"/>
          </a:xfrm>
        </p:grpSpPr>
        <p:sp>
          <p:nvSpPr>
            <p:cNvPr id="29" name="椭圆 28">
              <a:extLst>
                <a:ext uri="{FF2B5EF4-FFF2-40B4-BE49-F238E27FC236}">
                  <a16:creationId xmlns:a16="http://schemas.microsoft.com/office/drawing/2014/main" id="{713CE592-4EAD-4944-A286-E51D3A308F83}"/>
                </a:ext>
              </a:extLst>
            </p:cNvPr>
            <p:cNvSpPr/>
            <p:nvPr/>
          </p:nvSpPr>
          <p:spPr>
            <a:xfrm>
              <a:off x="5306387"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a:extLst>
                <a:ext uri="{FF2B5EF4-FFF2-40B4-BE49-F238E27FC236}">
                  <a16:creationId xmlns:a16="http://schemas.microsoft.com/office/drawing/2014/main" id="{F5FC36AF-6731-43C7-B468-EE7FDCB57E01}"/>
                </a:ext>
              </a:extLst>
            </p:cNvPr>
            <p:cNvGrpSpPr/>
            <p:nvPr/>
          </p:nvGrpSpPr>
          <p:grpSpPr>
            <a:xfrm>
              <a:off x="5370562" y="5961635"/>
              <a:ext cx="214413" cy="171339"/>
              <a:chOff x="5738813" y="3144838"/>
              <a:chExt cx="711200" cy="568325"/>
            </a:xfrm>
            <a:solidFill>
              <a:schemeClr val="accent1"/>
            </a:solidFill>
          </p:grpSpPr>
          <p:sp>
            <p:nvSpPr>
              <p:cNvPr id="31" name="Freeform 103">
                <a:extLst>
                  <a:ext uri="{FF2B5EF4-FFF2-40B4-BE49-F238E27FC236}">
                    <a16:creationId xmlns:a16="http://schemas.microsoft.com/office/drawing/2014/main" id="{B0CD356E-E0A2-49E4-8270-523C0D2BEAB1}"/>
                  </a:ext>
                </a:extLst>
              </p:cNvPr>
              <p:cNvSpPr/>
              <p:nvPr/>
            </p:nvSpPr>
            <p:spPr bwMode="auto">
              <a:xfrm>
                <a:off x="5821363" y="3159126"/>
                <a:ext cx="533400" cy="371475"/>
              </a:xfrm>
              <a:custGeom>
                <a:avLst/>
                <a:gdLst>
                  <a:gd name="T0" fmla="*/ 22 w 336"/>
                  <a:gd name="T1" fmla="*/ 234 h 234"/>
                  <a:gd name="T2" fmla="*/ 0 w 336"/>
                  <a:gd name="T3" fmla="*/ 215 h 234"/>
                  <a:gd name="T4" fmla="*/ 135 w 336"/>
                  <a:gd name="T5" fmla="*/ 56 h 234"/>
                  <a:gd name="T6" fmla="*/ 216 w 336"/>
                  <a:gd name="T7" fmla="*/ 126 h 234"/>
                  <a:gd name="T8" fmla="*/ 312 w 336"/>
                  <a:gd name="T9" fmla="*/ 0 h 234"/>
                  <a:gd name="T10" fmla="*/ 336 w 336"/>
                  <a:gd name="T11" fmla="*/ 17 h 234"/>
                  <a:gd name="T12" fmla="*/ 219 w 336"/>
                  <a:gd name="T13" fmla="*/ 171 h 234"/>
                  <a:gd name="T14" fmla="*/ 137 w 336"/>
                  <a:gd name="T15" fmla="*/ 99 h 234"/>
                  <a:gd name="T16" fmla="*/ 22 w 336"/>
                  <a:gd name="T17" fmla="*/ 234 h 234"/>
                  <a:gd name="T18" fmla="*/ 22 w 336"/>
                  <a:gd name="T19"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234">
                    <a:moveTo>
                      <a:pt x="22" y="234"/>
                    </a:moveTo>
                    <a:lnTo>
                      <a:pt x="0" y="215"/>
                    </a:lnTo>
                    <a:lnTo>
                      <a:pt x="135" y="56"/>
                    </a:lnTo>
                    <a:lnTo>
                      <a:pt x="216" y="126"/>
                    </a:lnTo>
                    <a:lnTo>
                      <a:pt x="312" y="0"/>
                    </a:lnTo>
                    <a:lnTo>
                      <a:pt x="336" y="17"/>
                    </a:lnTo>
                    <a:lnTo>
                      <a:pt x="219" y="171"/>
                    </a:lnTo>
                    <a:lnTo>
                      <a:pt x="137" y="99"/>
                    </a:lnTo>
                    <a:lnTo>
                      <a:pt x="22" y="234"/>
                    </a:lnTo>
                    <a:lnTo>
                      <a:pt x="22" y="2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04">
                <a:extLst>
                  <a:ext uri="{FF2B5EF4-FFF2-40B4-BE49-F238E27FC236}">
                    <a16:creationId xmlns:a16="http://schemas.microsoft.com/office/drawing/2014/main" id="{7A574504-B751-47C3-BE54-02544A0E9B9D}"/>
                  </a:ext>
                </a:extLst>
              </p:cNvPr>
              <p:cNvSpPr/>
              <p:nvPr/>
            </p:nvSpPr>
            <p:spPr bwMode="auto">
              <a:xfrm>
                <a:off x="6248401" y="3148013"/>
                <a:ext cx="117475" cy="119063"/>
              </a:xfrm>
              <a:custGeom>
                <a:avLst/>
                <a:gdLst>
                  <a:gd name="T0" fmla="*/ 0 w 74"/>
                  <a:gd name="T1" fmla="*/ 0 h 75"/>
                  <a:gd name="T2" fmla="*/ 74 w 74"/>
                  <a:gd name="T3" fmla="*/ 0 h 75"/>
                  <a:gd name="T4" fmla="*/ 74 w 74"/>
                  <a:gd name="T5" fmla="*/ 75 h 75"/>
                  <a:gd name="T6" fmla="*/ 0 w 74"/>
                  <a:gd name="T7" fmla="*/ 0 h 75"/>
                </a:gdLst>
                <a:ahLst/>
                <a:cxnLst>
                  <a:cxn ang="0">
                    <a:pos x="T0" y="T1"/>
                  </a:cxn>
                  <a:cxn ang="0">
                    <a:pos x="T2" y="T3"/>
                  </a:cxn>
                  <a:cxn ang="0">
                    <a:pos x="T4" y="T5"/>
                  </a:cxn>
                  <a:cxn ang="0">
                    <a:pos x="T6" y="T7"/>
                  </a:cxn>
                </a:cxnLst>
                <a:rect l="0" t="0" r="r" b="b"/>
                <a:pathLst>
                  <a:path w="74" h="75">
                    <a:moveTo>
                      <a:pt x="0" y="0"/>
                    </a:moveTo>
                    <a:lnTo>
                      <a:pt x="74" y="0"/>
                    </a:lnTo>
                    <a:lnTo>
                      <a:pt x="74" y="7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05">
                <a:extLst>
                  <a:ext uri="{FF2B5EF4-FFF2-40B4-BE49-F238E27FC236}">
                    <a16:creationId xmlns:a16="http://schemas.microsoft.com/office/drawing/2014/main" id="{56B0AF31-AE80-44B4-85A5-6071B641491E}"/>
                  </a:ext>
                </a:extLst>
              </p:cNvPr>
              <p:cNvSpPr/>
              <p:nvPr/>
            </p:nvSpPr>
            <p:spPr bwMode="auto">
              <a:xfrm>
                <a:off x="5738813" y="3144838"/>
                <a:ext cx="711200" cy="568325"/>
              </a:xfrm>
              <a:custGeom>
                <a:avLst/>
                <a:gdLst>
                  <a:gd name="T0" fmla="*/ 448 w 448"/>
                  <a:gd name="T1" fmla="*/ 358 h 358"/>
                  <a:gd name="T2" fmla="*/ 0 w 448"/>
                  <a:gd name="T3" fmla="*/ 358 h 358"/>
                  <a:gd name="T4" fmla="*/ 0 w 448"/>
                  <a:gd name="T5" fmla="*/ 0 h 358"/>
                  <a:gd name="T6" fmla="*/ 26 w 448"/>
                  <a:gd name="T7" fmla="*/ 0 h 358"/>
                  <a:gd name="T8" fmla="*/ 26 w 448"/>
                  <a:gd name="T9" fmla="*/ 334 h 358"/>
                  <a:gd name="T10" fmla="*/ 448 w 448"/>
                  <a:gd name="T11" fmla="*/ 334 h 358"/>
                  <a:gd name="T12" fmla="*/ 448 w 448"/>
                  <a:gd name="T13" fmla="*/ 358 h 358"/>
                  <a:gd name="T14" fmla="*/ 448 w 448"/>
                  <a:gd name="T15" fmla="*/ 358 h 3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358">
                    <a:moveTo>
                      <a:pt x="448" y="358"/>
                    </a:moveTo>
                    <a:lnTo>
                      <a:pt x="0" y="358"/>
                    </a:lnTo>
                    <a:lnTo>
                      <a:pt x="0" y="0"/>
                    </a:lnTo>
                    <a:lnTo>
                      <a:pt x="26" y="0"/>
                    </a:lnTo>
                    <a:lnTo>
                      <a:pt x="26" y="334"/>
                    </a:lnTo>
                    <a:lnTo>
                      <a:pt x="448" y="334"/>
                    </a:lnTo>
                    <a:lnTo>
                      <a:pt x="448" y="358"/>
                    </a:lnTo>
                    <a:lnTo>
                      <a:pt x="448" y="3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Rectangle 106">
                <a:extLst>
                  <a:ext uri="{FF2B5EF4-FFF2-40B4-BE49-F238E27FC236}">
                    <a16:creationId xmlns:a16="http://schemas.microsoft.com/office/drawing/2014/main" id="{342E43F6-202A-455C-8670-6B04C34EF7CE}"/>
                  </a:ext>
                </a:extLst>
              </p:cNvPr>
              <p:cNvSpPr>
                <a:spLocks noChangeArrowheads="1"/>
              </p:cNvSpPr>
              <p:nvPr/>
            </p:nvSpPr>
            <p:spPr bwMode="auto">
              <a:xfrm>
                <a:off x="5853113" y="3560763"/>
                <a:ext cx="79375" cy="1222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5" name="Rectangle 107">
                <a:extLst>
                  <a:ext uri="{FF2B5EF4-FFF2-40B4-BE49-F238E27FC236}">
                    <a16:creationId xmlns:a16="http://schemas.microsoft.com/office/drawing/2014/main" id="{81739738-E957-403C-B570-1CE7BC646BC3}"/>
                  </a:ext>
                </a:extLst>
              </p:cNvPr>
              <p:cNvSpPr>
                <a:spLocks noChangeArrowheads="1"/>
              </p:cNvSpPr>
              <p:nvPr/>
            </p:nvSpPr>
            <p:spPr bwMode="auto">
              <a:xfrm>
                <a:off x="5997576" y="3408363"/>
                <a:ext cx="79375" cy="274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6" name="Rectangle 108">
                <a:extLst>
                  <a:ext uri="{FF2B5EF4-FFF2-40B4-BE49-F238E27FC236}">
                    <a16:creationId xmlns:a16="http://schemas.microsoft.com/office/drawing/2014/main" id="{57107470-EA4C-498A-A756-A70AD23D82EC}"/>
                  </a:ext>
                </a:extLst>
              </p:cNvPr>
              <p:cNvSpPr>
                <a:spLocks noChangeArrowheads="1"/>
              </p:cNvSpPr>
              <p:nvPr/>
            </p:nvSpPr>
            <p:spPr bwMode="auto">
              <a:xfrm>
                <a:off x="6142038" y="3487738"/>
                <a:ext cx="79375" cy="1952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7" name="Rectangle 109">
                <a:extLst>
                  <a:ext uri="{FF2B5EF4-FFF2-40B4-BE49-F238E27FC236}">
                    <a16:creationId xmlns:a16="http://schemas.microsoft.com/office/drawing/2014/main" id="{C3AE1AD3-F23B-4D98-A1F9-207062ADCF80}"/>
                  </a:ext>
                </a:extLst>
              </p:cNvPr>
              <p:cNvSpPr>
                <a:spLocks noChangeArrowheads="1"/>
              </p:cNvSpPr>
              <p:nvPr/>
            </p:nvSpPr>
            <p:spPr bwMode="auto">
              <a:xfrm>
                <a:off x="6286501" y="3305176"/>
                <a:ext cx="79375" cy="377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grpSp>
      <p:grpSp>
        <p:nvGrpSpPr>
          <p:cNvPr id="38" name="组合 37">
            <a:extLst>
              <a:ext uri="{FF2B5EF4-FFF2-40B4-BE49-F238E27FC236}">
                <a16:creationId xmlns:a16="http://schemas.microsoft.com/office/drawing/2014/main" id="{3F8F588E-CC41-4DEC-BFD6-57015A7C8B67}"/>
              </a:ext>
            </a:extLst>
          </p:cNvPr>
          <p:cNvGrpSpPr/>
          <p:nvPr/>
        </p:nvGrpSpPr>
        <p:grpSpPr>
          <a:xfrm>
            <a:off x="5924618" y="5875923"/>
            <a:ext cx="342764" cy="342764"/>
            <a:chOff x="5924618" y="5875923"/>
            <a:chExt cx="342764" cy="342764"/>
          </a:xfrm>
        </p:grpSpPr>
        <p:sp>
          <p:nvSpPr>
            <p:cNvPr id="39" name="椭圆 38">
              <a:extLst>
                <a:ext uri="{FF2B5EF4-FFF2-40B4-BE49-F238E27FC236}">
                  <a16:creationId xmlns:a16="http://schemas.microsoft.com/office/drawing/2014/main" id="{C75AFBD7-DBC5-4AB1-85DF-0CCE65BAAA6F}"/>
                </a:ext>
              </a:extLst>
            </p:cNvPr>
            <p:cNvSpPr/>
            <p:nvPr/>
          </p:nvSpPr>
          <p:spPr>
            <a:xfrm>
              <a:off x="5924618"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0" name="组合 39">
              <a:extLst>
                <a:ext uri="{FF2B5EF4-FFF2-40B4-BE49-F238E27FC236}">
                  <a16:creationId xmlns:a16="http://schemas.microsoft.com/office/drawing/2014/main" id="{1954B2CE-4A66-4B5F-97D9-F427D33D9FE2}"/>
                </a:ext>
              </a:extLst>
            </p:cNvPr>
            <p:cNvGrpSpPr/>
            <p:nvPr/>
          </p:nvGrpSpPr>
          <p:grpSpPr>
            <a:xfrm>
              <a:off x="5999323" y="5949431"/>
              <a:ext cx="193355" cy="195748"/>
              <a:chOff x="5778500" y="3105150"/>
              <a:chExt cx="641350" cy="649288"/>
            </a:xfrm>
            <a:solidFill>
              <a:schemeClr val="accent1"/>
            </a:solidFill>
          </p:grpSpPr>
          <p:sp>
            <p:nvSpPr>
              <p:cNvPr id="41" name="Freeform 425">
                <a:extLst>
                  <a:ext uri="{FF2B5EF4-FFF2-40B4-BE49-F238E27FC236}">
                    <a16:creationId xmlns:a16="http://schemas.microsoft.com/office/drawing/2014/main" id="{B91F5DCD-DE23-4812-A1CD-2E7E844B7BDF}"/>
                  </a:ext>
                </a:extLst>
              </p:cNvPr>
              <p:cNvSpPr/>
              <p:nvPr/>
            </p:nvSpPr>
            <p:spPr bwMode="auto">
              <a:xfrm>
                <a:off x="5959475" y="3227388"/>
                <a:ext cx="217488" cy="438150"/>
              </a:xfrm>
              <a:custGeom>
                <a:avLst/>
                <a:gdLst>
                  <a:gd name="T0" fmla="*/ 36 w 137"/>
                  <a:gd name="T1" fmla="*/ 276 h 276"/>
                  <a:gd name="T2" fmla="*/ 101 w 137"/>
                  <a:gd name="T3" fmla="*/ 276 h 276"/>
                  <a:gd name="T4" fmla="*/ 101 w 137"/>
                  <a:gd name="T5" fmla="*/ 69 h 276"/>
                  <a:gd name="T6" fmla="*/ 137 w 137"/>
                  <a:gd name="T7" fmla="*/ 69 h 276"/>
                  <a:gd name="T8" fmla="*/ 67 w 137"/>
                  <a:gd name="T9" fmla="*/ 0 h 276"/>
                  <a:gd name="T10" fmla="*/ 0 w 137"/>
                  <a:gd name="T11" fmla="*/ 69 h 276"/>
                  <a:gd name="T12" fmla="*/ 36 w 137"/>
                  <a:gd name="T13" fmla="*/ 69 h 276"/>
                  <a:gd name="T14" fmla="*/ 36 w 137"/>
                  <a:gd name="T15" fmla="*/ 276 h 2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7" h="276">
                    <a:moveTo>
                      <a:pt x="36" y="276"/>
                    </a:moveTo>
                    <a:lnTo>
                      <a:pt x="101" y="276"/>
                    </a:lnTo>
                    <a:lnTo>
                      <a:pt x="101" y="69"/>
                    </a:lnTo>
                    <a:lnTo>
                      <a:pt x="137" y="69"/>
                    </a:lnTo>
                    <a:lnTo>
                      <a:pt x="67" y="0"/>
                    </a:lnTo>
                    <a:lnTo>
                      <a:pt x="0" y="69"/>
                    </a:lnTo>
                    <a:lnTo>
                      <a:pt x="36" y="69"/>
                    </a:lnTo>
                    <a:lnTo>
                      <a:pt x="36" y="2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426">
                <a:extLst>
                  <a:ext uri="{FF2B5EF4-FFF2-40B4-BE49-F238E27FC236}">
                    <a16:creationId xmlns:a16="http://schemas.microsoft.com/office/drawing/2014/main" id="{F65B7A26-E792-47F9-85D2-F972294E4CF6}"/>
                  </a:ext>
                </a:extLst>
              </p:cNvPr>
              <p:cNvSpPr/>
              <p:nvPr/>
            </p:nvSpPr>
            <p:spPr bwMode="auto">
              <a:xfrm>
                <a:off x="5783263" y="3398838"/>
                <a:ext cx="214313" cy="266700"/>
              </a:xfrm>
              <a:custGeom>
                <a:avLst/>
                <a:gdLst>
                  <a:gd name="T0" fmla="*/ 36 w 135"/>
                  <a:gd name="T1" fmla="*/ 168 h 168"/>
                  <a:gd name="T2" fmla="*/ 98 w 135"/>
                  <a:gd name="T3" fmla="*/ 168 h 168"/>
                  <a:gd name="T4" fmla="*/ 98 w 135"/>
                  <a:gd name="T5" fmla="*/ 70 h 168"/>
                  <a:gd name="T6" fmla="*/ 135 w 135"/>
                  <a:gd name="T7" fmla="*/ 70 h 168"/>
                  <a:gd name="T8" fmla="*/ 67 w 135"/>
                  <a:gd name="T9" fmla="*/ 0 h 168"/>
                  <a:gd name="T10" fmla="*/ 0 w 135"/>
                  <a:gd name="T11" fmla="*/ 70 h 168"/>
                  <a:gd name="T12" fmla="*/ 36 w 135"/>
                  <a:gd name="T13" fmla="*/ 70 h 168"/>
                  <a:gd name="T14" fmla="*/ 36 w 135"/>
                  <a:gd name="T15" fmla="*/ 168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68">
                    <a:moveTo>
                      <a:pt x="36" y="168"/>
                    </a:moveTo>
                    <a:lnTo>
                      <a:pt x="98" y="168"/>
                    </a:lnTo>
                    <a:lnTo>
                      <a:pt x="98" y="70"/>
                    </a:lnTo>
                    <a:lnTo>
                      <a:pt x="135" y="70"/>
                    </a:lnTo>
                    <a:lnTo>
                      <a:pt x="67" y="0"/>
                    </a:lnTo>
                    <a:lnTo>
                      <a:pt x="0" y="70"/>
                    </a:lnTo>
                    <a:lnTo>
                      <a:pt x="36" y="70"/>
                    </a:lnTo>
                    <a:lnTo>
                      <a:pt x="36"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Rectangle 427">
                <a:extLst>
                  <a:ext uri="{FF2B5EF4-FFF2-40B4-BE49-F238E27FC236}">
                    <a16:creationId xmlns:a16="http://schemas.microsoft.com/office/drawing/2014/main" id="{C368463A-6A5A-49B0-9F7C-4CA26AD7ECE1}"/>
                  </a:ext>
                </a:extLst>
              </p:cNvPr>
              <p:cNvSpPr>
                <a:spLocks noChangeArrowheads="1"/>
              </p:cNvSpPr>
              <p:nvPr/>
            </p:nvSpPr>
            <p:spPr bwMode="auto">
              <a:xfrm>
                <a:off x="5778500" y="3692525"/>
                <a:ext cx="641350" cy="619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4" name="Oval 428">
                <a:extLst>
                  <a:ext uri="{FF2B5EF4-FFF2-40B4-BE49-F238E27FC236}">
                    <a16:creationId xmlns:a16="http://schemas.microsoft.com/office/drawing/2014/main" id="{108B0B09-358B-41FD-B6C9-E24FED2E5458}"/>
                  </a:ext>
                </a:extLst>
              </p:cNvPr>
              <p:cNvSpPr>
                <a:spLocks noChangeArrowheads="1"/>
              </p:cNvSpPr>
              <p:nvPr/>
            </p:nvSpPr>
            <p:spPr bwMode="auto">
              <a:xfrm>
                <a:off x="6248400" y="3105150"/>
                <a:ext cx="88900" cy="1095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29">
                <a:extLst>
                  <a:ext uri="{FF2B5EF4-FFF2-40B4-BE49-F238E27FC236}">
                    <a16:creationId xmlns:a16="http://schemas.microsoft.com/office/drawing/2014/main" id="{6AD36026-0647-4CF9-B6B8-8368B2AD47DE}"/>
                  </a:ext>
                </a:extLst>
              </p:cNvPr>
              <p:cNvSpPr/>
              <p:nvPr/>
            </p:nvSpPr>
            <p:spPr bwMode="auto">
              <a:xfrm>
                <a:off x="6188075" y="3222625"/>
                <a:ext cx="206375" cy="442913"/>
              </a:xfrm>
              <a:custGeom>
                <a:avLst/>
                <a:gdLst>
                  <a:gd name="T0" fmla="*/ 7 w 54"/>
                  <a:gd name="T1" fmla="*/ 61 h 116"/>
                  <a:gd name="T2" fmla="*/ 8 w 54"/>
                  <a:gd name="T3" fmla="*/ 61 h 116"/>
                  <a:gd name="T4" fmla="*/ 9 w 54"/>
                  <a:gd name="T5" fmla="*/ 61 h 116"/>
                  <a:gd name="T6" fmla="*/ 11 w 54"/>
                  <a:gd name="T7" fmla="*/ 116 h 116"/>
                  <a:gd name="T8" fmla="*/ 26 w 54"/>
                  <a:gd name="T9" fmla="*/ 116 h 116"/>
                  <a:gd name="T10" fmla="*/ 26 w 54"/>
                  <a:gd name="T11" fmla="*/ 61 h 116"/>
                  <a:gd name="T12" fmla="*/ 28 w 54"/>
                  <a:gd name="T13" fmla="*/ 61 h 116"/>
                  <a:gd name="T14" fmla="*/ 30 w 54"/>
                  <a:gd name="T15" fmla="*/ 116 h 116"/>
                  <a:gd name="T16" fmla="*/ 45 w 54"/>
                  <a:gd name="T17" fmla="*/ 116 h 116"/>
                  <a:gd name="T18" fmla="*/ 45 w 54"/>
                  <a:gd name="T19" fmla="*/ 61 h 116"/>
                  <a:gd name="T20" fmla="*/ 46 w 54"/>
                  <a:gd name="T21" fmla="*/ 61 h 116"/>
                  <a:gd name="T22" fmla="*/ 47 w 54"/>
                  <a:gd name="T23" fmla="*/ 61 h 116"/>
                  <a:gd name="T24" fmla="*/ 47 w 54"/>
                  <a:gd name="T25" fmla="*/ 61 h 116"/>
                  <a:gd name="T26" fmla="*/ 54 w 54"/>
                  <a:gd name="T27" fmla="*/ 61 h 116"/>
                  <a:gd name="T28" fmla="*/ 50 w 54"/>
                  <a:gd name="T29" fmla="*/ 8 h 116"/>
                  <a:gd name="T30" fmla="*/ 43 w 54"/>
                  <a:gd name="T31" fmla="*/ 1 h 116"/>
                  <a:gd name="T32" fmla="*/ 37 w 54"/>
                  <a:gd name="T33" fmla="*/ 0 h 116"/>
                  <a:gd name="T34" fmla="*/ 37 w 54"/>
                  <a:gd name="T35" fmla="*/ 1 h 116"/>
                  <a:gd name="T36" fmla="*/ 41 w 54"/>
                  <a:gd name="T37" fmla="*/ 5 h 116"/>
                  <a:gd name="T38" fmla="*/ 36 w 54"/>
                  <a:gd name="T39" fmla="*/ 8 h 116"/>
                  <a:gd name="T40" fmla="*/ 38 w 54"/>
                  <a:gd name="T41" fmla="*/ 12 h 116"/>
                  <a:gd name="T42" fmla="*/ 31 w 54"/>
                  <a:gd name="T43" fmla="*/ 28 h 116"/>
                  <a:gd name="T44" fmla="*/ 30 w 54"/>
                  <a:gd name="T45" fmla="*/ 6 h 116"/>
                  <a:gd name="T46" fmla="*/ 31 w 54"/>
                  <a:gd name="T47" fmla="*/ 5 h 116"/>
                  <a:gd name="T48" fmla="*/ 30 w 54"/>
                  <a:gd name="T49" fmla="*/ 0 h 116"/>
                  <a:gd name="T50" fmla="*/ 25 w 54"/>
                  <a:gd name="T51" fmla="*/ 0 h 116"/>
                  <a:gd name="T52" fmla="*/ 23 w 54"/>
                  <a:gd name="T53" fmla="*/ 5 h 116"/>
                  <a:gd name="T54" fmla="*/ 24 w 54"/>
                  <a:gd name="T55" fmla="*/ 6 h 116"/>
                  <a:gd name="T56" fmla="*/ 23 w 54"/>
                  <a:gd name="T57" fmla="*/ 29 h 116"/>
                  <a:gd name="T58" fmla="*/ 16 w 54"/>
                  <a:gd name="T59" fmla="*/ 12 h 116"/>
                  <a:gd name="T60" fmla="*/ 18 w 54"/>
                  <a:gd name="T61" fmla="*/ 8 h 116"/>
                  <a:gd name="T62" fmla="*/ 13 w 54"/>
                  <a:gd name="T63" fmla="*/ 5 h 116"/>
                  <a:gd name="T64" fmla="*/ 17 w 54"/>
                  <a:gd name="T65" fmla="*/ 1 h 116"/>
                  <a:gd name="T66" fmla="*/ 17 w 54"/>
                  <a:gd name="T67" fmla="*/ 0 h 116"/>
                  <a:gd name="T68" fmla="*/ 11 w 54"/>
                  <a:gd name="T69" fmla="*/ 1 h 116"/>
                  <a:gd name="T70" fmla="*/ 4 w 54"/>
                  <a:gd name="T71" fmla="*/ 8 h 116"/>
                  <a:gd name="T72" fmla="*/ 0 w 54"/>
                  <a:gd name="T73" fmla="*/ 61 h 116"/>
                  <a:gd name="T74" fmla="*/ 7 w 54"/>
                  <a:gd name="T75" fmla="*/ 61 h 116"/>
                  <a:gd name="T76" fmla="*/ 7 w 54"/>
                  <a:gd name="T77" fmla="*/ 6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116">
                    <a:moveTo>
                      <a:pt x="7" y="61"/>
                    </a:moveTo>
                    <a:cubicBezTo>
                      <a:pt x="8" y="61"/>
                      <a:pt x="8" y="61"/>
                      <a:pt x="8" y="61"/>
                    </a:cubicBezTo>
                    <a:cubicBezTo>
                      <a:pt x="8" y="61"/>
                      <a:pt x="9" y="61"/>
                      <a:pt x="9" y="61"/>
                    </a:cubicBezTo>
                    <a:cubicBezTo>
                      <a:pt x="11" y="116"/>
                      <a:pt x="11" y="116"/>
                      <a:pt x="11" y="116"/>
                    </a:cubicBezTo>
                    <a:cubicBezTo>
                      <a:pt x="26" y="116"/>
                      <a:pt x="26" y="116"/>
                      <a:pt x="26" y="116"/>
                    </a:cubicBezTo>
                    <a:cubicBezTo>
                      <a:pt x="27" y="100"/>
                      <a:pt x="27" y="72"/>
                      <a:pt x="26" y="61"/>
                    </a:cubicBezTo>
                    <a:cubicBezTo>
                      <a:pt x="27" y="61"/>
                      <a:pt x="27" y="61"/>
                      <a:pt x="28" y="61"/>
                    </a:cubicBezTo>
                    <a:cubicBezTo>
                      <a:pt x="30" y="116"/>
                      <a:pt x="30" y="116"/>
                      <a:pt x="30" y="116"/>
                    </a:cubicBezTo>
                    <a:cubicBezTo>
                      <a:pt x="45" y="116"/>
                      <a:pt x="45" y="116"/>
                      <a:pt x="45" y="116"/>
                    </a:cubicBezTo>
                    <a:cubicBezTo>
                      <a:pt x="46" y="100"/>
                      <a:pt x="45" y="72"/>
                      <a:pt x="45" y="61"/>
                    </a:cubicBezTo>
                    <a:cubicBezTo>
                      <a:pt x="46" y="61"/>
                      <a:pt x="46" y="61"/>
                      <a:pt x="46" y="61"/>
                    </a:cubicBezTo>
                    <a:cubicBezTo>
                      <a:pt x="46" y="61"/>
                      <a:pt x="47" y="61"/>
                      <a:pt x="47" y="61"/>
                    </a:cubicBezTo>
                    <a:cubicBezTo>
                      <a:pt x="47" y="61"/>
                      <a:pt x="47" y="61"/>
                      <a:pt x="47" y="61"/>
                    </a:cubicBezTo>
                    <a:cubicBezTo>
                      <a:pt x="49" y="61"/>
                      <a:pt x="52" y="61"/>
                      <a:pt x="54" y="61"/>
                    </a:cubicBezTo>
                    <a:cubicBezTo>
                      <a:pt x="50" y="8"/>
                      <a:pt x="50" y="8"/>
                      <a:pt x="50" y="8"/>
                    </a:cubicBezTo>
                    <a:cubicBezTo>
                      <a:pt x="50" y="4"/>
                      <a:pt x="47" y="1"/>
                      <a:pt x="43" y="1"/>
                    </a:cubicBezTo>
                    <a:cubicBezTo>
                      <a:pt x="43" y="1"/>
                      <a:pt x="38" y="1"/>
                      <a:pt x="37" y="0"/>
                    </a:cubicBezTo>
                    <a:cubicBezTo>
                      <a:pt x="37" y="1"/>
                      <a:pt x="37" y="1"/>
                      <a:pt x="37" y="1"/>
                    </a:cubicBezTo>
                    <a:cubicBezTo>
                      <a:pt x="41" y="5"/>
                      <a:pt x="41" y="5"/>
                      <a:pt x="41" y="5"/>
                    </a:cubicBezTo>
                    <a:cubicBezTo>
                      <a:pt x="36" y="8"/>
                      <a:pt x="36" y="8"/>
                      <a:pt x="36" y="8"/>
                    </a:cubicBezTo>
                    <a:cubicBezTo>
                      <a:pt x="38" y="12"/>
                      <a:pt x="38" y="12"/>
                      <a:pt x="38" y="12"/>
                    </a:cubicBezTo>
                    <a:cubicBezTo>
                      <a:pt x="31" y="28"/>
                      <a:pt x="31" y="28"/>
                      <a:pt x="31" y="28"/>
                    </a:cubicBezTo>
                    <a:cubicBezTo>
                      <a:pt x="30" y="6"/>
                      <a:pt x="30" y="6"/>
                      <a:pt x="30" y="6"/>
                    </a:cubicBezTo>
                    <a:cubicBezTo>
                      <a:pt x="31" y="5"/>
                      <a:pt x="31" y="5"/>
                      <a:pt x="31" y="5"/>
                    </a:cubicBezTo>
                    <a:cubicBezTo>
                      <a:pt x="30" y="0"/>
                      <a:pt x="30" y="0"/>
                      <a:pt x="30" y="0"/>
                    </a:cubicBezTo>
                    <a:cubicBezTo>
                      <a:pt x="25" y="0"/>
                      <a:pt x="25" y="0"/>
                      <a:pt x="25" y="0"/>
                    </a:cubicBezTo>
                    <a:cubicBezTo>
                      <a:pt x="23" y="5"/>
                      <a:pt x="23" y="5"/>
                      <a:pt x="23" y="5"/>
                    </a:cubicBezTo>
                    <a:cubicBezTo>
                      <a:pt x="24" y="6"/>
                      <a:pt x="24" y="6"/>
                      <a:pt x="24" y="6"/>
                    </a:cubicBezTo>
                    <a:cubicBezTo>
                      <a:pt x="23" y="29"/>
                      <a:pt x="23" y="29"/>
                      <a:pt x="23" y="29"/>
                    </a:cubicBezTo>
                    <a:cubicBezTo>
                      <a:pt x="16" y="12"/>
                      <a:pt x="16" y="12"/>
                      <a:pt x="16" y="12"/>
                    </a:cubicBezTo>
                    <a:cubicBezTo>
                      <a:pt x="18" y="8"/>
                      <a:pt x="18" y="8"/>
                      <a:pt x="18" y="8"/>
                    </a:cubicBezTo>
                    <a:cubicBezTo>
                      <a:pt x="13" y="5"/>
                      <a:pt x="13" y="5"/>
                      <a:pt x="13" y="5"/>
                    </a:cubicBezTo>
                    <a:cubicBezTo>
                      <a:pt x="17" y="1"/>
                      <a:pt x="17" y="1"/>
                      <a:pt x="17" y="1"/>
                    </a:cubicBezTo>
                    <a:cubicBezTo>
                      <a:pt x="17" y="0"/>
                      <a:pt x="17" y="0"/>
                      <a:pt x="17" y="0"/>
                    </a:cubicBezTo>
                    <a:cubicBezTo>
                      <a:pt x="16" y="1"/>
                      <a:pt x="11" y="1"/>
                      <a:pt x="11" y="1"/>
                    </a:cubicBezTo>
                    <a:cubicBezTo>
                      <a:pt x="8" y="1"/>
                      <a:pt x="5" y="4"/>
                      <a:pt x="4" y="8"/>
                    </a:cubicBezTo>
                    <a:cubicBezTo>
                      <a:pt x="0" y="61"/>
                      <a:pt x="0" y="61"/>
                      <a:pt x="0" y="61"/>
                    </a:cubicBezTo>
                    <a:cubicBezTo>
                      <a:pt x="3" y="61"/>
                      <a:pt x="5" y="61"/>
                      <a:pt x="7" y="61"/>
                    </a:cubicBezTo>
                    <a:cubicBezTo>
                      <a:pt x="7" y="61"/>
                      <a:pt x="7" y="61"/>
                      <a:pt x="7"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46" name="组合 45">
            <a:extLst>
              <a:ext uri="{FF2B5EF4-FFF2-40B4-BE49-F238E27FC236}">
                <a16:creationId xmlns:a16="http://schemas.microsoft.com/office/drawing/2014/main" id="{9148CD87-D12B-4D5C-A1BE-E6F8ED1A1C58}"/>
              </a:ext>
            </a:extLst>
          </p:cNvPr>
          <p:cNvGrpSpPr/>
          <p:nvPr/>
        </p:nvGrpSpPr>
        <p:grpSpPr>
          <a:xfrm>
            <a:off x="6542850" y="5875923"/>
            <a:ext cx="342764" cy="342764"/>
            <a:chOff x="6542850" y="5875923"/>
            <a:chExt cx="342764" cy="342764"/>
          </a:xfrm>
        </p:grpSpPr>
        <p:sp>
          <p:nvSpPr>
            <p:cNvPr id="47" name="椭圆 46">
              <a:extLst>
                <a:ext uri="{FF2B5EF4-FFF2-40B4-BE49-F238E27FC236}">
                  <a16:creationId xmlns:a16="http://schemas.microsoft.com/office/drawing/2014/main" id="{E3BF3175-9BC8-4E76-8B89-97FB03BB8263}"/>
                </a:ext>
              </a:extLst>
            </p:cNvPr>
            <p:cNvSpPr/>
            <p:nvPr/>
          </p:nvSpPr>
          <p:spPr>
            <a:xfrm>
              <a:off x="6542850"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C06505D0-EA39-41E4-9510-2423A2335B4A}"/>
                </a:ext>
              </a:extLst>
            </p:cNvPr>
            <p:cNvGrpSpPr/>
            <p:nvPr/>
          </p:nvGrpSpPr>
          <p:grpSpPr>
            <a:xfrm>
              <a:off x="6626221" y="5960251"/>
              <a:ext cx="200055" cy="198141"/>
              <a:chOff x="5767388" y="3098800"/>
              <a:chExt cx="663575" cy="657225"/>
            </a:xfrm>
            <a:solidFill>
              <a:schemeClr val="accent1"/>
            </a:solidFill>
          </p:grpSpPr>
          <p:sp>
            <p:nvSpPr>
              <p:cNvPr id="49" name="Freeform 253">
                <a:extLst>
                  <a:ext uri="{FF2B5EF4-FFF2-40B4-BE49-F238E27FC236}">
                    <a16:creationId xmlns:a16="http://schemas.microsoft.com/office/drawing/2014/main" id="{D42B857E-69FF-447F-9286-4AAD220504FC}"/>
                  </a:ext>
                </a:extLst>
              </p:cNvPr>
              <p:cNvSpPr>
                <a:spLocks noEditPoints="1"/>
              </p:cNvSpPr>
              <p:nvPr/>
            </p:nvSpPr>
            <p:spPr bwMode="auto">
              <a:xfrm>
                <a:off x="5767388" y="3098800"/>
                <a:ext cx="663575" cy="519113"/>
              </a:xfrm>
              <a:custGeom>
                <a:avLst/>
                <a:gdLst>
                  <a:gd name="T0" fmla="*/ 165 w 174"/>
                  <a:gd name="T1" fmla="*/ 0 h 136"/>
                  <a:gd name="T2" fmla="*/ 9 w 174"/>
                  <a:gd name="T3" fmla="*/ 0 h 136"/>
                  <a:gd name="T4" fmla="*/ 0 w 174"/>
                  <a:gd name="T5" fmla="*/ 9 h 136"/>
                  <a:gd name="T6" fmla="*/ 0 w 174"/>
                  <a:gd name="T7" fmla="*/ 128 h 136"/>
                  <a:gd name="T8" fmla="*/ 9 w 174"/>
                  <a:gd name="T9" fmla="*/ 136 h 136"/>
                  <a:gd name="T10" fmla="*/ 50 w 174"/>
                  <a:gd name="T11" fmla="*/ 136 h 136"/>
                  <a:gd name="T12" fmla="*/ 41 w 174"/>
                  <a:gd name="T13" fmla="*/ 121 h 136"/>
                  <a:gd name="T14" fmla="*/ 17 w 174"/>
                  <a:gd name="T15" fmla="*/ 121 h 136"/>
                  <a:gd name="T16" fmla="*/ 17 w 174"/>
                  <a:gd name="T17" fmla="*/ 16 h 136"/>
                  <a:gd name="T18" fmla="*/ 157 w 174"/>
                  <a:gd name="T19" fmla="*/ 16 h 136"/>
                  <a:gd name="T20" fmla="*/ 157 w 174"/>
                  <a:gd name="T21" fmla="*/ 121 h 136"/>
                  <a:gd name="T22" fmla="*/ 133 w 174"/>
                  <a:gd name="T23" fmla="*/ 121 h 136"/>
                  <a:gd name="T24" fmla="*/ 133 w 174"/>
                  <a:gd name="T25" fmla="*/ 127 h 136"/>
                  <a:gd name="T26" fmla="*/ 131 w 174"/>
                  <a:gd name="T27" fmla="*/ 136 h 136"/>
                  <a:gd name="T28" fmla="*/ 165 w 174"/>
                  <a:gd name="T29" fmla="*/ 136 h 136"/>
                  <a:gd name="T30" fmla="*/ 174 w 174"/>
                  <a:gd name="T31" fmla="*/ 128 h 136"/>
                  <a:gd name="T32" fmla="*/ 174 w 174"/>
                  <a:gd name="T33" fmla="*/ 9 h 136"/>
                  <a:gd name="T34" fmla="*/ 165 w 174"/>
                  <a:gd name="T35" fmla="*/ 0 h 136"/>
                  <a:gd name="T36" fmla="*/ 8 w 174"/>
                  <a:gd name="T37" fmla="*/ 74 h 136"/>
                  <a:gd name="T38" fmla="*/ 3 w 174"/>
                  <a:gd name="T39" fmla="*/ 68 h 136"/>
                  <a:gd name="T40" fmla="*/ 8 w 174"/>
                  <a:gd name="T41" fmla="*/ 63 h 136"/>
                  <a:gd name="T42" fmla="*/ 14 w 174"/>
                  <a:gd name="T43" fmla="*/ 68 h 136"/>
                  <a:gd name="T44" fmla="*/ 8 w 174"/>
                  <a:gd name="T45" fmla="*/ 7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4" h="136">
                    <a:moveTo>
                      <a:pt x="165" y="0"/>
                    </a:moveTo>
                    <a:cubicBezTo>
                      <a:pt x="9" y="0"/>
                      <a:pt x="9" y="0"/>
                      <a:pt x="9" y="0"/>
                    </a:cubicBezTo>
                    <a:cubicBezTo>
                      <a:pt x="4" y="0"/>
                      <a:pt x="0" y="4"/>
                      <a:pt x="0" y="9"/>
                    </a:cubicBezTo>
                    <a:cubicBezTo>
                      <a:pt x="0" y="128"/>
                      <a:pt x="0" y="128"/>
                      <a:pt x="0" y="128"/>
                    </a:cubicBezTo>
                    <a:cubicBezTo>
                      <a:pt x="0" y="132"/>
                      <a:pt x="4" y="136"/>
                      <a:pt x="9" y="136"/>
                    </a:cubicBezTo>
                    <a:cubicBezTo>
                      <a:pt x="50" y="136"/>
                      <a:pt x="50" y="136"/>
                      <a:pt x="50" y="136"/>
                    </a:cubicBezTo>
                    <a:cubicBezTo>
                      <a:pt x="46" y="131"/>
                      <a:pt x="43" y="126"/>
                      <a:pt x="41" y="121"/>
                    </a:cubicBezTo>
                    <a:cubicBezTo>
                      <a:pt x="17" y="121"/>
                      <a:pt x="17" y="121"/>
                      <a:pt x="17" y="121"/>
                    </a:cubicBezTo>
                    <a:cubicBezTo>
                      <a:pt x="17" y="16"/>
                      <a:pt x="17" y="16"/>
                      <a:pt x="17" y="16"/>
                    </a:cubicBezTo>
                    <a:cubicBezTo>
                      <a:pt x="157" y="16"/>
                      <a:pt x="157" y="16"/>
                      <a:pt x="157" y="16"/>
                    </a:cubicBezTo>
                    <a:cubicBezTo>
                      <a:pt x="157" y="121"/>
                      <a:pt x="157" y="121"/>
                      <a:pt x="157" y="121"/>
                    </a:cubicBezTo>
                    <a:cubicBezTo>
                      <a:pt x="133" y="121"/>
                      <a:pt x="133" y="121"/>
                      <a:pt x="133" y="121"/>
                    </a:cubicBezTo>
                    <a:cubicBezTo>
                      <a:pt x="133" y="127"/>
                      <a:pt x="133" y="127"/>
                      <a:pt x="133" y="127"/>
                    </a:cubicBezTo>
                    <a:cubicBezTo>
                      <a:pt x="133" y="130"/>
                      <a:pt x="132" y="133"/>
                      <a:pt x="131" y="136"/>
                    </a:cubicBezTo>
                    <a:cubicBezTo>
                      <a:pt x="165" y="136"/>
                      <a:pt x="165" y="136"/>
                      <a:pt x="165" y="136"/>
                    </a:cubicBezTo>
                    <a:cubicBezTo>
                      <a:pt x="170" y="136"/>
                      <a:pt x="174" y="132"/>
                      <a:pt x="174" y="128"/>
                    </a:cubicBezTo>
                    <a:cubicBezTo>
                      <a:pt x="174" y="9"/>
                      <a:pt x="174" y="9"/>
                      <a:pt x="174" y="9"/>
                    </a:cubicBezTo>
                    <a:cubicBezTo>
                      <a:pt x="174" y="4"/>
                      <a:pt x="170" y="0"/>
                      <a:pt x="165" y="0"/>
                    </a:cubicBezTo>
                    <a:close/>
                    <a:moveTo>
                      <a:pt x="8" y="74"/>
                    </a:moveTo>
                    <a:cubicBezTo>
                      <a:pt x="5" y="74"/>
                      <a:pt x="3" y="71"/>
                      <a:pt x="3" y="68"/>
                    </a:cubicBezTo>
                    <a:cubicBezTo>
                      <a:pt x="3" y="65"/>
                      <a:pt x="5" y="63"/>
                      <a:pt x="8" y="63"/>
                    </a:cubicBezTo>
                    <a:cubicBezTo>
                      <a:pt x="11" y="63"/>
                      <a:pt x="14" y="65"/>
                      <a:pt x="14" y="68"/>
                    </a:cubicBezTo>
                    <a:cubicBezTo>
                      <a:pt x="14" y="71"/>
                      <a:pt x="11" y="74"/>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254">
                <a:extLst>
                  <a:ext uri="{FF2B5EF4-FFF2-40B4-BE49-F238E27FC236}">
                    <a16:creationId xmlns:a16="http://schemas.microsoft.com/office/drawing/2014/main" id="{0C92A0B8-18D5-496D-A0F7-C493E6DF8C99}"/>
                  </a:ext>
                </a:extLst>
              </p:cNvPr>
              <p:cNvSpPr/>
              <p:nvPr/>
            </p:nvSpPr>
            <p:spPr bwMode="auto">
              <a:xfrm>
                <a:off x="5913438" y="3235325"/>
                <a:ext cx="334963" cy="520700"/>
              </a:xfrm>
              <a:custGeom>
                <a:avLst/>
                <a:gdLst>
                  <a:gd name="T0" fmla="*/ 88 w 88"/>
                  <a:gd name="T1" fmla="*/ 72 h 136"/>
                  <a:gd name="T2" fmla="*/ 88 w 88"/>
                  <a:gd name="T3" fmla="*/ 69 h 136"/>
                  <a:gd name="T4" fmla="*/ 88 w 88"/>
                  <a:gd name="T5" fmla="*/ 47 h 136"/>
                  <a:gd name="T6" fmla="*/ 81 w 88"/>
                  <a:gd name="T7" fmla="*/ 40 h 136"/>
                  <a:gd name="T8" fmla="*/ 73 w 88"/>
                  <a:gd name="T9" fmla="*/ 47 h 136"/>
                  <a:gd name="T10" fmla="*/ 73 w 88"/>
                  <a:gd name="T11" fmla="*/ 49 h 136"/>
                  <a:gd name="T12" fmla="*/ 72 w 88"/>
                  <a:gd name="T13" fmla="*/ 48 h 136"/>
                  <a:gd name="T14" fmla="*/ 72 w 88"/>
                  <a:gd name="T15" fmla="*/ 37 h 136"/>
                  <a:gd name="T16" fmla="*/ 64 w 88"/>
                  <a:gd name="T17" fmla="*/ 30 h 136"/>
                  <a:gd name="T18" fmla="*/ 57 w 88"/>
                  <a:gd name="T19" fmla="*/ 37 h 136"/>
                  <a:gd name="T20" fmla="*/ 57 w 88"/>
                  <a:gd name="T21" fmla="*/ 43 h 136"/>
                  <a:gd name="T22" fmla="*/ 55 w 88"/>
                  <a:gd name="T23" fmla="*/ 43 h 136"/>
                  <a:gd name="T24" fmla="*/ 55 w 88"/>
                  <a:gd name="T25" fmla="*/ 31 h 136"/>
                  <a:gd name="T26" fmla="*/ 48 w 88"/>
                  <a:gd name="T27" fmla="*/ 24 h 136"/>
                  <a:gd name="T28" fmla="*/ 40 w 88"/>
                  <a:gd name="T29" fmla="*/ 31 h 136"/>
                  <a:gd name="T30" fmla="*/ 40 w 88"/>
                  <a:gd name="T31" fmla="*/ 40 h 136"/>
                  <a:gd name="T32" fmla="*/ 38 w 88"/>
                  <a:gd name="T33" fmla="*/ 41 h 136"/>
                  <a:gd name="T34" fmla="*/ 38 w 88"/>
                  <a:gd name="T35" fmla="*/ 7 h 136"/>
                  <a:gd name="T36" fmla="*/ 31 w 88"/>
                  <a:gd name="T37" fmla="*/ 0 h 136"/>
                  <a:gd name="T38" fmla="*/ 24 w 88"/>
                  <a:gd name="T39" fmla="*/ 7 h 136"/>
                  <a:gd name="T40" fmla="*/ 24 w 88"/>
                  <a:gd name="T41" fmla="*/ 67 h 136"/>
                  <a:gd name="T42" fmla="*/ 22 w 88"/>
                  <a:gd name="T43" fmla="*/ 56 h 136"/>
                  <a:gd name="T44" fmla="*/ 8 w 88"/>
                  <a:gd name="T45" fmla="*/ 40 h 136"/>
                  <a:gd name="T46" fmla="*/ 1 w 88"/>
                  <a:gd name="T47" fmla="*/ 46 h 136"/>
                  <a:gd name="T48" fmla="*/ 8 w 88"/>
                  <a:gd name="T49" fmla="*/ 73 h 136"/>
                  <a:gd name="T50" fmla="*/ 20 w 88"/>
                  <a:gd name="T51" fmla="*/ 98 h 136"/>
                  <a:gd name="T52" fmla="*/ 22 w 88"/>
                  <a:gd name="T53" fmla="*/ 101 h 136"/>
                  <a:gd name="T54" fmla="*/ 32 w 88"/>
                  <a:gd name="T55" fmla="*/ 111 h 136"/>
                  <a:gd name="T56" fmla="*/ 32 w 88"/>
                  <a:gd name="T57" fmla="*/ 136 h 136"/>
                  <a:gd name="T58" fmla="*/ 81 w 88"/>
                  <a:gd name="T59" fmla="*/ 136 h 136"/>
                  <a:gd name="T60" fmla="*/ 81 w 88"/>
                  <a:gd name="T61" fmla="*/ 110 h 136"/>
                  <a:gd name="T62" fmla="*/ 87 w 88"/>
                  <a:gd name="T63" fmla="*/ 91 h 136"/>
                  <a:gd name="T64" fmla="*/ 88 w 88"/>
                  <a:gd name="T65" fmla="*/ 72 h 136"/>
                  <a:gd name="T66" fmla="*/ 88 w 88"/>
                  <a:gd name="T67" fmla="*/ 72 h 136"/>
                  <a:gd name="T68" fmla="*/ 88 w 88"/>
                  <a:gd name="T69" fmla="*/ 7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8" h="136">
                    <a:moveTo>
                      <a:pt x="88" y="72"/>
                    </a:moveTo>
                    <a:cubicBezTo>
                      <a:pt x="88" y="71"/>
                      <a:pt x="88" y="70"/>
                      <a:pt x="88" y="69"/>
                    </a:cubicBezTo>
                    <a:cubicBezTo>
                      <a:pt x="88" y="47"/>
                      <a:pt x="88" y="47"/>
                      <a:pt x="88" y="47"/>
                    </a:cubicBezTo>
                    <a:cubicBezTo>
                      <a:pt x="88" y="43"/>
                      <a:pt x="85" y="40"/>
                      <a:pt x="81" y="40"/>
                    </a:cubicBezTo>
                    <a:cubicBezTo>
                      <a:pt x="77" y="40"/>
                      <a:pt x="73" y="43"/>
                      <a:pt x="73" y="47"/>
                    </a:cubicBezTo>
                    <a:cubicBezTo>
                      <a:pt x="73" y="49"/>
                      <a:pt x="73" y="49"/>
                      <a:pt x="73" y="49"/>
                    </a:cubicBezTo>
                    <a:cubicBezTo>
                      <a:pt x="73" y="49"/>
                      <a:pt x="72" y="48"/>
                      <a:pt x="72" y="48"/>
                    </a:cubicBezTo>
                    <a:cubicBezTo>
                      <a:pt x="72" y="37"/>
                      <a:pt x="72" y="37"/>
                      <a:pt x="72" y="37"/>
                    </a:cubicBezTo>
                    <a:cubicBezTo>
                      <a:pt x="72" y="33"/>
                      <a:pt x="68" y="30"/>
                      <a:pt x="64" y="30"/>
                    </a:cubicBezTo>
                    <a:cubicBezTo>
                      <a:pt x="60" y="30"/>
                      <a:pt x="57" y="33"/>
                      <a:pt x="57" y="37"/>
                    </a:cubicBezTo>
                    <a:cubicBezTo>
                      <a:pt x="57" y="43"/>
                      <a:pt x="57" y="43"/>
                      <a:pt x="57" y="43"/>
                    </a:cubicBezTo>
                    <a:cubicBezTo>
                      <a:pt x="56" y="43"/>
                      <a:pt x="56" y="43"/>
                      <a:pt x="55" y="43"/>
                    </a:cubicBezTo>
                    <a:cubicBezTo>
                      <a:pt x="55" y="31"/>
                      <a:pt x="55" y="31"/>
                      <a:pt x="55" y="31"/>
                    </a:cubicBezTo>
                    <a:cubicBezTo>
                      <a:pt x="55" y="27"/>
                      <a:pt x="52" y="24"/>
                      <a:pt x="48" y="24"/>
                    </a:cubicBezTo>
                    <a:cubicBezTo>
                      <a:pt x="44" y="24"/>
                      <a:pt x="40" y="27"/>
                      <a:pt x="40" y="31"/>
                    </a:cubicBezTo>
                    <a:cubicBezTo>
                      <a:pt x="40" y="40"/>
                      <a:pt x="40" y="40"/>
                      <a:pt x="40" y="40"/>
                    </a:cubicBezTo>
                    <a:cubicBezTo>
                      <a:pt x="40" y="40"/>
                      <a:pt x="39" y="40"/>
                      <a:pt x="38" y="41"/>
                    </a:cubicBezTo>
                    <a:cubicBezTo>
                      <a:pt x="38" y="7"/>
                      <a:pt x="38" y="7"/>
                      <a:pt x="38" y="7"/>
                    </a:cubicBezTo>
                    <a:cubicBezTo>
                      <a:pt x="38" y="3"/>
                      <a:pt x="35" y="0"/>
                      <a:pt x="31" y="0"/>
                    </a:cubicBezTo>
                    <a:cubicBezTo>
                      <a:pt x="27" y="0"/>
                      <a:pt x="24" y="3"/>
                      <a:pt x="24" y="7"/>
                    </a:cubicBezTo>
                    <a:cubicBezTo>
                      <a:pt x="24" y="67"/>
                      <a:pt x="24" y="67"/>
                      <a:pt x="24" y="67"/>
                    </a:cubicBezTo>
                    <a:cubicBezTo>
                      <a:pt x="22" y="63"/>
                      <a:pt x="22" y="59"/>
                      <a:pt x="22" y="56"/>
                    </a:cubicBezTo>
                    <a:cubicBezTo>
                      <a:pt x="19" y="44"/>
                      <a:pt x="12" y="39"/>
                      <a:pt x="8" y="40"/>
                    </a:cubicBezTo>
                    <a:cubicBezTo>
                      <a:pt x="7" y="40"/>
                      <a:pt x="0" y="43"/>
                      <a:pt x="1" y="46"/>
                    </a:cubicBezTo>
                    <a:cubicBezTo>
                      <a:pt x="2" y="48"/>
                      <a:pt x="7" y="60"/>
                      <a:pt x="8" y="73"/>
                    </a:cubicBezTo>
                    <a:cubicBezTo>
                      <a:pt x="8" y="82"/>
                      <a:pt x="14" y="91"/>
                      <a:pt x="20" y="98"/>
                    </a:cubicBezTo>
                    <a:cubicBezTo>
                      <a:pt x="20" y="99"/>
                      <a:pt x="21" y="100"/>
                      <a:pt x="22" y="101"/>
                    </a:cubicBezTo>
                    <a:cubicBezTo>
                      <a:pt x="32" y="111"/>
                      <a:pt x="32" y="111"/>
                      <a:pt x="32" y="111"/>
                    </a:cubicBezTo>
                    <a:cubicBezTo>
                      <a:pt x="32" y="136"/>
                      <a:pt x="32" y="136"/>
                      <a:pt x="32" y="136"/>
                    </a:cubicBezTo>
                    <a:cubicBezTo>
                      <a:pt x="81" y="136"/>
                      <a:pt x="81" y="136"/>
                      <a:pt x="81" y="136"/>
                    </a:cubicBezTo>
                    <a:cubicBezTo>
                      <a:pt x="81" y="110"/>
                      <a:pt x="81" y="110"/>
                      <a:pt x="81" y="110"/>
                    </a:cubicBezTo>
                    <a:cubicBezTo>
                      <a:pt x="85" y="104"/>
                      <a:pt x="87" y="97"/>
                      <a:pt x="87" y="91"/>
                    </a:cubicBezTo>
                    <a:cubicBezTo>
                      <a:pt x="88" y="85"/>
                      <a:pt x="88" y="78"/>
                      <a:pt x="88" y="72"/>
                    </a:cubicBezTo>
                    <a:cubicBezTo>
                      <a:pt x="88" y="72"/>
                      <a:pt x="88" y="72"/>
                      <a:pt x="88" y="72"/>
                    </a:cubicBezTo>
                    <a:cubicBezTo>
                      <a:pt x="88" y="72"/>
                      <a:pt x="88" y="72"/>
                      <a:pt x="88"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51" name="组合 50">
            <a:extLst>
              <a:ext uri="{FF2B5EF4-FFF2-40B4-BE49-F238E27FC236}">
                <a16:creationId xmlns:a16="http://schemas.microsoft.com/office/drawing/2014/main" id="{28A69667-C074-4130-B878-C9696CB90B22}"/>
              </a:ext>
            </a:extLst>
          </p:cNvPr>
          <p:cNvGrpSpPr/>
          <p:nvPr/>
        </p:nvGrpSpPr>
        <p:grpSpPr>
          <a:xfrm>
            <a:off x="7161082" y="5875923"/>
            <a:ext cx="342764" cy="342764"/>
            <a:chOff x="7161082" y="5875923"/>
            <a:chExt cx="342764" cy="342764"/>
          </a:xfrm>
        </p:grpSpPr>
        <p:sp>
          <p:nvSpPr>
            <p:cNvPr id="52" name="椭圆 51">
              <a:extLst>
                <a:ext uri="{FF2B5EF4-FFF2-40B4-BE49-F238E27FC236}">
                  <a16:creationId xmlns:a16="http://schemas.microsoft.com/office/drawing/2014/main" id="{091EA3C8-07DE-4A3E-9DF5-7E464F3C9B28}"/>
                </a:ext>
              </a:extLst>
            </p:cNvPr>
            <p:cNvSpPr/>
            <p:nvPr/>
          </p:nvSpPr>
          <p:spPr>
            <a:xfrm>
              <a:off x="7161082"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a:extLst>
                <a:ext uri="{FF2B5EF4-FFF2-40B4-BE49-F238E27FC236}">
                  <a16:creationId xmlns:a16="http://schemas.microsoft.com/office/drawing/2014/main" id="{1366B173-583E-4E60-8585-FBA0D99DD8AA}"/>
                </a:ext>
              </a:extLst>
            </p:cNvPr>
            <p:cNvGrpSpPr>
              <a:grpSpLocks noChangeAspect="1"/>
            </p:cNvGrpSpPr>
            <p:nvPr/>
          </p:nvGrpSpPr>
          <p:grpSpPr>
            <a:xfrm flipH="1">
              <a:off x="7229508" y="5947390"/>
              <a:ext cx="205911" cy="199830"/>
              <a:chOff x="5719763" y="3063875"/>
              <a:chExt cx="752475" cy="730250"/>
            </a:xfrm>
            <a:solidFill>
              <a:schemeClr val="accent1"/>
            </a:solidFill>
          </p:grpSpPr>
          <p:sp>
            <p:nvSpPr>
              <p:cNvPr id="54" name="Oval 154">
                <a:extLst>
                  <a:ext uri="{FF2B5EF4-FFF2-40B4-BE49-F238E27FC236}">
                    <a16:creationId xmlns:a16="http://schemas.microsoft.com/office/drawing/2014/main" id="{F6500758-755F-441D-A869-1DE3F4A31344}"/>
                  </a:ext>
                </a:extLst>
              </p:cNvPr>
              <p:cNvSpPr>
                <a:spLocks noChangeArrowheads="1"/>
              </p:cNvSpPr>
              <p:nvPr/>
            </p:nvSpPr>
            <p:spPr bwMode="auto">
              <a:xfrm>
                <a:off x="6161088" y="3098800"/>
                <a:ext cx="95250" cy="1174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Rectangle 155">
                <a:extLst>
                  <a:ext uri="{FF2B5EF4-FFF2-40B4-BE49-F238E27FC236}">
                    <a16:creationId xmlns:a16="http://schemas.microsoft.com/office/drawing/2014/main" id="{513FA4C5-B132-4E85-B0EA-D9556FBF1EFD}"/>
                  </a:ext>
                </a:extLst>
              </p:cNvPr>
              <p:cNvSpPr>
                <a:spLocks noChangeArrowheads="1"/>
              </p:cNvSpPr>
              <p:nvPr/>
            </p:nvSpPr>
            <p:spPr bwMode="auto">
              <a:xfrm>
                <a:off x="6210301"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6" name="Freeform 156">
                <a:extLst>
                  <a:ext uri="{FF2B5EF4-FFF2-40B4-BE49-F238E27FC236}">
                    <a16:creationId xmlns:a16="http://schemas.microsoft.com/office/drawing/2014/main" id="{9122EC7F-A774-4371-87EE-B46FD6FC412C}"/>
                  </a:ext>
                </a:extLst>
              </p:cNvPr>
              <p:cNvSpPr/>
              <p:nvPr/>
            </p:nvSpPr>
            <p:spPr bwMode="auto">
              <a:xfrm>
                <a:off x="6191251" y="3235325"/>
                <a:ext cx="33338" cy="33338"/>
              </a:xfrm>
              <a:custGeom>
                <a:avLst/>
                <a:gdLst>
                  <a:gd name="T0" fmla="*/ 17 w 21"/>
                  <a:gd name="T1" fmla="*/ 0 h 21"/>
                  <a:gd name="T2" fmla="*/ 21 w 21"/>
                  <a:gd name="T3" fmla="*/ 12 h 21"/>
                  <a:gd name="T4" fmla="*/ 12 w 21"/>
                  <a:gd name="T5" fmla="*/ 21 h 21"/>
                  <a:gd name="T6" fmla="*/ 0 w 21"/>
                  <a:gd name="T7" fmla="*/ 12 h 21"/>
                  <a:gd name="T8" fmla="*/ 5 w 21"/>
                  <a:gd name="T9" fmla="*/ 0 h 21"/>
                  <a:gd name="T10" fmla="*/ 17 w 21"/>
                  <a:gd name="T11" fmla="*/ 0 h 21"/>
                </a:gdLst>
                <a:ahLst/>
                <a:cxnLst>
                  <a:cxn ang="0">
                    <a:pos x="T0" y="T1"/>
                  </a:cxn>
                  <a:cxn ang="0">
                    <a:pos x="T2" y="T3"/>
                  </a:cxn>
                  <a:cxn ang="0">
                    <a:pos x="T4" y="T5"/>
                  </a:cxn>
                  <a:cxn ang="0">
                    <a:pos x="T6" y="T7"/>
                  </a:cxn>
                  <a:cxn ang="0">
                    <a:pos x="T8" y="T9"/>
                  </a:cxn>
                  <a:cxn ang="0">
                    <a:pos x="T10" y="T11"/>
                  </a:cxn>
                </a:cxnLst>
                <a:rect l="0" t="0" r="r" b="b"/>
                <a:pathLst>
                  <a:path w="21" h="21">
                    <a:moveTo>
                      <a:pt x="17" y="0"/>
                    </a:moveTo>
                    <a:lnTo>
                      <a:pt x="21" y="12"/>
                    </a:lnTo>
                    <a:lnTo>
                      <a:pt x="12" y="21"/>
                    </a:lnTo>
                    <a:lnTo>
                      <a:pt x="0" y="12"/>
                    </a:lnTo>
                    <a:lnTo>
                      <a:pt x="5" y="0"/>
                    </a:lnTo>
                    <a:lnTo>
                      <a:pt x="1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157">
                <a:extLst>
                  <a:ext uri="{FF2B5EF4-FFF2-40B4-BE49-F238E27FC236}">
                    <a16:creationId xmlns:a16="http://schemas.microsoft.com/office/drawing/2014/main" id="{9864FA0E-B9E6-4786-8FF4-750C43E41132}"/>
                  </a:ext>
                </a:extLst>
              </p:cNvPr>
              <p:cNvSpPr/>
              <p:nvPr/>
            </p:nvSpPr>
            <p:spPr bwMode="auto">
              <a:xfrm>
                <a:off x="6191251" y="3257550"/>
                <a:ext cx="33338" cy="141288"/>
              </a:xfrm>
              <a:custGeom>
                <a:avLst/>
                <a:gdLst>
                  <a:gd name="T0" fmla="*/ 19 w 21"/>
                  <a:gd name="T1" fmla="*/ 0 h 89"/>
                  <a:gd name="T2" fmla="*/ 21 w 21"/>
                  <a:gd name="T3" fmla="*/ 82 h 89"/>
                  <a:gd name="T4" fmla="*/ 12 w 21"/>
                  <a:gd name="T5" fmla="*/ 89 h 89"/>
                  <a:gd name="T6" fmla="*/ 0 w 21"/>
                  <a:gd name="T7" fmla="*/ 82 h 89"/>
                  <a:gd name="T8" fmla="*/ 5 w 21"/>
                  <a:gd name="T9" fmla="*/ 0 h 89"/>
                  <a:gd name="T10" fmla="*/ 19 w 21"/>
                  <a:gd name="T11" fmla="*/ 0 h 89"/>
                </a:gdLst>
                <a:ahLst/>
                <a:cxnLst>
                  <a:cxn ang="0">
                    <a:pos x="T0" y="T1"/>
                  </a:cxn>
                  <a:cxn ang="0">
                    <a:pos x="T2" y="T3"/>
                  </a:cxn>
                  <a:cxn ang="0">
                    <a:pos x="T4" y="T5"/>
                  </a:cxn>
                  <a:cxn ang="0">
                    <a:pos x="T6" y="T7"/>
                  </a:cxn>
                  <a:cxn ang="0">
                    <a:pos x="T8" y="T9"/>
                  </a:cxn>
                  <a:cxn ang="0">
                    <a:pos x="T10" y="T11"/>
                  </a:cxn>
                </a:cxnLst>
                <a:rect l="0" t="0" r="r" b="b"/>
                <a:pathLst>
                  <a:path w="21" h="89">
                    <a:moveTo>
                      <a:pt x="19" y="0"/>
                    </a:moveTo>
                    <a:lnTo>
                      <a:pt x="21" y="82"/>
                    </a:lnTo>
                    <a:lnTo>
                      <a:pt x="12" y="89"/>
                    </a:lnTo>
                    <a:lnTo>
                      <a:pt x="0" y="82"/>
                    </a:lnTo>
                    <a:lnTo>
                      <a:pt x="5" y="0"/>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Oval 158">
                <a:extLst>
                  <a:ext uri="{FF2B5EF4-FFF2-40B4-BE49-F238E27FC236}">
                    <a16:creationId xmlns:a16="http://schemas.microsoft.com/office/drawing/2014/main" id="{B28841C7-9E82-4417-99BB-F92212E43B5E}"/>
                  </a:ext>
                </a:extLst>
              </p:cNvPr>
              <p:cNvSpPr>
                <a:spLocks noChangeArrowheads="1"/>
              </p:cNvSpPr>
              <p:nvPr/>
            </p:nvSpPr>
            <p:spPr bwMode="auto">
              <a:xfrm>
                <a:off x="5856288" y="3063875"/>
                <a:ext cx="111125" cy="1333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Rectangle 159">
                <a:extLst>
                  <a:ext uri="{FF2B5EF4-FFF2-40B4-BE49-F238E27FC236}">
                    <a16:creationId xmlns:a16="http://schemas.microsoft.com/office/drawing/2014/main" id="{EDE2B556-B937-4681-8F4D-5D6729C0112F}"/>
                  </a:ext>
                </a:extLst>
              </p:cNvPr>
              <p:cNvSpPr>
                <a:spLocks noChangeArrowheads="1"/>
              </p:cNvSpPr>
              <p:nvPr/>
            </p:nvSpPr>
            <p:spPr bwMode="auto">
              <a:xfrm>
                <a:off x="5913438"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0" name="Freeform 160">
                <a:extLst>
                  <a:ext uri="{FF2B5EF4-FFF2-40B4-BE49-F238E27FC236}">
                    <a16:creationId xmlns:a16="http://schemas.microsoft.com/office/drawing/2014/main" id="{B91E5A24-C608-4095-A701-FE7CE461A55E}"/>
                  </a:ext>
                </a:extLst>
              </p:cNvPr>
              <p:cNvSpPr/>
              <p:nvPr/>
            </p:nvSpPr>
            <p:spPr bwMode="auto">
              <a:xfrm>
                <a:off x="5722938" y="3322638"/>
                <a:ext cx="0" cy="3175"/>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Rectangle 161">
                <a:extLst>
                  <a:ext uri="{FF2B5EF4-FFF2-40B4-BE49-F238E27FC236}">
                    <a16:creationId xmlns:a16="http://schemas.microsoft.com/office/drawing/2014/main" id="{933295DC-B98B-4C5B-A4DA-02FB61541B8B}"/>
                  </a:ext>
                </a:extLst>
              </p:cNvPr>
              <p:cNvSpPr>
                <a:spLocks noChangeArrowheads="1"/>
              </p:cNvSpPr>
              <p:nvPr/>
            </p:nvSpPr>
            <p:spPr bwMode="auto">
              <a:xfrm>
                <a:off x="5913438"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2" name="Freeform 162">
                <a:extLst>
                  <a:ext uri="{FF2B5EF4-FFF2-40B4-BE49-F238E27FC236}">
                    <a16:creationId xmlns:a16="http://schemas.microsoft.com/office/drawing/2014/main" id="{F1DFDE6F-926B-44F2-B553-04294D280831}"/>
                  </a:ext>
                </a:extLst>
              </p:cNvPr>
              <p:cNvSpPr/>
              <p:nvPr/>
            </p:nvSpPr>
            <p:spPr bwMode="auto">
              <a:xfrm>
                <a:off x="5894388" y="3205163"/>
                <a:ext cx="34925" cy="41275"/>
              </a:xfrm>
              <a:custGeom>
                <a:avLst/>
                <a:gdLst>
                  <a:gd name="T0" fmla="*/ 19 w 22"/>
                  <a:gd name="T1" fmla="*/ 0 h 26"/>
                  <a:gd name="T2" fmla="*/ 22 w 22"/>
                  <a:gd name="T3" fmla="*/ 16 h 26"/>
                  <a:gd name="T4" fmla="*/ 12 w 22"/>
                  <a:gd name="T5" fmla="*/ 26 h 26"/>
                  <a:gd name="T6" fmla="*/ 0 w 22"/>
                  <a:gd name="T7" fmla="*/ 16 h 26"/>
                  <a:gd name="T8" fmla="*/ 5 w 22"/>
                  <a:gd name="T9" fmla="*/ 0 h 26"/>
                  <a:gd name="T10" fmla="*/ 19 w 22"/>
                  <a:gd name="T11" fmla="*/ 0 h 26"/>
                </a:gdLst>
                <a:ahLst/>
                <a:cxnLst>
                  <a:cxn ang="0">
                    <a:pos x="T0" y="T1"/>
                  </a:cxn>
                  <a:cxn ang="0">
                    <a:pos x="T2" y="T3"/>
                  </a:cxn>
                  <a:cxn ang="0">
                    <a:pos x="T4" y="T5"/>
                  </a:cxn>
                  <a:cxn ang="0">
                    <a:pos x="T6" y="T7"/>
                  </a:cxn>
                  <a:cxn ang="0">
                    <a:pos x="T8" y="T9"/>
                  </a:cxn>
                  <a:cxn ang="0">
                    <a:pos x="T10" y="T11"/>
                  </a:cxn>
                </a:cxnLst>
                <a:rect l="0" t="0" r="r" b="b"/>
                <a:pathLst>
                  <a:path w="22" h="26">
                    <a:moveTo>
                      <a:pt x="19" y="0"/>
                    </a:moveTo>
                    <a:lnTo>
                      <a:pt x="22" y="16"/>
                    </a:lnTo>
                    <a:lnTo>
                      <a:pt x="12" y="26"/>
                    </a:lnTo>
                    <a:lnTo>
                      <a:pt x="0" y="16"/>
                    </a:lnTo>
                    <a:lnTo>
                      <a:pt x="5" y="0"/>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163">
                <a:extLst>
                  <a:ext uri="{FF2B5EF4-FFF2-40B4-BE49-F238E27FC236}">
                    <a16:creationId xmlns:a16="http://schemas.microsoft.com/office/drawing/2014/main" id="{B106AAE0-C66A-4689-9FCA-B67ECD001860}"/>
                  </a:ext>
                </a:extLst>
              </p:cNvPr>
              <p:cNvSpPr/>
              <p:nvPr/>
            </p:nvSpPr>
            <p:spPr bwMode="auto">
              <a:xfrm>
                <a:off x="5891213" y="3235325"/>
                <a:ext cx="41275" cy="166688"/>
              </a:xfrm>
              <a:custGeom>
                <a:avLst/>
                <a:gdLst>
                  <a:gd name="T0" fmla="*/ 21 w 26"/>
                  <a:gd name="T1" fmla="*/ 0 h 105"/>
                  <a:gd name="T2" fmla="*/ 26 w 26"/>
                  <a:gd name="T3" fmla="*/ 96 h 105"/>
                  <a:gd name="T4" fmla="*/ 14 w 26"/>
                  <a:gd name="T5" fmla="*/ 105 h 105"/>
                  <a:gd name="T6" fmla="*/ 0 w 26"/>
                  <a:gd name="T7" fmla="*/ 96 h 105"/>
                  <a:gd name="T8" fmla="*/ 4 w 26"/>
                  <a:gd name="T9" fmla="*/ 0 h 105"/>
                  <a:gd name="T10" fmla="*/ 21 w 26"/>
                  <a:gd name="T11" fmla="*/ 0 h 105"/>
                </a:gdLst>
                <a:ahLst/>
                <a:cxnLst>
                  <a:cxn ang="0">
                    <a:pos x="T0" y="T1"/>
                  </a:cxn>
                  <a:cxn ang="0">
                    <a:pos x="T2" y="T3"/>
                  </a:cxn>
                  <a:cxn ang="0">
                    <a:pos x="T4" y="T5"/>
                  </a:cxn>
                  <a:cxn ang="0">
                    <a:pos x="T6" y="T7"/>
                  </a:cxn>
                  <a:cxn ang="0">
                    <a:pos x="T8" y="T9"/>
                  </a:cxn>
                  <a:cxn ang="0">
                    <a:pos x="T10" y="T11"/>
                  </a:cxn>
                </a:cxnLst>
                <a:rect l="0" t="0" r="r" b="b"/>
                <a:pathLst>
                  <a:path w="26" h="105">
                    <a:moveTo>
                      <a:pt x="21" y="0"/>
                    </a:moveTo>
                    <a:lnTo>
                      <a:pt x="26" y="96"/>
                    </a:lnTo>
                    <a:lnTo>
                      <a:pt x="14" y="105"/>
                    </a:lnTo>
                    <a:lnTo>
                      <a:pt x="0" y="96"/>
                    </a:lnTo>
                    <a:lnTo>
                      <a:pt x="4" y="0"/>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164">
                <a:extLst>
                  <a:ext uri="{FF2B5EF4-FFF2-40B4-BE49-F238E27FC236}">
                    <a16:creationId xmlns:a16="http://schemas.microsoft.com/office/drawing/2014/main" id="{C483CAA4-3170-4899-9FBB-3B3F0EAC2678}"/>
                  </a:ext>
                </a:extLst>
              </p:cNvPr>
              <p:cNvSpPr>
                <a:spLocks noEditPoints="1"/>
              </p:cNvSpPr>
              <p:nvPr/>
            </p:nvSpPr>
            <p:spPr bwMode="auto">
              <a:xfrm>
                <a:off x="5719763" y="3211513"/>
                <a:ext cx="373063" cy="547688"/>
              </a:xfrm>
              <a:custGeom>
                <a:avLst/>
                <a:gdLst>
                  <a:gd name="T0" fmla="*/ 60 w 98"/>
                  <a:gd name="T1" fmla="*/ 74 h 144"/>
                  <a:gd name="T2" fmla="*/ 75 w 98"/>
                  <a:gd name="T3" fmla="*/ 57 h 144"/>
                  <a:gd name="T4" fmla="*/ 74 w 98"/>
                  <a:gd name="T5" fmla="*/ 36 h 144"/>
                  <a:gd name="T6" fmla="*/ 77 w 98"/>
                  <a:gd name="T7" fmla="*/ 40 h 144"/>
                  <a:gd name="T8" fmla="*/ 78 w 98"/>
                  <a:gd name="T9" fmla="*/ 57 h 144"/>
                  <a:gd name="T10" fmla="*/ 98 w 98"/>
                  <a:gd name="T11" fmla="*/ 57 h 144"/>
                  <a:gd name="T12" fmla="*/ 92 w 98"/>
                  <a:gd name="T13" fmla="*/ 31 h 144"/>
                  <a:gd name="T14" fmla="*/ 74 w 98"/>
                  <a:gd name="T15" fmla="*/ 4 h 144"/>
                  <a:gd name="T16" fmla="*/ 63 w 98"/>
                  <a:gd name="T17" fmla="*/ 0 h 144"/>
                  <a:gd name="T18" fmla="*/ 63 w 98"/>
                  <a:gd name="T19" fmla="*/ 0 h 144"/>
                  <a:gd name="T20" fmla="*/ 69 w 98"/>
                  <a:gd name="T21" fmla="*/ 5 h 144"/>
                  <a:gd name="T22" fmla="*/ 61 w 98"/>
                  <a:gd name="T23" fmla="*/ 9 h 144"/>
                  <a:gd name="T24" fmla="*/ 65 w 98"/>
                  <a:gd name="T25" fmla="*/ 15 h 144"/>
                  <a:gd name="T26" fmla="*/ 51 w 98"/>
                  <a:gd name="T27" fmla="*/ 46 h 144"/>
                  <a:gd name="T28" fmla="*/ 51 w 98"/>
                  <a:gd name="T29" fmla="*/ 46 h 144"/>
                  <a:gd name="T30" fmla="*/ 51 w 98"/>
                  <a:gd name="T31" fmla="*/ 46 h 144"/>
                  <a:gd name="T32" fmla="*/ 51 w 98"/>
                  <a:gd name="T33" fmla="*/ 46 h 144"/>
                  <a:gd name="T34" fmla="*/ 51 w 98"/>
                  <a:gd name="T35" fmla="*/ 46 h 144"/>
                  <a:gd name="T36" fmla="*/ 36 w 98"/>
                  <a:gd name="T37" fmla="*/ 15 h 144"/>
                  <a:gd name="T38" fmla="*/ 40 w 98"/>
                  <a:gd name="T39" fmla="*/ 9 h 144"/>
                  <a:gd name="T40" fmla="*/ 33 w 98"/>
                  <a:gd name="T41" fmla="*/ 5 h 144"/>
                  <a:gd name="T42" fmla="*/ 39 w 98"/>
                  <a:gd name="T43" fmla="*/ 0 h 144"/>
                  <a:gd name="T44" fmla="*/ 39 w 98"/>
                  <a:gd name="T45" fmla="*/ 0 h 144"/>
                  <a:gd name="T46" fmla="*/ 31 w 98"/>
                  <a:gd name="T47" fmla="*/ 0 h 144"/>
                  <a:gd name="T48" fmla="*/ 25 w 98"/>
                  <a:gd name="T49" fmla="*/ 3 h 144"/>
                  <a:gd name="T50" fmla="*/ 1 w 98"/>
                  <a:gd name="T51" fmla="*/ 29 h 144"/>
                  <a:gd name="T52" fmla="*/ 1 w 98"/>
                  <a:gd name="T53" fmla="*/ 29 h 144"/>
                  <a:gd name="T54" fmla="*/ 1 w 98"/>
                  <a:gd name="T55" fmla="*/ 30 h 144"/>
                  <a:gd name="T56" fmla="*/ 0 w 98"/>
                  <a:gd name="T57" fmla="*/ 40 h 144"/>
                  <a:gd name="T58" fmla="*/ 0 w 98"/>
                  <a:gd name="T59" fmla="*/ 41 h 144"/>
                  <a:gd name="T60" fmla="*/ 0 w 98"/>
                  <a:gd name="T61" fmla="*/ 42 h 144"/>
                  <a:gd name="T62" fmla="*/ 1 w 98"/>
                  <a:gd name="T63" fmla="*/ 44 h 144"/>
                  <a:gd name="T64" fmla="*/ 3 w 98"/>
                  <a:gd name="T65" fmla="*/ 48 h 144"/>
                  <a:gd name="T66" fmla="*/ 7 w 98"/>
                  <a:gd name="T67" fmla="*/ 55 h 144"/>
                  <a:gd name="T68" fmla="*/ 15 w 98"/>
                  <a:gd name="T69" fmla="*/ 71 h 144"/>
                  <a:gd name="T70" fmla="*/ 26 w 98"/>
                  <a:gd name="T71" fmla="*/ 65 h 144"/>
                  <a:gd name="T72" fmla="*/ 26 w 98"/>
                  <a:gd name="T73" fmla="*/ 75 h 144"/>
                  <a:gd name="T74" fmla="*/ 26 w 98"/>
                  <a:gd name="T75" fmla="*/ 76 h 144"/>
                  <a:gd name="T76" fmla="*/ 28 w 98"/>
                  <a:gd name="T77" fmla="*/ 76 h 144"/>
                  <a:gd name="T78" fmla="*/ 30 w 98"/>
                  <a:gd name="T79" fmla="*/ 144 h 144"/>
                  <a:gd name="T80" fmla="*/ 50 w 98"/>
                  <a:gd name="T81" fmla="*/ 144 h 144"/>
                  <a:gd name="T82" fmla="*/ 50 w 98"/>
                  <a:gd name="T83" fmla="*/ 76 h 144"/>
                  <a:gd name="T84" fmla="*/ 52 w 98"/>
                  <a:gd name="T85" fmla="*/ 76 h 144"/>
                  <a:gd name="T86" fmla="*/ 54 w 98"/>
                  <a:gd name="T87" fmla="*/ 144 h 144"/>
                  <a:gd name="T88" fmla="*/ 60 w 98"/>
                  <a:gd name="T89" fmla="*/ 144 h 144"/>
                  <a:gd name="T90" fmla="*/ 60 w 98"/>
                  <a:gd name="T91" fmla="*/ 74 h 144"/>
                  <a:gd name="T92" fmla="*/ 27 w 98"/>
                  <a:gd name="T93" fmla="*/ 50 h 144"/>
                  <a:gd name="T94" fmla="*/ 24 w 98"/>
                  <a:gd name="T95" fmla="*/ 46 h 144"/>
                  <a:gd name="T96" fmla="*/ 20 w 98"/>
                  <a:gd name="T97" fmla="*/ 39 h 144"/>
                  <a:gd name="T98" fmla="*/ 19 w 98"/>
                  <a:gd name="T99" fmla="*/ 36 h 144"/>
                  <a:gd name="T100" fmla="*/ 27 w 98"/>
                  <a:gd name="T101" fmla="*/ 26 h 144"/>
                  <a:gd name="T102" fmla="*/ 27 w 98"/>
                  <a:gd name="T103" fmla="*/ 5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44">
                    <a:moveTo>
                      <a:pt x="60" y="74"/>
                    </a:moveTo>
                    <a:cubicBezTo>
                      <a:pt x="60" y="66"/>
                      <a:pt x="66" y="58"/>
                      <a:pt x="75" y="57"/>
                    </a:cubicBezTo>
                    <a:cubicBezTo>
                      <a:pt x="75" y="50"/>
                      <a:pt x="75" y="43"/>
                      <a:pt x="74" y="36"/>
                    </a:cubicBezTo>
                    <a:cubicBezTo>
                      <a:pt x="77" y="40"/>
                      <a:pt x="77" y="40"/>
                      <a:pt x="77" y="40"/>
                    </a:cubicBezTo>
                    <a:cubicBezTo>
                      <a:pt x="78" y="41"/>
                      <a:pt x="78" y="49"/>
                      <a:pt x="78" y="57"/>
                    </a:cubicBezTo>
                    <a:cubicBezTo>
                      <a:pt x="98" y="57"/>
                      <a:pt x="98" y="57"/>
                      <a:pt x="98" y="57"/>
                    </a:cubicBezTo>
                    <a:cubicBezTo>
                      <a:pt x="98" y="50"/>
                      <a:pt x="98" y="43"/>
                      <a:pt x="92" y="31"/>
                    </a:cubicBezTo>
                    <a:cubicBezTo>
                      <a:pt x="74" y="4"/>
                      <a:pt x="74" y="4"/>
                      <a:pt x="74" y="4"/>
                    </a:cubicBezTo>
                    <a:cubicBezTo>
                      <a:pt x="71" y="0"/>
                      <a:pt x="64" y="0"/>
                      <a:pt x="63" y="0"/>
                    </a:cubicBezTo>
                    <a:cubicBezTo>
                      <a:pt x="63" y="0"/>
                      <a:pt x="63" y="0"/>
                      <a:pt x="63" y="0"/>
                    </a:cubicBezTo>
                    <a:cubicBezTo>
                      <a:pt x="69" y="5"/>
                      <a:pt x="69" y="5"/>
                      <a:pt x="69" y="5"/>
                    </a:cubicBezTo>
                    <a:cubicBezTo>
                      <a:pt x="61" y="9"/>
                      <a:pt x="61" y="9"/>
                      <a:pt x="61" y="9"/>
                    </a:cubicBezTo>
                    <a:cubicBezTo>
                      <a:pt x="65" y="15"/>
                      <a:pt x="65" y="15"/>
                      <a:pt x="65" y="15"/>
                    </a:cubicBezTo>
                    <a:cubicBezTo>
                      <a:pt x="51" y="46"/>
                      <a:pt x="51" y="46"/>
                      <a:pt x="51" y="46"/>
                    </a:cubicBezTo>
                    <a:cubicBezTo>
                      <a:pt x="51" y="46"/>
                      <a:pt x="51" y="46"/>
                      <a:pt x="51" y="46"/>
                    </a:cubicBezTo>
                    <a:cubicBezTo>
                      <a:pt x="51" y="46"/>
                      <a:pt x="51" y="46"/>
                      <a:pt x="51" y="46"/>
                    </a:cubicBezTo>
                    <a:cubicBezTo>
                      <a:pt x="51" y="46"/>
                      <a:pt x="51" y="46"/>
                      <a:pt x="51" y="46"/>
                    </a:cubicBezTo>
                    <a:cubicBezTo>
                      <a:pt x="51" y="46"/>
                      <a:pt x="51" y="46"/>
                      <a:pt x="51" y="46"/>
                    </a:cubicBezTo>
                    <a:cubicBezTo>
                      <a:pt x="36" y="15"/>
                      <a:pt x="36" y="15"/>
                      <a:pt x="36" y="15"/>
                    </a:cubicBezTo>
                    <a:cubicBezTo>
                      <a:pt x="40" y="9"/>
                      <a:pt x="40" y="9"/>
                      <a:pt x="40" y="9"/>
                    </a:cubicBezTo>
                    <a:cubicBezTo>
                      <a:pt x="33" y="5"/>
                      <a:pt x="33" y="5"/>
                      <a:pt x="33" y="5"/>
                    </a:cubicBezTo>
                    <a:cubicBezTo>
                      <a:pt x="39" y="0"/>
                      <a:pt x="39" y="0"/>
                      <a:pt x="39" y="0"/>
                    </a:cubicBezTo>
                    <a:cubicBezTo>
                      <a:pt x="39" y="0"/>
                      <a:pt x="39" y="0"/>
                      <a:pt x="39" y="0"/>
                    </a:cubicBezTo>
                    <a:cubicBezTo>
                      <a:pt x="36" y="0"/>
                      <a:pt x="31" y="0"/>
                      <a:pt x="31" y="0"/>
                    </a:cubicBezTo>
                    <a:cubicBezTo>
                      <a:pt x="29" y="1"/>
                      <a:pt x="27" y="2"/>
                      <a:pt x="25" y="3"/>
                    </a:cubicBezTo>
                    <a:cubicBezTo>
                      <a:pt x="1" y="29"/>
                      <a:pt x="1" y="29"/>
                      <a:pt x="1" y="29"/>
                    </a:cubicBezTo>
                    <a:cubicBezTo>
                      <a:pt x="1" y="29"/>
                      <a:pt x="1" y="29"/>
                      <a:pt x="1" y="29"/>
                    </a:cubicBezTo>
                    <a:cubicBezTo>
                      <a:pt x="1" y="30"/>
                      <a:pt x="1" y="30"/>
                      <a:pt x="1" y="30"/>
                    </a:cubicBezTo>
                    <a:cubicBezTo>
                      <a:pt x="1" y="31"/>
                      <a:pt x="0" y="40"/>
                      <a:pt x="0" y="40"/>
                    </a:cubicBezTo>
                    <a:cubicBezTo>
                      <a:pt x="0" y="41"/>
                      <a:pt x="0" y="41"/>
                      <a:pt x="0" y="41"/>
                    </a:cubicBezTo>
                    <a:cubicBezTo>
                      <a:pt x="0" y="42"/>
                      <a:pt x="0" y="42"/>
                      <a:pt x="0" y="42"/>
                    </a:cubicBezTo>
                    <a:cubicBezTo>
                      <a:pt x="1" y="44"/>
                      <a:pt x="1" y="44"/>
                      <a:pt x="1" y="44"/>
                    </a:cubicBezTo>
                    <a:cubicBezTo>
                      <a:pt x="3" y="48"/>
                      <a:pt x="3" y="48"/>
                      <a:pt x="3" y="48"/>
                    </a:cubicBezTo>
                    <a:cubicBezTo>
                      <a:pt x="7" y="55"/>
                      <a:pt x="7" y="55"/>
                      <a:pt x="7" y="55"/>
                    </a:cubicBezTo>
                    <a:cubicBezTo>
                      <a:pt x="15" y="71"/>
                      <a:pt x="15" y="71"/>
                      <a:pt x="15" y="71"/>
                    </a:cubicBezTo>
                    <a:cubicBezTo>
                      <a:pt x="19" y="69"/>
                      <a:pt x="23" y="67"/>
                      <a:pt x="26" y="65"/>
                    </a:cubicBezTo>
                    <a:cubicBezTo>
                      <a:pt x="26" y="69"/>
                      <a:pt x="26" y="72"/>
                      <a:pt x="26" y="75"/>
                    </a:cubicBezTo>
                    <a:cubicBezTo>
                      <a:pt x="26" y="76"/>
                      <a:pt x="26" y="76"/>
                      <a:pt x="26" y="76"/>
                    </a:cubicBezTo>
                    <a:cubicBezTo>
                      <a:pt x="27" y="76"/>
                      <a:pt x="27" y="76"/>
                      <a:pt x="28" y="76"/>
                    </a:cubicBezTo>
                    <a:cubicBezTo>
                      <a:pt x="30" y="144"/>
                      <a:pt x="30" y="144"/>
                      <a:pt x="30" y="144"/>
                    </a:cubicBezTo>
                    <a:cubicBezTo>
                      <a:pt x="50" y="144"/>
                      <a:pt x="50" y="144"/>
                      <a:pt x="50" y="144"/>
                    </a:cubicBezTo>
                    <a:cubicBezTo>
                      <a:pt x="50" y="124"/>
                      <a:pt x="50" y="89"/>
                      <a:pt x="50" y="76"/>
                    </a:cubicBezTo>
                    <a:cubicBezTo>
                      <a:pt x="50" y="76"/>
                      <a:pt x="51" y="76"/>
                      <a:pt x="52" y="76"/>
                    </a:cubicBezTo>
                    <a:cubicBezTo>
                      <a:pt x="54" y="144"/>
                      <a:pt x="54" y="144"/>
                      <a:pt x="54" y="144"/>
                    </a:cubicBezTo>
                    <a:cubicBezTo>
                      <a:pt x="60" y="144"/>
                      <a:pt x="60" y="144"/>
                      <a:pt x="60" y="144"/>
                    </a:cubicBezTo>
                    <a:lnTo>
                      <a:pt x="60" y="74"/>
                    </a:lnTo>
                    <a:close/>
                    <a:moveTo>
                      <a:pt x="27" y="50"/>
                    </a:moveTo>
                    <a:cubicBezTo>
                      <a:pt x="24" y="46"/>
                      <a:pt x="24" y="46"/>
                      <a:pt x="24" y="46"/>
                    </a:cubicBezTo>
                    <a:cubicBezTo>
                      <a:pt x="20" y="39"/>
                      <a:pt x="20" y="39"/>
                      <a:pt x="20" y="39"/>
                    </a:cubicBezTo>
                    <a:cubicBezTo>
                      <a:pt x="19" y="36"/>
                      <a:pt x="19" y="36"/>
                      <a:pt x="19" y="36"/>
                    </a:cubicBezTo>
                    <a:cubicBezTo>
                      <a:pt x="27" y="26"/>
                      <a:pt x="27" y="26"/>
                      <a:pt x="27" y="26"/>
                    </a:cubicBezTo>
                    <a:cubicBezTo>
                      <a:pt x="27" y="34"/>
                      <a:pt x="27" y="42"/>
                      <a:pt x="27"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165">
                <a:extLst>
                  <a:ext uri="{FF2B5EF4-FFF2-40B4-BE49-F238E27FC236}">
                    <a16:creationId xmlns:a16="http://schemas.microsoft.com/office/drawing/2014/main" id="{109D93F2-39D7-4720-A015-41D1E18020FB}"/>
                  </a:ext>
                </a:extLst>
              </p:cNvPr>
              <p:cNvSpPr/>
              <p:nvPr/>
            </p:nvSpPr>
            <p:spPr bwMode="auto">
              <a:xfrm>
                <a:off x="6099176" y="3230563"/>
                <a:ext cx="220663" cy="198438"/>
              </a:xfrm>
              <a:custGeom>
                <a:avLst/>
                <a:gdLst>
                  <a:gd name="T0" fmla="*/ 1 w 58"/>
                  <a:gd name="T1" fmla="*/ 52 h 52"/>
                  <a:gd name="T2" fmla="*/ 30 w 58"/>
                  <a:gd name="T3" fmla="*/ 52 h 52"/>
                  <a:gd name="T4" fmla="*/ 58 w 58"/>
                  <a:gd name="T5" fmla="*/ 52 h 52"/>
                  <a:gd name="T6" fmla="*/ 55 w 58"/>
                  <a:gd name="T7" fmla="*/ 8 h 52"/>
                  <a:gd name="T8" fmla="*/ 47 w 58"/>
                  <a:gd name="T9" fmla="*/ 0 h 52"/>
                  <a:gd name="T10" fmla="*/ 40 w 58"/>
                  <a:gd name="T11" fmla="*/ 0 h 52"/>
                  <a:gd name="T12" fmla="*/ 45 w 58"/>
                  <a:gd name="T13" fmla="*/ 4 h 52"/>
                  <a:gd name="T14" fmla="*/ 38 w 58"/>
                  <a:gd name="T15" fmla="*/ 8 h 52"/>
                  <a:gd name="T16" fmla="*/ 41 w 58"/>
                  <a:gd name="T17" fmla="*/ 13 h 52"/>
                  <a:gd name="T18" fmla="*/ 29 w 58"/>
                  <a:gd name="T19" fmla="*/ 41 h 52"/>
                  <a:gd name="T20" fmla="*/ 29 w 58"/>
                  <a:gd name="T21" fmla="*/ 41 h 52"/>
                  <a:gd name="T22" fmla="*/ 29 w 58"/>
                  <a:gd name="T23" fmla="*/ 41 h 52"/>
                  <a:gd name="T24" fmla="*/ 29 w 58"/>
                  <a:gd name="T25" fmla="*/ 41 h 52"/>
                  <a:gd name="T26" fmla="*/ 29 w 58"/>
                  <a:gd name="T27" fmla="*/ 41 h 52"/>
                  <a:gd name="T28" fmla="*/ 16 w 58"/>
                  <a:gd name="T29" fmla="*/ 13 h 52"/>
                  <a:gd name="T30" fmla="*/ 19 w 58"/>
                  <a:gd name="T31" fmla="*/ 8 h 52"/>
                  <a:gd name="T32" fmla="*/ 12 w 58"/>
                  <a:gd name="T33" fmla="*/ 4 h 52"/>
                  <a:gd name="T34" fmla="*/ 17 w 58"/>
                  <a:gd name="T35" fmla="*/ 0 h 52"/>
                  <a:gd name="T36" fmla="*/ 11 w 58"/>
                  <a:gd name="T37" fmla="*/ 0 h 52"/>
                  <a:gd name="T38" fmla="*/ 11 w 58"/>
                  <a:gd name="T39" fmla="*/ 0 h 52"/>
                  <a:gd name="T40" fmla="*/ 3 w 58"/>
                  <a:gd name="T41" fmla="*/ 8 h 52"/>
                  <a:gd name="T42" fmla="*/ 0 w 58"/>
                  <a:gd name="T43" fmla="*/ 52 h 52"/>
                  <a:gd name="T44" fmla="*/ 1 w 58"/>
                  <a:gd name="T4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52">
                    <a:moveTo>
                      <a:pt x="1" y="52"/>
                    </a:moveTo>
                    <a:cubicBezTo>
                      <a:pt x="30" y="52"/>
                      <a:pt x="30" y="52"/>
                      <a:pt x="30" y="52"/>
                    </a:cubicBezTo>
                    <a:cubicBezTo>
                      <a:pt x="58" y="52"/>
                      <a:pt x="58" y="52"/>
                      <a:pt x="58" y="52"/>
                    </a:cubicBezTo>
                    <a:cubicBezTo>
                      <a:pt x="55" y="8"/>
                      <a:pt x="55" y="8"/>
                      <a:pt x="55" y="8"/>
                    </a:cubicBezTo>
                    <a:cubicBezTo>
                      <a:pt x="54" y="3"/>
                      <a:pt x="51" y="0"/>
                      <a:pt x="47" y="0"/>
                    </a:cubicBezTo>
                    <a:cubicBezTo>
                      <a:pt x="47" y="0"/>
                      <a:pt x="44" y="0"/>
                      <a:pt x="40" y="0"/>
                    </a:cubicBezTo>
                    <a:cubicBezTo>
                      <a:pt x="45" y="4"/>
                      <a:pt x="45" y="4"/>
                      <a:pt x="45" y="4"/>
                    </a:cubicBezTo>
                    <a:cubicBezTo>
                      <a:pt x="38" y="8"/>
                      <a:pt x="38" y="8"/>
                      <a:pt x="38" y="8"/>
                    </a:cubicBezTo>
                    <a:cubicBezTo>
                      <a:pt x="41" y="13"/>
                      <a:pt x="41" y="13"/>
                      <a:pt x="41" y="13"/>
                    </a:cubicBezTo>
                    <a:cubicBezTo>
                      <a:pt x="29" y="41"/>
                      <a:pt x="29" y="41"/>
                      <a:pt x="29" y="41"/>
                    </a:cubicBezTo>
                    <a:cubicBezTo>
                      <a:pt x="29" y="41"/>
                      <a:pt x="29" y="41"/>
                      <a:pt x="29" y="41"/>
                    </a:cubicBezTo>
                    <a:cubicBezTo>
                      <a:pt x="29" y="41"/>
                      <a:pt x="29" y="41"/>
                      <a:pt x="29" y="41"/>
                    </a:cubicBezTo>
                    <a:cubicBezTo>
                      <a:pt x="29" y="41"/>
                      <a:pt x="29" y="41"/>
                      <a:pt x="29" y="41"/>
                    </a:cubicBezTo>
                    <a:cubicBezTo>
                      <a:pt x="29" y="41"/>
                      <a:pt x="29" y="41"/>
                      <a:pt x="29" y="41"/>
                    </a:cubicBezTo>
                    <a:cubicBezTo>
                      <a:pt x="16" y="13"/>
                      <a:pt x="16" y="13"/>
                      <a:pt x="16" y="13"/>
                    </a:cubicBezTo>
                    <a:cubicBezTo>
                      <a:pt x="19" y="8"/>
                      <a:pt x="19" y="8"/>
                      <a:pt x="19" y="8"/>
                    </a:cubicBezTo>
                    <a:cubicBezTo>
                      <a:pt x="12" y="4"/>
                      <a:pt x="12" y="4"/>
                      <a:pt x="12" y="4"/>
                    </a:cubicBezTo>
                    <a:cubicBezTo>
                      <a:pt x="17" y="0"/>
                      <a:pt x="17" y="0"/>
                      <a:pt x="17" y="0"/>
                    </a:cubicBezTo>
                    <a:cubicBezTo>
                      <a:pt x="13" y="0"/>
                      <a:pt x="11" y="0"/>
                      <a:pt x="11" y="0"/>
                    </a:cubicBezTo>
                    <a:cubicBezTo>
                      <a:pt x="11" y="0"/>
                      <a:pt x="11" y="0"/>
                      <a:pt x="11" y="0"/>
                    </a:cubicBezTo>
                    <a:cubicBezTo>
                      <a:pt x="7" y="0"/>
                      <a:pt x="3" y="3"/>
                      <a:pt x="3" y="8"/>
                    </a:cubicBezTo>
                    <a:cubicBezTo>
                      <a:pt x="0" y="52"/>
                      <a:pt x="0" y="52"/>
                      <a:pt x="0" y="52"/>
                    </a:cubicBezTo>
                    <a:lnTo>
                      <a:pt x="1" y="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166">
                <a:extLst>
                  <a:ext uri="{FF2B5EF4-FFF2-40B4-BE49-F238E27FC236}">
                    <a16:creationId xmlns:a16="http://schemas.microsoft.com/office/drawing/2014/main" id="{BEBD6132-55E7-4CA8-9C34-D78B3B190E1E}"/>
                  </a:ext>
                </a:extLst>
              </p:cNvPr>
              <p:cNvSpPr/>
              <p:nvPr/>
            </p:nvSpPr>
            <p:spPr bwMode="auto">
              <a:xfrm>
                <a:off x="6019801" y="3633788"/>
                <a:ext cx="111125" cy="103188"/>
              </a:xfrm>
              <a:custGeom>
                <a:avLst/>
                <a:gdLst>
                  <a:gd name="T0" fmla="*/ 27 w 29"/>
                  <a:gd name="T1" fmla="*/ 0 h 27"/>
                  <a:gd name="T2" fmla="*/ 26 w 29"/>
                  <a:gd name="T3" fmla="*/ 0 h 27"/>
                  <a:gd name="T4" fmla="*/ 1 w 29"/>
                  <a:gd name="T5" fmla="*/ 24 h 27"/>
                  <a:gd name="T6" fmla="*/ 1 w 29"/>
                  <a:gd name="T7" fmla="*/ 27 h 27"/>
                  <a:gd name="T8" fmla="*/ 2 w 29"/>
                  <a:gd name="T9" fmla="*/ 27 h 27"/>
                  <a:gd name="T10" fmla="*/ 4 w 29"/>
                  <a:gd name="T11" fmla="*/ 27 h 27"/>
                  <a:gd name="T12" fmla="*/ 29 w 29"/>
                  <a:gd name="T13" fmla="*/ 3 h 27"/>
                  <a:gd name="T14" fmla="*/ 29 w 29"/>
                  <a:gd name="T15" fmla="*/ 0 h 27"/>
                  <a:gd name="T16" fmla="*/ 27 w 29"/>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7">
                    <a:moveTo>
                      <a:pt x="27" y="0"/>
                    </a:moveTo>
                    <a:cubicBezTo>
                      <a:pt x="26" y="0"/>
                      <a:pt x="26" y="0"/>
                      <a:pt x="26" y="0"/>
                    </a:cubicBezTo>
                    <a:cubicBezTo>
                      <a:pt x="1" y="24"/>
                      <a:pt x="1" y="24"/>
                      <a:pt x="1" y="24"/>
                    </a:cubicBezTo>
                    <a:cubicBezTo>
                      <a:pt x="0" y="25"/>
                      <a:pt x="0" y="26"/>
                      <a:pt x="1" y="27"/>
                    </a:cubicBezTo>
                    <a:cubicBezTo>
                      <a:pt x="1" y="27"/>
                      <a:pt x="2" y="27"/>
                      <a:pt x="2" y="27"/>
                    </a:cubicBezTo>
                    <a:cubicBezTo>
                      <a:pt x="3" y="27"/>
                      <a:pt x="3" y="27"/>
                      <a:pt x="4" y="27"/>
                    </a:cubicBezTo>
                    <a:cubicBezTo>
                      <a:pt x="29" y="3"/>
                      <a:pt x="29" y="3"/>
                      <a:pt x="29" y="3"/>
                    </a:cubicBezTo>
                    <a:cubicBezTo>
                      <a:pt x="29" y="3"/>
                      <a:pt x="29" y="1"/>
                      <a:pt x="29" y="0"/>
                    </a:cubicBezTo>
                    <a:cubicBezTo>
                      <a:pt x="28" y="0"/>
                      <a:pt x="28" y="0"/>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167">
                <a:extLst>
                  <a:ext uri="{FF2B5EF4-FFF2-40B4-BE49-F238E27FC236}">
                    <a16:creationId xmlns:a16="http://schemas.microsoft.com/office/drawing/2014/main" id="{20B37B38-C020-45B9-9974-0E3BD142BD6C}"/>
                  </a:ext>
                </a:extLst>
              </p:cNvPr>
              <p:cNvSpPr>
                <a:spLocks noEditPoints="1"/>
              </p:cNvSpPr>
              <p:nvPr/>
            </p:nvSpPr>
            <p:spPr bwMode="auto">
              <a:xfrm>
                <a:off x="5967413" y="3448050"/>
                <a:ext cx="504825" cy="346075"/>
              </a:xfrm>
              <a:custGeom>
                <a:avLst/>
                <a:gdLst>
                  <a:gd name="T0" fmla="*/ 128 w 133"/>
                  <a:gd name="T1" fmla="*/ 4 h 91"/>
                  <a:gd name="T2" fmla="*/ 118 w 133"/>
                  <a:gd name="T3" fmla="*/ 0 h 91"/>
                  <a:gd name="T4" fmla="*/ 15 w 133"/>
                  <a:gd name="T5" fmla="*/ 0 h 91"/>
                  <a:gd name="T6" fmla="*/ 5 w 133"/>
                  <a:gd name="T7" fmla="*/ 4 h 91"/>
                  <a:gd name="T8" fmla="*/ 0 w 133"/>
                  <a:gd name="T9" fmla="*/ 17 h 91"/>
                  <a:gd name="T10" fmla="*/ 0 w 133"/>
                  <a:gd name="T11" fmla="*/ 75 h 91"/>
                  <a:gd name="T12" fmla="*/ 15 w 133"/>
                  <a:gd name="T13" fmla="*/ 91 h 91"/>
                  <a:gd name="T14" fmla="*/ 118 w 133"/>
                  <a:gd name="T15" fmla="*/ 91 h 91"/>
                  <a:gd name="T16" fmla="*/ 133 w 133"/>
                  <a:gd name="T17" fmla="*/ 75 h 91"/>
                  <a:gd name="T18" fmla="*/ 133 w 133"/>
                  <a:gd name="T19" fmla="*/ 17 h 91"/>
                  <a:gd name="T20" fmla="*/ 128 w 133"/>
                  <a:gd name="T21" fmla="*/ 4 h 91"/>
                  <a:gd name="T22" fmla="*/ 66 w 133"/>
                  <a:gd name="T23" fmla="*/ 50 h 91"/>
                  <a:gd name="T24" fmla="*/ 17 w 133"/>
                  <a:gd name="T25" fmla="*/ 10 h 91"/>
                  <a:gd name="T26" fmla="*/ 115 w 133"/>
                  <a:gd name="T27" fmla="*/ 10 h 91"/>
                  <a:gd name="T28" fmla="*/ 66 w 133"/>
                  <a:gd name="T29" fmla="*/ 50 h 91"/>
                  <a:gd name="T30" fmla="*/ 123 w 133"/>
                  <a:gd name="T31" fmla="*/ 75 h 91"/>
                  <a:gd name="T32" fmla="*/ 118 w 133"/>
                  <a:gd name="T33" fmla="*/ 80 h 91"/>
                  <a:gd name="T34" fmla="*/ 15 w 133"/>
                  <a:gd name="T35" fmla="*/ 80 h 91"/>
                  <a:gd name="T36" fmla="*/ 10 w 133"/>
                  <a:gd name="T37" fmla="*/ 75 h 91"/>
                  <a:gd name="T38" fmla="*/ 10 w 133"/>
                  <a:gd name="T39" fmla="*/ 17 h 91"/>
                  <a:gd name="T40" fmla="*/ 62 w 133"/>
                  <a:gd name="T41" fmla="*/ 60 h 91"/>
                  <a:gd name="T42" fmla="*/ 66 w 133"/>
                  <a:gd name="T43" fmla="*/ 61 h 91"/>
                  <a:gd name="T44" fmla="*/ 70 w 133"/>
                  <a:gd name="T45" fmla="*/ 60 h 91"/>
                  <a:gd name="T46" fmla="*/ 123 w 133"/>
                  <a:gd name="T47" fmla="*/ 17 h 91"/>
                  <a:gd name="T48" fmla="*/ 123 w 133"/>
                  <a:gd name="T49" fmla="*/ 75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3" h="91">
                    <a:moveTo>
                      <a:pt x="128" y="4"/>
                    </a:moveTo>
                    <a:cubicBezTo>
                      <a:pt x="125" y="1"/>
                      <a:pt x="121" y="0"/>
                      <a:pt x="118" y="0"/>
                    </a:cubicBezTo>
                    <a:cubicBezTo>
                      <a:pt x="15" y="0"/>
                      <a:pt x="15" y="0"/>
                      <a:pt x="15" y="0"/>
                    </a:cubicBezTo>
                    <a:cubicBezTo>
                      <a:pt x="12" y="0"/>
                      <a:pt x="8" y="1"/>
                      <a:pt x="5" y="4"/>
                    </a:cubicBezTo>
                    <a:cubicBezTo>
                      <a:pt x="3" y="6"/>
                      <a:pt x="0" y="11"/>
                      <a:pt x="0" y="17"/>
                    </a:cubicBezTo>
                    <a:cubicBezTo>
                      <a:pt x="0" y="75"/>
                      <a:pt x="0" y="75"/>
                      <a:pt x="0" y="75"/>
                    </a:cubicBezTo>
                    <a:cubicBezTo>
                      <a:pt x="0" y="84"/>
                      <a:pt x="7" y="91"/>
                      <a:pt x="15" y="91"/>
                    </a:cubicBezTo>
                    <a:cubicBezTo>
                      <a:pt x="118" y="91"/>
                      <a:pt x="118" y="91"/>
                      <a:pt x="118" y="91"/>
                    </a:cubicBezTo>
                    <a:cubicBezTo>
                      <a:pt x="126" y="91"/>
                      <a:pt x="133" y="84"/>
                      <a:pt x="133" y="75"/>
                    </a:cubicBezTo>
                    <a:cubicBezTo>
                      <a:pt x="133" y="17"/>
                      <a:pt x="133" y="17"/>
                      <a:pt x="133" y="17"/>
                    </a:cubicBezTo>
                    <a:cubicBezTo>
                      <a:pt x="133" y="11"/>
                      <a:pt x="130" y="6"/>
                      <a:pt x="128" y="4"/>
                    </a:cubicBezTo>
                    <a:close/>
                    <a:moveTo>
                      <a:pt x="66" y="50"/>
                    </a:moveTo>
                    <a:cubicBezTo>
                      <a:pt x="17" y="10"/>
                      <a:pt x="17" y="10"/>
                      <a:pt x="17" y="10"/>
                    </a:cubicBezTo>
                    <a:cubicBezTo>
                      <a:pt x="115" y="10"/>
                      <a:pt x="115" y="10"/>
                      <a:pt x="115" y="10"/>
                    </a:cubicBezTo>
                    <a:lnTo>
                      <a:pt x="66" y="50"/>
                    </a:lnTo>
                    <a:close/>
                    <a:moveTo>
                      <a:pt x="123" y="75"/>
                    </a:moveTo>
                    <a:cubicBezTo>
                      <a:pt x="123" y="78"/>
                      <a:pt x="120" y="80"/>
                      <a:pt x="118" y="80"/>
                    </a:cubicBezTo>
                    <a:cubicBezTo>
                      <a:pt x="15" y="80"/>
                      <a:pt x="15" y="80"/>
                      <a:pt x="15" y="80"/>
                    </a:cubicBezTo>
                    <a:cubicBezTo>
                      <a:pt x="12" y="80"/>
                      <a:pt x="10" y="78"/>
                      <a:pt x="10" y="75"/>
                    </a:cubicBezTo>
                    <a:cubicBezTo>
                      <a:pt x="10" y="17"/>
                      <a:pt x="10" y="17"/>
                      <a:pt x="10" y="17"/>
                    </a:cubicBezTo>
                    <a:cubicBezTo>
                      <a:pt x="62" y="60"/>
                      <a:pt x="62" y="60"/>
                      <a:pt x="62" y="60"/>
                    </a:cubicBezTo>
                    <a:cubicBezTo>
                      <a:pt x="64" y="61"/>
                      <a:pt x="65" y="61"/>
                      <a:pt x="66" y="61"/>
                    </a:cubicBezTo>
                    <a:cubicBezTo>
                      <a:pt x="68" y="61"/>
                      <a:pt x="69" y="61"/>
                      <a:pt x="70" y="60"/>
                    </a:cubicBezTo>
                    <a:cubicBezTo>
                      <a:pt x="123" y="17"/>
                      <a:pt x="123" y="17"/>
                      <a:pt x="123" y="17"/>
                    </a:cubicBezTo>
                    <a:lnTo>
                      <a:pt x="123" y="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168">
                <a:extLst>
                  <a:ext uri="{FF2B5EF4-FFF2-40B4-BE49-F238E27FC236}">
                    <a16:creationId xmlns:a16="http://schemas.microsoft.com/office/drawing/2014/main" id="{2C1234A7-26C6-4F13-B659-C466C5215F7E}"/>
                  </a:ext>
                </a:extLst>
              </p:cNvPr>
              <p:cNvSpPr/>
              <p:nvPr/>
            </p:nvSpPr>
            <p:spPr bwMode="auto">
              <a:xfrm>
                <a:off x="6305551" y="3633788"/>
                <a:ext cx="114300" cy="103188"/>
              </a:xfrm>
              <a:custGeom>
                <a:avLst/>
                <a:gdLst>
                  <a:gd name="T0" fmla="*/ 26 w 30"/>
                  <a:gd name="T1" fmla="*/ 27 h 27"/>
                  <a:gd name="T2" fmla="*/ 28 w 30"/>
                  <a:gd name="T3" fmla="*/ 27 h 27"/>
                  <a:gd name="T4" fmla="*/ 29 w 30"/>
                  <a:gd name="T5" fmla="*/ 27 h 27"/>
                  <a:gd name="T6" fmla="*/ 29 w 30"/>
                  <a:gd name="T7" fmla="*/ 24 h 27"/>
                  <a:gd name="T8" fmla="*/ 4 w 30"/>
                  <a:gd name="T9" fmla="*/ 0 h 27"/>
                  <a:gd name="T10" fmla="*/ 3 w 30"/>
                  <a:gd name="T11" fmla="*/ 0 h 27"/>
                  <a:gd name="T12" fmla="*/ 1 w 30"/>
                  <a:gd name="T13" fmla="*/ 0 h 27"/>
                  <a:gd name="T14" fmla="*/ 1 w 30"/>
                  <a:gd name="T15" fmla="*/ 3 h 27"/>
                  <a:gd name="T16" fmla="*/ 26 w 30"/>
                  <a:gd name="T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7">
                    <a:moveTo>
                      <a:pt x="26" y="27"/>
                    </a:moveTo>
                    <a:cubicBezTo>
                      <a:pt x="26" y="27"/>
                      <a:pt x="27" y="27"/>
                      <a:pt x="28" y="27"/>
                    </a:cubicBezTo>
                    <a:cubicBezTo>
                      <a:pt x="28" y="27"/>
                      <a:pt x="29" y="27"/>
                      <a:pt x="29" y="27"/>
                    </a:cubicBezTo>
                    <a:cubicBezTo>
                      <a:pt x="30" y="26"/>
                      <a:pt x="30" y="25"/>
                      <a:pt x="29" y="24"/>
                    </a:cubicBezTo>
                    <a:cubicBezTo>
                      <a:pt x="4" y="0"/>
                      <a:pt x="4" y="0"/>
                      <a:pt x="4" y="0"/>
                    </a:cubicBezTo>
                    <a:cubicBezTo>
                      <a:pt x="4" y="0"/>
                      <a:pt x="3" y="0"/>
                      <a:pt x="3" y="0"/>
                    </a:cubicBezTo>
                    <a:cubicBezTo>
                      <a:pt x="2" y="0"/>
                      <a:pt x="2" y="0"/>
                      <a:pt x="1" y="0"/>
                    </a:cubicBezTo>
                    <a:cubicBezTo>
                      <a:pt x="0" y="1"/>
                      <a:pt x="0" y="3"/>
                      <a:pt x="1" y="3"/>
                    </a:cubicBezTo>
                    <a:lnTo>
                      <a:pt x="26"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169">
                <a:extLst>
                  <a:ext uri="{FF2B5EF4-FFF2-40B4-BE49-F238E27FC236}">
                    <a16:creationId xmlns:a16="http://schemas.microsoft.com/office/drawing/2014/main" id="{1019D8C7-0C18-438D-9A4C-3E06C9220552}"/>
                  </a:ext>
                </a:extLst>
              </p:cNvPr>
              <p:cNvSpPr/>
              <p:nvPr/>
            </p:nvSpPr>
            <p:spPr bwMode="auto">
              <a:xfrm>
                <a:off x="6016626" y="3413125"/>
                <a:ext cx="79375" cy="57150"/>
              </a:xfrm>
              <a:custGeom>
                <a:avLst/>
                <a:gdLst>
                  <a:gd name="T0" fmla="*/ 1 w 21"/>
                  <a:gd name="T1" fmla="*/ 15 h 15"/>
                  <a:gd name="T2" fmla="*/ 21 w 21"/>
                  <a:gd name="T3" fmla="*/ 14 h 15"/>
                  <a:gd name="T4" fmla="*/ 20 w 21"/>
                  <a:gd name="T5" fmla="*/ 0 h 15"/>
                  <a:gd name="T6" fmla="*/ 0 w 21"/>
                  <a:gd name="T7" fmla="*/ 0 h 15"/>
                  <a:gd name="T8" fmla="*/ 1 w 21"/>
                  <a:gd name="T9" fmla="*/ 15 h 15"/>
                </a:gdLst>
                <a:ahLst/>
                <a:cxnLst>
                  <a:cxn ang="0">
                    <a:pos x="T0" y="T1"/>
                  </a:cxn>
                  <a:cxn ang="0">
                    <a:pos x="T2" y="T3"/>
                  </a:cxn>
                  <a:cxn ang="0">
                    <a:pos x="T4" y="T5"/>
                  </a:cxn>
                  <a:cxn ang="0">
                    <a:pos x="T6" y="T7"/>
                  </a:cxn>
                  <a:cxn ang="0">
                    <a:pos x="T8" y="T9"/>
                  </a:cxn>
                </a:cxnLst>
                <a:rect l="0" t="0" r="r" b="b"/>
                <a:pathLst>
                  <a:path w="21" h="15">
                    <a:moveTo>
                      <a:pt x="1" y="15"/>
                    </a:moveTo>
                    <a:cubicBezTo>
                      <a:pt x="8" y="15"/>
                      <a:pt x="14" y="14"/>
                      <a:pt x="21" y="14"/>
                    </a:cubicBezTo>
                    <a:cubicBezTo>
                      <a:pt x="20" y="8"/>
                      <a:pt x="20" y="4"/>
                      <a:pt x="20" y="0"/>
                    </a:cubicBezTo>
                    <a:cubicBezTo>
                      <a:pt x="0" y="0"/>
                      <a:pt x="0" y="0"/>
                      <a:pt x="0" y="0"/>
                    </a:cubicBezTo>
                    <a:cubicBezTo>
                      <a:pt x="1" y="5"/>
                      <a:pt x="1" y="11"/>
                      <a:pt x="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2" name="标题 1"/>
          <p:cNvSpPr>
            <a:spLocks noGrp="1"/>
          </p:cNvSpPr>
          <p:nvPr>
            <p:ph type="ctrTitle"/>
          </p:nvPr>
        </p:nvSpPr>
        <p:spPr>
          <a:xfrm>
            <a:off x="1523999" y="1122363"/>
            <a:ext cx="9477375" cy="2261733"/>
          </a:xfrm>
        </p:spPr>
        <p:txBody>
          <a:bodyPr anchor="b"/>
          <a:lstStyle>
            <a:lvl1pPr algn="ctr">
              <a:defRPr sz="6000">
                <a:solidFill>
                  <a:schemeClr val="bg1"/>
                </a:solidFill>
              </a:defRPr>
            </a:lvl1pPr>
          </a:lstStyle>
          <a:p>
            <a:r>
              <a:rPr lang="zh-CN" altLang="en-US"/>
              <a:t>单击此处编辑母版标题样式</a:t>
            </a:r>
          </a:p>
        </p:txBody>
      </p:sp>
    </p:spTree>
    <p:extLst>
      <p:ext uri="{BB962C8B-B14F-4D97-AF65-F5344CB8AC3E}">
        <p14:creationId xmlns:p14="http://schemas.microsoft.com/office/powerpoint/2010/main" val="173243391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 presetClass="entr" presetSubtype="4" accel="22000" fill="hold" nodeType="withEffect" p14:presetBounceEnd="20000">
                                      <p:stCondLst>
                                        <p:cond delay="2200"/>
                                      </p:stCondLst>
                                      <p:childTnLst>
                                        <p:set>
                                          <p:cBhvr>
                                            <p:cTn id="9" dur="1" fill="hold">
                                              <p:stCondLst>
                                                <p:cond delay="0"/>
                                              </p:stCondLst>
                                            </p:cTn>
                                            <p:tgtEl>
                                              <p:spTgt spid="8"/>
                                            </p:tgtEl>
                                            <p:attrNameLst>
                                              <p:attrName>style.visibility</p:attrName>
                                            </p:attrNameLst>
                                          </p:cBhvr>
                                          <p:to>
                                            <p:strVal val="visible"/>
                                          </p:to>
                                        </p:set>
                                        <p:anim calcmode="lin" valueType="num" p14:bounceEnd="20000">
                                          <p:cBhvr additive="base">
                                            <p:cTn id="10" dur="500" fill="hold"/>
                                            <p:tgtEl>
                                              <p:spTgt spid="8"/>
                                            </p:tgtEl>
                                            <p:attrNameLst>
                                              <p:attrName>ppt_x</p:attrName>
                                            </p:attrNameLst>
                                          </p:cBhvr>
                                          <p:tavLst>
                                            <p:tav tm="0">
                                              <p:val>
                                                <p:strVal val="#ppt_x"/>
                                              </p:val>
                                            </p:tav>
                                            <p:tav tm="100000">
                                              <p:val>
                                                <p:strVal val="#ppt_x"/>
                                              </p:val>
                                            </p:tav>
                                          </p:tavLst>
                                        </p:anim>
                                        <p:anim calcmode="lin" valueType="num" p14:bounceEnd="20000">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accel="22000" fill="hold" nodeType="withEffect" p14:presetBounceEnd="20000">
                                      <p:stCondLst>
                                        <p:cond delay="2400"/>
                                      </p:stCondLst>
                                      <p:childTnLst>
                                        <p:set>
                                          <p:cBhvr>
                                            <p:cTn id="13" dur="1" fill="hold">
                                              <p:stCondLst>
                                                <p:cond delay="0"/>
                                              </p:stCondLst>
                                            </p:cTn>
                                            <p:tgtEl>
                                              <p:spTgt spid="28"/>
                                            </p:tgtEl>
                                            <p:attrNameLst>
                                              <p:attrName>style.visibility</p:attrName>
                                            </p:attrNameLst>
                                          </p:cBhvr>
                                          <p:to>
                                            <p:strVal val="visible"/>
                                          </p:to>
                                        </p:set>
                                        <p:anim calcmode="lin" valueType="num" p14:bounceEnd="20000">
                                          <p:cBhvr additive="base">
                                            <p:cTn id="14" dur="500" fill="hold"/>
                                            <p:tgtEl>
                                              <p:spTgt spid="28"/>
                                            </p:tgtEl>
                                            <p:attrNameLst>
                                              <p:attrName>ppt_x</p:attrName>
                                            </p:attrNameLst>
                                          </p:cBhvr>
                                          <p:tavLst>
                                            <p:tav tm="0">
                                              <p:val>
                                                <p:strVal val="#ppt_x"/>
                                              </p:val>
                                            </p:tav>
                                            <p:tav tm="100000">
                                              <p:val>
                                                <p:strVal val="#ppt_x"/>
                                              </p:val>
                                            </p:tav>
                                          </p:tavLst>
                                        </p:anim>
                                        <p:anim calcmode="lin" valueType="num" p14:bounceEnd="20000">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accel="22000" fill="hold" nodeType="withEffect" p14:presetBounceEnd="20000">
                                      <p:stCondLst>
                                        <p:cond delay="2600"/>
                                      </p:stCondLst>
                                      <p:childTnLst>
                                        <p:set>
                                          <p:cBhvr>
                                            <p:cTn id="17" dur="1" fill="hold">
                                              <p:stCondLst>
                                                <p:cond delay="0"/>
                                              </p:stCondLst>
                                            </p:cTn>
                                            <p:tgtEl>
                                              <p:spTgt spid="38"/>
                                            </p:tgtEl>
                                            <p:attrNameLst>
                                              <p:attrName>style.visibility</p:attrName>
                                            </p:attrNameLst>
                                          </p:cBhvr>
                                          <p:to>
                                            <p:strVal val="visible"/>
                                          </p:to>
                                        </p:set>
                                        <p:anim calcmode="lin" valueType="num" p14:bounceEnd="20000">
                                          <p:cBhvr additive="base">
                                            <p:cTn id="18" dur="500" fill="hold"/>
                                            <p:tgtEl>
                                              <p:spTgt spid="38"/>
                                            </p:tgtEl>
                                            <p:attrNameLst>
                                              <p:attrName>ppt_x</p:attrName>
                                            </p:attrNameLst>
                                          </p:cBhvr>
                                          <p:tavLst>
                                            <p:tav tm="0">
                                              <p:val>
                                                <p:strVal val="#ppt_x"/>
                                              </p:val>
                                            </p:tav>
                                            <p:tav tm="100000">
                                              <p:val>
                                                <p:strVal val="#ppt_x"/>
                                              </p:val>
                                            </p:tav>
                                          </p:tavLst>
                                        </p:anim>
                                        <p:anim calcmode="lin" valueType="num" p14:bounceEnd="20000">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accel="22000" fill="hold" nodeType="withEffect" p14:presetBounceEnd="20000">
                                      <p:stCondLst>
                                        <p:cond delay="2800"/>
                                      </p:stCondLst>
                                      <p:childTnLst>
                                        <p:set>
                                          <p:cBhvr>
                                            <p:cTn id="21" dur="1" fill="hold">
                                              <p:stCondLst>
                                                <p:cond delay="0"/>
                                              </p:stCondLst>
                                            </p:cTn>
                                            <p:tgtEl>
                                              <p:spTgt spid="46"/>
                                            </p:tgtEl>
                                            <p:attrNameLst>
                                              <p:attrName>style.visibility</p:attrName>
                                            </p:attrNameLst>
                                          </p:cBhvr>
                                          <p:to>
                                            <p:strVal val="visible"/>
                                          </p:to>
                                        </p:set>
                                        <p:anim calcmode="lin" valueType="num" p14:bounceEnd="20000">
                                          <p:cBhvr additive="base">
                                            <p:cTn id="22" dur="500" fill="hold"/>
                                            <p:tgtEl>
                                              <p:spTgt spid="46"/>
                                            </p:tgtEl>
                                            <p:attrNameLst>
                                              <p:attrName>ppt_x</p:attrName>
                                            </p:attrNameLst>
                                          </p:cBhvr>
                                          <p:tavLst>
                                            <p:tav tm="0">
                                              <p:val>
                                                <p:strVal val="#ppt_x"/>
                                              </p:val>
                                            </p:tav>
                                            <p:tav tm="100000">
                                              <p:val>
                                                <p:strVal val="#ppt_x"/>
                                              </p:val>
                                            </p:tav>
                                          </p:tavLst>
                                        </p:anim>
                                        <p:anim calcmode="lin" valueType="num" p14:bounceEnd="20000">
                                          <p:cBhvr additive="base">
                                            <p:cTn id="23" dur="500" fill="hold"/>
                                            <p:tgtEl>
                                              <p:spTgt spid="46"/>
                                            </p:tgtEl>
                                            <p:attrNameLst>
                                              <p:attrName>ppt_y</p:attrName>
                                            </p:attrNameLst>
                                          </p:cBhvr>
                                          <p:tavLst>
                                            <p:tav tm="0">
                                              <p:val>
                                                <p:strVal val="1+#ppt_h/2"/>
                                              </p:val>
                                            </p:tav>
                                            <p:tav tm="100000">
                                              <p:val>
                                                <p:strVal val="#ppt_y"/>
                                              </p:val>
                                            </p:tav>
                                          </p:tavLst>
                                        </p:anim>
                                      </p:childTnLst>
                                    </p:cTn>
                                  </p:par>
                                  <p:par>
                                    <p:cTn id="24" presetID="2" presetClass="entr" presetSubtype="4" accel="22000" fill="hold" nodeType="withEffect" p14:presetBounceEnd="20000">
                                      <p:stCondLst>
                                        <p:cond delay="3000"/>
                                      </p:stCondLst>
                                      <p:childTnLst>
                                        <p:set>
                                          <p:cBhvr>
                                            <p:cTn id="25" dur="1" fill="hold">
                                              <p:stCondLst>
                                                <p:cond delay="0"/>
                                              </p:stCondLst>
                                            </p:cTn>
                                            <p:tgtEl>
                                              <p:spTgt spid="51"/>
                                            </p:tgtEl>
                                            <p:attrNameLst>
                                              <p:attrName>style.visibility</p:attrName>
                                            </p:attrNameLst>
                                          </p:cBhvr>
                                          <p:to>
                                            <p:strVal val="visible"/>
                                          </p:to>
                                        </p:set>
                                        <p:anim calcmode="lin" valueType="num" p14:bounceEnd="20000">
                                          <p:cBhvr additive="base">
                                            <p:cTn id="26" dur="500" fill="hold"/>
                                            <p:tgtEl>
                                              <p:spTgt spid="51"/>
                                            </p:tgtEl>
                                            <p:attrNameLst>
                                              <p:attrName>ppt_x</p:attrName>
                                            </p:attrNameLst>
                                          </p:cBhvr>
                                          <p:tavLst>
                                            <p:tav tm="0">
                                              <p:val>
                                                <p:strVal val="#ppt_x"/>
                                              </p:val>
                                            </p:tav>
                                            <p:tav tm="100000">
                                              <p:val>
                                                <p:strVal val="#ppt_x"/>
                                              </p:val>
                                            </p:tav>
                                          </p:tavLst>
                                        </p:anim>
                                        <p:anim calcmode="lin" valueType="num" p14:bounceEnd="20000">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 presetClass="entr" presetSubtype="4" accel="22000" fill="hold" nodeType="withEffect">
                                      <p:stCondLst>
                                        <p:cond delay="220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500" fill="hold"/>
                                            <p:tgtEl>
                                              <p:spTgt spid="8"/>
                                            </p:tgtEl>
                                            <p:attrNameLst>
                                              <p:attrName>ppt_x</p:attrName>
                                            </p:attrNameLst>
                                          </p:cBhvr>
                                          <p:tavLst>
                                            <p:tav tm="0">
                                              <p:val>
                                                <p:strVal val="#ppt_x"/>
                                              </p:val>
                                            </p:tav>
                                            <p:tav tm="100000">
                                              <p:val>
                                                <p:strVal val="#ppt_x"/>
                                              </p:val>
                                            </p:tav>
                                          </p:tavLst>
                                        </p:anim>
                                        <p:anim calcmode="lin" valueType="num">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accel="22000" fill="hold" nodeType="withEffect">
                                      <p:stCondLst>
                                        <p:cond delay="2400"/>
                                      </p:stCondLst>
                                      <p:childTnLst>
                                        <p:set>
                                          <p:cBhvr>
                                            <p:cTn id="13" dur="1" fill="hold">
                                              <p:stCondLst>
                                                <p:cond delay="0"/>
                                              </p:stCondLst>
                                            </p:cTn>
                                            <p:tgtEl>
                                              <p:spTgt spid="28"/>
                                            </p:tgtEl>
                                            <p:attrNameLst>
                                              <p:attrName>style.visibility</p:attrName>
                                            </p:attrNameLst>
                                          </p:cBhvr>
                                          <p:to>
                                            <p:strVal val="visible"/>
                                          </p:to>
                                        </p:set>
                                        <p:anim calcmode="lin" valueType="num">
                                          <p:cBhvr additive="base">
                                            <p:cTn id="14" dur="500" fill="hold"/>
                                            <p:tgtEl>
                                              <p:spTgt spid="28"/>
                                            </p:tgtEl>
                                            <p:attrNameLst>
                                              <p:attrName>ppt_x</p:attrName>
                                            </p:attrNameLst>
                                          </p:cBhvr>
                                          <p:tavLst>
                                            <p:tav tm="0">
                                              <p:val>
                                                <p:strVal val="#ppt_x"/>
                                              </p:val>
                                            </p:tav>
                                            <p:tav tm="100000">
                                              <p:val>
                                                <p:strVal val="#ppt_x"/>
                                              </p:val>
                                            </p:tav>
                                          </p:tavLst>
                                        </p:anim>
                                        <p:anim calcmode="lin" valueType="num">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accel="22000" fill="hold" nodeType="withEffect">
                                      <p:stCondLst>
                                        <p:cond delay="260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500" fill="hold"/>
                                            <p:tgtEl>
                                              <p:spTgt spid="38"/>
                                            </p:tgtEl>
                                            <p:attrNameLst>
                                              <p:attrName>ppt_x</p:attrName>
                                            </p:attrNameLst>
                                          </p:cBhvr>
                                          <p:tavLst>
                                            <p:tav tm="0">
                                              <p:val>
                                                <p:strVal val="#ppt_x"/>
                                              </p:val>
                                            </p:tav>
                                            <p:tav tm="100000">
                                              <p:val>
                                                <p:strVal val="#ppt_x"/>
                                              </p:val>
                                            </p:tav>
                                          </p:tavLst>
                                        </p:anim>
                                        <p:anim calcmode="lin" valueType="num">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accel="22000" fill="hold" nodeType="withEffect">
                                      <p:stCondLst>
                                        <p:cond delay="2800"/>
                                      </p:stCondLst>
                                      <p:childTnLst>
                                        <p:set>
                                          <p:cBhvr>
                                            <p:cTn id="21" dur="1" fill="hold">
                                              <p:stCondLst>
                                                <p:cond delay="0"/>
                                              </p:stCondLst>
                                            </p:cTn>
                                            <p:tgtEl>
                                              <p:spTgt spid="46"/>
                                            </p:tgtEl>
                                            <p:attrNameLst>
                                              <p:attrName>style.visibility</p:attrName>
                                            </p:attrNameLst>
                                          </p:cBhvr>
                                          <p:to>
                                            <p:strVal val="visible"/>
                                          </p:to>
                                        </p:set>
                                        <p:anim calcmode="lin" valueType="num">
                                          <p:cBhvr additive="base">
                                            <p:cTn id="22" dur="500" fill="hold"/>
                                            <p:tgtEl>
                                              <p:spTgt spid="46"/>
                                            </p:tgtEl>
                                            <p:attrNameLst>
                                              <p:attrName>ppt_x</p:attrName>
                                            </p:attrNameLst>
                                          </p:cBhvr>
                                          <p:tavLst>
                                            <p:tav tm="0">
                                              <p:val>
                                                <p:strVal val="#ppt_x"/>
                                              </p:val>
                                            </p:tav>
                                            <p:tav tm="100000">
                                              <p:val>
                                                <p:strVal val="#ppt_x"/>
                                              </p:val>
                                            </p:tav>
                                          </p:tavLst>
                                        </p:anim>
                                        <p:anim calcmode="lin" valueType="num">
                                          <p:cBhvr additive="base">
                                            <p:cTn id="23" dur="500" fill="hold"/>
                                            <p:tgtEl>
                                              <p:spTgt spid="46"/>
                                            </p:tgtEl>
                                            <p:attrNameLst>
                                              <p:attrName>ppt_y</p:attrName>
                                            </p:attrNameLst>
                                          </p:cBhvr>
                                          <p:tavLst>
                                            <p:tav tm="0">
                                              <p:val>
                                                <p:strVal val="1+#ppt_h/2"/>
                                              </p:val>
                                            </p:tav>
                                            <p:tav tm="100000">
                                              <p:val>
                                                <p:strVal val="#ppt_y"/>
                                              </p:val>
                                            </p:tav>
                                          </p:tavLst>
                                        </p:anim>
                                      </p:childTnLst>
                                    </p:cTn>
                                  </p:par>
                                  <p:par>
                                    <p:cTn id="24" presetID="2" presetClass="entr" presetSubtype="4" accel="22000" fill="hold" nodeType="withEffect">
                                      <p:stCondLst>
                                        <p:cond delay="3000"/>
                                      </p:stCondLst>
                                      <p:childTnLst>
                                        <p:set>
                                          <p:cBhvr>
                                            <p:cTn id="25" dur="1" fill="hold">
                                              <p:stCondLst>
                                                <p:cond delay="0"/>
                                              </p:stCondLst>
                                            </p:cTn>
                                            <p:tgtEl>
                                              <p:spTgt spid="51"/>
                                            </p:tgtEl>
                                            <p:attrNameLst>
                                              <p:attrName>style.visibility</p:attrName>
                                            </p:attrNameLst>
                                          </p:cBhvr>
                                          <p:to>
                                            <p:strVal val="visible"/>
                                          </p:to>
                                        </p:set>
                                        <p:anim calcmode="lin" valueType="num">
                                          <p:cBhvr additive="base">
                                            <p:cTn id="26" dur="500" fill="hold"/>
                                            <p:tgtEl>
                                              <p:spTgt spid="51"/>
                                            </p:tgtEl>
                                            <p:attrNameLst>
                                              <p:attrName>ppt_x</p:attrName>
                                            </p:attrNameLst>
                                          </p:cBhvr>
                                          <p:tavLst>
                                            <p:tav tm="0">
                                              <p:val>
                                                <p:strVal val="#ppt_x"/>
                                              </p:val>
                                            </p:tav>
                                            <p:tav tm="100000">
                                              <p:val>
                                                <p:strVal val="#ppt_x"/>
                                              </p:val>
                                            </p:tav>
                                          </p:tavLst>
                                        </p:anim>
                                        <p:anim calcmode="lin" valueType="num">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281793" y="238579"/>
            <a:ext cx="9553575" cy="512536"/>
          </a:xfrm>
        </p:spPr>
        <p:txBody>
          <a:bodyPr>
            <a:noAutofit/>
          </a:bodyPr>
          <a:lstStyle>
            <a:lvl1pPr>
              <a:defRPr sz="4000" b="0">
                <a:solidFill>
                  <a:schemeClr val="accent1"/>
                </a:solidFill>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838200" y="1147082"/>
            <a:ext cx="10515600" cy="5233307"/>
          </a:xfrm>
        </p:spPr>
        <p:txBody>
          <a:bodyPr/>
          <a:lstStyle>
            <a:lvl1pPr>
              <a:lnSpc>
                <a:spcPct val="100000"/>
              </a:lnSpc>
              <a:spcBef>
                <a:spcPts val="600"/>
              </a:spcBef>
              <a:spcAft>
                <a:spcPts val="600"/>
              </a:spcAft>
              <a:defRPr/>
            </a:lvl1pPr>
            <a:lvl2pPr>
              <a:lnSpc>
                <a:spcPct val="100000"/>
              </a:lnSpc>
              <a:spcBef>
                <a:spcPts val="600"/>
              </a:spcBef>
              <a:spcAft>
                <a:spcPts val="600"/>
              </a:spcAft>
              <a:defRPr/>
            </a:lvl2pPr>
            <a:lvl3pPr>
              <a:lnSpc>
                <a:spcPct val="100000"/>
              </a:lnSpc>
              <a:spcBef>
                <a:spcPts val="600"/>
              </a:spcBef>
              <a:spcAft>
                <a:spcPts val="600"/>
              </a:spcAft>
              <a:defRPr/>
            </a:lvl3pPr>
            <a:lvl4pPr>
              <a:lnSpc>
                <a:spcPct val="100000"/>
              </a:lnSpc>
              <a:spcBef>
                <a:spcPts val="600"/>
              </a:spcBef>
              <a:spcAft>
                <a:spcPts val="600"/>
              </a:spcAft>
              <a:defRPr/>
            </a:lvl4pPr>
            <a:lvl5pPr>
              <a:lnSpc>
                <a:spcPct val="100000"/>
              </a:lnSpc>
              <a:spcBef>
                <a:spcPts val="600"/>
              </a:spcBef>
              <a:spcAft>
                <a:spcPts val="60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p>
            <a:fld id="{C764DE79-268F-4C1A-8933-263129D2AF90}" type="datetimeFigureOut">
              <a:rPr lang="en-US" smtClean="0"/>
              <a:t>11/14/2023</a:t>
            </a:fld>
            <a:endParaRPr lang="en-US" dirty="0"/>
          </a:p>
        </p:txBody>
      </p:sp>
      <p:sp>
        <p:nvSpPr>
          <p:cNvPr id="5" name="页脚占位符 4"/>
          <p:cNvSpPr>
            <a:spLocks noGrp="1"/>
          </p:cNvSpPr>
          <p:nvPr>
            <p:ph type="ftr" sz="quarter" idx="11"/>
          </p:nvPr>
        </p:nvSpPr>
        <p:spPr/>
        <p:txBody>
          <a:bodyPr/>
          <a:lstStyle/>
          <a:p>
            <a:endParaRPr lang="en-US" dirty="0"/>
          </a:p>
        </p:txBody>
      </p:sp>
      <p:grpSp>
        <p:nvGrpSpPr>
          <p:cNvPr id="7" name="组合 6">
            <a:extLst>
              <a:ext uri="{FF2B5EF4-FFF2-40B4-BE49-F238E27FC236}">
                <a16:creationId xmlns:a16="http://schemas.microsoft.com/office/drawing/2014/main" id="{B492DC46-649C-4371-BE00-7E12AB77B934}"/>
              </a:ext>
            </a:extLst>
          </p:cNvPr>
          <p:cNvGrpSpPr/>
          <p:nvPr/>
        </p:nvGrpSpPr>
        <p:grpSpPr>
          <a:xfrm>
            <a:off x="0" y="237055"/>
            <a:ext cx="1200150" cy="488496"/>
            <a:chOff x="0" y="254454"/>
            <a:chExt cx="1795510" cy="732518"/>
          </a:xfrm>
        </p:grpSpPr>
        <p:sp>
          <p:nvSpPr>
            <p:cNvPr id="8" name="矩形 1">
              <a:extLst>
                <a:ext uri="{FF2B5EF4-FFF2-40B4-BE49-F238E27FC236}">
                  <a16:creationId xmlns:a16="http://schemas.microsoft.com/office/drawing/2014/main" id="{84087D0E-5E69-4C4D-BBAF-B8A66AD85339}"/>
                </a:ext>
              </a:extLst>
            </p:cNvPr>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 name="任意多边形 4">
              <a:extLst>
                <a:ext uri="{FF2B5EF4-FFF2-40B4-BE49-F238E27FC236}">
                  <a16:creationId xmlns:a16="http://schemas.microsoft.com/office/drawing/2014/main" id="{1E4C8D98-A40C-4A48-9EA3-A4B8C1C723EF}"/>
                </a:ext>
              </a:extLst>
            </p:cNvPr>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10" name="组合 9">
            <a:extLst>
              <a:ext uri="{FF2B5EF4-FFF2-40B4-BE49-F238E27FC236}">
                <a16:creationId xmlns:a16="http://schemas.microsoft.com/office/drawing/2014/main" id="{202F2469-59F2-4336-87AE-7A3ADA9B58E5}"/>
              </a:ext>
            </a:extLst>
          </p:cNvPr>
          <p:cNvGrpSpPr/>
          <p:nvPr/>
        </p:nvGrpSpPr>
        <p:grpSpPr>
          <a:xfrm>
            <a:off x="0" y="6575725"/>
            <a:ext cx="12195693" cy="282275"/>
            <a:chOff x="-3693" y="6575725"/>
            <a:chExt cx="12195693" cy="282275"/>
          </a:xfrm>
        </p:grpSpPr>
        <p:sp>
          <p:nvSpPr>
            <p:cNvPr id="11" name="矩形 19">
              <a:extLst>
                <a:ext uri="{FF2B5EF4-FFF2-40B4-BE49-F238E27FC236}">
                  <a16:creationId xmlns:a16="http://schemas.microsoft.com/office/drawing/2014/main" id="{13251B82-8654-4AE7-8DCF-E8C422C7F5B9}"/>
                </a:ext>
              </a:extLst>
            </p:cNvPr>
            <p:cNvSpPr/>
            <p:nvPr/>
          </p:nvSpPr>
          <p:spPr>
            <a:xfrm>
              <a:off x="-3693" y="6575725"/>
              <a:ext cx="9213008"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2" name="文本框 11">
              <a:extLst>
                <a:ext uri="{FF2B5EF4-FFF2-40B4-BE49-F238E27FC236}">
                  <a16:creationId xmlns:a16="http://schemas.microsoft.com/office/drawing/2014/main" id="{DF7438A7-23DE-46F1-82DA-7D1E2B69C890}"/>
                </a:ext>
              </a:extLst>
            </p:cNvPr>
            <p:cNvSpPr txBox="1"/>
            <p:nvPr/>
          </p:nvSpPr>
          <p:spPr>
            <a:xfrm>
              <a:off x="9095014" y="6575725"/>
              <a:ext cx="2496912"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河南大学计算机与信息工程学院</a:t>
              </a:r>
            </a:p>
          </p:txBody>
        </p:sp>
        <p:sp>
          <p:nvSpPr>
            <p:cNvPr id="13" name="矩形 21">
              <a:extLst>
                <a:ext uri="{FF2B5EF4-FFF2-40B4-BE49-F238E27FC236}">
                  <a16:creationId xmlns:a16="http://schemas.microsoft.com/office/drawing/2014/main" id="{F591C9DB-985F-4F14-A901-B51657D6E773}"/>
                </a:ext>
              </a:extLst>
            </p:cNvPr>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6" name="灯片编号占位符 5"/>
          <p:cNvSpPr>
            <a:spLocks noGrp="1"/>
          </p:cNvSpPr>
          <p:nvPr>
            <p:ph type="sldNum" sz="quarter" idx="12"/>
          </p:nvPr>
        </p:nvSpPr>
        <p:spPr>
          <a:xfrm>
            <a:off x="10919732" y="6584496"/>
            <a:ext cx="1272268" cy="273504"/>
          </a:xfrm>
        </p:spPr>
        <p:txBody>
          <a:bodyPr/>
          <a:lstStyle>
            <a:lvl1pPr>
              <a:defRPr>
                <a:solidFill>
                  <a:schemeClr val="bg1"/>
                </a:solidFill>
              </a:defRPr>
            </a:lvl1pPr>
          </a:lstStyle>
          <a:p>
            <a:fld id="{47C9E101-E51D-431E-84FA-C029B8655B60}" type="slidenum">
              <a:rPr lang="zh-CN" altLang="en-US" smtClean="0"/>
              <a:pPr/>
              <a:t>‹#›</a:t>
            </a:fld>
            <a:endParaRPr lang="zh-CN" altLang="en-US" dirty="0"/>
          </a:p>
        </p:txBody>
      </p:sp>
    </p:spTree>
    <p:extLst>
      <p:ext uri="{BB962C8B-B14F-4D97-AF65-F5344CB8AC3E}">
        <p14:creationId xmlns:p14="http://schemas.microsoft.com/office/powerpoint/2010/main" val="2376567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C764DE79-268F-4C1A-8933-263129D2AF90}" type="datetimeFigureOut">
              <a:rPr lang="en-US" smtClean="0"/>
              <a:t>11/14/2023</a:t>
            </a:fld>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145281828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53A3343A-59AE-4A2F-B3CD-6A009219BBEB}"/>
              </a:ext>
            </a:extLst>
          </p:cNvPr>
          <p:cNvGrpSpPr/>
          <p:nvPr/>
        </p:nvGrpSpPr>
        <p:grpSpPr>
          <a:xfrm>
            <a:off x="0" y="6575725"/>
            <a:ext cx="12195693" cy="282275"/>
            <a:chOff x="-3693" y="6575725"/>
            <a:chExt cx="12195693" cy="282275"/>
          </a:xfrm>
        </p:grpSpPr>
        <p:sp>
          <p:nvSpPr>
            <p:cNvPr id="12" name="矩形 19">
              <a:extLst>
                <a:ext uri="{FF2B5EF4-FFF2-40B4-BE49-F238E27FC236}">
                  <a16:creationId xmlns:a16="http://schemas.microsoft.com/office/drawing/2014/main" id="{77E6E2F6-076F-44AF-A427-D4E574D9DAD9}"/>
                </a:ext>
              </a:extLst>
            </p:cNvPr>
            <p:cNvSpPr/>
            <p:nvPr/>
          </p:nvSpPr>
          <p:spPr>
            <a:xfrm>
              <a:off x="-3693" y="6575725"/>
              <a:ext cx="9213008"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 name="文本框 12">
              <a:extLst>
                <a:ext uri="{FF2B5EF4-FFF2-40B4-BE49-F238E27FC236}">
                  <a16:creationId xmlns:a16="http://schemas.microsoft.com/office/drawing/2014/main" id="{18A8A0EF-563C-449D-A72A-E94BE5F23A1B}"/>
                </a:ext>
              </a:extLst>
            </p:cNvPr>
            <p:cNvSpPr txBox="1"/>
            <p:nvPr/>
          </p:nvSpPr>
          <p:spPr>
            <a:xfrm>
              <a:off x="9095014" y="6575725"/>
              <a:ext cx="2496912"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河南大学计算机与信息工程学院</a:t>
              </a:r>
            </a:p>
          </p:txBody>
        </p:sp>
        <p:sp>
          <p:nvSpPr>
            <p:cNvPr id="14" name="矩形 21">
              <a:extLst>
                <a:ext uri="{FF2B5EF4-FFF2-40B4-BE49-F238E27FC236}">
                  <a16:creationId xmlns:a16="http://schemas.microsoft.com/office/drawing/2014/main" id="{2B584D5A-E13D-4D49-BE6D-6370F8729161}"/>
                </a:ext>
              </a:extLst>
            </p:cNvPr>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3" name="内容占位符 2"/>
          <p:cNvSpPr>
            <a:spLocks noGrp="1"/>
          </p:cNvSpPr>
          <p:nvPr>
            <p:ph sz="half" idx="1"/>
          </p:nvPr>
        </p:nvSpPr>
        <p:spPr>
          <a:xfrm>
            <a:off x="838200" y="1204232"/>
            <a:ext cx="5181600" cy="5139418"/>
          </a:xfrm>
        </p:spPr>
        <p:txBody>
          <a:bodyPr/>
          <a:lstStyle>
            <a:lvl1pPr>
              <a:lnSpc>
                <a:spcPct val="100000"/>
              </a:lnSpc>
              <a:spcBef>
                <a:spcPts val="600"/>
              </a:spcBef>
              <a:spcAft>
                <a:spcPts val="600"/>
              </a:spcAft>
              <a:defRPr/>
            </a:lvl1pPr>
            <a:lvl2pPr>
              <a:lnSpc>
                <a:spcPct val="100000"/>
              </a:lnSpc>
              <a:spcBef>
                <a:spcPts val="600"/>
              </a:spcBef>
              <a:spcAft>
                <a:spcPts val="600"/>
              </a:spcAft>
              <a:defRPr/>
            </a:lvl2pPr>
            <a:lvl3pPr>
              <a:lnSpc>
                <a:spcPct val="100000"/>
              </a:lnSpc>
              <a:spcBef>
                <a:spcPts val="600"/>
              </a:spcBef>
              <a:spcAft>
                <a:spcPts val="600"/>
              </a:spcAft>
              <a:defRPr/>
            </a:lvl3pPr>
            <a:lvl4pPr>
              <a:lnSpc>
                <a:spcPct val="100000"/>
              </a:lnSpc>
              <a:spcBef>
                <a:spcPts val="600"/>
              </a:spcBef>
              <a:spcAft>
                <a:spcPts val="600"/>
              </a:spcAft>
              <a:defRPr/>
            </a:lvl4pPr>
            <a:lvl5pPr>
              <a:lnSpc>
                <a:spcPct val="100000"/>
              </a:lnSpc>
              <a:spcBef>
                <a:spcPts val="600"/>
              </a:spcBef>
              <a:spcAft>
                <a:spcPts val="60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72200" y="1208314"/>
            <a:ext cx="5181600" cy="5139418"/>
          </a:xfrm>
        </p:spPr>
        <p:txBody>
          <a:bodyPr/>
          <a:lstStyle>
            <a:lvl1pPr>
              <a:lnSpc>
                <a:spcPct val="100000"/>
              </a:lnSpc>
              <a:spcBef>
                <a:spcPts val="600"/>
              </a:spcBef>
              <a:spcAft>
                <a:spcPts val="600"/>
              </a:spcAft>
              <a:defRPr/>
            </a:lvl1pPr>
            <a:lvl2pPr>
              <a:lnSpc>
                <a:spcPct val="100000"/>
              </a:lnSpc>
              <a:spcBef>
                <a:spcPts val="600"/>
              </a:spcBef>
              <a:spcAft>
                <a:spcPts val="600"/>
              </a:spcAft>
              <a:defRPr/>
            </a:lvl2pPr>
            <a:lvl3pPr>
              <a:lnSpc>
                <a:spcPct val="100000"/>
              </a:lnSpc>
              <a:spcBef>
                <a:spcPts val="600"/>
              </a:spcBef>
              <a:spcAft>
                <a:spcPts val="600"/>
              </a:spcAft>
              <a:defRPr/>
            </a:lvl3pPr>
            <a:lvl4pPr>
              <a:lnSpc>
                <a:spcPct val="100000"/>
              </a:lnSpc>
              <a:spcBef>
                <a:spcPts val="600"/>
              </a:spcBef>
              <a:spcAft>
                <a:spcPts val="600"/>
              </a:spcAft>
              <a:defRPr/>
            </a:lvl4pPr>
            <a:lvl5pPr>
              <a:lnSpc>
                <a:spcPct val="100000"/>
              </a:lnSpc>
              <a:spcBef>
                <a:spcPts val="600"/>
              </a:spcBef>
              <a:spcAft>
                <a:spcPts val="60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p>
            <a:fld id="{C764DE79-268F-4C1A-8933-263129D2AF90}" type="datetimeFigureOut">
              <a:rPr lang="en-US" smtClean="0"/>
              <a:t>11/14/2023</a:t>
            </a:fld>
            <a:endParaRPr lang="en-US" dirty="0"/>
          </a:p>
        </p:txBody>
      </p:sp>
      <p:sp>
        <p:nvSpPr>
          <p:cNvPr id="6" name="页脚占位符 5"/>
          <p:cNvSpPr>
            <a:spLocks noGrp="1"/>
          </p:cNvSpPr>
          <p:nvPr>
            <p:ph type="ftr" sz="quarter" idx="11"/>
          </p:nvPr>
        </p:nvSpPr>
        <p:spPr/>
        <p:txBody>
          <a:bodyPr/>
          <a:lstStyle/>
          <a:p>
            <a:endParaRPr lang="en-US" dirty="0"/>
          </a:p>
        </p:txBody>
      </p:sp>
      <p:sp>
        <p:nvSpPr>
          <p:cNvPr id="7" name="灯片编号占位符 6"/>
          <p:cNvSpPr>
            <a:spLocks noGrp="1"/>
          </p:cNvSpPr>
          <p:nvPr>
            <p:ph type="sldNum" sz="quarter" idx="12"/>
          </p:nvPr>
        </p:nvSpPr>
        <p:spPr>
          <a:xfrm>
            <a:off x="9488261" y="6544129"/>
            <a:ext cx="2668360" cy="365125"/>
          </a:xfrm>
        </p:spPr>
        <p:txBody>
          <a:bodyPr/>
          <a:lstStyle>
            <a:lvl1pPr>
              <a:defRPr>
                <a:solidFill>
                  <a:schemeClr val="bg1"/>
                </a:solidFill>
              </a:defRPr>
            </a:lvl1pPr>
          </a:lstStyle>
          <a:p>
            <a:fld id="{47C9E101-E51D-431E-84FA-C029B8655B60}" type="slidenum">
              <a:rPr lang="zh-CN" altLang="en-US" smtClean="0"/>
              <a:t>‹#›</a:t>
            </a:fld>
            <a:endParaRPr lang="zh-CN" altLang="en-US"/>
          </a:p>
        </p:txBody>
      </p:sp>
      <p:grpSp>
        <p:nvGrpSpPr>
          <p:cNvPr id="8" name="组合 7">
            <a:extLst>
              <a:ext uri="{FF2B5EF4-FFF2-40B4-BE49-F238E27FC236}">
                <a16:creationId xmlns:a16="http://schemas.microsoft.com/office/drawing/2014/main" id="{103E3B63-30D6-436B-84E4-2E5D5DE5788C}"/>
              </a:ext>
            </a:extLst>
          </p:cNvPr>
          <p:cNvGrpSpPr/>
          <p:nvPr/>
        </p:nvGrpSpPr>
        <p:grpSpPr>
          <a:xfrm>
            <a:off x="0" y="237055"/>
            <a:ext cx="1200150" cy="488496"/>
            <a:chOff x="0" y="254454"/>
            <a:chExt cx="1795510" cy="732518"/>
          </a:xfrm>
        </p:grpSpPr>
        <p:sp>
          <p:nvSpPr>
            <p:cNvPr id="9" name="矩形 1">
              <a:extLst>
                <a:ext uri="{FF2B5EF4-FFF2-40B4-BE49-F238E27FC236}">
                  <a16:creationId xmlns:a16="http://schemas.microsoft.com/office/drawing/2014/main" id="{BECDD563-4923-4C59-92AB-A46BE222C13D}"/>
                </a:ext>
              </a:extLst>
            </p:cNvPr>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任意多边形 4">
              <a:extLst>
                <a:ext uri="{FF2B5EF4-FFF2-40B4-BE49-F238E27FC236}">
                  <a16:creationId xmlns:a16="http://schemas.microsoft.com/office/drawing/2014/main" id="{CBA445E0-EF1F-4322-B5E9-96A323AF683A}"/>
                </a:ext>
              </a:extLst>
            </p:cNvPr>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6" name="标题 1">
            <a:extLst>
              <a:ext uri="{FF2B5EF4-FFF2-40B4-BE49-F238E27FC236}">
                <a16:creationId xmlns:a16="http://schemas.microsoft.com/office/drawing/2014/main" id="{228A6188-E823-42CA-A942-9C975B55B7F1}"/>
              </a:ext>
            </a:extLst>
          </p:cNvPr>
          <p:cNvSpPr>
            <a:spLocks noGrp="1"/>
          </p:cNvSpPr>
          <p:nvPr>
            <p:ph type="title"/>
          </p:nvPr>
        </p:nvSpPr>
        <p:spPr>
          <a:xfrm>
            <a:off x="1281793" y="238579"/>
            <a:ext cx="9553575" cy="512536"/>
          </a:xfrm>
        </p:spPr>
        <p:txBody>
          <a:bodyPr>
            <a:noAutofit/>
          </a:bodyPr>
          <a:lstStyle>
            <a:lvl1pPr>
              <a:defRPr sz="4000" b="0">
                <a:solidFill>
                  <a:schemeClr val="accent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866614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764DE79-268F-4C1A-8933-263129D2AF90}" type="datetimeFigureOut">
              <a:rPr lang="en-US" smtClean="0"/>
              <a:t>11/14/2023</a:t>
            </a:fld>
            <a:endParaRPr lang="en-US" dirty="0"/>
          </a:p>
        </p:txBody>
      </p:sp>
      <p:sp>
        <p:nvSpPr>
          <p:cNvPr id="8" name="页脚占位符 7"/>
          <p:cNvSpPr>
            <a:spLocks noGrp="1"/>
          </p:cNvSpPr>
          <p:nvPr>
            <p:ph type="ftr" sz="quarter" idx="11"/>
          </p:nvPr>
        </p:nvSpPr>
        <p:spPr/>
        <p:txBody>
          <a:bodyPr/>
          <a:lstStyle/>
          <a:p>
            <a:endParaRPr lang="en-US" dirty="0"/>
          </a:p>
        </p:txBody>
      </p:sp>
      <p:sp>
        <p:nvSpPr>
          <p:cNvPr id="9" name="灯片编号占位符 8"/>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3452822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764DE79-268F-4C1A-8933-263129D2AF90}" type="datetimeFigureOut">
              <a:rPr lang="en-US" smtClean="0"/>
              <a:t>11/14/2023</a:t>
            </a:fld>
            <a:endParaRPr lang="en-US" dirty="0"/>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94670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764DE79-268F-4C1A-8933-263129D2AF90}" type="datetimeFigureOut">
              <a:rPr lang="en-US" smtClean="0"/>
              <a:t>11/14/2023</a:t>
            </a:fld>
            <a:endParaRPr lang="en-US" dirty="0"/>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913349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764DE79-268F-4C1A-8933-263129D2AF90}" type="datetimeFigureOut">
              <a:rPr lang="en-US" smtClean="0"/>
              <a:t>11/14/2023</a:t>
            </a:fld>
            <a:endParaRPr lang="en-US" dirty="0"/>
          </a:p>
        </p:txBody>
      </p:sp>
      <p:sp>
        <p:nvSpPr>
          <p:cNvPr id="6" name="页脚占位符 5"/>
          <p:cNvSpPr>
            <a:spLocks noGrp="1"/>
          </p:cNvSpPr>
          <p:nvPr>
            <p:ph type="ftr" sz="quarter" idx="11"/>
          </p:nvPr>
        </p:nvSpPr>
        <p:spPr/>
        <p:txBody>
          <a:bodyPr/>
          <a:lstStyle/>
          <a:p>
            <a:endParaRPr lang="en-US" dirty="0"/>
          </a:p>
        </p:txBody>
      </p:sp>
      <p:sp>
        <p:nvSpPr>
          <p:cNvPr id="7" name="灯片编号占位符 6"/>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422918126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764DE79-268F-4C1A-8933-263129D2AF90}" type="datetimeFigureOut">
              <a:rPr lang="en-US" smtClean="0"/>
              <a:t>11/14/2023</a:t>
            </a:fld>
            <a:endParaRPr lang="en-US" dirty="0"/>
          </a:p>
        </p:txBody>
      </p:sp>
      <p:sp>
        <p:nvSpPr>
          <p:cNvPr id="6" name="页脚占位符 5"/>
          <p:cNvSpPr>
            <a:spLocks noGrp="1"/>
          </p:cNvSpPr>
          <p:nvPr>
            <p:ph type="ftr" sz="quarter" idx="11"/>
          </p:nvPr>
        </p:nvSpPr>
        <p:spPr/>
        <p:txBody>
          <a:bodyPr/>
          <a:lstStyle/>
          <a:p>
            <a:endParaRPr lang="en-US" dirty="0"/>
          </a:p>
        </p:txBody>
      </p:sp>
      <p:sp>
        <p:nvSpPr>
          <p:cNvPr id="7" name="灯片编号占位符 6"/>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220235490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764DE79-268F-4C1A-8933-263129D2AF90}" type="datetimeFigureOut">
              <a:rPr lang="en-US" smtClean="0"/>
              <a:t>11/14/2023</a:t>
            </a:fld>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300662360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764DE79-268F-4C1A-8933-263129D2AF90}" type="datetimeFigureOut">
              <a:rPr lang="en-US" smtClean="0"/>
              <a:t>11/14/2023</a:t>
            </a:fld>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62406480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11/14/2023</a:t>
            </a:fld>
            <a:endParaRPr 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186716473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blog.csdn.net/v_JULY_v/article/details/6530142"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slideLayout" Target="../slideLayouts/slideLayout7.xml"/><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tags" Target="../tags/tag21.xml"/><Relationship Id="rId2" Type="http://schemas.openxmlformats.org/officeDocument/2006/relationships/tags" Target="../tags/tag6.xml"/><Relationship Id="rId16" Type="http://schemas.openxmlformats.org/officeDocument/2006/relationships/tags" Target="../tags/tag20.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5" Type="http://schemas.openxmlformats.org/officeDocument/2006/relationships/tags" Target="../tags/tag19.xml"/><Relationship Id="rId10" Type="http://schemas.openxmlformats.org/officeDocument/2006/relationships/tags" Target="../tags/tag14.xml"/><Relationship Id="rId19" Type="http://schemas.openxmlformats.org/officeDocument/2006/relationships/image" Target="../media/image6.tmp"/><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s>
</file>

<file path=ppt/slides/_rels/slide56.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tags" Target="../tags/tag34.xml"/><Relationship Id="rId18" Type="http://schemas.openxmlformats.org/officeDocument/2006/relationships/slideLayout" Target="../slideLayouts/slideLayout7.xml"/><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tags" Target="../tags/tag38.xml"/><Relationship Id="rId2" Type="http://schemas.openxmlformats.org/officeDocument/2006/relationships/tags" Target="../tags/tag23.xml"/><Relationship Id="rId16" Type="http://schemas.openxmlformats.org/officeDocument/2006/relationships/tags" Target="../tags/tag37.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5" Type="http://schemas.openxmlformats.org/officeDocument/2006/relationships/tags" Target="../tags/tag26.xml"/><Relationship Id="rId15" Type="http://schemas.openxmlformats.org/officeDocument/2006/relationships/tags" Target="../tags/tag36.xml"/><Relationship Id="rId10" Type="http://schemas.openxmlformats.org/officeDocument/2006/relationships/tags" Target="../tags/tag31.xml"/><Relationship Id="rId19" Type="http://schemas.openxmlformats.org/officeDocument/2006/relationships/image" Target="../media/image6.tmp"/><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s>
</file>

<file path=ppt/slides/_rels/slide57.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tags" Target="../tags/tag51.xml"/><Relationship Id="rId18" Type="http://schemas.openxmlformats.org/officeDocument/2006/relationships/slideLayout" Target="../slideLayouts/slideLayout7.xml"/><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tags" Target="../tags/tag50.xml"/><Relationship Id="rId17" Type="http://schemas.openxmlformats.org/officeDocument/2006/relationships/tags" Target="../tags/tag55.xml"/><Relationship Id="rId2" Type="http://schemas.openxmlformats.org/officeDocument/2006/relationships/tags" Target="../tags/tag40.xml"/><Relationship Id="rId16" Type="http://schemas.openxmlformats.org/officeDocument/2006/relationships/tags" Target="../tags/tag54.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5" Type="http://schemas.openxmlformats.org/officeDocument/2006/relationships/tags" Target="../tags/tag43.xml"/><Relationship Id="rId15" Type="http://schemas.openxmlformats.org/officeDocument/2006/relationships/tags" Target="../tags/tag53.xml"/><Relationship Id="rId10" Type="http://schemas.openxmlformats.org/officeDocument/2006/relationships/tags" Target="../tags/tag48.xml"/><Relationship Id="rId19" Type="http://schemas.openxmlformats.org/officeDocument/2006/relationships/image" Target="../media/image6.tmp"/><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tags" Target="../tags/tag52.xml"/></Relationships>
</file>

<file path=ppt/slides/_rels/slide58.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tags" Target="../tags/tag68.xml"/><Relationship Id="rId18" Type="http://schemas.openxmlformats.org/officeDocument/2006/relationships/slideLayout" Target="../slideLayouts/slideLayout7.xm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tags" Target="../tags/tag67.xml"/><Relationship Id="rId17" Type="http://schemas.openxmlformats.org/officeDocument/2006/relationships/tags" Target="../tags/tag72.xml"/><Relationship Id="rId2" Type="http://schemas.openxmlformats.org/officeDocument/2006/relationships/tags" Target="../tags/tag57.xml"/><Relationship Id="rId16" Type="http://schemas.openxmlformats.org/officeDocument/2006/relationships/tags" Target="../tags/tag71.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5" Type="http://schemas.openxmlformats.org/officeDocument/2006/relationships/tags" Target="../tags/tag60.xml"/><Relationship Id="rId15" Type="http://schemas.openxmlformats.org/officeDocument/2006/relationships/tags" Target="../tags/tag70.xml"/><Relationship Id="rId10" Type="http://schemas.openxmlformats.org/officeDocument/2006/relationships/tags" Target="../tags/tag65.xml"/><Relationship Id="rId19" Type="http://schemas.openxmlformats.org/officeDocument/2006/relationships/image" Target="../media/image6.tmp"/><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tags" Target="../tags/tag69.xml"/></Relationships>
</file>

<file path=ppt/slides/_rels/slide59.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18" Type="http://schemas.openxmlformats.org/officeDocument/2006/relationships/slideLayout" Target="../slideLayouts/slideLayout7.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tags" Target="../tags/tag89.xml"/><Relationship Id="rId2" Type="http://schemas.openxmlformats.org/officeDocument/2006/relationships/tags" Target="../tags/tag74.xml"/><Relationship Id="rId16" Type="http://schemas.openxmlformats.org/officeDocument/2006/relationships/tags" Target="../tags/tag88.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5" Type="http://schemas.openxmlformats.org/officeDocument/2006/relationships/tags" Target="../tags/tag77.xml"/><Relationship Id="rId15" Type="http://schemas.openxmlformats.org/officeDocument/2006/relationships/tags" Target="../tags/tag87.xml"/><Relationship Id="rId10" Type="http://schemas.openxmlformats.org/officeDocument/2006/relationships/tags" Target="../tags/tag82.xml"/><Relationship Id="rId19" Type="http://schemas.openxmlformats.org/officeDocument/2006/relationships/image" Target="../media/image6.tmp"/><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tags" Target="../tags/tag8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30E38DE8-68FA-44A1-9EDB-75180A31F719}"/>
              </a:ext>
            </a:extLst>
          </p:cNvPr>
          <p:cNvSpPr>
            <a:spLocks noGrp="1"/>
          </p:cNvSpPr>
          <p:nvPr>
            <p:ph type="subTitle" idx="1"/>
          </p:nvPr>
        </p:nvSpPr>
        <p:spPr/>
        <p:txBody>
          <a:bodyPr/>
          <a:lstStyle/>
          <a:p>
            <a:r>
              <a:rPr lang="zh-CN" altLang="en-US" dirty="0"/>
              <a:t>苗 茹</a:t>
            </a:r>
            <a:endParaRPr lang="en-US" altLang="zh-CN" dirty="0"/>
          </a:p>
          <a:p>
            <a:r>
              <a:rPr lang="zh-CN" altLang="en-US" dirty="0"/>
              <a:t>河南大学计算机与信息工程学院</a:t>
            </a:r>
            <a:endParaRPr lang="en-US" altLang="zh-CN" dirty="0"/>
          </a:p>
        </p:txBody>
      </p:sp>
      <p:sp>
        <p:nvSpPr>
          <p:cNvPr id="2" name="标题 1">
            <a:extLst>
              <a:ext uri="{FF2B5EF4-FFF2-40B4-BE49-F238E27FC236}">
                <a16:creationId xmlns:a16="http://schemas.microsoft.com/office/drawing/2014/main" id="{9CA416F6-B179-48CB-9EED-8FA847D72773}"/>
              </a:ext>
            </a:extLst>
          </p:cNvPr>
          <p:cNvSpPr>
            <a:spLocks noGrp="1"/>
          </p:cNvSpPr>
          <p:nvPr>
            <p:ph type="ctrTitle"/>
          </p:nvPr>
        </p:nvSpPr>
        <p:spPr>
          <a:xfrm>
            <a:off x="1524001" y="1974273"/>
            <a:ext cx="9477375" cy="1409825"/>
          </a:xfrm>
        </p:spPr>
        <p:txBody>
          <a:bodyPr>
            <a:normAutofit fontScale="90000"/>
          </a:bodyPr>
          <a:lstStyle/>
          <a:p>
            <a:r>
              <a:rPr lang="zh-CN" altLang="en-US" dirty="0"/>
              <a:t/>
            </a:r>
            <a:br>
              <a:rPr lang="zh-CN" altLang="en-US" dirty="0"/>
            </a:br>
            <a:r>
              <a:rPr lang="zh-CN" altLang="en-US" dirty="0"/>
              <a:t>第五章  数据库完整性</a:t>
            </a:r>
          </a:p>
        </p:txBody>
      </p:sp>
      <p:sp>
        <p:nvSpPr>
          <p:cNvPr id="6" name="矩形 5">
            <a:extLst>
              <a:ext uri="{FF2B5EF4-FFF2-40B4-BE49-F238E27FC236}">
                <a16:creationId xmlns:a16="http://schemas.microsoft.com/office/drawing/2014/main" id="{30F51192-029F-4063-8470-2A8A0C65D650}"/>
              </a:ext>
            </a:extLst>
          </p:cNvPr>
          <p:cNvSpPr/>
          <p:nvPr/>
        </p:nvSpPr>
        <p:spPr>
          <a:xfrm>
            <a:off x="208551" y="894417"/>
            <a:ext cx="4801314" cy="646331"/>
          </a:xfrm>
          <a:prstGeom prst="rect">
            <a:avLst/>
          </a:prstGeom>
        </p:spPr>
        <p:txBody>
          <a:bodyPr wrap="none">
            <a:spAutoFit/>
          </a:bodyPr>
          <a:lstStyle/>
          <a:p>
            <a:r>
              <a:rPr lang="zh-CN" altLang="en-US" sz="3600" dirty="0"/>
              <a:t>数据库系统原理及应用</a:t>
            </a:r>
          </a:p>
        </p:txBody>
      </p:sp>
    </p:spTree>
    <p:extLst>
      <p:ext uri="{BB962C8B-B14F-4D97-AF65-F5344CB8AC3E}">
        <p14:creationId xmlns:p14="http://schemas.microsoft.com/office/powerpoint/2010/main" val="23273716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a:extLst>
              <a:ext uri="{FF2B5EF4-FFF2-40B4-BE49-F238E27FC236}">
                <a16:creationId xmlns:a16="http://schemas.microsoft.com/office/drawing/2014/main" id="{24CDD8C5-E777-4B35-9956-799986C8EF46}"/>
              </a:ext>
            </a:extLst>
          </p:cNvPr>
          <p:cNvSpPr>
            <a:spLocks noGrp="1" noChangeArrowheads="1"/>
          </p:cNvSpPr>
          <p:nvPr>
            <p:ph type="title"/>
          </p:nvPr>
        </p:nvSpPr>
        <p:spPr/>
        <p:txBody>
          <a:bodyPr/>
          <a:lstStyle/>
          <a:p>
            <a:r>
              <a:rPr lang="zh-CN" altLang="en-US"/>
              <a:t>第五章 数据库完整性</a:t>
            </a:r>
          </a:p>
        </p:txBody>
      </p:sp>
      <p:sp>
        <p:nvSpPr>
          <p:cNvPr id="424963" name="Rectangle 3">
            <a:extLst>
              <a:ext uri="{FF2B5EF4-FFF2-40B4-BE49-F238E27FC236}">
                <a16:creationId xmlns:a16="http://schemas.microsoft.com/office/drawing/2014/main" id="{0BA4B4F2-7F1E-4BD5-AB96-645307DFA741}"/>
              </a:ext>
            </a:extLst>
          </p:cNvPr>
          <p:cNvSpPr>
            <a:spLocks noGrp="1" noChangeArrowheads="1"/>
          </p:cNvSpPr>
          <p:nvPr>
            <p:ph idx="1"/>
          </p:nvPr>
        </p:nvSpPr>
        <p:spPr/>
        <p:txBody>
          <a:bodyPr/>
          <a:lstStyle/>
          <a:p>
            <a:r>
              <a:rPr lang="en-US" altLang="zh-CN"/>
              <a:t>5.1  </a:t>
            </a:r>
            <a:r>
              <a:rPr lang="zh-CN" altLang="en-US"/>
              <a:t>实体完整性</a:t>
            </a:r>
          </a:p>
          <a:p>
            <a:r>
              <a:rPr lang="en-US" altLang="zh-CN"/>
              <a:t>5.2  </a:t>
            </a:r>
            <a:r>
              <a:rPr lang="zh-CN" altLang="en-US"/>
              <a:t>参照完整性</a:t>
            </a:r>
          </a:p>
          <a:p>
            <a:r>
              <a:rPr lang="en-US" altLang="zh-CN"/>
              <a:t>5.3  </a:t>
            </a:r>
            <a:r>
              <a:rPr lang="zh-CN" altLang="en-US"/>
              <a:t>用户定义的完整性</a:t>
            </a:r>
          </a:p>
          <a:p>
            <a:r>
              <a:rPr lang="en-US" altLang="zh-CN"/>
              <a:t>5.4  </a:t>
            </a:r>
            <a:r>
              <a:rPr lang="zh-CN" altLang="en-US"/>
              <a:t>完整性约束命名字句</a:t>
            </a:r>
          </a:p>
          <a:p>
            <a:r>
              <a:rPr lang="en-US" altLang="zh-CN"/>
              <a:t>5.7  </a:t>
            </a:r>
            <a:r>
              <a:rPr lang="zh-CN" altLang="en-US"/>
              <a:t>触发器</a:t>
            </a:r>
          </a:p>
          <a:p>
            <a:r>
              <a:rPr lang="en-US" altLang="zh-CN"/>
              <a:t>5.8  </a:t>
            </a:r>
            <a:r>
              <a:rPr lang="zh-CN" altLang="en-US"/>
              <a:t>小结</a:t>
            </a:r>
          </a:p>
          <a:p>
            <a:endParaRPr lang="en-US" altLang="zh-CN" dirty="0"/>
          </a:p>
        </p:txBody>
      </p:sp>
      <p:sp>
        <p:nvSpPr>
          <p:cNvPr id="2" name="灯片编号占位符 1">
            <a:extLst>
              <a:ext uri="{FF2B5EF4-FFF2-40B4-BE49-F238E27FC236}">
                <a16:creationId xmlns:a16="http://schemas.microsoft.com/office/drawing/2014/main" id="{BEED1FC7-E1E6-427C-B043-2B3176D86A5B}"/>
              </a:ext>
            </a:extLst>
          </p:cNvPr>
          <p:cNvSpPr>
            <a:spLocks noGrp="1"/>
          </p:cNvSpPr>
          <p:nvPr>
            <p:ph type="sldNum" sz="quarter" idx="12"/>
          </p:nvPr>
        </p:nvSpPr>
        <p:spPr/>
        <p:txBody>
          <a:bodyPr/>
          <a:lstStyle/>
          <a:p>
            <a:fld id="{47C9E101-E51D-431E-84FA-C029B8655B60}" type="slidenum">
              <a:rPr lang="zh-CN" altLang="en-US" smtClean="0"/>
              <a:pPr/>
              <a:t>2</a:t>
            </a:fld>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a:extLst>
              <a:ext uri="{FF2B5EF4-FFF2-40B4-BE49-F238E27FC236}">
                <a16:creationId xmlns:a16="http://schemas.microsoft.com/office/drawing/2014/main" id="{625F339C-E6F2-4038-ACE3-2934FCEE2F90}"/>
              </a:ext>
            </a:extLst>
          </p:cNvPr>
          <p:cNvSpPr>
            <a:spLocks noGrp="1" noChangeArrowheads="1"/>
          </p:cNvSpPr>
          <p:nvPr>
            <p:ph type="title"/>
          </p:nvPr>
        </p:nvSpPr>
        <p:spPr/>
        <p:txBody>
          <a:bodyPr/>
          <a:lstStyle/>
          <a:p>
            <a:r>
              <a:rPr lang="zh-CN" altLang="en-US"/>
              <a:t>数据库完整性</a:t>
            </a:r>
          </a:p>
        </p:txBody>
      </p:sp>
      <p:sp>
        <p:nvSpPr>
          <p:cNvPr id="419843" name="Rectangle 3">
            <a:extLst>
              <a:ext uri="{FF2B5EF4-FFF2-40B4-BE49-F238E27FC236}">
                <a16:creationId xmlns:a16="http://schemas.microsoft.com/office/drawing/2014/main" id="{4057CE9F-379B-4B13-A432-7F7D10DF3512}"/>
              </a:ext>
            </a:extLst>
          </p:cNvPr>
          <p:cNvSpPr>
            <a:spLocks noGrp="1" noChangeArrowheads="1"/>
          </p:cNvSpPr>
          <p:nvPr>
            <p:ph idx="1"/>
          </p:nvPr>
        </p:nvSpPr>
        <p:spPr/>
        <p:txBody>
          <a:bodyPr>
            <a:normAutofit fontScale="92500" lnSpcReduction="10000"/>
          </a:bodyPr>
          <a:lstStyle/>
          <a:p>
            <a:r>
              <a:rPr lang="zh-CN" altLang="en-US" dirty="0"/>
              <a:t>数据库中</a:t>
            </a:r>
            <a:r>
              <a:rPr lang="zh-CN" altLang="en-US" dirty="0">
                <a:solidFill>
                  <a:srgbClr val="C00000"/>
                </a:solidFill>
              </a:rPr>
              <a:t>完整性（</a:t>
            </a:r>
            <a:r>
              <a:rPr lang="en-US" altLang="zh-CN" dirty="0">
                <a:solidFill>
                  <a:srgbClr val="C00000"/>
                </a:solidFill>
              </a:rPr>
              <a:t>Integrity</a:t>
            </a:r>
            <a:r>
              <a:rPr lang="zh-CN" altLang="en-US" dirty="0">
                <a:solidFill>
                  <a:srgbClr val="C00000"/>
                </a:solidFill>
              </a:rPr>
              <a:t>）</a:t>
            </a:r>
            <a:r>
              <a:rPr lang="zh-CN" altLang="en-US" dirty="0"/>
              <a:t>是指数据的</a:t>
            </a:r>
            <a:r>
              <a:rPr lang="zh-CN" altLang="en-US" dirty="0">
                <a:solidFill>
                  <a:srgbClr val="C00000"/>
                </a:solidFill>
              </a:rPr>
              <a:t>正确性和相容性</a:t>
            </a:r>
            <a:r>
              <a:rPr lang="zh-CN" altLang="en-US" dirty="0"/>
              <a:t>，防止错误的数据进入数据库。</a:t>
            </a:r>
          </a:p>
          <a:p>
            <a:pPr lvl="1"/>
            <a:r>
              <a:rPr lang="zh-CN" altLang="en-US" dirty="0"/>
              <a:t>数据的</a:t>
            </a:r>
            <a:r>
              <a:rPr lang="zh-CN" altLang="en-US" dirty="0">
                <a:solidFill>
                  <a:srgbClr val="C00000"/>
                </a:solidFill>
              </a:rPr>
              <a:t>正确性</a:t>
            </a:r>
          </a:p>
          <a:p>
            <a:pPr lvl="2"/>
            <a:r>
              <a:rPr lang="zh-CN" altLang="en-US" dirty="0"/>
              <a:t>是指数据是符合现实世界语义，反映了当前实际状况的</a:t>
            </a:r>
          </a:p>
          <a:p>
            <a:pPr lvl="1"/>
            <a:r>
              <a:rPr lang="zh-CN" altLang="en-US" dirty="0"/>
              <a:t>数据的</a:t>
            </a:r>
            <a:r>
              <a:rPr lang="zh-CN" altLang="en-US" dirty="0">
                <a:solidFill>
                  <a:srgbClr val="C00000"/>
                </a:solidFill>
              </a:rPr>
              <a:t>相容性</a:t>
            </a:r>
          </a:p>
          <a:p>
            <a:pPr lvl="2"/>
            <a:r>
              <a:rPr lang="zh-CN" altLang="en-US" dirty="0"/>
              <a:t>是指数据库同一对象在不同关系表中的数据是符合逻辑的</a:t>
            </a:r>
          </a:p>
          <a:p>
            <a:pPr lvl="1"/>
            <a:endParaRPr lang="en-US" altLang="zh-CN" dirty="0"/>
          </a:p>
          <a:p>
            <a:pPr lvl="1"/>
            <a:r>
              <a:rPr lang="zh-CN" altLang="en-US" dirty="0"/>
              <a:t>例如：</a:t>
            </a:r>
          </a:p>
          <a:p>
            <a:pPr lvl="2"/>
            <a:r>
              <a:rPr lang="zh-CN" altLang="en-US" dirty="0"/>
              <a:t>学生的学号必须唯一</a:t>
            </a:r>
          </a:p>
          <a:p>
            <a:pPr lvl="2"/>
            <a:r>
              <a:rPr lang="zh-CN" altLang="en-US" dirty="0"/>
              <a:t>性别只能是男或女</a:t>
            </a:r>
          </a:p>
          <a:p>
            <a:pPr lvl="2"/>
            <a:r>
              <a:rPr lang="zh-CN" altLang="en-US" dirty="0"/>
              <a:t>本科学生年龄的取值范围为</a:t>
            </a:r>
            <a:r>
              <a:rPr lang="en-US" altLang="zh-CN" dirty="0"/>
              <a:t>14~50</a:t>
            </a:r>
            <a:r>
              <a:rPr lang="zh-CN" altLang="en-US" dirty="0"/>
              <a:t>的整数</a:t>
            </a:r>
          </a:p>
          <a:p>
            <a:pPr lvl="2"/>
            <a:r>
              <a:rPr lang="zh-CN" altLang="en-US" dirty="0"/>
              <a:t>学生所选的课程必须是学校开设的课程，学生所在的院系必须是学校已成立的院系等</a:t>
            </a:r>
          </a:p>
        </p:txBody>
      </p:sp>
      <p:sp>
        <p:nvSpPr>
          <p:cNvPr id="2" name="灯片编号占位符 1">
            <a:extLst>
              <a:ext uri="{FF2B5EF4-FFF2-40B4-BE49-F238E27FC236}">
                <a16:creationId xmlns:a16="http://schemas.microsoft.com/office/drawing/2014/main" id="{DC5F1EBA-B3B0-4ADA-A2F3-658A69260196}"/>
              </a:ext>
            </a:extLst>
          </p:cNvPr>
          <p:cNvSpPr>
            <a:spLocks noGrp="1"/>
          </p:cNvSpPr>
          <p:nvPr>
            <p:ph type="sldNum" sz="quarter" idx="12"/>
          </p:nvPr>
        </p:nvSpPr>
        <p:spPr/>
        <p:txBody>
          <a:bodyPr/>
          <a:lstStyle/>
          <a:p>
            <a:fld id="{47C9E101-E51D-431E-84FA-C029B8655B60}" type="slidenum">
              <a:rPr lang="zh-CN" altLang="en-US" smtClean="0"/>
              <a:pPr/>
              <a:t>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4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4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984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984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98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a:extLst>
              <a:ext uri="{FF2B5EF4-FFF2-40B4-BE49-F238E27FC236}">
                <a16:creationId xmlns:a16="http://schemas.microsoft.com/office/drawing/2014/main" id="{E1BA0148-4780-4D28-82E1-3514A233F6AE}"/>
              </a:ext>
            </a:extLst>
          </p:cNvPr>
          <p:cNvSpPr>
            <a:spLocks noGrp="1" noChangeArrowheads="1"/>
          </p:cNvSpPr>
          <p:nvPr>
            <p:ph type="title"/>
          </p:nvPr>
        </p:nvSpPr>
        <p:spPr/>
        <p:txBody>
          <a:bodyPr/>
          <a:lstStyle/>
          <a:p>
            <a:r>
              <a:rPr lang="zh-CN" altLang="en-US"/>
              <a:t>数据库完整性</a:t>
            </a:r>
            <a:r>
              <a:rPr lang="en-US" altLang="zh-CN"/>
              <a:t>(</a:t>
            </a:r>
            <a:r>
              <a:rPr lang="zh-CN" altLang="en-US"/>
              <a:t>续</a:t>
            </a:r>
            <a:r>
              <a:rPr lang="en-US" altLang="zh-CN"/>
              <a:t>)</a:t>
            </a:r>
          </a:p>
        </p:txBody>
      </p:sp>
      <p:sp>
        <p:nvSpPr>
          <p:cNvPr id="422915" name="Rectangle 3">
            <a:extLst>
              <a:ext uri="{FF2B5EF4-FFF2-40B4-BE49-F238E27FC236}">
                <a16:creationId xmlns:a16="http://schemas.microsoft.com/office/drawing/2014/main" id="{D64250BA-70BA-4445-B693-D8B37629511D}"/>
              </a:ext>
            </a:extLst>
          </p:cNvPr>
          <p:cNvSpPr>
            <a:spLocks noGrp="1" noChangeArrowheads="1"/>
          </p:cNvSpPr>
          <p:nvPr>
            <p:ph idx="1"/>
          </p:nvPr>
        </p:nvSpPr>
        <p:spPr/>
        <p:txBody>
          <a:bodyPr/>
          <a:lstStyle/>
          <a:p>
            <a:r>
              <a:rPr lang="zh-CN" altLang="en-US" dirty="0"/>
              <a:t>数据的</a:t>
            </a:r>
            <a:r>
              <a:rPr lang="zh-CN" altLang="en-US" dirty="0">
                <a:solidFill>
                  <a:srgbClr val="C00000"/>
                </a:solidFill>
              </a:rPr>
              <a:t>完整性</a:t>
            </a:r>
            <a:r>
              <a:rPr lang="zh-CN" altLang="en-US" dirty="0"/>
              <a:t>和</a:t>
            </a:r>
            <a:r>
              <a:rPr lang="zh-CN" altLang="en-US" dirty="0">
                <a:solidFill>
                  <a:srgbClr val="C00000"/>
                </a:solidFill>
              </a:rPr>
              <a:t>安全性</a:t>
            </a:r>
            <a:r>
              <a:rPr lang="zh-CN" altLang="en-US" dirty="0"/>
              <a:t>是两个不同概念</a:t>
            </a:r>
          </a:p>
          <a:p>
            <a:endParaRPr lang="en-US" altLang="zh-CN" dirty="0"/>
          </a:p>
        </p:txBody>
      </p:sp>
      <p:sp>
        <p:nvSpPr>
          <p:cNvPr id="2" name="灯片编号占位符 1">
            <a:extLst>
              <a:ext uri="{FF2B5EF4-FFF2-40B4-BE49-F238E27FC236}">
                <a16:creationId xmlns:a16="http://schemas.microsoft.com/office/drawing/2014/main" id="{7FA0A584-ADD0-49EC-BC55-0856B5D070A5}"/>
              </a:ext>
            </a:extLst>
          </p:cNvPr>
          <p:cNvSpPr>
            <a:spLocks noGrp="1"/>
          </p:cNvSpPr>
          <p:nvPr>
            <p:ph type="sldNum" sz="quarter" idx="12"/>
          </p:nvPr>
        </p:nvSpPr>
        <p:spPr/>
        <p:txBody>
          <a:bodyPr/>
          <a:lstStyle/>
          <a:p>
            <a:fld id="{47C9E101-E51D-431E-84FA-C029B8655B60}" type="slidenum">
              <a:rPr lang="zh-CN" altLang="en-US" smtClean="0"/>
              <a:pPr/>
              <a:t>4</a:t>
            </a:fld>
            <a:endParaRPr lang="zh-CN" altLang="en-US" dirty="0"/>
          </a:p>
        </p:txBody>
      </p:sp>
      <p:graphicFrame>
        <p:nvGraphicFramePr>
          <p:cNvPr id="5" name="表格 4">
            <a:extLst>
              <a:ext uri="{FF2B5EF4-FFF2-40B4-BE49-F238E27FC236}">
                <a16:creationId xmlns:a16="http://schemas.microsoft.com/office/drawing/2014/main" id="{7D54D274-3B91-4E23-82AB-A0325FE5EF4F}"/>
              </a:ext>
            </a:extLst>
          </p:cNvPr>
          <p:cNvGraphicFramePr>
            <a:graphicFrameLocks noGrp="1"/>
          </p:cNvGraphicFramePr>
          <p:nvPr>
            <p:extLst>
              <p:ext uri="{D42A27DB-BD31-4B8C-83A1-F6EECF244321}">
                <p14:modId xmlns:p14="http://schemas.microsoft.com/office/powerpoint/2010/main" val="1915481878"/>
              </p:ext>
            </p:extLst>
          </p:nvPr>
        </p:nvGraphicFramePr>
        <p:xfrm>
          <a:off x="904924" y="2031342"/>
          <a:ext cx="9525000" cy="3602736"/>
        </p:xfrm>
        <a:graphic>
          <a:graphicData uri="http://schemas.openxmlformats.org/drawingml/2006/table">
            <a:tbl>
              <a:tblPr firstRow="1" bandRow="1">
                <a:tableStyleId>{5940675A-B579-460E-94D1-54222C63F5DA}</a:tableStyleId>
              </a:tblPr>
              <a:tblGrid>
                <a:gridCol w="1950244">
                  <a:extLst>
                    <a:ext uri="{9D8B030D-6E8A-4147-A177-3AD203B41FA5}">
                      <a16:colId xmlns:a16="http://schemas.microsoft.com/office/drawing/2014/main" val="2720807374"/>
                    </a:ext>
                  </a:extLst>
                </a:gridCol>
                <a:gridCol w="4450556">
                  <a:extLst>
                    <a:ext uri="{9D8B030D-6E8A-4147-A177-3AD203B41FA5}">
                      <a16:colId xmlns:a16="http://schemas.microsoft.com/office/drawing/2014/main" val="3819723248"/>
                    </a:ext>
                  </a:extLst>
                </a:gridCol>
                <a:gridCol w="3124200">
                  <a:extLst>
                    <a:ext uri="{9D8B030D-6E8A-4147-A177-3AD203B41FA5}">
                      <a16:colId xmlns:a16="http://schemas.microsoft.com/office/drawing/2014/main" val="38727923"/>
                    </a:ext>
                  </a:extLst>
                </a:gridCol>
              </a:tblGrid>
              <a:tr h="838200">
                <a:tc>
                  <a:txBody>
                    <a:bodyPr/>
                    <a:lstStyle/>
                    <a:p>
                      <a:pPr>
                        <a:lnSpc>
                          <a:spcPct val="130000"/>
                        </a:lnSpc>
                      </a:pPr>
                      <a:r>
                        <a:rPr lang="zh-CN" altLang="en-US" sz="2400" dirty="0">
                          <a:latin typeface="微软雅黑" panose="020B0503020204020204" pitchFamily="34" charset="-122"/>
                          <a:ea typeface="微软雅黑" panose="020B0503020204020204" pitchFamily="34" charset="-122"/>
                        </a:rPr>
                        <a:t>          区别</a:t>
                      </a:r>
                      <a:endParaRPr lang="en-US" altLang="zh-CN" sz="2400" dirty="0">
                        <a:latin typeface="微软雅黑" panose="020B0503020204020204" pitchFamily="34" charset="-122"/>
                        <a:ea typeface="微软雅黑" panose="020B0503020204020204" pitchFamily="34" charset="-122"/>
                      </a:endParaRPr>
                    </a:p>
                    <a:p>
                      <a:pPr>
                        <a:lnSpc>
                          <a:spcPct val="130000"/>
                        </a:lnSpc>
                      </a:pPr>
                      <a:r>
                        <a:rPr lang="zh-CN" altLang="en-US" sz="2400" dirty="0">
                          <a:latin typeface="微软雅黑" panose="020B0503020204020204" pitchFamily="34" charset="-122"/>
                          <a:ea typeface="微软雅黑" panose="020B0503020204020204" pitchFamily="34" charset="-122"/>
                        </a:rPr>
                        <a:t>特性</a:t>
                      </a:r>
                    </a:p>
                  </a:txBody>
                  <a:tcPr>
                    <a:lnTlToBr w="12700" cap="flat" cmpd="sng" algn="ctr">
                      <a:solidFill>
                        <a:schemeClr val="tx1"/>
                      </a:solidFill>
                      <a:prstDash val="solid"/>
                      <a:round/>
                      <a:headEnd type="none" w="med" len="med"/>
                      <a:tailEnd type="none" w="med" len="med"/>
                    </a:lnTlToBr>
                  </a:tcPr>
                </a:tc>
                <a:tc>
                  <a:txBody>
                    <a:bodyPr/>
                    <a:lstStyle/>
                    <a:p>
                      <a:pPr algn="ctr">
                        <a:lnSpc>
                          <a:spcPct val="130000"/>
                        </a:lnSpc>
                      </a:pPr>
                      <a:r>
                        <a:rPr lang="zh-CN" altLang="en-US" sz="2400" dirty="0">
                          <a:solidFill>
                            <a:srgbClr val="C00000"/>
                          </a:solidFill>
                          <a:latin typeface="微软雅黑" panose="020B0503020204020204" pitchFamily="34" charset="-122"/>
                          <a:ea typeface="微软雅黑" panose="020B0503020204020204" pitchFamily="34" charset="-122"/>
                        </a:rPr>
                        <a:t>概念不同</a:t>
                      </a:r>
                    </a:p>
                  </a:txBody>
                  <a:tcPr/>
                </a:tc>
                <a:tc>
                  <a:txBody>
                    <a:bodyPr/>
                    <a:lstStyle/>
                    <a:p>
                      <a:pPr algn="ctr">
                        <a:lnSpc>
                          <a:spcPct val="130000"/>
                        </a:lnSpc>
                      </a:pPr>
                      <a:r>
                        <a:rPr lang="zh-CN" altLang="en-US" sz="2400" dirty="0">
                          <a:solidFill>
                            <a:srgbClr val="C00000"/>
                          </a:solidFill>
                          <a:latin typeface="微软雅黑" panose="020B0503020204020204" pitchFamily="34" charset="-122"/>
                          <a:ea typeface="微软雅黑" panose="020B0503020204020204" pitchFamily="34" charset="-122"/>
                        </a:rPr>
                        <a:t>防范对象不同</a:t>
                      </a:r>
                    </a:p>
                  </a:txBody>
                  <a:tcPr/>
                </a:tc>
                <a:extLst>
                  <a:ext uri="{0D108BD9-81ED-4DB2-BD59-A6C34878D82A}">
                    <a16:rowId xmlns:a16="http://schemas.microsoft.com/office/drawing/2014/main" val="1599743447"/>
                  </a:ext>
                </a:extLst>
              </a:tr>
              <a:tr h="685800">
                <a:tc>
                  <a:txBody>
                    <a:bodyPr/>
                    <a:lstStyle/>
                    <a:p>
                      <a:pPr marL="0" marR="0" lvl="0" indent="0" algn="ctr" defTabSz="514350" rtl="0" eaLnBrk="1" fontAlgn="auto" latinLnBrk="0" hangingPunct="1">
                        <a:lnSpc>
                          <a:spcPct val="130000"/>
                        </a:lnSpc>
                        <a:spcBef>
                          <a:spcPts val="0"/>
                        </a:spcBef>
                        <a:spcAft>
                          <a:spcPts val="0"/>
                        </a:spcAft>
                        <a:buClrTx/>
                        <a:buSzTx/>
                        <a:buFontTx/>
                        <a:buNone/>
                        <a:tabLst/>
                        <a:defRPr/>
                      </a:pPr>
                      <a:r>
                        <a:rPr lang="zh-CN" altLang="en-US" sz="2400">
                          <a:solidFill>
                            <a:srgbClr val="0000CC"/>
                          </a:solidFill>
                          <a:latin typeface="微软雅黑" panose="020B0503020204020204" pitchFamily="34" charset="-122"/>
                          <a:ea typeface="微软雅黑" panose="020B0503020204020204" pitchFamily="34" charset="-122"/>
                        </a:rPr>
                        <a:t>完整性</a:t>
                      </a:r>
                    </a:p>
                  </a:txBody>
                  <a:tcPr/>
                </a:tc>
                <a:tc>
                  <a:txBody>
                    <a:bodyPr/>
                    <a:lstStyle/>
                    <a:p>
                      <a:pPr>
                        <a:lnSpc>
                          <a:spcPct val="130000"/>
                        </a:lnSpc>
                      </a:pPr>
                      <a:r>
                        <a:rPr lang="zh-CN" altLang="en-US" sz="2400" dirty="0">
                          <a:latin typeface="微软雅黑" panose="020B0503020204020204" pitchFamily="34" charset="-122"/>
                          <a:ea typeface="微软雅黑" panose="020B0503020204020204" pitchFamily="34" charset="-122"/>
                        </a:rPr>
                        <a:t>防止数据库中存在不符合语义的数据，也就是防止数据库中存在不正确的数据。</a:t>
                      </a:r>
                    </a:p>
                  </a:txBody>
                  <a:tcPr/>
                </a:tc>
                <a:tc>
                  <a:txBody>
                    <a:bodyPr/>
                    <a:lstStyle/>
                    <a:p>
                      <a:pPr>
                        <a:lnSpc>
                          <a:spcPct val="130000"/>
                        </a:lnSpc>
                      </a:pPr>
                      <a:r>
                        <a:rPr lang="zh-CN" altLang="en-US" sz="2400" dirty="0">
                          <a:solidFill>
                            <a:srgbClr val="C00000"/>
                          </a:solidFill>
                          <a:latin typeface="微软雅黑" panose="020B0503020204020204" pitchFamily="34" charset="-122"/>
                          <a:ea typeface="微软雅黑" panose="020B0503020204020204" pitchFamily="34" charset="-122"/>
                        </a:rPr>
                        <a:t>不合语义的、不正确的数据</a:t>
                      </a:r>
                    </a:p>
                  </a:txBody>
                  <a:tcPr/>
                </a:tc>
                <a:extLst>
                  <a:ext uri="{0D108BD9-81ED-4DB2-BD59-A6C34878D82A}">
                    <a16:rowId xmlns:a16="http://schemas.microsoft.com/office/drawing/2014/main" val="4078165413"/>
                  </a:ext>
                </a:extLst>
              </a:tr>
              <a:tr h="990600">
                <a:tc>
                  <a:txBody>
                    <a:bodyPr/>
                    <a:lstStyle/>
                    <a:p>
                      <a:pPr marL="0" marR="0" lvl="0" indent="0" algn="ctr" defTabSz="514350" rtl="0" eaLnBrk="1" fontAlgn="auto" latinLnBrk="0" hangingPunct="1">
                        <a:lnSpc>
                          <a:spcPct val="130000"/>
                        </a:lnSpc>
                        <a:spcBef>
                          <a:spcPts val="0"/>
                        </a:spcBef>
                        <a:spcAft>
                          <a:spcPts val="0"/>
                        </a:spcAft>
                        <a:buClrTx/>
                        <a:buSzTx/>
                        <a:buFontTx/>
                        <a:buNone/>
                        <a:tabLst/>
                        <a:defRPr/>
                      </a:pPr>
                      <a:r>
                        <a:rPr lang="zh-CN" altLang="en-US" sz="2400" kern="1200">
                          <a:solidFill>
                            <a:srgbClr val="0000CC"/>
                          </a:solidFill>
                          <a:latin typeface="微软雅黑" panose="020B0503020204020204" pitchFamily="34" charset="-122"/>
                          <a:ea typeface="微软雅黑" panose="020B0503020204020204" pitchFamily="34" charset="-122"/>
                          <a:cs typeface="+mn-cs"/>
                        </a:rPr>
                        <a:t>安全性</a:t>
                      </a:r>
                    </a:p>
                  </a:txBody>
                  <a:tcPr/>
                </a:tc>
                <a:tc>
                  <a:txBody>
                    <a:bodyPr/>
                    <a:lstStyle/>
                    <a:p>
                      <a:pPr>
                        <a:lnSpc>
                          <a:spcPct val="130000"/>
                        </a:lnSpc>
                      </a:pPr>
                      <a:r>
                        <a:rPr lang="zh-CN" altLang="en-US" sz="2400">
                          <a:latin typeface="微软雅黑" panose="020B0503020204020204" pitchFamily="34" charset="-122"/>
                          <a:ea typeface="微软雅黑" panose="020B0503020204020204" pitchFamily="34" charset="-122"/>
                        </a:rPr>
                        <a:t>保护数据库防止恶意的破坏和非法的存取</a:t>
                      </a:r>
                    </a:p>
                  </a:txBody>
                  <a:tcPr/>
                </a:tc>
                <a:tc>
                  <a:txBody>
                    <a:bodyPr/>
                    <a:lstStyle/>
                    <a:p>
                      <a:pPr marL="0" algn="l" defTabSz="514350" rtl="0" eaLnBrk="1" latinLnBrk="0" hangingPunct="1">
                        <a:lnSpc>
                          <a:spcPct val="130000"/>
                        </a:lnSpc>
                      </a:pPr>
                      <a:r>
                        <a:rPr lang="zh-CN" altLang="en-US" sz="2400" kern="1200" dirty="0">
                          <a:solidFill>
                            <a:srgbClr val="C00000"/>
                          </a:solidFill>
                          <a:latin typeface="微软雅黑" panose="020B0503020204020204" pitchFamily="34" charset="-122"/>
                          <a:ea typeface="微软雅黑" panose="020B0503020204020204" pitchFamily="34" charset="-122"/>
                          <a:cs typeface="+mn-cs"/>
                        </a:rPr>
                        <a:t>非法用户和非法操作</a:t>
                      </a:r>
                    </a:p>
                  </a:txBody>
                  <a:tcPr/>
                </a:tc>
                <a:extLst>
                  <a:ext uri="{0D108BD9-81ED-4DB2-BD59-A6C34878D82A}">
                    <a16:rowId xmlns:a16="http://schemas.microsoft.com/office/drawing/2014/main" val="2740533838"/>
                  </a:ext>
                </a:extLst>
              </a:tr>
            </a:tbl>
          </a:graphicData>
        </a:graphic>
      </p:graphicFrame>
    </p:spTree>
    <p:extLst>
      <p:ext uri="{BB962C8B-B14F-4D97-AF65-F5344CB8AC3E}">
        <p14:creationId xmlns:p14="http://schemas.microsoft.com/office/powerpoint/2010/main" val="20474394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a:extLst>
              <a:ext uri="{FF2B5EF4-FFF2-40B4-BE49-F238E27FC236}">
                <a16:creationId xmlns:a16="http://schemas.microsoft.com/office/drawing/2014/main" id="{E1BA0148-4780-4D28-82E1-3514A233F6AE}"/>
              </a:ext>
            </a:extLst>
          </p:cNvPr>
          <p:cNvSpPr>
            <a:spLocks noGrp="1" noChangeArrowheads="1"/>
          </p:cNvSpPr>
          <p:nvPr>
            <p:ph type="title"/>
          </p:nvPr>
        </p:nvSpPr>
        <p:spPr/>
        <p:txBody>
          <a:bodyPr/>
          <a:lstStyle/>
          <a:p>
            <a:r>
              <a:rPr lang="zh-CN" altLang="en-US"/>
              <a:t>数据库完整性</a:t>
            </a:r>
            <a:r>
              <a:rPr lang="en-US" altLang="zh-CN"/>
              <a:t>(</a:t>
            </a:r>
            <a:r>
              <a:rPr lang="zh-CN" altLang="en-US"/>
              <a:t>续</a:t>
            </a:r>
            <a:r>
              <a:rPr lang="en-US" altLang="zh-CN"/>
              <a:t>)</a:t>
            </a:r>
          </a:p>
        </p:txBody>
      </p:sp>
      <p:sp>
        <p:nvSpPr>
          <p:cNvPr id="422915" name="Rectangle 3">
            <a:extLst>
              <a:ext uri="{FF2B5EF4-FFF2-40B4-BE49-F238E27FC236}">
                <a16:creationId xmlns:a16="http://schemas.microsoft.com/office/drawing/2014/main" id="{D64250BA-70BA-4445-B693-D8B37629511D}"/>
              </a:ext>
            </a:extLst>
          </p:cNvPr>
          <p:cNvSpPr>
            <a:spLocks noGrp="1" noChangeArrowheads="1"/>
          </p:cNvSpPr>
          <p:nvPr>
            <p:ph idx="1"/>
          </p:nvPr>
        </p:nvSpPr>
        <p:spPr/>
        <p:txBody>
          <a:bodyPr>
            <a:normAutofit fontScale="92500" lnSpcReduction="20000"/>
          </a:bodyPr>
          <a:lstStyle/>
          <a:p>
            <a:pPr>
              <a:lnSpc>
                <a:spcPct val="100000"/>
              </a:lnSpc>
            </a:pPr>
            <a:r>
              <a:rPr lang="zh-CN" altLang="en-US" dirty="0"/>
              <a:t>为维护数据库的完整性，</a:t>
            </a:r>
            <a:r>
              <a:rPr lang="en-US" altLang="zh-CN" dirty="0"/>
              <a:t>DBMS</a:t>
            </a:r>
            <a:r>
              <a:rPr lang="zh-CN" altLang="en-US" dirty="0"/>
              <a:t>必须：</a:t>
            </a:r>
          </a:p>
          <a:p>
            <a:pPr lvl="1">
              <a:lnSpc>
                <a:spcPct val="100000"/>
              </a:lnSpc>
            </a:pPr>
            <a:r>
              <a:rPr lang="en-US" altLang="zh-CN" dirty="0"/>
              <a:t>1.</a:t>
            </a:r>
            <a:r>
              <a:rPr lang="zh-CN" altLang="en-US" dirty="0"/>
              <a:t>提供定义</a:t>
            </a:r>
            <a:r>
              <a:rPr lang="zh-CN" altLang="en-US" dirty="0">
                <a:solidFill>
                  <a:srgbClr val="C00000"/>
                </a:solidFill>
              </a:rPr>
              <a:t>完整性约束条件</a:t>
            </a:r>
            <a:r>
              <a:rPr lang="zh-CN" altLang="en-US" dirty="0"/>
              <a:t>的机制</a:t>
            </a:r>
            <a:endParaRPr lang="en-US" altLang="zh-CN" dirty="0"/>
          </a:p>
          <a:p>
            <a:pPr lvl="2">
              <a:lnSpc>
                <a:spcPct val="100000"/>
              </a:lnSpc>
            </a:pPr>
            <a:r>
              <a:rPr lang="zh-CN" altLang="en-US" dirty="0"/>
              <a:t>完整性约束条件也称为完整性规则，是数据库中的数据必须满足的语义约束条件</a:t>
            </a:r>
          </a:p>
          <a:p>
            <a:pPr lvl="2">
              <a:lnSpc>
                <a:spcPct val="100000"/>
              </a:lnSpc>
            </a:pPr>
            <a:r>
              <a:rPr lang="en-US" altLang="zh-CN" dirty="0"/>
              <a:t>SQL</a:t>
            </a:r>
            <a:r>
              <a:rPr lang="zh-CN" altLang="en-US" dirty="0"/>
              <a:t>标准使用了一系列概念来描述完整性，包括关系模型的实体完整性、参照完整性和用户定义完整性</a:t>
            </a:r>
          </a:p>
          <a:p>
            <a:pPr lvl="2">
              <a:lnSpc>
                <a:spcPct val="100000"/>
              </a:lnSpc>
            </a:pPr>
            <a:r>
              <a:rPr lang="zh-CN" altLang="en-US" dirty="0"/>
              <a:t>这些完整性一般由</a:t>
            </a:r>
            <a:r>
              <a:rPr lang="en-US" altLang="zh-CN" dirty="0"/>
              <a:t>SQL</a:t>
            </a:r>
            <a:r>
              <a:rPr lang="zh-CN" altLang="en-US" dirty="0"/>
              <a:t>的数据定义语言语句来实现</a:t>
            </a:r>
          </a:p>
          <a:p>
            <a:pPr lvl="1">
              <a:lnSpc>
                <a:spcPct val="100000"/>
              </a:lnSpc>
            </a:pPr>
            <a:r>
              <a:rPr lang="en-US" altLang="zh-CN" dirty="0"/>
              <a:t>2.</a:t>
            </a:r>
            <a:r>
              <a:rPr lang="zh-CN" altLang="en-US" dirty="0"/>
              <a:t>提供</a:t>
            </a:r>
            <a:r>
              <a:rPr lang="zh-CN" altLang="en-US" dirty="0">
                <a:solidFill>
                  <a:srgbClr val="C00000"/>
                </a:solidFill>
              </a:rPr>
              <a:t>完整性检查</a:t>
            </a:r>
            <a:r>
              <a:rPr lang="zh-CN" altLang="en-US" dirty="0"/>
              <a:t>的方法</a:t>
            </a:r>
            <a:endParaRPr lang="en-US" altLang="zh-CN" dirty="0"/>
          </a:p>
          <a:p>
            <a:pPr lvl="2">
              <a:lnSpc>
                <a:spcPct val="100000"/>
              </a:lnSpc>
            </a:pPr>
            <a:r>
              <a:rPr lang="zh-CN" altLang="en-US" dirty="0"/>
              <a:t>数据库管理系统中检查数据是否满足完整性约束条件的机制称为完整性检查。</a:t>
            </a:r>
          </a:p>
          <a:p>
            <a:pPr lvl="2">
              <a:lnSpc>
                <a:spcPct val="100000"/>
              </a:lnSpc>
            </a:pPr>
            <a:r>
              <a:rPr lang="zh-CN" altLang="en-US" dirty="0"/>
              <a:t>一般在</a:t>
            </a:r>
            <a:r>
              <a:rPr lang="en-US" altLang="zh-CN" dirty="0"/>
              <a:t>INSERT</a:t>
            </a:r>
            <a:r>
              <a:rPr lang="zh-CN" altLang="en-US" dirty="0"/>
              <a:t>、 </a:t>
            </a:r>
            <a:r>
              <a:rPr lang="en-US" altLang="zh-CN" dirty="0"/>
              <a:t>UPDATE</a:t>
            </a:r>
            <a:r>
              <a:rPr lang="zh-CN" altLang="en-US" dirty="0"/>
              <a:t>、 </a:t>
            </a:r>
            <a:r>
              <a:rPr lang="en-US" altLang="zh-CN" dirty="0"/>
              <a:t>DELETE</a:t>
            </a:r>
            <a:r>
              <a:rPr lang="zh-CN" altLang="en-US" dirty="0"/>
              <a:t>语句执行后开始检查，也可以在事务提交时检查</a:t>
            </a:r>
          </a:p>
          <a:p>
            <a:pPr lvl="1">
              <a:lnSpc>
                <a:spcPct val="100000"/>
              </a:lnSpc>
            </a:pPr>
            <a:r>
              <a:rPr lang="en-US" altLang="zh-CN" dirty="0"/>
              <a:t>3.</a:t>
            </a:r>
            <a:r>
              <a:rPr lang="zh-CN" altLang="en-US" dirty="0">
                <a:solidFill>
                  <a:srgbClr val="C00000"/>
                </a:solidFill>
              </a:rPr>
              <a:t>违约处理</a:t>
            </a:r>
            <a:endParaRPr lang="en-US" altLang="zh-CN" dirty="0">
              <a:solidFill>
                <a:srgbClr val="C00000"/>
              </a:solidFill>
            </a:endParaRPr>
          </a:p>
          <a:p>
            <a:pPr lvl="2"/>
            <a:r>
              <a:rPr lang="en-US" altLang="zh-CN" dirty="0"/>
              <a:t>DBMS</a:t>
            </a:r>
            <a:r>
              <a:rPr lang="zh-CN" altLang="en-US" dirty="0"/>
              <a:t>若发现用户的操作违背了完整性约束条件，就采取一定的动作保证数据库的完整性。</a:t>
            </a:r>
          </a:p>
          <a:p>
            <a:pPr lvl="2">
              <a:lnSpc>
                <a:spcPct val="100000"/>
              </a:lnSpc>
            </a:pPr>
            <a:r>
              <a:rPr lang="zh-CN" altLang="en-US" dirty="0">
                <a:solidFill>
                  <a:srgbClr val="C00000"/>
                </a:solidFill>
              </a:rPr>
              <a:t>拒绝（</a:t>
            </a:r>
            <a:r>
              <a:rPr lang="en-US" altLang="zh-CN" dirty="0">
                <a:solidFill>
                  <a:srgbClr val="C00000"/>
                </a:solidFill>
              </a:rPr>
              <a:t>NO ACTION</a:t>
            </a:r>
            <a:r>
              <a:rPr lang="zh-CN" altLang="en-US" dirty="0">
                <a:solidFill>
                  <a:srgbClr val="C00000"/>
                </a:solidFill>
              </a:rPr>
              <a:t>） </a:t>
            </a:r>
            <a:r>
              <a:rPr lang="zh-CN" altLang="en-US" dirty="0"/>
              <a:t>执行该操作</a:t>
            </a:r>
          </a:p>
          <a:p>
            <a:pPr lvl="2">
              <a:lnSpc>
                <a:spcPct val="100000"/>
              </a:lnSpc>
            </a:pPr>
            <a:r>
              <a:rPr lang="zh-CN" altLang="en-US" dirty="0">
                <a:solidFill>
                  <a:srgbClr val="C00000"/>
                </a:solidFill>
              </a:rPr>
              <a:t>级连（</a:t>
            </a:r>
            <a:r>
              <a:rPr lang="en-US" altLang="zh-CN" dirty="0">
                <a:solidFill>
                  <a:srgbClr val="C00000"/>
                </a:solidFill>
              </a:rPr>
              <a:t>CASCADE</a:t>
            </a:r>
            <a:r>
              <a:rPr lang="zh-CN" altLang="en-US" dirty="0">
                <a:solidFill>
                  <a:srgbClr val="C00000"/>
                </a:solidFill>
              </a:rPr>
              <a:t>） </a:t>
            </a:r>
            <a:r>
              <a:rPr lang="zh-CN" altLang="en-US" dirty="0"/>
              <a:t>执行其他操作</a:t>
            </a:r>
          </a:p>
        </p:txBody>
      </p:sp>
      <p:sp>
        <p:nvSpPr>
          <p:cNvPr id="2" name="灯片编号占位符 1">
            <a:extLst>
              <a:ext uri="{FF2B5EF4-FFF2-40B4-BE49-F238E27FC236}">
                <a16:creationId xmlns:a16="http://schemas.microsoft.com/office/drawing/2014/main" id="{F299A2F7-761C-4016-9BF4-BAD0665748FA}"/>
              </a:ext>
            </a:extLst>
          </p:cNvPr>
          <p:cNvSpPr>
            <a:spLocks noGrp="1"/>
          </p:cNvSpPr>
          <p:nvPr>
            <p:ph type="sldNum" sz="quarter" idx="12"/>
          </p:nvPr>
        </p:nvSpPr>
        <p:spPr/>
        <p:txBody>
          <a:bodyPr/>
          <a:lstStyle/>
          <a:p>
            <a:fld id="{47C9E101-E51D-431E-84FA-C029B8655B60}" type="slidenum">
              <a:rPr lang="zh-CN" altLang="en-US" smtClean="0"/>
              <a:pPr/>
              <a:t>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29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291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291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291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2291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291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291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2291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291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2915">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2291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92500" lnSpcReduction="10000"/>
          </a:bodyPr>
          <a:lstStyle/>
          <a:p>
            <a:pPr>
              <a:lnSpc>
                <a:spcPct val="140000"/>
              </a:lnSpc>
            </a:pPr>
            <a:r>
              <a:rPr lang="zh-CN" altLang="en-US" dirty="0"/>
              <a:t>早期的数据库管理系统不支持完整性检查，因为完整性检查费时费资源。</a:t>
            </a:r>
            <a:endParaRPr lang="en-US" altLang="zh-CN" dirty="0"/>
          </a:p>
          <a:p>
            <a:pPr>
              <a:lnSpc>
                <a:spcPct val="140000"/>
              </a:lnSpc>
            </a:pPr>
            <a:r>
              <a:rPr lang="zh-CN" altLang="en-US" dirty="0"/>
              <a:t>现在商用的关系数据库管理系统都支持完整性控制</a:t>
            </a:r>
            <a:endParaRPr lang="en-US" altLang="zh-CN" dirty="0"/>
          </a:p>
          <a:p>
            <a:pPr lvl="1">
              <a:lnSpc>
                <a:spcPct val="140000"/>
              </a:lnSpc>
            </a:pPr>
            <a:r>
              <a:rPr lang="zh-CN" altLang="en-US" dirty="0"/>
              <a:t>即完整性定义和检查控制由关系数据库管理系统实现，不必由应用程序程序来完成，减轻了应用程序员的负担。</a:t>
            </a:r>
            <a:endParaRPr lang="en-US" altLang="zh-CN" dirty="0"/>
          </a:p>
          <a:p>
            <a:pPr>
              <a:lnSpc>
                <a:spcPct val="140000"/>
              </a:lnSpc>
            </a:pPr>
            <a:r>
              <a:rPr lang="zh-CN" altLang="en-US" dirty="0"/>
              <a:t>关系数据库管理系统使得</a:t>
            </a:r>
            <a:r>
              <a:rPr lang="zh-CN" altLang="en-US" dirty="0">
                <a:solidFill>
                  <a:srgbClr val="0000FF"/>
                </a:solidFill>
              </a:rPr>
              <a:t>完整性控制成为其核心支持的功能</a:t>
            </a:r>
            <a:r>
              <a:rPr lang="zh-CN" altLang="en-US" dirty="0"/>
              <a:t>，从而能够为所有用户和应用提供一致的数据库完整性。</a:t>
            </a:r>
            <a:endParaRPr lang="en-US" altLang="zh-CN" dirty="0"/>
          </a:p>
          <a:p>
            <a:pPr lvl="1">
              <a:lnSpc>
                <a:spcPct val="140000"/>
              </a:lnSpc>
            </a:pPr>
            <a:r>
              <a:rPr lang="zh-CN" altLang="en-US" dirty="0">
                <a:solidFill>
                  <a:srgbClr val="C00000"/>
                </a:solidFill>
              </a:rPr>
              <a:t>注：在</a:t>
            </a:r>
            <a:r>
              <a:rPr lang="en-US" altLang="zh-CN" dirty="0" err="1">
                <a:solidFill>
                  <a:srgbClr val="C00000"/>
                </a:solidFill>
              </a:rPr>
              <a:t>openGauss</a:t>
            </a:r>
            <a:r>
              <a:rPr lang="zh-CN" altLang="en-US" dirty="0">
                <a:solidFill>
                  <a:srgbClr val="C00000"/>
                </a:solidFill>
              </a:rPr>
              <a:t>中，表上定义的约束越多，通过应用程序维护数据的工作就越少，但更新数据所需要的时间就越多。</a:t>
            </a: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fld id="{E63F6D5D-9733-4D44-9C56-AEFEDD5A4BA7}" type="slidenum">
              <a:rPr lang="en-US" smtClean="0"/>
              <a:pPr/>
              <a:t>6</a:t>
            </a:fld>
            <a:endParaRPr lang="en-US" dirty="0"/>
          </a:p>
        </p:txBody>
      </p:sp>
      <p:sp>
        <p:nvSpPr>
          <p:cNvPr id="5" name="Rectangle 2">
            <a:extLst>
              <a:ext uri="{FF2B5EF4-FFF2-40B4-BE49-F238E27FC236}">
                <a16:creationId xmlns:a16="http://schemas.microsoft.com/office/drawing/2014/main" id="{CEC98A8F-2AA3-4435-AAE4-2775DD082AFB}"/>
              </a:ext>
            </a:extLst>
          </p:cNvPr>
          <p:cNvSpPr>
            <a:spLocks noGrp="1" noChangeArrowheads="1"/>
          </p:cNvSpPr>
          <p:nvPr>
            <p:ph type="title"/>
          </p:nvPr>
        </p:nvSpPr>
        <p:spPr>
          <a:xfrm>
            <a:off x="1281113" y="238125"/>
            <a:ext cx="9553575" cy="512763"/>
          </a:xfrm>
        </p:spPr>
        <p:txBody>
          <a:bodyPr/>
          <a:lstStyle/>
          <a:p>
            <a:r>
              <a:rPr lang="zh-CN" altLang="en-US"/>
              <a:t>数据库完整性</a:t>
            </a:r>
            <a:r>
              <a:rPr lang="en-US" altLang="zh-CN"/>
              <a:t>(</a:t>
            </a:r>
            <a:r>
              <a:rPr lang="zh-CN" altLang="en-US"/>
              <a:t>续</a:t>
            </a:r>
            <a:r>
              <a:rPr lang="en-US" altLang="zh-CN"/>
              <a:t>)</a:t>
            </a:r>
          </a:p>
        </p:txBody>
      </p:sp>
    </p:spTree>
    <p:extLst>
      <p:ext uri="{BB962C8B-B14F-4D97-AF65-F5344CB8AC3E}">
        <p14:creationId xmlns:p14="http://schemas.microsoft.com/office/powerpoint/2010/main" val="2921340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a:extLst>
              <a:ext uri="{FF2B5EF4-FFF2-40B4-BE49-F238E27FC236}">
                <a16:creationId xmlns:a16="http://schemas.microsoft.com/office/drawing/2014/main" id="{32C378C6-E100-4592-A241-E0EACDB60742}"/>
              </a:ext>
            </a:extLst>
          </p:cNvPr>
          <p:cNvSpPr>
            <a:spLocks noGrp="1" noChangeArrowheads="1"/>
          </p:cNvSpPr>
          <p:nvPr>
            <p:ph type="title"/>
          </p:nvPr>
        </p:nvSpPr>
        <p:spPr/>
        <p:txBody>
          <a:bodyPr/>
          <a:lstStyle/>
          <a:p>
            <a:r>
              <a:rPr lang="en-US" altLang="zh-CN"/>
              <a:t>5.1 </a:t>
            </a:r>
            <a:r>
              <a:rPr lang="zh-CN" altLang="en-US"/>
              <a:t>实体完整性</a:t>
            </a:r>
          </a:p>
        </p:txBody>
      </p:sp>
      <p:sp>
        <p:nvSpPr>
          <p:cNvPr id="425987" name="Rectangle 3">
            <a:extLst>
              <a:ext uri="{FF2B5EF4-FFF2-40B4-BE49-F238E27FC236}">
                <a16:creationId xmlns:a16="http://schemas.microsoft.com/office/drawing/2014/main" id="{564648D9-2885-4755-801C-FA5AB4BDDCAC}"/>
              </a:ext>
            </a:extLst>
          </p:cNvPr>
          <p:cNvSpPr>
            <a:spLocks noGrp="1" noChangeArrowheads="1"/>
          </p:cNvSpPr>
          <p:nvPr>
            <p:ph idx="1"/>
          </p:nvPr>
        </p:nvSpPr>
        <p:spPr/>
        <p:txBody>
          <a:bodyPr/>
          <a:lstStyle/>
          <a:p>
            <a:r>
              <a:rPr lang="en-US" altLang="zh-CN"/>
              <a:t>5.1.1 </a:t>
            </a:r>
            <a:r>
              <a:rPr lang="zh-CN" altLang="en-US"/>
              <a:t>实体完整性定义</a:t>
            </a:r>
          </a:p>
          <a:p>
            <a:r>
              <a:rPr lang="en-US" altLang="zh-CN"/>
              <a:t>5.1.2 </a:t>
            </a:r>
            <a:r>
              <a:rPr lang="zh-CN" altLang="en-US"/>
              <a:t>实体完整性检查和违约处理</a:t>
            </a:r>
          </a:p>
        </p:txBody>
      </p:sp>
      <p:sp>
        <p:nvSpPr>
          <p:cNvPr id="2" name="灯片编号占位符 1">
            <a:extLst>
              <a:ext uri="{FF2B5EF4-FFF2-40B4-BE49-F238E27FC236}">
                <a16:creationId xmlns:a16="http://schemas.microsoft.com/office/drawing/2014/main" id="{D9A7F1B1-6338-4D43-B3CC-EE8EB3F89272}"/>
              </a:ext>
            </a:extLst>
          </p:cNvPr>
          <p:cNvSpPr>
            <a:spLocks noGrp="1"/>
          </p:cNvSpPr>
          <p:nvPr>
            <p:ph type="sldNum" sz="quarter" idx="12"/>
          </p:nvPr>
        </p:nvSpPr>
        <p:spPr/>
        <p:txBody>
          <a:bodyPr/>
          <a:lstStyle/>
          <a:p>
            <a:fld id="{47C9E101-E51D-431E-84FA-C029B8655B60}" type="slidenum">
              <a:rPr lang="zh-CN" altLang="en-US" smtClean="0"/>
              <a:pPr/>
              <a:t>7</a:t>
            </a:fld>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a:extLst>
              <a:ext uri="{FF2B5EF4-FFF2-40B4-BE49-F238E27FC236}">
                <a16:creationId xmlns:a16="http://schemas.microsoft.com/office/drawing/2014/main" id="{07EB3594-CA81-4A72-8629-389EE790E3D9}"/>
              </a:ext>
            </a:extLst>
          </p:cNvPr>
          <p:cNvSpPr>
            <a:spLocks noGrp="1" noChangeArrowheads="1"/>
          </p:cNvSpPr>
          <p:nvPr>
            <p:ph type="title"/>
          </p:nvPr>
        </p:nvSpPr>
        <p:spPr/>
        <p:txBody>
          <a:bodyPr/>
          <a:lstStyle/>
          <a:p>
            <a:r>
              <a:rPr lang="en-US" altLang="zh-CN"/>
              <a:t>5.1.1 </a:t>
            </a:r>
            <a:r>
              <a:rPr lang="zh-CN" altLang="en-US"/>
              <a:t>实体完整性定义</a:t>
            </a:r>
          </a:p>
        </p:txBody>
      </p:sp>
      <p:sp>
        <p:nvSpPr>
          <p:cNvPr id="427011" name="Rectangle 3">
            <a:extLst>
              <a:ext uri="{FF2B5EF4-FFF2-40B4-BE49-F238E27FC236}">
                <a16:creationId xmlns:a16="http://schemas.microsoft.com/office/drawing/2014/main" id="{F1CAD789-CFDA-4D92-9D35-78BDB4E9604C}"/>
              </a:ext>
            </a:extLst>
          </p:cNvPr>
          <p:cNvSpPr>
            <a:spLocks noGrp="1" noChangeArrowheads="1"/>
          </p:cNvSpPr>
          <p:nvPr>
            <p:ph idx="1"/>
          </p:nvPr>
        </p:nvSpPr>
        <p:spPr/>
        <p:txBody>
          <a:bodyPr/>
          <a:lstStyle/>
          <a:p>
            <a:r>
              <a:rPr lang="zh-CN" altLang="en-US" dirty="0"/>
              <a:t>关系模型的实体完整性</a:t>
            </a:r>
          </a:p>
          <a:p>
            <a:pPr lvl="1"/>
            <a:r>
              <a:rPr lang="en-US" altLang="zh-CN" dirty="0"/>
              <a:t>CREATE  TABLE</a:t>
            </a:r>
            <a:r>
              <a:rPr lang="zh-CN" altLang="en-US" dirty="0"/>
              <a:t>中用</a:t>
            </a:r>
            <a:r>
              <a:rPr lang="en-US" altLang="zh-CN" dirty="0">
                <a:solidFill>
                  <a:srgbClr val="C00000"/>
                </a:solidFill>
              </a:rPr>
              <a:t>PRIMARY KEY</a:t>
            </a:r>
            <a:r>
              <a:rPr lang="zh-CN" altLang="en-US" dirty="0"/>
              <a:t>定义</a:t>
            </a:r>
          </a:p>
          <a:p>
            <a:endParaRPr lang="en-US" altLang="zh-CN" dirty="0"/>
          </a:p>
          <a:p>
            <a:r>
              <a:rPr lang="zh-CN" altLang="en-US" dirty="0"/>
              <a:t>单属性构成的码有两种说明方法 </a:t>
            </a:r>
          </a:p>
          <a:p>
            <a:pPr lvl="1"/>
            <a:r>
              <a:rPr lang="zh-CN" altLang="en-US" dirty="0"/>
              <a:t>定义为</a:t>
            </a:r>
            <a:r>
              <a:rPr lang="zh-CN" altLang="en-US" dirty="0">
                <a:solidFill>
                  <a:srgbClr val="C00000"/>
                </a:solidFill>
              </a:rPr>
              <a:t>列级</a:t>
            </a:r>
            <a:r>
              <a:rPr lang="zh-CN" altLang="en-US" dirty="0"/>
              <a:t>约束条件</a:t>
            </a:r>
          </a:p>
          <a:p>
            <a:pPr lvl="1"/>
            <a:r>
              <a:rPr lang="zh-CN" altLang="en-US" dirty="0"/>
              <a:t>定义为</a:t>
            </a:r>
            <a:r>
              <a:rPr lang="zh-CN" altLang="en-US" dirty="0">
                <a:solidFill>
                  <a:srgbClr val="C00000"/>
                </a:solidFill>
              </a:rPr>
              <a:t>表级</a:t>
            </a:r>
            <a:r>
              <a:rPr lang="zh-CN" altLang="en-US" dirty="0"/>
              <a:t>约束条件</a:t>
            </a:r>
          </a:p>
          <a:p>
            <a:endParaRPr lang="en-US" altLang="zh-CN" dirty="0"/>
          </a:p>
          <a:p>
            <a:r>
              <a:rPr lang="zh-CN" altLang="en-US" dirty="0"/>
              <a:t>对多个属性构成的码只有一种说明方法</a:t>
            </a:r>
          </a:p>
          <a:p>
            <a:pPr lvl="1"/>
            <a:r>
              <a:rPr lang="zh-CN" altLang="en-US" dirty="0"/>
              <a:t>定义为</a:t>
            </a:r>
            <a:r>
              <a:rPr lang="zh-CN" altLang="en-US" dirty="0">
                <a:solidFill>
                  <a:srgbClr val="C00000"/>
                </a:solidFill>
              </a:rPr>
              <a:t>表级</a:t>
            </a:r>
            <a:r>
              <a:rPr lang="zh-CN" altLang="en-US" dirty="0"/>
              <a:t>约束条件 </a:t>
            </a:r>
          </a:p>
        </p:txBody>
      </p:sp>
      <p:sp>
        <p:nvSpPr>
          <p:cNvPr id="2" name="灯片编号占位符 1">
            <a:extLst>
              <a:ext uri="{FF2B5EF4-FFF2-40B4-BE49-F238E27FC236}">
                <a16:creationId xmlns:a16="http://schemas.microsoft.com/office/drawing/2014/main" id="{9B589E5B-44E0-4588-9757-6D9F556B9775}"/>
              </a:ext>
            </a:extLst>
          </p:cNvPr>
          <p:cNvSpPr>
            <a:spLocks noGrp="1"/>
          </p:cNvSpPr>
          <p:nvPr>
            <p:ph type="sldNum" sz="quarter" idx="12"/>
          </p:nvPr>
        </p:nvSpPr>
        <p:spPr/>
        <p:txBody>
          <a:bodyPr/>
          <a:lstStyle/>
          <a:p>
            <a:fld id="{47C9E101-E51D-431E-84FA-C029B8655B60}" type="slidenum">
              <a:rPr lang="zh-CN" altLang="en-US" smtClean="0"/>
              <a:pPr/>
              <a:t>8</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701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701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7011">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7011">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70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5" name="Rectangle 3">
            <a:extLst>
              <a:ext uri="{FF2B5EF4-FFF2-40B4-BE49-F238E27FC236}">
                <a16:creationId xmlns:a16="http://schemas.microsoft.com/office/drawing/2014/main" id="{6B018547-9705-4ABF-B962-DE8B46A67825}"/>
              </a:ext>
            </a:extLst>
          </p:cNvPr>
          <p:cNvSpPr>
            <a:spLocks noGrp="1" noChangeArrowheads="1"/>
          </p:cNvSpPr>
          <p:nvPr>
            <p:ph sz="half" idx="1"/>
          </p:nvPr>
        </p:nvSpPr>
        <p:spPr>
          <a:xfrm>
            <a:off x="838200" y="1691404"/>
            <a:ext cx="5181600" cy="4652246"/>
          </a:xfrm>
        </p:spPr>
        <p:txBody>
          <a:bodyPr>
            <a:normAutofit/>
          </a:bodyPr>
          <a:lstStyle/>
          <a:p>
            <a:pPr marL="0" indent="0">
              <a:buNone/>
            </a:pPr>
            <a:r>
              <a:rPr lang="zh-CN" altLang="en-US" sz="1600" dirty="0"/>
              <a:t>  </a:t>
            </a:r>
            <a:r>
              <a:rPr lang="en-US" altLang="zh-CN" sz="1600" dirty="0"/>
              <a:t>(1)</a:t>
            </a:r>
            <a:r>
              <a:rPr lang="zh-CN" altLang="en-US" sz="1600" dirty="0"/>
              <a:t>在列级定义主码 </a:t>
            </a:r>
          </a:p>
          <a:p>
            <a:pPr marL="0" indent="0">
              <a:buNone/>
            </a:pPr>
            <a:r>
              <a:rPr lang="zh-CN" altLang="en-US" sz="1600" dirty="0"/>
              <a:t>     </a:t>
            </a:r>
            <a:r>
              <a:rPr lang="en-US" altLang="zh-CN" sz="1600" dirty="0"/>
              <a:t>CREATE TABLE Student</a:t>
            </a:r>
          </a:p>
          <a:p>
            <a:pPr marL="0" indent="0">
              <a:buNone/>
            </a:pPr>
            <a:r>
              <a:rPr lang="en-US" altLang="zh-CN" sz="1600" dirty="0"/>
              <a:t>        (</a:t>
            </a:r>
            <a:r>
              <a:rPr lang="en-US" altLang="zh-CN" sz="1600" dirty="0" err="1"/>
              <a:t>Sno</a:t>
            </a:r>
            <a:r>
              <a:rPr lang="en-US" altLang="zh-CN" sz="1600" dirty="0"/>
              <a:t>  CHAR(9)  </a:t>
            </a:r>
            <a:r>
              <a:rPr lang="en-US" altLang="zh-CN" sz="1600" dirty="0">
                <a:solidFill>
                  <a:srgbClr val="0000FF"/>
                </a:solidFill>
              </a:rPr>
              <a:t>PRIMARY KEY</a:t>
            </a:r>
            <a:r>
              <a:rPr lang="zh-CN" altLang="en-US" sz="1600" dirty="0"/>
              <a:t>，</a:t>
            </a:r>
          </a:p>
          <a:p>
            <a:pPr marL="0" indent="0">
              <a:buNone/>
            </a:pPr>
            <a:r>
              <a:rPr lang="zh-CN" altLang="en-US" sz="1600" dirty="0"/>
              <a:t>         </a:t>
            </a:r>
            <a:r>
              <a:rPr lang="en-US" altLang="zh-CN" sz="1600" dirty="0" err="1"/>
              <a:t>Sname</a:t>
            </a:r>
            <a:r>
              <a:rPr lang="en-US" altLang="zh-CN" sz="1600" dirty="0"/>
              <a:t>  CHAR(20) NOT NULL</a:t>
            </a:r>
            <a:r>
              <a:rPr lang="zh-CN" altLang="en-US" sz="1600" dirty="0"/>
              <a:t>，     </a:t>
            </a:r>
          </a:p>
          <a:p>
            <a:pPr marL="0" indent="0">
              <a:buNone/>
            </a:pPr>
            <a:r>
              <a:rPr lang="zh-CN" altLang="en-US" sz="1600" dirty="0"/>
              <a:t>         </a:t>
            </a:r>
            <a:r>
              <a:rPr lang="en-US" altLang="zh-CN" sz="1600" dirty="0" err="1"/>
              <a:t>Ssex</a:t>
            </a:r>
            <a:r>
              <a:rPr lang="en-US" altLang="zh-CN" sz="1600" dirty="0"/>
              <a:t>  CHAR(2) </a:t>
            </a:r>
            <a:r>
              <a:rPr lang="zh-CN" altLang="en-US" sz="1600" dirty="0"/>
              <a:t>，</a:t>
            </a:r>
          </a:p>
          <a:p>
            <a:pPr marL="0" indent="0">
              <a:buNone/>
            </a:pPr>
            <a:r>
              <a:rPr lang="zh-CN" altLang="en-US" sz="1600" dirty="0"/>
              <a:t>         </a:t>
            </a:r>
            <a:r>
              <a:rPr lang="en-US" altLang="zh-CN" sz="1600" dirty="0"/>
              <a:t>Sage  SMALLINT</a:t>
            </a:r>
            <a:r>
              <a:rPr lang="zh-CN" altLang="en-US" sz="1600" dirty="0"/>
              <a:t>，</a:t>
            </a:r>
          </a:p>
          <a:p>
            <a:pPr marL="0" indent="0">
              <a:buNone/>
            </a:pPr>
            <a:r>
              <a:rPr lang="zh-CN" altLang="en-US" sz="1600" dirty="0"/>
              <a:t>         </a:t>
            </a:r>
            <a:r>
              <a:rPr lang="en-US" altLang="zh-CN" sz="1600" dirty="0" err="1"/>
              <a:t>Sdept</a:t>
            </a:r>
            <a:r>
              <a:rPr lang="en-US" altLang="zh-CN" sz="1600" dirty="0"/>
              <a:t>  CHAR(20)</a:t>
            </a:r>
          </a:p>
          <a:p>
            <a:pPr marL="0" indent="0">
              <a:buNone/>
            </a:pPr>
            <a:r>
              <a:rPr lang="en-US" altLang="zh-CN" sz="1600" dirty="0"/>
              <a:t>        );</a:t>
            </a:r>
          </a:p>
        </p:txBody>
      </p:sp>
      <p:sp>
        <p:nvSpPr>
          <p:cNvPr id="9" name="内容占位符 8">
            <a:extLst>
              <a:ext uri="{FF2B5EF4-FFF2-40B4-BE49-F238E27FC236}">
                <a16:creationId xmlns:a16="http://schemas.microsoft.com/office/drawing/2014/main" id="{99F8DDCE-5FCA-43F9-AAAB-0154E52A6B9A}"/>
              </a:ext>
            </a:extLst>
          </p:cNvPr>
          <p:cNvSpPr>
            <a:spLocks noGrp="1"/>
          </p:cNvSpPr>
          <p:nvPr>
            <p:ph sz="half" idx="2"/>
          </p:nvPr>
        </p:nvSpPr>
        <p:spPr>
          <a:xfrm>
            <a:off x="6172200" y="1658238"/>
            <a:ext cx="5181600" cy="4689494"/>
          </a:xfrm>
        </p:spPr>
        <p:txBody>
          <a:bodyPr>
            <a:normAutofit/>
          </a:bodyPr>
          <a:lstStyle/>
          <a:p>
            <a:pPr marL="0" indent="0">
              <a:buNone/>
            </a:pPr>
            <a:r>
              <a:rPr lang="en-US" altLang="zh-CN" sz="1600" dirty="0"/>
              <a:t>(2)</a:t>
            </a:r>
            <a:r>
              <a:rPr lang="zh-CN" altLang="en-US" sz="1600" dirty="0"/>
              <a:t>在表级定义主码</a:t>
            </a:r>
          </a:p>
          <a:p>
            <a:pPr marL="0" indent="0">
              <a:buNone/>
            </a:pPr>
            <a:r>
              <a:rPr lang="zh-CN" altLang="en-US" sz="1600" dirty="0"/>
              <a:t>    </a:t>
            </a:r>
            <a:r>
              <a:rPr lang="en-US" altLang="zh-CN" sz="1600" dirty="0"/>
              <a:t>CREATE TABLE Student</a:t>
            </a:r>
          </a:p>
          <a:p>
            <a:pPr marL="0" indent="0">
              <a:buNone/>
            </a:pPr>
            <a:r>
              <a:rPr lang="en-US" altLang="zh-CN" sz="1600" dirty="0"/>
              <a:t>        (</a:t>
            </a:r>
            <a:r>
              <a:rPr lang="en-US" altLang="zh-CN" sz="1600" dirty="0" err="1"/>
              <a:t>Sno</a:t>
            </a:r>
            <a:r>
              <a:rPr lang="en-US" altLang="zh-CN" sz="1600" dirty="0"/>
              <a:t>  CHAR(9)</a:t>
            </a:r>
            <a:r>
              <a:rPr lang="zh-CN" altLang="en-US" sz="1600" dirty="0"/>
              <a:t>，  </a:t>
            </a:r>
          </a:p>
          <a:p>
            <a:pPr marL="0" indent="0">
              <a:buNone/>
            </a:pPr>
            <a:r>
              <a:rPr lang="zh-CN" altLang="en-US" sz="1600" dirty="0"/>
              <a:t>         </a:t>
            </a:r>
            <a:r>
              <a:rPr lang="en-US" altLang="zh-CN" sz="1600" dirty="0" err="1"/>
              <a:t>Sname</a:t>
            </a:r>
            <a:r>
              <a:rPr lang="en-US" altLang="zh-CN" sz="1600" dirty="0"/>
              <a:t>  CHAR(20) NOT NULL</a:t>
            </a:r>
            <a:r>
              <a:rPr lang="zh-CN" altLang="en-US" sz="1600" dirty="0"/>
              <a:t>，</a:t>
            </a:r>
          </a:p>
          <a:p>
            <a:pPr marL="0" indent="0">
              <a:buNone/>
            </a:pPr>
            <a:r>
              <a:rPr lang="zh-CN" altLang="en-US" sz="1600" dirty="0"/>
              <a:t>         </a:t>
            </a:r>
            <a:r>
              <a:rPr lang="en-US" altLang="zh-CN" sz="1600" dirty="0" err="1"/>
              <a:t>Ssex</a:t>
            </a:r>
            <a:r>
              <a:rPr lang="en-US" altLang="zh-CN" sz="1600" dirty="0"/>
              <a:t>  CHAR(2) </a:t>
            </a:r>
            <a:r>
              <a:rPr lang="zh-CN" altLang="en-US" sz="1600" dirty="0"/>
              <a:t>，</a:t>
            </a:r>
          </a:p>
          <a:p>
            <a:pPr marL="0" indent="0">
              <a:buNone/>
            </a:pPr>
            <a:r>
              <a:rPr lang="zh-CN" altLang="en-US" sz="1600" dirty="0"/>
              <a:t>         </a:t>
            </a:r>
            <a:r>
              <a:rPr lang="en-US" altLang="zh-CN" sz="1600" dirty="0"/>
              <a:t>Sage  SMALLINT</a:t>
            </a:r>
            <a:r>
              <a:rPr lang="zh-CN" altLang="en-US" sz="1600" dirty="0"/>
              <a:t>，</a:t>
            </a:r>
          </a:p>
          <a:p>
            <a:pPr marL="0" indent="0">
              <a:buNone/>
            </a:pPr>
            <a:r>
              <a:rPr lang="zh-CN" altLang="en-US" sz="1600" dirty="0"/>
              <a:t>         </a:t>
            </a:r>
            <a:r>
              <a:rPr lang="en-US" altLang="zh-CN" sz="1600" dirty="0" err="1"/>
              <a:t>Sdept</a:t>
            </a:r>
            <a:r>
              <a:rPr lang="en-US" altLang="zh-CN" sz="1600" dirty="0"/>
              <a:t>  CHAR(20)</a:t>
            </a:r>
            <a:r>
              <a:rPr lang="zh-CN" altLang="en-US" sz="1600" dirty="0"/>
              <a:t>，</a:t>
            </a:r>
          </a:p>
          <a:p>
            <a:pPr marL="0" indent="0">
              <a:buNone/>
            </a:pPr>
            <a:r>
              <a:rPr lang="zh-CN" altLang="en-US" sz="1600" dirty="0"/>
              <a:t>         </a:t>
            </a:r>
            <a:r>
              <a:rPr lang="en-US" altLang="zh-CN" sz="1600" dirty="0">
                <a:solidFill>
                  <a:srgbClr val="0000FF"/>
                </a:solidFill>
              </a:rPr>
              <a:t>PRIMARY KEY (</a:t>
            </a:r>
            <a:r>
              <a:rPr lang="en-US" altLang="zh-CN" sz="1600" dirty="0" err="1">
                <a:solidFill>
                  <a:srgbClr val="0000FF"/>
                </a:solidFill>
              </a:rPr>
              <a:t>Sno</a:t>
            </a:r>
            <a:r>
              <a:rPr lang="en-US" altLang="zh-CN" sz="1600" dirty="0">
                <a:solidFill>
                  <a:srgbClr val="0000FF"/>
                </a:solidFill>
              </a:rPr>
              <a:t>)</a:t>
            </a:r>
          </a:p>
          <a:p>
            <a:pPr marL="0" indent="0">
              <a:buNone/>
            </a:pPr>
            <a:r>
              <a:rPr lang="en-US" altLang="zh-CN" sz="1600" dirty="0"/>
              <a:t>      ); </a:t>
            </a:r>
          </a:p>
          <a:p>
            <a:pPr marL="0" indent="0">
              <a:buNone/>
            </a:pPr>
            <a:endParaRPr lang="zh-CN" altLang="en-US" sz="1600" dirty="0"/>
          </a:p>
        </p:txBody>
      </p:sp>
      <p:sp>
        <p:nvSpPr>
          <p:cNvPr id="2" name="灯片编号占位符 1">
            <a:extLst>
              <a:ext uri="{FF2B5EF4-FFF2-40B4-BE49-F238E27FC236}">
                <a16:creationId xmlns:a16="http://schemas.microsoft.com/office/drawing/2014/main" id="{D297FD29-D8F9-493E-B042-FC33020AA39E}"/>
              </a:ext>
            </a:extLst>
          </p:cNvPr>
          <p:cNvSpPr>
            <a:spLocks noGrp="1"/>
          </p:cNvSpPr>
          <p:nvPr>
            <p:ph type="sldNum" sz="quarter" idx="12"/>
          </p:nvPr>
        </p:nvSpPr>
        <p:spPr/>
        <p:txBody>
          <a:bodyPr/>
          <a:lstStyle/>
          <a:p>
            <a:fld id="{47C9E101-E51D-431E-84FA-C029B8655B60}" type="slidenum">
              <a:rPr lang="zh-CN" altLang="en-US" smtClean="0"/>
              <a:t>9</a:t>
            </a:fld>
            <a:endParaRPr lang="zh-CN" altLang="en-US"/>
          </a:p>
        </p:txBody>
      </p:sp>
      <p:sp>
        <p:nvSpPr>
          <p:cNvPr id="428034" name="Rectangle 2">
            <a:extLst>
              <a:ext uri="{FF2B5EF4-FFF2-40B4-BE49-F238E27FC236}">
                <a16:creationId xmlns:a16="http://schemas.microsoft.com/office/drawing/2014/main" id="{39891EA7-F8B9-4214-8D33-1BEC4BE9E4D5}"/>
              </a:ext>
            </a:extLst>
          </p:cNvPr>
          <p:cNvSpPr>
            <a:spLocks noGrp="1" noChangeArrowheads="1"/>
          </p:cNvSpPr>
          <p:nvPr>
            <p:ph type="title"/>
          </p:nvPr>
        </p:nvSpPr>
        <p:spPr/>
        <p:txBody>
          <a:bodyPr/>
          <a:lstStyle/>
          <a:p>
            <a:r>
              <a:rPr lang="zh-CN" altLang="en-US"/>
              <a:t>实体完整性定义</a:t>
            </a:r>
            <a:r>
              <a:rPr lang="en-US" altLang="zh-CN"/>
              <a:t>(</a:t>
            </a:r>
            <a:r>
              <a:rPr lang="zh-CN" altLang="en-US"/>
              <a:t>续</a:t>
            </a:r>
            <a:r>
              <a:rPr lang="en-US" altLang="zh-CN"/>
              <a:t>)</a:t>
            </a:r>
          </a:p>
        </p:txBody>
      </p:sp>
      <p:sp>
        <p:nvSpPr>
          <p:cNvPr id="7" name="文本占位符 6">
            <a:extLst>
              <a:ext uri="{FF2B5EF4-FFF2-40B4-BE49-F238E27FC236}">
                <a16:creationId xmlns:a16="http://schemas.microsoft.com/office/drawing/2014/main" id="{5D9A1810-D4A8-4CAB-B8AD-545131B83197}"/>
              </a:ext>
            </a:extLst>
          </p:cNvPr>
          <p:cNvSpPr>
            <a:spLocks noGrp="1"/>
          </p:cNvSpPr>
          <p:nvPr>
            <p:ph type="body" idx="4294967295"/>
          </p:nvPr>
        </p:nvSpPr>
        <p:spPr>
          <a:xfrm>
            <a:off x="848070" y="1137818"/>
            <a:ext cx="7886700" cy="538163"/>
          </a:xfrm>
        </p:spPr>
        <p:txBody>
          <a:bodyPr>
            <a:normAutofit/>
          </a:bodyPr>
          <a:lstStyle/>
          <a:p>
            <a:pPr marL="342900" indent="-342900">
              <a:buFont typeface="Arial" panose="020B0604020202020204" pitchFamily="34" charset="0"/>
              <a:buChar char="•"/>
            </a:pPr>
            <a:r>
              <a:rPr lang="en-US" altLang="zh-CN" sz="2100" dirty="0"/>
              <a:t>[</a:t>
            </a:r>
            <a:r>
              <a:rPr lang="zh-CN" altLang="en-US" sz="2100" dirty="0"/>
              <a:t>例</a:t>
            </a:r>
            <a:r>
              <a:rPr lang="en-US" altLang="zh-CN" sz="2100" dirty="0"/>
              <a:t>1]</a:t>
            </a:r>
            <a:r>
              <a:rPr lang="zh-CN" altLang="en-US" sz="2100" dirty="0"/>
              <a:t>将</a:t>
            </a:r>
            <a:r>
              <a:rPr lang="en-US" altLang="zh-CN" sz="2100" dirty="0"/>
              <a:t>Student</a:t>
            </a:r>
            <a:r>
              <a:rPr lang="zh-CN" altLang="en-US" sz="2100" dirty="0"/>
              <a:t>表中的</a:t>
            </a:r>
            <a:r>
              <a:rPr lang="en-US" altLang="zh-CN" sz="2100" dirty="0" err="1"/>
              <a:t>Sno</a:t>
            </a:r>
            <a:r>
              <a:rPr lang="zh-CN" altLang="en-US" sz="2100" dirty="0"/>
              <a:t>属性定义为码</a:t>
            </a:r>
          </a:p>
        </p:txBody>
      </p:sp>
      <p:sp>
        <p:nvSpPr>
          <p:cNvPr id="12" name="Text Box 5">
            <a:extLst>
              <a:ext uri="{FF2B5EF4-FFF2-40B4-BE49-F238E27FC236}">
                <a16:creationId xmlns:a16="http://schemas.microsoft.com/office/drawing/2014/main" id="{EBC2608C-2CD0-42EB-BC87-AAFA38B463EA}"/>
              </a:ext>
            </a:extLst>
          </p:cNvPr>
          <p:cNvSpPr txBox="1">
            <a:spLocks noChangeArrowheads="1"/>
          </p:cNvSpPr>
          <p:nvPr/>
        </p:nvSpPr>
        <p:spPr bwMode="auto">
          <a:xfrm>
            <a:off x="1448499" y="5807240"/>
            <a:ext cx="7921625" cy="40011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lvl1pPr>
              <a:spcBef>
                <a:spcPct val="20000"/>
              </a:spcBef>
              <a:buClr>
                <a:srgbClr val="3333FF"/>
              </a:buClr>
              <a:buSzPct val="7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0000"/>
              </a:buClr>
              <a:buSzPct val="7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FF9900"/>
              </a:buClr>
              <a:buSzPct val="75000"/>
              <a:buFont typeface="Wingdings" panose="05000000000000000000" pitchFamily="2" charset="2"/>
              <a:buChar char="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000" b="0" dirty="0">
                <a:ea typeface="楷体_GB2312" pitchFamily="49" charset="-122"/>
              </a:rPr>
              <a:t>对单属性构成的码可定义为列级约束条件也可定义为表级约束条件。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80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inVertic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5" grpId="0"/>
      <p:bldP spid="9" grpId="0"/>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a:extLst>
              <a:ext uri="{FF2B5EF4-FFF2-40B4-BE49-F238E27FC236}">
                <a16:creationId xmlns:a16="http://schemas.microsoft.com/office/drawing/2014/main" id="{8989946A-EADE-4EBB-9E9B-5B6D56C81652}"/>
              </a:ext>
            </a:extLst>
          </p:cNvPr>
          <p:cNvSpPr>
            <a:spLocks noGrp="1" noChangeArrowheads="1"/>
          </p:cNvSpPr>
          <p:nvPr>
            <p:ph type="title"/>
          </p:nvPr>
        </p:nvSpPr>
        <p:spPr/>
        <p:txBody>
          <a:bodyPr/>
          <a:lstStyle/>
          <a:p>
            <a:r>
              <a:rPr lang="zh-CN" altLang="en-US"/>
              <a:t>实体完整性定义</a:t>
            </a:r>
            <a:r>
              <a:rPr lang="en-US" altLang="zh-CN"/>
              <a:t>(</a:t>
            </a:r>
            <a:r>
              <a:rPr lang="zh-CN" altLang="en-US"/>
              <a:t>续</a:t>
            </a:r>
            <a:r>
              <a:rPr lang="en-US" altLang="zh-CN"/>
              <a:t>)</a:t>
            </a:r>
          </a:p>
        </p:txBody>
      </p:sp>
      <p:sp>
        <p:nvSpPr>
          <p:cNvPr id="430083" name="Rectangle 3">
            <a:extLst>
              <a:ext uri="{FF2B5EF4-FFF2-40B4-BE49-F238E27FC236}">
                <a16:creationId xmlns:a16="http://schemas.microsoft.com/office/drawing/2014/main" id="{F0A419F4-533D-4687-BE54-786C1A0496C6}"/>
              </a:ext>
            </a:extLst>
          </p:cNvPr>
          <p:cNvSpPr>
            <a:spLocks noGrp="1" noChangeArrowheads="1"/>
          </p:cNvSpPr>
          <p:nvPr>
            <p:ph idx="1"/>
          </p:nvPr>
        </p:nvSpPr>
        <p:spPr/>
        <p:txBody>
          <a:bodyPr/>
          <a:lstStyle/>
          <a:p>
            <a:r>
              <a:rPr lang="en-US" altLang="zh-CN" dirty="0"/>
              <a:t>[</a:t>
            </a:r>
            <a:r>
              <a:rPr lang="zh-CN" altLang="en-US" dirty="0"/>
              <a:t>例</a:t>
            </a:r>
            <a:r>
              <a:rPr lang="en-US" altLang="zh-CN" dirty="0"/>
              <a:t>2</a:t>
            </a:r>
            <a:r>
              <a:rPr lang="zh-CN" altLang="en-US" dirty="0"/>
              <a:t>］将</a:t>
            </a:r>
            <a:r>
              <a:rPr lang="en-US" altLang="zh-CN" dirty="0"/>
              <a:t>SC</a:t>
            </a:r>
            <a:r>
              <a:rPr lang="zh-CN" altLang="en-US" dirty="0"/>
              <a:t>表中的</a:t>
            </a:r>
            <a:r>
              <a:rPr lang="en-US" altLang="zh-CN" dirty="0" err="1"/>
              <a:t>Sno</a:t>
            </a:r>
            <a:r>
              <a:rPr lang="zh-CN" altLang="en-US" dirty="0"/>
              <a:t>，</a:t>
            </a:r>
            <a:r>
              <a:rPr lang="en-US" altLang="zh-CN" dirty="0" err="1"/>
              <a:t>Cno</a:t>
            </a:r>
            <a:r>
              <a:rPr lang="zh-CN" altLang="en-US" dirty="0"/>
              <a:t>属性组定义为码</a:t>
            </a:r>
          </a:p>
          <a:p>
            <a:pPr marL="342900" lvl="1" indent="0">
              <a:buNone/>
            </a:pPr>
            <a:r>
              <a:rPr lang="zh-CN" altLang="en-US" dirty="0"/>
              <a:t>      </a:t>
            </a:r>
            <a:r>
              <a:rPr lang="en-US" altLang="zh-CN" dirty="0"/>
              <a:t>CREATE TABLE SC</a:t>
            </a:r>
          </a:p>
          <a:p>
            <a:pPr marL="342900" lvl="1" indent="0">
              <a:buNone/>
            </a:pPr>
            <a:r>
              <a:rPr lang="en-US" altLang="zh-CN" dirty="0"/>
              <a:t>           (</a:t>
            </a:r>
            <a:r>
              <a:rPr lang="en-US" altLang="zh-CN" dirty="0" err="1"/>
              <a:t>Sno</a:t>
            </a:r>
            <a:r>
              <a:rPr lang="en-US" altLang="zh-CN" dirty="0"/>
              <a:t>   CHAR(9)  NOT NULL</a:t>
            </a:r>
            <a:r>
              <a:rPr lang="zh-CN" altLang="en-US" dirty="0"/>
              <a:t>， </a:t>
            </a:r>
          </a:p>
          <a:p>
            <a:pPr marL="342900" lvl="1" indent="0">
              <a:buNone/>
            </a:pPr>
            <a:r>
              <a:rPr lang="zh-CN" altLang="en-US" dirty="0"/>
              <a:t>            </a:t>
            </a:r>
            <a:r>
              <a:rPr lang="en-US" altLang="zh-CN" dirty="0" err="1"/>
              <a:t>Cno</a:t>
            </a:r>
            <a:r>
              <a:rPr lang="en-US" altLang="zh-CN" dirty="0"/>
              <a:t>  CHAR(4)  NOT NULL</a:t>
            </a:r>
            <a:r>
              <a:rPr lang="zh-CN" altLang="en-US" dirty="0"/>
              <a:t>，  </a:t>
            </a:r>
          </a:p>
          <a:p>
            <a:pPr marL="342900" lvl="1" indent="0">
              <a:buNone/>
            </a:pPr>
            <a:r>
              <a:rPr lang="zh-CN" altLang="en-US" dirty="0"/>
              <a:t>            </a:t>
            </a:r>
            <a:r>
              <a:rPr lang="en-US" altLang="zh-CN" dirty="0"/>
              <a:t>Grade    SMALLINT</a:t>
            </a:r>
            <a:r>
              <a:rPr lang="zh-CN" altLang="en-US" dirty="0"/>
              <a:t>，</a:t>
            </a:r>
          </a:p>
          <a:p>
            <a:pPr marL="342900" lvl="1" indent="0">
              <a:buNone/>
            </a:pPr>
            <a:r>
              <a:rPr lang="zh-CN" altLang="en-US" dirty="0"/>
              <a:t>            </a:t>
            </a:r>
            <a:r>
              <a:rPr lang="en-US" altLang="zh-CN" dirty="0">
                <a:solidFill>
                  <a:srgbClr val="0000FF"/>
                </a:solidFill>
              </a:rPr>
              <a:t>PRIMARY KEY (</a:t>
            </a:r>
            <a:r>
              <a:rPr lang="en-US" altLang="zh-CN" dirty="0" err="1">
                <a:solidFill>
                  <a:srgbClr val="0000FF"/>
                </a:solidFill>
              </a:rPr>
              <a:t>Sno</a:t>
            </a:r>
            <a:r>
              <a:rPr lang="zh-CN" altLang="en-US" dirty="0">
                <a:solidFill>
                  <a:srgbClr val="0000FF"/>
                </a:solidFill>
              </a:rPr>
              <a:t>，</a:t>
            </a:r>
            <a:r>
              <a:rPr lang="en-US" altLang="zh-CN" dirty="0" err="1">
                <a:solidFill>
                  <a:srgbClr val="0000FF"/>
                </a:solidFill>
              </a:rPr>
              <a:t>Cno</a:t>
            </a:r>
            <a:r>
              <a:rPr lang="en-US" altLang="zh-CN" dirty="0">
                <a:solidFill>
                  <a:srgbClr val="0000FF"/>
                </a:solidFill>
              </a:rPr>
              <a:t>)     /*</a:t>
            </a:r>
            <a:r>
              <a:rPr lang="zh-CN" altLang="en-US" dirty="0">
                <a:solidFill>
                  <a:srgbClr val="0000FF"/>
                </a:solidFill>
              </a:rPr>
              <a:t>只能在表级定义主码*</a:t>
            </a:r>
            <a:r>
              <a:rPr lang="en-US" altLang="zh-CN" dirty="0">
                <a:solidFill>
                  <a:srgbClr val="0000FF"/>
                </a:solidFill>
              </a:rPr>
              <a:t>/</a:t>
            </a:r>
          </a:p>
          <a:p>
            <a:pPr marL="342900" lvl="1" indent="0">
              <a:buNone/>
            </a:pPr>
            <a:r>
              <a:rPr lang="en-US" altLang="zh-CN" dirty="0"/>
              <a:t>          ); </a:t>
            </a:r>
          </a:p>
        </p:txBody>
      </p:sp>
      <p:sp>
        <p:nvSpPr>
          <p:cNvPr id="2" name="灯片编号占位符 1">
            <a:extLst>
              <a:ext uri="{FF2B5EF4-FFF2-40B4-BE49-F238E27FC236}">
                <a16:creationId xmlns:a16="http://schemas.microsoft.com/office/drawing/2014/main" id="{9E45BA4A-70B4-4074-BB0E-3A6979EA74E2}"/>
              </a:ext>
            </a:extLst>
          </p:cNvPr>
          <p:cNvSpPr>
            <a:spLocks noGrp="1"/>
          </p:cNvSpPr>
          <p:nvPr>
            <p:ph type="sldNum" sz="quarter" idx="12"/>
          </p:nvPr>
        </p:nvSpPr>
        <p:spPr/>
        <p:txBody>
          <a:bodyPr/>
          <a:lstStyle/>
          <a:p>
            <a:fld id="{47C9E101-E51D-431E-84FA-C029B8655B60}" type="slidenum">
              <a:rPr lang="zh-CN" altLang="en-US" smtClean="0"/>
              <a:pPr/>
              <a:t>10</a:t>
            </a:fld>
            <a:endParaRPr lang="zh-CN" altLang="en-US" dirty="0"/>
          </a:p>
        </p:txBody>
      </p:sp>
      <p:sp>
        <p:nvSpPr>
          <p:cNvPr id="7" name="Text Box 5">
            <a:extLst>
              <a:ext uri="{FF2B5EF4-FFF2-40B4-BE49-F238E27FC236}">
                <a16:creationId xmlns:a16="http://schemas.microsoft.com/office/drawing/2014/main" id="{AD0350E8-601F-4494-83D9-3E54BE95FB1E}"/>
              </a:ext>
            </a:extLst>
          </p:cNvPr>
          <p:cNvSpPr txBox="1">
            <a:spLocks noChangeArrowheads="1"/>
          </p:cNvSpPr>
          <p:nvPr/>
        </p:nvSpPr>
        <p:spPr bwMode="auto">
          <a:xfrm>
            <a:off x="2710208" y="4983327"/>
            <a:ext cx="5491831" cy="40011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lvl1pPr>
              <a:spcBef>
                <a:spcPct val="20000"/>
              </a:spcBef>
              <a:buClr>
                <a:srgbClr val="3333FF"/>
              </a:buClr>
              <a:buSzPct val="7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0000"/>
              </a:buClr>
              <a:buSzPct val="7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FF9900"/>
              </a:buClr>
              <a:buSzPct val="75000"/>
              <a:buFont typeface="Wingdings" panose="05000000000000000000" pitchFamily="2" charset="2"/>
              <a:buChar char="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zh-CN" altLang="en-US" sz="2000" b="0" dirty="0">
                <a:ea typeface="楷体_GB2312" pitchFamily="49" charset="-122"/>
              </a:rPr>
              <a:t>对多个属性构成的码只能定义为表级约束条件。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08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08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008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08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08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008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inVertical)">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a:extLst>
              <a:ext uri="{FF2B5EF4-FFF2-40B4-BE49-F238E27FC236}">
                <a16:creationId xmlns:a16="http://schemas.microsoft.com/office/drawing/2014/main" id="{F3D678EB-52BE-4593-A356-1AA373430AC8}"/>
              </a:ext>
            </a:extLst>
          </p:cNvPr>
          <p:cNvSpPr>
            <a:spLocks noGrp="1" noChangeArrowheads="1"/>
          </p:cNvSpPr>
          <p:nvPr>
            <p:ph type="title"/>
          </p:nvPr>
        </p:nvSpPr>
        <p:spPr/>
        <p:txBody>
          <a:bodyPr/>
          <a:lstStyle/>
          <a:p>
            <a:r>
              <a:rPr lang="en-US" altLang="zh-CN"/>
              <a:t>5.1.2 </a:t>
            </a:r>
            <a:r>
              <a:rPr lang="zh-CN" altLang="en-US"/>
              <a:t>实体完整性检查和违约处理</a:t>
            </a:r>
          </a:p>
        </p:txBody>
      </p:sp>
      <p:sp>
        <p:nvSpPr>
          <p:cNvPr id="431107" name="Rectangle 3">
            <a:extLst>
              <a:ext uri="{FF2B5EF4-FFF2-40B4-BE49-F238E27FC236}">
                <a16:creationId xmlns:a16="http://schemas.microsoft.com/office/drawing/2014/main" id="{F7759B4F-34A5-4C07-9176-EE5FC0560EA5}"/>
              </a:ext>
            </a:extLst>
          </p:cNvPr>
          <p:cNvSpPr>
            <a:spLocks noGrp="1" noChangeArrowheads="1"/>
          </p:cNvSpPr>
          <p:nvPr>
            <p:ph idx="1"/>
          </p:nvPr>
        </p:nvSpPr>
        <p:spPr/>
        <p:txBody>
          <a:bodyPr/>
          <a:lstStyle/>
          <a:p>
            <a:r>
              <a:rPr lang="zh-CN" altLang="en-US" dirty="0"/>
              <a:t>插入或对主码列进行更新操作时，</a:t>
            </a:r>
            <a:r>
              <a:rPr lang="en-US" altLang="zh-CN" dirty="0"/>
              <a:t>RDBMS</a:t>
            </a:r>
            <a:r>
              <a:rPr lang="zh-CN" altLang="en-US" dirty="0"/>
              <a:t>按照实体完整性规则自动进行检查。</a:t>
            </a:r>
            <a:endParaRPr lang="en-US" altLang="zh-CN" dirty="0"/>
          </a:p>
          <a:p>
            <a:r>
              <a:rPr lang="zh-CN" altLang="en-US" dirty="0"/>
              <a:t>包括：</a:t>
            </a:r>
          </a:p>
          <a:p>
            <a:pPr lvl="1"/>
            <a:r>
              <a:rPr lang="en-US" altLang="zh-CN" dirty="0"/>
              <a:t>1. </a:t>
            </a:r>
            <a:r>
              <a:rPr lang="zh-CN" altLang="en-US" dirty="0"/>
              <a:t>检查主</a:t>
            </a:r>
            <a:r>
              <a:rPr lang="zh-CN" altLang="en-US" dirty="0">
                <a:solidFill>
                  <a:srgbClr val="C00000"/>
                </a:solidFill>
              </a:rPr>
              <a:t>码值是否唯一</a:t>
            </a:r>
            <a:r>
              <a:rPr lang="zh-CN" altLang="en-US" dirty="0"/>
              <a:t>，如果不唯一则拒绝插入或修改</a:t>
            </a:r>
          </a:p>
          <a:p>
            <a:pPr lvl="1"/>
            <a:r>
              <a:rPr lang="en-US" altLang="zh-CN" dirty="0"/>
              <a:t>2. </a:t>
            </a:r>
            <a:r>
              <a:rPr lang="zh-CN" altLang="en-US" dirty="0"/>
              <a:t>检查</a:t>
            </a:r>
            <a:r>
              <a:rPr lang="zh-CN" altLang="en-US" dirty="0">
                <a:solidFill>
                  <a:srgbClr val="C00000"/>
                </a:solidFill>
              </a:rPr>
              <a:t>主码的各个属性是否为空</a:t>
            </a:r>
            <a:r>
              <a:rPr lang="zh-CN" altLang="en-US" dirty="0"/>
              <a:t>，只要有一个为空就拒绝插入或修改</a:t>
            </a:r>
          </a:p>
          <a:p>
            <a:endParaRPr lang="en-US" altLang="zh-CN" dirty="0"/>
          </a:p>
        </p:txBody>
      </p:sp>
      <p:sp>
        <p:nvSpPr>
          <p:cNvPr id="2" name="灯片编号占位符 1">
            <a:extLst>
              <a:ext uri="{FF2B5EF4-FFF2-40B4-BE49-F238E27FC236}">
                <a16:creationId xmlns:a16="http://schemas.microsoft.com/office/drawing/2014/main" id="{9EDBEAFB-69DD-4F00-9E2F-58342B01CF1C}"/>
              </a:ext>
            </a:extLst>
          </p:cNvPr>
          <p:cNvSpPr>
            <a:spLocks noGrp="1"/>
          </p:cNvSpPr>
          <p:nvPr>
            <p:ph type="sldNum" sz="quarter" idx="12"/>
          </p:nvPr>
        </p:nvSpPr>
        <p:spPr/>
        <p:txBody>
          <a:bodyPr/>
          <a:lstStyle/>
          <a:p>
            <a:fld id="{47C9E101-E51D-431E-84FA-C029B8655B60}" type="slidenum">
              <a:rPr lang="zh-CN" altLang="en-US" smtClean="0"/>
              <a:pPr/>
              <a:t>11</a:t>
            </a:fld>
            <a:endParaRPr lang="zh-CN" altLang="en-US" dirty="0"/>
          </a:p>
        </p:txBody>
      </p:sp>
      <p:sp>
        <p:nvSpPr>
          <p:cNvPr id="3" name="云形 2">
            <a:extLst>
              <a:ext uri="{FF2B5EF4-FFF2-40B4-BE49-F238E27FC236}">
                <a16:creationId xmlns:a16="http://schemas.microsoft.com/office/drawing/2014/main" id="{8909C99A-D31D-4AE4-BEFE-734020C2C73F}"/>
              </a:ext>
            </a:extLst>
          </p:cNvPr>
          <p:cNvSpPr/>
          <p:nvPr/>
        </p:nvSpPr>
        <p:spPr>
          <a:xfrm>
            <a:off x="4604084" y="3647975"/>
            <a:ext cx="2743200" cy="1491916"/>
          </a:xfrm>
          <a:prstGeom prst="cloud">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b="1" dirty="0"/>
              <a:t>如何实现？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110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110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110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500" fill="hold"/>
                                        <p:tgtEl>
                                          <p:spTgt spid="3"/>
                                        </p:tgtEl>
                                        <p:attrNameLst>
                                          <p:attrName>ppt_w</p:attrName>
                                        </p:attrNameLst>
                                      </p:cBhvr>
                                      <p:tavLst>
                                        <p:tav tm="0">
                                          <p:val>
                                            <p:fltVal val="0"/>
                                          </p:val>
                                        </p:tav>
                                        <p:tav tm="100000">
                                          <p:val>
                                            <p:strVal val="#ppt_w"/>
                                          </p:val>
                                        </p:tav>
                                      </p:tavLst>
                                    </p:anim>
                                    <p:anim calcmode="lin" valueType="num">
                                      <p:cBhvr>
                                        <p:cTn id="16" dur="500" fill="hold"/>
                                        <p:tgtEl>
                                          <p:spTgt spid="3"/>
                                        </p:tgtEl>
                                        <p:attrNameLst>
                                          <p:attrName>ppt_h</p:attrName>
                                        </p:attrNameLst>
                                      </p:cBhvr>
                                      <p:tavLst>
                                        <p:tav tm="0">
                                          <p:val>
                                            <p:fltVal val="0"/>
                                          </p:val>
                                        </p:tav>
                                        <p:tav tm="100000">
                                          <p:val>
                                            <p:strVal val="#ppt_h"/>
                                          </p:val>
                                        </p:tav>
                                      </p:tavLst>
                                    </p:anim>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a:extLst>
              <a:ext uri="{FF2B5EF4-FFF2-40B4-BE49-F238E27FC236}">
                <a16:creationId xmlns:a16="http://schemas.microsoft.com/office/drawing/2014/main" id="{98CB1E34-6001-42E6-9208-7335A8907FAF}"/>
              </a:ext>
            </a:extLst>
          </p:cNvPr>
          <p:cNvSpPr>
            <a:spLocks noGrp="1" noChangeArrowheads="1"/>
          </p:cNvSpPr>
          <p:nvPr>
            <p:ph type="title"/>
          </p:nvPr>
        </p:nvSpPr>
        <p:spPr/>
        <p:txBody>
          <a:bodyPr/>
          <a:lstStyle/>
          <a:p>
            <a:r>
              <a:rPr lang="zh-CN" altLang="en-US"/>
              <a:t>实体完整性检查和违约处理</a:t>
            </a:r>
            <a:r>
              <a:rPr lang="en-US" altLang="zh-CN"/>
              <a:t>(</a:t>
            </a:r>
            <a:r>
              <a:rPr lang="zh-CN" altLang="en-US"/>
              <a:t>续</a:t>
            </a:r>
            <a:r>
              <a:rPr lang="en-US" altLang="zh-CN"/>
              <a:t>)</a:t>
            </a:r>
          </a:p>
        </p:txBody>
      </p:sp>
      <p:sp>
        <p:nvSpPr>
          <p:cNvPr id="432131" name="Rectangle 3">
            <a:extLst>
              <a:ext uri="{FF2B5EF4-FFF2-40B4-BE49-F238E27FC236}">
                <a16:creationId xmlns:a16="http://schemas.microsoft.com/office/drawing/2014/main" id="{22F65574-F906-40F9-88F0-933EF444ED7E}"/>
              </a:ext>
            </a:extLst>
          </p:cNvPr>
          <p:cNvSpPr>
            <a:spLocks noGrp="1" noChangeArrowheads="1"/>
          </p:cNvSpPr>
          <p:nvPr>
            <p:ph idx="1"/>
          </p:nvPr>
        </p:nvSpPr>
        <p:spPr/>
        <p:txBody>
          <a:bodyPr/>
          <a:lstStyle/>
          <a:p>
            <a:r>
              <a:rPr lang="zh-CN" altLang="en-US" dirty="0"/>
              <a:t>检查记录中主码值是否唯一的一种方法是进行</a:t>
            </a:r>
            <a:r>
              <a:rPr lang="zh-CN" altLang="en-US" dirty="0">
                <a:solidFill>
                  <a:srgbClr val="C00000"/>
                </a:solidFill>
              </a:rPr>
              <a:t>全表扫描</a:t>
            </a:r>
            <a:endParaRPr lang="en-US" altLang="zh-CN" dirty="0">
              <a:solidFill>
                <a:srgbClr val="C00000"/>
              </a:solidFill>
            </a:endParaRPr>
          </a:p>
          <a:p>
            <a:pPr lvl="1"/>
            <a:r>
              <a:rPr lang="zh-CN" altLang="en-US" dirty="0"/>
              <a:t>依次判断表中每一条记录的主码值与将插入记录上的主码值（或者修改的新主码值）是否相同</a:t>
            </a:r>
          </a:p>
        </p:txBody>
      </p:sp>
      <p:sp>
        <p:nvSpPr>
          <p:cNvPr id="2" name="灯片编号占位符 1">
            <a:extLst>
              <a:ext uri="{FF2B5EF4-FFF2-40B4-BE49-F238E27FC236}">
                <a16:creationId xmlns:a16="http://schemas.microsoft.com/office/drawing/2014/main" id="{0781D11B-F254-417F-A9FA-0345189B89EC}"/>
              </a:ext>
            </a:extLst>
          </p:cNvPr>
          <p:cNvSpPr>
            <a:spLocks noGrp="1"/>
          </p:cNvSpPr>
          <p:nvPr>
            <p:ph type="sldNum" sz="quarter" idx="12"/>
          </p:nvPr>
        </p:nvSpPr>
        <p:spPr/>
        <p:txBody>
          <a:bodyPr/>
          <a:lstStyle/>
          <a:p>
            <a:fld id="{47C9E101-E51D-431E-84FA-C029B8655B60}" type="slidenum">
              <a:rPr lang="zh-CN" altLang="en-US" smtClean="0"/>
              <a:pPr/>
              <a:t>12</a:t>
            </a:fld>
            <a:endParaRPr lang="zh-CN" altLang="en-US" dirty="0"/>
          </a:p>
        </p:txBody>
      </p:sp>
      <p:pic>
        <p:nvPicPr>
          <p:cNvPr id="432132" name="Picture 4" descr="51">
            <a:extLst>
              <a:ext uri="{FF2B5EF4-FFF2-40B4-BE49-F238E27FC236}">
                <a16:creationId xmlns:a16="http://schemas.microsoft.com/office/drawing/2014/main" id="{6B2EF19E-95EB-4E8F-8520-13BB9C4BD8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4209" y="2835608"/>
            <a:ext cx="6480175"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云形 5">
            <a:extLst>
              <a:ext uri="{FF2B5EF4-FFF2-40B4-BE49-F238E27FC236}">
                <a16:creationId xmlns:a16="http://schemas.microsoft.com/office/drawing/2014/main" id="{3B8DA00C-9147-432A-AFCE-1D647224CBB8}"/>
              </a:ext>
            </a:extLst>
          </p:cNvPr>
          <p:cNvSpPr/>
          <p:nvPr/>
        </p:nvSpPr>
        <p:spPr>
          <a:xfrm>
            <a:off x="4797124" y="4727911"/>
            <a:ext cx="2743200" cy="1491916"/>
          </a:xfrm>
          <a:prstGeom prst="cloud">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b="1" dirty="0"/>
              <a:t>有何缺点？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213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213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432132"/>
                                        </p:tgtEl>
                                        <p:attrNameLst>
                                          <p:attrName>style.visibility</p:attrName>
                                        </p:attrNameLst>
                                      </p:cBhvr>
                                      <p:to>
                                        <p:strVal val="visible"/>
                                      </p:to>
                                    </p:set>
                                    <p:animEffect transition="in" filter="circle(in)">
                                      <p:cBhvr>
                                        <p:cTn id="13" dur="2000"/>
                                        <p:tgtEl>
                                          <p:spTgt spid="432132"/>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fltVal val="0"/>
                                          </p:val>
                                        </p:tav>
                                        <p:tav tm="100000">
                                          <p:val>
                                            <p:strVal val="#ppt_h"/>
                                          </p:val>
                                        </p:tav>
                                      </p:tavLst>
                                    </p:anim>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a:extLst>
              <a:ext uri="{FF2B5EF4-FFF2-40B4-BE49-F238E27FC236}">
                <a16:creationId xmlns:a16="http://schemas.microsoft.com/office/drawing/2014/main" id="{CF4A00BE-ABF7-4015-8A30-64FF3476209C}"/>
              </a:ext>
            </a:extLst>
          </p:cNvPr>
          <p:cNvSpPr>
            <a:spLocks noGrp="1" noChangeArrowheads="1"/>
          </p:cNvSpPr>
          <p:nvPr>
            <p:ph type="title"/>
          </p:nvPr>
        </p:nvSpPr>
        <p:spPr/>
        <p:txBody>
          <a:bodyPr/>
          <a:lstStyle/>
          <a:p>
            <a:r>
              <a:rPr lang="zh-CN" altLang="en-US"/>
              <a:t>实体完整性检查和违约处理</a:t>
            </a:r>
            <a:r>
              <a:rPr lang="en-US" altLang="zh-CN"/>
              <a:t>(</a:t>
            </a:r>
            <a:r>
              <a:rPr lang="zh-CN" altLang="en-US"/>
              <a:t>续</a:t>
            </a:r>
            <a:r>
              <a:rPr lang="en-US" altLang="zh-CN"/>
              <a:t>)</a:t>
            </a:r>
          </a:p>
        </p:txBody>
      </p:sp>
      <p:sp>
        <p:nvSpPr>
          <p:cNvPr id="434179" name="Rectangle 3">
            <a:extLst>
              <a:ext uri="{FF2B5EF4-FFF2-40B4-BE49-F238E27FC236}">
                <a16:creationId xmlns:a16="http://schemas.microsoft.com/office/drawing/2014/main" id="{05D11BE3-FF52-402D-8759-EB4F700A2733}"/>
              </a:ext>
            </a:extLst>
          </p:cNvPr>
          <p:cNvSpPr>
            <a:spLocks noGrp="1" noChangeArrowheads="1"/>
          </p:cNvSpPr>
          <p:nvPr>
            <p:ph idx="1"/>
          </p:nvPr>
        </p:nvSpPr>
        <p:spPr/>
        <p:txBody>
          <a:bodyPr/>
          <a:lstStyle/>
          <a:p>
            <a:r>
              <a:rPr lang="zh-CN" altLang="en-US" dirty="0"/>
              <a:t>全表扫描十分耗时</a:t>
            </a:r>
            <a:endParaRPr lang="en-US" altLang="zh-CN" dirty="0"/>
          </a:p>
          <a:p>
            <a:r>
              <a:rPr lang="zh-CN" altLang="en-US" dirty="0"/>
              <a:t>为避免对基本表进行全表扫描， </a:t>
            </a:r>
            <a:r>
              <a:rPr lang="en-US" altLang="zh-CN" dirty="0"/>
              <a:t>RDBMS</a:t>
            </a:r>
            <a:r>
              <a:rPr lang="zh-CN" altLang="en-US" dirty="0"/>
              <a:t>核心一般都在主码上自动建立一个</a:t>
            </a:r>
            <a:r>
              <a:rPr lang="zh-CN" altLang="en-US" dirty="0">
                <a:solidFill>
                  <a:srgbClr val="C00000"/>
                </a:solidFill>
              </a:rPr>
              <a:t>索引</a:t>
            </a:r>
            <a:r>
              <a:rPr lang="zh-CN" altLang="en-US" dirty="0"/>
              <a:t>（如</a:t>
            </a:r>
            <a:r>
              <a:rPr lang="en-US" altLang="zh-CN" dirty="0"/>
              <a:t>B+</a:t>
            </a:r>
            <a:r>
              <a:rPr lang="zh-CN" altLang="en-US" dirty="0"/>
              <a:t>树索引）</a:t>
            </a:r>
            <a:r>
              <a:rPr lang="en-US" altLang="zh-CN" dirty="0"/>
              <a:t>,</a:t>
            </a:r>
            <a:r>
              <a:rPr lang="zh-CN" altLang="en-US" dirty="0"/>
              <a:t>可大大提高效率。</a:t>
            </a:r>
          </a:p>
        </p:txBody>
      </p:sp>
      <p:sp>
        <p:nvSpPr>
          <p:cNvPr id="2" name="灯片编号占位符 1">
            <a:extLst>
              <a:ext uri="{FF2B5EF4-FFF2-40B4-BE49-F238E27FC236}">
                <a16:creationId xmlns:a16="http://schemas.microsoft.com/office/drawing/2014/main" id="{F4092996-319E-432A-BE20-830CE82AB999}"/>
              </a:ext>
            </a:extLst>
          </p:cNvPr>
          <p:cNvSpPr>
            <a:spLocks noGrp="1"/>
          </p:cNvSpPr>
          <p:nvPr>
            <p:ph type="sldNum" sz="quarter" idx="12"/>
          </p:nvPr>
        </p:nvSpPr>
        <p:spPr/>
        <p:txBody>
          <a:bodyPr/>
          <a:lstStyle/>
          <a:p>
            <a:fld id="{47C9E101-E51D-431E-84FA-C029B8655B60}" type="slidenum">
              <a:rPr lang="zh-CN" altLang="en-US" smtClean="0"/>
              <a:pPr/>
              <a:t>13</a:t>
            </a:fld>
            <a:endParaRPr lang="zh-CN" altLang="en-US" dirty="0"/>
          </a:p>
        </p:txBody>
      </p:sp>
      <p:pic>
        <p:nvPicPr>
          <p:cNvPr id="434180" name="Picture 4" descr="52">
            <a:extLst>
              <a:ext uri="{FF2B5EF4-FFF2-40B4-BE49-F238E27FC236}">
                <a16:creationId xmlns:a16="http://schemas.microsoft.com/office/drawing/2014/main" id="{5704801C-F40A-4C37-B745-E06F911F1FD3}"/>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676563" y="2800345"/>
            <a:ext cx="6274428" cy="3278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D42CC955-EA45-4AFB-8AA9-F5862A39B3EA}"/>
              </a:ext>
            </a:extLst>
          </p:cNvPr>
          <p:cNvSpPr/>
          <p:nvPr/>
        </p:nvSpPr>
        <p:spPr>
          <a:xfrm>
            <a:off x="1662581" y="6073347"/>
            <a:ext cx="8763000" cy="400110"/>
          </a:xfrm>
          <a:prstGeom prst="rect">
            <a:avLst/>
          </a:prstGeom>
        </p:spPr>
        <p:txBody>
          <a:bodyPr wrap="square">
            <a:spAutoFit/>
          </a:bodyPr>
          <a:lstStyle/>
          <a:p>
            <a:pPr algn="ctr"/>
            <a:r>
              <a:rPr lang="zh-CN" altLang="en-US" sz="2000" dirty="0">
                <a:solidFill>
                  <a:srgbClr val="0000FF"/>
                </a:solidFill>
                <a:latin typeface="微软雅黑 Light" panose="020B0502040204020203" pitchFamily="34" charset="-122"/>
                <a:ea typeface="微软雅黑 Light" panose="020B0502040204020203" pitchFamily="34" charset="-122"/>
              </a:rPr>
              <a:t>参考：</a:t>
            </a:r>
            <a:r>
              <a:rPr lang="en-US" altLang="zh-CN" sz="2000" dirty="0">
                <a:latin typeface="微软雅黑 Light" panose="020B0502040204020203" pitchFamily="34" charset="-122"/>
                <a:ea typeface="微软雅黑 Light" panose="020B0502040204020203" pitchFamily="34" charset="-122"/>
                <a:hlinkClick r:id="rId3"/>
              </a:rPr>
              <a:t>https://blog.csdn.net/v_JULY_v/article/details/6530142</a:t>
            </a:r>
            <a:endParaRPr lang="zh-CN" altLang="en-US" sz="2000" dirty="0">
              <a:latin typeface="微软雅黑 Light" panose="020B0502040204020203" pitchFamily="34" charset="-122"/>
              <a:ea typeface="微软雅黑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41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434180"/>
                                        </p:tgtEl>
                                        <p:attrNameLst>
                                          <p:attrName>style.visibility</p:attrName>
                                        </p:attrNameLst>
                                      </p:cBhvr>
                                      <p:to>
                                        <p:strVal val="visible"/>
                                      </p:to>
                                    </p:set>
                                    <p:animEffect transition="in" filter="wheel(1)">
                                      <p:cBhvr>
                                        <p:cTn id="11" dur="2000"/>
                                        <p:tgtEl>
                                          <p:spTgt spid="434180"/>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a:extLst>
              <a:ext uri="{FF2B5EF4-FFF2-40B4-BE49-F238E27FC236}">
                <a16:creationId xmlns:a16="http://schemas.microsoft.com/office/drawing/2014/main" id="{1E41168C-9E99-4845-AB0E-0DDCD5D597F9}"/>
              </a:ext>
            </a:extLst>
          </p:cNvPr>
          <p:cNvSpPr>
            <a:spLocks noGrp="1" noChangeArrowheads="1"/>
          </p:cNvSpPr>
          <p:nvPr>
            <p:ph type="title"/>
          </p:nvPr>
        </p:nvSpPr>
        <p:spPr/>
        <p:txBody>
          <a:bodyPr/>
          <a:lstStyle/>
          <a:p>
            <a:r>
              <a:rPr lang="en-US" altLang="zh-CN"/>
              <a:t>5.2  </a:t>
            </a:r>
            <a:r>
              <a:rPr lang="zh-CN" altLang="en-US"/>
              <a:t>参照完整性</a:t>
            </a:r>
          </a:p>
        </p:txBody>
      </p:sp>
      <p:sp>
        <p:nvSpPr>
          <p:cNvPr id="436227" name="Rectangle 3">
            <a:extLst>
              <a:ext uri="{FF2B5EF4-FFF2-40B4-BE49-F238E27FC236}">
                <a16:creationId xmlns:a16="http://schemas.microsoft.com/office/drawing/2014/main" id="{E931D1DB-4B3F-433B-98EE-D0416D6FE09D}"/>
              </a:ext>
            </a:extLst>
          </p:cNvPr>
          <p:cNvSpPr>
            <a:spLocks noGrp="1" noChangeArrowheads="1"/>
          </p:cNvSpPr>
          <p:nvPr>
            <p:ph idx="1"/>
          </p:nvPr>
        </p:nvSpPr>
        <p:spPr/>
        <p:txBody>
          <a:bodyPr/>
          <a:lstStyle/>
          <a:p>
            <a:r>
              <a:rPr lang="en-US" altLang="zh-CN"/>
              <a:t>5.2.1 </a:t>
            </a:r>
            <a:r>
              <a:rPr lang="zh-CN" altLang="en-US"/>
              <a:t>参照完整性定义</a:t>
            </a:r>
          </a:p>
          <a:p>
            <a:r>
              <a:rPr lang="en-US" altLang="zh-CN"/>
              <a:t>5.2.2 </a:t>
            </a:r>
            <a:r>
              <a:rPr lang="zh-CN" altLang="en-US"/>
              <a:t>参照完整性检查和违约处理</a:t>
            </a:r>
          </a:p>
          <a:p>
            <a:endParaRPr lang="en-US" altLang="zh-CN"/>
          </a:p>
        </p:txBody>
      </p:sp>
      <p:sp>
        <p:nvSpPr>
          <p:cNvPr id="2" name="灯片编号占位符 1">
            <a:extLst>
              <a:ext uri="{FF2B5EF4-FFF2-40B4-BE49-F238E27FC236}">
                <a16:creationId xmlns:a16="http://schemas.microsoft.com/office/drawing/2014/main" id="{90F4AC29-D2FA-4130-8F68-A1745D1CDC29}"/>
              </a:ext>
            </a:extLst>
          </p:cNvPr>
          <p:cNvSpPr>
            <a:spLocks noGrp="1"/>
          </p:cNvSpPr>
          <p:nvPr>
            <p:ph type="sldNum" sz="quarter" idx="12"/>
          </p:nvPr>
        </p:nvSpPr>
        <p:spPr/>
        <p:txBody>
          <a:bodyPr/>
          <a:lstStyle/>
          <a:p>
            <a:fld id="{47C9E101-E51D-431E-84FA-C029B8655B60}" type="slidenum">
              <a:rPr lang="zh-CN" altLang="en-US" smtClean="0"/>
              <a:pPr/>
              <a:t>14</a:t>
            </a:fld>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a:extLst>
              <a:ext uri="{FF2B5EF4-FFF2-40B4-BE49-F238E27FC236}">
                <a16:creationId xmlns:a16="http://schemas.microsoft.com/office/drawing/2014/main" id="{F805C984-1457-48F1-8A78-1B403A31A9D3}"/>
              </a:ext>
            </a:extLst>
          </p:cNvPr>
          <p:cNvSpPr>
            <a:spLocks noGrp="1" noChangeArrowheads="1"/>
          </p:cNvSpPr>
          <p:nvPr>
            <p:ph type="title"/>
          </p:nvPr>
        </p:nvSpPr>
        <p:spPr/>
        <p:txBody>
          <a:bodyPr/>
          <a:lstStyle/>
          <a:p>
            <a:r>
              <a:rPr lang="en-US" altLang="zh-CN"/>
              <a:t>5.2.1 </a:t>
            </a:r>
            <a:r>
              <a:rPr lang="zh-CN" altLang="en-US"/>
              <a:t>参照完整性定义</a:t>
            </a:r>
          </a:p>
        </p:txBody>
      </p:sp>
      <p:sp>
        <p:nvSpPr>
          <p:cNvPr id="437251" name="Rectangle 3">
            <a:extLst>
              <a:ext uri="{FF2B5EF4-FFF2-40B4-BE49-F238E27FC236}">
                <a16:creationId xmlns:a16="http://schemas.microsoft.com/office/drawing/2014/main" id="{6C2074D5-9E25-4AA1-94BE-2B272A96D27F}"/>
              </a:ext>
            </a:extLst>
          </p:cNvPr>
          <p:cNvSpPr>
            <a:spLocks noGrp="1" noChangeArrowheads="1"/>
          </p:cNvSpPr>
          <p:nvPr>
            <p:ph idx="1"/>
          </p:nvPr>
        </p:nvSpPr>
        <p:spPr/>
        <p:txBody>
          <a:bodyPr/>
          <a:lstStyle/>
          <a:p>
            <a:r>
              <a:rPr lang="zh-CN" altLang="en-US" dirty="0"/>
              <a:t>关系模型的参照完整性定义</a:t>
            </a:r>
          </a:p>
          <a:p>
            <a:pPr lvl="1"/>
            <a:r>
              <a:rPr lang="zh-CN" altLang="en-US" dirty="0"/>
              <a:t>在</a:t>
            </a:r>
            <a:r>
              <a:rPr lang="en-US" altLang="zh-CN" dirty="0"/>
              <a:t>CREATE  TABLE</a:t>
            </a:r>
            <a:r>
              <a:rPr lang="zh-CN" altLang="en-US" dirty="0"/>
              <a:t>中用</a:t>
            </a:r>
            <a:r>
              <a:rPr lang="en-US" altLang="zh-CN" dirty="0">
                <a:solidFill>
                  <a:srgbClr val="C00000"/>
                </a:solidFill>
              </a:rPr>
              <a:t>FOREIGN KEY</a:t>
            </a:r>
            <a:r>
              <a:rPr lang="zh-CN" altLang="en-US" dirty="0">
                <a:solidFill>
                  <a:srgbClr val="C00000"/>
                </a:solidFill>
              </a:rPr>
              <a:t>短语</a:t>
            </a:r>
            <a:r>
              <a:rPr lang="zh-CN" altLang="en-US" dirty="0"/>
              <a:t>定义哪些列为外码</a:t>
            </a:r>
          </a:p>
          <a:p>
            <a:pPr lvl="1"/>
            <a:r>
              <a:rPr lang="zh-CN" altLang="en-US" dirty="0"/>
              <a:t>用</a:t>
            </a:r>
            <a:r>
              <a:rPr lang="en-US" altLang="zh-CN" dirty="0">
                <a:solidFill>
                  <a:srgbClr val="C00000"/>
                </a:solidFill>
              </a:rPr>
              <a:t>REFERENCES</a:t>
            </a:r>
            <a:r>
              <a:rPr lang="zh-CN" altLang="en-US" dirty="0">
                <a:solidFill>
                  <a:srgbClr val="C00000"/>
                </a:solidFill>
              </a:rPr>
              <a:t>短语</a:t>
            </a:r>
            <a:r>
              <a:rPr lang="zh-CN" altLang="en-US" dirty="0"/>
              <a:t>指明这些外码参照哪些表的主码 </a:t>
            </a:r>
          </a:p>
        </p:txBody>
      </p:sp>
      <p:sp>
        <p:nvSpPr>
          <p:cNvPr id="2" name="灯片编号占位符 1">
            <a:extLst>
              <a:ext uri="{FF2B5EF4-FFF2-40B4-BE49-F238E27FC236}">
                <a16:creationId xmlns:a16="http://schemas.microsoft.com/office/drawing/2014/main" id="{501D4A3D-2F4B-4371-BA89-BBF046905054}"/>
              </a:ext>
            </a:extLst>
          </p:cNvPr>
          <p:cNvSpPr>
            <a:spLocks noGrp="1"/>
          </p:cNvSpPr>
          <p:nvPr>
            <p:ph type="sldNum" sz="quarter" idx="12"/>
          </p:nvPr>
        </p:nvSpPr>
        <p:spPr/>
        <p:txBody>
          <a:bodyPr/>
          <a:lstStyle/>
          <a:p>
            <a:fld id="{47C9E101-E51D-431E-84FA-C029B8655B60}" type="slidenum">
              <a:rPr lang="zh-CN" altLang="en-US" smtClean="0"/>
              <a:pPr/>
              <a:t>15</a:t>
            </a:fld>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a:extLst>
              <a:ext uri="{FF2B5EF4-FFF2-40B4-BE49-F238E27FC236}">
                <a16:creationId xmlns:a16="http://schemas.microsoft.com/office/drawing/2014/main" id="{61F8917E-CD6F-4E4C-98F4-DBB9AEC179F5}"/>
              </a:ext>
            </a:extLst>
          </p:cNvPr>
          <p:cNvSpPr>
            <a:spLocks noGrp="1" noChangeArrowheads="1"/>
          </p:cNvSpPr>
          <p:nvPr>
            <p:ph type="title"/>
          </p:nvPr>
        </p:nvSpPr>
        <p:spPr/>
        <p:txBody>
          <a:bodyPr/>
          <a:lstStyle/>
          <a:p>
            <a:r>
              <a:rPr lang="zh-CN" altLang="en-US"/>
              <a:t>参照完整性定义</a:t>
            </a:r>
            <a:r>
              <a:rPr lang="en-US" altLang="zh-CN"/>
              <a:t>(</a:t>
            </a:r>
            <a:r>
              <a:rPr lang="zh-CN" altLang="en-US"/>
              <a:t>续</a:t>
            </a:r>
            <a:r>
              <a:rPr lang="en-US" altLang="zh-CN"/>
              <a:t>)</a:t>
            </a:r>
          </a:p>
        </p:txBody>
      </p:sp>
      <p:sp>
        <p:nvSpPr>
          <p:cNvPr id="438275" name="Rectangle 3">
            <a:extLst>
              <a:ext uri="{FF2B5EF4-FFF2-40B4-BE49-F238E27FC236}">
                <a16:creationId xmlns:a16="http://schemas.microsoft.com/office/drawing/2014/main" id="{44419EEA-EABA-444C-B039-CB2F5F0DD4BD}"/>
              </a:ext>
            </a:extLst>
          </p:cNvPr>
          <p:cNvSpPr>
            <a:spLocks noGrp="1" noChangeArrowheads="1"/>
          </p:cNvSpPr>
          <p:nvPr>
            <p:ph idx="1"/>
          </p:nvPr>
        </p:nvSpPr>
        <p:spPr/>
        <p:txBody>
          <a:bodyPr>
            <a:normAutofit fontScale="77500" lnSpcReduction="20000"/>
          </a:bodyPr>
          <a:lstStyle/>
          <a:p>
            <a:r>
              <a:rPr lang="zh-CN" altLang="en-US" dirty="0"/>
              <a:t>例如，关系</a:t>
            </a:r>
            <a:r>
              <a:rPr lang="en-US" altLang="zh-CN" dirty="0"/>
              <a:t>SC</a:t>
            </a:r>
            <a:r>
              <a:rPr lang="zh-CN" altLang="en-US" dirty="0"/>
              <a:t>中一个元组表示一个学生选修的某门课程的成绩，（</a:t>
            </a:r>
            <a:r>
              <a:rPr lang="en-US" altLang="zh-CN" dirty="0" err="1"/>
              <a:t>Sno</a:t>
            </a:r>
            <a:r>
              <a:rPr lang="zh-CN" altLang="en-US" dirty="0"/>
              <a:t>，</a:t>
            </a:r>
            <a:r>
              <a:rPr lang="en-US" altLang="zh-CN" dirty="0" err="1"/>
              <a:t>Cno</a:t>
            </a:r>
            <a:r>
              <a:rPr lang="zh-CN" altLang="en-US" dirty="0"/>
              <a:t>）是主码。</a:t>
            </a:r>
            <a:r>
              <a:rPr lang="en-US" altLang="zh-CN" dirty="0" err="1"/>
              <a:t>Sno</a:t>
            </a:r>
            <a:r>
              <a:rPr lang="zh-CN" altLang="en-US" dirty="0"/>
              <a:t>，</a:t>
            </a:r>
            <a:r>
              <a:rPr lang="en-US" altLang="zh-CN" dirty="0" err="1"/>
              <a:t>Cno</a:t>
            </a:r>
            <a:r>
              <a:rPr lang="zh-CN" altLang="en-US" dirty="0"/>
              <a:t>分别参照引用</a:t>
            </a:r>
            <a:r>
              <a:rPr lang="en-US" altLang="zh-CN" dirty="0"/>
              <a:t>Student</a:t>
            </a:r>
            <a:r>
              <a:rPr lang="zh-CN" altLang="en-US" dirty="0"/>
              <a:t>表的主码和</a:t>
            </a:r>
            <a:r>
              <a:rPr lang="en-US" altLang="zh-CN" dirty="0"/>
              <a:t>Course</a:t>
            </a:r>
            <a:r>
              <a:rPr lang="zh-CN" altLang="en-US" dirty="0"/>
              <a:t>表的主码 </a:t>
            </a:r>
          </a:p>
          <a:p>
            <a:r>
              <a:rPr lang="en-US" altLang="zh-CN" dirty="0"/>
              <a:t>[</a:t>
            </a:r>
            <a:r>
              <a:rPr lang="zh-CN" altLang="en-US" dirty="0"/>
              <a:t>例</a:t>
            </a:r>
            <a:r>
              <a:rPr lang="en-US" altLang="zh-CN" dirty="0"/>
              <a:t>3] </a:t>
            </a:r>
            <a:r>
              <a:rPr lang="zh-CN" altLang="en-US" dirty="0"/>
              <a:t>定义</a:t>
            </a:r>
            <a:r>
              <a:rPr lang="en-US" altLang="zh-CN" dirty="0"/>
              <a:t>SC</a:t>
            </a:r>
            <a:r>
              <a:rPr lang="zh-CN" altLang="en-US" dirty="0"/>
              <a:t>中的参照完整性</a:t>
            </a:r>
          </a:p>
          <a:p>
            <a:pPr marL="342900" lvl="1" indent="0">
              <a:buNone/>
            </a:pPr>
            <a:r>
              <a:rPr lang="zh-CN" altLang="en-US" dirty="0"/>
              <a:t>      </a:t>
            </a:r>
            <a:r>
              <a:rPr lang="en-US" altLang="zh-CN" dirty="0"/>
              <a:t>CREATE TABLE SC</a:t>
            </a:r>
          </a:p>
          <a:p>
            <a:pPr marL="342900" lvl="1" indent="0">
              <a:buNone/>
            </a:pPr>
            <a:r>
              <a:rPr lang="en-US" altLang="zh-CN" dirty="0"/>
              <a:t>         (</a:t>
            </a:r>
            <a:r>
              <a:rPr lang="en-US" altLang="zh-CN" dirty="0" err="1"/>
              <a:t>Sno</a:t>
            </a:r>
            <a:r>
              <a:rPr lang="en-US" altLang="zh-CN" dirty="0"/>
              <a:t>    CHAR(9)  NOT NULL</a:t>
            </a:r>
            <a:r>
              <a:rPr lang="zh-CN" altLang="en-US" dirty="0"/>
              <a:t>， </a:t>
            </a:r>
          </a:p>
          <a:p>
            <a:pPr marL="342900" lvl="1" indent="0">
              <a:buNone/>
            </a:pPr>
            <a:r>
              <a:rPr lang="zh-CN" altLang="en-US" dirty="0"/>
              <a:t>          </a:t>
            </a:r>
            <a:r>
              <a:rPr lang="en-US" altLang="zh-CN" dirty="0" err="1"/>
              <a:t>Cno</a:t>
            </a:r>
            <a:r>
              <a:rPr lang="en-US" altLang="zh-CN" dirty="0"/>
              <a:t>     CHAR(4)  NOT NULL</a:t>
            </a:r>
            <a:r>
              <a:rPr lang="zh-CN" altLang="en-US" dirty="0"/>
              <a:t>，  </a:t>
            </a:r>
          </a:p>
          <a:p>
            <a:pPr marL="342900" lvl="1" indent="0">
              <a:buNone/>
            </a:pPr>
            <a:r>
              <a:rPr lang="zh-CN" altLang="en-US" dirty="0"/>
              <a:t>          </a:t>
            </a:r>
            <a:r>
              <a:rPr lang="en-US" altLang="zh-CN" dirty="0"/>
              <a:t>Grade    SMALLINT</a:t>
            </a:r>
            <a:r>
              <a:rPr lang="zh-CN" altLang="en-US" dirty="0"/>
              <a:t>，</a:t>
            </a:r>
          </a:p>
          <a:p>
            <a:pPr marL="342900" lvl="1" indent="0">
              <a:buNone/>
            </a:pPr>
            <a:r>
              <a:rPr lang="zh-CN" altLang="en-US" dirty="0"/>
              <a:t>          </a:t>
            </a:r>
            <a:r>
              <a:rPr lang="en-US" altLang="zh-CN" dirty="0">
                <a:solidFill>
                  <a:schemeClr val="accent2"/>
                </a:solidFill>
              </a:rPr>
              <a:t>PRIMARY KEY (</a:t>
            </a:r>
            <a:r>
              <a:rPr lang="en-US" altLang="zh-CN" dirty="0" err="1">
                <a:solidFill>
                  <a:schemeClr val="accent2"/>
                </a:solidFill>
              </a:rPr>
              <a:t>Sno</a:t>
            </a:r>
            <a:r>
              <a:rPr lang="zh-CN" altLang="en-US" dirty="0">
                <a:solidFill>
                  <a:schemeClr val="accent2"/>
                </a:solidFill>
              </a:rPr>
              <a:t>， </a:t>
            </a:r>
            <a:r>
              <a:rPr lang="en-US" altLang="zh-CN" dirty="0" err="1">
                <a:solidFill>
                  <a:schemeClr val="accent2"/>
                </a:solidFill>
              </a:rPr>
              <a:t>Cno</a:t>
            </a:r>
            <a:r>
              <a:rPr lang="en-US" altLang="zh-CN" dirty="0">
                <a:solidFill>
                  <a:schemeClr val="accent2"/>
                </a:solidFill>
              </a:rPr>
              <a:t>)</a:t>
            </a:r>
            <a:r>
              <a:rPr lang="zh-CN" altLang="en-US" dirty="0">
                <a:solidFill>
                  <a:schemeClr val="accent2"/>
                </a:solidFill>
              </a:rPr>
              <a:t>，   </a:t>
            </a:r>
            <a:r>
              <a:rPr lang="en-US" altLang="zh-CN" dirty="0">
                <a:solidFill>
                  <a:schemeClr val="accent2"/>
                </a:solidFill>
              </a:rPr>
              <a:t>/*</a:t>
            </a:r>
            <a:r>
              <a:rPr lang="zh-CN" altLang="en-US" dirty="0">
                <a:solidFill>
                  <a:schemeClr val="accent2"/>
                </a:solidFill>
              </a:rPr>
              <a:t>在表级定义实体完整性*</a:t>
            </a:r>
            <a:r>
              <a:rPr lang="en-US" altLang="zh-CN" dirty="0">
                <a:solidFill>
                  <a:schemeClr val="accent2"/>
                </a:solidFill>
              </a:rPr>
              <a:t>/</a:t>
            </a:r>
          </a:p>
          <a:p>
            <a:pPr marL="342900" lvl="1" indent="0">
              <a:buNone/>
            </a:pPr>
            <a:r>
              <a:rPr lang="en-US" altLang="zh-CN" dirty="0"/>
              <a:t>          </a:t>
            </a:r>
            <a:r>
              <a:rPr lang="en-US" altLang="zh-CN" dirty="0">
                <a:solidFill>
                  <a:srgbClr val="0000FF"/>
                </a:solidFill>
              </a:rPr>
              <a:t>FOREIGN KEY (</a:t>
            </a:r>
            <a:r>
              <a:rPr lang="en-US" altLang="zh-CN" dirty="0" err="1">
                <a:solidFill>
                  <a:srgbClr val="0000FF"/>
                </a:solidFill>
              </a:rPr>
              <a:t>Sno</a:t>
            </a:r>
            <a:r>
              <a:rPr lang="en-US" altLang="zh-CN" dirty="0">
                <a:solidFill>
                  <a:srgbClr val="0000FF"/>
                </a:solidFill>
              </a:rPr>
              <a:t>) REFERENCES Student(</a:t>
            </a:r>
            <a:r>
              <a:rPr lang="en-US" altLang="zh-CN" dirty="0" err="1">
                <a:solidFill>
                  <a:srgbClr val="0000FF"/>
                </a:solidFill>
              </a:rPr>
              <a:t>Sno</a:t>
            </a:r>
            <a:r>
              <a:rPr lang="en-US" altLang="zh-CN" dirty="0">
                <a:solidFill>
                  <a:srgbClr val="0000FF"/>
                </a:solidFill>
              </a:rPr>
              <a:t>)</a:t>
            </a:r>
            <a:r>
              <a:rPr lang="zh-CN" altLang="en-US" dirty="0">
                <a:solidFill>
                  <a:srgbClr val="0000FF"/>
                </a:solidFill>
              </a:rPr>
              <a:t>，  </a:t>
            </a:r>
          </a:p>
          <a:p>
            <a:pPr marL="342900" lvl="1" indent="0">
              <a:buNone/>
            </a:pPr>
            <a:r>
              <a:rPr lang="zh-CN" altLang="en-US" dirty="0">
                <a:solidFill>
                  <a:srgbClr val="0000FF"/>
                </a:solidFill>
              </a:rPr>
              <a:t>            </a:t>
            </a:r>
            <a:r>
              <a:rPr lang="en-US" altLang="zh-CN" dirty="0"/>
              <a:t>/*</a:t>
            </a:r>
            <a:r>
              <a:rPr lang="zh-CN" altLang="en-US" dirty="0"/>
              <a:t>在表级定义参照完整性*</a:t>
            </a:r>
            <a:r>
              <a:rPr lang="en-US" altLang="zh-CN" dirty="0"/>
              <a:t>/</a:t>
            </a:r>
          </a:p>
          <a:p>
            <a:pPr marL="342900" lvl="1" indent="0">
              <a:buNone/>
            </a:pPr>
            <a:r>
              <a:rPr lang="en-US" altLang="zh-CN" dirty="0"/>
              <a:t>          </a:t>
            </a:r>
            <a:r>
              <a:rPr lang="en-US" altLang="zh-CN" dirty="0">
                <a:solidFill>
                  <a:srgbClr val="0000FF"/>
                </a:solidFill>
              </a:rPr>
              <a:t>FOREIGN KEY (</a:t>
            </a:r>
            <a:r>
              <a:rPr lang="en-US" altLang="zh-CN" dirty="0" err="1">
                <a:solidFill>
                  <a:srgbClr val="0000FF"/>
                </a:solidFill>
              </a:rPr>
              <a:t>Cno</a:t>
            </a:r>
            <a:r>
              <a:rPr lang="en-US" altLang="zh-CN" dirty="0">
                <a:solidFill>
                  <a:srgbClr val="0000FF"/>
                </a:solidFill>
              </a:rPr>
              <a:t>) REFERENCES Course(</a:t>
            </a:r>
            <a:r>
              <a:rPr lang="en-US" altLang="zh-CN" dirty="0" err="1">
                <a:solidFill>
                  <a:srgbClr val="0000FF"/>
                </a:solidFill>
              </a:rPr>
              <a:t>Cno</a:t>
            </a:r>
            <a:r>
              <a:rPr lang="en-US" altLang="zh-CN" dirty="0">
                <a:solidFill>
                  <a:srgbClr val="0000FF"/>
                </a:solidFill>
              </a:rPr>
              <a:t>)    </a:t>
            </a:r>
          </a:p>
          <a:p>
            <a:pPr marL="342900" lvl="1" indent="0">
              <a:buNone/>
            </a:pPr>
            <a:r>
              <a:rPr lang="en-US" altLang="zh-CN" dirty="0"/>
              <a:t>          /*</a:t>
            </a:r>
            <a:r>
              <a:rPr lang="zh-CN" altLang="en-US" dirty="0"/>
              <a:t>在表级定义参照完整性*</a:t>
            </a:r>
            <a:r>
              <a:rPr lang="en-US" altLang="zh-CN" dirty="0"/>
              <a:t>/</a:t>
            </a:r>
          </a:p>
          <a:p>
            <a:pPr marL="342900" lvl="1" indent="0">
              <a:buNone/>
            </a:pPr>
            <a:r>
              <a:rPr lang="en-US" altLang="zh-CN" dirty="0"/>
              <a:t>      );</a:t>
            </a:r>
          </a:p>
        </p:txBody>
      </p:sp>
      <p:sp>
        <p:nvSpPr>
          <p:cNvPr id="2" name="灯片编号占位符 1">
            <a:extLst>
              <a:ext uri="{FF2B5EF4-FFF2-40B4-BE49-F238E27FC236}">
                <a16:creationId xmlns:a16="http://schemas.microsoft.com/office/drawing/2014/main" id="{32A7E3CA-C8D6-4E59-A2BC-7A5CF602DAEF}"/>
              </a:ext>
            </a:extLst>
          </p:cNvPr>
          <p:cNvSpPr>
            <a:spLocks noGrp="1"/>
          </p:cNvSpPr>
          <p:nvPr>
            <p:ph type="sldNum" sz="quarter" idx="12"/>
          </p:nvPr>
        </p:nvSpPr>
        <p:spPr/>
        <p:txBody>
          <a:bodyPr/>
          <a:lstStyle/>
          <a:p>
            <a:fld id="{47C9E101-E51D-431E-84FA-C029B8655B60}" type="slidenum">
              <a:rPr lang="zh-CN" altLang="en-US" smtClean="0"/>
              <a:pPr/>
              <a:t>16</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827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827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827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827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827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827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827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827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3827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8275">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827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a:extLst>
              <a:ext uri="{FF2B5EF4-FFF2-40B4-BE49-F238E27FC236}">
                <a16:creationId xmlns:a16="http://schemas.microsoft.com/office/drawing/2014/main" id="{33C0B873-7DC2-4196-AD62-F893F59D4F84}"/>
              </a:ext>
            </a:extLst>
          </p:cNvPr>
          <p:cNvSpPr>
            <a:spLocks noGrp="1" noChangeArrowheads="1"/>
          </p:cNvSpPr>
          <p:nvPr>
            <p:ph type="title"/>
          </p:nvPr>
        </p:nvSpPr>
        <p:spPr/>
        <p:txBody>
          <a:bodyPr/>
          <a:lstStyle/>
          <a:p>
            <a:r>
              <a:rPr lang="zh-CN" altLang="en-US" dirty="0"/>
              <a:t>参照完整性检查和违约处理</a:t>
            </a:r>
          </a:p>
        </p:txBody>
      </p:sp>
      <p:sp>
        <p:nvSpPr>
          <p:cNvPr id="4" name="内容占位符 3">
            <a:extLst>
              <a:ext uri="{FF2B5EF4-FFF2-40B4-BE49-F238E27FC236}">
                <a16:creationId xmlns:a16="http://schemas.microsoft.com/office/drawing/2014/main" id="{4BF66DBC-61A5-4C33-8030-53E4880FB156}"/>
              </a:ext>
            </a:extLst>
          </p:cNvPr>
          <p:cNvSpPr>
            <a:spLocks noGrp="1"/>
          </p:cNvSpPr>
          <p:nvPr>
            <p:ph idx="1"/>
          </p:nvPr>
        </p:nvSpPr>
        <p:spPr/>
        <p:txBody>
          <a:bodyPr/>
          <a:lstStyle/>
          <a:p>
            <a:r>
              <a:rPr lang="zh-CN" altLang="en-US" dirty="0"/>
              <a:t>一个参照完整性将两个表中的相应元组联系起来</a:t>
            </a:r>
          </a:p>
          <a:p>
            <a:r>
              <a:rPr lang="zh-CN" altLang="en-US" dirty="0"/>
              <a:t>对被参照表和参照表进行增删改操作时有可能破坏参照完整性，必须进行检查</a:t>
            </a:r>
          </a:p>
        </p:txBody>
      </p:sp>
      <p:sp>
        <p:nvSpPr>
          <p:cNvPr id="2" name="灯片编号占位符 1">
            <a:extLst>
              <a:ext uri="{FF2B5EF4-FFF2-40B4-BE49-F238E27FC236}">
                <a16:creationId xmlns:a16="http://schemas.microsoft.com/office/drawing/2014/main" id="{BCBC58C1-A3E8-410E-B951-47E885B2FF4B}"/>
              </a:ext>
            </a:extLst>
          </p:cNvPr>
          <p:cNvSpPr>
            <a:spLocks noGrp="1"/>
          </p:cNvSpPr>
          <p:nvPr>
            <p:ph type="sldNum" sz="quarter" idx="12"/>
          </p:nvPr>
        </p:nvSpPr>
        <p:spPr/>
        <p:txBody>
          <a:bodyPr/>
          <a:lstStyle/>
          <a:p>
            <a:fld id="{47C9E101-E51D-431E-84FA-C029B8655B60}" type="slidenum">
              <a:rPr lang="zh-CN" altLang="en-US" smtClean="0"/>
              <a:pPr/>
              <a:t>17</a:t>
            </a:fld>
            <a:endParaRPr lang="zh-CN" altLang="en-US" dirty="0"/>
          </a:p>
        </p:txBody>
      </p:sp>
      <p:sp>
        <p:nvSpPr>
          <p:cNvPr id="441352" name="Rectangle 8">
            <a:extLst>
              <a:ext uri="{FF2B5EF4-FFF2-40B4-BE49-F238E27FC236}">
                <a16:creationId xmlns:a16="http://schemas.microsoft.com/office/drawing/2014/main" id="{97365FD3-61EB-4701-903C-A171824F1EA5}"/>
              </a:ext>
            </a:extLst>
          </p:cNvPr>
          <p:cNvSpPr>
            <a:spLocks noChangeArrowheads="1"/>
          </p:cNvSpPr>
          <p:nvPr/>
        </p:nvSpPr>
        <p:spPr bwMode="auto">
          <a:xfrm>
            <a:off x="4036923" y="5776515"/>
            <a:ext cx="3672800" cy="338554"/>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1600" dirty="0">
                <a:ea typeface="黑体" panose="02010609060101010101" pitchFamily="49" charset="-122"/>
                <a:cs typeface="Times New Roman" panose="02020603050405020304" pitchFamily="18" charset="0"/>
              </a:rPr>
              <a:t>可能破坏参照完整性的情况及违约处理</a:t>
            </a:r>
          </a:p>
        </p:txBody>
      </p:sp>
      <p:sp>
        <p:nvSpPr>
          <p:cNvPr id="441356" name="Rectangle 12">
            <a:extLst>
              <a:ext uri="{FF2B5EF4-FFF2-40B4-BE49-F238E27FC236}">
                <a16:creationId xmlns:a16="http://schemas.microsoft.com/office/drawing/2014/main" id="{2969D58D-3123-4CEC-89DE-EBF9B1D04441}"/>
              </a:ext>
            </a:extLst>
          </p:cNvPr>
          <p:cNvSpPr>
            <a:spLocks noChangeArrowheads="1"/>
          </p:cNvSpPr>
          <p:nvPr/>
        </p:nvSpPr>
        <p:spPr bwMode="auto">
          <a:xfrm>
            <a:off x="2920574" y="3017648"/>
            <a:ext cx="184731" cy="36933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441360" name="Rectangle 16">
            <a:extLst>
              <a:ext uri="{FF2B5EF4-FFF2-40B4-BE49-F238E27FC236}">
                <a16:creationId xmlns:a16="http://schemas.microsoft.com/office/drawing/2014/main" id="{FEEE1EC9-12E4-4E6A-A81D-5D5C5BC10168}"/>
              </a:ext>
            </a:extLst>
          </p:cNvPr>
          <p:cNvSpPr>
            <a:spLocks noChangeArrowheads="1"/>
          </p:cNvSpPr>
          <p:nvPr/>
        </p:nvSpPr>
        <p:spPr bwMode="auto">
          <a:xfrm>
            <a:off x="2920574" y="3017648"/>
            <a:ext cx="184731" cy="36933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441364" name="Rectangle 20">
            <a:extLst>
              <a:ext uri="{FF2B5EF4-FFF2-40B4-BE49-F238E27FC236}">
                <a16:creationId xmlns:a16="http://schemas.microsoft.com/office/drawing/2014/main" id="{A410DFF6-6902-464B-9AF9-2913F8BC7F87}"/>
              </a:ext>
            </a:extLst>
          </p:cNvPr>
          <p:cNvSpPr>
            <a:spLocks noChangeArrowheads="1"/>
          </p:cNvSpPr>
          <p:nvPr/>
        </p:nvSpPr>
        <p:spPr bwMode="auto">
          <a:xfrm>
            <a:off x="2920574" y="3017648"/>
            <a:ext cx="184731" cy="36933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441368" name="Rectangle 24">
            <a:extLst>
              <a:ext uri="{FF2B5EF4-FFF2-40B4-BE49-F238E27FC236}">
                <a16:creationId xmlns:a16="http://schemas.microsoft.com/office/drawing/2014/main" id="{4D15BE9F-9F3C-4CA6-82B5-17A825209F26}"/>
              </a:ext>
            </a:extLst>
          </p:cNvPr>
          <p:cNvSpPr>
            <a:spLocks noChangeArrowheads="1"/>
          </p:cNvSpPr>
          <p:nvPr/>
        </p:nvSpPr>
        <p:spPr bwMode="auto">
          <a:xfrm>
            <a:off x="2920574" y="3017648"/>
            <a:ext cx="184731" cy="36933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aphicFrame>
        <p:nvGraphicFramePr>
          <p:cNvPr id="441476" name="Group 132">
            <a:extLst>
              <a:ext uri="{FF2B5EF4-FFF2-40B4-BE49-F238E27FC236}">
                <a16:creationId xmlns:a16="http://schemas.microsoft.com/office/drawing/2014/main" id="{05F562A1-1023-49B0-A69D-575F5AD04531}"/>
              </a:ext>
            </a:extLst>
          </p:cNvPr>
          <p:cNvGraphicFramePr>
            <a:graphicFrameLocks noGrp="1"/>
          </p:cNvGraphicFramePr>
          <p:nvPr>
            <p:extLst>
              <p:ext uri="{D42A27DB-BD31-4B8C-83A1-F6EECF244321}">
                <p14:modId xmlns:p14="http://schemas.microsoft.com/office/powerpoint/2010/main" val="2854662822"/>
              </p:ext>
            </p:extLst>
          </p:nvPr>
        </p:nvGraphicFramePr>
        <p:xfrm>
          <a:off x="1769636" y="2884416"/>
          <a:ext cx="8280400" cy="2838332"/>
        </p:xfrm>
        <a:graphic>
          <a:graphicData uri="http://schemas.openxmlformats.org/drawingml/2006/table">
            <a:tbl>
              <a:tblPr firstRow="1" bandCol="1">
                <a:tableStyleId>{B301B821-A1FF-4177-AEE7-76D212191A09}</a:tableStyleId>
              </a:tblPr>
              <a:tblGrid>
                <a:gridCol w="2910154">
                  <a:extLst>
                    <a:ext uri="{9D8B030D-6E8A-4147-A177-3AD203B41FA5}">
                      <a16:colId xmlns:a16="http://schemas.microsoft.com/office/drawing/2014/main" val="4067835803"/>
                    </a:ext>
                  </a:extLst>
                </a:gridCol>
                <a:gridCol w="2512746">
                  <a:extLst>
                    <a:ext uri="{9D8B030D-6E8A-4147-A177-3AD203B41FA5}">
                      <a16:colId xmlns:a16="http://schemas.microsoft.com/office/drawing/2014/main" val="3605331353"/>
                    </a:ext>
                  </a:extLst>
                </a:gridCol>
                <a:gridCol w="2857500">
                  <a:extLst>
                    <a:ext uri="{9D8B030D-6E8A-4147-A177-3AD203B41FA5}">
                      <a16:colId xmlns:a16="http://schemas.microsoft.com/office/drawing/2014/main" val="2296517816"/>
                    </a:ext>
                  </a:extLst>
                </a:gridCol>
              </a:tblGrid>
              <a:tr h="624608">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800" u="none" strike="noStrike" cap="none" normalizeH="0" baseline="0" dirty="0">
                          <a:ln>
                            <a:noFill/>
                          </a:ln>
                          <a:solidFill>
                            <a:schemeClr val="bg1"/>
                          </a:solidFill>
                          <a:effectLst/>
                        </a:rPr>
                        <a:t>被参照表（例如</a:t>
                      </a:r>
                      <a:r>
                        <a:rPr kumimoji="1" lang="en-US" altLang="zh-CN" sz="1800" u="none" strike="noStrike" cap="none" normalizeH="0" baseline="0" dirty="0">
                          <a:ln>
                            <a:noFill/>
                          </a:ln>
                          <a:solidFill>
                            <a:schemeClr val="bg1"/>
                          </a:solidFill>
                          <a:effectLst/>
                        </a:rPr>
                        <a:t>Student</a:t>
                      </a:r>
                      <a:r>
                        <a:rPr kumimoji="1" lang="zh-CN" altLang="en-US" sz="1800" u="none" strike="noStrike" cap="none" normalizeH="0" baseline="0" dirty="0">
                          <a:ln>
                            <a:noFill/>
                          </a:ln>
                          <a:solidFill>
                            <a:schemeClr val="bg1"/>
                          </a:solidFill>
                          <a:effectLst/>
                        </a:rPr>
                        <a:t>）</a:t>
                      </a:r>
                      <a:endParaRPr kumimoji="1" lang="zh-CN" altLang="en-US" sz="1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txBody>
                  <a:tcPr horzOverflow="overflow"/>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u="none" strike="noStrike" cap="none" normalizeH="0" baseline="0" dirty="0">
                          <a:ln>
                            <a:noFill/>
                          </a:ln>
                          <a:solidFill>
                            <a:schemeClr val="bg1"/>
                          </a:solidFill>
                          <a:effectLst/>
                        </a:rPr>
                        <a:t>参照表（例如</a:t>
                      </a:r>
                      <a:r>
                        <a:rPr kumimoji="1" lang="en-US" altLang="zh-CN" sz="1800" u="none" strike="noStrike" cap="none" normalizeH="0" baseline="0" dirty="0">
                          <a:ln>
                            <a:noFill/>
                          </a:ln>
                          <a:solidFill>
                            <a:schemeClr val="bg1"/>
                          </a:solidFill>
                          <a:effectLst/>
                        </a:rPr>
                        <a:t>SC</a:t>
                      </a:r>
                      <a:r>
                        <a:rPr kumimoji="1" lang="zh-CN" altLang="en-US" sz="1800" u="none" strike="noStrike" cap="none" normalizeH="0" baseline="0" dirty="0">
                          <a:ln>
                            <a:noFill/>
                          </a:ln>
                          <a:solidFill>
                            <a:schemeClr val="bg1"/>
                          </a:solidFill>
                          <a:effectLst/>
                        </a:rPr>
                        <a:t>）</a:t>
                      </a:r>
                      <a:endParaRPr kumimoji="1" lang="zh-CN" altLang="en-US" sz="1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txBody>
                  <a:tcPr horzOverflow="overflow"/>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u="none" strike="noStrike" cap="none" normalizeH="0" baseline="0" dirty="0">
                          <a:ln>
                            <a:noFill/>
                          </a:ln>
                          <a:solidFill>
                            <a:schemeClr val="bg1"/>
                          </a:solidFill>
                          <a:effectLst/>
                        </a:rPr>
                        <a:t>违约处理</a:t>
                      </a:r>
                      <a:endParaRPr kumimoji="1" lang="zh-CN" altLang="en-US" sz="18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txBody>
                  <a:tcPr horzOverflow="overflow"/>
                </a:tc>
                <a:extLst>
                  <a:ext uri="{0D108BD9-81ED-4DB2-BD59-A6C34878D82A}">
                    <a16:rowId xmlns:a16="http://schemas.microsoft.com/office/drawing/2014/main" val="3003231308"/>
                  </a:ext>
                </a:extLst>
              </a:tr>
              <a:tr h="553431">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u="none" strike="noStrike" cap="none" normalizeH="0" baseline="0" dirty="0">
                          <a:ln>
                            <a:noFill/>
                          </a:ln>
                          <a:effectLst/>
                        </a:rPr>
                        <a:t>可能破坏参照完整性</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u="none" strike="noStrike" cap="none" normalizeH="0" baseline="0" dirty="0">
                          <a:ln>
                            <a:noFill/>
                          </a:ln>
                          <a:effectLst/>
                        </a:rPr>
                        <a:t>    </a:t>
                      </a:r>
                      <a:r>
                        <a:rPr kumimoji="1" lang="zh-CN" altLang="en-US" sz="1800" u="none" strike="noStrike" cap="none" normalizeH="0" baseline="0" dirty="0">
                          <a:ln>
                            <a:noFill/>
                          </a:ln>
                          <a:effectLst/>
                        </a:rPr>
                        <a:t>插入元组</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u="none" strike="noStrike" cap="none" normalizeH="0" baseline="0">
                          <a:ln>
                            <a:noFill/>
                          </a:ln>
                          <a:effectLst/>
                        </a:rPr>
                        <a:t>拒绝</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tc>
                <a:extLst>
                  <a:ext uri="{0D108BD9-81ED-4DB2-BD59-A6C34878D82A}">
                    <a16:rowId xmlns:a16="http://schemas.microsoft.com/office/drawing/2014/main" val="1038374722"/>
                  </a:ext>
                </a:extLst>
              </a:tr>
              <a:tr h="553431">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u="none" strike="noStrike" cap="none" normalizeH="0" baseline="0">
                          <a:ln>
                            <a:noFill/>
                          </a:ln>
                          <a:effectLst/>
                        </a:rPr>
                        <a:t>可能破坏参照完整性</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u="none" strike="noStrike" cap="none" normalizeH="0" baseline="0" dirty="0">
                          <a:ln>
                            <a:noFill/>
                          </a:ln>
                          <a:effectLst/>
                        </a:rPr>
                        <a:t>    </a:t>
                      </a:r>
                      <a:r>
                        <a:rPr kumimoji="1" lang="zh-CN" altLang="en-US" sz="1800" u="none" strike="noStrike" cap="none" normalizeH="0" baseline="0" dirty="0">
                          <a:ln>
                            <a:noFill/>
                          </a:ln>
                          <a:effectLst/>
                        </a:rPr>
                        <a:t>修改外码值</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u="none" strike="noStrike" cap="none" normalizeH="0" baseline="0" dirty="0">
                          <a:ln>
                            <a:noFill/>
                          </a:ln>
                          <a:effectLst/>
                        </a:rPr>
                        <a:t>拒绝</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tc>
                <a:extLst>
                  <a:ext uri="{0D108BD9-81ED-4DB2-BD59-A6C34878D82A}">
                    <a16:rowId xmlns:a16="http://schemas.microsoft.com/office/drawing/2014/main" val="2565645129"/>
                  </a:ext>
                </a:extLst>
              </a:tr>
              <a:tr h="553431">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u="none" strike="noStrike" cap="none" normalizeH="0" baseline="0">
                          <a:ln>
                            <a:noFill/>
                          </a:ln>
                          <a:effectLst/>
                        </a:rPr>
                        <a:t>删除元组</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u="none" strike="noStrike" cap="none" normalizeH="0" baseline="0">
                          <a:ln>
                            <a:noFill/>
                          </a:ln>
                          <a:effectLst/>
                        </a:rPr>
                        <a:t>   </a:t>
                      </a:r>
                      <a:r>
                        <a:rPr kumimoji="1" lang="zh-CN" altLang="en-US" sz="1800" u="none" strike="noStrike" cap="none" normalizeH="0" baseline="0">
                          <a:ln>
                            <a:noFill/>
                          </a:ln>
                          <a:effectLst/>
                        </a:rPr>
                        <a:t>可能破坏参照完整性</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u="none" strike="noStrike" cap="none" normalizeH="0" baseline="0" dirty="0">
                          <a:ln>
                            <a:noFill/>
                          </a:ln>
                          <a:effectLst/>
                        </a:rPr>
                        <a:t>拒绝</a:t>
                      </a:r>
                      <a:r>
                        <a:rPr kumimoji="1" lang="en-US" altLang="zh-CN" sz="1800" u="none" strike="noStrike" cap="none" normalizeH="0" baseline="0" dirty="0">
                          <a:ln>
                            <a:noFill/>
                          </a:ln>
                          <a:effectLst/>
                        </a:rPr>
                        <a:t>/</a:t>
                      </a:r>
                      <a:r>
                        <a:rPr kumimoji="1" lang="zh-CN" altLang="en-US" sz="1800" u="none" strike="noStrike" cap="none" normalizeH="0" baseline="0" dirty="0">
                          <a:ln>
                            <a:noFill/>
                          </a:ln>
                          <a:effectLst/>
                        </a:rPr>
                        <a:t>级连删除</a:t>
                      </a:r>
                      <a:r>
                        <a:rPr kumimoji="1" lang="en-US" altLang="zh-CN" sz="1800" u="none" strike="noStrike" cap="none" normalizeH="0" baseline="0" dirty="0">
                          <a:ln>
                            <a:noFill/>
                          </a:ln>
                          <a:effectLst/>
                        </a:rPr>
                        <a:t>/</a:t>
                      </a:r>
                      <a:r>
                        <a:rPr kumimoji="1" lang="zh-CN" altLang="en-US" sz="1800" u="none" strike="noStrike" cap="none" normalizeH="0" baseline="0" dirty="0">
                          <a:ln>
                            <a:noFill/>
                          </a:ln>
                          <a:effectLst/>
                        </a:rPr>
                        <a:t>设置为空值</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tc>
                <a:extLst>
                  <a:ext uri="{0D108BD9-81ED-4DB2-BD59-A6C34878D82A}">
                    <a16:rowId xmlns:a16="http://schemas.microsoft.com/office/drawing/2014/main" val="1695550374"/>
                  </a:ext>
                </a:extLst>
              </a:tr>
              <a:tr h="553431">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u="none" strike="noStrike" cap="none" normalizeH="0" baseline="0">
                          <a:ln>
                            <a:noFill/>
                          </a:ln>
                          <a:effectLst/>
                        </a:rPr>
                        <a:t>修改主码值</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u="none" strike="noStrike" cap="none" normalizeH="0" baseline="0">
                          <a:ln>
                            <a:noFill/>
                          </a:ln>
                          <a:effectLst/>
                        </a:rPr>
                        <a:t>    </a:t>
                      </a:r>
                      <a:r>
                        <a:rPr kumimoji="1" lang="zh-CN" altLang="en-US" sz="1800" u="none" strike="noStrike" cap="none" normalizeH="0" baseline="0">
                          <a:ln>
                            <a:noFill/>
                          </a:ln>
                          <a:effectLst/>
                        </a:rPr>
                        <a:t>可能破坏参照完整性</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u="none" strike="noStrike" cap="none" normalizeH="0" baseline="0" dirty="0">
                          <a:ln>
                            <a:noFill/>
                          </a:ln>
                          <a:effectLst/>
                        </a:rPr>
                        <a:t>拒绝</a:t>
                      </a:r>
                      <a:r>
                        <a:rPr kumimoji="1" lang="en-US" altLang="zh-CN" sz="1800" u="none" strike="noStrike" cap="none" normalizeH="0" baseline="0" dirty="0">
                          <a:ln>
                            <a:noFill/>
                          </a:ln>
                          <a:effectLst/>
                        </a:rPr>
                        <a:t>/</a:t>
                      </a:r>
                      <a:r>
                        <a:rPr kumimoji="1" lang="zh-CN" altLang="en-US" sz="1800" u="none" strike="noStrike" cap="none" normalizeH="0" baseline="0" dirty="0">
                          <a:ln>
                            <a:noFill/>
                          </a:ln>
                          <a:effectLst/>
                        </a:rPr>
                        <a:t>级连修改</a:t>
                      </a:r>
                      <a:r>
                        <a:rPr kumimoji="1" lang="en-US" altLang="zh-CN" sz="1800" u="none" strike="noStrike" cap="none" normalizeH="0" baseline="0" dirty="0">
                          <a:ln>
                            <a:noFill/>
                          </a:ln>
                          <a:effectLst/>
                        </a:rPr>
                        <a:t>/</a:t>
                      </a:r>
                      <a:r>
                        <a:rPr kumimoji="1" lang="zh-CN" altLang="en-US" sz="1800" u="none" strike="noStrike" cap="none" normalizeH="0" baseline="0" dirty="0">
                          <a:ln>
                            <a:noFill/>
                          </a:ln>
                          <a:effectLst/>
                        </a:rPr>
                        <a:t>设置为空值</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tc>
                <a:extLst>
                  <a:ext uri="{0D108BD9-81ED-4DB2-BD59-A6C34878D82A}">
                    <a16:rowId xmlns:a16="http://schemas.microsoft.com/office/drawing/2014/main" val="3822644079"/>
                  </a:ext>
                </a:extLst>
              </a:tr>
            </a:tbl>
          </a:graphicData>
        </a:graphic>
      </p:graphicFrame>
      <p:sp>
        <p:nvSpPr>
          <p:cNvPr id="441468" name="Line 124">
            <a:extLst>
              <a:ext uri="{FF2B5EF4-FFF2-40B4-BE49-F238E27FC236}">
                <a16:creationId xmlns:a16="http://schemas.microsoft.com/office/drawing/2014/main" id="{EA5994F6-D9CE-41C0-B4B5-D19C8919B884}"/>
              </a:ext>
            </a:extLst>
          </p:cNvPr>
          <p:cNvSpPr>
            <a:spLocks noChangeShapeType="1"/>
          </p:cNvSpPr>
          <p:nvPr/>
        </p:nvSpPr>
        <p:spPr bwMode="auto">
          <a:xfrm flipH="1">
            <a:off x="4144536" y="3693121"/>
            <a:ext cx="576262" cy="0"/>
          </a:xfrm>
          <a:prstGeom prst="line">
            <a:avLst/>
          </a:prstGeom>
          <a:noFill/>
          <a:ln w="254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469" name="Line 125">
            <a:extLst>
              <a:ext uri="{FF2B5EF4-FFF2-40B4-BE49-F238E27FC236}">
                <a16:creationId xmlns:a16="http://schemas.microsoft.com/office/drawing/2014/main" id="{F640D475-DBE8-4C01-BE25-5E9A4F100158}"/>
              </a:ext>
            </a:extLst>
          </p:cNvPr>
          <p:cNvSpPr>
            <a:spLocks noChangeShapeType="1"/>
          </p:cNvSpPr>
          <p:nvPr/>
        </p:nvSpPr>
        <p:spPr bwMode="auto">
          <a:xfrm flipH="1">
            <a:off x="4144537" y="4292695"/>
            <a:ext cx="649287" cy="0"/>
          </a:xfrm>
          <a:prstGeom prst="line">
            <a:avLst/>
          </a:prstGeom>
          <a:noFill/>
          <a:ln w="254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470" name="Line 126">
            <a:extLst>
              <a:ext uri="{FF2B5EF4-FFF2-40B4-BE49-F238E27FC236}">
                <a16:creationId xmlns:a16="http://schemas.microsoft.com/office/drawing/2014/main" id="{FD4EE571-606F-441D-8219-84EA2FF34310}"/>
              </a:ext>
            </a:extLst>
          </p:cNvPr>
          <p:cNvSpPr>
            <a:spLocks noChangeShapeType="1"/>
          </p:cNvSpPr>
          <p:nvPr/>
        </p:nvSpPr>
        <p:spPr bwMode="auto">
          <a:xfrm>
            <a:off x="4144537" y="4824892"/>
            <a:ext cx="649287" cy="0"/>
          </a:xfrm>
          <a:prstGeom prst="line">
            <a:avLst/>
          </a:prstGeom>
          <a:noFill/>
          <a:ln w="254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471" name="Line 127">
            <a:extLst>
              <a:ext uri="{FF2B5EF4-FFF2-40B4-BE49-F238E27FC236}">
                <a16:creationId xmlns:a16="http://schemas.microsoft.com/office/drawing/2014/main" id="{539C2EAE-6F55-48A0-9008-CF6338355B51}"/>
              </a:ext>
            </a:extLst>
          </p:cNvPr>
          <p:cNvSpPr>
            <a:spLocks noChangeShapeType="1"/>
          </p:cNvSpPr>
          <p:nvPr/>
        </p:nvSpPr>
        <p:spPr bwMode="auto">
          <a:xfrm>
            <a:off x="4144536" y="5424549"/>
            <a:ext cx="647700" cy="0"/>
          </a:xfrm>
          <a:prstGeom prst="line">
            <a:avLst/>
          </a:prstGeom>
          <a:noFill/>
          <a:ln w="254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14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13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441468"/>
                                        </p:tgtEl>
                                        <p:attrNameLst>
                                          <p:attrName>style.visibility</p:attrName>
                                        </p:attrNameLst>
                                      </p:cBhvr>
                                      <p:to>
                                        <p:strVal val="visible"/>
                                      </p:to>
                                    </p:set>
                                    <p:animEffect transition="in" filter="wipe(right)">
                                      <p:cBhvr>
                                        <p:cTn id="13" dur="500"/>
                                        <p:tgtEl>
                                          <p:spTgt spid="44146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441469"/>
                                        </p:tgtEl>
                                        <p:attrNameLst>
                                          <p:attrName>style.visibility</p:attrName>
                                        </p:attrNameLst>
                                      </p:cBhvr>
                                      <p:to>
                                        <p:strVal val="visible"/>
                                      </p:to>
                                    </p:set>
                                    <p:animEffect transition="in" filter="wipe(right)">
                                      <p:cBhvr>
                                        <p:cTn id="18" dur="500"/>
                                        <p:tgtEl>
                                          <p:spTgt spid="44146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41470"/>
                                        </p:tgtEl>
                                        <p:attrNameLst>
                                          <p:attrName>style.visibility</p:attrName>
                                        </p:attrNameLst>
                                      </p:cBhvr>
                                      <p:to>
                                        <p:strVal val="visible"/>
                                      </p:to>
                                    </p:set>
                                    <p:animEffect transition="in" filter="wipe(left)">
                                      <p:cBhvr>
                                        <p:cTn id="23" dur="500"/>
                                        <p:tgtEl>
                                          <p:spTgt spid="44147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41471"/>
                                        </p:tgtEl>
                                        <p:attrNameLst>
                                          <p:attrName>style.visibility</p:attrName>
                                        </p:attrNameLst>
                                      </p:cBhvr>
                                      <p:to>
                                        <p:strVal val="visible"/>
                                      </p:to>
                                    </p:set>
                                    <p:animEffect transition="in" filter="wipe(left)">
                                      <p:cBhvr>
                                        <p:cTn id="28" dur="500"/>
                                        <p:tgtEl>
                                          <p:spTgt spid="4414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52" grpId="0"/>
      <p:bldP spid="441468" grpId="0" animBg="1"/>
      <p:bldP spid="441469" grpId="0" animBg="1"/>
      <p:bldP spid="441470" grpId="0" animBg="1"/>
      <p:bldP spid="44147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8C3128F-F28C-4DE8-AC7E-AB9B6BC4D69D}"/>
              </a:ext>
            </a:extLst>
          </p:cNvPr>
          <p:cNvSpPr>
            <a:spLocks noGrp="1" noChangeArrowheads="1"/>
          </p:cNvSpPr>
          <p:nvPr>
            <p:ph type="title"/>
          </p:nvPr>
        </p:nvSpPr>
        <p:spPr/>
        <p:txBody>
          <a:bodyPr/>
          <a:lstStyle/>
          <a:p>
            <a:r>
              <a:rPr lang="zh-CN" altLang="en-US"/>
              <a:t>参照完整性检查和违约处理</a:t>
            </a:r>
            <a:r>
              <a:rPr lang="en-US" altLang="zh-CN"/>
              <a:t>(</a:t>
            </a:r>
            <a:r>
              <a:rPr lang="zh-CN" altLang="en-US"/>
              <a:t>续</a:t>
            </a:r>
            <a:r>
              <a:rPr lang="en-US" altLang="zh-CN"/>
              <a:t>)</a:t>
            </a:r>
            <a:endParaRPr lang="zh-CN" altLang="en-US" dirty="0"/>
          </a:p>
        </p:txBody>
      </p:sp>
      <p:sp>
        <p:nvSpPr>
          <p:cNvPr id="3" name="内容占位符 2">
            <a:extLst>
              <a:ext uri="{FF2B5EF4-FFF2-40B4-BE49-F238E27FC236}">
                <a16:creationId xmlns:a16="http://schemas.microsoft.com/office/drawing/2014/main" id="{939B8451-9A3F-4D49-B227-F7F2B3E4841F}"/>
              </a:ext>
            </a:extLst>
          </p:cNvPr>
          <p:cNvSpPr>
            <a:spLocks noGrp="1"/>
          </p:cNvSpPr>
          <p:nvPr>
            <p:ph idx="1"/>
          </p:nvPr>
        </p:nvSpPr>
        <p:spPr/>
        <p:txBody>
          <a:bodyPr>
            <a:normAutofit/>
          </a:bodyPr>
          <a:lstStyle/>
          <a:p>
            <a:r>
              <a:rPr lang="zh-CN" altLang="en-US" dirty="0"/>
              <a:t>例如，对表</a:t>
            </a:r>
            <a:r>
              <a:rPr lang="en-US" altLang="zh-CN" dirty="0"/>
              <a:t>SC</a:t>
            </a:r>
            <a:r>
              <a:rPr lang="zh-CN" altLang="en-US" dirty="0"/>
              <a:t>和</a:t>
            </a:r>
            <a:r>
              <a:rPr lang="en-US" altLang="zh-CN" dirty="0"/>
              <a:t>Student</a:t>
            </a:r>
            <a:r>
              <a:rPr lang="zh-CN" altLang="en-US" dirty="0"/>
              <a:t>有四种可能破坏参照完整性的情况 </a:t>
            </a:r>
            <a:r>
              <a:rPr lang="en-US" altLang="zh-CN" dirty="0"/>
              <a:t>:</a:t>
            </a:r>
          </a:p>
          <a:p>
            <a:pPr lvl="1"/>
            <a:r>
              <a:rPr lang="en-US" altLang="zh-CN" dirty="0">
                <a:solidFill>
                  <a:srgbClr val="0000FF"/>
                </a:solidFill>
              </a:rPr>
              <a:t>SC</a:t>
            </a:r>
            <a:r>
              <a:rPr lang="zh-CN" altLang="en-US" dirty="0">
                <a:solidFill>
                  <a:srgbClr val="0000FF"/>
                </a:solidFill>
              </a:rPr>
              <a:t>表中增加一个元组</a:t>
            </a:r>
            <a:r>
              <a:rPr lang="zh-CN" altLang="en-US" dirty="0"/>
              <a:t>，该元组的</a:t>
            </a:r>
            <a:r>
              <a:rPr lang="en-US" altLang="zh-CN" dirty="0" err="1"/>
              <a:t>Sno</a:t>
            </a:r>
            <a:r>
              <a:rPr lang="zh-CN" altLang="en-US" dirty="0"/>
              <a:t>属性的值在表</a:t>
            </a:r>
            <a:r>
              <a:rPr lang="en-US" altLang="zh-CN" dirty="0"/>
              <a:t>Student</a:t>
            </a:r>
            <a:r>
              <a:rPr lang="zh-CN" altLang="en-US" dirty="0"/>
              <a:t>中找不到一个元组，其</a:t>
            </a:r>
            <a:r>
              <a:rPr lang="en-US" altLang="zh-CN" dirty="0" err="1"/>
              <a:t>Sno</a:t>
            </a:r>
            <a:r>
              <a:rPr lang="zh-CN" altLang="en-US" dirty="0"/>
              <a:t>属性的值与之相等。</a:t>
            </a:r>
            <a:endParaRPr lang="en-US" altLang="zh-CN" dirty="0"/>
          </a:p>
          <a:p>
            <a:pPr lvl="1"/>
            <a:r>
              <a:rPr lang="zh-CN" altLang="en-US" dirty="0">
                <a:solidFill>
                  <a:srgbClr val="0000FF"/>
                </a:solidFill>
              </a:rPr>
              <a:t>修改</a:t>
            </a:r>
            <a:r>
              <a:rPr lang="en-US" altLang="zh-CN" dirty="0">
                <a:solidFill>
                  <a:srgbClr val="0000FF"/>
                </a:solidFill>
              </a:rPr>
              <a:t>SC</a:t>
            </a:r>
            <a:r>
              <a:rPr lang="zh-CN" altLang="en-US" dirty="0">
                <a:solidFill>
                  <a:srgbClr val="0000FF"/>
                </a:solidFill>
              </a:rPr>
              <a:t>表中的一个元组</a:t>
            </a:r>
            <a:r>
              <a:rPr lang="zh-CN" altLang="en-US" dirty="0"/>
              <a:t>，修改后该元组的</a:t>
            </a:r>
            <a:r>
              <a:rPr lang="en-US" altLang="zh-CN" dirty="0" err="1"/>
              <a:t>Sno</a:t>
            </a:r>
            <a:r>
              <a:rPr lang="zh-CN" altLang="en-US" dirty="0"/>
              <a:t>属性的值在表</a:t>
            </a:r>
            <a:r>
              <a:rPr lang="en-US" altLang="zh-CN" dirty="0"/>
              <a:t>Student</a:t>
            </a:r>
            <a:r>
              <a:rPr lang="zh-CN" altLang="en-US" dirty="0"/>
              <a:t>中找不到一个元组，其</a:t>
            </a:r>
            <a:r>
              <a:rPr lang="en-US" altLang="zh-CN" dirty="0" err="1"/>
              <a:t>Sno</a:t>
            </a:r>
            <a:r>
              <a:rPr lang="zh-CN" altLang="en-US" dirty="0"/>
              <a:t>属性的值与之相等。</a:t>
            </a:r>
            <a:endParaRPr lang="en-US" altLang="zh-CN" dirty="0"/>
          </a:p>
          <a:p>
            <a:pPr lvl="1"/>
            <a:r>
              <a:rPr lang="zh-CN" altLang="en-US" dirty="0">
                <a:solidFill>
                  <a:srgbClr val="0000FF"/>
                </a:solidFill>
              </a:rPr>
              <a:t>从</a:t>
            </a:r>
            <a:r>
              <a:rPr lang="en-US" altLang="zh-CN" dirty="0">
                <a:solidFill>
                  <a:srgbClr val="0000FF"/>
                </a:solidFill>
              </a:rPr>
              <a:t>Student</a:t>
            </a:r>
            <a:r>
              <a:rPr lang="zh-CN" altLang="en-US" dirty="0">
                <a:solidFill>
                  <a:srgbClr val="0000FF"/>
                </a:solidFill>
              </a:rPr>
              <a:t>表中删除一个元组</a:t>
            </a:r>
            <a:r>
              <a:rPr lang="zh-CN" altLang="en-US" dirty="0"/>
              <a:t>，造成</a:t>
            </a:r>
            <a:r>
              <a:rPr lang="en-US" altLang="zh-CN" dirty="0"/>
              <a:t>SC</a:t>
            </a:r>
            <a:r>
              <a:rPr lang="zh-CN" altLang="en-US" dirty="0"/>
              <a:t>表中某些元组的</a:t>
            </a:r>
            <a:r>
              <a:rPr lang="en-US" altLang="zh-CN" dirty="0" err="1"/>
              <a:t>Sno</a:t>
            </a:r>
            <a:r>
              <a:rPr lang="zh-CN" altLang="en-US" dirty="0"/>
              <a:t>属性的值在表</a:t>
            </a:r>
            <a:r>
              <a:rPr lang="en-US" altLang="zh-CN" dirty="0"/>
              <a:t>Student</a:t>
            </a:r>
            <a:r>
              <a:rPr lang="zh-CN" altLang="en-US" dirty="0"/>
              <a:t>中找不到一个元组，其</a:t>
            </a:r>
            <a:r>
              <a:rPr lang="en-US" altLang="zh-CN" dirty="0" err="1"/>
              <a:t>Sno</a:t>
            </a:r>
            <a:r>
              <a:rPr lang="zh-CN" altLang="en-US" dirty="0"/>
              <a:t>属性的值与之相等。</a:t>
            </a:r>
            <a:endParaRPr lang="en-US" altLang="zh-CN" dirty="0"/>
          </a:p>
          <a:p>
            <a:pPr lvl="1"/>
            <a:r>
              <a:rPr lang="zh-CN" altLang="en-US" dirty="0">
                <a:solidFill>
                  <a:srgbClr val="0000FF"/>
                </a:solidFill>
              </a:rPr>
              <a:t>修改</a:t>
            </a:r>
            <a:r>
              <a:rPr lang="en-US" altLang="zh-CN" dirty="0">
                <a:solidFill>
                  <a:srgbClr val="0000FF"/>
                </a:solidFill>
              </a:rPr>
              <a:t>Student</a:t>
            </a:r>
            <a:r>
              <a:rPr lang="zh-CN" altLang="en-US" dirty="0">
                <a:solidFill>
                  <a:srgbClr val="0000FF"/>
                </a:solidFill>
              </a:rPr>
              <a:t>表中一个元组的</a:t>
            </a:r>
            <a:r>
              <a:rPr lang="en-US" altLang="zh-CN" dirty="0" err="1">
                <a:solidFill>
                  <a:srgbClr val="0000FF"/>
                </a:solidFill>
              </a:rPr>
              <a:t>Sno</a:t>
            </a:r>
            <a:r>
              <a:rPr lang="zh-CN" altLang="en-US" dirty="0">
                <a:solidFill>
                  <a:srgbClr val="0000FF"/>
                </a:solidFill>
              </a:rPr>
              <a:t>属性</a:t>
            </a:r>
            <a:r>
              <a:rPr lang="zh-CN" altLang="en-US" dirty="0"/>
              <a:t>，造成</a:t>
            </a:r>
            <a:r>
              <a:rPr lang="en-US" altLang="zh-CN" dirty="0"/>
              <a:t>SC</a:t>
            </a:r>
            <a:r>
              <a:rPr lang="zh-CN" altLang="en-US" dirty="0"/>
              <a:t>表中某些元组的</a:t>
            </a:r>
            <a:r>
              <a:rPr lang="en-US" altLang="zh-CN" dirty="0" err="1"/>
              <a:t>Sno</a:t>
            </a:r>
            <a:r>
              <a:rPr lang="zh-CN" altLang="en-US" dirty="0"/>
              <a:t>属性的值在表</a:t>
            </a:r>
            <a:r>
              <a:rPr lang="en-US" altLang="zh-CN" dirty="0"/>
              <a:t>Student</a:t>
            </a:r>
            <a:r>
              <a:rPr lang="zh-CN" altLang="en-US" dirty="0"/>
              <a:t>中找不到一个元组，其</a:t>
            </a:r>
            <a:r>
              <a:rPr lang="en-US" altLang="zh-CN" dirty="0" err="1"/>
              <a:t>Sno</a:t>
            </a:r>
            <a:r>
              <a:rPr lang="zh-CN" altLang="en-US" dirty="0"/>
              <a:t>属性的值与之相等 。</a:t>
            </a:r>
          </a:p>
        </p:txBody>
      </p:sp>
      <p:sp>
        <p:nvSpPr>
          <p:cNvPr id="2" name="灯片编号占位符 1">
            <a:extLst>
              <a:ext uri="{FF2B5EF4-FFF2-40B4-BE49-F238E27FC236}">
                <a16:creationId xmlns:a16="http://schemas.microsoft.com/office/drawing/2014/main" id="{FB99F9D7-B441-4B3D-9910-2089842F79A3}"/>
              </a:ext>
            </a:extLst>
          </p:cNvPr>
          <p:cNvSpPr>
            <a:spLocks noGrp="1"/>
          </p:cNvSpPr>
          <p:nvPr>
            <p:ph type="sldNum" sz="quarter" idx="12"/>
          </p:nvPr>
        </p:nvSpPr>
        <p:spPr/>
        <p:txBody>
          <a:bodyPr/>
          <a:lstStyle/>
          <a:p>
            <a:fld id="{47C9E101-E51D-431E-84FA-C029B8655B60}" type="slidenum">
              <a:rPr lang="zh-CN" altLang="en-US" smtClean="0"/>
              <a:pPr/>
              <a:t>18</a:t>
            </a:fld>
            <a:endParaRPr lang="zh-CN" altLang="en-US" dirty="0"/>
          </a:p>
        </p:txBody>
      </p:sp>
    </p:spTree>
    <p:extLst>
      <p:ext uri="{BB962C8B-B14F-4D97-AF65-F5344CB8AC3E}">
        <p14:creationId xmlns:p14="http://schemas.microsoft.com/office/powerpoint/2010/main" val="1964486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a:extLst>
              <a:ext uri="{FF2B5EF4-FFF2-40B4-BE49-F238E27FC236}">
                <a16:creationId xmlns:a16="http://schemas.microsoft.com/office/drawing/2014/main" id="{DFF98208-384B-45CE-9B97-2AAB0BD7972F}"/>
              </a:ext>
            </a:extLst>
          </p:cNvPr>
          <p:cNvSpPr>
            <a:spLocks noGrp="1" noChangeArrowheads="1"/>
          </p:cNvSpPr>
          <p:nvPr>
            <p:ph type="title"/>
          </p:nvPr>
        </p:nvSpPr>
        <p:spPr/>
        <p:txBody>
          <a:bodyPr/>
          <a:lstStyle/>
          <a:p>
            <a:r>
              <a:rPr lang="zh-CN" altLang="en-US"/>
              <a:t>违约处理</a:t>
            </a:r>
          </a:p>
        </p:txBody>
      </p:sp>
      <p:sp>
        <p:nvSpPr>
          <p:cNvPr id="442371" name="Rectangle 3">
            <a:extLst>
              <a:ext uri="{FF2B5EF4-FFF2-40B4-BE49-F238E27FC236}">
                <a16:creationId xmlns:a16="http://schemas.microsoft.com/office/drawing/2014/main" id="{32F3DBA4-0B82-4343-A689-FEB1979E8647}"/>
              </a:ext>
            </a:extLst>
          </p:cNvPr>
          <p:cNvSpPr>
            <a:spLocks noGrp="1" noChangeArrowheads="1"/>
          </p:cNvSpPr>
          <p:nvPr>
            <p:ph idx="1"/>
          </p:nvPr>
        </p:nvSpPr>
        <p:spPr/>
        <p:txBody>
          <a:bodyPr>
            <a:normAutofit fontScale="92500" lnSpcReduction="10000"/>
          </a:bodyPr>
          <a:lstStyle/>
          <a:p>
            <a:pPr>
              <a:lnSpc>
                <a:spcPct val="100000"/>
              </a:lnSpc>
            </a:pPr>
            <a:r>
              <a:rPr lang="zh-CN" altLang="en-US" dirty="0"/>
              <a:t>当发生不一致时，系统可执行下列策略：</a:t>
            </a:r>
          </a:p>
          <a:p>
            <a:pPr lvl="1">
              <a:lnSpc>
                <a:spcPct val="100000"/>
              </a:lnSpc>
            </a:pPr>
            <a:r>
              <a:rPr lang="zh-CN" altLang="en-US" dirty="0">
                <a:solidFill>
                  <a:srgbClr val="C00000"/>
                </a:solidFill>
              </a:rPr>
              <a:t>拒绝（</a:t>
            </a:r>
            <a:r>
              <a:rPr lang="en-US" altLang="zh-CN" dirty="0">
                <a:solidFill>
                  <a:srgbClr val="C00000"/>
                </a:solidFill>
              </a:rPr>
              <a:t>NO ACTION</a:t>
            </a:r>
            <a:r>
              <a:rPr lang="zh-CN" altLang="en-US" dirty="0">
                <a:solidFill>
                  <a:srgbClr val="C00000"/>
                </a:solidFill>
              </a:rPr>
              <a:t>）</a:t>
            </a:r>
            <a:r>
              <a:rPr lang="zh-CN" altLang="en-US" dirty="0"/>
              <a:t>执行</a:t>
            </a:r>
          </a:p>
          <a:p>
            <a:pPr lvl="2">
              <a:lnSpc>
                <a:spcPct val="100000"/>
              </a:lnSpc>
            </a:pPr>
            <a:r>
              <a:rPr lang="zh-CN" altLang="en-US" dirty="0"/>
              <a:t>不允许该操作执行，一般为</a:t>
            </a:r>
            <a:r>
              <a:rPr lang="zh-CN" altLang="en-US" dirty="0">
                <a:solidFill>
                  <a:srgbClr val="C00000"/>
                </a:solidFill>
              </a:rPr>
              <a:t>默认策略</a:t>
            </a:r>
            <a:r>
              <a:rPr lang="zh-CN" altLang="en-US" dirty="0"/>
              <a:t>。</a:t>
            </a:r>
          </a:p>
          <a:p>
            <a:pPr lvl="1">
              <a:lnSpc>
                <a:spcPct val="100000"/>
              </a:lnSpc>
            </a:pPr>
            <a:r>
              <a:rPr lang="zh-CN" altLang="en-US" dirty="0">
                <a:solidFill>
                  <a:srgbClr val="C00000"/>
                </a:solidFill>
              </a:rPr>
              <a:t>级联（</a:t>
            </a:r>
            <a:r>
              <a:rPr lang="en-US" altLang="zh-CN" dirty="0">
                <a:solidFill>
                  <a:srgbClr val="C00000"/>
                </a:solidFill>
              </a:rPr>
              <a:t>CASCADE</a:t>
            </a:r>
            <a:r>
              <a:rPr lang="zh-CN" altLang="en-US" dirty="0">
                <a:solidFill>
                  <a:srgbClr val="C00000"/>
                </a:solidFill>
              </a:rPr>
              <a:t>）</a:t>
            </a:r>
            <a:r>
              <a:rPr lang="zh-CN" altLang="en-US" dirty="0"/>
              <a:t>操作</a:t>
            </a:r>
          </a:p>
          <a:p>
            <a:pPr lvl="2">
              <a:lnSpc>
                <a:spcPct val="100000"/>
              </a:lnSpc>
            </a:pPr>
            <a:r>
              <a:rPr lang="zh-CN" altLang="en-US" dirty="0"/>
              <a:t>当删除或修改了被参照表（如</a:t>
            </a:r>
            <a:r>
              <a:rPr lang="en-US" altLang="zh-CN" dirty="0"/>
              <a:t>student</a:t>
            </a:r>
            <a:r>
              <a:rPr lang="zh-CN" altLang="en-US" dirty="0"/>
              <a:t>）的一个元组造成了与参照表（如</a:t>
            </a:r>
            <a:r>
              <a:rPr lang="en-US" altLang="zh-CN" dirty="0"/>
              <a:t>SC</a:t>
            </a:r>
            <a:r>
              <a:rPr lang="zh-CN" altLang="en-US" dirty="0"/>
              <a:t>）的不一致，则删除或修改参照表中的所有造成不一致的元组。</a:t>
            </a:r>
          </a:p>
          <a:p>
            <a:pPr lvl="1">
              <a:lnSpc>
                <a:spcPct val="100000"/>
              </a:lnSpc>
            </a:pPr>
            <a:r>
              <a:rPr lang="zh-CN" altLang="en-US" dirty="0">
                <a:solidFill>
                  <a:srgbClr val="C00000"/>
                </a:solidFill>
              </a:rPr>
              <a:t>设置为空值</a:t>
            </a:r>
          </a:p>
          <a:p>
            <a:pPr lvl="2">
              <a:lnSpc>
                <a:spcPct val="100000"/>
              </a:lnSpc>
            </a:pPr>
            <a:r>
              <a:rPr lang="zh-CN" altLang="en-US" dirty="0"/>
              <a:t>当删除或修改被参照表的一个元组时造成了不一致，则将参照表中的所有造成不一致的元组的对应属性</a:t>
            </a:r>
            <a:r>
              <a:rPr lang="zh-CN" altLang="en-US" dirty="0">
                <a:solidFill>
                  <a:srgbClr val="C00000"/>
                </a:solidFill>
              </a:rPr>
              <a:t>设置为空值</a:t>
            </a:r>
            <a:r>
              <a:rPr lang="zh-CN" altLang="en-US" dirty="0"/>
              <a:t>。</a:t>
            </a:r>
            <a:endParaRPr lang="en-US" altLang="zh-CN" dirty="0"/>
          </a:p>
          <a:p>
            <a:pPr lvl="2">
              <a:lnSpc>
                <a:spcPct val="100000"/>
              </a:lnSpc>
            </a:pPr>
            <a:r>
              <a:rPr lang="zh-CN" altLang="en-US" dirty="0"/>
              <a:t>例</a:t>
            </a:r>
            <a:r>
              <a:rPr lang="en-US" altLang="zh-CN" dirty="0">
                <a:sym typeface="Wingdings" panose="05000000000000000000" pitchFamily="2" charset="2"/>
              </a:rPr>
              <a:t>: </a:t>
            </a:r>
            <a:r>
              <a:rPr lang="zh-CN" altLang="en-US" dirty="0">
                <a:sym typeface="Wingdings" panose="05000000000000000000" pitchFamily="2" charset="2"/>
              </a:rPr>
              <a:t>学生</a:t>
            </a:r>
            <a:r>
              <a:rPr lang="en-US" altLang="zh-CN" dirty="0">
                <a:sym typeface="Wingdings" panose="05000000000000000000" pitchFamily="2" charset="2"/>
              </a:rPr>
              <a:t>(</a:t>
            </a:r>
            <a:r>
              <a:rPr lang="zh-CN" altLang="en-US" dirty="0">
                <a:sym typeface="Wingdings" panose="05000000000000000000" pitchFamily="2" charset="2"/>
              </a:rPr>
              <a:t>学号，姓名，性别，专业号，年龄</a:t>
            </a:r>
            <a:r>
              <a:rPr lang="en-US" altLang="zh-CN" dirty="0">
                <a:sym typeface="Wingdings" panose="05000000000000000000" pitchFamily="2" charset="2"/>
              </a:rPr>
              <a:t>) ,</a:t>
            </a:r>
            <a:r>
              <a:rPr lang="zh-CN" altLang="en-US" dirty="0">
                <a:sym typeface="Wingdings" panose="05000000000000000000" pitchFamily="2" charset="2"/>
              </a:rPr>
              <a:t>专业</a:t>
            </a:r>
            <a:r>
              <a:rPr lang="en-US" altLang="zh-CN" dirty="0">
                <a:sym typeface="Wingdings" panose="05000000000000000000" pitchFamily="2" charset="2"/>
              </a:rPr>
              <a:t>(</a:t>
            </a:r>
            <a:r>
              <a:rPr lang="zh-CN" altLang="en-US" dirty="0">
                <a:sym typeface="Wingdings" panose="05000000000000000000" pitchFamily="2" charset="2"/>
              </a:rPr>
              <a:t>专业号，专业名</a:t>
            </a:r>
            <a:r>
              <a:rPr lang="en-US" altLang="zh-CN" dirty="0">
                <a:sym typeface="Wingdings" panose="05000000000000000000" pitchFamily="2" charset="2"/>
              </a:rPr>
              <a:t>)</a:t>
            </a:r>
          </a:p>
          <a:p>
            <a:pPr marL="685800" lvl="2" indent="0">
              <a:buNone/>
            </a:pPr>
            <a:r>
              <a:rPr lang="en-US" altLang="zh-CN" dirty="0">
                <a:sym typeface="Wingdings" panose="05000000000000000000" pitchFamily="2" charset="2"/>
              </a:rPr>
              <a:t>           </a:t>
            </a:r>
            <a:r>
              <a:rPr lang="zh-CN" altLang="en-US" dirty="0">
                <a:sym typeface="Wingdings" panose="05000000000000000000" pitchFamily="2" charset="2"/>
              </a:rPr>
              <a:t>删除专业表中的某个元组，需要把学生表中对应的专业号置空。</a:t>
            </a:r>
            <a:endParaRPr lang="zh-CN" altLang="en-US" dirty="0"/>
          </a:p>
          <a:p>
            <a:pPr lvl="2"/>
            <a:r>
              <a:rPr lang="zh-CN" altLang="en-US" dirty="0"/>
              <a:t>对于参照完整性，除了应该定义外码，还应定义</a:t>
            </a:r>
            <a:r>
              <a:rPr lang="zh-CN" altLang="en-US" dirty="0">
                <a:solidFill>
                  <a:srgbClr val="C00000"/>
                </a:solidFill>
              </a:rPr>
              <a:t>外码列是否允许空值</a:t>
            </a:r>
            <a:r>
              <a:rPr lang="en-US" altLang="zh-CN" dirty="0"/>
              <a:t>(</a:t>
            </a:r>
            <a:r>
              <a:rPr lang="zh-CN" altLang="en-US" dirty="0">
                <a:solidFill>
                  <a:srgbClr val="0000FF"/>
                </a:solidFill>
              </a:rPr>
              <a:t>根据实际应用环境确定</a:t>
            </a:r>
            <a:r>
              <a:rPr lang="en-US" altLang="zh-CN" dirty="0"/>
              <a:t>)</a:t>
            </a:r>
            <a:r>
              <a:rPr lang="zh-CN" altLang="en-US" dirty="0"/>
              <a:t>。</a:t>
            </a:r>
          </a:p>
        </p:txBody>
      </p:sp>
      <p:sp>
        <p:nvSpPr>
          <p:cNvPr id="2" name="灯片编号占位符 1">
            <a:extLst>
              <a:ext uri="{FF2B5EF4-FFF2-40B4-BE49-F238E27FC236}">
                <a16:creationId xmlns:a16="http://schemas.microsoft.com/office/drawing/2014/main" id="{CA70E8DB-4D74-457B-B37F-2FB6CF01144E}"/>
              </a:ext>
            </a:extLst>
          </p:cNvPr>
          <p:cNvSpPr>
            <a:spLocks noGrp="1"/>
          </p:cNvSpPr>
          <p:nvPr>
            <p:ph type="sldNum" sz="quarter" idx="12"/>
          </p:nvPr>
        </p:nvSpPr>
        <p:spPr/>
        <p:txBody>
          <a:bodyPr/>
          <a:lstStyle/>
          <a:p>
            <a:fld id="{47C9E101-E51D-431E-84FA-C029B8655B60}" type="slidenum">
              <a:rPr lang="zh-CN" altLang="en-US" smtClean="0"/>
              <a:pPr/>
              <a:t>19</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237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237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4237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23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237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237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42371">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2371">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237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a:extLst>
              <a:ext uri="{FF2B5EF4-FFF2-40B4-BE49-F238E27FC236}">
                <a16:creationId xmlns:a16="http://schemas.microsoft.com/office/drawing/2014/main" id="{7677F66C-B711-48BB-9E78-3B9BCE08C8F8}"/>
              </a:ext>
            </a:extLst>
          </p:cNvPr>
          <p:cNvSpPr>
            <a:spLocks noGrp="1" noChangeArrowheads="1"/>
          </p:cNvSpPr>
          <p:nvPr>
            <p:ph type="title"/>
          </p:nvPr>
        </p:nvSpPr>
        <p:spPr/>
        <p:txBody>
          <a:bodyPr/>
          <a:lstStyle/>
          <a:p>
            <a:r>
              <a:rPr lang="zh-CN" altLang="en-US"/>
              <a:t>违约处理</a:t>
            </a:r>
            <a:r>
              <a:rPr lang="en-US" altLang="zh-CN"/>
              <a:t>(</a:t>
            </a:r>
            <a:r>
              <a:rPr lang="zh-CN" altLang="en-US"/>
              <a:t>续</a:t>
            </a:r>
            <a:r>
              <a:rPr lang="en-US" altLang="zh-CN"/>
              <a:t>)</a:t>
            </a:r>
          </a:p>
        </p:txBody>
      </p:sp>
      <p:sp>
        <p:nvSpPr>
          <p:cNvPr id="446467" name="Rectangle 3">
            <a:extLst>
              <a:ext uri="{FF2B5EF4-FFF2-40B4-BE49-F238E27FC236}">
                <a16:creationId xmlns:a16="http://schemas.microsoft.com/office/drawing/2014/main" id="{EBC6981E-2F1E-4108-A4A0-41679611670B}"/>
              </a:ext>
            </a:extLst>
          </p:cNvPr>
          <p:cNvSpPr>
            <a:spLocks noGrp="1" noChangeArrowheads="1"/>
          </p:cNvSpPr>
          <p:nvPr>
            <p:ph idx="1"/>
          </p:nvPr>
        </p:nvSpPr>
        <p:spPr/>
        <p:txBody>
          <a:bodyPr>
            <a:normAutofit fontScale="62500" lnSpcReduction="20000"/>
          </a:bodyPr>
          <a:lstStyle/>
          <a:p>
            <a:r>
              <a:rPr lang="en-US" altLang="zh-CN" dirty="0"/>
              <a:t>[</a:t>
            </a:r>
            <a:r>
              <a:rPr lang="zh-CN" altLang="en-US" dirty="0"/>
              <a:t>例</a:t>
            </a:r>
            <a:r>
              <a:rPr lang="en-US" altLang="zh-CN" dirty="0"/>
              <a:t>4 ]</a:t>
            </a:r>
            <a:r>
              <a:rPr lang="zh-CN" altLang="en-US" dirty="0"/>
              <a:t>显式说明参照完整性的违约处理示例</a:t>
            </a:r>
          </a:p>
          <a:p>
            <a:pPr marL="342900" lvl="1" indent="0">
              <a:buNone/>
            </a:pPr>
            <a:r>
              <a:rPr lang="zh-CN" altLang="en-US" dirty="0"/>
              <a:t>    </a:t>
            </a:r>
            <a:r>
              <a:rPr lang="en-US" altLang="zh-CN" dirty="0"/>
              <a:t>CREATE TABLE SC</a:t>
            </a:r>
          </a:p>
          <a:p>
            <a:pPr marL="342900" lvl="1" indent="0">
              <a:buNone/>
            </a:pPr>
            <a:r>
              <a:rPr lang="en-US" altLang="zh-CN" dirty="0"/>
              <a:t>        (</a:t>
            </a:r>
            <a:r>
              <a:rPr lang="en-US" altLang="zh-CN" dirty="0" err="1"/>
              <a:t>Sno</a:t>
            </a:r>
            <a:r>
              <a:rPr lang="en-US" altLang="zh-CN" dirty="0"/>
              <a:t>   CHAR(9)  NOT NULL</a:t>
            </a:r>
            <a:r>
              <a:rPr lang="zh-CN" altLang="en-US" dirty="0"/>
              <a:t>，</a:t>
            </a:r>
          </a:p>
          <a:p>
            <a:pPr marL="342900" lvl="1" indent="0">
              <a:buNone/>
            </a:pPr>
            <a:r>
              <a:rPr lang="zh-CN" altLang="en-US" dirty="0"/>
              <a:t>         </a:t>
            </a:r>
            <a:r>
              <a:rPr lang="en-US" altLang="zh-CN" dirty="0" err="1"/>
              <a:t>Cno</a:t>
            </a:r>
            <a:r>
              <a:rPr lang="en-US" altLang="zh-CN" dirty="0"/>
              <a:t>   CHAR(4)  NOT NULL</a:t>
            </a:r>
            <a:r>
              <a:rPr lang="zh-CN" altLang="en-US" dirty="0"/>
              <a:t>，</a:t>
            </a:r>
          </a:p>
          <a:p>
            <a:pPr marL="342900" lvl="1" indent="0">
              <a:buNone/>
            </a:pPr>
            <a:r>
              <a:rPr lang="zh-CN" altLang="en-US" dirty="0"/>
              <a:t>         </a:t>
            </a:r>
            <a:r>
              <a:rPr lang="en-US" altLang="zh-CN" dirty="0"/>
              <a:t>Grade  SMALLINT</a:t>
            </a:r>
            <a:r>
              <a:rPr lang="zh-CN" altLang="en-US" dirty="0"/>
              <a:t>，</a:t>
            </a:r>
          </a:p>
          <a:p>
            <a:pPr marL="342900" lvl="1" indent="0">
              <a:buNone/>
            </a:pPr>
            <a:r>
              <a:rPr lang="zh-CN" altLang="en-US" dirty="0"/>
              <a:t>         </a:t>
            </a:r>
            <a:r>
              <a:rPr lang="en-US" altLang="zh-CN" dirty="0">
                <a:solidFill>
                  <a:srgbClr val="C00000"/>
                </a:solidFill>
              </a:rPr>
              <a:t>PRIMARY KEY</a:t>
            </a:r>
            <a:r>
              <a:rPr lang="zh-CN" altLang="en-US" dirty="0">
                <a:solidFill>
                  <a:srgbClr val="C00000"/>
                </a:solidFill>
              </a:rPr>
              <a:t>（</a:t>
            </a:r>
            <a:r>
              <a:rPr lang="en-US" altLang="zh-CN" dirty="0" err="1">
                <a:solidFill>
                  <a:srgbClr val="C00000"/>
                </a:solidFill>
              </a:rPr>
              <a:t>Sno</a:t>
            </a:r>
            <a:r>
              <a:rPr lang="zh-CN" altLang="en-US" dirty="0">
                <a:solidFill>
                  <a:srgbClr val="C00000"/>
                </a:solidFill>
              </a:rPr>
              <a:t>，</a:t>
            </a:r>
            <a:r>
              <a:rPr lang="en-US" altLang="zh-CN" dirty="0" err="1">
                <a:solidFill>
                  <a:srgbClr val="C00000"/>
                </a:solidFill>
              </a:rPr>
              <a:t>Cno</a:t>
            </a:r>
            <a:r>
              <a:rPr lang="zh-CN" altLang="en-US" dirty="0">
                <a:solidFill>
                  <a:srgbClr val="C00000"/>
                </a:solidFill>
              </a:rPr>
              <a:t>）， </a:t>
            </a:r>
            <a:r>
              <a:rPr lang="zh-CN" altLang="en-US" dirty="0"/>
              <a:t>				</a:t>
            </a:r>
          </a:p>
          <a:p>
            <a:pPr marL="342900" lvl="1" indent="0">
              <a:buNone/>
            </a:pPr>
            <a:r>
              <a:rPr lang="zh-CN" altLang="en-US" dirty="0"/>
              <a:t>         </a:t>
            </a:r>
            <a:r>
              <a:rPr lang="en-US" altLang="zh-CN" dirty="0">
                <a:solidFill>
                  <a:srgbClr val="0000FF"/>
                </a:solidFill>
              </a:rPr>
              <a:t>FOREIGN KEY (</a:t>
            </a:r>
            <a:r>
              <a:rPr lang="en-US" altLang="zh-CN" dirty="0" err="1">
                <a:solidFill>
                  <a:srgbClr val="0000FF"/>
                </a:solidFill>
              </a:rPr>
              <a:t>Sno</a:t>
            </a:r>
            <a:r>
              <a:rPr lang="en-US" altLang="zh-CN" dirty="0">
                <a:solidFill>
                  <a:srgbClr val="0000FF"/>
                </a:solidFill>
              </a:rPr>
              <a:t>) REFERENCES Student(</a:t>
            </a:r>
            <a:r>
              <a:rPr lang="en-US" altLang="zh-CN" dirty="0" err="1">
                <a:solidFill>
                  <a:srgbClr val="0000FF"/>
                </a:solidFill>
              </a:rPr>
              <a:t>Sno</a:t>
            </a:r>
            <a:r>
              <a:rPr lang="en-US" altLang="zh-CN" dirty="0">
                <a:solidFill>
                  <a:srgbClr val="0000FF"/>
                </a:solidFill>
              </a:rPr>
              <a:t>) </a:t>
            </a:r>
          </a:p>
          <a:p>
            <a:pPr marL="342900" lvl="1" indent="0">
              <a:buNone/>
            </a:pPr>
            <a:r>
              <a:rPr lang="en-US" altLang="zh-CN" dirty="0"/>
              <a:t>	        </a:t>
            </a:r>
            <a:r>
              <a:rPr lang="en-US" altLang="zh-CN" dirty="0">
                <a:highlight>
                  <a:srgbClr val="FFFF00"/>
                </a:highlight>
              </a:rPr>
              <a:t>ON DELETE CASCADE     </a:t>
            </a:r>
            <a:r>
              <a:rPr lang="en-US" altLang="zh-CN" dirty="0"/>
              <a:t>/*</a:t>
            </a:r>
            <a:r>
              <a:rPr lang="zh-CN" altLang="en-US" dirty="0"/>
              <a:t>级联删除</a:t>
            </a:r>
            <a:r>
              <a:rPr lang="en-US" altLang="zh-CN" dirty="0"/>
              <a:t>SC</a:t>
            </a:r>
            <a:r>
              <a:rPr lang="zh-CN" altLang="en-US" dirty="0"/>
              <a:t>表中相应的元组*</a:t>
            </a:r>
            <a:r>
              <a:rPr lang="en-US" altLang="zh-CN" dirty="0"/>
              <a:t>/</a:t>
            </a:r>
          </a:p>
          <a:p>
            <a:pPr marL="342900" lvl="1" indent="0">
              <a:buNone/>
            </a:pPr>
            <a:r>
              <a:rPr lang="en-US" altLang="zh-CN" dirty="0">
                <a:solidFill>
                  <a:srgbClr val="34ACBC"/>
                </a:solidFill>
              </a:rPr>
              <a:t>                  </a:t>
            </a:r>
            <a:r>
              <a:rPr lang="en-US" altLang="zh-CN" dirty="0">
                <a:highlight>
                  <a:srgbClr val="FFFF00"/>
                </a:highlight>
              </a:rPr>
              <a:t>ON UPDATE CASCADE</a:t>
            </a:r>
            <a:r>
              <a:rPr lang="zh-CN" altLang="en-US" dirty="0">
                <a:highlight>
                  <a:srgbClr val="FFFF00"/>
                </a:highlight>
              </a:rPr>
              <a:t>， </a:t>
            </a:r>
            <a:r>
              <a:rPr lang="en-US" altLang="zh-CN" dirty="0"/>
              <a:t>/*</a:t>
            </a:r>
            <a:r>
              <a:rPr lang="zh-CN" altLang="en-US" dirty="0"/>
              <a:t>级联更新</a:t>
            </a:r>
            <a:r>
              <a:rPr lang="en-US" altLang="zh-CN" dirty="0"/>
              <a:t>SC</a:t>
            </a:r>
            <a:r>
              <a:rPr lang="zh-CN" altLang="en-US" dirty="0"/>
              <a:t>表中相应的元组*</a:t>
            </a:r>
            <a:r>
              <a:rPr lang="en-US" altLang="zh-CN" dirty="0"/>
              <a:t>/</a:t>
            </a:r>
          </a:p>
          <a:p>
            <a:pPr marL="342900" lvl="1" indent="0">
              <a:buNone/>
            </a:pPr>
            <a:r>
              <a:rPr lang="en-US" altLang="zh-CN" dirty="0"/>
              <a:t>         </a:t>
            </a:r>
            <a:r>
              <a:rPr lang="en-US" altLang="zh-CN" dirty="0">
                <a:solidFill>
                  <a:srgbClr val="0000FF"/>
                </a:solidFill>
              </a:rPr>
              <a:t>FOREIGN KEY (</a:t>
            </a:r>
            <a:r>
              <a:rPr lang="en-US" altLang="zh-CN" dirty="0" err="1">
                <a:solidFill>
                  <a:srgbClr val="0000FF"/>
                </a:solidFill>
              </a:rPr>
              <a:t>Cno</a:t>
            </a:r>
            <a:r>
              <a:rPr lang="en-US" altLang="zh-CN" dirty="0">
                <a:solidFill>
                  <a:srgbClr val="0000FF"/>
                </a:solidFill>
              </a:rPr>
              <a:t>) REFERENCES Course(</a:t>
            </a:r>
            <a:r>
              <a:rPr lang="en-US" altLang="zh-CN" dirty="0" err="1">
                <a:solidFill>
                  <a:srgbClr val="0000FF"/>
                </a:solidFill>
              </a:rPr>
              <a:t>Cno</a:t>
            </a:r>
            <a:r>
              <a:rPr lang="en-US" altLang="zh-CN" dirty="0">
                <a:solidFill>
                  <a:srgbClr val="0000FF"/>
                </a:solidFill>
              </a:rPr>
              <a:t>) </a:t>
            </a:r>
            <a:r>
              <a:rPr lang="en-US" altLang="zh-CN" dirty="0"/>
              <a:t>	                    </a:t>
            </a:r>
          </a:p>
          <a:p>
            <a:pPr marL="342900" lvl="1" indent="0">
              <a:buNone/>
            </a:pPr>
            <a:r>
              <a:rPr lang="en-US" altLang="zh-CN" dirty="0"/>
              <a:t>                  </a:t>
            </a:r>
            <a:r>
              <a:rPr lang="en-US" altLang="zh-CN" dirty="0">
                <a:highlight>
                  <a:srgbClr val="FFFF00"/>
                </a:highlight>
              </a:rPr>
              <a:t>ON DELETE NO ACTION </a:t>
            </a:r>
            <a:r>
              <a:rPr lang="en-US" altLang="zh-CN" dirty="0"/>
              <a:t>	</a:t>
            </a:r>
          </a:p>
          <a:p>
            <a:pPr marL="342900" lvl="1" indent="0">
              <a:buNone/>
            </a:pPr>
            <a:r>
              <a:rPr lang="en-US" altLang="zh-CN" dirty="0"/>
              <a:t>          /*</a:t>
            </a:r>
            <a:r>
              <a:rPr lang="zh-CN" altLang="en-US" dirty="0"/>
              <a:t>当删除</a:t>
            </a:r>
            <a:r>
              <a:rPr lang="en-US" altLang="zh-CN" dirty="0"/>
              <a:t>course </a:t>
            </a:r>
            <a:r>
              <a:rPr lang="zh-CN" altLang="en-US" dirty="0"/>
              <a:t>表中的元组造成了与</a:t>
            </a:r>
            <a:r>
              <a:rPr lang="en-US" altLang="zh-CN" dirty="0"/>
              <a:t>SC</a:t>
            </a:r>
            <a:r>
              <a:rPr lang="zh-CN" altLang="en-US" dirty="0"/>
              <a:t>表不一致时拒绝删除*</a:t>
            </a:r>
            <a:r>
              <a:rPr lang="en-US" altLang="zh-CN" dirty="0"/>
              <a:t>/</a:t>
            </a:r>
          </a:p>
          <a:p>
            <a:pPr marL="342900" lvl="1" indent="0">
              <a:buNone/>
            </a:pPr>
            <a:r>
              <a:rPr lang="en-US" altLang="zh-CN" dirty="0"/>
              <a:t>                  </a:t>
            </a:r>
            <a:r>
              <a:rPr lang="en-US" altLang="zh-CN" dirty="0">
                <a:highlight>
                  <a:srgbClr val="FFFF00"/>
                </a:highlight>
              </a:rPr>
              <a:t>ON UPDATE CASCADE   </a:t>
            </a:r>
          </a:p>
          <a:p>
            <a:pPr marL="342900" lvl="1" indent="0">
              <a:buNone/>
            </a:pPr>
            <a:r>
              <a:rPr lang="en-US" altLang="zh-CN" dirty="0"/>
              <a:t>         /*</a:t>
            </a:r>
            <a:r>
              <a:rPr lang="zh-CN" altLang="en-US" dirty="0"/>
              <a:t>当更新</a:t>
            </a:r>
            <a:r>
              <a:rPr lang="en-US" altLang="zh-CN" dirty="0"/>
              <a:t>course</a:t>
            </a:r>
            <a:r>
              <a:rPr lang="zh-CN" altLang="en-US" dirty="0"/>
              <a:t>表中的</a:t>
            </a:r>
            <a:r>
              <a:rPr lang="en-US" altLang="zh-CN" dirty="0" err="1"/>
              <a:t>cno</a:t>
            </a:r>
            <a:r>
              <a:rPr lang="zh-CN" altLang="en-US" dirty="0"/>
              <a:t>时，级联更新</a:t>
            </a:r>
            <a:r>
              <a:rPr lang="en-US" altLang="zh-CN" dirty="0"/>
              <a:t>SC</a:t>
            </a:r>
            <a:r>
              <a:rPr lang="zh-CN" altLang="en-US" dirty="0"/>
              <a:t>表中相应的元组*</a:t>
            </a:r>
            <a:r>
              <a:rPr lang="en-US" altLang="zh-CN" dirty="0"/>
              <a:t>/</a:t>
            </a:r>
          </a:p>
          <a:p>
            <a:pPr marL="342900" lvl="1" indent="0">
              <a:buNone/>
            </a:pPr>
            <a:r>
              <a:rPr lang="en-US" altLang="zh-CN" dirty="0"/>
              <a:t>        )</a:t>
            </a:r>
            <a:r>
              <a:rPr lang="zh-CN" altLang="en-US" dirty="0"/>
              <a:t>；</a:t>
            </a:r>
          </a:p>
        </p:txBody>
      </p:sp>
      <p:sp>
        <p:nvSpPr>
          <p:cNvPr id="2" name="灯片编号占位符 1">
            <a:extLst>
              <a:ext uri="{FF2B5EF4-FFF2-40B4-BE49-F238E27FC236}">
                <a16:creationId xmlns:a16="http://schemas.microsoft.com/office/drawing/2014/main" id="{80338BA5-6CE9-4C35-9BAD-2C515B64A196}"/>
              </a:ext>
            </a:extLst>
          </p:cNvPr>
          <p:cNvSpPr>
            <a:spLocks noGrp="1"/>
          </p:cNvSpPr>
          <p:nvPr>
            <p:ph type="sldNum" sz="quarter" idx="12"/>
          </p:nvPr>
        </p:nvSpPr>
        <p:spPr/>
        <p:txBody>
          <a:bodyPr/>
          <a:lstStyle/>
          <a:p>
            <a:fld id="{47C9E101-E51D-431E-84FA-C029B8655B60}" type="slidenum">
              <a:rPr lang="zh-CN" altLang="en-US" smtClean="0"/>
              <a:pPr/>
              <a:t>20</a:t>
            </a:fld>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noProof="1"/>
              <a:t>openGauss</a:t>
            </a:r>
            <a:r>
              <a:rPr lang="zh-CN" altLang="en-US" noProof="1"/>
              <a:t>参照完整性处理规则</a:t>
            </a:r>
          </a:p>
        </p:txBody>
      </p:sp>
      <p:sp>
        <p:nvSpPr>
          <p:cNvPr id="8" name="内容占位符 7">
            <a:extLst>
              <a:ext uri="{FF2B5EF4-FFF2-40B4-BE49-F238E27FC236}">
                <a16:creationId xmlns:a16="http://schemas.microsoft.com/office/drawing/2014/main" id="{1C61756C-AD0D-4699-9FBE-FC40149BDE72}"/>
              </a:ext>
            </a:extLst>
          </p:cNvPr>
          <p:cNvSpPr>
            <a:spLocks noGrp="1"/>
          </p:cNvSpPr>
          <p:nvPr>
            <p:ph idx="1"/>
          </p:nvPr>
        </p:nvSpPr>
        <p:spPr/>
        <p:txBody>
          <a:bodyPr/>
          <a:lstStyle/>
          <a:p>
            <a:endParaRPr lang="zh-CN" altLang="en-US"/>
          </a:p>
        </p:txBody>
      </p:sp>
      <p:graphicFrame>
        <p:nvGraphicFramePr>
          <p:cNvPr id="3" name="表格 2"/>
          <p:cNvGraphicFramePr/>
          <p:nvPr>
            <p:custDataLst>
              <p:tags r:id="rId1"/>
            </p:custDataLst>
          </p:nvPr>
        </p:nvGraphicFramePr>
        <p:xfrm>
          <a:off x="686984" y="1333269"/>
          <a:ext cx="10328456" cy="4940438"/>
        </p:xfrm>
        <a:graphic>
          <a:graphicData uri="http://schemas.openxmlformats.org/drawingml/2006/table">
            <a:tbl>
              <a:tblPr firstRow="1" bandRow="1">
                <a:tableStyleId>{5C22544A-7EE6-4342-B048-85BDC9FD1C3A}</a:tableStyleId>
              </a:tblPr>
              <a:tblGrid>
                <a:gridCol w="1824307">
                  <a:extLst>
                    <a:ext uri="{9D8B030D-6E8A-4147-A177-3AD203B41FA5}">
                      <a16:colId xmlns:a16="http://schemas.microsoft.com/office/drawing/2014/main" val="20000"/>
                    </a:ext>
                  </a:extLst>
                </a:gridCol>
                <a:gridCol w="2050934">
                  <a:extLst>
                    <a:ext uri="{9D8B030D-6E8A-4147-A177-3AD203B41FA5}">
                      <a16:colId xmlns:a16="http://schemas.microsoft.com/office/drawing/2014/main" val="20001"/>
                    </a:ext>
                  </a:extLst>
                </a:gridCol>
                <a:gridCol w="3196114">
                  <a:extLst>
                    <a:ext uri="{9D8B030D-6E8A-4147-A177-3AD203B41FA5}">
                      <a16:colId xmlns:a16="http://schemas.microsoft.com/office/drawing/2014/main" val="20002"/>
                    </a:ext>
                  </a:extLst>
                </a:gridCol>
                <a:gridCol w="3257101">
                  <a:extLst>
                    <a:ext uri="{9D8B030D-6E8A-4147-A177-3AD203B41FA5}">
                      <a16:colId xmlns:a16="http://schemas.microsoft.com/office/drawing/2014/main" val="20003"/>
                    </a:ext>
                  </a:extLst>
                </a:gridCol>
              </a:tblGrid>
              <a:tr h="647141">
                <a:tc rowSpan="2">
                  <a:txBody>
                    <a:bodyPr/>
                    <a:lstStyle/>
                    <a:p>
                      <a:pPr algn="ctr">
                        <a:buNone/>
                      </a:pPr>
                      <a:r>
                        <a:rPr lang="en-US" sz="2000" dirty="0" err="1"/>
                        <a:t>操作对象</a:t>
                      </a:r>
                      <a:endParaRPr lang="en-US" altLang="en-US" sz="2000" dirty="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gridSpan="3">
                  <a:txBody>
                    <a:bodyPr/>
                    <a:lstStyle/>
                    <a:p>
                      <a:pPr algn="ctr">
                        <a:buNone/>
                      </a:pPr>
                      <a:r>
                        <a:rPr lang="en-US" sz="2000" dirty="0" err="1"/>
                        <a:t>相关操作</a:t>
                      </a:r>
                      <a:endParaRPr lang="en-US" altLang="en-US" sz="2000" dirty="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667187">
                <a:tc vMerge="1">
                  <a:txBody>
                    <a:bodyPr/>
                    <a:lstStyle/>
                    <a:p>
                      <a:endParaRPr lang="zh-CN"/>
                    </a:p>
                  </a:txBody>
                  <a:tcPr>
                    <a:lnR w="12700" cap="flat" cmpd="sng">
                      <a:solidFill>
                        <a:srgbClr val="000000"/>
                      </a:solidFill>
                      <a:prstDash val="solid"/>
                      <a:headEnd type="none" w="med" len="med"/>
                      <a:tailEnd type="none" w="med" len="med"/>
                    </a:lnR>
                    <a:lnB cap="flat">
                      <a:noFill/>
                    </a:lnB>
                  </a:tcPr>
                </a:tc>
                <a:tc>
                  <a:txBody>
                    <a:bodyPr/>
                    <a:lstStyle/>
                    <a:p>
                      <a:pPr algn="ctr">
                        <a:buNone/>
                      </a:pPr>
                      <a:r>
                        <a:rPr lang="en-US" sz="2000"/>
                        <a:t>INSERT</a:t>
                      </a:r>
                      <a:endParaRPr lang="en-US" altLang="en-US" sz="200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a:txBody>
                    <a:bodyPr/>
                    <a:lstStyle/>
                    <a:p>
                      <a:pPr algn="ctr">
                        <a:buNone/>
                      </a:pPr>
                      <a:r>
                        <a:rPr lang="en-US" sz="2000"/>
                        <a:t>DELETE</a:t>
                      </a:r>
                      <a:endParaRPr lang="en-US" altLang="en-US" sz="200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a:txBody>
                    <a:bodyPr/>
                    <a:lstStyle/>
                    <a:p>
                      <a:pPr algn="ctr">
                        <a:buNone/>
                      </a:pPr>
                      <a:r>
                        <a:rPr lang="en-US" sz="2000"/>
                        <a:t>UPDATE</a:t>
                      </a:r>
                      <a:endParaRPr lang="en-US" altLang="en-US" sz="200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extLst>
                  <a:ext uri="{0D108BD9-81ED-4DB2-BD59-A6C34878D82A}">
                    <a16:rowId xmlns:a16="http://schemas.microsoft.com/office/drawing/2014/main" val="10001"/>
                  </a:ext>
                </a:extLst>
              </a:tr>
              <a:tr h="2681933">
                <a:tc>
                  <a:txBody>
                    <a:bodyPr/>
                    <a:lstStyle/>
                    <a:p>
                      <a:pPr algn="ctr">
                        <a:buNone/>
                      </a:pPr>
                      <a:r>
                        <a:rPr lang="en-US" sz="2000" dirty="0"/>
                        <a:t> </a:t>
                      </a:r>
                      <a:r>
                        <a:rPr lang="en-US" sz="2000" dirty="0" err="1"/>
                        <a:t>被参照表</a:t>
                      </a:r>
                      <a:endParaRPr lang="en-US" altLang="en-US" sz="2000" dirty="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a:txBody>
                    <a:bodyPr/>
                    <a:lstStyle/>
                    <a:p>
                      <a:pPr algn="ctr">
                        <a:buNone/>
                      </a:pPr>
                      <a:r>
                        <a:rPr lang="en-US" sz="2000"/>
                        <a:t> 不需要检查</a:t>
                      </a:r>
                      <a:endParaRPr lang="en-US" altLang="en-US" sz="200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a:txBody>
                    <a:bodyPr/>
                    <a:lstStyle/>
                    <a:p>
                      <a:pPr algn="ctr">
                        <a:buNone/>
                      </a:pPr>
                      <a:r>
                        <a:rPr lang="en-US" sz="2000" dirty="0" err="1"/>
                        <a:t>根据参照表中外键定义的ON</a:t>
                      </a:r>
                      <a:r>
                        <a:rPr lang="en-US" sz="2000" dirty="0"/>
                        <a:t> DELETE…（</a:t>
                      </a:r>
                      <a:r>
                        <a:rPr lang="en-US" sz="2000" dirty="0" err="1"/>
                        <a:t>用户显示定义的方式，提供四种：CASCADE、NO</a:t>
                      </a:r>
                      <a:r>
                        <a:rPr lang="en-US" sz="2000" dirty="0"/>
                        <a:t> ACTION、SET </a:t>
                      </a:r>
                      <a:r>
                        <a:rPr lang="en-US" sz="2000" dirty="0" err="1"/>
                        <a:t>NULL和SET</a:t>
                      </a:r>
                      <a:r>
                        <a:rPr lang="en-US" sz="2000" dirty="0"/>
                        <a:t> </a:t>
                      </a:r>
                      <a:r>
                        <a:rPr lang="en-US" sz="2000" dirty="0" err="1"/>
                        <a:t>DEFAULT（系统默认的方式NO</a:t>
                      </a:r>
                      <a:r>
                        <a:rPr lang="en-US" sz="2000" dirty="0"/>
                        <a:t> ACTION）</a:t>
                      </a:r>
                      <a:endParaRPr lang="en-US" altLang="en-US" sz="2000" dirty="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a:txBody>
                    <a:bodyPr/>
                    <a:lstStyle/>
                    <a:p>
                      <a:pPr algn="ctr">
                        <a:buNone/>
                      </a:pPr>
                      <a:r>
                        <a:rPr lang="en-US" sz="2000" dirty="0" err="1"/>
                        <a:t>根据参照表中外键定义的ON</a:t>
                      </a:r>
                      <a:r>
                        <a:rPr lang="en-US" sz="2000" dirty="0"/>
                        <a:t> UPDATE…（</a:t>
                      </a:r>
                      <a:r>
                        <a:rPr lang="en-US" sz="2000" dirty="0" err="1"/>
                        <a:t>用户显示定义的方式，提供四种：CASCADE、NO</a:t>
                      </a:r>
                      <a:r>
                        <a:rPr lang="en-US" sz="2000" dirty="0"/>
                        <a:t> ACTION、SET </a:t>
                      </a:r>
                      <a:r>
                        <a:rPr lang="en-US" sz="2000" dirty="0" err="1"/>
                        <a:t>NULL和SET</a:t>
                      </a:r>
                      <a:r>
                        <a:rPr lang="en-US" sz="2000" dirty="0"/>
                        <a:t> </a:t>
                      </a:r>
                      <a:r>
                        <a:rPr lang="en-US" sz="2000" dirty="0" err="1"/>
                        <a:t>DEFAULT（系统默认的方式NO</a:t>
                      </a:r>
                      <a:r>
                        <a:rPr lang="en-US" sz="2000" dirty="0"/>
                        <a:t> ACTION）</a:t>
                      </a:r>
                      <a:endParaRPr lang="en-US" altLang="en-US" sz="2000" dirty="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extLst>
                  <a:ext uri="{0D108BD9-81ED-4DB2-BD59-A6C34878D82A}">
                    <a16:rowId xmlns:a16="http://schemas.microsoft.com/office/drawing/2014/main" val="10002"/>
                  </a:ext>
                </a:extLst>
              </a:tr>
              <a:tr h="944177">
                <a:tc>
                  <a:txBody>
                    <a:bodyPr/>
                    <a:lstStyle/>
                    <a:p>
                      <a:pPr algn="ctr">
                        <a:buNone/>
                      </a:pPr>
                      <a:r>
                        <a:rPr lang="en-US" sz="2000"/>
                        <a:t>参照表</a:t>
                      </a:r>
                      <a:endParaRPr lang="en-US" altLang="en-US" sz="200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a:txBody>
                    <a:bodyPr/>
                    <a:lstStyle/>
                    <a:p>
                      <a:pPr algn="ctr">
                        <a:buNone/>
                      </a:pPr>
                      <a:r>
                        <a:rPr lang="en-US" sz="2000"/>
                        <a:t>违反则拒绝执行</a:t>
                      </a:r>
                      <a:endParaRPr lang="en-US" altLang="en-US" sz="200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a:txBody>
                    <a:bodyPr/>
                    <a:lstStyle/>
                    <a:p>
                      <a:pPr algn="ctr">
                        <a:buNone/>
                      </a:pPr>
                      <a:r>
                        <a:rPr lang="en-US" sz="2000"/>
                        <a:t>不需要检查</a:t>
                      </a:r>
                      <a:endParaRPr lang="en-US" altLang="en-US" sz="200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a:txBody>
                    <a:bodyPr/>
                    <a:lstStyle/>
                    <a:p>
                      <a:pPr algn="ctr">
                        <a:buNone/>
                      </a:pPr>
                      <a:r>
                        <a:rPr lang="en-US" sz="2000" dirty="0" err="1"/>
                        <a:t>违反则拒绝执行</a:t>
                      </a:r>
                      <a:endParaRPr lang="en-US" altLang="en-US" sz="2000" dirty="0">
                        <a:solidFill>
                          <a:schemeClr val="bg2">
                            <a:lumMod val="75000"/>
                          </a:schemeClr>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93063292"/>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标题 862209"/>
          <p:cNvSpPr>
            <a:spLocks noGrp="1"/>
          </p:cNvSpPr>
          <p:nvPr>
            <p:ph type="title"/>
          </p:nvPr>
        </p:nvSpPr>
        <p:spPr/>
        <p:txBody>
          <a:bodyPr/>
          <a:lstStyle/>
          <a:p>
            <a:r>
              <a:rPr lang="en-US" altLang="zh-CN" noProof="1">
                <a:sym typeface="+mn-ea"/>
              </a:rPr>
              <a:t>openGauss</a:t>
            </a:r>
            <a:r>
              <a:rPr lang="zh-CN" altLang="en-US" noProof="1"/>
              <a:t>外部码约束</a:t>
            </a:r>
          </a:p>
        </p:txBody>
      </p:sp>
      <p:sp>
        <p:nvSpPr>
          <p:cNvPr id="862211" name="内容占位符 862210"/>
          <p:cNvSpPr>
            <a:spLocks noGrp="1"/>
          </p:cNvSpPr>
          <p:nvPr>
            <p:ph idx="1"/>
          </p:nvPr>
        </p:nvSpPr>
        <p:spPr/>
        <p:txBody>
          <a:bodyPr/>
          <a:lstStyle/>
          <a:p>
            <a:r>
              <a:rPr lang="zh-CN" altLang="en-US" dirty="0"/>
              <a:t>参照动作</a:t>
            </a:r>
          </a:p>
          <a:p>
            <a:pPr lvl="1"/>
            <a:r>
              <a:rPr lang="zh-CN" altLang="en-US" dirty="0"/>
              <a:t>说明当某个主码值被删除</a:t>
            </a:r>
            <a:r>
              <a:rPr lang="en-US" altLang="zh-CN" dirty="0"/>
              <a:t>/</a:t>
            </a:r>
            <a:r>
              <a:rPr lang="zh-CN" altLang="en-US" dirty="0"/>
              <a:t>更新时（这个主码值在被参照关系中），如何处理对应的外部码值（这些外部码值在参照关系中）</a:t>
            </a:r>
          </a:p>
          <a:p>
            <a:pPr lvl="2"/>
            <a:r>
              <a:rPr lang="en-US" altLang="zh-CN" dirty="0">
                <a:solidFill>
                  <a:srgbClr val="C00000"/>
                </a:solidFill>
              </a:rPr>
              <a:t>RESTRICT </a:t>
            </a:r>
            <a:r>
              <a:rPr lang="zh-CN" altLang="en-US" dirty="0">
                <a:solidFill>
                  <a:srgbClr val="C00000"/>
                </a:solidFill>
              </a:rPr>
              <a:t>方式：</a:t>
            </a:r>
            <a:r>
              <a:rPr lang="zh-CN" altLang="en-US" dirty="0"/>
              <a:t>仅当没有任何对应的外码值时，才可以删除</a:t>
            </a:r>
            <a:r>
              <a:rPr lang="en-US" altLang="zh-CN" dirty="0"/>
              <a:t>/</a:t>
            </a:r>
            <a:r>
              <a:rPr lang="zh-CN" altLang="en-US" dirty="0"/>
              <a:t>更新这个主码值，否则系统拒绝执行此操作</a:t>
            </a:r>
          </a:p>
          <a:p>
            <a:pPr lvl="2"/>
            <a:r>
              <a:rPr lang="en-US" altLang="zh-CN" dirty="0">
                <a:solidFill>
                  <a:srgbClr val="C00000"/>
                </a:solidFill>
              </a:rPr>
              <a:t>CASCADE </a:t>
            </a:r>
            <a:r>
              <a:rPr lang="zh-CN" altLang="en-US" dirty="0">
                <a:solidFill>
                  <a:srgbClr val="C00000"/>
                </a:solidFill>
              </a:rPr>
              <a:t>方式：</a:t>
            </a:r>
            <a:r>
              <a:rPr lang="zh-CN" altLang="en-US" dirty="0"/>
              <a:t>连带将所有对应的外码值一块删除</a:t>
            </a:r>
            <a:r>
              <a:rPr lang="en-US" altLang="zh-CN" dirty="0"/>
              <a:t>/</a:t>
            </a:r>
            <a:r>
              <a:rPr lang="zh-CN" altLang="en-US" dirty="0"/>
              <a:t>更新（删除外码值，实际上就是将所在的元组删除掉）</a:t>
            </a:r>
          </a:p>
          <a:p>
            <a:pPr lvl="2"/>
            <a:r>
              <a:rPr lang="en-US" altLang="zh-CN" dirty="0">
                <a:solidFill>
                  <a:srgbClr val="C00000"/>
                </a:solidFill>
              </a:rPr>
              <a:t>SET NULL </a:t>
            </a:r>
            <a:r>
              <a:rPr lang="zh-CN" altLang="en-US" dirty="0">
                <a:solidFill>
                  <a:srgbClr val="C00000"/>
                </a:solidFill>
              </a:rPr>
              <a:t>方式：</a:t>
            </a:r>
            <a:r>
              <a:rPr lang="zh-CN" altLang="en-US" dirty="0"/>
              <a:t>将所有对应的外码值设为空值</a:t>
            </a:r>
          </a:p>
          <a:p>
            <a:pPr lvl="2"/>
            <a:r>
              <a:rPr lang="en-US" altLang="zh-CN" dirty="0">
                <a:solidFill>
                  <a:srgbClr val="C00000"/>
                </a:solidFill>
              </a:rPr>
              <a:t>SET DEFAULT</a:t>
            </a:r>
            <a:r>
              <a:rPr lang="zh-CN" altLang="en-US" dirty="0">
                <a:solidFill>
                  <a:srgbClr val="C00000"/>
                </a:solidFill>
              </a:rPr>
              <a:t>方式：</a:t>
            </a:r>
            <a:r>
              <a:rPr lang="zh-CN" altLang="en-US" dirty="0"/>
              <a:t>与SET NULL类似，如果在被参照关系删除或更新的元组的主键值在参照关系中存在着相应的元组，则删除或者修改被参照关系中该元组时，将参照关系中对应元组的外键值均置为默认值</a:t>
            </a:r>
          </a:p>
        </p:txBody>
      </p:sp>
    </p:spTree>
    <p:extLst>
      <p:ext uri="{BB962C8B-B14F-4D97-AF65-F5344CB8AC3E}">
        <p14:creationId xmlns:p14="http://schemas.microsoft.com/office/powerpoint/2010/main" val="4268923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62211">
                                            <p:txEl>
                                              <p:pRg st="0" end="0"/>
                                            </p:txEl>
                                          </p:spTgt>
                                        </p:tgtEl>
                                        <p:attrNameLst>
                                          <p:attrName>style.visibility</p:attrName>
                                        </p:attrNameLst>
                                      </p:cBhvr>
                                      <p:to>
                                        <p:strVal val="visible"/>
                                      </p:to>
                                    </p:set>
                                    <p:anim calcmode="lin" valueType="num">
                                      <p:cBhvr>
                                        <p:cTn id="7" dur="500" fill="hold"/>
                                        <p:tgtEl>
                                          <p:spTgt spid="862211">
                                            <p:txEl>
                                              <p:pRg st="0" end="0"/>
                                            </p:txEl>
                                          </p:spTgt>
                                        </p:tgtEl>
                                        <p:attrNameLst>
                                          <p:attrName>ppt_x</p:attrName>
                                        </p:attrNameLst>
                                      </p:cBhvr>
                                      <p:tavLst>
                                        <p:tav tm="0">
                                          <p:val>
                                            <p:strVal val="1+#ppt_w/2"/>
                                          </p:val>
                                        </p:tav>
                                        <p:tav tm="100000">
                                          <p:val>
                                            <p:strVal val="#ppt_x"/>
                                          </p:val>
                                        </p:tav>
                                      </p:tavLst>
                                    </p:anim>
                                    <p:anim calcmode="lin" valueType="num">
                                      <p:cBhvr>
                                        <p:cTn id="8" dur="500" fill="hold"/>
                                        <p:tgtEl>
                                          <p:spTgt spid="8622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62211">
                                            <p:txEl>
                                              <p:pRg st="1" end="1"/>
                                            </p:txEl>
                                          </p:spTgt>
                                        </p:tgtEl>
                                        <p:attrNameLst>
                                          <p:attrName>style.visibility</p:attrName>
                                        </p:attrNameLst>
                                      </p:cBhvr>
                                      <p:to>
                                        <p:strVal val="visible"/>
                                      </p:to>
                                    </p:set>
                                    <p:anim calcmode="lin" valueType="num">
                                      <p:cBhvr>
                                        <p:cTn id="13" dur="500" fill="hold"/>
                                        <p:tgtEl>
                                          <p:spTgt spid="862211">
                                            <p:txEl>
                                              <p:pRg st="1" end="1"/>
                                            </p:txEl>
                                          </p:spTgt>
                                        </p:tgtEl>
                                        <p:attrNameLst>
                                          <p:attrName>ppt_x</p:attrName>
                                        </p:attrNameLst>
                                      </p:cBhvr>
                                      <p:tavLst>
                                        <p:tav tm="0">
                                          <p:val>
                                            <p:strVal val="1+#ppt_w/2"/>
                                          </p:val>
                                        </p:tav>
                                        <p:tav tm="100000">
                                          <p:val>
                                            <p:strVal val="#ppt_x"/>
                                          </p:val>
                                        </p:tav>
                                      </p:tavLst>
                                    </p:anim>
                                    <p:anim calcmode="lin" valueType="num">
                                      <p:cBhvr>
                                        <p:cTn id="14" dur="500" fill="hold"/>
                                        <p:tgtEl>
                                          <p:spTgt spid="8622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62211">
                                            <p:txEl>
                                              <p:pRg st="2" end="2"/>
                                            </p:txEl>
                                          </p:spTgt>
                                        </p:tgtEl>
                                        <p:attrNameLst>
                                          <p:attrName>style.visibility</p:attrName>
                                        </p:attrNameLst>
                                      </p:cBhvr>
                                      <p:to>
                                        <p:strVal val="visible"/>
                                      </p:to>
                                    </p:set>
                                    <p:anim calcmode="lin" valueType="num">
                                      <p:cBhvr>
                                        <p:cTn id="19" dur="500" fill="hold"/>
                                        <p:tgtEl>
                                          <p:spTgt spid="862211">
                                            <p:txEl>
                                              <p:pRg st="2" end="2"/>
                                            </p:txEl>
                                          </p:spTgt>
                                        </p:tgtEl>
                                        <p:attrNameLst>
                                          <p:attrName>ppt_x</p:attrName>
                                        </p:attrNameLst>
                                      </p:cBhvr>
                                      <p:tavLst>
                                        <p:tav tm="0">
                                          <p:val>
                                            <p:strVal val="1+#ppt_w/2"/>
                                          </p:val>
                                        </p:tav>
                                        <p:tav tm="100000">
                                          <p:val>
                                            <p:strVal val="#ppt_x"/>
                                          </p:val>
                                        </p:tav>
                                      </p:tavLst>
                                    </p:anim>
                                    <p:anim calcmode="lin" valueType="num">
                                      <p:cBhvr>
                                        <p:cTn id="20" dur="500" fill="hold"/>
                                        <p:tgtEl>
                                          <p:spTgt spid="8622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62211">
                                            <p:txEl>
                                              <p:pRg st="3" end="3"/>
                                            </p:txEl>
                                          </p:spTgt>
                                        </p:tgtEl>
                                        <p:attrNameLst>
                                          <p:attrName>style.visibility</p:attrName>
                                        </p:attrNameLst>
                                      </p:cBhvr>
                                      <p:to>
                                        <p:strVal val="visible"/>
                                      </p:to>
                                    </p:set>
                                    <p:anim calcmode="lin" valueType="num">
                                      <p:cBhvr>
                                        <p:cTn id="25" dur="500" fill="hold"/>
                                        <p:tgtEl>
                                          <p:spTgt spid="862211">
                                            <p:txEl>
                                              <p:pRg st="3" end="3"/>
                                            </p:txEl>
                                          </p:spTgt>
                                        </p:tgtEl>
                                        <p:attrNameLst>
                                          <p:attrName>ppt_x</p:attrName>
                                        </p:attrNameLst>
                                      </p:cBhvr>
                                      <p:tavLst>
                                        <p:tav tm="0">
                                          <p:val>
                                            <p:strVal val="1+#ppt_w/2"/>
                                          </p:val>
                                        </p:tav>
                                        <p:tav tm="100000">
                                          <p:val>
                                            <p:strVal val="#ppt_x"/>
                                          </p:val>
                                        </p:tav>
                                      </p:tavLst>
                                    </p:anim>
                                    <p:anim calcmode="lin" valueType="num">
                                      <p:cBhvr>
                                        <p:cTn id="26" dur="500" fill="hold"/>
                                        <p:tgtEl>
                                          <p:spTgt spid="8622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62211">
                                            <p:txEl>
                                              <p:pRg st="4" end="4"/>
                                            </p:txEl>
                                          </p:spTgt>
                                        </p:tgtEl>
                                        <p:attrNameLst>
                                          <p:attrName>style.visibility</p:attrName>
                                        </p:attrNameLst>
                                      </p:cBhvr>
                                      <p:to>
                                        <p:strVal val="visible"/>
                                      </p:to>
                                    </p:set>
                                    <p:anim calcmode="lin" valueType="num">
                                      <p:cBhvr>
                                        <p:cTn id="31" dur="500" fill="hold"/>
                                        <p:tgtEl>
                                          <p:spTgt spid="862211">
                                            <p:txEl>
                                              <p:pRg st="4" end="4"/>
                                            </p:txEl>
                                          </p:spTgt>
                                        </p:tgtEl>
                                        <p:attrNameLst>
                                          <p:attrName>ppt_x</p:attrName>
                                        </p:attrNameLst>
                                      </p:cBhvr>
                                      <p:tavLst>
                                        <p:tav tm="0">
                                          <p:val>
                                            <p:strVal val="1+#ppt_w/2"/>
                                          </p:val>
                                        </p:tav>
                                        <p:tav tm="100000">
                                          <p:val>
                                            <p:strVal val="#ppt_x"/>
                                          </p:val>
                                        </p:tav>
                                      </p:tavLst>
                                    </p:anim>
                                    <p:anim calcmode="lin" valueType="num">
                                      <p:cBhvr>
                                        <p:cTn id="32" dur="500" fill="hold"/>
                                        <p:tgtEl>
                                          <p:spTgt spid="8622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62211">
                                            <p:txEl>
                                              <p:pRg st="5" end="5"/>
                                            </p:txEl>
                                          </p:spTgt>
                                        </p:tgtEl>
                                        <p:attrNameLst>
                                          <p:attrName>style.visibility</p:attrName>
                                        </p:attrNameLst>
                                      </p:cBhvr>
                                      <p:to>
                                        <p:strVal val="visible"/>
                                      </p:to>
                                    </p:set>
                                    <p:anim calcmode="lin" valueType="num">
                                      <p:cBhvr>
                                        <p:cTn id="37" dur="500" fill="hold"/>
                                        <p:tgtEl>
                                          <p:spTgt spid="862211">
                                            <p:txEl>
                                              <p:pRg st="5" end="5"/>
                                            </p:txEl>
                                          </p:spTgt>
                                        </p:tgtEl>
                                        <p:attrNameLst>
                                          <p:attrName>ppt_x</p:attrName>
                                        </p:attrNameLst>
                                      </p:cBhvr>
                                      <p:tavLst>
                                        <p:tav tm="0">
                                          <p:val>
                                            <p:strVal val="1+#ppt_w/2"/>
                                          </p:val>
                                        </p:tav>
                                        <p:tav tm="100000">
                                          <p:val>
                                            <p:strVal val="#ppt_x"/>
                                          </p:val>
                                        </p:tav>
                                      </p:tavLst>
                                    </p:anim>
                                    <p:anim calcmode="lin" valueType="num">
                                      <p:cBhvr>
                                        <p:cTn id="38" dur="500" fill="hold"/>
                                        <p:tgtEl>
                                          <p:spTgt spid="86221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2211" grpId="0" uiExpand="1" build="p" bldLvl="3"/>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标题 864257"/>
          <p:cNvSpPr>
            <a:spLocks noGrp="1"/>
          </p:cNvSpPr>
          <p:nvPr>
            <p:ph type="title"/>
          </p:nvPr>
        </p:nvSpPr>
        <p:spPr/>
        <p:txBody>
          <a:bodyPr/>
          <a:lstStyle/>
          <a:p>
            <a:r>
              <a:rPr lang="zh-CN" altLang="en-US" noProof="1">
                <a:sym typeface="+mn-ea"/>
              </a:rPr>
              <a:t>RESTRICT方式</a:t>
            </a:r>
            <a:endParaRPr lang="zh-CN" altLang="en-US" noProof="1"/>
          </a:p>
        </p:txBody>
      </p:sp>
      <p:sp>
        <p:nvSpPr>
          <p:cNvPr id="78850" name="文本占位符 864258"/>
          <p:cNvSpPr>
            <a:spLocks noGrp="1"/>
          </p:cNvSpPr>
          <p:nvPr>
            <p:ph idx="1"/>
          </p:nvPr>
        </p:nvSpPr>
        <p:spPr/>
        <p:txBody>
          <a:bodyPr/>
          <a:lstStyle/>
          <a:p>
            <a:pPr lvl="1"/>
            <a:r>
              <a:rPr lang="en-US" altLang="zh-CN" dirty="0">
                <a:solidFill>
                  <a:srgbClr val="C00000"/>
                </a:solidFill>
              </a:rPr>
              <a:t>RESTRICT</a:t>
            </a:r>
            <a:r>
              <a:rPr lang="zh-CN" altLang="en-US" dirty="0">
                <a:solidFill>
                  <a:srgbClr val="C00000"/>
                </a:solidFill>
              </a:rPr>
              <a:t>方式示例：</a:t>
            </a:r>
            <a:r>
              <a:rPr lang="zh-CN" altLang="en-US" dirty="0"/>
              <a:t>仅当没有任何对应的外码值时，才可以删除</a:t>
            </a:r>
            <a:r>
              <a:rPr lang="en-US" altLang="zh-CN" dirty="0"/>
              <a:t>/</a:t>
            </a:r>
            <a:r>
              <a:rPr lang="zh-CN" altLang="en-US" dirty="0"/>
              <a:t>更新主码值，否则系统拒绝执行此操作</a:t>
            </a:r>
          </a:p>
        </p:txBody>
      </p:sp>
      <p:graphicFrame>
        <p:nvGraphicFramePr>
          <p:cNvPr id="864402" name="表格 864401"/>
          <p:cNvGraphicFramePr/>
          <p:nvPr/>
        </p:nvGraphicFramePr>
        <p:xfrm>
          <a:off x="5461000" y="2552700"/>
          <a:ext cx="1219200" cy="148512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班号</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名称</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C2</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2</a:t>
                      </a:r>
                      <a:r>
                        <a:rPr lang="zh-CN" altLang="en-US" dirty="0"/>
                        <a:t>班</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864405" name="表格 864404"/>
          <p:cNvGraphicFramePr/>
          <p:nvPr/>
        </p:nvGraphicFramePr>
        <p:xfrm>
          <a:off x="5118100" y="4648200"/>
          <a:ext cx="1879600" cy="18564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班号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S21</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小王</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小李</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8894" name="文本框 864302"/>
          <p:cNvSpPr txBox="1"/>
          <p:nvPr/>
        </p:nvSpPr>
        <p:spPr>
          <a:xfrm>
            <a:off x="5546725" y="20828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班级</a:t>
            </a:r>
            <a:endParaRPr lang="zh-CN" altLang="en-US" sz="2400" b="1">
              <a:latin typeface="Tahoma" panose="020B0604030504040204" pitchFamily="34" charset="0"/>
              <a:ea typeface="宋体" panose="02010600030101010101" pitchFamily="2" charset="-122"/>
            </a:endParaRPr>
          </a:p>
        </p:txBody>
      </p:sp>
      <p:sp>
        <p:nvSpPr>
          <p:cNvPr id="864304" name="右箭头 864303"/>
          <p:cNvSpPr/>
          <p:nvPr/>
        </p:nvSpPr>
        <p:spPr>
          <a:xfrm>
            <a:off x="6946900" y="3098800"/>
            <a:ext cx="1765300" cy="457200"/>
          </a:xfrm>
          <a:prstGeom prst="rightArrow">
            <a:avLst>
              <a:gd name="adj1" fmla="val 50000"/>
              <a:gd name="adj2" fmla="val 96402"/>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864403" name="表格 864402"/>
          <p:cNvGraphicFramePr/>
          <p:nvPr/>
        </p:nvGraphicFramePr>
        <p:xfrm>
          <a:off x="8915400" y="2552700"/>
          <a:ext cx="1219200" cy="148512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班号</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名称</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C3</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2</a:t>
                      </a:r>
                      <a:r>
                        <a:rPr lang="zh-CN" altLang="en-US" dirty="0"/>
                        <a:t>班</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64322" name="文本框 864321"/>
          <p:cNvSpPr txBox="1"/>
          <p:nvPr/>
        </p:nvSpPr>
        <p:spPr>
          <a:xfrm>
            <a:off x="9001125" y="20828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班级</a:t>
            </a:r>
            <a:endParaRPr lang="zh-CN" altLang="en-US" sz="2400" b="1">
              <a:latin typeface="Tahoma" panose="020B0604030504040204" pitchFamily="34" charset="0"/>
              <a:ea typeface="宋体" panose="02010600030101010101" pitchFamily="2" charset="-122"/>
            </a:endParaRPr>
          </a:p>
        </p:txBody>
      </p:sp>
      <p:sp>
        <p:nvSpPr>
          <p:cNvPr id="78914" name="文本框 864322"/>
          <p:cNvSpPr txBox="1"/>
          <p:nvPr/>
        </p:nvSpPr>
        <p:spPr>
          <a:xfrm>
            <a:off x="5521325" y="41275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endParaRPr lang="zh-CN" altLang="en-US" sz="2400" b="1">
              <a:latin typeface="Tahoma" panose="020B0604030504040204" pitchFamily="34" charset="0"/>
              <a:ea typeface="宋体" panose="02010600030101010101" pitchFamily="2" charset="-122"/>
            </a:endParaRPr>
          </a:p>
        </p:txBody>
      </p:sp>
      <p:sp>
        <p:nvSpPr>
          <p:cNvPr id="864352" name="矩形 864351"/>
          <p:cNvSpPr/>
          <p:nvPr/>
        </p:nvSpPr>
        <p:spPr>
          <a:xfrm>
            <a:off x="6994525" y="2459039"/>
            <a:ext cx="1589088" cy="427037"/>
          </a:xfrm>
          <a:prstGeom prst="rect">
            <a:avLst/>
          </a:prstGeom>
          <a:noFill/>
          <a:ln w="9525">
            <a:noFill/>
          </a:ln>
        </p:spPr>
        <p:txBody>
          <a:bodyPr wrap="none" anchor="t" anchorCtr="0">
            <a:spAutoFit/>
          </a:bodyPr>
          <a:lstStyle/>
          <a:p>
            <a:pP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更新主码值</a:t>
            </a:r>
          </a:p>
        </p:txBody>
      </p:sp>
      <p:sp>
        <p:nvSpPr>
          <p:cNvPr id="864354" name="右箭头 864353"/>
          <p:cNvSpPr/>
          <p:nvPr/>
        </p:nvSpPr>
        <p:spPr>
          <a:xfrm rot="10800000">
            <a:off x="3467100" y="3200400"/>
            <a:ext cx="1765300" cy="457200"/>
          </a:xfrm>
          <a:prstGeom prst="rightArrow">
            <a:avLst>
              <a:gd name="adj1" fmla="val 50000"/>
              <a:gd name="adj2" fmla="val 96402"/>
            </a:avLst>
          </a:prstGeom>
          <a:solidFill>
            <a:srgbClr val="00E444"/>
          </a:solidFill>
          <a:ln w="9525">
            <a:noFill/>
          </a:ln>
        </p:spPr>
        <p:txBody>
          <a:bodyPr rot="10800000" wrap="none" anchor="ctr" anchorCtr="0"/>
          <a:lstStyle/>
          <a:p>
            <a:pPr algn="ctr"/>
            <a:endParaRPr lang="zh-CN" altLang="en-US" b="1" dirty="0">
              <a:latin typeface="Arial" panose="020B0604020202020204" pitchFamily="34" charset="0"/>
              <a:ea typeface="宋体" panose="02010600030101010101" pitchFamily="2" charset="-122"/>
            </a:endParaRPr>
          </a:p>
        </p:txBody>
      </p:sp>
      <p:graphicFrame>
        <p:nvGraphicFramePr>
          <p:cNvPr id="864399" name="表格 864398"/>
          <p:cNvGraphicFramePr/>
          <p:nvPr/>
        </p:nvGraphicFramePr>
        <p:xfrm>
          <a:off x="2057400" y="2806700"/>
          <a:ext cx="1219200" cy="111384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班号</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名称</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64370" name="文本框 864369"/>
          <p:cNvSpPr txBox="1"/>
          <p:nvPr/>
        </p:nvSpPr>
        <p:spPr>
          <a:xfrm>
            <a:off x="2143125" y="23368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班级</a:t>
            </a:r>
            <a:endParaRPr lang="zh-CN" altLang="en-US" sz="2400" b="1">
              <a:latin typeface="Tahoma" panose="020B0604030504040204" pitchFamily="34" charset="0"/>
              <a:ea typeface="宋体" panose="02010600030101010101" pitchFamily="2" charset="-122"/>
            </a:endParaRPr>
          </a:p>
        </p:txBody>
      </p:sp>
      <p:sp>
        <p:nvSpPr>
          <p:cNvPr id="864390" name="矩形 864389"/>
          <p:cNvSpPr/>
          <p:nvPr/>
        </p:nvSpPr>
        <p:spPr>
          <a:xfrm>
            <a:off x="3641725" y="2484439"/>
            <a:ext cx="1589088" cy="427037"/>
          </a:xfrm>
          <a:prstGeom prst="rect">
            <a:avLst/>
          </a:prstGeom>
          <a:noFill/>
          <a:ln w="9525">
            <a:noFill/>
          </a:ln>
        </p:spPr>
        <p:txBody>
          <a:bodyPr wrap="none" anchor="t" anchorCtr="0">
            <a:spAutoFit/>
          </a:bodyPr>
          <a:lstStyle/>
          <a:p>
            <a:pP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删除主码值</a:t>
            </a:r>
          </a:p>
        </p:txBody>
      </p:sp>
      <p:sp>
        <p:nvSpPr>
          <p:cNvPr id="864392" name="文本框 864391"/>
          <p:cNvSpPr txBox="1"/>
          <p:nvPr/>
        </p:nvSpPr>
        <p:spPr>
          <a:xfrm>
            <a:off x="7112000" y="2489200"/>
            <a:ext cx="1117600" cy="1555750"/>
          </a:xfrm>
          <a:prstGeom prst="rect">
            <a:avLst/>
          </a:prstGeom>
          <a:noFill/>
          <a:ln w="9525">
            <a:noFill/>
          </a:ln>
        </p:spPr>
        <p:txBody>
          <a:bodyPr lIns="0" rIns="0" anchor="t" anchorCtr="0">
            <a:spAutoFit/>
          </a:bodyPr>
          <a:lstStyle/>
          <a:p>
            <a:pPr>
              <a:spcBef>
                <a:spcPct val="50000"/>
              </a:spcBef>
            </a:pPr>
            <a:r>
              <a:rPr lang="en-US" altLang="zh-CN" sz="9600" b="1">
                <a:solidFill>
                  <a:srgbClr val="FF0000"/>
                </a:solidFill>
                <a:latin typeface="宋体" panose="02010600030101010101" pitchFamily="2" charset="-122"/>
              </a:rPr>
              <a:t>×</a:t>
            </a:r>
          </a:p>
        </p:txBody>
      </p:sp>
      <p:sp>
        <p:nvSpPr>
          <p:cNvPr id="864393" name="文本框 864392"/>
          <p:cNvSpPr txBox="1"/>
          <p:nvPr/>
        </p:nvSpPr>
        <p:spPr>
          <a:xfrm>
            <a:off x="3822700" y="2578100"/>
            <a:ext cx="1117600" cy="1555750"/>
          </a:xfrm>
          <a:prstGeom prst="rect">
            <a:avLst/>
          </a:prstGeom>
          <a:noFill/>
          <a:ln w="9525">
            <a:noFill/>
          </a:ln>
        </p:spPr>
        <p:txBody>
          <a:bodyPr lIns="0" rIns="0" anchor="t" anchorCtr="0">
            <a:spAutoFit/>
          </a:bodyPr>
          <a:lstStyle/>
          <a:p>
            <a:pPr>
              <a:spcBef>
                <a:spcPct val="50000"/>
              </a:spcBef>
            </a:pPr>
            <a:r>
              <a:rPr lang="en-US" altLang="zh-CN" sz="9600" b="1">
                <a:solidFill>
                  <a:srgbClr val="FF0000"/>
                </a:solidFill>
                <a:latin typeface="宋体" panose="02010600030101010101" pitchFamily="2" charset="-122"/>
              </a:rPr>
              <a:t>×</a:t>
            </a:r>
          </a:p>
        </p:txBody>
      </p:sp>
    </p:spTree>
    <p:extLst>
      <p:ext uri="{BB962C8B-B14F-4D97-AF65-F5344CB8AC3E}">
        <p14:creationId xmlns:p14="http://schemas.microsoft.com/office/powerpoint/2010/main" val="2854351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64304"/>
                                        </p:tgtEl>
                                        <p:attrNameLst>
                                          <p:attrName>style.visibility</p:attrName>
                                        </p:attrNameLst>
                                      </p:cBhvr>
                                      <p:to>
                                        <p:strVal val="visible"/>
                                      </p:to>
                                    </p:set>
                                    <p:animEffect transition="in" filter="box(in)">
                                      <p:cBhvr>
                                        <p:cTn id="7" dur="500"/>
                                        <p:tgtEl>
                                          <p:spTgt spid="864304"/>
                                        </p:tgtEl>
                                      </p:cBhvr>
                                    </p:animEffect>
                                  </p:childTnLst>
                                </p:cTn>
                              </p:par>
                              <p:par>
                                <p:cTn id="8" presetID="4" presetClass="entr" presetSubtype="16" fill="hold" nodeType="withEffect">
                                  <p:stCondLst>
                                    <p:cond delay="0"/>
                                  </p:stCondLst>
                                  <p:childTnLst>
                                    <p:set>
                                      <p:cBhvr>
                                        <p:cTn id="9" dur="1" fill="hold">
                                          <p:stCondLst>
                                            <p:cond delay="0"/>
                                          </p:stCondLst>
                                        </p:cTn>
                                        <p:tgtEl>
                                          <p:spTgt spid="864403"/>
                                        </p:tgtEl>
                                        <p:attrNameLst>
                                          <p:attrName>style.visibility</p:attrName>
                                        </p:attrNameLst>
                                      </p:cBhvr>
                                      <p:to>
                                        <p:strVal val="visible"/>
                                      </p:to>
                                    </p:set>
                                    <p:animEffect transition="in" filter="box(in)">
                                      <p:cBhvr>
                                        <p:cTn id="10" dur="500"/>
                                        <p:tgtEl>
                                          <p:spTgt spid="864403"/>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864322"/>
                                        </p:tgtEl>
                                        <p:attrNameLst>
                                          <p:attrName>style.visibility</p:attrName>
                                        </p:attrNameLst>
                                      </p:cBhvr>
                                      <p:to>
                                        <p:strVal val="visible"/>
                                      </p:to>
                                    </p:set>
                                    <p:animEffect transition="in" filter="box(in)">
                                      <p:cBhvr>
                                        <p:cTn id="13" dur="500"/>
                                        <p:tgtEl>
                                          <p:spTgt spid="864322"/>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64352"/>
                                        </p:tgtEl>
                                        <p:attrNameLst>
                                          <p:attrName>style.visibility</p:attrName>
                                        </p:attrNameLst>
                                      </p:cBhvr>
                                      <p:to>
                                        <p:strVal val="visible"/>
                                      </p:to>
                                    </p:set>
                                    <p:animEffect transition="in" filter="box(in)">
                                      <p:cBhvr>
                                        <p:cTn id="16" dur="500"/>
                                        <p:tgtEl>
                                          <p:spTgt spid="864352"/>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864392"/>
                                        </p:tgtEl>
                                        <p:attrNameLst>
                                          <p:attrName>style.visibility</p:attrName>
                                        </p:attrNameLst>
                                      </p:cBhvr>
                                      <p:to>
                                        <p:strVal val="visible"/>
                                      </p:to>
                                    </p:set>
                                    <p:animEffect transition="in" filter="box(in)">
                                      <p:cBhvr>
                                        <p:cTn id="21" dur="500"/>
                                        <p:tgtEl>
                                          <p:spTgt spid="864392"/>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864354"/>
                                        </p:tgtEl>
                                        <p:attrNameLst>
                                          <p:attrName>style.visibility</p:attrName>
                                        </p:attrNameLst>
                                      </p:cBhvr>
                                      <p:to>
                                        <p:strVal val="visible"/>
                                      </p:to>
                                    </p:set>
                                    <p:animEffect transition="in" filter="box(in)">
                                      <p:cBhvr>
                                        <p:cTn id="26" dur="500"/>
                                        <p:tgtEl>
                                          <p:spTgt spid="864354"/>
                                        </p:tgtEl>
                                      </p:cBhvr>
                                    </p:animEffect>
                                  </p:childTnLst>
                                </p:cTn>
                              </p:par>
                              <p:par>
                                <p:cTn id="27" presetID="4" presetClass="entr" presetSubtype="16" fill="hold" grpId="0" nodeType="withEffect">
                                  <p:stCondLst>
                                    <p:cond delay="0"/>
                                  </p:stCondLst>
                                  <p:childTnLst>
                                    <p:set>
                                      <p:cBhvr>
                                        <p:cTn id="28" dur="1" fill="hold">
                                          <p:stCondLst>
                                            <p:cond delay="0"/>
                                          </p:stCondLst>
                                        </p:cTn>
                                        <p:tgtEl>
                                          <p:spTgt spid="864370"/>
                                        </p:tgtEl>
                                        <p:attrNameLst>
                                          <p:attrName>style.visibility</p:attrName>
                                        </p:attrNameLst>
                                      </p:cBhvr>
                                      <p:to>
                                        <p:strVal val="visible"/>
                                      </p:to>
                                    </p:set>
                                    <p:animEffect transition="in" filter="box(in)">
                                      <p:cBhvr>
                                        <p:cTn id="29" dur="500"/>
                                        <p:tgtEl>
                                          <p:spTgt spid="864370"/>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864390"/>
                                        </p:tgtEl>
                                        <p:attrNameLst>
                                          <p:attrName>style.visibility</p:attrName>
                                        </p:attrNameLst>
                                      </p:cBhvr>
                                      <p:to>
                                        <p:strVal val="visible"/>
                                      </p:to>
                                    </p:set>
                                    <p:animEffect transition="in" filter="box(in)">
                                      <p:cBhvr>
                                        <p:cTn id="32" dur="500"/>
                                        <p:tgtEl>
                                          <p:spTgt spid="864390"/>
                                        </p:tgtEl>
                                      </p:cBhvr>
                                    </p:animEffect>
                                  </p:childTnLst>
                                </p:cTn>
                              </p:par>
                              <p:par>
                                <p:cTn id="33" presetID="4" presetClass="entr" presetSubtype="16" fill="hold" nodeType="withEffect">
                                  <p:stCondLst>
                                    <p:cond delay="0"/>
                                  </p:stCondLst>
                                  <p:childTnLst>
                                    <p:set>
                                      <p:cBhvr>
                                        <p:cTn id="34" dur="1" fill="hold">
                                          <p:stCondLst>
                                            <p:cond delay="0"/>
                                          </p:stCondLst>
                                        </p:cTn>
                                        <p:tgtEl>
                                          <p:spTgt spid="864399"/>
                                        </p:tgtEl>
                                        <p:attrNameLst>
                                          <p:attrName>style.visibility</p:attrName>
                                        </p:attrNameLst>
                                      </p:cBhvr>
                                      <p:to>
                                        <p:strVal val="visible"/>
                                      </p:to>
                                    </p:set>
                                    <p:animEffect transition="in" filter="box(in)">
                                      <p:cBhvr>
                                        <p:cTn id="35" dur="500"/>
                                        <p:tgtEl>
                                          <p:spTgt spid="864399"/>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864393"/>
                                        </p:tgtEl>
                                        <p:attrNameLst>
                                          <p:attrName>style.visibility</p:attrName>
                                        </p:attrNameLst>
                                      </p:cBhvr>
                                      <p:to>
                                        <p:strVal val="visible"/>
                                      </p:to>
                                    </p:set>
                                    <p:animEffect transition="in" filter="box(in)">
                                      <p:cBhvr>
                                        <p:cTn id="40" dur="500"/>
                                        <p:tgtEl>
                                          <p:spTgt spid="864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322" grpId="0"/>
      <p:bldP spid="864352" grpId="0"/>
      <p:bldP spid="864354" grpId="0" bldLvl="0" animBg="1"/>
      <p:bldP spid="864370" grpId="0"/>
      <p:bldP spid="864390" grpId="0"/>
      <p:bldP spid="864392" grpId="0"/>
      <p:bldP spid="86439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标题 863233"/>
          <p:cNvSpPr>
            <a:spLocks noGrp="1"/>
          </p:cNvSpPr>
          <p:nvPr>
            <p:ph type="title"/>
          </p:nvPr>
        </p:nvSpPr>
        <p:spPr/>
        <p:txBody>
          <a:bodyPr/>
          <a:lstStyle/>
          <a:p>
            <a:r>
              <a:rPr lang="zh-CN" altLang="en-US" noProof="1">
                <a:sym typeface="+mn-ea"/>
              </a:rPr>
              <a:t>CASCADE方式</a:t>
            </a:r>
            <a:endParaRPr lang="zh-CN" altLang="en-US" noProof="1"/>
          </a:p>
        </p:txBody>
      </p:sp>
      <p:sp>
        <p:nvSpPr>
          <p:cNvPr id="863235" name="内容占位符 863234"/>
          <p:cNvSpPr>
            <a:spLocks noGrp="1"/>
          </p:cNvSpPr>
          <p:nvPr>
            <p:ph idx="1"/>
          </p:nvPr>
        </p:nvSpPr>
        <p:spPr/>
        <p:txBody>
          <a:bodyPr/>
          <a:lstStyle/>
          <a:p>
            <a:pPr lvl="1"/>
            <a:r>
              <a:rPr lang="en-US" altLang="zh-CN" dirty="0">
                <a:solidFill>
                  <a:srgbClr val="C00000"/>
                </a:solidFill>
              </a:rPr>
              <a:t>CASCADE</a:t>
            </a:r>
            <a:r>
              <a:rPr lang="zh-CN" altLang="en-US" dirty="0">
                <a:solidFill>
                  <a:srgbClr val="C00000"/>
                </a:solidFill>
              </a:rPr>
              <a:t>方式示例：</a:t>
            </a:r>
            <a:r>
              <a:rPr lang="zh-CN" altLang="en-US" dirty="0"/>
              <a:t>当主码值被删除</a:t>
            </a:r>
            <a:r>
              <a:rPr lang="en-US" altLang="zh-CN" dirty="0"/>
              <a:t>/</a:t>
            </a:r>
            <a:r>
              <a:rPr lang="zh-CN" altLang="en-US" dirty="0"/>
              <a:t>更新时，连带删除</a:t>
            </a:r>
            <a:r>
              <a:rPr lang="en-US" altLang="zh-CN" dirty="0"/>
              <a:t>/</a:t>
            </a:r>
            <a:r>
              <a:rPr lang="zh-CN" altLang="en-US" dirty="0"/>
              <a:t>更新对应的外码值</a:t>
            </a:r>
          </a:p>
        </p:txBody>
      </p:sp>
      <p:graphicFrame>
        <p:nvGraphicFramePr>
          <p:cNvPr id="863424" name="表格 863423"/>
          <p:cNvGraphicFramePr/>
          <p:nvPr/>
        </p:nvGraphicFramePr>
        <p:xfrm>
          <a:off x="5044072" y="2420042"/>
          <a:ext cx="1384300" cy="1493520"/>
        </p:xfrm>
        <a:graphic>
          <a:graphicData uri="http://schemas.openxmlformats.org/drawingml/2006/table">
            <a:tbl>
              <a:tblPr/>
              <a:tblGrid>
                <a:gridCol w="6858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tblGrid>
              <a:tr h="3730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班号</a:t>
                      </a:r>
                    </a:p>
                  </a:txBody>
                  <a:tcPr marL="38100" marR="38100" marT="19050" marB="1905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名称</a:t>
                      </a:r>
                    </a:p>
                  </a:txBody>
                  <a:tcPr marL="38100" marR="38100" marT="19050" marB="1905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73062">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b="0">
                          <a:latin typeface="Helvetica" pitchFamily="34" charset="0"/>
                        </a:rPr>
                        <a:t>…</a:t>
                      </a:r>
                      <a:endParaRPr lang="en-US" altLang="zh-CN" b="0"/>
                    </a:p>
                  </a:txBody>
                  <a:tcPr marL="38100" marR="38100" marT="19050" marB="1905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b="0">
                          <a:latin typeface="Helvetica" pitchFamily="34" charset="0"/>
                        </a:rPr>
                        <a:t>……</a:t>
                      </a:r>
                      <a:endParaRPr lang="en-US" altLang="zh-CN" b="0"/>
                    </a:p>
                  </a:txBody>
                  <a:tcPr marL="38100" marR="38100" marT="19050" marB="1905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0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C2</a:t>
                      </a:r>
                    </a:p>
                  </a:txBody>
                  <a:tcPr marL="38100" marR="38100" marT="19050" marB="1905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2</a:t>
                      </a:r>
                      <a:r>
                        <a:rPr lang="zh-CN" altLang="en-US" dirty="0"/>
                        <a:t>班</a:t>
                      </a:r>
                    </a:p>
                  </a:txBody>
                  <a:tcPr marL="38100" marR="38100" marT="19050" marB="1905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062">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b="0">
                          <a:latin typeface="Helvetica" pitchFamily="34" charset="0"/>
                        </a:rPr>
                        <a:t>…</a:t>
                      </a:r>
                      <a:endParaRPr lang="en-US" altLang="zh-CN" b="0"/>
                    </a:p>
                  </a:txBody>
                  <a:tcPr marL="38100" marR="38100" marT="19050" marB="1905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b="0" dirty="0">
                          <a:latin typeface="Helvetica" pitchFamily="34" charset="0"/>
                        </a:rPr>
                        <a:t>……</a:t>
                      </a:r>
                      <a:endParaRPr lang="en-US" altLang="zh-CN" b="0" dirty="0"/>
                    </a:p>
                  </a:txBody>
                  <a:tcPr marL="38100" marR="38100" marT="19050" marB="1905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863423" name="表格 863422"/>
          <p:cNvGraphicFramePr/>
          <p:nvPr/>
        </p:nvGraphicFramePr>
        <p:xfrm>
          <a:off x="4701172" y="4515542"/>
          <a:ext cx="1879600" cy="16764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349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班号</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34962">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C2</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S21</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小王</a:t>
                      </a:r>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4962">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C2</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S22</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小李</a:t>
                      </a:r>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49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7870" name="文本框 863287"/>
          <p:cNvSpPr txBox="1"/>
          <p:nvPr/>
        </p:nvSpPr>
        <p:spPr>
          <a:xfrm>
            <a:off x="5129797" y="1950142"/>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班级</a:t>
            </a:r>
            <a:endParaRPr lang="zh-CN" altLang="en-US" sz="2400" b="1">
              <a:latin typeface="Tahoma" panose="020B0604030504040204" pitchFamily="34" charset="0"/>
              <a:ea typeface="宋体" panose="02010600030101010101" pitchFamily="2" charset="-122"/>
            </a:endParaRPr>
          </a:p>
        </p:txBody>
      </p:sp>
      <p:sp>
        <p:nvSpPr>
          <p:cNvPr id="863308" name="右箭头 863307"/>
          <p:cNvSpPr/>
          <p:nvPr/>
        </p:nvSpPr>
        <p:spPr>
          <a:xfrm>
            <a:off x="6529972" y="2966142"/>
            <a:ext cx="1765300" cy="457200"/>
          </a:xfrm>
          <a:prstGeom prst="rightArrow">
            <a:avLst>
              <a:gd name="adj1" fmla="val 50000"/>
              <a:gd name="adj2" fmla="val 96402"/>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863426" name="表格 863425"/>
          <p:cNvGraphicFramePr/>
          <p:nvPr/>
        </p:nvGraphicFramePr>
        <p:xfrm>
          <a:off x="8498472" y="2420042"/>
          <a:ext cx="1219200" cy="134112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349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班号</a:t>
                      </a:r>
                    </a:p>
                  </a:txBody>
                  <a:tcPr marL="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名称</a:t>
                      </a: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34962">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C3</a:t>
                      </a:r>
                    </a:p>
                  </a:txBody>
                  <a:tcPr marL="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2</a:t>
                      </a:r>
                      <a:r>
                        <a:rPr lang="zh-CN" altLang="en-US" dirty="0"/>
                        <a:t>班</a:t>
                      </a: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4962">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63326" name="文本框 863325"/>
          <p:cNvSpPr txBox="1"/>
          <p:nvPr/>
        </p:nvSpPr>
        <p:spPr>
          <a:xfrm>
            <a:off x="8584197" y="1950142"/>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班级</a:t>
            </a:r>
            <a:endParaRPr lang="zh-CN" altLang="en-US" sz="2400" b="1">
              <a:latin typeface="Tahoma" panose="020B0604030504040204" pitchFamily="34" charset="0"/>
              <a:ea typeface="宋体" panose="02010600030101010101" pitchFamily="2" charset="-122"/>
            </a:endParaRPr>
          </a:p>
        </p:txBody>
      </p:sp>
      <p:sp>
        <p:nvSpPr>
          <p:cNvPr id="77890" name="文本框 863326"/>
          <p:cNvSpPr txBox="1"/>
          <p:nvPr/>
        </p:nvSpPr>
        <p:spPr>
          <a:xfrm>
            <a:off x="5104397" y="3994842"/>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endParaRPr lang="zh-CN" altLang="en-US" sz="2400" b="1">
              <a:latin typeface="Tahoma" panose="020B0604030504040204" pitchFamily="34" charset="0"/>
              <a:ea typeface="宋体" panose="02010600030101010101" pitchFamily="2" charset="-122"/>
            </a:endParaRPr>
          </a:p>
        </p:txBody>
      </p:sp>
      <p:sp>
        <p:nvSpPr>
          <p:cNvPr id="863328" name="右箭头 863327"/>
          <p:cNvSpPr/>
          <p:nvPr/>
        </p:nvSpPr>
        <p:spPr>
          <a:xfrm>
            <a:off x="6783972" y="5214042"/>
            <a:ext cx="1206500" cy="457200"/>
          </a:xfrm>
          <a:prstGeom prst="rightArrow">
            <a:avLst>
              <a:gd name="adj1" fmla="val 50000"/>
              <a:gd name="adj2" fmla="val 65886"/>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863428" name="表格 863427"/>
          <p:cNvGraphicFramePr/>
          <p:nvPr/>
        </p:nvGraphicFramePr>
        <p:xfrm>
          <a:off x="8244472" y="4502842"/>
          <a:ext cx="1879600" cy="16764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349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班号</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34962">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C3</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S21</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小王</a:t>
                      </a:r>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4962">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C3</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S22</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小李</a:t>
                      </a:r>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49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63355" name="文本框 863354"/>
          <p:cNvSpPr txBox="1"/>
          <p:nvPr/>
        </p:nvSpPr>
        <p:spPr>
          <a:xfrm>
            <a:off x="8647697" y="3982142"/>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endParaRPr lang="zh-CN" altLang="en-US" sz="2400" b="1">
              <a:latin typeface="Tahoma" panose="020B0604030504040204" pitchFamily="34" charset="0"/>
              <a:ea typeface="宋体" panose="02010600030101010101" pitchFamily="2" charset="-122"/>
            </a:endParaRPr>
          </a:p>
        </p:txBody>
      </p:sp>
      <p:sp>
        <p:nvSpPr>
          <p:cNvPr id="863356" name="矩形 863355"/>
          <p:cNvSpPr/>
          <p:nvPr/>
        </p:nvSpPr>
        <p:spPr>
          <a:xfrm>
            <a:off x="6577597" y="2326381"/>
            <a:ext cx="1589088" cy="427037"/>
          </a:xfrm>
          <a:prstGeom prst="rect">
            <a:avLst/>
          </a:prstGeom>
          <a:noFill/>
          <a:ln w="9525">
            <a:noFill/>
          </a:ln>
        </p:spPr>
        <p:txBody>
          <a:bodyPr wrap="none" anchor="t" anchorCtr="0">
            <a:spAutoFit/>
          </a:bodyPr>
          <a:lstStyle/>
          <a:p>
            <a:pP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更新主码值</a:t>
            </a:r>
          </a:p>
        </p:txBody>
      </p:sp>
      <p:sp>
        <p:nvSpPr>
          <p:cNvPr id="863357" name="矩形 863356"/>
          <p:cNvSpPr/>
          <p:nvPr/>
        </p:nvSpPr>
        <p:spPr>
          <a:xfrm>
            <a:off x="6676022" y="4358380"/>
            <a:ext cx="1308100" cy="762000"/>
          </a:xfrm>
          <a:prstGeom prst="rect">
            <a:avLst/>
          </a:prstGeom>
          <a:noFill/>
          <a:ln w="9525">
            <a:noFill/>
          </a:ln>
        </p:spPr>
        <p:txBody>
          <a:bodyPr wrap="none" anchor="t" anchorCtr="0">
            <a:spAutoFit/>
          </a:bodyPr>
          <a:lstStyle/>
          <a:p>
            <a:pPr algn="ct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连带更新</a:t>
            </a:r>
            <a:br>
              <a:rPr lang="zh-CN" altLang="en-US" sz="2200" b="1" dirty="0">
                <a:solidFill>
                  <a:srgbClr val="00E444"/>
                </a:solidFill>
                <a:latin typeface="Helvetica" pitchFamily="34" charset="0"/>
                <a:ea typeface="宋体" panose="02010600030101010101" pitchFamily="2" charset="-122"/>
              </a:rPr>
            </a:br>
            <a:r>
              <a:rPr lang="zh-CN" altLang="en-US" sz="2200" b="1" dirty="0">
                <a:solidFill>
                  <a:srgbClr val="00E444"/>
                </a:solidFill>
                <a:latin typeface="Helvetica" pitchFamily="34" charset="0"/>
                <a:ea typeface="宋体" panose="02010600030101010101" pitchFamily="2" charset="-122"/>
              </a:rPr>
              <a:t>外码值</a:t>
            </a:r>
          </a:p>
        </p:txBody>
      </p:sp>
      <p:sp>
        <p:nvSpPr>
          <p:cNvPr id="863358" name="右箭头 863357"/>
          <p:cNvSpPr/>
          <p:nvPr/>
        </p:nvSpPr>
        <p:spPr>
          <a:xfrm rot="10800000">
            <a:off x="3050172" y="3067742"/>
            <a:ext cx="1765300" cy="457200"/>
          </a:xfrm>
          <a:prstGeom prst="rightArrow">
            <a:avLst>
              <a:gd name="adj1" fmla="val 50000"/>
              <a:gd name="adj2" fmla="val 96402"/>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863359" name="右箭头 863358"/>
          <p:cNvSpPr/>
          <p:nvPr/>
        </p:nvSpPr>
        <p:spPr>
          <a:xfrm rot="10800000">
            <a:off x="3291472" y="5137842"/>
            <a:ext cx="1206500" cy="457200"/>
          </a:xfrm>
          <a:prstGeom prst="rightArrow">
            <a:avLst>
              <a:gd name="adj1" fmla="val 50000"/>
              <a:gd name="adj2" fmla="val 65886"/>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863414" name="表格 863413"/>
          <p:cNvGraphicFramePr/>
          <p:nvPr/>
        </p:nvGraphicFramePr>
        <p:xfrm>
          <a:off x="1640472" y="2674042"/>
          <a:ext cx="1219200" cy="100584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349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班号</a:t>
                      </a:r>
                    </a:p>
                  </a:txBody>
                  <a:tcPr marL="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名称</a:t>
                      </a: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34962">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63377" name="文本框 863376"/>
          <p:cNvSpPr txBox="1"/>
          <p:nvPr/>
        </p:nvSpPr>
        <p:spPr>
          <a:xfrm>
            <a:off x="1726197" y="2204142"/>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班级</a:t>
            </a:r>
            <a:endParaRPr lang="zh-CN" altLang="en-US" sz="2400" b="1">
              <a:latin typeface="Tahoma" panose="020B0604030504040204" pitchFamily="34" charset="0"/>
              <a:ea typeface="宋体" panose="02010600030101010101" pitchFamily="2" charset="-122"/>
            </a:endParaRPr>
          </a:p>
        </p:txBody>
      </p:sp>
      <p:graphicFrame>
        <p:nvGraphicFramePr>
          <p:cNvPr id="863415" name="表格 863414"/>
          <p:cNvGraphicFramePr/>
          <p:nvPr/>
        </p:nvGraphicFramePr>
        <p:xfrm>
          <a:off x="1297572" y="4769542"/>
          <a:ext cx="1879600" cy="100584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349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班号</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34962">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0" marB="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0" marB="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63404" name="文本框 863403"/>
          <p:cNvSpPr txBox="1"/>
          <p:nvPr/>
        </p:nvSpPr>
        <p:spPr>
          <a:xfrm>
            <a:off x="1700797" y="4248842"/>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endParaRPr lang="zh-CN" altLang="en-US" sz="2400" b="1">
              <a:latin typeface="Tahoma" panose="020B0604030504040204" pitchFamily="34" charset="0"/>
              <a:ea typeface="宋体" panose="02010600030101010101" pitchFamily="2" charset="-122"/>
            </a:endParaRPr>
          </a:p>
        </p:txBody>
      </p:sp>
      <p:sp>
        <p:nvSpPr>
          <p:cNvPr id="863407" name="矩形 863406"/>
          <p:cNvSpPr/>
          <p:nvPr/>
        </p:nvSpPr>
        <p:spPr>
          <a:xfrm>
            <a:off x="3224797" y="2351781"/>
            <a:ext cx="1589088" cy="427037"/>
          </a:xfrm>
          <a:prstGeom prst="rect">
            <a:avLst/>
          </a:prstGeom>
          <a:noFill/>
          <a:ln w="9525">
            <a:noFill/>
          </a:ln>
        </p:spPr>
        <p:txBody>
          <a:bodyPr wrap="none" anchor="t" anchorCtr="0">
            <a:spAutoFit/>
          </a:bodyPr>
          <a:lstStyle/>
          <a:p>
            <a:pP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删除主码值</a:t>
            </a:r>
          </a:p>
        </p:txBody>
      </p:sp>
      <p:sp>
        <p:nvSpPr>
          <p:cNvPr id="863408" name="矩形 863407"/>
          <p:cNvSpPr/>
          <p:nvPr/>
        </p:nvSpPr>
        <p:spPr>
          <a:xfrm>
            <a:off x="3323222" y="4371080"/>
            <a:ext cx="1308100" cy="762000"/>
          </a:xfrm>
          <a:prstGeom prst="rect">
            <a:avLst/>
          </a:prstGeom>
          <a:noFill/>
          <a:ln w="9525">
            <a:noFill/>
          </a:ln>
        </p:spPr>
        <p:txBody>
          <a:bodyPr wrap="none" anchor="t" anchorCtr="0">
            <a:spAutoFit/>
          </a:bodyPr>
          <a:lstStyle/>
          <a:p>
            <a:pPr algn="ct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连带删除</a:t>
            </a:r>
            <a:br>
              <a:rPr lang="zh-CN" altLang="en-US" sz="2200" b="1" dirty="0">
                <a:solidFill>
                  <a:srgbClr val="00E444"/>
                </a:solidFill>
                <a:latin typeface="Helvetica" pitchFamily="34" charset="0"/>
                <a:ea typeface="宋体" panose="02010600030101010101" pitchFamily="2" charset="-122"/>
              </a:rPr>
            </a:br>
            <a:r>
              <a:rPr lang="zh-CN" altLang="en-US" sz="2200" b="1" dirty="0">
                <a:solidFill>
                  <a:srgbClr val="00E444"/>
                </a:solidFill>
                <a:latin typeface="Helvetica" pitchFamily="34" charset="0"/>
                <a:ea typeface="宋体" panose="02010600030101010101" pitchFamily="2" charset="-122"/>
              </a:rPr>
              <a:t>外码值</a:t>
            </a:r>
          </a:p>
        </p:txBody>
      </p:sp>
    </p:spTree>
    <p:extLst>
      <p:ext uri="{BB962C8B-B14F-4D97-AF65-F5344CB8AC3E}">
        <p14:creationId xmlns:p14="http://schemas.microsoft.com/office/powerpoint/2010/main" val="1283204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63308"/>
                                        </p:tgtEl>
                                        <p:attrNameLst>
                                          <p:attrName>style.visibility</p:attrName>
                                        </p:attrNameLst>
                                      </p:cBhvr>
                                      <p:to>
                                        <p:strVal val="visible"/>
                                      </p:to>
                                    </p:set>
                                    <p:animEffect transition="in" filter="box(in)">
                                      <p:cBhvr>
                                        <p:cTn id="7" dur="500"/>
                                        <p:tgtEl>
                                          <p:spTgt spid="863308"/>
                                        </p:tgtEl>
                                      </p:cBhvr>
                                    </p:animEffect>
                                  </p:childTnLst>
                                </p:cTn>
                              </p:par>
                              <p:par>
                                <p:cTn id="8" presetID="4" presetClass="entr" presetSubtype="16" fill="hold" nodeType="withEffect">
                                  <p:stCondLst>
                                    <p:cond delay="0"/>
                                  </p:stCondLst>
                                  <p:childTnLst>
                                    <p:set>
                                      <p:cBhvr>
                                        <p:cTn id="9" dur="1" fill="hold">
                                          <p:stCondLst>
                                            <p:cond delay="0"/>
                                          </p:stCondLst>
                                        </p:cTn>
                                        <p:tgtEl>
                                          <p:spTgt spid="863426"/>
                                        </p:tgtEl>
                                        <p:attrNameLst>
                                          <p:attrName>style.visibility</p:attrName>
                                        </p:attrNameLst>
                                      </p:cBhvr>
                                      <p:to>
                                        <p:strVal val="visible"/>
                                      </p:to>
                                    </p:set>
                                    <p:animEffect transition="in" filter="box(in)">
                                      <p:cBhvr>
                                        <p:cTn id="10" dur="500"/>
                                        <p:tgtEl>
                                          <p:spTgt spid="863426"/>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863326"/>
                                        </p:tgtEl>
                                        <p:attrNameLst>
                                          <p:attrName>style.visibility</p:attrName>
                                        </p:attrNameLst>
                                      </p:cBhvr>
                                      <p:to>
                                        <p:strVal val="visible"/>
                                      </p:to>
                                    </p:set>
                                    <p:animEffect transition="in" filter="box(in)">
                                      <p:cBhvr>
                                        <p:cTn id="13" dur="500"/>
                                        <p:tgtEl>
                                          <p:spTgt spid="863326"/>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63356"/>
                                        </p:tgtEl>
                                        <p:attrNameLst>
                                          <p:attrName>style.visibility</p:attrName>
                                        </p:attrNameLst>
                                      </p:cBhvr>
                                      <p:to>
                                        <p:strVal val="visible"/>
                                      </p:to>
                                    </p:set>
                                    <p:animEffect transition="in" filter="box(in)">
                                      <p:cBhvr>
                                        <p:cTn id="16" dur="500"/>
                                        <p:tgtEl>
                                          <p:spTgt spid="863356"/>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863328"/>
                                        </p:tgtEl>
                                        <p:attrNameLst>
                                          <p:attrName>style.visibility</p:attrName>
                                        </p:attrNameLst>
                                      </p:cBhvr>
                                      <p:to>
                                        <p:strVal val="visible"/>
                                      </p:to>
                                    </p:set>
                                    <p:animEffect transition="in" filter="box(in)">
                                      <p:cBhvr>
                                        <p:cTn id="21" dur="500"/>
                                        <p:tgtEl>
                                          <p:spTgt spid="863328"/>
                                        </p:tgtEl>
                                      </p:cBhvr>
                                    </p:animEffect>
                                  </p:childTnLst>
                                </p:cTn>
                              </p:par>
                              <p:par>
                                <p:cTn id="22" presetID="4" presetClass="entr" presetSubtype="16" fill="hold" nodeType="withEffect">
                                  <p:stCondLst>
                                    <p:cond delay="0"/>
                                  </p:stCondLst>
                                  <p:childTnLst>
                                    <p:set>
                                      <p:cBhvr>
                                        <p:cTn id="23" dur="1" fill="hold">
                                          <p:stCondLst>
                                            <p:cond delay="0"/>
                                          </p:stCondLst>
                                        </p:cTn>
                                        <p:tgtEl>
                                          <p:spTgt spid="863428"/>
                                        </p:tgtEl>
                                        <p:attrNameLst>
                                          <p:attrName>style.visibility</p:attrName>
                                        </p:attrNameLst>
                                      </p:cBhvr>
                                      <p:to>
                                        <p:strVal val="visible"/>
                                      </p:to>
                                    </p:set>
                                    <p:animEffect transition="in" filter="box(in)">
                                      <p:cBhvr>
                                        <p:cTn id="24" dur="500"/>
                                        <p:tgtEl>
                                          <p:spTgt spid="863428"/>
                                        </p:tgtEl>
                                      </p:cBhvr>
                                    </p:animEffect>
                                  </p:childTnLst>
                                </p:cTn>
                              </p:par>
                              <p:par>
                                <p:cTn id="25" presetID="4" presetClass="entr" presetSubtype="16" fill="hold" nodeType="withEffect">
                                  <p:stCondLst>
                                    <p:cond delay="0"/>
                                  </p:stCondLst>
                                  <p:childTnLst>
                                    <p:set>
                                      <p:cBhvr>
                                        <p:cTn id="26" dur="1" fill="hold">
                                          <p:stCondLst>
                                            <p:cond delay="0"/>
                                          </p:stCondLst>
                                        </p:cTn>
                                        <p:tgtEl>
                                          <p:spTgt spid="863355"/>
                                        </p:tgtEl>
                                        <p:attrNameLst>
                                          <p:attrName>style.visibility</p:attrName>
                                        </p:attrNameLst>
                                      </p:cBhvr>
                                      <p:to>
                                        <p:strVal val="visible"/>
                                      </p:to>
                                    </p:set>
                                    <p:animEffect transition="in" filter="box(in)">
                                      <p:cBhvr>
                                        <p:cTn id="27" dur="500"/>
                                        <p:tgtEl>
                                          <p:spTgt spid="863355"/>
                                        </p:tgtEl>
                                      </p:cBhvr>
                                    </p:animEffect>
                                  </p:childTnLst>
                                </p:cTn>
                              </p:par>
                              <p:par>
                                <p:cTn id="28" presetID="4" presetClass="entr" presetSubtype="16" fill="hold" nodeType="withEffect">
                                  <p:stCondLst>
                                    <p:cond delay="0"/>
                                  </p:stCondLst>
                                  <p:childTnLst>
                                    <p:set>
                                      <p:cBhvr>
                                        <p:cTn id="29" dur="1" fill="hold">
                                          <p:stCondLst>
                                            <p:cond delay="0"/>
                                          </p:stCondLst>
                                        </p:cTn>
                                        <p:tgtEl>
                                          <p:spTgt spid="863357"/>
                                        </p:tgtEl>
                                        <p:attrNameLst>
                                          <p:attrName>style.visibility</p:attrName>
                                        </p:attrNameLst>
                                      </p:cBhvr>
                                      <p:to>
                                        <p:strVal val="visible"/>
                                      </p:to>
                                    </p:set>
                                    <p:animEffect transition="in" filter="box(in)">
                                      <p:cBhvr>
                                        <p:cTn id="30" dur="500"/>
                                        <p:tgtEl>
                                          <p:spTgt spid="863357"/>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863358"/>
                                        </p:tgtEl>
                                        <p:attrNameLst>
                                          <p:attrName>style.visibility</p:attrName>
                                        </p:attrNameLst>
                                      </p:cBhvr>
                                      <p:to>
                                        <p:strVal val="visible"/>
                                      </p:to>
                                    </p:set>
                                    <p:animEffect transition="in" filter="box(in)">
                                      <p:cBhvr>
                                        <p:cTn id="35" dur="500"/>
                                        <p:tgtEl>
                                          <p:spTgt spid="863358"/>
                                        </p:tgtEl>
                                      </p:cBhvr>
                                    </p:animEffect>
                                  </p:childTnLst>
                                </p:cTn>
                              </p:par>
                              <p:par>
                                <p:cTn id="36" presetID="4" presetClass="entr" presetSubtype="16" fill="hold" nodeType="withEffect">
                                  <p:stCondLst>
                                    <p:cond delay="0"/>
                                  </p:stCondLst>
                                  <p:childTnLst>
                                    <p:set>
                                      <p:cBhvr>
                                        <p:cTn id="37" dur="1" fill="hold">
                                          <p:stCondLst>
                                            <p:cond delay="0"/>
                                          </p:stCondLst>
                                        </p:cTn>
                                        <p:tgtEl>
                                          <p:spTgt spid="863414"/>
                                        </p:tgtEl>
                                        <p:attrNameLst>
                                          <p:attrName>style.visibility</p:attrName>
                                        </p:attrNameLst>
                                      </p:cBhvr>
                                      <p:to>
                                        <p:strVal val="visible"/>
                                      </p:to>
                                    </p:set>
                                    <p:animEffect transition="in" filter="box(in)">
                                      <p:cBhvr>
                                        <p:cTn id="38" dur="500"/>
                                        <p:tgtEl>
                                          <p:spTgt spid="863414"/>
                                        </p:tgtEl>
                                      </p:cBhvr>
                                    </p:animEffect>
                                  </p:childTnLst>
                                </p:cTn>
                              </p:par>
                              <p:par>
                                <p:cTn id="39" presetID="4" presetClass="entr" presetSubtype="16" fill="hold" nodeType="withEffect">
                                  <p:stCondLst>
                                    <p:cond delay="0"/>
                                  </p:stCondLst>
                                  <p:childTnLst>
                                    <p:set>
                                      <p:cBhvr>
                                        <p:cTn id="40" dur="1" fill="hold">
                                          <p:stCondLst>
                                            <p:cond delay="0"/>
                                          </p:stCondLst>
                                        </p:cTn>
                                        <p:tgtEl>
                                          <p:spTgt spid="863377"/>
                                        </p:tgtEl>
                                        <p:attrNameLst>
                                          <p:attrName>style.visibility</p:attrName>
                                        </p:attrNameLst>
                                      </p:cBhvr>
                                      <p:to>
                                        <p:strVal val="visible"/>
                                      </p:to>
                                    </p:set>
                                    <p:animEffect transition="in" filter="box(in)">
                                      <p:cBhvr>
                                        <p:cTn id="41" dur="500"/>
                                        <p:tgtEl>
                                          <p:spTgt spid="863377"/>
                                        </p:tgtEl>
                                      </p:cBhvr>
                                    </p:animEffect>
                                  </p:childTnLst>
                                </p:cTn>
                              </p:par>
                              <p:par>
                                <p:cTn id="42" presetID="4" presetClass="entr" presetSubtype="16" fill="hold" nodeType="withEffect">
                                  <p:stCondLst>
                                    <p:cond delay="0"/>
                                  </p:stCondLst>
                                  <p:childTnLst>
                                    <p:set>
                                      <p:cBhvr>
                                        <p:cTn id="43" dur="1" fill="hold">
                                          <p:stCondLst>
                                            <p:cond delay="0"/>
                                          </p:stCondLst>
                                        </p:cTn>
                                        <p:tgtEl>
                                          <p:spTgt spid="863407"/>
                                        </p:tgtEl>
                                        <p:attrNameLst>
                                          <p:attrName>style.visibility</p:attrName>
                                        </p:attrNameLst>
                                      </p:cBhvr>
                                      <p:to>
                                        <p:strVal val="visible"/>
                                      </p:to>
                                    </p:set>
                                    <p:animEffect transition="in" filter="box(in)">
                                      <p:cBhvr>
                                        <p:cTn id="44" dur="500"/>
                                        <p:tgtEl>
                                          <p:spTgt spid="863407"/>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nodeType="clickEffect">
                                  <p:stCondLst>
                                    <p:cond delay="0"/>
                                  </p:stCondLst>
                                  <p:childTnLst>
                                    <p:set>
                                      <p:cBhvr>
                                        <p:cTn id="48" dur="1" fill="hold">
                                          <p:stCondLst>
                                            <p:cond delay="0"/>
                                          </p:stCondLst>
                                        </p:cTn>
                                        <p:tgtEl>
                                          <p:spTgt spid="863359"/>
                                        </p:tgtEl>
                                        <p:attrNameLst>
                                          <p:attrName>style.visibility</p:attrName>
                                        </p:attrNameLst>
                                      </p:cBhvr>
                                      <p:to>
                                        <p:strVal val="visible"/>
                                      </p:to>
                                    </p:set>
                                    <p:animEffect transition="in" filter="box(in)">
                                      <p:cBhvr>
                                        <p:cTn id="49" dur="500"/>
                                        <p:tgtEl>
                                          <p:spTgt spid="863359"/>
                                        </p:tgtEl>
                                      </p:cBhvr>
                                    </p:animEffect>
                                  </p:childTnLst>
                                </p:cTn>
                              </p:par>
                              <p:par>
                                <p:cTn id="50" presetID="4" presetClass="entr" presetSubtype="16" fill="hold" nodeType="withEffect">
                                  <p:stCondLst>
                                    <p:cond delay="0"/>
                                  </p:stCondLst>
                                  <p:childTnLst>
                                    <p:set>
                                      <p:cBhvr>
                                        <p:cTn id="51" dur="1" fill="hold">
                                          <p:stCondLst>
                                            <p:cond delay="0"/>
                                          </p:stCondLst>
                                        </p:cTn>
                                        <p:tgtEl>
                                          <p:spTgt spid="863415"/>
                                        </p:tgtEl>
                                        <p:attrNameLst>
                                          <p:attrName>style.visibility</p:attrName>
                                        </p:attrNameLst>
                                      </p:cBhvr>
                                      <p:to>
                                        <p:strVal val="visible"/>
                                      </p:to>
                                    </p:set>
                                    <p:animEffect transition="in" filter="box(in)">
                                      <p:cBhvr>
                                        <p:cTn id="52" dur="500"/>
                                        <p:tgtEl>
                                          <p:spTgt spid="863415"/>
                                        </p:tgtEl>
                                      </p:cBhvr>
                                    </p:animEffect>
                                  </p:childTnLst>
                                </p:cTn>
                              </p:par>
                              <p:par>
                                <p:cTn id="53" presetID="4" presetClass="entr" presetSubtype="16" fill="hold" grpId="0" nodeType="withEffect">
                                  <p:stCondLst>
                                    <p:cond delay="0"/>
                                  </p:stCondLst>
                                  <p:childTnLst>
                                    <p:set>
                                      <p:cBhvr>
                                        <p:cTn id="54" dur="1" fill="hold">
                                          <p:stCondLst>
                                            <p:cond delay="0"/>
                                          </p:stCondLst>
                                        </p:cTn>
                                        <p:tgtEl>
                                          <p:spTgt spid="863404"/>
                                        </p:tgtEl>
                                        <p:attrNameLst>
                                          <p:attrName>style.visibility</p:attrName>
                                        </p:attrNameLst>
                                      </p:cBhvr>
                                      <p:to>
                                        <p:strVal val="visible"/>
                                      </p:to>
                                    </p:set>
                                    <p:animEffect transition="in" filter="box(in)">
                                      <p:cBhvr>
                                        <p:cTn id="55" dur="500"/>
                                        <p:tgtEl>
                                          <p:spTgt spid="863404"/>
                                        </p:tgtEl>
                                      </p:cBhvr>
                                    </p:animEffect>
                                  </p:childTnLst>
                                </p:cTn>
                              </p:par>
                              <p:par>
                                <p:cTn id="56" presetID="4" presetClass="entr" presetSubtype="16" fill="hold" grpId="0" nodeType="withEffect">
                                  <p:stCondLst>
                                    <p:cond delay="0"/>
                                  </p:stCondLst>
                                  <p:childTnLst>
                                    <p:set>
                                      <p:cBhvr>
                                        <p:cTn id="57" dur="1" fill="hold">
                                          <p:stCondLst>
                                            <p:cond delay="0"/>
                                          </p:stCondLst>
                                        </p:cTn>
                                        <p:tgtEl>
                                          <p:spTgt spid="863408"/>
                                        </p:tgtEl>
                                        <p:attrNameLst>
                                          <p:attrName>style.visibility</p:attrName>
                                        </p:attrNameLst>
                                      </p:cBhvr>
                                      <p:to>
                                        <p:strVal val="visible"/>
                                      </p:to>
                                    </p:set>
                                    <p:animEffect transition="in" filter="box(in)">
                                      <p:cBhvr>
                                        <p:cTn id="58" dur="500"/>
                                        <p:tgtEl>
                                          <p:spTgt spid="863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3326" grpId="0"/>
      <p:bldP spid="863356" grpId="0"/>
      <p:bldP spid="863404" grpId="0"/>
      <p:bldP spid="86340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282" name="标题 865281"/>
          <p:cNvSpPr>
            <a:spLocks noGrp="1"/>
          </p:cNvSpPr>
          <p:nvPr>
            <p:ph type="title"/>
          </p:nvPr>
        </p:nvSpPr>
        <p:spPr/>
        <p:txBody>
          <a:bodyPr/>
          <a:lstStyle/>
          <a:p>
            <a:r>
              <a:rPr lang="zh-CN" altLang="en-US" noProof="1">
                <a:sym typeface="+mn-ea"/>
              </a:rPr>
              <a:t>SET NULL方式</a:t>
            </a:r>
            <a:endParaRPr lang="zh-CN" altLang="en-US" noProof="1"/>
          </a:p>
        </p:txBody>
      </p:sp>
      <p:sp>
        <p:nvSpPr>
          <p:cNvPr id="79874" name="文本占位符 865282"/>
          <p:cNvSpPr>
            <a:spLocks noGrp="1"/>
          </p:cNvSpPr>
          <p:nvPr>
            <p:ph idx="1"/>
          </p:nvPr>
        </p:nvSpPr>
        <p:spPr/>
        <p:txBody>
          <a:bodyPr/>
          <a:lstStyle/>
          <a:p>
            <a:pPr lvl="1"/>
            <a:r>
              <a:rPr lang="en-US" altLang="zh-CN" dirty="0">
                <a:solidFill>
                  <a:srgbClr val="C00000"/>
                </a:solidFill>
              </a:rPr>
              <a:t>SET NULL</a:t>
            </a:r>
            <a:r>
              <a:rPr lang="zh-CN" altLang="en-US" dirty="0">
                <a:solidFill>
                  <a:srgbClr val="C00000"/>
                </a:solidFill>
              </a:rPr>
              <a:t>方式示例：</a:t>
            </a:r>
            <a:r>
              <a:rPr lang="zh-CN" altLang="en-US" dirty="0"/>
              <a:t>主码值被删除</a:t>
            </a:r>
            <a:r>
              <a:rPr lang="en-US" altLang="zh-CN" dirty="0"/>
              <a:t>/</a:t>
            </a:r>
            <a:r>
              <a:rPr lang="zh-CN" altLang="en-US" dirty="0"/>
              <a:t>更新时，将对应的外码值设为空值</a:t>
            </a:r>
          </a:p>
        </p:txBody>
      </p:sp>
      <p:graphicFrame>
        <p:nvGraphicFramePr>
          <p:cNvPr id="865453" name="表格 865452"/>
          <p:cNvGraphicFramePr/>
          <p:nvPr/>
        </p:nvGraphicFramePr>
        <p:xfrm>
          <a:off x="5380457" y="2159460"/>
          <a:ext cx="1219200" cy="148512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班号</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名称</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C2</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2</a:t>
                      </a:r>
                      <a:r>
                        <a:rPr lang="zh-CN" altLang="en-US" dirty="0"/>
                        <a:t>班</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865450" name="表格 865449"/>
          <p:cNvGraphicFramePr/>
          <p:nvPr/>
        </p:nvGraphicFramePr>
        <p:xfrm>
          <a:off x="5037557" y="4254960"/>
          <a:ext cx="1879600" cy="18564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班号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S21</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小王</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小李</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9918" name="文本框 865326"/>
          <p:cNvSpPr txBox="1"/>
          <p:nvPr/>
        </p:nvSpPr>
        <p:spPr>
          <a:xfrm>
            <a:off x="5466182" y="168956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班级</a:t>
            </a:r>
            <a:endParaRPr lang="zh-CN" altLang="en-US" sz="2400" b="1">
              <a:latin typeface="Tahoma" panose="020B0604030504040204" pitchFamily="34" charset="0"/>
              <a:ea typeface="宋体" panose="02010600030101010101" pitchFamily="2" charset="-122"/>
            </a:endParaRPr>
          </a:p>
        </p:txBody>
      </p:sp>
      <p:sp>
        <p:nvSpPr>
          <p:cNvPr id="865328" name="右箭头 865327"/>
          <p:cNvSpPr/>
          <p:nvPr/>
        </p:nvSpPr>
        <p:spPr>
          <a:xfrm>
            <a:off x="6866357" y="2705560"/>
            <a:ext cx="1765300" cy="457200"/>
          </a:xfrm>
          <a:prstGeom prst="rightArrow">
            <a:avLst>
              <a:gd name="adj1" fmla="val 50000"/>
              <a:gd name="adj2" fmla="val 96402"/>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865452" name="表格 865451"/>
          <p:cNvGraphicFramePr/>
          <p:nvPr/>
        </p:nvGraphicFramePr>
        <p:xfrm>
          <a:off x="8834857" y="2159460"/>
          <a:ext cx="1219200" cy="148512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班号</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名称</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C3</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2</a:t>
                      </a:r>
                      <a:r>
                        <a:rPr lang="zh-CN" altLang="en-US" dirty="0"/>
                        <a:t>班</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65346" name="文本框 865345"/>
          <p:cNvSpPr txBox="1"/>
          <p:nvPr/>
        </p:nvSpPr>
        <p:spPr>
          <a:xfrm>
            <a:off x="8920582" y="168956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班级</a:t>
            </a:r>
            <a:endParaRPr lang="zh-CN" altLang="en-US" sz="2400" b="1">
              <a:latin typeface="Tahoma" panose="020B0604030504040204" pitchFamily="34" charset="0"/>
              <a:ea typeface="宋体" panose="02010600030101010101" pitchFamily="2" charset="-122"/>
            </a:endParaRPr>
          </a:p>
        </p:txBody>
      </p:sp>
      <p:sp>
        <p:nvSpPr>
          <p:cNvPr id="79938" name="文本框 865346"/>
          <p:cNvSpPr txBox="1"/>
          <p:nvPr/>
        </p:nvSpPr>
        <p:spPr>
          <a:xfrm>
            <a:off x="5440782" y="373426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endParaRPr lang="zh-CN" altLang="en-US" sz="2400" b="1">
              <a:latin typeface="Tahoma" panose="020B0604030504040204" pitchFamily="34" charset="0"/>
              <a:ea typeface="宋体" panose="02010600030101010101" pitchFamily="2" charset="-122"/>
            </a:endParaRPr>
          </a:p>
        </p:txBody>
      </p:sp>
      <p:sp>
        <p:nvSpPr>
          <p:cNvPr id="865348" name="右箭头 865347"/>
          <p:cNvSpPr/>
          <p:nvPr/>
        </p:nvSpPr>
        <p:spPr>
          <a:xfrm>
            <a:off x="7120357" y="4953460"/>
            <a:ext cx="1206500" cy="457200"/>
          </a:xfrm>
          <a:prstGeom prst="rightArrow">
            <a:avLst>
              <a:gd name="adj1" fmla="val 50000"/>
              <a:gd name="adj2" fmla="val 65886"/>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865451" name="表格 865450"/>
          <p:cNvGraphicFramePr/>
          <p:nvPr/>
        </p:nvGraphicFramePr>
        <p:xfrm>
          <a:off x="8580857" y="4242260"/>
          <a:ext cx="1879600" cy="18564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班号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Null</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S21</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小王</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Null</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小李</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65375" name="文本框 865374"/>
          <p:cNvSpPr txBox="1"/>
          <p:nvPr/>
        </p:nvSpPr>
        <p:spPr>
          <a:xfrm>
            <a:off x="8984082" y="372156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endParaRPr lang="zh-CN" altLang="en-US" sz="2400" b="1">
              <a:latin typeface="Tahoma" panose="020B0604030504040204" pitchFamily="34" charset="0"/>
              <a:ea typeface="宋体" panose="02010600030101010101" pitchFamily="2" charset="-122"/>
            </a:endParaRPr>
          </a:p>
        </p:txBody>
      </p:sp>
      <p:sp>
        <p:nvSpPr>
          <p:cNvPr id="865376" name="矩形 865375"/>
          <p:cNvSpPr/>
          <p:nvPr/>
        </p:nvSpPr>
        <p:spPr>
          <a:xfrm>
            <a:off x="6913982" y="2065799"/>
            <a:ext cx="1589088" cy="427037"/>
          </a:xfrm>
          <a:prstGeom prst="rect">
            <a:avLst/>
          </a:prstGeom>
          <a:noFill/>
          <a:ln w="9525">
            <a:noFill/>
          </a:ln>
        </p:spPr>
        <p:txBody>
          <a:bodyPr wrap="none" anchor="t" anchorCtr="0">
            <a:spAutoFit/>
          </a:bodyPr>
          <a:lstStyle/>
          <a:p>
            <a:pP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更新主码值</a:t>
            </a:r>
          </a:p>
        </p:txBody>
      </p:sp>
      <p:sp>
        <p:nvSpPr>
          <p:cNvPr id="865377" name="矩形 865376"/>
          <p:cNvSpPr/>
          <p:nvPr/>
        </p:nvSpPr>
        <p:spPr>
          <a:xfrm>
            <a:off x="7153695" y="4097798"/>
            <a:ext cx="1027112" cy="762000"/>
          </a:xfrm>
          <a:prstGeom prst="rect">
            <a:avLst/>
          </a:prstGeom>
          <a:noFill/>
          <a:ln w="9525">
            <a:noFill/>
          </a:ln>
        </p:spPr>
        <p:txBody>
          <a:bodyPr wrap="none" anchor="t" anchorCtr="0">
            <a:spAutoFit/>
          </a:bodyPr>
          <a:lstStyle/>
          <a:p>
            <a:pPr algn="ct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外码值</a:t>
            </a:r>
            <a:br>
              <a:rPr lang="zh-CN" altLang="en-US" sz="2200" b="1" dirty="0">
                <a:solidFill>
                  <a:srgbClr val="00E444"/>
                </a:solidFill>
                <a:latin typeface="Helvetica" pitchFamily="34" charset="0"/>
                <a:ea typeface="宋体" panose="02010600030101010101" pitchFamily="2" charset="-122"/>
              </a:rPr>
            </a:br>
            <a:r>
              <a:rPr lang="zh-CN" altLang="en-US" sz="2200" b="1" dirty="0">
                <a:solidFill>
                  <a:srgbClr val="00E444"/>
                </a:solidFill>
                <a:latin typeface="Helvetica" pitchFamily="34" charset="0"/>
                <a:ea typeface="宋体" panose="02010600030101010101" pitchFamily="2" charset="-122"/>
              </a:rPr>
              <a:t>设为空</a:t>
            </a:r>
          </a:p>
        </p:txBody>
      </p:sp>
      <p:sp>
        <p:nvSpPr>
          <p:cNvPr id="865378" name="右箭头 865377"/>
          <p:cNvSpPr/>
          <p:nvPr/>
        </p:nvSpPr>
        <p:spPr>
          <a:xfrm rot="10800000">
            <a:off x="3386557" y="2807160"/>
            <a:ext cx="1765300" cy="457200"/>
          </a:xfrm>
          <a:prstGeom prst="rightArrow">
            <a:avLst>
              <a:gd name="adj1" fmla="val 50000"/>
              <a:gd name="adj2" fmla="val 96402"/>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865379" name="右箭头 865378"/>
          <p:cNvSpPr/>
          <p:nvPr/>
        </p:nvSpPr>
        <p:spPr>
          <a:xfrm rot="10800000">
            <a:off x="3627857" y="4877260"/>
            <a:ext cx="1206500" cy="457200"/>
          </a:xfrm>
          <a:prstGeom prst="rightArrow">
            <a:avLst>
              <a:gd name="adj1" fmla="val 50000"/>
              <a:gd name="adj2" fmla="val 65886"/>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865443" name="表格 865442"/>
          <p:cNvGraphicFramePr/>
          <p:nvPr/>
        </p:nvGraphicFramePr>
        <p:xfrm>
          <a:off x="1976857" y="2184860"/>
          <a:ext cx="1219200" cy="111384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班号</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名称</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65394" name="文本框 865393"/>
          <p:cNvSpPr txBox="1"/>
          <p:nvPr/>
        </p:nvSpPr>
        <p:spPr>
          <a:xfrm>
            <a:off x="2062582" y="171496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班级</a:t>
            </a:r>
            <a:endParaRPr lang="zh-CN" altLang="en-US" sz="2400" b="1">
              <a:latin typeface="Tahoma" panose="020B0604030504040204" pitchFamily="34" charset="0"/>
              <a:ea typeface="宋体" panose="02010600030101010101" pitchFamily="2" charset="-122"/>
            </a:endParaRPr>
          </a:p>
        </p:txBody>
      </p:sp>
      <p:graphicFrame>
        <p:nvGraphicFramePr>
          <p:cNvPr id="865449" name="表格 865448"/>
          <p:cNvGraphicFramePr/>
          <p:nvPr/>
        </p:nvGraphicFramePr>
        <p:xfrm>
          <a:off x="1633957" y="4280360"/>
          <a:ext cx="1879600" cy="18564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班号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Null</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S21</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小王</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Null</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小李</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65413" name="文本框 865412"/>
          <p:cNvSpPr txBox="1"/>
          <p:nvPr/>
        </p:nvSpPr>
        <p:spPr>
          <a:xfrm>
            <a:off x="2037182" y="375966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endParaRPr lang="zh-CN" altLang="en-US" sz="2400" b="1">
              <a:latin typeface="Tahoma" panose="020B0604030504040204" pitchFamily="34" charset="0"/>
              <a:ea typeface="宋体" panose="02010600030101010101" pitchFamily="2" charset="-122"/>
            </a:endParaRPr>
          </a:p>
        </p:txBody>
      </p:sp>
      <p:sp>
        <p:nvSpPr>
          <p:cNvPr id="865414" name="矩形 865413"/>
          <p:cNvSpPr/>
          <p:nvPr/>
        </p:nvSpPr>
        <p:spPr>
          <a:xfrm>
            <a:off x="3561182" y="2091199"/>
            <a:ext cx="1589088" cy="427037"/>
          </a:xfrm>
          <a:prstGeom prst="rect">
            <a:avLst/>
          </a:prstGeom>
          <a:noFill/>
          <a:ln w="9525">
            <a:noFill/>
          </a:ln>
        </p:spPr>
        <p:txBody>
          <a:bodyPr wrap="none" anchor="t" anchorCtr="0">
            <a:spAutoFit/>
          </a:bodyPr>
          <a:lstStyle/>
          <a:p>
            <a:pP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删除主码值</a:t>
            </a:r>
          </a:p>
        </p:txBody>
      </p:sp>
      <p:sp>
        <p:nvSpPr>
          <p:cNvPr id="865415" name="矩形 865414"/>
          <p:cNvSpPr/>
          <p:nvPr/>
        </p:nvSpPr>
        <p:spPr>
          <a:xfrm>
            <a:off x="3800895" y="4110498"/>
            <a:ext cx="1027112" cy="762000"/>
          </a:xfrm>
          <a:prstGeom prst="rect">
            <a:avLst/>
          </a:prstGeom>
          <a:noFill/>
          <a:ln w="9525">
            <a:noFill/>
          </a:ln>
        </p:spPr>
        <p:txBody>
          <a:bodyPr wrap="none" anchor="t" anchorCtr="0">
            <a:spAutoFit/>
          </a:bodyPr>
          <a:lstStyle/>
          <a:p>
            <a:pPr algn="ct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外码值</a:t>
            </a:r>
            <a:br>
              <a:rPr lang="zh-CN" altLang="en-US" sz="2200" b="1" dirty="0">
                <a:solidFill>
                  <a:srgbClr val="00E444"/>
                </a:solidFill>
                <a:latin typeface="Helvetica" pitchFamily="34" charset="0"/>
                <a:ea typeface="宋体" panose="02010600030101010101" pitchFamily="2" charset="-122"/>
              </a:rPr>
            </a:br>
            <a:r>
              <a:rPr lang="zh-CN" altLang="en-US" sz="2200" b="1" dirty="0">
                <a:solidFill>
                  <a:srgbClr val="00E444"/>
                </a:solidFill>
                <a:latin typeface="Helvetica" pitchFamily="34" charset="0"/>
                <a:ea typeface="宋体" panose="02010600030101010101" pitchFamily="2" charset="-122"/>
              </a:rPr>
              <a:t>设为空</a:t>
            </a:r>
          </a:p>
        </p:txBody>
      </p:sp>
    </p:spTree>
    <p:extLst>
      <p:ext uri="{BB962C8B-B14F-4D97-AF65-F5344CB8AC3E}">
        <p14:creationId xmlns:p14="http://schemas.microsoft.com/office/powerpoint/2010/main" val="35393238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65328"/>
                                        </p:tgtEl>
                                        <p:attrNameLst>
                                          <p:attrName>style.visibility</p:attrName>
                                        </p:attrNameLst>
                                      </p:cBhvr>
                                      <p:to>
                                        <p:strVal val="visible"/>
                                      </p:to>
                                    </p:set>
                                    <p:animEffect transition="in" filter="box(in)">
                                      <p:cBhvr>
                                        <p:cTn id="7" dur="500"/>
                                        <p:tgtEl>
                                          <p:spTgt spid="865328"/>
                                        </p:tgtEl>
                                      </p:cBhvr>
                                    </p:animEffect>
                                  </p:childTnLst>
                                </p:cTn>
                              </p:par>
                              <p:par>
                                <p:cTn id="8" presetID="4" presetClass="entr" presetSubtype="16" fill="hold" nodeType="withEffect">
                                  <p:stCondLst>
                                    <p:cond delay="0"/>
                                  </p:stCondLst>
                                  <p:childTnLst>
                                    <p:set>
                                      <p:cBhvr>
                                        <p:cTn id="9" dur="1" fill="hold">
                                          <p:stCondLst>
                                            <p:cond delay="0"/>
                                          </p:stCondLst>
                                        </p:cTn>
                                        <p:tgtEl>
                                          <p:spTgt spid="865452"/>
                                        </p:tgtEl>
                                        <p:attrNameLst>
                                          <p:attrName>style.visibility</p:attrName>
                                        </p:attrNameLst>
                                      </p:cBhvr>
                                      <p:to>
                                        <p:strVal val="visible"/>
                                      </p:to>
                                    </p:set>
                                    <p:animEffect transition="in" filter="box(in)">
                                      <p:cBhvr>
                                        <p:cTn id="10" dur="500"/>
                                        <p:tgtEl>
                                          <p:spTgt spid="865452"/>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865346"/>
                                        </p:tgtEl>
                                        <p:attrNameLst>
                                          <p:attrName>style.visibility</p:attrName>
                                        </p:attrNameLst>
                                      </p:cBhvr>
                                      <p:to>
                                        <p:strVal val="visible"/>
                                      </p:to>
                                    </p:set>
                                    <p:animEffect transition="in" filter="box(in)">
                                      <p:cBhvr>
                                        <p:cTn id="13" dur="500"/>
                                        <p:tgtEl>
                                          <p:spTgt spid="865346"/>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65376"/>
                                        </p:tgtEl>
                                        <p:attrNameLst>
                                          <p:attrName>style.visibility</p:attrName>
                                        </p:attrNameLst>
                                      </p:cBhvr>
                                      <p:to>
                                        <p:strVal val="visible"/>
                                      </p:to>
                                    </p:set>
                                    <p:animEffect transition="in" filter="box(in)">
                                      <p:cBhvr>
                                        <p:cTn id="16" dur="500"/>
                                        <p:tgtEl>
                                          <p:spTgt spid="865376"/>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865348"/>
                                        </p:tgtEl>
                                        <p:attrNameLst>
                                          <p:attrName>style.visibility</p:attrName>
                                        </p:attrNameLst>
                                      </p:cBhvr>
                                      <p:to>
                                        <p:strVal val="visible"/>
                                      </p:to>
                                    </p:set>
                                    <p:animEffect transition="in" filter="box(in)">
                                      <p:cBhvr>
                                        <p:cTn id="21" dur="500"/>
                                        <p:tgtEl>
                                          <p:spTgt spid="865348"/>
                                        </p:tgtEl>
                                      </p:cBhvr>
                                    </p:animEffect>
                                  </p:childTnLst>
                                </p:cTn>
                              </p:par>
                              <p:par>
                                <p:cTn id="22" presetID="4" presetClass="entr" presetSubtype="16" fill="hold" nodeType="withEffect">
                                  <p:stCondLst>
                                    <p:cond delay="0"/>
                                  </p:stCondLst>
                                  <p:childTnLst>
                                    <p:set>
                                      <p:cBhvr>
                                        <p:cTn id="23" dur="1" fill="hold">
                                          <p:stCondLst>
                                            <p:cond delay="0"/>
                                          </p:stCondLst>
                                        </p:cTn>
                                        <p:tgtEl>
                                          <p:spTgt spid="865451"/>
                                        </p:tgtEl>
                                        <p:attrNameLst>
                                          <p:attrName>style.visibility</p:attrName>
                                        </p:attrNameLst>
                                      </p:cBhvr>
                                      <p:to>
                                        <p:strVal val="visible"/>
                                      </p:to>
                                    </p:set>
                                    <p:animEffect transition="in" filter="box(in)">
                                      <p:cBhvr>
                                        <p:cTn id="24" dur="500"/>
                                        <p:tgtEl>
                                          <p:spTgt spid="865451"/>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865375"/>
                                        </p:tgtEl>
                                        <p:attrNameLst>
                                          <p:attrName>style.visibility</p:attrName>
                                        </p:attrNameLst>
                                      </p:cBhvr>
                                      <p:to>
                                        <p:strVal val="visible"/>
                                      </p:to>
                                    </p:set>
                                    <p:animEffect transition="in" filter="box(in)">
                                      <p:cBhvr>
                                        <p:cTn id="27" dur="500"/>
                                        <p:tgtEl>
                                          <p:spTgt spid="865375"/>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865377"/>
                                        </p:tgtEl>
                                        <p:attrNameLst>
                                          <p:attrName>style.visibility</p:attrName>
                                        </p:attrNameLst>
                                      </p:cBhvr>
                                      <p:to>
                                        <p:strVal val="visible"/>
                                      </p:to>
                                    </p:set>
                                    <p:animEffect transition="in" filter="box(in)">
                                      <p:cBhvr>
                                        <p:cTn id="30" dur="500"/>
                                        <p:tgtEl>
                                          <p:spTgt spid="865377"/>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865378"/>
                                        </p:tgtEl>
                                        <p:attrNameLst>
                                          <p:attrName>style.visibility</p:attrName>
                                        </p:attrNameLst>
                                      </p:cBhvr>
                                      <p:to>
                                        <p:strVal val="visible"/>
                                      </p:to>
                                    </p:set>
                                    <p:animEffect transition="in" filter="box(in)">
                                      <p:cBhvr>
                                        <p:cTn id="35" dur="500"/>
                                        <p:tgtEl>
                                          <p:spTgt spid="865378"/>
                                        </p:tgtEl>
                                      </p:cBhvr>
                                    </p:animEffect>
                                  </p:childTnLst>
                                </p:cTn>
                              </p:par>
                              <p:par>
                                <p:cTn id="36" presetID="4" presetClass="entr" presetSubtype="16" fill="hold" nodeType="withEffect">
                                  <p:stCondLst>
                                    <p:cond delay="0"/>
                                  </p:stCondLst>
                                  <p:childTnLst>
                                    <p:set>
                                      <p:cBhvr>
                                        <p:cTn id="37" dur="1" fill="hold">
                                          <p:stCondLst>
                                            <p:cond delay="0"/>
                                          </p:stCondLst>
                                        </p:cTn>
                                        <p:tgtEl>
                                          <p:spTgt spid="865443"/>
                                        </p:tgtEl>
                                        <p:attrNameLst>
                                          <p:attrName>style.visibility</p:attrName>
                                        </p:attrNameLst>
                                      </p:cBhvr>
                                      <p:to>
                                        <p:strVal val="visible"/>
                                      </p:to>
                                    </p:set>
                                    <p:animEffect transition="in" filter="box(in)">
                                      <p:cBhvr>
                                        <p:cTn id="38" dur="500"/>
                                        <p:tgtEl>
                                          <p:spTgt spid="865443"/>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865394"/>
                                        </p:tgtEl>
                                        <p:attrNameLst>
                                          <p:attrName>style.visibility</p:attrName>
                                        </p:attrNameLst>
                                      </p:cBhvr>
                                      <p:to>
                                        <p:strVal val="visible"/>
                                      </p:to>
                                    </p:set>
                                    <p:animEffect transition="in" filter="box(in)">
                                      <p:cBhvr>
                                        <p:cTn id="41" dur="500"/>
                                        <p:tgtEl>
                                          <p:spTgt spid="865394"/>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865414"/>
                                        </p:tgtEl>
                                        <p:attrNameLst>
                                          <p:attrName>style.visibility</p:attrName>
                                        </p:attrNameLst>
                                      </p:cBhvr>
                                      <p:to>
                                        <p:strVal val="visible"/>
                                      </p:to>
                                    </p:set>
                                    <p:animEffect transition="in" filter="box(in)">
                                      <p:cBhvr>
                                        <p:cTn id="44" dur="500"/>
                                        <p:tgtEl>
                                          <p:spTgt spid="865414"/>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nodeType="clickEffect">
                                  <p:stCondLst>
                                    <p:cond delay="0"/>
                                  </p:stCondLst>
                                  <p:childTnLst>
                                    <p:set>
                                      <p:cBhvr>
                                        <p:cTn id="48" dur="1" fill="hold">
                                          <p:stCondLst>
                                            <p:cond delay="0"/>
                                          </p:stCondLst>
                                        </p:cTn>
                                        <p:tgtEl>
                                          <p:spTgt spid="865379"/>
                                        </p:tgtEl>
                                        <p:attrNameLst>
                                          <p:attrName>style.visibility</p:attrName>
                                        </p:attrNameLst>
                                      </p:cBhvr>
                                      <p:to>
                                        <p:strVal val="visible"/>
                                      </p:to>
                                    </p:set>
                                    <p:animEffect transition="in" filter="box(in)">
                                      <p:cBhvr>
                                        <p:cTn id="49" dur="500"/>
                                        <p:tgtEl>
                                          <p:spTgt spid="865379"/>
                                        </p:tgtEl>
                                      </p:cBhvr>
                                    </p:animEffect>
                                  </p:childTnLst>
                                </p:cTn>
                              </p:par>
                              <p:par>
                                <p:cTn id="50" presetID="4" presetClass="entr" presetSubtype="16" fill="hold" nodeType="withEffect">
                                  <p:stCondLst>
                                    <p:cond delay="0"/>
                                  </p:stCondLst>
                                  <p:childTnLst>
                                    <p:set>
                                      <p:cBhvr>
                                        <p:cTn id="51" dur="1" fill="hold">
                                          <p:stCondLst>
                                            <p:cond delay="0"/>
                                          </p:stCondLst>
                                        </p:cTn>
                                        <p:tgtEl>
                                          <p:spTgt spid="865449"/>
                                        </p:tgtEl>
                                        <p:attrNameLst>
                                          <p:attrName>style.visibility</p:attrName>
                                        </p:attrNameLst>
                                      </p:cBhvr>
                                      <p:to>
                                        <p:strVal val="visible"/>
                                      </p:to>
                                    </p:set>
                                    <p:animEffect transition="in" filter="box(in)">
                                      <p:cBhvr>
                                        <p:cTn id="52" dur="500"/>
                                        <p:tgtEl>
                                          <p:spTgt spid="865449"/>
                                        </p:tgtEl>
                                      </p:cBhvr>
                                    </p:animEffect>
                                  </p:childTnLst>
                                </p:cTn>
                              </p:par>
                              <p:par>
                                <p:cTn id="53" presetID="4" presetClass="entr" presetSubtype="16" fill="hold" grpId="0" nodeType="withEffect">
                                  <p:stCondLst>
                                    <p:cond delay="0"/>
                                  </p:stCondLst>
                                  <p:childTnLst>
                                    <p:set>
                                      <p:cBhvr>
                                        <p:cTn id="54" dur="1" fill="hold">
                                          <p:stCondLst>
                                            <p:cond delay="0"/>
                                          </p:stCondLst>
                                        </p:cTn>
                                        <p:tgtEl>
                                          <p:spTgt spid="865413"/>
                                        </p:tgtEl>
                                        <p:attrNameLst>
                                          <p:attrName>style.visibility</p:attrName>
                                        </p:attrNameLst>
                                      </p:cBhvr>
                                      <p:to>
                                        <p:strVal val="visible"/>
                                      </p:to>
                                    </p:set>
                                    <p:animEffect transition="in" filter="box(in)">
                                      <p:cBhvr>
                                        <p:cTn id="55" dur="500"/>
                                        <p:tgtEl>
                                          <p:spTgt spid="865413"/>
                                        </p:tgtEl>
                                      </p:cBhvr>
                                    </p:animEffect>
                                  </p:childTnLst>
                                </p:cTn>
                              </p:par>
                              <p:par>
                                <p:cTn id="56" presetID="4" presetClass="entr" presetSubtype="16" fill="hold" grpId="0" nodeType="withEffect">
                                  <p:stCondLst>
                                    <p:cond delay="0"/>
                                  </p:stCondLst>
                                  <p:childTnLst>
                                    <p:set>
                                      <p:cBhvr>
                                        <p:cTn id="57" dur="1" fill="hold">
                                          <p:stCondLst>
                                            <p:cond delay="0"/>
                                          </p:stCondLst>
                                        </p:cTn>
                                        <p:tgtEl>
                                          <p:spTgt spid="865415"/>
                                        </p:tgtEl>
                                        <p:attrNameLst>
                                          <p:attrName>style.visibility</p:attrName>
                                        </p:attrNameLst>
                                      </p:cBhvr>
                                      <p:to>
                                        <p:strVal val="visible"/>
                                      </p:to>
                                    </p:set>
                                    <p:animEffect transition="in" filter="box(in)">
                                      <p:cBhvr>
                                        <p:cTn id="58" dur="500"/>
                                        <p:tgtEl>
                                          <p:spTgt spid="865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5346" grpId="0"/>
      <p:bldP spid="865375" grpId="0"/>
      <p:bldP spid="865376" grpId="0"/>
      <p:bldP spid="865377" grpId="0"/>
      <p:bldP spid="865394" grpId="0"/>
      <p:bldP spid="865413" grpId="0"/>
      <p:bldP spid="865414" grpId="0"/>
      <p:bldP spid="8654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282" name="标题 865281"/>
          <p:cNvSpPr>
            <a:spLocks noGrp="1"/>
          </p:cNvSpPr>
          <p:nvPr>
            <p:ph type="title"/>
          </p:nvPr>
        </p:nvSpPr>
        <p:spPr/>
        <p:txBody>
          <a:bodyPr/>
          <a:lstStyle/>
          <a:p>
            <a:r>
              <a:rPr lang="zh-CN" altLang="en-US" noProof="1">
                <a:sym typeface="+mn-ea"/>
              </a:rPr>
              <a:t>SET DEFAULT方式</a:t>
            </a:r>
            <a:endParaRPr lang="zh-CN" altLang="en-US" noProof="1"/>
          </a:p>
        </p:txBody>
      </p:sp>
      <p:sp>
        <p:nvSpPr>
          <p:cNvPr id="80898" name="文本占位符 865282"/>
          <p:cNvSpPr>
            <a:spLocks noGrp="1"/>
          </p:cNvSpPr>
          <p:nvPr>
            <p:ph idx="1"/>
          </p:nvPr>
        </p:nvSpPr>
        <p:spPr/>
        <p:txBody>
          <a:bodyPr/>
          <a:lstStyle/>
          <a:p>
            <a:pPr lvl="1"/>
            <a:r>
              <a:rPr lang="en-US" altLang="zh-CN" dirty="0">
                <a:solidFill>
                  <a:srgbClr val="C00000"/>
                </a:solidFill>
              </a:rPr>
              <a:t>SET DEFAULT</a:t>
            </a:r>
            <a:r>
              <a:rPr lang="zh-CN" altLang="en-US" dirty="0">
                <a:solidFill>
                  <a:srgbClr val="C00000"/>
                </a:solidFill>
              </a:rPr>
              <a:t>方式示例：</a:t>
            </a:r>
            <a:r>
              <a:rPr lang="zh-CN" altLang="en-US" dirty="0"/>
              <a:t>主码值被删除</a:t>
            </a:r>
            <a:r>
              <a:rPr lang="en-US" altLang="zh-CN" dirty="0"/>
              <a:t>/</a:t>
            </a:r>
            <a:r>
              <a:rPr lang="zh-CN" altLang="en-US" dirty="0"/>
              <a:t>更新时，将对应的外码值设为默认值，例如班号的默认值是</a:t>
            </a:r>
            <a:r>
              <a:rPr lang="en-US" altLang="zh-CN" dirty="0"/>
              <a:t>C0</a:t>
            </a:r>
          </a:p>
        </p:txBody>
      </p:sp>
      <p:graphicFrame>
        <p:nvGraphicFramePr>
          <p:cNvPr id="865453" name="表格 865452"/>
          <p:cNvGraphicFramePr/>
          <p:nvPr>
            <p:custDataLst>
              <p:tags r:id="rId1"/>
            </p:custDataLst>
          </p:nvPr>
        </p:nvGraphicFramePr>
        <p:xfrm>
          <a:off x="5275580" y="2438400"/>
          <a:ext cx="1727200" cy="1588820"/>
        </p:xfrm>
        <a:graphic>
          <a:graphicData uri="http://schemas.openxmlformats.org/drawingml/2006/table">
            <a:tbl>
              <a:tblPr/>
              <a:tblGrid>
                <a:gridCol w="863600">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tblGrid>
              <a:tr h="370840">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班号</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名称</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474980">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200" dirty="0">
                          <a:sym typeface="+mn-ea"/>
                        </a:rPr>
                        <a:t>C0</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a:latin typeface="Helvetica" pitchFamily="34" charset="0"/>
                        </a:rPr>
                        <a:t>未分班</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0840">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C2</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2</a:t>
                      </a:r>
                      <a:r>
                        <a:rPr lang="zh-CN" altLang="en-US" dirty="0"/>
                        <a:t>班</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0840">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865450" name="表格 865449"/>
          <p:cNvGraphicFramePr/>
          <p:nvPr/>
        </p:nvGraphicFramePr>
        <p:xfrm>
          <a:off x="5118100" y="4648200"/>
          <a:ext cx="1879600" cy="18564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班号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S21</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小王</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小李</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0942" name="文本框 865326"/>
          <p:cNvSpPr txBox="1"/>
          <p:nvPr/>
        </p:nvSpPr>
        <p:spPr>
          <a:xfrm>
            <a:off x="5409566" y="1876426"/>
            <a:ext cx="1313815" cy="460375"/>
          </a:xfrm>
          <a:prstGeom prst="rect">
            <a:avLst/>
          </a:prstGeom>
          <a:noFill/>
          <a:ln w="9525">
            <a:noFill/>
          </a:ln>
        </p:spPr>
        <p:txBody>
          <a:bodyPr wrap="square"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班级</a:t>
            </a:r>
            <a:endParaRPr lang="zh-CN" altLang="en-US" sz="2400" b="1">
              <a:latin typeface="Tahoma" panose="020B0604030504040204" pitchFamily="34" charset="0"/>
              <a:ea typeface="宋体" panose="02010600030101010101" pitchFamily="2" charset="-122"/>
            </a:endParaRPr>
          </a:p>
        </p:txBody>
      </p:sp>
      <p:sp>
        <p:nvSpPr>
          <p:cNvPr id="865328" name="右箭头 865327"/>
          <p:cNvSpPr/>
          <p:nvPr/>
        </p:nvSpPr>
        <p:spPr>
          <a:xfrm>
            <a:off x="7110730" y="3098800"/>
            <a:ext cx="1601470" cy="457200"/>
          </a:xfrm>
          <a:prstGeom prst="rightArrow">
            <a:avLst>
              <a:gd name="adj1" fmla="val 50000"/>
              <a:gd name="adj2" fmla="val 96402"/>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865452" name="表格 865451"/>
          <p:cNvGraphicFramePr/>
          <p:nvPr/>
        </p:nvGraphicFramePr>
        <p:xfrm>
          <a:off x="8915400" y="2552700"/>
          <a:ext cx="1219200" cy="148512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班号</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名称</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C3</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2</a:t>
                      </a:r>
                      <a:r>
                        <a:rPr lang="zh-CN" altLang="en-US" dirty="0"/>
                        <a:t>班</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65346" name="文本框 865345"/>
          <p:cNvSpPr txBox="1"/>
          <p:nvPr/>
        </p:nvSpPr>
        <p:spPr>
          <a:xfrm>
            <a:off x="9001125" y="20828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班级</a:t>
            </a:r>
            <a:endParaRPr lang="zh-CN" altLang="en-US" sz="2400" b="1">
              <a:latin typeface="Tahoma" panose="020B0604030504040204" pitchFamily="34" charset="0"/>
              <a:ea typeface="宋体" panose="02010600030101010101" pitchFamily="2" charset="-122"/>
            </a:endParaRPr>
          </a:p>
        </p:txBody>
      </p:sp>
      <p:sp>
        <p:nvSpPr>
          <p:cNvPr id="80962" name="文本框 865346"/>
          <p:cNvSpPr txBox="1"/>
          <p:nvPr/>
        </p:nvSpPr>
        <p:spPr>
          <a:xfrm>
            <a:off x="5521325" y="41275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endParaRPr lang="zh-CN" altLang="en-US" sz="2400" b="1">
              <a:latin typeface="Tahoma" panose="020B0604030504040204" pitchFamily="34" charset="0"/>
              <a:ea typeface="宋体" panose="02010600030101010101" pitchFamily="2" charset="-122"/>
            </a:endParaRPr>
          </a:p>
        </p:txBody>
      </p:sp>
      <p:sp>
        <p:nvSpPr>
          <p:cNvPr id="865348" name="右箭头 865347"/>
          <p:cNvSpPr/>
          <p:nvPr/>
        </p:nvSpPr>
        <p:spPr>
          <a:xfrm>
            <a:off x="7200900" y="5346700"/>
            <a:ext cx="1206500" cy="457200"/>
          </a:xfrm>
          <a:prstGeom prst="rightArrow">
            <a:avLst>
              <a:gd name="adj1" fmla="val 50000"/>
              <a:gd name="adj2" fmla="val 65886"/>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865451" name="表格 865450"/>
          <p:cNvGraphicFramePr/>
          <p:nvPr>
            <p:custDataLst>
              <p:tags r:id="rId2"/>
            </p:custDataLst>
          </p:nvPr>
        </p:nvGraphicFramePr>
        <p:xfrm>
          <a:off x="8661400" y="4635500"/>
          <a:ext cx="1879600" cy="18564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班号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200" dirty="0">
                          <a:sym typeface="+mn-ea"/>
                        </a:rPr>
                        <a:t>C0</a:t>
                      </a:r>
                      <a:endParaRPr lang="zh-CN" altLang="en-US">
                        <a:solidFill>
                          <a:srgbClr val="00E444"/>
                        </a:solidFill>
                      </a:endParaRP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S21</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小王</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200" dirty="0">
                          <a:sym typeface="+mn-ea"/>
                        </a:rPr>
                        <a:t>C0</a:t>
                      </a:r>
                      <a:endParaRPr lang="zh-CN" altLang="en-US">
                        <a:solidFill>
                          <a:srgbClr val="00E444"/>
                        </a:solidFill>
                      </a:endParaRP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小李</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65375" name="文本框 865374"/>
          <p:cNvSpPr txBox="1"/>
          <p:nvPr/>
        </p:nvSpPr>
        <p:spPr>
          <a:xfrm>
            <a:off x="9064625" y="41148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endParaRPr lang="zh-CN" altLang="en-US" sz="2400" b="1">
              <a:latin typeface="Tahoma" panose="020B0604030504040204" pitchFamily="34" charset="0"/>
              <a:ea typeface="宋体" panose="02010600030101010101" pitchFamily="2" charset="-122"/>
            </a:endParaRPr>
          </a:p>
        </p:txBody>
      </p:sp>
      <p:sp>
        <p:nvSpPr>
          <p:cNvPr id="865376" name="矩形 865375"/>
          <p:cNvSpPr/>
          <p:nvPr/>
        </p:nvSpPr>
        <p:spPr>
          <a:xfrm>
            <a:off x="6994525" y="2459039"/>
            <a:ext cx="1589088" cy="427037"/>
          </a:xfrm>
          <a:prstGeom prst="rect">
            <a:avLst/>
          </a:prstGeom>
          <a:noFill/>
          <a:ln w="9525">
            <a:noFill/>
          </a:ln>
        </p:spPr>
        <p:txBody>
          <a:bodyPr wrap="none" anchor="t" anchorCtr="0">
            <a:spAutoFit/>
          </a:bodyPr>
          <a:lstStyle/>
          <a:p>
            <a:pP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更新主码值</a:t>
            </a:r>
          </a:p>
        </p:txBody>
      </p:sp>
      <p:sp>
        <p:nvSpPr>
          <p:cNvPr id="865377" name="矩形 865376"/>
          <p:cNvSpPr/>
          <p:nvPr/>
        </p:nvSpPr>
        <p:spPr>
          <a:xfrm>
            <a:off x="6954679" y="4491038"/>
            <a:ext cx="1586230" cy="768350"/>
          </a:xfrm>
          <a:prstGeom prst="rect">
            <a:avLst/>
          </a:prstGeom>
          <a:noFill/>
          <a:ln w="9525">
            <a:noFill/>
          </a:ln>
        </p:spPr>
        <p:txBody>
          <a:bodyPr wrap="none" anchor="t" anchorCtr="0">
            <a:spAutoFit/>
          </a:bodyPr>
          <a:lstStyle/>
          <a:p>
            <a:pPr algn="ct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外码值</a:t>
            </a:r>
            <a:br>
              <a:rPr lang="zh-CN" altLang="en-US" sz="2200" b="1" dirty="0">
                <a:solidFill>
                  <a:srgbClr val="00E444"/>
                </a:solidFill>
                <a:latin typeface="Helvetica" pitchFamily="34" charset="0"/>
                <a:ea typeface="宋体" panose="02010600030101010101" pitchFamily="2" charset="-122"/>
              </a:rPr>
            </a:br>
            <a:r>
              <a:rPr lang="zh-CN" altLang="en-US" sz="2200" b="1" dirty="0">
                <a:solidFill>
                  <a:srgbClr val="00E444"/>
                </a:solidFill>
                <a:latin typeface="Helvetica" pitchFamily="34" charset="0"/>
                <a:ea typeface="宋体" panose="02010600030101010101" pitchFamily="2" charset="-122"/>
              </a:rPr>
              <a:t>设为</a:t>
            </a:r>
            <a:r>
              <a:rPr lang="zh-CN" altLang="en-US" sz="2200" b="1" dirty="0">
                <a:solidFill>
                  <a:srgbClr val="00E444"/>
                </a:solidFill>
                <a:latin typeface="Helvetica" pitchFamily="34" charset="0"/>
                <a:sym typeface="+mn-ea"/>
              </a:rPr>
              <a:t>默认值</a:t>
            </a:r>
            <a:endParaRPr lang="zh-CN" altLang="en-US" sz="2200" b="1" dirty="0">
              <a:solidFill>
                <a:srgbClr val="00E444"/>
              </a:solidFill>
              <a:latin typeface="Helvetica" pitchFamily="34" charset="0"/>
              <a:ea typeface="宋体" panose="02010600030101010101" pitchFamily="2" charset="-122"/>
            </a:endParaRPr>
          </a:p>
        </p:txBody>
      </p:sp>
      <p:sp>
        <p:nvSpPr>
          <p:cNvPr id="865378" name="右箭头 865377"/>
          <p:cNvSpPr/>
          <p:nvPr/>
        </p:nvSpPr>
        <p:spPr>
          <a:xfrm rot="10800000">
            <a:off x="3467100" y="3200400"/>
            <a:ext cx="1765300" cy="457200"/>
          </a:xfrm>
          <a:prstGeom prst="rightArrow">
            <a:avLst>
              <a:gd name="adj1" fmla="val 50000"/>
              <a:gd name="adj2" fmla="val 96402"/>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865379" name="右箭头 865378"/>
          <p:cNvSpPr/>
          <p:nvPr/>
        </p:nvSpPr>
        <p:spPr>
          <a:xfrm rot="10800000">
            <a:off x="3708400" y="5270500"/>
            <a:ext cx="1206500" cy="457200"/>
          </a:xfrm>
          <a:prstGeom prst="rightArrow">
            <a:avLst>
              <a:gd name="adj1" fmla="val 50000"/>
              <a:gd name="adj2" fmla="val 65886"/>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865443" name="表格 865442"/>
          <p:cNvGraphicFramePr/>
          <p:nvPr/>
        </p:nvGraphicFramePr>
        <p:xfrm>
          <a:off x="2057400" y="2578100"/>
          <a:ext cx="1219200" cy="111384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班号</a:t>
                      </a:r>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名称</a:t>
                      </a:r>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65394" name="文本框 865393"/>
          <p:cNvSpPr txBox="1"/>
          <p:nvPr/>
        </p:nvSpPr>
        <p:spPr>
          <a:xfrm>
            <a:off x="2143125" y="21082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班级</a:t>
            </a:r>
            <a:endParaRPr lang="zh-CN" altLang="en-US" sz="2400" b="1">
              <a:latin typeface="Tahoma" panose="020B0604030504040204" pitchFamily="34" charset="0"/>
              <a:ea typeface="宋体" panose="02010600030101010101" pitchFamily="2" charset="-122"/>
            </a:endParaRPr>
          </a:p>
        </p:txBody>
      </p:sp>
      <p:graphicFrame>
        <p:nvGraphicFramePr>
          <p:cNvPr id="865449" name="表格 865448"/>
          <p:cNvGraphicFramePr/>
          <p:nvPr>
            <p:custDataLst>
              <p:tags r:id="rId3"/>
            </p:custDataLst>
          </p:nvPr>
        </p:nvGraphicFramePr>
        <p:xfrm>
          <a:off x="1714500" y="4673600"/>
          <a:ext cx="1879600" cy="18564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班号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200" dirty="0">
                          <a:sym typeface="+mn-ea"/>
                        </a:rPr>
                        <a:t>C0</a:t>
                      </a:r>
                      <a:endParaRPr lang="zh-CN" altLang="en-US">
                        <a:solidFill>
                          <a:srgbClr val="00E444"/>
                        </a:solidFill>
                      </a:endParaRP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S21</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小王</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200" dirty="0">
                          <a:sym typeface="+mn-ea"/>
                        </a:rPr>
                        <a:t>C0</a:t>
                      </a:r>
                      <a:endParaRPr lang="zh-CN" altLang="en-US">
                        <a:solidFill>
                          <a:srgbClr val="00E444"/>
                        </a:solidFill>
                      </a:endParaRP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S22</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小李</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65413" name="文本框 865412"/>
          <p:cNvSpPr txBox="1"/>
          <p:nvPr/>
        </p:nvSpPr>
        <p:spPr>
          <a:xfrm>
            <a:off x="2117725" y="41529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endParaRPr lang="zh-CN" altLang="en-US" sz="2400" b="1">
              <a:latin typeface="Tahoma" panose="020B0604030504040204" pitchFamily="34" charset="0"/>
              <a:ea typeface="宋体" panose="02010600030101010101" pitchFamily="2" charset="-122"/>
            </a:endParaRPr>
          </a:p>
        </p:txBody>
      </p:sp>
      <p:sp>
        <p:nvSpPr>
          <p:cNvPr id="865414" name="矩形 865413"/>
          <p:cNvSpPr/>
          <p:nvPr/>
        </p:nvSpPr>
        <p:spPr>
          <a:xfrm>
            <a:off x="3641725" y="2484439"/>
            <a:ext cx="1589088" cy="427037"/>
          </a:xfrm>
          <a:prstGeom prst="rect">
            <a:avLst/>
          </a:prstGeom>
          <a:noFill/>
          <a:ln w="9525">
            <a:noFill/>
          </a:ln>
        </p:spPr>
        <p:txBody>
          <a:bodyPr wrap="none" anchor="t" anchorCtr="0">
            <a:spAutoFit/>
          </a:bodyPr>
          <a:lstStyle/>
          <a:p>
            <a:pP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删除主码值</a:t>
            </a:r>
          </a:p>
        </p:txBody>
      </p:sp>
      <p:sp>
        <p:nvSpPr>
          <p:cNvPr id="865415" name="矩形 865414"/>
          <p:cNvSpPr/>
          <p:nvPr/>
        </p:nvSpPr>
        <p:spPr>
          <a:xfrm>
            <a:off x="3593332" y="4503739"/>
            <a:ext cx="1603324" cy="769441"/>
          </a:xfrm>
          <a:prstGeom prst="rect">
            <a:avLst/>
          </a:prstGeom>
          <a:noFill/>
          <a:ln w="9525">
            <a:noFill/>
          </a:ln>
        </p:spPr>
        <p:txBody>
          <a:bodyPr wrap="none" anchor="t" anchorCtr="0">
            <a:spAutoFit/>
          </a:bodyPr>
          <a:lstStyle/>
          <a:p>
            <a:pPr algn="ct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外码值</a:t>
            </a:r>
            <a:br>
              <a:rPr lang="zh-CN" altLang="en-US" sz="2200" b="1" dirty="0">
                <a:solidFill>
                  <a:srgbClr val="00E444"/>
                </a:solidFill>
                <a:latin typeface="Helvetica" pitchFamily="34" charset="0"/>
                <a:ea typeface="宋体" panose="02010600030101010101" pitchFamily="2" charset="-122"/>
              </a:rPr>
            </a:br>
            <a:r>
              <a:rPr lang="zh-CN" altLang="en-US" sz="2200" b="1" dirty="0">
                <a:solidFill>
                  <a:srgbClr val="00E444"/>
                </a:solidFill>
                <a:latin typeface="Helvetica" pitchFamily="34" charset="0"/>
                <a:ea typeface="宋体" panose="02010600030101010101" pitchFamily="2" charset="-122"/>
              </a:rPr>
              <a:t>设为默认值</a:t>
            </a:r>
          </a:p>
        </p:txBody>
      </p:sp>
    </p:spTree>
    <p:extLst>
      <p:ext uri="{BB962C8B-B14F-4D97-AF65-F5344CB8AC3E}">
        <p14:creationId xmlns:p14="http://schemas.microsoft.com/office/powerpoint/2010/main" val="36033090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65328"/>
                                        </p:tgtEl>
                                        <p:attrNameLst>
                                          <p:attrName>style.visibility</p:attrName>
                                        </p:attrNameLst>
                                      </p:cBhvr>
                                      <p:to>
                                        <p:strVal val="visible"/>
                                      </p:to>
                                    </p:set>
                                    <p:animEffect transition="in" filter="box(in)">
                                      <p:cBhvr>
                                        <p:cTn id="7" dur="500"/>
                                        <p:tgtEl>
                                          <p:spTgt spid="865328"/>
                                        </p:tgtEl>
                                      </p:cBhvr>
                                    </p:animEffect>
                                  </p:childTnLst>
                                </p:cTn>
                              </p:par>
                              <p:par>
                                <p:cTn id="8" presetID="4" presetClass="entr" presetSubtype="16" fill="hold" nodeType="withEffect">
                                  <p:stCondLst>
                                    <p:cond delay="0"/>
                                  </p:stCondLst>
                                  <p:childTnLst>
                                    <p:set>
                                      <p:cBhvr>
                                        <p:cTn id="9" dur="1" fill="hold">
                                          <p:stCondLst>
                                            <p:cond delay="0"/>
                                          </p:stCondLst>
                                        </p:cTn>
                                        <p:tgtEl>
                                          <p:spTgt spid="865452"/>
                                        </p:tgtEl>
                                        <p:attrNameLst>
                                          <p:attrName>style.visibility</p:attrName>
                                        </p:attrNameLst>
                                      </p:cBhvr>
                                      <p:to>
                                        <p:strVal val="visible"/>
                                      </p:to>
                                    </p:set>
                                    <p:animEffect transition="in" filter="box(in)">
                                      <p:cBhvr>
                                        <p:cTn id="10" dur="500"/>
                                        <p:tgtEl>
                                          <p:spTgt spid="865452"/>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865346"/>
                                        </p:tgtEl>
                                        <p:attrNameLst>
                                          <p:attrName>style.visibility</p:attrName>
                                        </p:attrNameLst>
                                      </p:cBhvr>
                                      <p:to>
                                        <p:strVal val="visible"/>
                                      </p:to>
                                    </p:set>
                                    <p:animEffect transition="in" filter="box(in)">
                                      <p:cBhvr>
                                        <p:cTn id="13" dur="500"/>
                                        <p:tgtEl>
                                          <p:spTgt spid="865346"/>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65376"/>
                                        </p:tgtEl>
                                        <p:attrNameLst>
                                          <p:attrName>style.visibility</p:attrName>
                                        </p:attrNameLst>
                                      </p:cBhvr>
                                      <p:to>
                                        <p:strVal val="visible"/>
                                      </p:to>
                                    </p:set>
                                    <p:animEffect transition="in" filter="box(in)">
                                      <p:cBhvr>
                                        <p:cTn id="16" dur="500"/>
                                        <p:tgtEl>
                                          <p:spTgt spid="865376"/>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865348"/>
                                        </p:tgtEl>
                                        <p:attrNameLst>
                                          <p:attrName>style.visibility</p:attrName>
                                        </p:attrNameLst>
                                      </p:cBhvr>
                                      <p:to>
                                        <p:strVal val="visible"/>
                                      </p:to>
                                    </p:set>
                                    <p:animEffect transition="in" filter="box(in)">
                                      <p:cBhvr>
                                        <p:cTn id="21" dur="500"/>
                                        <p:tgtEl>
                                          <p:spTgt spid="865348"/>
                                        </p:tgtEl>
                                      </p:cBhvr>
                                    </p:animEffect>
                                  </p:childTnLst>
                                </p:cTn>
                              </p:par>
                              <p:par>
                                <p:cTn id="22" presetID="4" presetClass="entr" presetSubtype="16" fill="hold" nodeType="withEffect">
                                  <p:stCondLst>
                                    <p:cond delay="0"/>
                                  </p:stCondLst>
                                  <p:childTnLst>
                                    <p:set>
                                      <p:cBhvr>
                                        <p:cTn id="23" dur="1" fill="hold">
                                          <p:stCondLst>
                                            <p:cond delay="0"/>
                                          </p:stCondLst>
                                        </p:cTn>
                                        <p:tgtEl>
                                          <p:spTgt spid="865451"/>
                                        </p:tgtEl>
                                        <p:attrNameLst>
                                          <p:attrName>style.visibility</p:attrName>
                                        </p:attrNameLst>
                                      </p:cBhvr>
                                      <p:to>
                                        <p:strVal val="visible"/>
                                      </p:to>
                                    </p:set>
                                    <p:animEffect transition="in" filter="box(in)">
                                      <p:cBhvr>
                                        <p:cTn id="24" dur="500"/>
                                        <p:tgtEl>
                                          <p:spTgt spid="865451"/>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865375"/>
                                        </p:tgtEl>
                                        <p:attrNameLst>
                                          <p:attrName>style.visibility</p:attrName>
                                        </p:attrNameLst>
                                      </p:cBhvr>
                                      <p:to>
                                        <p:strVal val="visible"/>
                                      </p:to>
                                    </p:set>
                                    <p:animEffect transition="in" filter="box(in)">
                                      <p:cBhvr>
                                        <p:cTn id="27" dur="500"/>
                                        <p:tgtEl>
                                          <p:spTgt spid="865375"/>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865377"/>
                                        </p:tgtEl>
                                        <p:attrNameLst>
                                          <p:attrName>style.visibility</p:attrName>
                                        </p:attrNameLst>
                                      </p:cBhvr>
                                      <p:to>
                                        <p:strVal val="visible"/>
                                      </p:to>
                                    </p:set>
                                    <p:animEffect transition="in" filter="box(in)">
                                      <p:cBhvr>
                                        <p:cTn id="30" dur="500"/>
                                        <p:tgtEl>
                                          <p:spTgt spid="865377"/>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865378"/>
                                        </p:tgtEl>
                                        <p:attrNameLst>
                                          <p:attrName>style.visibility</p:attrName>
                                        </p:attrNameLst>
                                      </p:cBhvr>
                                      <p:to>
                                        <p:strVal val="visible"/>
                                      </p:to>
                                    </p:set>
                                    <p:animEffect transition="in" filter="box(in)">
                                      <p:cBhvr>
                                        <p:cTn id="35" dur="500"/>
                                        <p:tgtEl>
                                          <p:spTgt spid="865378"/>
                                        </p:tgtEl>
                                      </p:cBhvr>
                                    </p:animEffect>
                                  </p:childTnLst>
                                </p:cTn>
                              </p:par>
                              <p:par>
                                <p:cTn id="36" presetID="4" presetClass="entr" presetSubtype="16" fill="hold" nodeType="withEffect">
                                  <p:stCondLst>
                                    <p:cond delay="0"/>
                                  </p:stCondLst>
                                  <p:childTnLst>
                                    <p:set>
                                      <p:cBhvr>
                                        <p:cTn id="37" dur="1" fill="hold">
                                          <p:stCondLst>
                                            <p:cond delay="0"/>
                                          </p:stCondLst>
                                        </p:cTn>
                                        <p:tgtEl>
                                          <p:spTgt spid="865443"/>
                                        </p:tgtEl>
                                        <p:attrNameLst>
                                          <p:attrName>style.visibility</p:attrName>
                                        </p:attrNameLst>
                                      </p:cBhvr>
                                      <p:to>
                                        <p:strVal val="visible"/>
                                      </p:to>
                                    </p:set>
                                    <p:animEffect transition="in" filter="box(in)">
                                      <p:cBhvr>
                                        <p:cTn id="38" dur="500"/>
                                        <p:tgtEl>
                                          <p:spTgt spid="865443"/>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865394"/>
                                        </p:tgtEl>
                                        <p:attrNameLst>
                                          <p:attrName>style.visibility</p:attrName>
                                        </p:attrNameLst>
                                      </p:cBhvr>
                                      <p:to>
                                        <p:strVal val="visible"/>
                                      </p:to>
                                    </p:set>
                                    <p:animEffect transition="in" filter="box(in)">
                                      <p:cBhvr>
                                        <p:cTn id="41" dur="500"/>
                                        <p:tgtEl>
                                          <p:spTgt spid="865394"/>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865414"/>
                                        </p:tgtEl>
                                        <p:attrNameLst>
                                          <p:attrName>style.visibility</p:attrName>
                                        </p:attrNameLst>
                                      </p:cBhvr>
                                      <p:to>
                                        <p:strVal val="visible"/>
                                      </p:to>
                                    </p:set>
                                    <p:animEffect transition="in" filter="box(in)">
                                      <p:cBhvr>
                                        <p:cTn id="44" dur="500"/>
                                        <p:tgtEl>
                                          <p:spTgt spid="865414"/>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nodeType="clickEffect">
                                  <p:stCondLst>
                                    <p:cond delay="0"/>
                                  </p:stCondLst>
                                  <p:childTnLst>
                                    <p:set>
                                      <p:cBhvr>
                                        <p:cTn id="48" dur="1" fill="hold">
                                          <p:stCondLst>
                                            <p:cond delay="0"/>
                                          </p:stCondLst>
                                        </p:cTn>
                                        <p:tgtEl>
                                          <p:spTgt spid="865379"/>
                                        </p:tgtEl>
                                        <p:attrNameLst>
                                          <p:attrName>style.visibility</p:attrName>
                                        </p:attrNameLst>
                                      </p:cBhvr>
                                      <p:to>
                                        <p:strVal val="visible"/>
                                      </p:to>
                                    </p:set>
                                    <p:animEffect transition="in" filter="box(in)">
                                      <p:cBhvr>
                                        <p:cTn id="49" dur="500"/>
                                        <p:tgtEl>
                                          <p:spTgt spid="865379"/>
                                        </p:tgtEl>
                                      </p:cBhvr>
                                    </p:animEffect>
                                  </p:childTnLst>
                                </p:cTn>
                              </p:par>
                              <p:par>
                                <p:cTn id="50" presetID="4" presetClass="entr" presetSubtype="16" fill="hold" nodeType="withEffect">
                                  <p:stCondLst>
                                    <p:cond delay="0"/>
                                  </p:stCondLst>
                                  <p:childTnLst>
                                    <p:set>
                                      <p:cBhvr>
                                        <p:cTn id="51" dur="1" fill="hold">
                                          <p:stCondLst>
                                            <p:cond delay="0"/>
                                          </p:stCondLst>
                                        </p:cTn>
                                        <p:tgtEl>
                                          <p:spTgt spid="865449"/>
                                        </p:tgtEl>
                                        <p:attrNameLst>
                                          <p:attrName>style.visibility</p:attrName>
                                        </p:attrNameLst>
                                      </p:cBhvr>
                                      <p:to>
                                        <p:strVal val="visible"/>
                                      </p:to>
                                    </p:set>
                                    <p:animEffect transition="in" filter="box(in)">
                                      <p:cBhvr>
                                        <p:cTn id="52" dur="500"/>
                                        <p:tgtEl>
                                          <p:spTgt spid="865449"/>
                                        </p:tgtEl>
                                      </p:cBhvr>
                                    </p:animEffect>
                                  </p:childTnLst>
                                </p:cTn>
                              </p:par>
                              <p:par>
                                <p:cTn id="53" presetID="4" presetClass="entr" presetSubtype="16" fill="hold" grpId="0" nodeType="withEffect">
                                  <p:stCondLst>
                                    <p:cond delay="0"/>
                                  </p:stCondLst>
                                  <p:childTnLst>
                                    <p:set>
                                      <p:cBhvr>
                                        <p:cTn id="54" dur="1" fill="hold">
                                          <p:stCondLst>
                                            <p:cond delay="0"/>
                                          </p:stCondLst>
                                        </p:cTn>
                                        <p:tgtEl>
                                          <p:spTgt spid="865413"/>
                                        </p:tgtEl>
                                        <p:attrNameLst>
                                          <p:attrName>style.visibility</p:attrName>
                                        </p:attrNameLst>
                                      </p:cBhvr>
                                      <p:to>
                                        <p:strVal val="visible"/>
                                      </p:to>
                                    </p:set>
                                    <p:animEffect transition="in" filter="box(in)">
                                      <p:cBhvr>
                                        <p:cTn id="55" dur="500"/>
                                        <p:tgtEl>
                                          <p:spTgt spid="865413"/>
                                        </p:tgtEl>
                                      </p:cBhvr>
                                    </p:animEffect>
                                  </p:childTnLst>
                                </p:cTn>
                              </p:par>
                              <p:par>
                                <p:cTn id="56" presetID="4" presetClass="entr" presetSubtype="16" fill="hold" grpId="0" nodeType="withEffect">
                                  <p:stCondLst>
                                    <p:cond delay="0"/>
                                  </p:stCondLst>
                                  <p:childTnLst>
                                    <p:set>
                                      <p:cBhvr>
                                        <p:cTn id="57" dur="1" fill="hold">
                                          <p:stCondLst>
                                            <p:cond delay="0"/>
                                          </p:stCondLst>
                                        </p:cTn>
                                        <p:tgtEl>
                                          <p:spTgt spid="865415"/>
                                        </p:tgtEl>
                                        <p:attrNameLst>
                                          <p:attrName>style.visibility</p:attrName>
                                        </p:attrNameLst>
                                      </p:cBhvr>
                                      <p:to>
                                        <p:strVal val="visible"/>
                                      </p:to>
                                    </p:set>
                                    <p:animEffect transition="in" filter="box(in)">
                                      <p:cBhvr>
                                        <p:cTn id="58" dur="500"/>
                                        <p:tgtEl>
                                          <p:spTgt spid="865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5346" grpId="0"/>
      <p:bldP spid="865375" grpId="0"/>
      <p:bldP spid="865376" grpId="0"/>
      <p:bldP spid="865377" grpId="0"/>
      <p:bldP spid="865394" grpId="0"/>
      <p:bldP spid="865413" grpId="0"/>
      <p:bldP spid="865414" grpId="0"/>
      <p:bldP spid="8654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标题 866305"/>
          <p:cNvSpPr>
            <a:spLocks noGrp="1"/>
          </p:cNvSpPr>
          <p:nvPr>
            <p:ph type="title"/>
          </p:nvPr>
        </p:nvSpPr>
        <p:spPr/>
        <p:txBody>
          <a:bodyPr/>
          <a:lstStyle/>
          <a:p>
            <a:r>
              <a:rPr lang="zh-CN" altLang="en-US" noProof="1"/>
              <a:t>例子</a:t>
            </a:r>
          </a:p>
        </p:txBody>
      </p:sp>
      <p:sp>
        <p:nvSpPr>
          <p:cNvPr id="866307" name="内容占位符 866306"/>
          <p:cNvSpPr>
            <a:spLocks noGrp="1"/>
          </p:cNvSpPr>
          <p:nvPr>
            <p:ph idx="1"/>
          </p:nvPr>
        </p:nvSpPr>
        <p:spPr/>
        <p:txBody>
          <a:bodyPr>
            <a:normAutofit fontScale="55000" lnSpcReduction="20000"/>
          </a:bodyPr>
          <a:lstStyle/>
          <a:p>
            <a:r>
              <a:rPr lang="zh-CN" altLang="en-US" dirty="0"/>
              <a:t>例：</a:t>
            </a:r>
          </a:p>
          <a:p>
            <a:pPr marL="0" indent="0">
              <a:buNone/>
            </a:pPr>
            <a:r>
              <a:rPr lang="zh-CN" altLang="en-US" dirty="0"/>
              <a:t>　　　</a:t>
            </a:r>
            <a:r>
              <a:rPr lang="en-US" altLang="zh-CN" dirty="0"/>
              <a:t>create  table  </a:t>
            </a:r>
            <a:r>
              <a:rPr lang="zh-CN" altLang="en-US" dirty="0"/>
              <a:t>学生</a:t>
            </a:r>
            <a:br>
              <a:rPr lang="zh-CN" altLang="en-US" dirty="0"/>
            </a:br>
            <a:r>
              <a:rPr lang="zh-CN" altLang="en-US" dirty="0"/>
              <a:t>         </a:t>
            </a:r>
            <a:r>
              <a:rPr lang="en-US" altLang="zh-CN" dirty="0"/>
              <a:t>(  </a:t>
            </a:r>
            <a:r>
              <a:rPr lang="zh-CN" altLang="en-US" dirty="0"/>
              <a:t>　</a:t>
            </a:r>
            <a:endParaRPr lang="en-US" altLang="zh-CN" dirty="0"/>
          </a:p>
          <a:p>
            <a:pPr marL="0" indent="0">
              <a:buNone/>
            </a:pPr>
            <a:r>
              <a:rPr lang="zh-CN" altLang="en-US" dirty="0"/>
              <a:t>               学号  </a:t>
            </a:r>
            <a:r>
              <a:rPr lang="en-US" altLang="zh-CN" dirty="0"/>
              <a:t>VARCHAR (4),</a:t>
            </a:r>
          </a:p>
          <a:p>
            <a:pPr marL="0" indent="0">
              <a:buNone/>
            </a:pPr>
            <a:r>
              <a:rPr lang="zh-CN" altLang="en-US" dirty="0"/>
              <a:t>　　　  　姓名  </a:t>
            </a:r>
            <a:r>
              <a:rPr lang="en-US" altLang="zh-CN" dirty="0"/>
              <a:t>……,</a:t>
            </a:r>
          </a:p>
          <a:p>
            <a:pPr marL="0" indent="0">
              <a:buNone/>
            </a:pPr>
            <a:r>
              <a:rPr lang="zh-CN" altLang="en-US" dirty="0"/>
              <a:t>　　　  　</a:t>
            </a:r>
            <a:r>
              <a:rPr lang="en-US" altLang="zh-CN" dirty="0">
                <a:solidFill>
                  <a:srgbClr val="0000FF"/>
                </a:solidFill>
              </a:rPr>
              <a:t>primary  key  (</a:t>
            </a:r>
            <a:r>
              <a:rPr lang="zh-CN" altLang="en-US" dirty="0">
                <a:solidFill>
                  <a:srgbClr val="0000FF"/>
                </a:solidFill>
              </a:rPr>
              <a:t>学号</a:t>
            </a:r>
            <a:r>
              <a:rPr lang="en-US" altLang="zh-CN" dirty="0">
                <a:solidFill>
                  <a:srgbClr val="0000FF"/>
                </a:solidFill>
              </a:rPr>
              <a:t>),</a:t>
            </a:r>
          </a:p>
          <a:p>
            <a:pPr marL="0" indent="0">
              <a:buNone/>
            </a:pPr>
            <a:r>
              <a:rPr lang="zh-CN" altLang="en-US" dirty="0"/>
              <a:t>　　　  　　</a:t>
            </a:r>
            <a:r>
              <a:rPr lang="en-US" altLang="zh-CN" dirty="0"/>
              <a:t>……</a:t>
            </a:r>
          </a:p>
          <a:p>
            <a:pPr marL="0" indent="0">
              <a:buNone/>
            </a:pPr>
            <a:r>
              <a:rPr lang="zh-CN" altLang="en-US" dirty="0"/>
              <a:t>　　　  </a:t>
            </a:r>
            <a:r>
              <a:rPr lang="en-US" altLang="zh-CN" dirty="0"/>
              <a:t>)</a:t>
            </a:r>
          </a:p>
          <a:p>
            <a:pPr marL="0" indent="0">
              <a:buNone/>
            </a:pPr>
            <a:endParaRPr lang="en-US" altLang="zh-CN" dirty="0"/>
          </a:p>
          <a:p>
            <a:pPr marL="0" indent="0">
              <a:buNone/>
            </a:pPr>
            <a:r>
              <a:rPr lang="zh-CN" altLang="en-US" dirty="0"/>
              <a:t>　　　</a:t>
            </a:r>
            <a:r>
              <a:rPr lang="en-US" altLang="zh-CN" dirty="0"/>
              <a:t>create  table   </a:t>
            </a:r>
            <a:r>
              <a:rPr lang="zh-CN" altLang="en-US" dirty="0"/>
              <a:t>选修</a:t>
            </a:r>
            <a:br>
              <a:rPr lang="zh-CN" altLang="en-US" dirty="0"/>
            </a:br>
            <a:r>
              <a:rPr lang="zh-CN" altLang="en-US" dirty="0"/>
              <a:t>         </a:t>
            </a:r>
            <a:r>
              <a:rPr lang="en-US" altLang="zh-CN" dirty="0"/>
              <a:t>(</a:t>
            </a:r>
            <a:r>
              <a:rPr lang="zh-CN" altLang="en-US" dirty="0"/>
              <a:t>　　</a:t>
            </a:r>
            <a:endParaRPr lang="en-US" altLang="zh-CN" dirty="0"/>
          </a:p>
          <a:p>
            <a:pPr marL="0" indent="0">
              <a:buNone/>
            </a:pPr>
            <a:r>
              <a:rPr lang="zh-CN" altLang="en-US" dirty="0"/>
              <a:t>                学号  </a:t>
            </a:r>
            <a:r>
              <a:rPr lang="en-US" altLang="zh-CN" dirty="0"/>
              <a:t>VARCHAR (4),</a:t>
            </a:r>
            <a:r>
              <a:rPr lang="zh-CN" altLang="en-US" dirty="0"/>
              <a:t> </a:t>
            </a:r>
            <a:r>
              <a:rPr lang="en-US" altLang="zh-CN" dirty="0"/>
              <a:t>……,</a:t>
            </a:r>
          </a:p>
          <a:p>
            <a:pPr marL="0" indent="0">
              <a:buNone/>
            </a:pPr>
            <a:r>
              <a:rPr lang="zh-CN" altLang="en-US" dirty="0"/>
              <a:t>　　　　   </a:t>
            </a:r>
            <a:r>
              <a:rPr lang="en-US" altLang="zh-CN" dirty="0">
                <a:solidFill>
                  <a:srgbClr val="0000FF"/>
                </a:solidFill>
              </a:rPr>
              <a:t>foreign  key  (</a:t>
            </a:r>
            <a:r>
              <a:rPr lang="zh-CN" altLang="en-US" dirty="0">
                <a:solidFill>
                  <a:srgbClr val="0000FF"/>
                </a:solidFill>
              </a:rPr>
              <a:t>学号</a:t>
            </a:r>
            <a:r>
              <a:rPr lang="en-US" altLang="zh-CN" dirty="0">
                <a:solidFill>
                  <a:srgbClr val="0000FF"/>
                </a:solidFill>
              </a:rPr>
              <a:t>)  references  </a:t>
            </a:r>
            <a:r>
              <a:rPr lang="zh-CN" altLang="en-US" dirty="0">
                <a:solidFill>
                  <a:srgbClr val="0000FF"/>
                </a:solidFill>
              </a:rPr>
              <a:t>学生</a:t>
            </a:r>
            <a:r>
              <a:rPr lang="en-US" altLang="zh-CN" dirty="0">
                <a:solidFill>
                  <a:srgbClr val="0000FF"/>
                </a:solidFill>
              </a:rPr>
              <a:t>(</a:t>
            </a:r>
            <a:r>
              <a:rPr lang="zh-CN" altLang="en-US" dirty="0">
                <a:solidFill>
                  <a:srgbClr val="0000FF"/>
                </a:solidFill>
              </a:rPr>
              <a:t>学号</a:t>
            </a:r>
            <a:r>
              <a:rPr lang="en-US" altLang="zh-CN" dirty="0">
                <a:solidFill>
                  <a:srgbClr val="0000FF"/>
                </a:solidFill>
              </a:rPr>
              <a:t>)</a:t>
            </a:r>
            <a:r>
              <a:rPr lang="zh-CN" altLang="en-US" dirty="0">
                <a:solidFill>
                  <a:srgbClr val="0000FF"/>
                </a:solidFill>
              </a:rPr>
              <a:t> </a:t>
            </a:r>
            <a:endParaRPr lang="en-US" altLang="zh-CN" dirty="0">
              <a:solidFill>
                <a:srgbClr val="0000FF"/>
              </a:solidFill>
            </a:endParaRPr>
          </a:p>
          <a:p>
            <a:pPr marL="0" indent="0">
              <a:buNone/>
            </a:pPr>
            <a:r>
              <a:rPr lang="en-US" altLang="zh-CN" dirty="0">
                <a:solidFill>
                  <a:srgbClr val="0000FF"/>
                </a:solidFill>
              </a:rPr>
              <a:t>                on  delete  restrict  on  update  cascade, </a:t>
            </a:r>
          </a:p>
          <a:p>
            <a:pPr marL="0" indent="0">
              <a:buNone/>
            </a:pPr>
            <a:r>
              <a:rPr lang="zh-CN" altLang="en-US" dirty="0"/>
              <a:t>　　　　　  </a:t>
            </a:r>
            <a:r>
              <a:rPr lang="en-US" altLang="zh-CN" dirty="0"/>
              <a:t>……,</a:t>
            </a:r>
          </a:p>
          <a:p>
            <a:pPr marL="0" indent="0">
              <a:buNone/>
            </a:pPr>
            <a:r>
              <a:rPr lang="zh-CN" altLang="en-US" dirty="0"/>
              <a:t>　          </a:t>
            </a:r>
            <a:r>
              <a:rPr lang="en-US" altLang="zh-CN" dirty="0"/>
              <a:t>)</a:t>
            </a:r>
          </a:p>
        </p:txBody>
      </p:sp>
      <p:pic>
        <p:nvPicPr>
          <p:cNvPr id="7" name="图片 6">
            <a:extLst>
              <a:ext uri="{FF2B5EF4-FFF2-40B4-BE49-F238E27FC236}">
                <a16:creationId xmlns:a16="http://schemas.microsoft.com/office/drawing/2014/main" id="{4CB2E536-7DA7-4337-A69D-72CC7D5BDA40}"/>
              </a:ext>
            </a:extLst>
          </p:cNvPr>
          <p:cNvPicPr>
            <a:picLocks noChangeAspect="1"/>
          </p:cNvPicPr>
          <p:nvPr/>
        </p:nvPicPr>
        <p:blipFill>
          <a:blip r:embed="rId2"/>
          <a:stretch>
            <a:fillRect/>
          </a:stretch>
        </p:blipFill>
        <p:spPr>
          <a:xfrm>
            <a:off x="4907874" y="1565386"/>
            <a:ext cx="6467641" cy="3553649"/>
          </a:xfrm>
          <a:prstGeom prst="rect">
            <a:avLst/>
          </a:prstGeom>
        </p:spPr>
      </p:pic>
    </p:spTree>
    <p:extLst>
      <p:ext uri="{BB962C8B-B14F-4D97-AF65-F5344CB8AC3E}">
        <p14:creationId xmlns:p14="http://schemas.microsoft.com/office/powerpoint/2010/main" val="8732778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右箭头 945153"/>
          <p:cNvSpPr/>
          <p:nvPr/>
        </p:nvSpPr>
        <p:spPr>
          <a:xfrm>
            <a:off x="7302500" y="5041900"/>
            <a:ext cx="901700" cy="457200"/>
          </a:xfrm>
          <a:prstGeom prst="rightArrow">
            <a:avLst>
              <a:gd name="adj1" fmla="val 50000"/>
              <a:gd name="adj2" fmla="val 49241"/>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945155" name="标题 945154"/>
          <p:cNvSpPr>
            <a:spLocks noGrp="1"/>
          </p:cNvSpPr>
          <p:nvPr>
            <p:ph type="title"/>
          </p:nvPr>
        </p:nvSpPr>
        <p:spPr/>
        <p:txBody>
          <a:bodyPr/>
          <a:lstStyle/>
          <a:p>
            <a:r>
              <a:rPr lang="zh-CN" altLang="en-US" noProof="1"/>
              <a:t>外部码约束</a:t>
            </a:r>
          </a:p>
        </p:txBody>
      </p:sp>
      <p:graphicFrame>
        <p:nvGraphicFramePr>
          <p:cNvPr id="945157" name="表格 945156"/>
          <p:cNvGraphicFramePr/>
          <p:nvPr/>
        </p:nvGraphicFramePr>
        <p:xfrm>
          <a:off x="4787900" y="4343400"/>
          <a:ext cx="2298700" cy="1856400"/>
        </p:xfrm>
        <a:graphic>
          <a:graphicData uri="http://schemas.openxmlformats.org/drawingml/2006/table">
            <a:tbl>
              <a:tblPr/>
              <a:tblGrid>
                <a:gridCol w="6985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学号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课程号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成绩</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03</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A</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60</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03</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B</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75</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945183" name="表格 945182"/>
          <p:cNvGraphicFramePr/>
          <p:nvPr/>
        </p:nvGraphicFramePr>
        <p:xfrm>
          <a:off x="4927600" y="2146300"/>
          <a:ext cx="1879600" cy="148512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年龄</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03</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小张</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20</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4020" name="文本框 945204"/>
          <p:cNvSpPr txBox="1"/>
          <p:nvPr/>
        </p:nvSpPr>
        <p:spPr>
          <a:xfrm>
            <a:off x="5330825" y="16256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endParaRPr lang="zh-CN" altLang="en-US" sz="2400" b="1">
              <a:latin typeface="Tahoma" panose="020B0604030504040204" pitchFamily="34" charset="0"/>
              <a:ea typeface="宋体" panose="02010600030101010101" pitchFamily="2" charset="-122"/>
            </a:endParaRPr>
          </a:p>
        </p:txBody>
      </p:sp>
      <p:sp>
        <p:nvSpPr>
          <p:cNvPr id="84021" name="右箭头 945205"/>
          <p:cNvSpPr/>
          <p:nvPr/>
        </p:nvSpPr>
        <p:spPr>
          <a:xfrm>
            <a:off x="7010400" y="2781300"/>
            <a:ext cx="1206500" cy="457200"/>
          </a:xfrm>
          <a:prstGeom prst="rightArrow">
            <a:avLst>
              <a:gd name="adj1" fmla="val 50000"/>
              <a:gd name="adj2" fmla="val 65886"/>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945207" name="表格 945206"/>
          <p:cNvGraphicFramePr/>
          <p:nvPr/>
        </p:nvGraphicFramePr>
        <p:xfrm>
          <a:off x="8470900" y="2133600"/>
          <a:ext cx="1879600" cy="148512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年龄</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13</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小张</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20</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4044" name="文本框 945228"/>
          <p:cNvSpPr txBox="1"/>
          <p:nvPr/>
        </p:nvSpPr>
        <p:spPr>
          <a:xfrm>
            <a:off x="8874125" y="16129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endParaRPr lang="zh-CN" altLang="en-US" sz="2400" b="1">
              <a:latin typeface="Tahoma" panose="020B0604030504040204" pitchFamily="34" charset="0"/>
              <a:ea typeface="宋体" panose="02010600030101010101" pitchFamily="2" charset="-122"/>
            </a:endParaRPr>
          </a:p>
        </p:txBody>
      </p:sp>
      <p:sp>
        <p:nvSpPr>
          <p:cNvPr id="84045" name="矩形 945229"/>
          <p:cNvSpPr/>
          <p:nvPr/>
        </p:nvSpPr>
        <p:spPr>
          <a:xfrm>
            <a:off x="6880225" y="2179639"/>
            <a:ext cx="1504950" cy="427037"/>
          </a:xfrm>
          <a:prstGeom prst="rect">
            <a:avLst/>
          </a:prstGeom>
          <a:noFill/>
          <a:ln w="9525">
            <a:noFill/>
          </a:ln>
        </p:spPr>
        <p:txBody>
          <a:bodyPr lIns="18000" rIns="18000" anchor="t" anchorCtr="0">
            <a:spAutoFit/>
          </a:bodyPr>
          <a:lstStyle/>
          <a:p>
            <a:pPr algn="ct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更新主码值</a:t>
            </a:r>
          </a:p>
        </p:txBody>
      </p:sp>
      <p:sp>
        <p:nvSpPr>
          <p:cNvPr id="84046" name="右箭头 945230"/>
          <p:cNvSpPr/>
          <p:nvPr/>
        </p:nvSpPr>
        <p:spPr>
          <a:xfrm rot="10800000">
            <a:off x="3517900" y="2768600"/>
            <a:ext cx="1206500" cy="457200"/>
          </a:xfrm>
          <a:prstGeom prst="rightArrow">
            <a:avLst>
              <a:gd name="adj1" fmla="val 50000"/>
              <a:gd name="adj2" fmla="val 65886"/>
            </a:avLst>
          </a:prstGeom>
          <a:solidFill>
            <a:srgbClr val="00E444"/>
          </a:solid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945319" name="表格 945318"/>
          <p:cNvGraphicFramePr/>
          <p:nvPr/>
        </p:nvGraphicFramePr>
        <p:xfrm>
          <a:off x="1524000" y="2209800"/>
          <a:ext cx="1879600" cy="111384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班号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u="sng" dirty="0"/>
                        <a:t>学号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姓名</a:t>
                      </a:r>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28575" cap="flat" cmpd="sng">
                      <a:solidFill>
                        <a:schemeClr val="tx1"/>
                      </a:solidFill>
                      <a:prstDash val="solid"/>
                      <a:miter/>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4065" name="文本框 945249"/>
          <p:cNvSpPr txBox="1"/>
          <p:nvPr/>
        </p:nvSpPr>
        <p:spPr>
          <a:xfrm>
            <a:off x="1927225" y="16891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学生</a:t>
            </a:r>
          </a:p>
        </p:txBody>
      </p:sp>
      <p:sp>
        <p:nvSpPr>
          <p:cNvPr id="84066" name="矩形 945250"/>
          <p:cNvSpPr/>
          <p:nvPr/>
        </p:nvSpPr>
        <p:spPr>
          <a:xfrm>
            <a:off x="3408042" y="2174901"/>
            <a:ext cx="1589088" cy="427037"/>
          </a:xfrm>
          <a:prstGeom prst="rect">
            <a:avLst/>
          </a:prstGeom>
          <a:noFill/>
          <a:ln w="9525">
            <a:noFill/>
          </a:ln>
        </p:spPr>
        <p:txBody>
          <a:bodyPr wrap="none" anchor="t" anchorCtr="0">
            <a:spAutoFit/>
          </a:bodyPr>
          <a:lstStyle/>
          <a:p>
            <a:pPr algn="ct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删除主码值</a:t>
            </a:r>
          </a:p>
        </p:txBody>
      </p:sp>
      <p:sp>
        <p:nvSpPr>
          <p:cNvPr id="84067" name="文本框 945251"/>
          <p:cNvSpPr txBox="1"/>
          <p:nvPr/>
        </p:nvSpPr>
        <p:spPr>
          <a:xfrm>
            <a:off x="5381625" y="37719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选修</a:t>
            </a:r>
            <a:endParaRPr lang="zh-CN" altLang="en-US" sz="2400" b="1">
              <a:latin typeface="Tahoma" panose="020B0604030504040204" pitchFamily="34" charset="0"/>
              <a:ea typeface="宋体" panose="02010600030101010101" pitchFamily="2" charset="-122"/>
            </a:endParaRPr>
          </a:p>
        </p:txBody>
      </p:sp>
      <p:graphicFrame>
        <p:nvGraphicFramePr>
          <p:cNvPr id="945317" name="表格 945316"/>
          <p:cNvGraphicFramePr/>
          <p:nvPr/>
        </p:nvGraphicFramePr>
        <p:xfrm>
          <a:off x="8318500" y="4394200"/>
          <a:ext cx="2298700" cy="1856400"/>
        </p:xfrm>
        <a:graphic>
          <a:graphicData uri="http://schemas.openxmlformats.org/drawingml/2006/table">
            <a:tbl>
              <a:tblPr/>
              <a:tblGrid>
                <a:gridCol w="6985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学号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课程号</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zh-CN" altLang="en-US" dirty="0"/>
                        <a:t>成绩</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13</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A</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60</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7">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rgbClr val="00E444"/>
                          </a:solidFill>
                        </a:rPr>
                        <a:t>13</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B</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t>75</a:t>
                      </a:r>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888">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latin typeface="Helvetica" pitchFamily="34" charset="0"/>
                        </a:rPr>
                        <a:t>…</a:t>
                      </a:r>
                      <a:endParaRPr lang="en-US" altLang="zh-CN"/>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200" b="1"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35000"/>
                        </a:spcBef>
                        <a:spcAft>
                          <a:spcPct val="0"/>
                        </a:spcAft>
                        <a:buClr>
                          <a:schemeClr val="hlink"/>
                        </a:buClr>
                        <a:buSzPct val="75000"/>
                        <a:buFont typeface="Wingdings" panose="05000000000000000000" pitchFamily="2" charset="2"/>
                        <a:buChar char="l"/>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dirty="0">
                          <a:latin typeface="Helvetica" pitchFamily="34" charset="0"/>
                        </a:rPr>
                        <a:t>…</a:t>
                      </a:r>
                      <a:endParaRPr lang="en-US" altLang="zh-CN" dirty="0"/>
                    </a:p>
                  </a:txBody>
                  <a:tcPr marL="0" marR="0" marT="18000" marB="1800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4094" name="文本框 945311"/>
          <p:cNvSpPr txBox="1"/>
          <p:nvPr/>
        </p:nvSpPr>
        <p:spPr>
          <a:xfrm>
            <a:off x="8912225" y="3822700"/>
            <a:ext cx="1092200" cy="45720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pitchFamily="34" charset="0"/>
                <a:ea typeface="宋体" panose="02010600030101010101" pitchFamily="2" charset="-122"/>
              </a:rPr>
              <a:t>选修</a:t>
            </a:r>
            <a:endParaRPr lang="zh-CN" altLang="en-US" sz="2400" b="1">
              <a:latin typeface="Tahoma" panose="020B0604030504040204" pitchFamily="34" charset="0"/>
              <a:ea typeface="宋体" panose="02010600030101010101" pitchFamily="2" charset="-122"/>
            </a:endParaRPr>
          </a:p>
        </p:txBody>
      </p:sp>
      <p:sp>
        <p:nvSpPr>
          <p:cNvPr id="84095" name="矩形 945312"/>
          <p:cNvSpPr/>
          <p:nvPr/>
        </p:nvSpPr>
        <p:spPr>
          <a:xfrm>
            <a:off x="6956425" y="4262438"/>
            <a:ext cx="1504950" cy="762000"/>
          </a:xfrm>
          <a:prstGeom prst="rect">
            <a:avLst/>
          </a:prstGeom>
          <a:noFill/>
          <a:ln w="9525">
            <a:noFill/>
          </a:ln>
        </p:spPr>
        <p:txBody>
          <a:bodyPr anchor="t" anchorCtr="0">
            <a:spAutoFit/>
          </a:bodyPr>
          <a:lstStyle/>
          <a:p>
            <a:pPr algn="ctr" eaLnBrk="0" hangingPunct="0">
              <a:spcBef>
                <a:spcPct val="35000"/>
              </a:spcBef>
              <a:buClr>
                <a:schemeClr val="tx2"/>
              </a:buClr>
              <a:buSzPct val="90000"/>
              <a:buFont typeface="Monotype Sorts" pitchFamily="2" charset="2"/>
            </a:pPr>
            <a:r>
              <a:rPr lang="zh-CN" altLang="en-US" sz="2200" b="1" dirty="0">
                <a:solidFill>
                  <a:srgbClr val="00E444"/>
                </a:solidFill>
                <a:latin typeface="Helvetica" pitchFamily="34" charset="0"/>
                <a:ea typeface="宋体" panose="02010600030101010101" pitchFamily="2" charset="-122"/>
              </a:rPr>
              <a:t>连带更新</a:t>
            </a:r>
            <a:br>
              <a:rPr lang="zh-CN" altLang="en-US" sz="2200" b="1" dirty="0">
                <a:solidFill>
                  <a:srgbClr val="00E444"/>
                </a:solidFill>
                <a:latin typeface="Helvetica" pitchFamily="34" charset="0"/>
                <a:ea typeface="宋体" panose="02010600030101010101" pitchFamily="2" charset="-122"/>
              </a:rPr>
            </a:br>
            <a:r>
              <a:rPr lang="zh-CN" altLang="en-US" sz="2200" b="1" dirty="0">
                <a:solidFill>
                  <a:srgbClr val="00E444"/>
                </a:solidFill>
                <a:latin typeface="Helvetica" pitchFamily="34" charset="0"/>
                <a:ea typeface="宋体" panose="02010600030101010101" pitchFamily="2" charset="-122"/>
              </a:rPr>
              <a:t>外码值</a:t>
            </a:r>
          </a:p>
        </p:txBody>
      </p:sp>
      <p:sp>
        <p:nvSpPr>
          <p:cNvPr id="84096" name="文本框 945317"/>
          <p:cNvSpPr txBox="1"/>
          <p:nvPr/>
        </p:nvSpPr>
        <p:spPr>
          <a:xfrm>
            <a:off x="3731496" y="2113135"/>
            <a:ext cx="1117600" cy="1555750"/>
          </a:xfrm>
          <a:prstGeom prst="rect">
            <a:avLst/>
          </a:prstGeom>
          <a:noFill/>
          <a:ln w="9525">
            <a:noFill/>
          </a:ln>
        </p:spPr>
        <p:txBody>
          <a:bodyPr lIns="0" rIns="0" anchor="t" anchorCtr="0">
            <a:spAutoFit/>
          </a:bodyPr>
          <a:lstStyle/>
          <a:p>
            <a:pPr>
              <a:spcBef>
                <a:spcPct val="50000"/>
              </a:spcBef>
            </a:pPr>
            <a:r>
              <a:rPr lang="en-US" altLang="zh-CN" sz="9600" b="1" dirty="0">
                <a:solidFill>
                  <a:srgbClr val="FF0000"/>
                </a:solidFill>
                <a:latin typeface="宋体" panose="02010600030101010101" pitchFamily="2" charset="-122"/>
              </a:rPr>
              <a:t>×</a:t>
            </a:r>
          </a:p>
        </p:txBody>
      </p:sp>
    </p:spTree>
    <p:extLst>
      <p:ext uri="{BB962C8B-B14F-4D97-AF65-F5344CB8AC3E}">
        <p14:creationId xmlns:p14="http://schemas.microsoft.com/office/powerpoint/2010/main" val="9733051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044"/>
                                        </p:tgtEl>
                                        <p:attrNameLst>
                                          <p:attrName>style.visibility</p:attrName>
                                        </p:attrNameLst>
                                      </p:cBhvr>
                                      <p:to>
                                        <p:strVal val="visible"/>
                                      </p:to>
                                    </p:set>
                                    <p:animEffect transition="in" filter="wipe(left)">
                                      <p:cBhvr>
                                        <p:cTn id="7" dur="500"/>
                                        <p:tgtEl>
                                          <p:spTgt spid="84044"/>
                                        </p:tgtEl>
                                      </p:cBhvr>
                                    </p:animEffect>
                                  </p:childTnLst>
                                </p:cTn>
                              </p:par>
                              <p:par>
                                <p:cTn id="8" presetID="22" presetClass="entr" presetSubtype="8" fill="hold" nodeType="withEffect">
                                  <p:stCondLst>
                                    <p:cond delay="0"/>
                                  </p:stCondLst>
                                  <p:childTnLst>
                                    <p:set>
                                      <p:cBhvr>
                                        <p:cTn id="9" dur="1" fill="hold">
                                          <p:stCondLst>
                                            <p:cond delay="0"/>
                                          </p:stCondLst>
                                        </p:cTn>
                                        <p:tgtEl>
                                          <p:spTgt spid="945207"/>
                                        </p:tgtEl>
                                        <p:attrNameLst>
                                          <p:attrName>style.visibility</p:attrName>
                                        </p:attrNameLst>
                                      </p:cBhvr>
                                      <p:to>
                                        <p:strVal val="visible"/>
                                      </p:to>
                                    </p:set>
                                    <p:animEffect transition="in" filter="wipe(left)">
                                      <p:cBhvr>
                                        <p:cTn id="10" dur="500"/>
                                        <p:tgtEl>
                                          <p:spTgt spid="94520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4045"/>
                                        </p:tgtEl>
                                        <p:attrNameLst>
                                          <p:attrName>style.visibility</p:attrName>
                                        </p:attrNameLst>
                                      </p:cBhvr>
                                      <p:to>
                                        <p:strVal val="visible"/>
                                      </p:to>
                                    </p:set>
                                    <p:animEffect transition="in" filter="wipe(left)">
                                      <p:cBhvr>
                                        <p:cTn id="13" dur="500"/>
                                        <p:tgtEl>
                                          <p:spTgt spid="8404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84021"/>
                                        </p:tgtEl>
                                        <p:attrNameLst>
                                          <p:attrName>style.visibility</p:attrName>
                                        </p:attrNameLst>
                                      </p:cBhvr>
                                      <p:to>
                                        <p:strVal val="visible"/>
                                      </p:to>
                                    </p:set>
                                    <p:animEffect transition="in" filter="wipe(left)">
                                      <p:cBhvr>
                                        <p:cTn id="16" dur="500"/>
                                        <p:tgtEl>
                                          <p:spTgt spid="8402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4095"/>
                                        </p:tgtEl>
                                        <p:attrNameLst>
                                          <p:attrName>style.visibility</p:attrName>
                                        </p:attrNameLst>
                                      </p:cBhvr>
                                      <p:to>
                                        <p:strVal val="visible"/>
                                      </p:to>
                                    </p:set>
                                    <p:animEffect transition="in" filter="wipe(left)">
                                      <p:cBhvr>
                                        <p:cTn id="21" dur="500"/>
                                        <p:tgtEl>
                                          <p:spTgt spid="84095"/>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83969"/>
                                        </p:tgtEl>
                                        <p:attrNameLst>
                                          <p:attrName>style.visibility</p:attrName>
                                        </p:attrNameLst>
                                      </p:cBhvr>
                                      <p:to>
                                        <p:strVal val="visible"/>
                                      </p:to>
                                    </p:set>
                                    <p:animEffect transition="in" filter="wipe(left)">
                                      <p:cBhvr>
                                        <p:cTn id="24" dur="500"/>
                                        <p:tgtEl>
                                          <p:spTgt spid="83969"/>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84094"/>
                                        </p:tgtEl>
                                        <p:attrNameLst>
                                          <p:attrName>style.visibility</p:attrName>
                                        </p:attrNameLst>
                                      </p:cBhvr>
                                      <p:to>
                                        <p:strVal val="visible"/>
                                      </p:to>
                                    </p:set>
                                    <p:animEffect transition="in" filter="wipe(left)">
                                      <p:cBhvr>
                                        <p:cTn id="27" dur="500"/>
                                        <p:tgtEl>
                                          <p:spTgt spid="84094"/>
                                        </p:tgtEl>
                                      </p:cBhvr>
                                    </p:animEffect>
                                  </p:childTnLst>
                                </p:cTn>
                              </p:par>
                              <p:par>
                                <p:cTn id="28" presetID="22" presetClass="entr" presetSubtype="8" fill="hold" nodeType="withEffect">
                                  <p:stCondLst>
                                    <p:cond delay="0"/>
                                  </p:stCondLst>
                                  <p:childTnLst>
                                    <p:set>
                                      <p:cBhvr>
                                        <p:cTn id="29" dur="1" fill="hold">
                                          <p:stCondLst>
                                            <p:cond delay="0"/>
                                          </p:stCondLst>
                                        </p:cTn>
                                        <p:tgtEl>
                                          <p:spTgt spid="945317"/>
                                        </p:tgtEl>
                                        <p:attrNameLst>
                                          <p:attrName>style.visibility</p:attrName>
                                        </p:attrNameLst>
                                      </p:cBhvr>
                                      <p:to>
                                        <p:strVal val="visible"/>
                                      </p:to>
                                    </p:set>
                                    <p:animEffect transition="in" filter="wipe(left)">
                                      <p:cBhvr>
                                        <p:cTn id="30" dur="500"/>
                                        <p:tgtEl>
                                          <p:spTgt spid="9453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84066"/>
                                        </p:tgtEl>
                                        <p:attrNameLst>
                                          <p:attrName>style.visibility</p:attrName>
                                        </p:attrNameLst>
                                      </p:cBhvr>
                                      <p:to>
                                        <p:strVal val="visible"/>
                                      </p:to>
                                    </p:set>
                                    <p:animEffect transition="in" filter="wipe(right)">
                                      <p:cBhvr>
                                        <p:cTn id="35" dur="500"/>
                                        <p:tgtEl>
                                          <p:spTgt spid="84066"/>
                                        </p:tgtEl>
                                      </p:cBhvr>
                                    </p:animEffect>
                                  </p:childTnLst>
                                </p:cTn>
                              </p:par>
                              <p:par>
                                <p:cTn id="36" presetID="22" presetClass="entr" presetSubtype="2" fill="hold" grpId="0" nodeType="withEffect">
                                  <p:stCondLst>
                                    <p:cond delay="0"/>
                                  </p:stCondLst>
                                  <p:childTnLst>
                                    <p:set>
                                      <p:cBhvr>
                                        <p:cTn id="37" dur="1" fill="hold">
                                          <p:stCondLst>
                                            <p:cond delay="0"/>
                                          </p:stCondLst>
                                        </p:cTn>
                                        <p:tgtEl>
                                          <p:spTgt spid="84046"/>
                                        </p:tgtEl>
                                        <p:attrNameLst>
                                          <p:attrName>style.visibility</p:attrName>
                                        </p:attrNameLst>
                                      </p:cBhvr>
                                      <p:to>
                                        <p:strVal val="visible"/>
                                      </p:to>
                                    </p:set>
                                    <p:animEffect transition="in" filter="wipe(right)">
                                      <p:cBhvr>
                                        <p:cTn id="38" dur="500"/>
                                        <p:tgtEl>
                                          <p:spTgt spid="84046"/>
                                        </p:tgtEl>
                                      </p:cBhvr>
                                    </p:animEffect>
                                  </p:childTnLst>
                                </p:cTn>
                              </p:par>
                              <p:par>
                                <p:cTn id="39" presetID="22" presetClass="entr" presetSubtype="2" fill="hold" grpId="0" nodeType="withEffect">
                                  <p:stCondLst>
                                    <p:cond delay="0"/>
                                  </p:stCondLst>
                                  <p:childTnLst>
                                    <p:set>
                                      <p:cBhvr>
                                        <p:cTn id="40" dur="1" fill="hold">
                                          <p:stCondLst>
                                            <p:cond delay="0"/>
                                          </p:stCondLst>
                                        </p:cTn>
                                        <p:tgtEl>
                                          <p:spTgt spid="84065"/>
                                        </p:tgtEl>
                                        <p:attrNameLst>
                                          <p:attrName>style.visibility</p:attrName>
                                        </p:attrNameLst>
                                      </p:cBhvr>
                                      <p:to>
                                        <p:strVal val="visible"/>
                                      </p:to>
                                    </p:set>
                                    <p:animEffect transition="in" filter="wipe(right)">
                                      <p:cBhvr>
                                        <p:cTn id="41" dur="500"/>
                                        <p:tgtEl>
                                          <p:spTgt spid="84065"/>
                                        </p:tgtEl>
                                      </p:cBhvr>
                                    </p:animEffect>
                                  </p:childTnLst>
                                </p:cTn>
                              </p:par>
                              <p:par>
                                <p:cTn id="42" presetID="22" presetClass="entr" presetSubtype="2" fill="hold" nodeType="withEffect">
                                  <p:stCondLst>
                                    <p:cond delay="0"/>
                                  </p:stCondLst>
                                  <p:childTnLst>
                                    <p:set>
                                      <p:cBhvr>
                                        <p:cTn id="43" dur="1" fill="hold">
                                          <p:stCondLst>
                                            <p:cond delay="0"/>
                                          </p:stCondLst>
                                        </p:cTn>
                                        <p:tgtEl>
                                          <p:spTgt spid="945319"/>
                                        </p:tgtEl>
                                        <p:attrNameLst>
                                          <p:attrName>style.visibility</p:attrName>
                                        </p:attrNameLst>
                                      </p:cBhvr>
                                      <p:to>
                                        <p:strVal val="visible"/>
                                      </p:to>
                                    </p:set>
                                    <p:animEffect transition="in" filter="wipe(right)">
                                      <p:cBhvr>
                                        <p:cTn id="44" dur="500"/>
                                        <p:tgtEl>
                                          <p:spTgt spid="945319"/>
                                        </p:tgtEl>
                                      </p:cBhvr>
                                    </p:animEffect>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grpId="0" nodeType="clickEffect">
                                  <p:stCondLst>
                                    <p:cond delay="0"/>
                                  </p:stCondLst>
                                  <p:childTnLst>
                                    <p:set>
                                      <p:cBhvr>
                                        <p:cTn id="48" dur="1" fill="hold">
                                          <p:stCondLst>
                                            <p:cond delay="0"/>
                                          </p:stCondLst>
                                        </p:cTn>
                                        <p:tgtEl>
                                          <p:spTgt spid="84096"/>
                                        </p:tgtEl>
                                        <p:attrNameLst>
                                          <p:attrName>style.visibility</p:attrName>
                                        </p:attrNameLst>
                                      </p:cBhvr>
                                      <p:to>
                                        <p:strVal val="visible"/>
                                      </p:to>
                                    </p:set>
                                    <p:animEffect transition="in" filter="circle(in)">
                                      <p:cBhvr>
                                        <p:cTn id="49" dur="750"/>
                                        <p:tgtEl>
                                          <p:spTgt spid="840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69" grpId="0" animBg="1"/>
      <p:bldP spid="84021" grpId="0" animBg="1"/>
      <p:bldP spid="84044" grpId="0"/>
      <p:bldP spid="84045" grpId="0"/>
      <p:bldP spid="84046" grpId="0" animBg="1"/>
      <p:bldP spid="84065" grpId="0"/>
      <p:bldP spid="84066" grpId="0"/>
      <p:bldP spid="84094" grpId="0"/>
      <p:bldP spid="84095" grpId="0"/>
      <p:bldP spid="8409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a:extLst>
              <a:ext uri="{FF2B5EF4-FFF2-40B4-BE49-F238E27FC236}">
                <a16:creationId xmlns:a16="http://schemas.microsoft.com/office/drawing/2014/main" id="{CCC04FB5-4294-47C9-BAD1-DDA2F75DCA0E}"/>
              </a:ext>
            </a:extLst>
          </p:cNvPr>
          <p:cNvSpPr>
            <a:spLocks noGrp="1" noChangeArrowheads="1"/>
          </p:cNvSpPr>
          <p:nvPr>
            <p:ph type="title"/>
          </p:nvPr>
        </p:nvSpPr>
        <p:spPr/>
        <p:txBody>
          <a:bodyPr/>
          <a:lstStyle/>
          <a:p>
            <a:r>
              <a:rPr lang="en-US" altLang="zh-CN"/>
              <a:t>5.3  </a:t>
            </a:r>
            <a:r>
              <a:rPr lang="zh-CN" altLang="en-US"/>
              <a:t>用户定义的完整性</a:t>
            </a:r>
          </a:p>
        </p:txBody>
      </p:sp>
      <p:sp>
        <p:nvSpPr>
          <p:cNvPr id="447491" name="Rectangle 3">
            <a:extLst>
              <a:ext uri="{FF2B5EF4-FFF2-40B4-BE49-F238E27FC236}">
                <a16:creationId xmlns:a16="http://schemas.microsoft.com/office/drawing/2014/main" id="{F9A61E52-F189-49BA-B983-A49AC4A6EA8C}"/>
              </a:ext>
            </a:extLst>
          </p:cNvPr>
          <p:cNvSpPr>
            <a:spLocks noGrp="1" noChangeArrowheads="1"/>
          </p:cNvSpPr>
          <p:nvPr>
            <p:ph idx="1"/>
          </p:nvPr>
        </p:nvSpPr>
        <p:spPr/>
        <p:txBody>
          <a:bodyPr/>
          <a:lstStyle/>
          <a:p>
            <a:r>
              <a:rPr lang="zh-CN" altLang="en-US" dirty="0"/>
              <a:t>用户定义的完整性就是针对某一具体应用的数据必须满足的语义要求 </a:t>
            </a:r>
          </a:p>
          <a:p>
            <a:r>
              <a:rPr lang="en-US" altLang="zh-CN" dirty="0"/>
              <a:t>RDBMS</a:t>
            </a:r>
            <a:r>
              <a:rPr lang="zh-CN" altLang="en-US" dirty="0"/>
              <a:t>提供，而不必由应用程序承担</a:t>
            </a:r>
            <a:endParaRPr lang="en-US" altLang="zh-CN" dirty="0"/>
          </a:p>
          <a:p>
            <a:endParaRPr lang="en-US" altLang="zh-CN" dirty="0"/>
          </a:p>
          <a:p>
            <a:r>
              <a:rPr lang="zh-CN" altLang="en-US" dirty="0"/>
              <a:t>约束条件分为：</a:t>
            </a:r>
            <a:endParaRPr lang="en-US" altLang="zh-CN" dirty="0"/>
          </a:p>
          <a:p>
            <a:pPr lvl="1"/>
            <a:r>
              <a:rPr lang="zh-CN" altLang="en-US" dirty="0">
                <a:solidFill>
                  <a:srgbClr val="C00000"/>
                </a:solidFill>
              </a:rPr>
              <a:t>属性上</a:t>
            </a:r>
            <a:r>
              <a:rPr lang="zh-CN" altLang="en-US" dirty="0"/>
              <a:t>的约束条件</a:t>
            </a:r>
            <a:endParaRPr lang="en-US" altLang="zh-CN" dirty="0"/>
          </a:p>
          <a:p>
            <a:pPr lvl="1"/>
            <a:r>
              <a:rPr lang="zh-CN" altLang="en-US" dirty="0">
                <a:solidFill>
                  <a:srgbClr val="C00000"/>
                </a:solidFill>
              </a:rPr>
              <a:t>元组上</a:t>
            </a:r>
            <a:r>
              <a:rPr lang="zh-CN" altLang="en-US" dirty="0"/>
              <a:t>的约束条件</a:t>
            </a:r>
          </a:p>
        </p:txBody>
      </p:sp>
      <p:sp>
        <p:nvSpPr>
          <p:cNvPr id="2" name="灯片编号占位符 1">
            <a:extLst>
              <a:ext uri="{FF2B5EF4-FFF2-40B4-BE49-F238E27FC236}">
                <a16:creationId xmlns:a16="http://schemas.microsoft.com/office/drawing/2014/main" id="{6D425C7C-232F-473A-8B3E-B481454D0A2C}"/>
              </a:ext>
            </a:extLst>
          </p:cNvPr>
          <p:cNvSpPr>
            <a:spLocks noGrp="1"/>
          </p:cNvSpPr>
          <p:nvPr>
            <p:ph type="sldNum" sz="quarter" idx="12"/>
          </p:nvPr>
        </p:nvSpPr>
        <p:spPr/>
        <p:txBody>
          <a:bodyPr/>
          <a:lstStyle/>
          <a:p>
            <a:fld id="{47C9E101-E51D-431E-84FA-C029B8655B60}" type="slidenum">
              <a:rPr lang="zh-CN" altLang="en-US" smtClean="0"/>
              <a:pPr/>
              <a:t>29</a:t>
            </a:fld>
            <a:endParaRPr lang="zh-CN" altLang="en-US" dirty="0"/>
          </a:p>
        </p:txBody>
      </p:sp>
      <p:pic>
        <p:nvPicPr>
          <p:cNvPr id="3" name="图片 2">
            <a:extLst>
              <a:ext uri="{FF2B5EF4-FFF2-40B4-BE49-F238E27FC236}">
                <a16:creationId xmlns:a16="http://schemas.microsoft.com/office/drawing/2014/main" id="{AB9C23DC-64D5-4AF8-BD94-2F7FBDF6ADF1}"/>
              </a:ext>
            </a:extLst>
          </p:cNvPr>
          <p:cNvPicPr>
            <a:picLocks noChangeAspect="1"/>
          </p:cNvPicPr>
          <p:nvPr/>
        </p:nvPicPr>
        <p:blipFill>
          <a:blip r:embed="rId2"/>
          <a:stretch>
            <a:fillRect/>
          </a:stretch>
        </p:blipFill>
        <p:spPr>
          <a:xfrm>
            <a:off x="5737930" y="2968929"/>
            <a:ext cx="2799247" cy="28818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47491">
                                            <p:txEl>
                                              <p:pRg st="3" end="3"/>
                                            </p:txEl>
                                          </p:spTgt>
                                        </p:tgtEl>
                                        <p:attrNameLst>
                                          <p:attrName>style.visibility</p:attrName>
                                        </p:attrNameLst>
                                      </p:cBhvr>
                                      <p:to>
                                        <p:strVal val="visible"/>
                                      </p:to>
                                    </p:set>
                                    <p:animEffect transition="in" filter="fade">
                                      <p:cBhvr>
                                        <p:cTn id="7" dur="1000"/>
                                        <p:tgtEl>
                                          <p:spTgt spid="447491">
                                            <p:txEl>
                                              <p:pRg st="3" end="3"/>
                                            </p:txEl>
                                          </p:spTgt>
                                        </p:tgtEl>
                                      </p:cBhvr>
                                    </p:animEffect>
                                    <p:anim calcmode="lin" valueType="num">
                                      <p:cBhvr>
                                        <p:cTn id="8" dur="1000" fill="hold"/>
                                        <p:tgtEl>
                                          <p:spTgt spid="447491">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47491">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47491">
                                            <p:txEl>
                                              <p:pRg st="4" end="4"/>
                                            </p:txEl>
                                          </p:spTgt>
                                        </p:tgtEl>
                                        <p:attrNameLst>
                                          <p:attrName>style.visibility</p:attrName>
                                        </p:attrNameLst>
                                      </p:cBhvr>
                                      <p:to>
                                        <p:strVal val="visible"/>
                                      </p:to>
                                    </p:set>
                                    <p:animEffect transition="in" filter="fade">
                                      <p:cBhvr>
                                        <p:cTn id="12" dur="1000"/>
                                        <p:tgtEl>
                                          <p:spTgt spid="447491">
                                            <p:txEl>
                                              <p:pRg st="4" end="4"/>
                                            </p:txEl>
                                          </p:spTgt>
                                        </p:tgtEl>
                                      </p:cBhvr>
                                    </p:animEffect>
                                    <p:anim calcmode="lin" valueType="num">
                                      <p:cBhvr>
                                        <p:cTn id="13" dur="1000" fill="hold"/>
                                        <p:tgtEl>
                                          <p:spTgt spid="447491">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447491">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47491">
                                            <p:txEl>
                                              <p:pRg st="5" end="5"/>
                                            </p:txEl>
                                          </p:spTgt>
                                        </p:tgtEl>
                                        <p:attrNameLst>
                                          <p:attrName>style.visibility</p:attrName>
                                        </p:attrNameLst>
                                      </p:cBhvr>
                                      <p:to>
                                        <p:strVal val="visible"/>
                                      </p:to>
                                    </p:set>
                                    <p:animEffect transition="in" filter="fade">
                                      <p:cBhvr>
                                        <p:cTn id="17" dur="1000"/>
                                        <p:tgtEl>
                                          <p:spTgt spid="447491">
                                            <p:txEl>
                                              <p:pRg st="5" end="5"/>
                                            </p:txEl>
                                          </p:spTgt>
                                        </p:tgtEl>
                                      </p:cBhvr>
                                    </p:animEffect>
                                    <p:anim calcmode="lin" valueType="num">
                                      <p:cBhvr>
                                        <p:cTn id="18" dur="1000" fill="hold"/>
                                        <p:tgtEl>
                                          <p:spTgt spid="447491">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44749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a:extLst>
              <a:ext uri="{FF2B5EF4-FFF2-40B4-BE49-F238E27FC236}">
                <a16:creationId xmlns:a16="http://schemas.microsoft.com/office/drawing/2014/main" id="{B01EA663-8233-4918-93E7-2A643DEFBB15}"/>
              </a:ext>
            </a:extLst>
          </p:cNvPr>
          <p:cNvSpPr>
            <a:spLocks noGrp="1" noChangeArrowheads="1"/>
          </p:cNvSpPr>
          <p:nvPr>
            <p:ph type="title"/>
          </p:nvPr>
        </p:nvSpPr>
        <p:spPr/>
        <p:txBody>
          <a:bodyPr/>
          <a:lstStyle/>
          <a:p>
            <a:r>
              <a:rPr lang="en-US" altLang="zh-CN"/>
              <a:t>5.3.1 </a:t>
            </a:r>
            <a:r>
              <a:rPr lang="zh-CN" altLang="en-US"/>
              <a:t>属性上的约束条件的定义</a:t>
            </a:r>
          </a:p>
        </p:txBody>
      </p:sp>
      <p:sp>
        <p:nvSpPr>
          <p:cNvPr id="449539" name="Rectangle 3">
            <a:extLst>
              <a:ext uri="{FF2B5EF4-FFF2-40B4-BE49-F238E27FC236}">
                <a16:creationId xmlns:a16="http://schemas.microsoft.com/office/drawing/2014/main" id="{B6B0D782-98FF-4387-9603-F413F3B7F71D}"/>
              </a:ext>
            </a:extLst>
          </p:cNvPr>
          <p:cNvSpPr>
            <a:spLocks noGrp="1" noChangeArrowheads="1"/>
          </p:cNvSpPr>
          <p:nvPr>
            <p:ph idx="1"/>
          </p:nvPr>
        </p:nvSpPr>
        <p:spPr/>
        <p:txBody>
          <a:bodyPr/>
          <a:lstStyle/>
          <a:p>
            <a:r>
              <a:rPr lang="en-US" altLang="zh-CN" dirty="0"/>
              <a:t>CREATE TABLE</a:t>
            </a:r>
            <a:r>
              <a:rPr lang="zh-CN" altLang="en-US" dirty="0"/>
              <a:t>时定义</a:t>
            </a:r>
          </a:p>
          <a:p>
            <a:pPr lvl="1"/>
            <a:r>
              <a:rPr lang="zh-CN" altLang="en-US" dirty="0"/>
              <a:t>列值非空（</a:t>
            </a:r>
            <a:r>
              <a:rPr lang="en-US" altLang="zh-CN" dirty="0">
                <a:solidFill>
                  <a:srgbClr val="C00000"/>
                </a:solidFill>
              </a:rPr>
              <a:t>NOT NULL</a:t>
            </a:r>
            <a:r>
              <a:rPr lang="zh-CN" altLang="en-US" dirty="0"/>
              <a:t>）</a:t>
            </a:r>
          </a:p>
          <a:p>
            <a:pPr lvl="1"/>
            <a:r>
              <a:rPr lang="zh-CN" altLang="en-US" dirty="0"/>
              <a:t>列值唯一（</a:t>
            </a:r>
            <a:r>
              <a:rPr lang="en-US" altLang="zh-CN" dirty="0">
                <a:solidFill>
                  <a:srgbClr val="C00000"/>
                </a:solidFill>
              </a:rPr>
              <a:t>UNIQUE</a:t>
            </a:r>
            <a:r>
              <a:rPr lang="zh-CN" altLang="en-US" dirty="0"/>
              <a:t>）</a:t>
            </a:r>
          </a:p>
          <a:p>
            <a:pPr lvl="1"/>
            <a:r>
              <a:rPr lang="zh-CN" altLang="en-US" dirty="0"/>
              <a:t>检查列值是否满足一个布尔表达式（</a:t>
            </a:r>
            <a:r>
              <a:rPr lang="en-US" altLang="zh-CN" dirty="0">
                <a:solidFill>
                  <a:srgbClr val="C00000"/>
                </a:solidFill>
              </a:rPr>
              <a:t>CHECK</a:t>
            </a:r>
            <a:r>
              <a:rPr lang="zh-CN" altLang="en-US" dirty="0"/>
              <a:t>）</a:t>
            </a:r>
          </a:p>
        </p:txBody>
      </p:sp>
      <p:sp>
        <p:nvSpPr>
          <p:cNvPr id="2" name="灯片编号占位符 1">
            <a:extLst>
              <a:ext uri="{FF2B5EF4-FFF2-40B4-BE49-F238E27FC236}">
                <a16:creationId xmlns:a16="http://schemas.microsoft.com/office/drawing/2014/main" id="{13F10C18-8EDA-419E-BCBB-D239D744211B}"/>
              </a:ext>
            </a:extLst>
          </p:cNvPr>
          <p:cNvSpPr>
            <a:spLocks noGrp="1"/>
          </p:cNvSpPr>
          <p:nvPr>
            <p:ph type="sldNum" sz="quarter" idx="12"/>
          </p:nvPr>
        </p:nvSpPr>
        <p:spPr/>
        <p:txBody>
          <a:bodyPr/>
          <a:lstStyle/>
          <a:p>
            <a:fld id="{47C9E101-E51D-431E-84FA-C029B8655B60}" type="slidenum">
              <a:rPr lang="zh-CN" altLang="en-US" smtClean="0"/>
              <a:pPr/>
              <a:t>30</a:t>
            </a:fld>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a:extLst>
              <a:ext uri="{FF2B5EF4-FFF2-40B4-BE49-F238E27FC236}">
                <a16:creationId xmlns:a16="http://schemas.microsoft.com/office/drawing/2014/main" id="{0316CECC-43C3-430D-8C4A-93F05B27448D}"/>
              </a:ext>
            </a:extLst>
          </p:cNvPr>
          <p:cNvSpPr>
            <a:spLocks noGrp="1" noChangeArrowheads="1"/>
          </p:cNvSpPr>
          <p:nvPr>
            <p:ph type="title"/>
          </p:nvPr>
        </p:nvSpPr>
        <p:spPr/>
        <p:txBody>
          <a:bodyPr/>
          <a:lstStyle/>
          <a:p>
            <a:r>
              <a:rPr lang="zh-CN" altLang="en-US"/>
              <a:t>属性上的约束条件的定义</a:t>
            </a:r>
            <a:r>
              <a:rPr lang="en-US" altLang="zh-CN"/>
              <a:t>(</a:t>
            </a:r>
            <a:r>
              <a:rPr lang="zh-CN" altLang="en-US"/>
              <a:t>续</a:t>
            </a:r>
            <a:r>
              <a:rPr lang="en-US" altLang="zh-CN"/>
              <a:t>)</a:t>
            </a:r>
          </a:p>
        </p:txBody>
      </p:sp>
      <p:sp>
        <p:nvSpPr>
          <p:cNvPr id="450563" name="Rectangle 3">
            <a:extLst>
              <a:ext uri="{FF2B5EF4-FFF2-40B4-BE49-F238E27FC236}">
                <a16:creationId xmlns:a16="http://schemas.microsoft.com/office/drawing/2014/main" id="{46B55524-0385-4640-8E6A-E64CD69E8614}"/>
              </a:ext>
            </a:extLst>
          </p:cNvPr>
          <p:cNvSpPr>
            <a:spLocks noGrp="1" noChangeArrowheads="1"/>
          </p:cNvSpPr>
          <p:nvPr>
            <p:ph idx="1"/>
          </p:nvPr>
        </p:nvSpPr>
        <p:spPr/>
        <p:txBody>
          <a:bodyPr>
            <a:normAutofit/>
          </a:bodyPr>
          <a:lstStyle/>
          <a:p>
            <a:r>
              <a:rPr lang="en-US" altLang="zh-CN" dirty="0"/>
              <a:t>1.</a:t>
            </a:r>
            <a:r>
              <a:rPr lang="zh-CN" altLang="en-US" dirty="0"/>
              <a:t>不允许取空值 </a:t>
            </a:r>
          </a:p>
          <a:p>
            <a:pPr lvl="1"/>
            <a:r>
              <a:rPr lang="en-US" altLang="zh-CN" dirty="0"/>
              <a:t>[</a:t>
            </a:r>
            <a:r>
              <a:rPr lang="zh-CN" altLang="en-US" dirty="0"/>
              <a:t>例</a:t>
            </a:r>
            <a:r>
              <a:rPr lang="en-US" altLang="zh-CN" dirty="0"/>
              <a:t>5] </a:t>
            </a:r>
            <a:r>
              <a:rPr lang="zh-CN" altLang="en-US" dirty="0"/>
              <a:t>在定义</a:t>
            </a:r>
            <a:r>
              <a:rPr lang="en-US" altLang="zh-CN" dirty="0"/>
              <a:t>SC</a:t>
            </a:r>
            <a:r>
              <a:rPr lang="zh-CN" altLang="en-US" dirty="0"/>
              <a:t>表时，说明</a:t>
            </a:r>
            <a:r>
              <a:rPr lang="en-US" altLang="zh-CN" dirty="0" err="1"/>
              <a:t>Sno</a:t>
            </a:r>
            <a:r>
              <a:rPr lang="zh-CN" altLang="en-US" dirty="0"/>
              <a:t>、</a:t>
            </a:r>
            <a:r>
              <a:rPr lang="en-US" altLang="zh-CN" dirty="0" err="1"/>
              <a:t>Cno</a:t>
            </a:r>
            <a:r>
              <a:rPr lang="zh-CN" altLang="en-US" dirty="0"/>
              <a:t>、</a:t>
            </a:r>
            <a:r>
              <a:rPr lang="en-US" altLang="zh-CN" dirty="0"/>
              <a:t>Grade</a:t>
            </a:r>
            <a:r>
              <a:rPr lang="zh-CN" altLang="en-US" dirty="0"/>
              <a:t>属性不允许取空值。</a:t>
            </a:r>
          </a:p>
          <a:p>
            <a:pPr marL="800100" lvl="2" indent="0">
              <a:buNone/>
            </a:pPr>
            <a:r>
              <a:rPr lang="zh-CN" altLang="en-US" dirty="0"/>
              <a:t>    </a:t>
            </a:r>
            <a:r>
              <a:rPr lang="en-US" altLang="zh-CN" dirty="0"/>
              <a:t>CREATE TABLE SC</a:t>
            </a:r>
          </a:p>
          <a:p>
            <a:pPr marL="800100" lvl="2" indent="0">
              <a:buNone/>
            </a:pPr>
            <a:r>
              <a:rPr lang="en-US" altLang="zh-CN" dirty="0"/>
              <a:t>        ( </a:t>
            </a:r>
            <a:r>
              <a:rPr lang="en-US" altLang="zh-CN" dirty="0" err="1"/>
              <a:t>Sno</a:t>
            </a:r>
            <a:r>
              <a:rPr lang="en-US" altLang="zh-CN" dirty="0"/>
              <a:t>  CHAR(9)  </a:t>
            </a:r>
            <a:r>
              <a:rPr lang="en-US" altLang="zh-CN" dirty="0">
                <a:solidFill>
                  <a:srgbClr val="0000FF"/>
                </a:solidFill>
              </a:rPr>
              <a:t>NOT NULL</a:t>
            </a:r>
            <a:r>
              <a:rPr lang="zh-CN" altLang="en-US" dirty="0"/>
              <a:t>，	</a:t>
            </a:r>
          </a:p>
          <a:p>
            <a:pPr marL="800100" lvl="2" indent="0">
              <a:buNone/>
            </a:pPr>
            <a:r>
              <a:rPr lang="zh-CN" altLang="en-US" dirty="0"/>
              <a:t>          </a:t>
            </a:r>
            <a:r>
              <a:rPr lang="en-US" altLang="zh-CN" dirty="0" err="1"/>
              <a:t>Cno</a:t>
            </a:r>
            <a:r>
              <a:rPr lang="en-US" altLang="zh-CN" dirty="0"/>
              <a:t>  CHAR(4)  </a:t>
            </a:r>
            <a:r>
              <a:rPr lang="en-US" altLang="zh-CN" dirty="0">
                <a:solidFill>
                  <a:srgbClr val="0000FF"/>
                </a:solidFill>
              </a:rPr>
              <a:t>NOT NULL</a:t>
            </a:r>
            <a:r>
              <a:rPr lang="zh-CN" altLang="en-US" dirty="0"/>
              <a:t>，	</a:t>
            </a:r>
          </a:p>
          <a:p>
            <a:pPr marL="800100" lvl="2" indent="0">
              <a:buNone/>
            </a:pPr>
            <a:r>
              <a:rPr lang="zh-CN" altLang="en-US" dirty="0"/>
              <a:t>          </a:t>
            </a:r>
            <a:r>
              <a:rPr lang="en-US" altLang="zh-CN" dirty="0"/>
              <a:t>Grade  SMALLINT </a:t>
            </a:r>
            <a:r>
              <a:rPr lang="en-US" altLang="zh-CN" dirty="0">
                <a:solidFill>
                  <a:srgbClr val="0000FF"/>
                </a:solidFill>
              </a:rPr>
              <a:t>NOT NULL</a:t>
            </a:r>
            <a:r>
              <a:rPr lang="zh-CN" altLang="en-US" dirty="0"/>
              <a:t>，	</a:t>
            </a:r>
          </a:p>
          <a:p>
            <a:pPr marL="800100" lvl="2" indent="0">
              <a:buNone/>
            </a:pPr>
            <a:r>
              <a:rPr lang="zh-CN" altLang="en-US" dirty="0"/>
              <a:t>          </a:t>
            </a:r>
            <a:r>
              <a:rPr lang="en-US" altLang="zh-CN" dirty="0"/>
              <a:t>PRIMARY KEY (</a:t>
            </a:r>
            <a:r>
              <a:rPr lang="en-US" altLang="zh-CN" dirty="0" err="1"/>
              <a:t>Sno</a:t>
            </a:r>
            <a:r>
              <a:rPr lang="zh-CN" altLang="en-US" dirty="0"/>
              <a:t>， </a:t>
            </a:r>
            <a:r>
              <a:rPr lang="en-US" altLang="zh-CN" dirty="0" err="1"/>
              <a:t>Cno</a:t>
            </a:r>
            <a:r>
              <a:rPr lang="en-US" altLang="zh-CN" dirty="0"/>
              <a:t>)</a:t>
            </a:r>
            <a:r>
              <a:rPr lang="zh-CN" altLang="en-US" dirty="0"/>
              <a:t>，  </a:t>
            </a:r>
          </a:p>
          <a:p>
            <a:pPr marL="800100" lvl="2" indent="0">
              <a:buNone/>
            </a:pPr>
            <a:r>
              <a:rPr lang="zh-CN" altLang="en-US" dirty="0"/>
              <a:t>          </a:t>
            </a:r>
            <a:r>
              <a:rPr lang="en-US" altLang="zh-CN" dirty="0">
                <a:solidFill>
                  <a:srgbClr val="0000FF"/>
                </a:solidFill>
                <a:highlight>
                  <a:srgbClr val="FFFF00"/>
                </a:highlight>
              </a:rPr>
              <a:t>/* </a:t>
            </a:r>
            <a:r>
              <a:rPr lang="zh-CN" altLang="en-US" dirty="0">
                <a:solidFill>
                  <a:srgbClr val="0000FF"/>
                </a:solidFill>
                <a:highlight>
                  <a:srgbClr val="FFFF00"/>
                </a:highlight>
              </a:rPr>
              <a:t>如果在表级定义实体完整性，隐含了</a:t>
            </a:r>
            <a:r>
              <a:rPr lang="en-US" altLang="zh-CN" dirty="0" err="1">
                <a:solidFill>
                  <a:srgbClr val="0000FF"/>
                </a:solidFill>
                <a:highlight>
                  <a:srgbClr val="FFFF00"/>
                </a:highlight>
              </a:rPr>
              <a:t>Sno</a:t>
            </a:r>
            <a:r>
              <a:rPr lang="zh-CN" altLang="en-US" dirty="0">
                <a:solidFill>
                  <a:srgbClr val="0000FF"/>
                </a:solidFill>
                <a:highlight>
                  <a:srgbClr val="FFFF00"/>
                </a:highlight>
              </a:rPr>
              <a:t>，</a:t>
            </a:r>
            <a:r>
              <a:rPr lang="en-US" altLang="zh-CN" dirty="0" err="1">
                <a:solidFill>
                  <a:srgbClr val="0000FF"/>
                </a:solidFill>
                <a:highlight>
                  <a:srgbClr val="FFFF00"/>
                </a:highlight>
              </a:rPr>
              <a:t>Cno</a:t>
            </a:r>
            <a:r>
              <a:rPr lang="zh-CN" altLang="en-US" dirty="0">
                <a:solidFill>
                  <a:srgbClr val="0000FF"/>
                </a:solidFill>
                <a:highlight>
                  <a:srgbClr val="FFFF00"/>
                </a:highlight>
              </a:rPr>
              <a:t>不允许取空值，则在列级不允许取空值的定义就不必写了 * </a:t>
            </a:r>
            <a:r>
              <a:rPr lang="en-US" altLang="zh-CN" dirty="0">
                <a:solidFill>
                  <a:srgbClr val="0000FF"/>
                </a:solidFill>
                <a:highlight>
                  <a:srgbClr val="FFFF00"/>
                </a:highlight>
              </a:rPr>
              <a:t>/</a:t>
            </a:r>
          </a:p>
          <a:p>
            <a:pPr marL="800100" lvl="2" indent="0">
              <a:buNone/>
            </a:pPr>
            <a:r>
              <a:rPr lang="en-US" altLang="zh-CN" dirty="0"/>
              <a:t>        )</a:t>
            </a:r>
            <a:r>
              <a:rPr lang="zh-CN" altLang="en-US" dirty="0"/>
              <a:t>； </a:t>
            </a:r>
          </a:p>
        </p:txBody>
      </p:sp>
      <p:sp>
        <p:nvSpPr>
          <p:cNvPr id="2" name="灯片编号占位符 1">
            <a:extLst>
              <a:ext uri="{FF2B5EF4-FFF2-40B4-BE49-F238E27FC236}">
                <a16:creationId xmlns:a16="http://schemas.microsoft.com/office/drawing/2014/main" id="{0F205BE2-FEA5-495C-9B2B-E3F2D07BA630}"/>
              </a:ext>
            </a:extLst>
          </p:cNvPr>
          <p:cNvSpPr>
            <a:spLocks noGrp="1"/>
          </p:cNvSpPr>
          <p:nvPr>
            <p:ph type="sldNum" sz="quarter" idx="12"/>
          </p:nvPr>
        </p:nvSpPr>
        <p:spPr/>
        <p:txBody>
          <a:bodyPr/>
          <a:lstStyle/>
          <a:p>
            <a:fld id="{47C9E101-E51D-431E-84FA-C029B8655B60}" type="slidenum">
              <a:rPr lang="zh-CN" altLang="en-US" smtClean="0"/>
              <a:pPr/>
              <a:t>31</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6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56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056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056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056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056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056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05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a:extLst>
              <a:ext uri="{FF2B5EF4-FFF2-40B4-BE49-F238E27FC236}">
                <a16:creationId xmlns:a16="http://schemas.microsoft.com/office/drawing/2014/main" id="{31A179EC-4327-4273-9C2E-61451083379C}"/>
              </a:ext>
            </a:extLst>
          </p:cNvPr>
          <p:cNvSpPr>
            <a:spLocks noGrp="1" noChangeArrowheads="1"/>
          </p:cNvSpPr>
          <p:nvPr>
            <p:ph type="title"/>
          </p:nvPr>
        </p:nvSpPr>
        <p:spPr/>
        <p:txBody>
          <a:bodyPr/>
          <a:lstStyle/>
          <a:p>
            <a:r>
              <a:rPr lang="zh-CN" altLang="en-US"/>
              <a:t>属性上的约束条件的定义</a:t>
            </a:r>
            <a:r>
              <a:rPr lang="en-US" altLang="zh-CN"/>
              <a:t>(</a:t>
            </a:r>
            <a:r>
              <a:rPr lang="zh-CN" altLang="en-US"/>
              <a:t>续</a:t>
            </a:r>
            <a:r>
              <a:rPr lang="en-US" altLang="zh-CN"/>
              <a:t>)</a:t>
            </a:r>
          </a:p>
        </p:txBody>
      </p:sp>
      <p:sp>
        <p:nvSpPr>
          <p:cNvPr id="451587" name="Rectangle 3">
            <a:extLst>
              <a:ext uri="{FF2B5EF4-FFF2-40B4-BE49-F238E27FC236}">
                <a16:creationId xmlns:a16="http://schemas.microsoft.com/office/drawing/2014/main" id="{69877FCB-70A3-479B-BD72-FC0884CDF03B}"/>
              </a:ext>
            </a:extLst>
          </p:cNvPr>
          <p:cNvSpPr>
            <a:spLocks noGrp="1" noChangeArrowheads="1"/>
          </p:cNvSpPr>
          <p:nvPr>
            <p:ph idx="1"/>
          </p:nvPr>
        </p:nvSpPr>
        <p:spPr/>
        <p:txBody>
          <a:bodyPr/>
          <a:lstStyle/>
          <a:p>
            <a:r>
              <a:rPr lang="en-US" altLang="zh-CN" dirty="0"/>
              <a:t>2.</a:t>
            </a:r>
            <a:r>
              <a:rPr lang="zh-CN" altLang="en-US" dirty="0"/>
              <a:t>列值唯一 </a:t>
            </a:r>
          </a:p>
          <a:p>
            <a:pPr lvl="1"/>
            <a:r>
              <a:rPr lang="en-US" altLang="zh-CN" dirty="0"/>
              <a:t>[</a:t>
            </a:r>
            <a:r>
              <a:rPr lang="zh-CN" altLang="en-US" dirty="0"/>
              <a:t>例</a:t>
            </a:r>
            <a:r>
              <a:rPr lang="en-US" altLang="zh-CN" dirty="0"/>
              <a:t>6] </a:t>
            </a:r>
            <a:r>
              <a:rPr lang="zh-CN" altLang="en-US" dirty="0"/>
              <a:t>建立部门表</a:t>
            </a:r>
            <a:r>
              <a:rPr lang="en-US" altLang="zh-CN" dirty="0"/>
              <a:t>DEPT</a:t>
            </a:r>
            <a:r>
              <a:rPr lang="zh-CN" altLang="en-US" dirty="0"/>
              <a:t>，要求部门名称</a:t>
            </a:r>
            <a:r>
              <a:rPr lang="en-US" altLang="zh-CN" dirty="0" err="1"/>
              <a:t>Dname</a:t>
            </a:r>
            <a:r>
              <a:rPr lang="zh-CN" altLang="en-US" dirty="0"/>
              <a:t>列取值唯一，部门编号</a:t>
            </a:r>
            <a:r>
              <a:rPr lang="en-US" altLang="zh-CN" dirty="0" err="1"/>
              <a:t>Deptno</a:t>
            </a:r>
            <a:r>
              <a:rPr lang="zh-CN" altLang="en-US" dirty="0"/>
              <a:t>列为主码</a:t>
            </a:r>
          </a:p>
          <a:p>
            <a:pPr marL="800100" lvl="2" indent="0">
              <a:buNone/>
            </a:pPr>
            <a:r>
              <a:rPr lang="zh-CN" altLang="en-US" dirty="0"/>
              <a:t>    </a:t>
            </a:r>
            <a:r>
              <a:rPr lang="en-US" altLang="zh-CN" dirty="0"/>
              <a:t>CREATE TABLE DEPT</a:t>
            </a:r>
          </a:p>
          <a:p>
            <a:pPr marL="800100" lvl="2" indent="0">
              <a:buNone/>
            </a:pPr>
            <a:r>
              <a:rPr lang="en-US" altLang="zh-CN" dirty="0"/>
              <a:t>        ( </a:t>
            </a:r>
            <a:r>
              <a:rPr lang="en-US" altLang="zh-CN" dirty="0" err="1"/>
              <a:t>Deptno</a:t>
            </a:r>
            <a:r>
              <a:rPr lang="en-US" altLang="zh-CN" dirty="0"/>
              <a:t>  NUMERIC(2)</a:t>
            </a:r>
            <a:r>
              <a:rPr lang="zh-CN" altLang="en-US" dirty="0"/>
              <a:t>，</a:t>
            </a:r>
          </a:p>
          <a:p>
            <a:pPr marL="800100" lvl="2" indent="0">
              <a:buNone/>
            </a:pPr>
            <a:r>
              <a:rPr lang="zh-CN" altLang="en-US" dirty="0"/>
              <a:t>          </a:t>
            </a:r>
            <a:r>
              <a:rPr lang="en-US" altLang="zh-CN" dirty="0" err="1"/>
              <a:t>Dname</a:t>
            </a:r>
            <a:r>
              <a:rPr lang="en-US" altLang="zh-CN" dirty="0"/>
              <a:t>  CHAR(9)  </a:t>
            </a:r>
            <a:r>
              <a:rPr lang="en-US" altLang="zh-CN" dirty="0">
                <a:solidFill>
                  <a:srgbClr val="0000FF"/>
                </a:solidFill>
              </a:rPr>
              <a:t>UNIQUE</a:t>
            </a:r>
            <a:r>
              <a:rPr lang="zh-CN" altLang="en-US" dirty="0"/>
              <a:t>，</a:t>
            </a:r>
            <a:r>
              <a:rPr lang="en-US" altLang="zh-CN" dirty="0"/>
              <a:t>/*</a:t>
            </a:r>
            <a:r>
              <a:rPr lang="zh-CN" altLang="en-US" dirty="0"/>
              <a:t>要求</a:t>
            </a:r>
            <a:r>
              <a:rPr lang="en-US" altLang="zh-CN" dirty="0" err="1"/>
              <a:t>Dname</a:t>
            </a:r>
            <a:r>
              <a:rPr lang="zh-CN" altLang="en-US" dirty="0"/>
              <a:t>列值唯一*</a:t>
            </a:r>
            <a:r>
              <a:rPr lang="en-US" altLang="zh-CN" dirty="0"/>
              <a:t>/</a:t>
            </a:r>
          </a:p>
          <a:p>
            <a:pPr marL="800100" lvl="2" indent="0">
              <a:buNone/>
            </a:pPr>
            <a:r>
              <a:rPr lang="en-US" altLang="zh-CN" dirty="0"/>
              <a:t>          Location  CHAR(10)</a:t>
            </a:r>
            <a:r>
              <a:rPr lang="zh-CN" altLang="en-US" dirty="0"/>
              <a:t>，</a:t>
            </a:r>
          </a:p>
          <a:p>
            <a:pPr marL="800100" lvl="2" indent="0">
              <a:buNone/>
            </a:pPr>
            <a:r>
              <a:rPr lang="zh-CN" altLang="en-US" dirty="0"/>
              <a:t>          </a:t>
            </a:r>
            <a:r>
              <a:rPr lang="en-US" altLang="zh-CN" dirty="0">
                <a:solidFill>
                  <a:srgbClr val="0000FF"/>
                </a:solidFill>
              </a:rPr>
              <a:t>PRIMARY KEY (</a:t>
            </a:r>
            <a:r>
              <a:rPr lang="en-US" altLang="zh-CN" dirty="0" err="1">
                <a:solidFill>
                  <a:srgbClr val="0000FF"/>
                </a:solidFill>
              </a:rPr>
              <a:t>Deptno</a:t>
            </a:r>
            <a:r>
              <a:rPr lang="en-US" altLang="zh-CN" dirty="0">
                <a:solidFill>
                  <a:srgbClr val="0000FF"/>
                </a:solidFill>
              </a:rPr>
              <a:t>)</a:t>
            </a:r>
          </a:p>
          <a:p>
            <a:pPr marL="800100" lvl="2" indent="0">
              <a:buNone/>
            </a:pPr>
            <a:r>
              <a:rPr lang="en-US" altLang="zh-CN" dirty="0"/>
              <a:t>       )</a:t>
            </a:r>
            <a:r>
              <a:rPr lang="zh-CN" altLang="en-US" dirty="0"/>
              <a:t>；</a:t>
            </a:r>
          </a:p>
        </p:txBody>
      </p:sp>
      <p:sp>
        <p:nvSpPr>
          <p:cNvPr id="2" name="灯片编号占位符 1">
            <a:extLst>
              <a:ext uri="{FF2B5EF4-FFF2-40B4-BE49-F238E27FC236}">
                <a16:creationId xmlns:a16="http://schemas.microsoft.com/office/drawing/2014/main" id="{7B933B3B-2F9D-475E-946D-392D8932C36E}"/>
              </a:ext>
            </a:extLst>
          </p:cNvPr>
          <p:cNvSpPr>
            <a:spLocks noGrp="1"/>
          </p:cNvSpPr>
          <p:nvPr>
            <p:ph type="sldNum" sz="quarter" idx="12"/>
          </p:nvPr>
        </p:nvSpPr>
        <p:spPr/>
        <p:txBody>
          <a:bodyPr/>
          <a:lstStyle/>
          <a:p>
            <a:fld id="{47C9E101-E51D-431E-84FA-C029B8655B60}" type="slidenum">
              <a:rPr lang="zh-CN" altLang="en-US" smtClean="0"/>
              <a:pPr/>
              <a:t>32</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158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158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158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158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158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158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158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a:extLst>
              <a:ext uri="{FF2B5EF4-FFF2-40B4-BE49-F238E27FC236}">
                <a16:creationId xmlns:a16="http://schemas.microsoft.com/office/drawing/2014/main" id="{86E1FC98-3068-4389-83DC-4896AB978474}"/>
              </a:ext>
            </a:extLst>
          </p:cNvPr>
          <p:cNvSpPr>
            <a:spLocks noGrp="1" noChangeArrowheads="1"/>
          </p:cNvSpPr>
          <p:nvPr>
            <p:ph type="title"/>
          </p:nvPr>
        </p:nvSpPr>
        <p:spPr/>
        <p:txBody>
          <a:bodyPr/>
          <a:lstStyle/>
          <a:p>
            <a:r>
              <a:rPr lang="zh-CN" altLang="en-US"/>
              <a:t>属性上的约束条件的定义</a:t>
            </a:r>
            <a:r>
              <a:rPr lang="en-US" altLang="zh-CN"/>
              <a:t>(</a:t>
            </a:r>
            <a:r>
              <a:rPr lang="zh-CN" altLang="en-US"/>
              <a:t>续</a:t>
            </a:r>
            <a:r>
              <a:rPr lang="en-US" altLang="zh-CN"/>
              <a:t>)</a:t>
            </a:r>
          </a:p>
        </p:txBody>
      </p:sp>
      <p:sp>
        <p:nvSpPr>
          <p:cNvPr id="452611" name="Rectangle 3">
            <a:extLst>
              <a:ext uri="{FF2B5EF4-FFF2-40B4-BE49-F238E27FC236}">
                <a16:creationId xmlns:a16="http://schemas.microsoft.com/office/drawing/2014/main" id="{6C43CB1C-5815-4C6E-9732-C5C86676836D}"/>
              </a:ext>
            </a:extLst>
          </p:cNvPr>
          <p:cNvSpPr>
            <a:spLocks noGrp="1" noChangeArrowheads="1"/>
          </p:cNvSpPr>
          <p:nvPr>
            <p:ph idx="1"/>
          </p:nvPr>
        </p:nvSpPr>
        <p:spPr/>
        <p:txBody>
          <a:bodyPr>
            <a:normAutofit/>
          </a:bodyPr>
          <a:lstStyle/>
          <a:p>
            <a:r>
              <a:rPr lang="en-US" altLang="zh-CN" dirty="0"/>
              <a:t>3. </a:t>
            </a:r>
            <a:r>
              <a:rPr lang="zh-CN" altLang="en-US" dirty="0"/>
              <a:t>用</a:t>
            </a:r>
            <a:r>
              <a:rPr lang="en-US" altLang="zh-CN" dirty="0"/>
              <a:t>CHECK</a:t>
            </a:r>
            <a:r>
              <a:rPr lang="zh-CN" altLang="en-US" dirty="0"/>
              <a:t>短语指定列值应该满足的条件</a:t>
            </a:r>
          </a:p>
          <a:p>
            <a:pPr lvl="1"/>
            <a:r>
              <a:rPr lang="en-US" altLang="zh-CN" dirty="0"/>
              <a:t>[</a:t>
            </a:r>
            <a:r>
              <a:rPr lang="zh-CN" altLang="en-US" dirty="0"/>
              <a:t>例</a:t>
            </a:r>
            <a:r>
              <a:rPr lang="en-US" altLang="zh-CN" dirty="0"/>
              <a:t>7] Student</a:t>
            </a:r>
            <a:r>
              <a:rPr lang="zh-CN" altLang="en-US" dirty="0"/>
              <a:t>表的</a:t>
            </a:r>
            <a:r>
              <a:rPr lang="en-US" altLang="zh-CN" dirty="0" err="1"/>
              <a:t>Ssex</a:t>
            </a:r>
            <a:r>
              <a:rPr lang="zh-CN" altLang="en-US" dirty="0"/>
              <a:t>只允许取“男”或“女”。</a:t>
            </a:r>
          </a:p>
          <a:p>
            <a:pPr marL="800100" lvl="2" indent="0">
              <a:buNone/>
            </a:pPr>
            <a:r>
              <a:rPr lang="zh-CN" altLang="en-US" dirty="0"/>
              <a:t>    </a:t>
            </a:r>
            <a:r>
              <a:rPr lang="en-US" altLang="zh-CN" dirty="0"/>
              <a:t>CREATE TABLE Student</a:t>
            </a:r>
          </a:p>
          <a:p>
            <a:pPr marL="800100" lvl="2" indent="0">
              <a:buNone/>
            </a:pPr>
            <a:r>
              <a:rPr lang="en-US" altLang="zh-CN" dirty="0"/>
              <a:t>        ( </a:t>
            </a:r>
            <a:r>
              <a:rPr lang="en-US" altLang="zh-CN" dirty="0" err="1"/>
              <a:t>Sno</a:t>
            </a:r>
            <a:r>
              <a:rPr lang="en-US" altLang="zh-CN" dirty="0"/>
              <a:t>  CHAR(9) PRIMARY KEY</a:t>
            </a:r>
            <a:r>
              <a:rPr lang="zh-CN" altLang="en-US" dirty="0"/>
              <a:t>，</a:t>
            </a:r>
          </a:p>
          <a:p>
            <a:pPr marL="800100" lvl="2" indent="0">
              <a:buNone/>
            </a:pPr>
            <a:r>
              <a:rPr lang="zh-CN" altLang="en-US" dirty="0"/>
              <a:t>          </a:t>
            </a:r>
            <a:r>
              <a:rPr lang="en-US" altLang="zh-CN" dirty="0" err="1"/>
              <a:t>Sname</a:t>
            </a:r>
            <a:r>
              <a:rPr lang="en-US" altLang="zh-CN" dirty="0"/>
              <a:t> CHAR(8) NOT NULL</a:t>
            </a:r>
            <a:r>
              <a:rPr lang="zh-CN" altLang="en-US" dirty="0"/>
              <a:t>，                     </a:t>
            </a:r>
          </a:p>
          <a:p>
            <a:pPr marL="800100" lvl="2" indent="0">
              <a:buNone/>
            </a:pPr>
            <a:r>
              <a:rPr lang="zh-CN" altLang="en-US" dirty="0"/>
              <a:t>          </a:t>
            </a:r>
            <a:r>
              <a:rPr lang="en-US" altLang="zh-CN" dirty="0" err="1"/>
              <a:t>Ssex</a:t>
            </a:r>
            <a:r>
              <a:rPr lang="en-US" altLang="zh-CN" dirty="0"/>
              <a:t>  CHAR(2)  </a:t>
            </a:r>
            <a:r>
              <a:rPr lang="en-US" altLang="zh-CN" dirty="0">
                <a:solidFill>
                  <a:srgbClr val="0000FF"/>
                </a:solidFill>
              </a:rPr>
              <a:t>CHECK (</a:t>
            </a:r>
            <a:r>
              <a:rPr lang="en-US" altLang="zh-CN" dirty="0" err="1">
                <a:solidFill>
                  <a:srgbClr val="0000FF"/>
                </a:solidFill>
              </a:rPr>
              <a:t>Ssex</a:t>
            </a:r>
            <a:r>
              <a:rPr lang="en-US" altLang="zh-CN" dirty="0">
                <a:solidFill>
                  <a:srgbClr val="0000FF"/>
                </a:solidFill>
              </a:rPr>
              <a:t> IN (‘</a:t>
            </a:r>
            <a:r>
              <a:rPr lang="zh-CN" altLang="en-US" dirty="0">
                <a:solidFill>
                  <a:srgbClr val="0000FF"/>
                </a:solidFill>
              </a:rPr>
              <a:t>男’，‘女’</a:t>
            </a:r>
            <a:r>
              <a:rPr lang="en-US" altLang="zh-CN" dirty="0">
                <a:solidFill>
                  <a:srgbClr val="0000FF"/>
                </a:solidFill>
              </a:rPr>
              <a:t>) ) </a:t>
            </a:r>
            <a:r>
              <a:rPr lang="zh-CN" altLang="en-US" dirty="0"/>
              <a:t>，                </a:t>
            </a:r>
          </a:p>
          <a:p>
            <a:pPr marL="800100" lvl="2" indent="0">
              <a:buNone/>
            </a:pPr>
            <a:r>
              <a:rPr lang="zh-CN" altLang="en-US" dirty="0">
                <a:solidFill>
                  <a:srgbClr val="0000FF"/>
                </a:solidFill>
              </a:rPr>
              <a:t>              </a:t>
            </a:r>
            <a:r>
              <a:rPr lang="en-US" altLang="zh-CN" dirty="0">
                <a:solidFill>
                  <a:srgbClr val="0000FF"/>
                </a:solidFill>
                <a:highlight>
                  <a:srgbClr val="FFFF00"/>
                </a:highlight>
              </a:rPr>
              <a:t>/*</a:t>
            </a:r>
            <a:r>
              <a:rPr lang="zh-CN" altLang="en-US" dirty="0">
                <a:solidFill>
                  <a:srgbClr val="0000FF"/>
                </a:solidFill>
                <a:highlight>
                  <a:srgbClr val="FFFF00"/>
                </a:highlight>
              </a:rPr>
              <a:t>性别属性</a:t>
            </a:r>
            <a:r>
              <a:rPr lang="en-US" altLang="zh-CN" dirty="0" err="1">
                <a:solidFill>
                  <a:srgbClr val="0000FF"/>
                </a:solidFill>
                <a:highlight>
                  <a:srgbClr val="FFFF00"/>
                </a:highlight>
              </a:rPr>
              <a:t>Ssex</a:t>
            </a:r>
            <a:r>
              <a:rPr lang="zh-CN" altLang="en-US" dirty="0">
                <a:solidFill>
                  <a:srgbClr val="0000FF"/>
                </a:solidFill>
                <a:highlight>
                  <a:srgbClr val="FFFF00"/>
                </a:highlight>
              </a:rPr>
              <a:t>只允许取</a:t>
            </a:r>
            <a:r>
              <a:rPr lang="en-US" altLang="zh-CN" dirty="0">
                <a:solidFill>
                  <a:srgbClr val="0000FF"/>
                </a:solidFill>
                <a:highlight>
                  <a:srgbClr val="FFFF00"/>
                </a:highlight>
              </a:rPr>
              <a:t>'</a:t>
            </a:r>
            <a:r>
              <a:rPr lang="zh-CN" altLang="en-US" dirty="0">
                <a:solidFill>
                  <a:srgbClr val="0000FF"/>
                </a:solidFill>
                <a:highlight>
                  <a:srgbClr val="FFFF00"/>
                </a:highlight>
              </a:rPr>
              <a:t>男</a:t>
            </a:r>
            <a:r>
              <a:rPr lang="en-US" altLang="zh-CN" dirty="0">
                <a:solidFill>
                  <a:srgbClr val="0000FF"/>
                </a:solidFill>
                <a:highlight>
                  <a:srgbClr val="FFFF00"/>
                </a:highlight>
              </a:rPr>
              <a:t>'</a:t>
            </a:r>
            <a:r>
              <a:rPr lang="zh-CN" altLang="en-US" dirty="0">
                <a:solidFill>
                  <a:srgbClr val="0000FF"/>
                </a:solidFill>
                <a:highlight>
                  <a:srgbClr val="FFFF00"/>
                </a:highlight>
              </a:rPr>
              <a:t>或</a:t>
            </a:r>
            <a:r>
              <a:rPr lang="en-US" altLang="zh-CN" dirty="0">
                <a:solidFill>
                  <a:srgbClr val="0000FF"/>
                </a:solidFill>
                <a:highlight>
                  <a:srgbClr val="FFFF00"/>
                </a:highlight>
              </a:rPr>
              <a:t>'</a:t>
            </a:r>
            <a:r>
              <a:rPr lang="zh-CN" altLang="en-US" dirty="0">
                <a:solidFill>
                  <a:srgbClr val="0000FF"/>
                </a:solidFill>
                <a:highlight>
                  <a:srgbClr val="FFFF00"/>
                </a:highlight>
              </a:rPr>
              <a:t>女</a:t>
            </a:r>
            <a:r>
              <a:rPr lang="en-US" altLang="zh-CN" dirty="0">
                <a:solidFill>
                  <a:srgbClr val="0000FF"/>
                </a:solidFill>
                <a:highlight>
                  <a:srgbClr val="FFFF00"/>
                </a:highlight>
              </a:rPr>
              <a:t>' */</a:t>
            </a:r>
          </a:p>
          <a:p>
            <a:pPr marL="800100" lvl="2" indent="0">
              <a:buNone/>
            </a:pPr>
            <a:r>
              <a:rPr lang="en-US" altLang="zh-CN" dirty="0"/>
              <a:t>          Sage  SMALLINT</a:t>
            </a:r>
            <a:r>
              <a:rPr lang="zh-CN" altLang="en-US" dirty="0"/>
              <a:t>，</a:t>
            </a:r>
          </a:p>
          <a:p>
            <a:pPr marL="800100" lvl="2" indent="0">
              <a:buNone/>
            </a:pPr>
            <a:r>
              <a:rPr lang="zh-CN" altLang="en-US" dirty="0"/>
              <a:t>          </a:t>
            </a:r>
            <a:r>
              <a:rPr lang="en-US" altLang="zh-CN" dirty="0" err="1"/>
              <a:t>Sdept</a:t>
            </a:r>
            <a:r>
              <a:rPr lang="en-US" altLang="zh-CN" dirty="0"/>
              <a:t>  CHAR(20)</a:t>
            </a:r>
          </a:p>
          <a:p>
            <a:pPr marL="800100" lvl="2" indent="0">
              <a:buNone/>
            </a:pPr>
            <a:r>
              <a:rPr lang="en-US" altLang="zh-CN" dirty="0"/>
              <a:t>        );</a:t>
            </a:r>
          </a:p>
        </p:txBody>
      </p:sp>
      <p:sp>
        <p:nvSpPr>
          <p:cNvPr id="2" name="灯片编号占位符 1">
            <a:extLst>
              <a:ext uri="{FF2B5EF4-FFF2-40B4-BE49-F238E27FC236}">
                <a16:creationId xmlns:a16="http://schemas.microsoft.com/office/drawing/2014/main" id="{2DA9ABCC-E9C0-4D0C-9FBE-1AE95862021E}"/>
              </a:ext>
            </a:extLst>
          </p:cNvPr>
          <p:cNvSpPr>
            <a:spLocks noGrp="1"/>
          </p:cNvSpPr>
          <p:nvPr>
            <p:ph type="sldNum" sz="quarter" idx="12"/>
          </p:nvPr>
        </p:nvSpPr>
        <p:spPr/>
        <p:txBody>
          <a:bodyPr/>
          <a:lstStyle/>
          <a:p>
            <a:fld id="{47C9E101-E51D-431E-84FA-C029B8655B60}" type="slidenum">
              <a:rPr lang="zh-CN" altLang="en-US" smtClean="0"/>
              <a:pPr/>
              <a:t>33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26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261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26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261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261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261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261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2611">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26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a:extLst>
              <a:ext uri="{FF2B5EF4-FFF2-40B4-BE49-F238E27FC236}">
                <a16:creationId xmlns:a16="http://schemas.microsoft.com/office/drawing/2014/main" id="{86E1FC98-3068-4389-83DC-4896AB978474}"/>
              </a:ext>
            </a:extLst>
          </p:cNvPr>
          <p:cNvSpPr>
            <a:spLocks noGrp="1" noChangeArrowheads="1"/>
          </p:cNvSpPr>
          <p:nvPr>
            <p:ph type="title"/>
          </p:nvPr>
        </p:nvSpPr>
        <p:spPr/>
        <p:txBody>
          <a:bodyPr/>
          <a:lstStyle/>
          <a:p>
            <a:r>
              <a:rPr lang="zh-CN" altLang="en-US"/>
              <a:t>属性上的约束条件的定义</a:t>
            </a:r>
            <a:r>
              <a:rPr lang="en-US" altLang="zh-CN"/>
              <a:t>(</a:t>
            </a:r>
            <a:r>
              <a:rPr lang="zh-CN" altLang="en-US"/>
              <a:t>续</a:t>
            </a:r>
            <a:r>
              <a:rPr lang="en-US" altLang="zh-CN"/>
              <a:t>)</a:t>
            </a:r>
          </a:p>
        </p:txBody>
      </p:sp>
      <p:sp>
        <p:nvSpPr>
          <p:cNvPr id="452611" name="Rectangle 3">
            <a:extLst>
              <a:ext uri="{FF2B5EF4-FFF2-40B4-BE49-F238E27FC236}">
                <a16:creationId xmlns:a16="http://schemas.microsoft.com/office/drawing/2014/main" id="{6C43CB1C-5815-4C6E-9732-C5C86676836D}"/>
              </a:ext>
            </a:extLst>
          </p:cNvPr>
          <p:cNvSpPr>
            <a:spLocks noGrp="1" noChangeArrowheads="1"/>
          </p:cNvSpPr>
          <p:nvPr>
            <p:ph idx="1"/>
          </p:nvPr>
        </p:nvSpPr>
        <p:spPr/>
        <p:txBody>
          <a:bodyPr/>
          <a:lstStyle/>
          <a:p>
            <a:r>
              <a:rPr lang="en-US" altLang="zh-CN" dirty="0"/>
              <a:t>[</a:t>
            </a:r>
            <a:r>
              <a:rPr lang="zh-CN" altLang="en-US" dirty="0"/>
              <a:t>例</a:t>
            </a:r>
            <a:r>
              <a:rPr lang="en-US" altLang="zh-CN" dirty="0"/>
              <a:t>7] SC</a:t>
            </a:r>
            <a:r>
              <a:rPr lang="zh-CN" altLang="en-US" dirty="0"/>
              <a:t>表的</a:t>
            </a:r>
            <a:r>
              <a:rPr lang="en-US" altLang="zh-CN" dirty="0"/>
              <a:t>Grade</a:t>
            </a:r>
            <a:r>
              <a:rPr lang="zh-CN" altLang="en-US" dirty="0"/>
              <a:t>的值应该在</a:t>
            </a:r>
            <a:r>
              <a:rPr lang="en-US" altLang="zh-CN" dirty="0"/>
              <a:t>0</a:t>
            </a:r>
            <a:r>
              <a:rPr lang="zh-CN" altLang="en-US" dirty="0"/>
              <a:t>和</a:t>
            </a:r>
            <a:r>
              <a:rPr lang="en-US" altLang="zh-CN" dirty="0"/>
              <a:t>100</a:t>
            </a:r>
            <a:r>
              <a:rPr lang="zh-CN" altLang="en-US" dirty="0"/>
              <a:t>之间。    </a:t>
            </a:r>
            <a:endParaRPr lang="en-US" altLang="zh-CN" dirty="0"/>
          </a:p>
          <a:p>
            <a:pPr marL="342900" lvl="1" indent="0">
              <a:buNone/>
            </a:pPr>
            <a:r>
              <a:rPr lang="en-US" altLang="zh-CN" dirty="0"/>
              <a:t>CREATE TABLE SC</a:t>
            </a:r>
          </a:p>
          <a:p>
            <a:pPr marL="342900" lvl="1" indent="0">
              <a:buNone/>
            </a:pPr>
            <a:r>
              <a:rPr lang="en-US" altLang="zh-CN" dirty="0"/>
              <a:t>  ( </a:t>
            </a:r>
            <a:r>
              <a:rPr lang="en-US" altLang="zh-CN" dirty="0" err="1"/>
              <a:t>Sno</a:t>
            </a:r>
            <a:r>
              <a:rPr lang="en-US" altLang="zh-CN" dirty="0"/>
              <a:t> CHAR(9) ,</a:t>
            </a:r>
          </a:p>
          <a:p>
            <a:pPr marL="342900" lvl="1" indent="0">
              <a:buNone/>
            </a:pPr>
            <a:r>
              <a:rPr lang="en-US" altLang="zh-CN" dirty="0"/>
              <a:t>    </a:t>
            </a:r>
            <a:r>
              <a:rPr lang="en-US" altLang="zh-CN" dirty="0" err="1"/>
              <a:t>Cno</a:t>
            </a:r>
            <a:r>
              <a:rPr lang="en-US" altLang="zh-CN" dirty="0"/>
              <a:t> CHAR(4),</a:t>
            </a:r>
          </a:p>
          <a:p>
            <a:pPr marL="342900" lvl="1" indent="0">
              <a:buNone/>
            </a:pPr>
            <a:r>
              <a:rPr lang="en-US" altLang="zh-CN" dirty="0"/>
              <a:t>    Grade SMALLINT </a:t>
            </a:r>
            <a:r>
              <a:rPr lang="en-US" altLang="zh-CN" dirty="0">
                <a:solidFill>
                  <a:srgbClr val="0000FF"/>
                </a:solidFill>
              </a:rPr>
              <a:t>CHECK (Grade&gt;=0 AND Grade &lt;=100)</a:t>
            </a:r>
            <a:r>
              <a:rPr lang="zh-CN" altLang="en-US" dirty="0"/>
              <a:t>，</a:t>
            </a:r>
          </a:p>
          <a:p>
            <a:pPr marL="342900" lvl="1" indent="0">
              <a:buNone/>
            </a:pPr>
            <a:r>
              <a:rPr lang="en-US" altLang="zh-CN" dirty="0"/>
              <a:t>                                      </a:t>
            </a:r>
            <a:r>
              <a:rPr lang="en-US" altLang="zh-CN" dirty="0">
                <a:solidFill>
                  <a:srgbClr val="0000FF"/>
                </a:solidFill>
                <a:highlight>
                  <a:srgbClr val="FFFF00"/>
                </a:highlight>
              </a:rPr>
              <a:t>/*Grade</a:t>
            </a:r>
            <a:r>
              <a:rPr lang="zh-CN" altLang="en-US" dirty="0">
                <a:solidFill>
                  <a:srgbClr val="0000FF"/>
                </a:solidFill>
                <a:highlight>
                  <a:srgbClr val="FFFF00"/>
                </a:highlight>
              </a:rPr>
              <a:t>取值范围是</a:t>
            </a:r>
            <a:r>
              <a:rPr lang="en-US" altLang="zh-CN" dirty="0">
                <a:solidFill>
                  <a:srgbClr val="0000FF"/>
                </a:solidFill>
                <a:highlight>
                  <a:srgbClr val="FFFF00"/>
                </a:highlight>
              </a:rPr>
              <a:t>0</a:t>
            </a:r>
            <a:r>
              <a:rPr lang="zh-CN" altLang="en-US" dirty="0">
                <a:solidFill>
                  <a:srgbClr val="0000FF"/>
                </a:solidFill>
                <a:highlight>
                  <a:srgbClr val="FFFF00"/>
                </a:highlight>
              </a:rPr>
              <a:t>到</a:t>
            </a:r>
            <a:r>
              <a:rPr lang="en-US" altLang="zh-CN" dirty="0">
                <a:solidFill>
                  <a:srgbClr val="0000FF"/>
                </a:solidFill>
                <a:highlight>
                  <a:srgbClr val="FFFF00"/>
                </a:highlight>
              </a:rPr>
              <a:t>100*/</a:t>
            </a:r>
          </a:p>
          <a:p>
            <a:pPr marL="342900" lvl="1" indent="0">
              <a:buNone/>
            </a:pPr>
            <a:r>
              <a:rPr lang="en-US" altLang="zh-CN" dirty="0"/>
              <a:t>    PRIMARY KEY (</a:t>
            </a:r>
            <a:r>
              <a:rPr lang="en-US" altLang="zh-CN" dirty="0" err="1"/>
              <a:t>Sno,Cno</a:t>
            </a:r>
            <a:r>
              <a:rPr lang="en-US" altLang="zh-CN" dirty="0"/>
              <a:t>),</a:t>
            </a:r>
          </a:p>
          <a:p>
            <a:pPr marL="342900" lvl="1" indent="0">
              <a:buNone/>
            </a:pPr>
            <a:r>
              <a:rPr lang="en-US" altLang="zh-CN" dirty="0"/>
              <a:t>    FOREIGN KEY (</a:t>
            </a:r>
            <a:r>
              <a:rPr lang="en-US" altLang="zh-CN" dirty="0" err="1"/>
              <a:t>Sno</a:t>
            </a:r>
            <a:r>
              <a:rPr lang="en-US" altLang="zh-CN" dirty="0"/>
              <a:t>) REFERENCES Student(</a:t>
            </a:r>
            <a:r>
              <a:rPr lang="en-US" altLang="zh-CN" dirty="0" err="1"/>
              <a:t>Sno</a:t>
            </a:r>
            <a:r>
              <a:rPr lang="en-US" altLang="zh-CN" dirty="0"/>
              <a:t>),</a:t>
            </a:r>
          </a:p>
          <a:p>
            <a:pPr marL="342900" lvl="1" indent="0">
              <a:buNone/>
            </a:pPr>
            <a:r>
              <a:rPr lang="en-US" altLang="zh-CN" dirty="0"/>
              <a:t>    FOREIGN KEY (</a:t>
            </a:r>
            <a:r>
              <a:rPr lang="en-US" altLang="zh-CN" dirty="0" err="1"/>
              <a:t>Cno</a:t>
            </a:r>
            <a:r>
              <a:rPr lang="en-US" altLang="zh-CN" dirty="0"/>
              <a:t>) REFERENCES Course(</a:t>
            </a:r>
            <a:r>
              <a:rPr lang="en-US" altLang="zh-CN" dirty="0" err="1"/>
              <a:t>Cno</a:t>
            </a:r>
            <a:r>
              <a:rPr lang="en-US" altLang="zh-CN" dirty="0"/>
              <a:t>)</a:t>
            </a:r>
          </a:p>
          <a:p>
            <a:pPr marL="342900" lvl="1" indent="0">
              <a:buNone/>
            </a:pPr>
            <a:r>
              <a:rPr lang="en-US" altLang="zh-CN" dirty="0"/>
              <a:t> );</a:t>
            </a:r>
          </a:p>
        </p:txBody>
      </p:sp>
      <p:sp>
        <p:nvSpPr>
          <p:cNvPr id="2" name="灯片编号占位符 1">
            <a:extLst>
              <a:ext uri="{FF2B5EF4-FFF2-40B4-BE49-F238E27FC236}">
                <a16:creationId xmlns:a16="http://schemas.microsoft.com/office/drawing/2014/main" id="{8499D679-0440-4628-9E88-17722BD9B9D0}"/>
              </a:ext>
            </a:extLst>
          </p:cNvPr>
          <p:cNvSpPr>
            <a:spLocks noGrp="1"/>
          </p:cNvSpPr>
          <p:nvPr>
            <p:ph type="sldNum" sz="quarter" idx="12"/>
          </p:nvPr>
        </p:nvSpPr>
        <p:spPr/>
        <p:txBody>
          <a:bodyPr/>
          <a:lstStyle/>
          <a:p>
            <a:fld id="{47C9E101-E51D-431E-84FA-C029B8655B60}" type="slidenum">
              <a:rPr lang="zh-CN" altLang="en-US" smtClean="0"/>
              <a:pPr/>
              <a:t>34</a:t>
            </a:fld>
            <a:endParaRPr lang="zh-CN" altLang="en-US" dirty="0"/>
          </a:p>
        </p:txBody>
      </p:sp>
    </p:spTree>
    <p:extLst>
      <p:ext uri="{BB962C8B-B14F-4D97-AF65-F5344CB8AC3E}">
        <p14:creationId xmlns:p14="http://schemas.microsoft.com/office/powerpoint/2010/main" val="263761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26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261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26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261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261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261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261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2611">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26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a:extLst>
              <a:ext uri="{FF2B5EF4-FFF2-40B4-BE49-F238E27FC236}">
                <a16:creationId xmlns:a16="http://schemas.microsoft.com/office/drawing/2014/main" id="{0FF21BCB-2C7C-46C1-A893-D65D751B993E}"/>
              </a:ext>
            </a:extLst>
          </p:cNvPr>
          <p:cNvSpPr>
            <a:spLocks noGrp="1" noChangeArrowheads="1"/>
          </p:cNvSpPr>
          <p:nvPr>
            <p:ph type="title"/>
          </p:nvPr>
        </p:nvSpPr>
        <p:spPr/>
        <p:txBody>
          <a:bodyPr/>
          <a:lstStyle/>
          <a:p>
            <a:r>
              <a:rPr lang="zh-CN" altLang="en-US" dirty="0"/>
              <a:t>属性上的约束条件检查和违约处理</a:t>
            </a:r>
          </a:p>
        </p:txBody>
      </p:sp>
      <p:sp>
        <p:nvSpPr>
          <p:cNvPr id="454659" name="Rectangle 3">
            <a:extLst>
              <a:ext uri="{FF2B5EF4-FFF2-40B4-BE49-F238E27FC236}">
                <a16:creationId xmlns:a16="http://schemas.microsoft.com/office/drawing/2014/main" id="{CCB2B143-6902-4E85-9780-9AD68AC4A943}"/>
              </a:ext>
            </a:extLst>
          </p:cNvPr>
          <p:cNvSpPr>
            <a:spLocks noGrp="1" noChangeArrowheads="1"/>
          </p:cNvSpPr>
          <p:nvPr>
            <p:ph idx="1"/>
          </p:nvPr>
        </p:nvSpPr>
        <p:spPr/>
        <p:txBody>
          <a:bodyPr/>
          <a:lstStyle/>
          <a:p>
            <a:r>
              <a:rPr lang="zh-CN" altLang="en-US" dirty="0"/>
              <a:t>插入元组或修改属性的值时，</a:t>
            </a:r>
            <a:r>
              <a:rPr lang="en-US" altLang="zh-CN" dirty="0"/>
              <a:t>RDBMS</a:t>
            </a:r>
            <a:r>
              <a:rPr lang="zh-CN" altLang="en-US" dirty="0"/>
              <a:t>检查属性上的约束条件是否被满足</a:t>
            </a:r>
          </a:p>
          <a:p>
            <a:r>
              <a:rPr lang="zh-CN" altLang="en-US" dirty="0">
                <a:solidFill>
                  <a:srgbClr val="0000FF"/>
                </a:solidFill>
              </a:rPr>
              <a:t>如果不满足则操作被拒绝执行 </a:t>
            </a:r>
          </a:p>
        </p:txBody>
      </p:sp>
      <p:sp>
        <p:nvSpPr>
          <p:cNvPr id="2" name="灯片编号占位符 1">
            <a:extLst>
              <a:ext uri="{FF2B5EF4-FFF2-40B4-BE49-F238E27FC236}">
                <a16:creationId xmlns:a16="http://schemas.microsoft.com/office/drawing/2014/main" id="{E3ED9372-8CE6-4982-A45E-11ED57CBEDCF}"/>
              </a:ext>
            </a:extLst>
          </p:cNvPr>
          <p:cNvSpPr>
            <a:spLocks noGrp="1"/>
          </p:cNvSpPr>
          <p:nvPr>
            <p:ph type="sldNum" sz="quarter" idx="12"/>
          </p:nvPr>
        </p:nvSpPr>
        <p:spPr/>
        <p:txBody>
          <a:bodyPr/>
          <a:lstStyle/>
          <a:p>
            <a:fld id="{47C9E101-E51D-431E-84FA-C029B8655B60}" type="slidenum">
              <a:rPr lang="zh-CN" altLang="en-US" smtClean="0"/>
              <a:pPr/>
              <a:t>35</a:t>
            </a:fld>
            <a:endParaRPr lang="zh-CN" alt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a:extLst>
              <a:ext uri="{FF2B5EF4-FFF2-40B4-BE49-F238E27FC236}">
                <a16:creationId xmlns:a16="http://schemas.microsoft.com/office/drawing/2014/main" id="{4773930A-C564-406D-A237-9D90D99C6EAA}"/>
              </a:ext>
            </a:extLst>
          </p:cNvPr>
          <p:cNvSpPr>
            <a:spLocks noGrp="1" noChangeArrowheads="1"/>
          </p:cNvSpPr>
          <p:nvPr>
            <p:ph type="title"/>
          </p:nvPr>
        </p:nvSpPr>
        <p:spPr/>
        <p:txBody>
          <a:bodyPr/>
          <a:lstStyle/>
          <a:p>
            <a:r>
              <a:rPr lang="en-US" altLang="zh-CN" dirty="0"/>
              <a:t>5.3.2 </a:t>
            </a:r>
            <a:r>
              <a:rPr lang="zh-CN" altLang="en-US" dirty="0"/>
              <a:t>元组上的约束条件的定义</a:t>
            </a:r>
          </a:p>
        </p:txBody>
      </p:sp>
      <p:sp>
        <p:nvSpPr>
          <p:cNvPr id="456707" name="Rectangle 3">
            <a:extLst>
              <a:ext uri="{FF2B5EF4-FFF2-40B4-BE49-F238E27FC236}">
                <a16:creationId xmlns:a16="http://schemas.microsoft.com/office/drawing/2014/main" id="{06BF02BE-B611-434C-BE33-8F586F0672DA}"/>
              </a:ext>
            </a:extLst>
          </p:cNvPr>
          <p:cNvSpPr>
            <a:spLocks noGrp="1" noChangeArrowheads="1"/>
          </p:cNvSpPr>
          <p:nvPr>
            <p:ph idx="1"/>
          </p:nvPr>
        </p:nvSpPr>
        <p:spPr/>
        <p:txBody>
          <a:bodyPr/>
          <a:lstStyle/>
          <a:p>
            <a:r>
              <a:rPr lang="zh-CN" altLang="en-US" dirty="0"/>
              <a:t>在</a:t>
            </a:r>
            <a:r>
              <a:rPr lang="en-US" altLang="zh-CN" dirty="0"/>
              <a:t>CREATE TABLE</a:t>
            </a:r>
            <a:r>
              <a:rPr lang="zh-CN" altLang="en-US" dirty="0"/>
              <a:t>时可以用</a:t>
            </a:r>
            <a:r>
              <a:rPr lang="en-US" altLang="zh-CN" dirty="0">
                <a:solidFill>
                  <a:srgbClr val="C00000"/>
                </a:solidFill>
              </a:rPr>
              <a:t>CHECK</a:t>
            </a:r>
            <a:r>
              <a:rPr lang="zh-CN" altLang="en-US" dirty="0"/>
              <a:t>短语定义元组上的约束条件，即</a:t>
            </a:r>
            <a:r>
              <a:rPr lang="zh-CN" altLang="en-US" dirty="0">
                <a:solidFill>
                  <a:srgbClr val="C00000"/>
                </a:solidFill>
              </a:rPr>
              <a:t>元组级的限制</a:t>
            </a:r>
          </a:p>
          <a:p>
            <a:r>
              <a:rPr lang="zh-CN" altLang="en-US" dirty="0"/>
              <a:t>同属性值限制相比，元组级的限制可以设置</a:t>
            </a:r>
            <a:r>
              <a:rPr lang="zh-CN" altLang="en-US" dirty="0">
                <a:solidFill>
                  <a:srgbClr val="C00000"/>
                </a:solidFill>
              </a:rPr>
              <a:t>不同属性之间</a:t>
            </a:r>
            <a:r>
              <a:rPr lang="zh-CN" altLang="en-US" dirty="0"/>
              <a:t>的取值的相互约束条件 </a:t>
            </a:r>
          </a:p>
        </p:txBody>
      </p:sp>
      <p:sp>
        <p:nvSpPr>
          <p:cNvPr id="2" name="灯片编号占位符 1">
            <a:extLst>
              <a:ext uri="{FF2B5EF4-FFF2-40B4-BE49-F238E27FC236}">
                <a16:creationId xmlns:a16="http://schemas.microsoft.com/office/drawing/2014/main" id="{73440A3A-8576-4BA8-B962-DB1BB80DFA9B}"/>
              </a:ext>
            </a:extLst>
          </p:cNvPr>
          <p:cNvSpPr>
            <a:spLocks noGrp="1"/>
          </p:cNvSpPr>
          <p:nvPr>
            <p:ph type="sldNum" sz="quarter" idx="12"/>
          </p:nvPr>
        </p:nvSpPr>
        <p:spPr/>
        <p:txBody>
          <a:bodyPr/>
          <a:lstStyle/>
          <a:p>
            <a:fld id="{47C9E101-E51D-431E-84FA-C029B8655B60}" type="slidenum">
              <a:rPr lang="zh-CN" altLang="en-US" smtClean="0"/>
              <a:pPr/>
              <a:t>36</a:t>
            </a:fld>
            <a:endParaRPr lang="zh-CN"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a:extLst>
              <a:ext uri="{FF2B5EF4-FFF2-40B4-BE49-F238E27FC236}">
                <a16:creationId xmlns:a16="http://schemas.microsoft.com/office/drawing/2014/main" id="{B656A600-9F89-434A-880A-07193F699BD9}"/>
              </a:ext>
            </a:extLst>
          </p:cNvPr>
          <p:cNvSpPr>
            <a:spLocks noGrp="1" noChangeArrowheads="1"/>
          </p:cNvSpPr>
          <p:nvPr>
            <p:ph type="title"/>
          </p:nvPr>
        </p:nvSpPr>
        <p:spPr/>
        <p:txBody>
          <a:bodyPr/>
          <a:lstStyle/>
          <a:p>
            <a:r>
              <a:rPr lang="zh-CN" altLang="en-US"/>
              <a:t>元组上的约束条件的定义</a:t>
            </a:r>
            <a:r>
              <a:rPr lang="en-US" altLang="zh-CN"/>
              <a:t>(</a:t>
            </a:r>
            <a:r>
              <a:rPr lang="zh-CN" altLang="en-US"/>
              <a:t>续</a:t>
            </a:r>
            <a:r>
              <a:rPr lang="en-US" altLang="zh-CN"/>
              <a:t>)</a:t>
            </a:r>
          </a:p>
        </p:txBody>
      </p:sp>
      <p:sp>
        <p:nvSpPr>
          <p:cNvPr id="457731" name="Rectangle 3">
            <a:extLst>
              <a:ext uri="{FF2B5EF4-FFF2-40B4-BE49-F238E27FC236}">
                <a16:creationId xmlns:a16="http://schemas.microsoft.com/office/drawing/2014/main" id="{C481DA68-C8B2-4058-B562-570BA8997359}"/>
              </a:ext>
            </a:extLst>
          </p:cNvPr>
          <p:cNvSpPr>
            <a:spLocks noGrp="1" noChangeArrowheads="1"/>
          </p:cNvSpPr>
          <p:nvPr>
            <p:ph idx="1"/>
          </p:nvPr>
        </p:nvSpPr>
        <p:spPr/>
        <p:txBody>
          <a:bodyPr>
            <a:normAutofit fontScale="70000" lnSpcReduction="20000"/>
          </a:bodyPr>
          <a:lstStyle/>
          <a:p>
            <a:r>
              <a:rPr lang="en-US" altLang="zh-CN" dirty="0"/>
              <a:t>[</a:t>
            </a:r>
            <a:r>
              <a:rPr lang="zh-CN" altLang="en-US" dirty="0"/>
              <a:t>例</a:t>
            </a:r>
            <a:r>
              <a:rPr lang="en-US" altLang="zh-CN" dirty="0"/>
              <a:t>9] </a:t>
            </a:r>
            <a:r>
              <a:rPr lang="zh-CN" altLang="en-US" dirty="0"/>
              <a:t>当学生的性别是男时，其名字不能以</a:t>
            </a:r>
            <a:r>
              <a:rPr lang="en-US" altLang="zh-CN" dirty="0"/>
              <a:t>Ms.</a:t>
            </a:r>
            <a:r>
              <a:rPr lang="zh-CN" altLang="en-US" dirty="0"/>
              <a:t>打头。</a:t>
            </a:r>
          </a:p>
          <a:p>
            <a:pPr marL="342900" lvl="1" indent="0">
              <a:buNone/>
            </a:pPr>
            <a:r>
              <a:rPr lang="zh-CN" altLang="en-US" dirty="0"/>
              <a:t>    </a:t>
            </a:r>
            <a:r>
              <a:rPr lang="en-US" altLang="zh-CN" dirty="0"/>
              <a:t>CREATE TABLE Student</a:t>
            </a:r>
          </a:p>
          <a:p>
            <a:pPr marL="342900" lvl="1" indent="0">
              <a:buNone/>
            </a:pPr>
            <a:r>
              <a:rPr lang="en-US" altLang="zh-CN" dirty="0"/>
              <a:t>         (</a:t>
            </a:r>
            <a:r>
              <a:rPr lang="en-US" altLang="zh-CN" dirty="0" err="1"/>
              <a:t>Sno</a:t>
            </a:r>
            <a:r>
              <a:rPr lang="en-US" altLang="zh-CN" dirty="0"/>
              <a:t>    CHAR(9)</a:t>
            </a:r>
            <a:r>
              <a:rPr lang="zh-CN" altLang="en-US" dirty="0"/>
              <a:t>， </a:t>
            </a:r>
          </a:p>
          <a:p>
            <a:pPr marL="342900" lvl="1" indent="0">
              <a:buNone/>
            </a:pPr>
            <a:r>
              <a:rPr lang="zh-CN" altLang="en-US" dirty="0"/>
              <a:t>          </a:t>
            </a:r>
            <a:r>
              <a:rPr lang="en-US" altLang="zh-CN" dirty="0" err="1"/>
              <a:t>Sname</a:t>
            </a:r>
            <a:r>
              <a:rPr lang="en-US" altLang="zh-CN" dirty="0"/>
              <a:t>  CHAR(8) NOT NULL</a:t>
            </a:r>
            <a:r>
              <a:rPr lang="zh-CN" altLang="en-US" dirty="0"/>
              <a:t>，</a:t>
            </a:r>
          </a:p>
          <a:p>
            <a:pPr marL="342900" lvl="1" indent="0">
              <a:buNone/>
            </a:pPr>
            <a:r>
              <a:rPr lang="zh-CN" altLang="en-US" dirty="0"/>
              <a:t>          </a:t>
            </a:r>
            <a:r>
              <a:rPr lang="en-US" altLang="zh-CN" dirty="0" err="1"/>
              <a:t>Ssex</a:t>
            </a:r>
            <a:r>
              <a:rPr lang="en-US" altLang="zh-CN" dirty="0"/>
              <a:t>    CHAR(2)</a:t>
            </a:r>
            <a:r>
              <a:rPr lang="zh-CN" altLang="en-US" dirty="0"/>
              <a:t>，</a:t>
            </a:r>
          </a:p>
          <a:p>
            <a:pPr marL="342900" lvl="1" indent="0">
              <a:buNone/>
            </a:pPr>
            <a:r>
              <a:rPr lang="zh-CN" altLang="en-US" dirty="0"/>
              <a:t>          </a:t>
            </a:r>
            <a:r>
              <a:rPr lang="en-US" altLang="zh-CN" dirty="0"/>
              <a:t>Sage   SMALLINT</a:t>
            </a:r>
            <a:r>
              <a:rPr lang="zh-CN" altLang="en-US" dirty="0"/>
              <a:t>，</a:t>
            </a:r>
          </a:p>
          <a:p>
            <a:pPr marL="342900" lvl="1" indent="0">
              <a:buNone/>
            </a:pPr>
            <a:r>
              <a:rPr lang="zh-CN" altLang="en-US" dirty="0"/>
              <a:t>          </a:t>
            </a:r>
            <a:r>
              <a:rPr lang="en-US" altLang="zh-CN" dirty="0" err="1"/>
              <a:t>Sdept</a:t>
            </a:r>
            <a:r>
              <a:rPr lang="en-US" altLang="zh-CN" dirty="0"/>
              <a:t>  CHAR(20)</a:t>
            </a:r>
            <a:r>
              <a:rPr lang="zh-CN" altLang="en-US" dirty="0"/>
              <a:t>，</a:t>
            </a:r>
          </a:p>
          <a:p>
            <a:pPr marL="342900" lvl="1" indent="0">
              <a:buNone/>
            </a:pPr>
            <a:r>
              <a:rPr lang="zh-CN" altLang="en-US" dirty="0"/>
              <a:t>          </a:t>
            </a:r>
            <a:r>
              <a:rPr lang="en-US" altLang="zh-CN" dirty="0"/>
              <a:t>PRIMARY KEY (</a:t>
            </a:r>
            <a:r>
              <a:rPr lang="en-US" altLang="zh-CN" dirty="0" err="1"/>
              <a:t>Sno</a:t>
            </a:r>
            <a:r>
              <a:rPr lang="en-US" altLang="zh-CN" dirty="0"/>
              <a:t>)</a:t>
            </a:r>
            <a:r>
              <a:rPr lang="zh-CN" altLang="en-US" dirty="0"/>
              <a:t>，</a:t>
            </a:r>
          </a:p>
          <a:p>
            <a:pPr marL="342900" lvl="1" indent="0">
              <a:buNone/>
            </a:pPr>
            <a:r>
              <a:rPr lang="zh-CN" altLang="en-US" dirty="0"/>
              <a:t>          </a:t>
            </a:r>
            <a:r>
              <a:rPr lang="en-US" altLang="zh-CN" dirty="0">
                <a:solidFill>
                  <a:srgbClr val="0000FF"/>
                </a:solidFill>
              </a:rPr>
              <a:t>CHECK (</a:t>
            </a:r>
            <a:r>
              <a:rPr lang="en-US" altLang="zh-CN" dirty="0" err="1">
                <a:solidFill>
                  <a:srgbClr val="0000FF"/>
                </a:solidFill>
              </a:rPr>
              <a:t>Ssex</a:t>
            </a:r>
            <a:r>
              <a:rPr lang="en-US" altLang="zh-CN" dirty="0">
                <a:solidFill>
                  <a:srgbClr val="0000FF"/>
                </a:solidFill>
              </a:rPr>
              <a:t>='</a:t>
            </a:r>
            <a:r>
              <a:rPr lang="zh-CN" altLang="en-US" dirty="0">
                <a:solidFill>
                  <a:srgbClr val="0000FF"/>
                </a:solidFill>
              </a:rPr>
              <a:t>女</a:t>
            </a:r>
            <a:r>
              <a:rPr lang="en-US" altLang="zh-CN" dirty="0">
                <a:solidFill>
                  <a:srgbClr val="0000FF"/>
                </a:solidFill>
              </a:rPr>
              <a:t>' OR </a:t>
            </a:r>
            <a:r>
              <a:rPr lang="en-US" altLang="zh-CN" dirty="0" err="1">
                <a:solidFill>
                  <a:srgbClr val="0000FF"/>
                </a:solidFill>
              </a:rPr>
              <a:t>Sname</a:t>
            </a:r>
            <a:r>
              <a:rPr lang="en-US" altLang="zh-CN" dirty="0">
                <a:solidFill>
                  <a:srgbClr val="0000FF"/>
                </a:solidFill>
              </a:rPr>
              <a:t> NOT LIKE 'Ms.%')</a:t>
            </a:r>
          </a:p>
          <a:p>
            <a:pPr marL="342900" lvl="1" indent="0">
              <a:buNone/>
            </a:pPr>
            <a:r>
              <a:rPr lang="en-US" altLang="zh-CN" dirty="0"/>
              <a:t>          </a:t>
            </a:r>
            <a:r>
              <a:rPr lang="en-US" altLang="zh-CN" dirty="0">
                <a:solidFill>
                  <a:srgbClr val="0000FF"/>
                </a:solidFill>
                <a:highlight>
                  <a:srgbClr val="FFFF00"/>
                </a:highlight>
              </a:rPr>
              <a:t>/*</a:t>
            </a:r>
            <a:r>
              <a:rPr lang="zh-CN" altLang="en-US" dirty="0">
                <a:solidFill>
                  <a:srgbClr val="0000FF"/>
                </a:solidFill>
                <a:highlight>
                  <a:srgbClr val="FFFF00"/>
                </a:highlight>
              </a:rPr>
              <a:t>定义了元组中</a:t>
            </a:r>
            <a:r>
              <a:rPr lang="en-US" altLang="zh-CN" dirty="0" err="1">
                <a:solidFill>
                  <a:srgbClr val="0000FF"/>
                </a:solidFill>
                <a:highlight>
                  <a:srgbClr val="FFFF00"/>
                </a:highlight>
              </a:rPr>
              <a:t>Sname</a:t>
            </a:r>
            <a:r>
              <a:rPr lang="zh-CN" altLang="en-US" dirty="0">
                <a:solidFill>
                  <a:srgbClr val="0000FF"/>
                </a:solidFill>
                <a:highlight>
                  <a:srgbClr val="FFFF00"/>
                </a:highlight>
              </a:rPr>
              <a:t>和 </a:t>
            </a:r>
            <a:r>
              <a:rPr lang="en-US" altLang="zh-CN" dirty="0" err="1">
                <a:solidFill>
                  <a:srgbClr val="0000FF"/>
                </a:solidFill>
                <a:highlight>
                  <a:srgbClr val="FFFF00"/>
                </a:highlight>
              </a:rPr>
              <a:t>Ssex</a:t>
            </a:r>
            <a:r>
              <a:rPr lang="zh-CN" altLang="en-US" dirty="0">
                <a:solidFill>
                  <a:srgbClr val="0000FF"/>
                </a:solidFill>
                <a:highlight>
                  <a:srgbClr val="FFFF00"/>
                </a:highlight>
              </a:rPr>
              <a:t>两个属性值之间的约束条件*</a:t>
            </a:r>
            <a:r>
              <a:rPr lang="en-US" altLang="zh-CN" dirty="0">
                <a:solidFill>
                  <a:srgbClr val="0000FF"/>
                </a:solidFill>
                <a:highlight>
                  <a:srgbClr val="FFFF00"/>
                </a:highlight>
              </a:rPr>
              <a:t>/</a:t>
            </a:r>
          </a:p>
          <a:p>
            <a:pPr marL="342900" lvl="1" indent="0">
              <a:buNone/>
            </a:pPr>
            <a:r>
              <a:rPr lang="en-US" altLang="zh-CN" dirty="0"/>
              <a:t>        )</a:t>
            </a:r>
            <a:r>
              <a:rPr lang="zh-CN" altLang="en-US" dirty="0"/>
              <a:t>；</a:t>
            </a:r>
          </a:p>
          <a:p>
            <a:pPr lvl="2"/>
            <a:endParaRPr lang="en-US" altLang="zh-CN" dirty="0"/>
          </a:p>
          <a:p>
            <a:pPr lvl="1"/>
            <a:r>
              <a:rPr lang="zh-CN" altLang="en-US" dirty="0"/>
              <a:t>性别是女性的元组都能通过该项检查，因为</a:t>
            </a:r>
            <a:r>
              <a:rPr lang="en-US" altLang="zh-CN" dirty="0" err="1"/>
              <a:t>Ssex</a:t>
            </a:r>
            <a:r>
              <a:rPr lang="en-US" altLang="zh-CN" dirty="0"/>
              <a:t>=‘</a:t>
            </a:r>
            <a:r>
              <a:rPr lang="zh-CN" altLang="en-US" dirty="0"/>
              <a:t>女</a:t>
            </a:r>
            <a:r>
              <a:rPr lang="en-US" altLang="zh-CN" dirty="0"/>
              <a:t>’</a:t>
            </a:r>
            <a:r>
              <a:rPr lang="zh-CN" altLang="en-US" dirty="0"/>
              <a:t>成立；</a:t>
            </a:r>
          </a:p>
          <a:p>
            <a:pPr lvl="1"/>
            <a:r>
              <a:rPr lang="zh-CN" altLang="en-US" dirty="0"/>
              <a:t>当性别是男性时，要通过检查则名字一定不能以</a:t>
            </a:r>
            <a:r>
              <a:rPr lang="en-US" altLang="zh-CN" dirty="0"/>
              <a:t>Ms.</a:t>
            </a:r>
            <a:r>
              <a:rPr lang="zh-CN" altLang="en-US" dirty="0"/>
              <a:t>打头</a:t>
            </a:r>
          </a:p>
        </p:txBody>
      </p:sp>
      <p:sp>
        <p:nvSpPr>
          <p:cNvPr id="2" name="灯片编号占位符 1">
            <a:extLst>
              <a:ext uri="{FF2B5EF4-FFF2-40B4-BE49-F238E27FC236}">
                <a16:creationId xmlns:a16="http://schemas.microsoft.com/office/drawing/2014/main" id="{8528E4CD-CFC3-4EA7-8D90-BFA4CF25161B}"/>
              </a:ext>
            </a:extLst>
          </p:cNvPr>
          <p:cNvSpPr>
            <a:spLocks noGrp="1"/>
          </p:cNvSpPr>
          <p:nvPr>
            <p:ph type="sldNum" sz="quarter" idx="12"/>
          </p:nvPr>
        </p:nvSpPr>
        <p:spPr/>
        <p:txBody>
          <a:bodyPr/>
          <a:lstStyle/>
          <a:p>
            <a:fld id="{47C9E101-E51D-431E-84FA-C029B8655B60}" type="slidenum">
              <a:rPr lang="zh-CN" altLang="en-US" smtClean="0"/>
              <a:pPr/>
              <a:t>37</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773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773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773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773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773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773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773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7731">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7731">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7731">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57731">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5773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a:extLst>
              <a:ext uri="{FF2B5EF4-FFF2-40B4-BE49-F238E27FC236}">
                <a16:creationId xmlns:a16="http://schemas.microsoft.com/office/drawing/2014/main" id="{655E5AD2-D938-4EBB-8F35-3D7DC9BA0C1C}"/>
              </a:ext>
            </a:extLst>
          </p:cNvPr>
          <p:cNvSpPr>
            <a:spLocks noGrp="1" noChangeArrowheads="1"/>
          </p:cNvSpPr>
          <p:nvPr>
            <p:ph type="title"/>
          </p:nvPr>
        </p:nvSpPr>
        <p:spPr/>
        <p:txBody>
          <a:bodyPr/>
          <a:lstStyle/>
          <a:p>
            <a:r>
              <a:rPr lang="zh-CN" altLang="en-US" dirty="0"/>
              <a:t>元组上的约束条件检查和违约处理</a:t>
            </a:r>
          </a:p>
        </p:txBody>
      </p:sp>
      <p:sp>
        <p:nvSpPr>
          <p:cNvPr id="458755" name="Rectangle 3">
            <a:extLst>
              <a:ext uri="{FF2B5EF4-FFF2-40B4-BE49-F238E27FC236}">
                <a16:creationId xmlns:a16="http://schemas.microsoft.com/office/drawing/2014/main" id="{7E69890D-7A62-472E-BCA6-C5508C322FE5}"/>
              </a:ext>
            </a:extLst>
          </p:cNvPr>
          <p:cNvSpPr>
            <a:spLocks noGrp="1" noChangeArrowheads="1"/>
          </p:cNvSpPr>
          <p:nvPr>
            <p:ph idx="1"/>
          </p:nvPr>
        </p:nvSpPr>
        <p:spPr/>
        <p:txBody>
          <a:bodyPr/>
          <a:lstStyle/>
          <a:p>
            <a:r>
              <a:rPr lang="zh-CN" altLang="en-US" dirty="0"/>
              <a:t>插入元组或修改属性的值时，</a:t>
            </a:r>
            <a:r>
              <a:rPr lang="en-US" altLang="zh-CN" dirty="0"/>
              <a:t>RDBMS</a:t>
            </a:r>
            <a:r>
              <a:rPr lang="zh-CN" altLang="en-US" dirty="0"/>
              <a:t>检查元组上的约束条件是否被满足</a:t>
            </a:r>
          </a:p>
          <a:p>
            <a:r>
              <a:rPr lang="zh-CN" altLang="en-US" dirty="0">
                <a:solidFill>
                  <a:srgbClr val="0000FF"/>
                </a:solidFill>
              </a:rPr>
              <a:t>如果不满足则操作被拒绝执行 </a:t>
            </a:r>
          </a:p>
        </p:txBody>
      </p:sp>
      <p:sp>
        <p:nvSpPr>
          <p:cNvPr id="2" name="灯片编号占位符 1">
            <a:extLst>
              <a:ext uri="{FF2B5EF4-FFF2-40B4-BE49-F238E27FC236}">
                <a16:creationId xmlns:a16="http://schemas.microsoft.com/office/drawing/2014/main" id="{74B031BD-CAA3-4F9A-9786-779F30FD9A3B}"/>
              </a:ext>
            </a:extLst>
          </p:cNvPr>
          <p:cNvSpPr>
            <a:spLocks noGrp="1"/>
          </p:cNvSpPr>
          <p:nvPr>
            <p:ph type="sldNum" sz="quarter" idx="12"/>
          </p:nvPr>
        </p:nvSpPr>
        <p:spPr/>
        <p:txBody>
          <a:bodyPr/>
          <a:lstStyle/>
          <a:p>
            <a:fld id="{47C9E101-E51D-431E-84FA-C029B8655B60}" type="slidenum">
              <a:rPr lang="zh-CN" altLang="en-US" smtClean="0"/>
              <a:pPr/>
              <a:t>38</a:t>
            </a:fld>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a:extLst>
              <a:ext uri="{FF2B5EF4-FFF2-40B4-BE49-F238E27FC236}">
                <a16:creationId xmlns:a16="http://schemas.microsoft.com/office/drawing/2014/main" id="{084D3D26-CE36-4ABE-BD4F-7F48B3FEA695}"/>
              </a:ext>
            </a:extLst>
          </p:cNvPr>
          <p:cNvSpPr>
            <a:spLocks noGrp="1" noChangeArrowheads="1"/>
          </p:cNvSpPr>
          <p:nvPr>
            <p:ph type="title"/>
          </p:nvPr>
        </p:nvSpPr>
        <p:spPr/>
        <p:txBody>
          <a:bodyPr/>
          <a:lstStyle/>
          <a:p>
            <a:r>
              <a:rPr lang="en-US" altLang="zh-CN"/>
              <a:t>5.4  </a:t>
            </a:r>
            <a:r>
              <a:rPr lang="zh-CN" altLang="en-US"/>
              <a:t>完整性约束命名子句</a:t>
            </a:r>
          </a:p>
        </p:txBody>
      </p:sp>
      <p:sp>
        <p:nvSpPr>
          <p:cNvPr id="459779" name="Rectangle 3">
            <a:extLst>
              <a:ext uri="{FF2B5EF4-FFF2-40B4-BE49-F238E27FC236}">
                <a16:creationId xmlns:a16="http://schemas.microsoft.com/office/drawing/2014/main" id="{2838ADC3-21B4-4E5B-9B4D-78A493C41DB9}"/>
              </a:ext>
            </a:extLst>
          </p:cNvPr>
          <p:cNvSpPr>
            <a:spLocks noGrp="1" noChangeArrowheads="1"/>
          </p:cNvSpPr>
          <p:nvPr>
            <p:ph idx="1"/>
          </p:nvPr>
        </p:nvSpPr>
        <p:spPr>
          <a:xfrm>
            <a:off x="838200" y="1147082"/>
            <a:ext cx="10515600" cy="5471658"/>
          </a:xfrm>
        </p:spPr>
        <p:txBody>
          <a:bodyPr>
            <a:normAutofit/>
          </a:bodyPr>
          <a:lstStyle/>
          <a:p>
            <a:r>
              <a:rPr lang="en-US" altLang="zh-CN" dirty="0"/>
              <a:t>1.</a:t>
            </a:r>
            <a:r>
              <a:rPr lang="zh-CN" altLang="en-US" dirty="0"/>
              <a:t>完整性约束命名子句</a:t>
            </a:r>
            <a:endParaRPr lang="en-US" altLang="zh-CN" dirty="0"/>
          </a:p>
          <a:p>
            <a:pPr marL="342900" lvl="1" indent="0">
              <a:buNone/>
            </a:pPr>
            <a:r>
              <a:rPr lang="en-US" altLang="zh-CN" dirty="0">
                <a:solidFill>
                  <a:srgbClr val="C00000"/>
                </a:solidFill>
              </a:rPr>
              <a:t>CONSTRAINT </a:t>
            </a:r>
            <a:r>
              <a:rPr lang="en-US" altLang="zh-CN" dirty="0"/>
              <a:t>&lt;</a:t>
            </a:r>
            <a:r>
              <a:rPr lang="zh-CN" altLang="en-US" dirty="0"/>
              <a:t>完整性约束条件名</a:t>
            </a:r>
            <a:r>
              <a:rPr lang="en-US" altLang="zh-CN" dirty="0"/>
              <a:t>&gt; &lt;</a:t>
            </a:r>
            <a:r>
              <a:rPr lang="zh-CN" altLang="en-US" dirty="0"/>
              <a:t>完整性约束条件</a:t>
            </a:r>
            <a:r>
              <a:rPr lang="en-US" altLang="zh-CN" dirty="0"/>
              <a:t>&gt;</a:t>
            </a:r>
          </a:p>
          <a:p>
            <a:pPr lvl="2" indent="-342900"/>
            <a:r>
              <a:rPr lang="en-US" altLang="zh-CN" dirty="0"/>
              <a:t>&lt;</a:t>
            </a:r>
            <a:r>
              <a:rPr lang="zh-CN" altLang="en-US" dirty="0"/>
              <a:t>完整性约束条件</a:t>
            </a:r>
            <a:r>
              <a:rPr lang="en-US" altLang="zh-CN" dirty="0"/>
              <a:t>&gt;</a:t>
            </a:r>
            <a:r>
              <a:rPr lang="zh-CN" altLang="en-US" dirty="0"/>
              <a:t>包括：</a:t>
            </a:r>
            <a:r>
              <a:rPr lang="en-US" altLang="zh-CN" dirty="0">
                <a:solidFill>
                  <a:srgbClr val="C00000"/>
                </a:solidFill>
              </a:rPr>
              <a:t>NOT NULL</a:t>
            </a:r>
            <a:r>
              <a:rPr lang="zh-CN" altLang="en-US" dirty="0">
                <a:solidFill>
                  <a:srgbClr val="C00000"/>
                </a:solidFill>
              </a:rPr>
              <a:t>、</a:t>
            </a:r>
            <a:r>
              <a:rPr lang="en-US" altLang="zh-CN" dirty="0">
                <a:solidFill>
                  <a:srgbClr val="C00000"/>
                </a:solidFill>
              </a:rPr>
              <a:t>UNIQUE</a:t>
            </a:r>
            <a:r>
              <a:rPr lang="zh-CN" altLang="en-US" dirty="0">
                <a:solidFill>
                  <a:srgbClr val="C00000"/>
                </a:solidFill>
              </a:rPr>
              <a:t>、</a:t>
            </a:r>
            <a:r>
              <a:rPr lang="en-US" altLang="zh-CN" dirty="0">
                <a:solidFill>
                  <a:srgbClr val="C00000"/>
                </a:solidFill>
              </a:rPr>
              <a:t>PRIMARY KEY</a:t>
            </a:r>
            <a:r>
              <a:rPr lang="zh-CN" altLang="en-US" dirty="0"/>
              <a:t>短语</a:t>
            </a:r>
            <a:r>
              <a:rPr lang="zh-CN" altLang="en-US" dirty="0">
                <a:solidFill>
                  <a:srgbClr val="C00000"/>
                </a:solidFill>
              </a:rPr>
              <a:t>、</a:t>
            </a:r>
            <a:r>
              <a:rPr lang="en-US" altLang="zh-CN" dirty="0">
                <a:solidFill>
                  <a:srgbClr val="C00000"/>
                </a:solidFill>
              </a:rPr>
              <a:t>FOREIGN KEY</a:t>
            </a:r>
            <a:r>
              <a:rPr lang="zh-CN" altLang="en-US" dirty="0"/>
              <a:t>短语、</a:t>
            </a:r>
            <a:r>
              <a:rPr lang="en-US" altLang="zh-CN" dirty="0">
                <a:solidFill>
                  <a:srgbClr val="C00000"/>
                </a:solidFill>
              </a:rPr>
              <a:t>CHECK</a:t>
            </a:r>
            <a:r>
              <a:rPr lang="zh-CN" altLang="en-US" dirty="0"/>
              <a:t>短语等</a:t>
            </a:r>
            <a:r>
              <a:rPr lang="en-US" altLang="zh-CN" dirty="0"/>
              <a:t>5</a:t>
            </a:r>
            <a:r>
              <a:rPr lang="zh-CN" altLang="en-US" dirty="0"/>
              <a:t>个约束。</a:t>
            </a:r>
            <a:endParaRPr lang="en-US" altLang="zh-CN" dirty="0"/>
          </a:p>
          <a:p>
            <a:pPr lvl="2" indent="-342900"/>
            <a:r>
              <a:rPr lang="zh-CN" altLang="en-US" dirty="0"/>
              <a:t>完整性约束条件名的命名规范：</a:t>
            </a:r>
            <a:r>
              <a:rPr lang="zh-CN" altLang="en-US" dirty="0">
                <a:solidFill>
                  <a:srgbClr val="0000FF"/>
                </a:solidFill>
              </a:rPr>
              <a:t>作用的表名</a:t>
            </a:r>
            <a:r>
              <a:rPr lang="en-US" altLang="zh-CN" dirty="0">
                <a:solidFill>
                  <a:srgbClr val="0000FF"/>
                </a:solidFill>
              </a:rPr>
              <a:t>+</a:t>
            </a:r>
            <a:r>
              <a:rPr lang="zh-CN" altLang="en-US" dirty="0">
                <a:solidFill>
                  <a:srgbClr val="0000FF"/>
                </a:solidFill>
              </a:rPr>
              <a:t>约束类型</a:t>
            </a:r>
          </a:p>
          <a:p>
            <a:pPr marL="342900" lvl="1" indent="0">
              <a:buNone/>
            </a:pPr>
            <a:endParaRPr lang="zh-CN" altLang="en-US" dirty="0">
              <a:solidFill>
                <a:srgbClr val="C00000"/>
              </a:solidFill>
            </a:endParaRPr>
          </a:p>
        </p:txBody>
      </p:sp>
      <p:sp>
        <p:nvSpPr>
          <p:cNvPr id="2" name="灯片编号占位符 1">
            <a:extLst>
              <a:ext uri="{FF2B5EF4-FFF2-40B4-BE49-F238E27FC236}">
                <a16:creationId xmlns:a16="http://schemas.microsoft.com/office/drawing/2014/main" id="{E255D499-25FE-4186-987C-B12C80DFFA29}"/>
              </a:ext>
            </a:extLst>
          </p:cNvPr>
          <p:cNvSpPr>
            <a:spLocks noGrp="1"/>
          </p:cNvSpPr>
          <p:nvPr>
            <p:ph type="sldNum" sz="quarter" idx="12"/>
          </p:nvPr>
        </p:nvSpPr>
        <p:spPr/>
        <p:txBody>
          <a:bodyPr/>
          <a:lstStyle/>
          <a:p>
            <a:fld id="{47C9E101-E51D-431E-84FA-C029B8655B60}" type="slidenum">
              <a:rPr lang="zh-CN" altLang="en-US" smtClean="0"/>
              <a:pPr/>
              <a:t>39</a:t>
            </a:fld>
            <a:endParaRPr lang="zh-CN" altLang="en-US" dirty="0"/>
          </a:p>
        </p:txBody>
      </p:sp>
      <p:sp>
        <p:nvSpPr>
          <p:cNvPr id="5" name="文本框 4">
            <a:extLst>
              <a:ext uri="{FF2B5EF4-FFF2-40B4-BE49-F238E27FC236}">
                <a16:creationId xmlns:a16="http://schemas.microsoft.com/office/drawing/2014/main" id="{F287C58D-6434-4E66-97BE-F12CCBFE9B54}"/>
              </a:ext>
            </a:extLst>
          </p:cNvPr>
          <p:cNvSpPr txBox="1"/>
          <p:nvPr/>
        </p:nvSpPr>
        <p:spPr>
          <a:xfrm>
            <a:off x="1803708" y="3714850"/>
            <a:ext cx="7965684" cy="2246769"/>
          </a:xfrm>
          <a:prstGeom prst="rect">
            <a:avLst/>
          </a:prstGeom>
          <a:solidFill>
            <a:schemeClr val="bg1">
              <a:lumMod val="95000"/>
            </a:schemeClr>
          </a:solidFill>
        </p:spPr>
        <p:txBody>
          <a:bodyPr wrap="square" rtlCol="0">
            <a:spAutoFit/>
          </a:bodyPr>
          <a:lstStyle/>
          <a:p>
            <a:r>
              <a:rPr lang="zh-CN" altLang="en-US" sz="2000" dirty="0">
                <a:ea typeface="等线" panose="02010600030101010101" pitchFamily="2" charset="-122"/>
                <a:cs typeface="Courier New" panose="02070309020205020404" pitchFamily="49" charset="0"/>
              </a:rPr>
              <a:t>例：</a:t>
            </a:r>
            <a:r>
              <a:rPr lang="en-US" altLang="zh-CN" sz="2000" dirty="0">
                <a:ea typeface="等线" panose="02010600030101010101" pitchFamily="2" charset="-122"/>
                <a:cs typeface="Courier New" panose="02070309020205020404" pitchFamily="49" charset="0"/>
              </a:rPr>
              <a:t>create table trouble</a:t>
            </a:r>
          </a:p>
          <a:p>
            <a:r>
              <a:rPr lang="en-US" altLang="zh-CN" sz="2000" dirty="0">
                <a:ea typeface="等线" panose="02010600030101010101" pitchFamily="2" charset="-122"/>
                <a:cs typeface="Courier New" panose="02070309020205020404" pitchFamily="49" charset="0"/>
              </a:rPr>
              <a:t>      (</a:t>
            </a:r>
          </a:p>
          <a:p>
            <a:r>
              <a:rPr lang="en-US" altLang="zh-CN" sz="2000" dirty="0">
                <a:ea typeface="等线" panose="02010600030101010101" pitchFamily="2" charset="-122"/>
                <a:cs typeface="Courier New" panose="02070309020205020404" pitchFamily="49" charset="0"/>
              </a:rPr>
              <a:t>         city  varchar2(13),</a:t>
            </a:r>
          </a:p>
          <a:p>
            <a:r>
              <a:rPr lang="en-US" altLang="zh-CN" sz="2000" dirty="0">
                <a:ea typeface="等线" panose="02010600030101010101" pitchFamily="2" charset="-122"/>
                <a:cs typeface="Courier New" panose="02070309020205020404" pitchFamily="49" charset="0"/>
              </a:rPr>
              <a:t>         </a:t>
            </a:r>
            <a:r>
              <a:rPr lang="en-US" altLang="zh-CN" sz="2000" dirty="0" err="1">
                <a:ea typeface="等线" panose="02010600030101010101" pitchFamily="2" charset="-122"/>
                <a:cs typeface="Courier New" panose="02070309020205020404" pitchFamily="49" charset="0"/>
              </a:rPr>
              <a:t>sample_date</a:t>
            </a:r>
            <a:r>
              <a:rPr lang="en-US" altLang="zh-CN" sz="2000" dirty="0">
                <a:ea typeface="等线" panose="02010600030101010101" pitchFamily="2" charset="-122"/>
                <a:cs typeface="Courier New" panose="02070309020205020404" pitchFamily="49" charset="0"/>
              </a:rPr>
              <a:t> date,</a:t>
            </a:r>
          </a:p>
          <a:p>
            <a:r>
              <a:rPr lang="en-US" altLang="zh-CN" sz="2000" dirty="0">
                <a:ea typeface="等线" panose="02010600030101010101" pitchFamily="2" charset="-122"/>
                <a:cs typeface="Courier New" panose="02070309020205020404" pitchFamily="49" charset="0"/>
              </a:rPr>
              <a:t>         noon  number(4,1),</a:t>
            </a:r>
          </a:p>
          <a:p>
            <a:r>
              <a:rPr lang="en-US" altLang="zh-CN" sz="2000" dirty="0">
                <a:ea typeface="等线" panose="02010600030101010101" pitchFamily="2" charset="-122"/>
                <a:cs typeface="Courier New" panose="02070309020205020404" pitchFamily="49" charset="0"/>
              </a:rPr>
              <a:t>         </a:t>
            </a:r>
            <a:r>
              <a:rPr lang="en-US" altLang="zh-CN" sz="2000" dirty="0">
                <a:solidFill>
                  <a:srgbClr val="C00000"/>
                </a:solidFill>
                <a:ea typeface="等线" panose="02010600030101010101" pitchFamily="2" charset="-122"/>
                <a:cs typeface="Courier New" panose="02070309020205020404" pitchFamily="49" charset="0"/>
              </a:rPr>
              <a:t>constraint  </a:t>
            </a:r>
            <a:r>
              <a:rPr lang="en-US" altLang="zh-CN" sz="2000" dirty="0" err="1">
                <a:solidFill>
                  <a:srgbClr val="0000FF"/>
                </a:solidFill>
                <a:ea typeface="等线" panose="02010600030101010101" pitchFamily="2" charset="-122"/>
                <a:cs typeface="Courier New" panose="02070309020205020404" pitchFamily="49" charset="0"/>
              </a:rPr>
              <a:t>trouble_pk</a:t>
            </a:r>
            <a:r>
              <a:rPr lang="en-US" altLang="zh-CN" sz="2000" dirty="0">
                <a:solidFill>
                  <a:srgbClr val="C00000"/>
                </a:solidFill>
                <a:ea typeface="等线" panose="02010600030101010101" pitchFamily="2" charset="-122"/>
                <a:cs typeface="Courier New" panose="02070309020205020404" pitchFamily="49" charset="0"/>
              </a:rPr>
              <a:t> primary key(city, </a:t>
            </a:r>
            <a:r>
              <a:rPr lang="en-US" altLang="zh-CN" sz="2000" dirty="0" err="1">
                <a:solidFill>
                  <a:srgbClr val="C00000"/>
                </a:solidFill>
                <a:ea typeface="等线" panose="02010600030101010101" pitchFamily="2" charset="-122"/>
                <a:cs typeface="Courier New" panose="02070309020205020404" pitchFamily="49" charset="0"/>
              </a:rPr>
              <a:t>sample_date</a:t>
            </a:r>
            <a:r>
              <a:rPr lang="en-US" altLang="zh-CN" sz="2000" dirty="0">
                <a:solidFill>
                  <a:srgbClr val="C00000"/>
                </a:solidFill>
                <a:ea typeface="等线" panose="02010600030101010101" pitchFamily="2" charset="-122"/>
                <a:cs typeface="Courier New" panose="02070309020205020404" pitchFamily="49" charset="0"/>
              </a:rPr>
              <a:t>)</a:t>
            </a:r>
          </a:p>
          <a:p>
            <a:r>
              <a:rPr lang="en-US" altLang="zh-CN" sz="2000" dirty="0">
                <a:ea typeface="等线" panose="02010600030101010101" pitchFamily="2" charset="-122"/>
                <a:cs typeface="Courier New" panose="02070309020205020404" pitchFamily="49"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a:extLst>
              <a:ext uri="{FF2B5EF4-FFF2-40B4-BE49-F238E27FC236}">
                <a16:creationId xmlns:a16="http://schemas.microsoft.com/office/drawing/2014/main" id="{084D3D26-CE36-4ABE-BD4F-7F48B3FEA695}"/>
              </a:ext>
            </a:extLst>
          </p:cNvPr>
          <p:cNvSpPr>
            <a:spLocks noGrp="1" noChangeArrowheads="1"/>
          </p:cNvSpPr>
          <p:nvPr>
            <p:ph type="title"/>
          </p:nvPr>
        </p:nvSpPr>
        <p:spPr/>
        <p:txBody>
          <a:bodyPr/>
          <a:lstStyle/>
          <a:p>
            <a:r>
              <a:rPr lang="en-US" altLang="zh-CN"/>
              <a:t>5.4  </a:t>
            </a:r>
            <a:r>
              <a:rPr lang="zh-CN" altLang="en-US"/>
              <a:t>完整性约束命名子句</a:t>
            </a:r>
          </a:p>
        </p:txBody>
      </p:sp>
      <p:sp>
        <p:nvSpPr>
          <p:cNvPr id="459779" name="Rectangle 3">
            <a:extLst>
              <a:ext uri="{FF2B5EF4-FFF2-40B4-BE49-F238E27FC236}">
                <a16:creationId xmlns:a16="http://schemas.microsoft.com/office/drawing/2014/main" id="{2838ADC3-21B4-4E5B-9B4D-78A493C41DB9}"/>
              </a:ext>
            </a:extLst>
          </p:cNvPr>
          <p:cNvSpPr>
            <a:spLocks noGrp="1" noChangeArrowheads="1"/>
          </p:cNvSpPr>
          <p:nvPr>
            <p:ph idx="1"/>
          </p:nvPr>
        </p:nvSpPr>
        <p:spPr>
          <a:xfrm>
            <a:off x="838200" y="1147082"/>
            <a:ext cx="10515600" cy="5471658"/>
          </a:xfrm>
        </p:spPr>
        <p:txBody>
          <a:bodyPr>
            <a:normAutofit fontScale="62500" lnSpcReduction="20000"/>
          </a:bodyPr>
          <a:lstStyle/>
          <a:p>
            <a:pPr>
              <a:lnSpc>
                <a:spcPct val="120000"/>
              </a:lnSpc>
            </a:pPr>
            <a:r>
              <a:rPr lang="en-US" altLang="zh-CN" dirty="0"/>
              <a:t>[</a:t>
            </a:r>
            <a:r>
              <a:rPr lang="zh-CN" altLang="en-US" dirty="0"/>
              <a:t>例</a:t>
            </a:r>
            <a:r>
              <a:rPr lang="en-US" altLang="zh-CN" dirty="0"/>
              <a:t>10]</a:t>
            </a:r>
            <a:r>
              <a:rPr lang="zh-CN" altLang="en-US" dirty="0"/>
              <a:t> 建立学生登记表</a:t>
            </a:r>
            <a:r>
              <a:rPr lang="en-US" altLang="zh-CN" dirty="0"/>
              <a:t>Student</a:t>
            </a:r>
            <a:r>
              <a:rPr lang="zh-CN" altLang="en-US" dirty="0"/>
              <a:t>，要求学号在</a:t>
            </a:r>
            <a:r>
              <a:rPr lang="en-US" altLang="zh-CN" dirty="0"/>
              <a:t>90000~99999</a:t>
            </a:r>
            <a:r>
              <a:rPr lang="zh-CN" altLang="en-US" dirty="0"/>
              <a:t>之间，姓名不能取空值，年龄小于</a:t>
            </a:r>
            <a:r>
              <a:rPr lang="en-US" altLang="zh-CN" dirty="0"/>
              <a:t>30</a:t>
            </a:r>
            <a:r>
              <a:rPr lang="zh-CN" altLang="en-US" dirty="0"/>
              <a:t>，性别只能是“男”或“女”。</a:t>
            </a:r>
          </a:p>
          <a:p>
            <a:pPr marL="228600" lvl="1" indent="0">
              <a:lnSpc>
                <a:spcPct val="120000"/>
              </a:lnSpc>
              <a:buNone/>
            </a:pPr>
            <a:r>
              <a:rPr lang="zh-CN" altLang="en-US" dirty="0"/>
              <a:t>    </a:t>
            </a:r>
            <a:r>
              <a:rPr lang="en-US" altLang="zh-CN" dirty="0"/>
              <a:t>CREATE TABLE Student</a:t>
            </a:r>
          </a:p>
          <a:p>
            <a:pPr marL="228600" lvl="1" indent="0">
              <a:lnSpc>
                <a:spcPct val="120000"/>
              </a:lnSpc>
              <a:buNone/>
            </a:pPr>
            <a:r>
              <a:rPr lang="en-US" altLang="zh-CN" dirty="0"/>
              <a:t>      ( </a:t>
            </a:r>
            <a:r>
              <a:rPr lang="en-US" altLang="zh-CN" dirty="0" err="1"/>
              <a:t>Sno</a:t>
            </a:r>
            <a:r>
              <a:rPr lang="en-US" altLang="zh-CN" dirty="0"/>
              <a:t>  NUMERIC(6)</a:t>
            </a:r>
          </a:p>
          <a:p>
            <a:pPr marL="228600" lvl="1" indent="0">
              <a:lnSpc>
                <a:spcPct val="120000"/>
              </a:lnSpc>
              <a:buNone/>
            </a:pPr>
            <a:r>
              <a:rPr lang="en-US" altLang="zh-CN" dirty="0"/>
              <a:t>        </a:t>
            </a:r>
            <a:r>
              <a:rPr lang="en-US" altLang="zh-CN" dirty="0">
                <a:solidFill>
                  <a:srgbClr val="0000FF"/>
                </a:solidFill>
              </a:rPr>
              <a:t>CONSTRAINT C1 CHECK (</a:t>
            </a:r>
            <a:r>
              <a:rPr lang="en-US" altLang="zh-CN" dirty="0" err="1">
                <a:solidFill>
                  <a:srgbClr val="0000FF"/>
                </a:solidFill>
              </a:rPr>
              <a:t>Sno</a:t>
            </a:r>
            <a:r>
              <a:rPr lang="en-US" altLang="zh-CN" dirty="0">
                <a:solidFill>
                  <a:srgbClr val="0000FF"/>
                </a:solidFill>
              </a:rPr>
              <a:t> BETWEEN 90000 AND 99999)</a:t>
            </a:r>
            <a:r>
              <a:rPr lang="zh-CN" altLang="en-US" dirty="0">
                <a:solidFill>
                  <a:srgbClr val="0000FF"/>
                </a:solidFill>
              </a:rPr>
              <a:t>，</a:t>
            </a:r>
          </a:p>
          <a:p>
            <a:pPr marL="228600" lvl="1" indent="0">
              <a:lnSpc>
                <a:spcPct val="120000"/>
              </a:lnSpc>
              <a:buNone/>
            </a:pPr>
            <a:r>
              <a:rPr lang="zh-CN" altLang="en-US" dirty="0"/>
              <a:t>        </a:t>
            </a:r>
            <a:r>
              <a:rPr lang="en-US" altLang="zh-CN" dirty="0" err="1"/>
              <a:t>Sname</a:t>
            </a:r>
            <a:r>
              <a:rPr lang="en-US" altLang="zh-CN" dirty="0"/>
              <a:t>  CHAR(20)  </a:t>
            </a:r>
          </a:p>
          <a:p>
            <a:pPr marL="228600" lvl="1" indent="0">
              <a:lnSpc>
                <a:spcPct val="120000"/>
              </a:lnSpc>
              <a:buNone/>
            </a:pPr>
            <a:r>
              <a:rPr lang="en-US" altLang="zh-CN" dirty="0"/>
              <a:t>        </a:t>
            </a:r>
            <a:r>
              <a:rPr lang="en-US" altLang="zh-CN" dirty="0">
                <a:solidFill>
                  <a:srgbClr val="0000FF"/>
                </a:solidFill>
              </a:rPr>
              <a:t>CONSTRAINT C2 NOT NULL</a:t>
            </a:r>
            <a:r>
              <a:rPr lang="zh-CN" altLang="en-US" dirty="0">
                <a:solidFill>
                  <a:srgbClr val="0000FF"/>
                </a:solidFill>
              </a:rPr>
              <a:t>，</a:t>
            </a:r>
          </a:p>
          <a:p>
            <a:pPr marL="228600" lvl="1" indent="0">
              <a:lnSpc>
                <a:spcPct val="120000"/>
              </a:lnSpc>
              <a:buNone/>
            </a:pPr>
            <a:r>
              <a:rPr lang="zh-CN" altLang="en-US" dirty="0"/>
              <a:t>        </a:t>
            </a:r>
            <a:r>
              <a:rPr lang="en-US" altLang="zh-CN" dirty="0"/>
              <a:t>Sage  NUMERIC(3)</a:t>
            </a:r>
          </a:p>
          <a:p>
            <a:pPr marL="228600" lvl="1" indent="0">
              <a:lnSpc>
                <a:spcPct val="120000"/>
              </a:lnSpc>
              <a:buNone/>
            </a:pPr>
            <a:r>
              <a:rPr lang="en-US" altLang="zh-CN" dirty="0"/>
              <a:t>        </a:t>
            </a:r>
            <a:r>
              <a:rPr lang="en-US" altLang="zh-CN" dirty="0">
                <a:solidFill>
                  <a:srgbClr val="0000FF"/>
                </a:solidFill>
              </a:rPr>
              <a:t>CONSTRAINT C3 CHECK (Sage &lt; 30)</a:t>
            </a:r>
            <a:r>
              <a:rPr lang="zh-CN" altLang="en-US" dirty="0">
                <a:solidFill>
                  <a:srgbClr val="0000FF"/>
                </a:solidFill>
              </a:rPr>
              <a:t>，</a:t>
            </a:r>
          </a:p>
          <a:p>
            <a:pPr marL="228600" lvl="1" indent="0">
              <a:lnSpc>
                <a:spcPct val="120000"/>
              </a:lnSpc>
              <a:buNone/>
            </a:pPr>
            <a:r>
              <a:rPr lang="zh-CN" altLang="en-US" dirty="0"/>
              <a:t>        </a:t>
            </a:r>
            <a:r>
              <a:rPr lang="en-US" altLang="zh-CN" dirty="0" err="1"/>
              <a:t>Ssex</a:t>
            </a:r>
            <a:r>
              <a:rPr lang="en-US" altLang="zh-CN" dirty="0"/>
              <a:t>  CHAR(2)</a:t>
            </a:r>
          </a:p>
          <a:p>
            <a:pPr marL="228600" lvl="1" indent="0">
              <a:lnSpc>
                <a:spcPct val="120000"/>
              </a:lnSpc>
              <a:buNone/>
            </a:pPr>
            <a:r>
              <a:rPr lang="en-US" altLang="zh-CN" dirty="0"/>
              <a:t>        </a:t>
            </a:r>
            <a:r>
              <a:rPr lang="en-US" altLang="zh-CN" dirty="0">
                <a:solidFill>
                  <a:srgbClr val="0000FF"/>
                </a:solidFill>
              </a:rPr>
              <a:t>CONSTRAINT C4 CHECK (</a:t>
            </a:r>
            <a:r>
              <a:rPr lang="en-US" altLang="zh-CN" dirty="0" err="1">
                <a:solidFill>
                  <a:srgbClr val="0000FF"/>
                </a:solidFill>
              </a:rPr>
              <a:t>Ssex</a:t>
            </a:r>
            <a:r>
              <a:rPr lang="en-US" altLang="zh-CN" dirty="0">
                <a:solidFill>
                  <a:srgbClr val="0000FF"/>
                </a:solidFill>
              </a:rPr>
              <a:t> IN ( '</a:t>
            </a:r>
            <a:r>
              <a:rPr lang="zh-CN" altLang="en-US" dirty="0">
                <a:solidFill>
                  <a:srgbClr val="0000FF"/>
                </a:solidFill>
              </a:rPr>
              <a:t>男</a:t>
            </a:r>
            <a:r>
              <a:rPr lang="en-US" altLang="zh-CN" dirty="0">
                <a:solidFill>
                  <a:srgbClr val="0000FF"/>
                </a:solidFill>
              </a:rPr>
              <a:t>'</a:t>
            </a:r>
            <a:r>
              <a:rPr lang="zh-CN" altLang="en-US" dirty="0">
                <a:solidFill>
                  <a:srgbClr val="0000FF"/>
                </a:solidFill>
              </a:rPr>
              <a:t>，</a:t>
            </a:r>
            <a:r>
              <a:rPr lang="en-US" altLang="zh-CN" dirty="0">
                <a:solidFill>
                  <a:srgbClr val="0000FF"/>
                </a:solidFill>
              </a:rPr>
              <a:t>'</a:t>
            </a:r>
            <a:r>
              <a:rPr lang="zh-CN" altLang="en-US" dirty="0">
                <a:solidFill>
                  <a:srgbClr val="0000FF"/>
                </a:solidFill>
              </a:rPr>
              <a:t>女</a:t>
            </a:r>
            <a:r>
              <a:rPr lang="en-US" altLang="zh-CN" dirty="0">
                <a:solidFill>
                  <a:srgbClr val="0000FF"/>
                </a:solidFill>
              </a:rPr>
              <a:t>'))</a:t>
            </a:r>
            <a:r>
              <a:rPr lang="zh-CN" altLang="en-US" dirty="0">
                <a:solidFill>
                  <a:srgbClr val="0000FF"/>
                </a:solidFill>
              </a:rPr>
              <a:t>，</a:t>
            </a:r>
          </a:p>
          <a:p>
            <a:pPr marL="228600" lvl="1" indent="0">
              <a:lnSpc>
                <a:spcPct val="120000"/>
              </a:lnSpc>
              <a:buNone/>
            </a:pPr>
            <a:r>
              <a:rPr lang="zh-CN" altLang="en-US" dirty="0">
                <a:solidFill>
                  <a:srgbClr val="0000FF"/>
                </a:solidFill>
              </a:rPr>
              <a:t>        </a:t>
            </a:r>
            <a:r>
              <a:rPr lang="en-US" altLang="zh-CN" dirty="0">
                <a:solidFill>
                  <a:srgbClr val="0000FF"/>
                </a:solidFill>
              </a:rPr>
              <a:t>CONSTRAINT </a:t>
            </a:r>
            <a:r>
              <a:rPr lang="en-US" altLang="zh-CN" dirty="0" err="1">
                <a:solidFill>
                  <a:srgbClr val="0000FF"/>
                </a:solidFill>
              </a:rPr>
              <a:t>StudentKey</a:t>
            </a:r>
            <a:r>
              <a:rPr lang="en-US" altLang="zh-CN" dirty="0">
                <a:solidFill>
                  <a:srgbClr val="0000FF"/>
                </a:solidFill>
              </a:rPr>
              <a:t> PRIMARY KEY(</a:t>
            </a:r>
            <a:r>
              <a:rPr lang="en-US" altLang="zh-CN" dirty="0" err="1">
                <a:solidFill>
                  <a:srgbClr val="0000FF"/>
                </a:solidFill>
              </a:rPr>
              <a:t>Sno</a:t>
            </a:r>
            <a:r>
              <a:rPr lang="en-US" altLang="zh-CN" dirty="0">
                <a:solidFill>
                  <a:srgbClr val="0000FF"/>
                </a:solidFill>
              </a:rPr>
              <a:t>)</a:t>
            </a:r>
          </a:p>
          <a:p>
            <a:pPr marL="228600" lvl="1" indent="0">
              <a:lnSpc>
                <a:spcPct val="120000"/>
              </a:lnSpc>
              <a:buNone/>
            </a:pPr>
            <a:r>
              <a:rPr lang="en-US" altLang="zh-CN" dirty="0"/>
              <a:t>      )</a:t>
            </a:r>
            <a:r>
              <a:rPr lang="zh-CN" altLang="en-US" dirty="0"/>
              <a:t>；</a:t>
            </a:r>
          </a:p>
          <a:p>
            <a:pPr lvl="1">
              <a:lnSpc>
                <a:spcPct val="120000"/>
              </a:lnSpc>
            </a:pPr>
            <a:r>
              <a:rPr lang="zh-CN" altLang="en-US" dirty="0"/>
              <a:t>在</a:t>
            </a:r>
            <a:r>
              <a:rPr lang="en-US" altLang="zh-CN" dirty="0"/>
              <a:t>Student</a:t>
            </a:r>
            <a:r>
              <a:rPr lang="zh-CN" altLang="en-US" dirty="0"/>
              <a:t>表上建立了</a:t>
            </a:r>
            <a:r>
              <a:rPr lang="en-US" altLang="zh-CN" dirty="0"/>
              <a:t>5</a:t>
            </a:r>
            <a:r>
              <a:rPr lang="zh-CN" altLang="en-US" dirty="0"/>
              <a:t>个约束条件，包括主码约束（命名为</a:t>
            </a:r>
            <a:r>
              <a:rPr lang="en-US" altLang="zh-CN" dirty="0" err="1"/>
              <a:t>StudentKey</a:t>
            </a:r>
            <a:r>
              <a:rPr lang="zh-CN" altLang="en-US" dirty="0"/>
              <a:t>）以及</a:t>
            </a:r>
            <a:r>
              <a:rPr lang="en-US" altLang="zh-CN" dirty="0"/>
              <a:t>C1</a:t>
            </a:r>
            <a:r>
              <a:rPr lang="zh-CN" altLang="en-US" dirty="0"/>
              <a:t>、</a:t>
            </a:r>
            <a:r>
              <a:rPr lang="en-US" altLang="zh-CN" dirty="0"/>
              <a:t>C2</a:t>
            </a:r>
            <a:r>
              <a:rPr lang="zh-CN" altLang="en-US" dirty="0"/>
              <a:t>、</a:t>
            </a:r>
            <a:r>
              <a:rPr lang="en-US" altLang="zh-CN" dirty="0"/>
              <a:t>C3</a:t>
            </a:r>
            <a:r>
              <a:rPr lang="zh-CN" altLang="en-US" dirty="0"/>
              <a:t>、</a:t>
            </a:r>
            <a:r>
              <a:rPr lang="en-US" altLang="zh-CN" dirty="0"/>
              <a:t>C4</a:t>
            </a:r>
            <a:r>
              <a:rPr lang="zh-CN" altLang="en-US" dirty="0"/>
              <a:t>四个列级约束。</a:t>
            </a:r>
          </a:p>
        </p:txBody>
      </p:sp>
      <p:sp>
        <p:nvSpPr>
          <p:cNvPr id="2" name="灯片编号占位符 1">
            <a:extLst>
              <a:ext uri="{FF2B5EF4-FFF2-40B4-BE49-F238E27FC236}">
                <a16:creationId xmlns:a16="http://schemas.microsoft.com/office/drawing/2014/main" id="{E255D499-25FE-4186-987C-B12C80DFFA29}"/>
              </a:ext>
            </a:extLst>
          </p:cNvPr>
          <p:cNvSpPr>
            <a:spLocks noGrp="1"/>
          </p:cNvSpPr>
          <p:nvPr>
            <p:ph type="sldNum" sz="quarter" idx="12"/>
          </p:nvPr>
        </p:nvSpPr>
        <p:spPr/>
        <p:txBody>
          <a:bodyPr/>
          <a:lstStyle/>
          <a:p>
            <a:fld id="{47C9E101-E51D-431E-84FA-C029B8655B60}" type="slidenum">
              <a:rPr lang="zh-CN" altLang="en-US" smtClean="0"/>
              <a:pPr/>
              <a:t>40</a:t>
            </a:fld>
            <a:endParaRPr lang="zh-CN" altLang="en-US" dirty="0"/>
          </a:p>
        </p:txBody>
      </p:sp>
    </p:spTree>
    <p:extLst>
      <p:ext uri="{BB962C8B-B14F-4D97-AF65-F5344CB8AC3E}">
        <p14:creationId xmlns:p14="http://schemas.microsoft.com/office/powerpoint/2010/main" val="73593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977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977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977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977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977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9779">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977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9779">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9779">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9779">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9779">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977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a:extLst>
              <a:ext uri="{FF2B5EF4-FFF2-40B4-BE49-F238E27FC236}">
                <a16:creationId xmlns:a16="http://schemas.microsoft.com/office/drawing/2014/main" id="{084D3D26-CE36-4ABE-BD4F-7F48B3FEA695}"/>
              </a:ext>
            </a:extLst>
          </p:cNvPr>
          <p:cNvSpPr>
            <a:spLocks noGrp="1" noChangeArrowheads="1"/>
          </p:cNvSpPr>
          <p:nvPr>
            <p:ph type="title"/>
          </p:nvPr>
        </p:nvSpPr>
        <p:spPr/>
        <p:txBody>
          <a:bodyPr/>
          <a:lstStyle/>
          <a:p>
            <a:r>
              <a:rPr lang="en-US" altLang="zh-CN"/>
              <a:t>5.4  </a:t>
            </a:r>
            <a:r>
              <a:rPr lang="zh-CN" altLang="en-US"/>
              <a:t>完整性约束命名子句</a:t>
            </a:r>
          </a:p>
        </p:txBody>
      </p:sp>
      <p:sp>
        <p:nvSpPr>
          <p:cNvPr id="459779" name="Rectangle 3">
            <a:extLst>
              <a:ext uri="{FF2B5EF4-FFF2-40B4-BE49-F238E27FC236}">
                <a16:creationId xmlns:a16="http://schemas.microsoft.com/office/drawing/2014/main" id="{2838ADC3-21B4-4E5B-9B4D-78A493C41DB9}"/>
              </a:ext>
            </a:extLst>
          </p:cNvPr>
          <p:cNvSpPr>
            <a:spLocks noGrp="1" noChangeArrowheads="1"/>
          </p:cNvSpPr>
          <p:nvPr>
            <p:ph idx="1"/>
          </p:nvPr>
        </p:nvSpPr>
        <p:spPr/>
        <p:txBody>
          <a:bodyPr>
            <a:normAutofit fontScale="62500" lnSpcReduction="20000"/>
          </a:bodyPr>
          <a:lstStyle/>
          <a:p>
            <a:pPr>
              <a:lnSpc>
                <a:spcPct val="120000"/>
              </a:lnSpc>
            </a:pPr>
            <a:r>
              <a:rPr lang="en-US" altLang="zh-CN" dirty="0"/>
              <a:t>[ </a:t>
            </a:r>
            <a:r>
              <a:rPr lang="zh-CN" altLang="en-US" dirty="0"/>
              <a:t>例</a:t>
            </a:r>
            <a:r>
              <a:rPr lang="en-US" altLang="zh-CN" dirty="0"/>
              <a:t>11] </a:t>
            </a:r>
            <a:r>
              <a:rPr lang="zh-CN" altLang="en-US" dirty="0"/>
              <a:t>建立教师表</a:t>
            </a:r>
            <a:r>
              <a:rPr lang="en-US" altLang="zh-CN" dirty="0"/>
              <a:t>TEACHER </a:t>
            </a:r>
            <a:r>
              <a:rPr lang="zh-CN" altLang="en-US" dirty="0"/>
              <a:t>，要求每个教师的应发工资不低于</a:t>
            </a:r>
            <a:r>
              <a:rPr lang="en-US" altLang="zh-CN" dirty="0"/>
              <a:t>3000 </a:t>
            </a:r>
            <a:r>
              <a:rPr lang="zh-CN" altLang="en-US" dirty="0"/>
              <a:t>元。应发工资是工资列</a:t>
            </a:r>
            <a:r>
              <a:rPr lang="en-US" altLang="zh-CN" dirty="0"/>
              <a:t>Sal </a:t>
            </a:r>
            <a:r>
              <a:rPr lang="zh-CN" altLang="en-US" dirty="0"/>
              <a:t>与扣除项</a:t>
            </a:r>
            <a:r>
              <a:rPr lang="en-US" altLang="zh-CN" dirty="0"/>
              <a:t>Deduct </a:t>
            </a:r>
            <a:r>
              <a:rPr lang="zh-CN" altLang="en-US" dirty="0"/>
              <a:t>之和。</a:t>
            </a:r>
          </a:p>
          <a:p>
            <a:pPr marL="342900" lvl="1" indent="0">
              <a:lnSpc>
                <a:spcPct val="120000"/>
              </a:lnSpc>
              <a:buNone/>
            </a:pPr>
            <a:r>
              <a:rPr lang="zh-CN" altLang="en-US" dirty="0"/>
              <a:t>     </a:t>
            </a:r>
            <a:r>
              <a:rPr lang="en-US" altLang="zh-CN" dirty="0"/>
              <a:t>CREATE TABLE TEACHER</a:t>
            </a:r>
          </a:p>
          <a:p>
            <a:pPr marL="342900" lvl="1" indent="0">
              <a:lnSpc>
                <a:spcPct val="120000"/>
              </a:lnSpc>
              <a:buNone/>
            </a:pPr>
            <a:r>
              <a:rPr lang="en-US" altLang="zh-CN" dirty="0"/>
              <a:t>         ( Eno NUMERIC(4) </a:t>
            </a:r>
            <a:r>
              <a:rPr lang="en-US" altLang="zh-CN" dirty="0">
                <a:solidFill>
                  <a:srgbClr val="0000FF"/>
                </a:solidFill>
              </a:rPr>
              <a:t>PRIMARY KEY </a:t>
            </a:r>
            <a:r>
              <a:rPr lang="en-US" altLang="zh-CN" dirty="0">
                <a:solidFill>
                  <a:srgbClr val="0000FF"/>
                </a:solidFill>
                <a:highlight>
                  <a:srgbClr val="FFFF00"/>
                </a:highlight>
              </a:rPr>
              <a:t>/* </a:t>
            </a:r>
            <a:r>
              <a:rPr lang="zh-CN" altLang="en-US" dirty="0">
                <a:solidFill>
                  <a:srgbClr val="0000FF"/>
                </a:solidFill>
                <a:highlight>
                  <a:srgbClr val="FFFF00"/>
                </a:highlight>
              </a:rPr>
              <a:t>在列级定义主码*</a:t>
            </a:r>
            <a:r>
              <a:rPr lang="en-US" altLang="zh-CN" dirty="0">
                <a:solidFill>
                  <a:srgbClr val="0000FF"/>
                </a:solidFill>
                <a:highlight>
                  <a:srgbClr val="FFFF00"/>
                </a:highlight>
              </a:rPr>
              <a:t>/</a:t>
            </a:r>
          </a:p>
          <a:p>
            <a:pPr marL="342900" lvl="1" indent="0">
              <a:lnSpc>
                <a:spcPct val="120000"/>
              </a:lnSpc>
              <a:buNone/>
            </a:pPr>
            <a:r>
              <a:rPr lang="en-US" altLang="zh-CN" dirty="0"/>
              <a:t>           </a:t>
            </a:r>
            <a:r>
              <a:rPr lang="en-US" altLang="zh-CN" dirty="0" err="1"/>
              <a:t>Ename</a:t>
            </a:r>
            <a:r>
              <a:rPr lang="en-US" altLang="zh-CN" dirty="0"/>
              <a:t> CHAR(10),</a:t>
            </a:r>
          </a:p>
          <a:p>
            <a:pPr marL="342900" lvl="1" indent="0">
              <a:lnSpc>
                <a:spcPct val="120000"/>
              </a:lnSpc>
              <a:buNone/>
            </a:pPr>
            <a:r>
              <a:rPr lang="en-US" altLang="zh-CN" dirty="0"/>
              <a:t>           Job CHAR(8),</a:t>
            </a:r>
          </a:p>
          <a:p>
            <a:pPr marL="342900" lvl="1" indent="0">
              <a:lnSpc>
                <a:spcPct val="120000"/>
              </a:lnSpc>
              <a:buNone/>
            </a:pPr>
            <a:r>
              <a:rPr lang="en-US" altLang="zh-CN" dirty="0"/>
              <a:t>           Sal NUMERIC(7,2),</a:t>
            </a:r>
          </a:p>
          <a:p>
            <a:pPr marL="342900" lvl="1" indent="0">
              <a:lnSpc>
                <a:spcPct val="120000"/>
              </a:lnSpc>
              <a:buNone/>
            </a:pPr>
            <a:r>
              <a:rPr lang="en-US" altLang="zh-CN" dirty="0"/>
              <a:t>           Deduct NUMERIC(7,2),</a:t>
            </a:r>
          </a:p>
          <a:p>
            <a:pPr marL="342900" lvl="1" indent="0">
              <a:lnSpc>
                <a:spcPct val="120000"/>
              </a:lnSpc>
              <a:buNone/>
            </a:pPr>
            <a:r>
              <a:rPr lang="en-US" altLang="zh-CN" dirty="0"/>
              <a:t>           </a:t>
            </a:r>
            <a:r>
              <a:rPr lang="en-US" altLang="zh-CN" dirty="0" err="1"/>
              <a:t>Deptno</a:t>
            </a:r>
            <a:r>
              <a:rPr lang="en-US" altLang="zh-CN" dirty="0"/>
              <a:t> NUMERIC(2),</a:t>
            </a:r>
          </a:p>
          <a:p>
            <a:pPr marL="342900" lvl="1" indent="0">
              <a:lnSpc>
                <a:spcPct val="120000"/>
              </a:lnSpc>
              <a:buNone/>
            </a:pPr>
            <a:r>
              <a:rPr lang="en-US" altLang="zh-CN" dirty="0"/>
              <a:t>           </a:t>
            </a:r>
            <a:r>
              <a:rPr lang="en-US" altLang="zh-CN" dirty="0">
                <a:solidFill>
                  <a:srgbClr val="0000FF"/>
                </a:solidFill>
              </a:rPr>
              <a:t>CONSTRAINT </a:t>
            </a:r>
            <a:r>
              <a:rPr lang="en-US" altLang="zh-CN" dirty="0" err="1">
                <a:solidFill>
                  <a:srgbClr val="0000FF"/>
                </a:solidFill>
              </a:rPr>
              <a:t>TEACHERFKey</a:t>
            </a:r>
            <a:r>
              <a:rPr lang="en-US" altLang="zh-CN" dirty="0">
                <a:solidFill>
                  <a:srgbClr val="0000FF"/>
                </a:solidFill>
              </a:rPr>
              <a:t> FOREIGN KEY (</a:t>
            </a:r>
            <a:r>
              <a:rPr lang="en-US" altLang="zh-CN" dirty="0" err="1">
                <a:solidFill>
                  <a:srgbClr val="0000FF"/>
                </a:solidFill>
              </a:rPr>
              <a:t>Deptno</a:t>
            </a:r>
            <a:r>
              <a:rPr lang="en-US" altLang="zh-CN" dirty="0">
                <a:solidFill>
                  <a:srgbClr val="0000FF"/>
                </a:solidFill>
              </a:rPr>
              <a:t>)</a:t>
            </a:r>
          </a:p>
          <a:p>
            <a:pPr marL="342900" lvl="1" indent="0">
              <a:lnSpc>
                <a:spcPct val="120000"/>
              </a:lnSpc>
              <a:buNone/>
            </a:pPr>
            <a:r>
              <a:rPr lang="en-US" altLang="zh-CN" dirty="0">
                <a:solidFill>
                  <a:srgbClr val="0000FF"/>
                </a:solidFill>
              </a:rPr>
              <a:t>           REFERENCES DEPT(</a:t>
            </a:r>
            <a:r>
              <a:rPr lang="en-US" altLang="zh-CN" dirty="0" err="1">
                <a:solidFill>
                  <a:srgbClr val="0000FF"/>
                </a:solidFill>
              </a:rPr>
              <a:t>Deptno</a:t>
            </a:r>
            <a:r>
              <a:rPr lang="en-US" altLang="zh-CN" dirty="0">
                <a:solidFill>
                  <a:srgbClr val="0000FF"/>
                </a:solidFill>
              </a:rPr>
              <a:t>),</a:t>
            </a:r>
          </a:p>
          <a:p>
            <a:pPr marL="342900" lvl="1" indent="0">
              <a:lnSpc>
                <a:spcPct val="120000"/>
              </a:lnSpc>
              <a:buNone/>
            </a:pPr>
            <a:r>
              <a:rPr lang="en-US" altLang="zh-CN" dirty="0">
                <a:solidFill>
                  <a:srgbClr val="0000FF"/>
                </a:solidFill>
              </a:rPr>
              <a:t>           CONSTRAINT C1 CHECK (Sal + Deduct &gt;= 3000) </a:t>
            </a:r>
            <a:r>
              <a:rPr lang="en-US" altLang="zh-CN" dirty="0"/>
              <a:t>  )</a:t>
            </a:r>
          </a:p>
          <a:p>
            <a:pPr marL="342900" lvl="1" indent="0">
              <a:lnSpc>
                <a:spcPct val="120000"/>
              </a:lnSpc>
              <a:buNone/>
            </a:pPr>
            <a:r>
              <a:rPr lang="en-US" altLang="zh-CN" dirty="0"/>
              <a:t>        );</a:t>
            </a:r>
          </a:p>
          <a:p>
            <a:pPr>
              <a:lnSpc>
                <a:spcPct val="120000"/>
              </a:lnSpc>
            </a:pPr>
            <a:endParaRPr lang="en-US" altLang="zh-CN" dirty="0"/>
          </a:p>
        </p:txBody>
      </p:sp>
      <p:sp>
        <p:nvSpPr>
          <p:cNvPr id="2" name="灯片编号占位符 1">
            <a:extLst>
              <a:ext uri="{FF2B5EF4-FFF2-40B4-BE49-F238E27FC236}">
                <a16:creationId xmlns:a16="http://schemas.microsoft.com/office/drawing/2014/main" id="{AFACBE77-F524-4BA9-A734-78FD5F2102FB}"/>
              </a:ext>
            </a:extLst>
          </p:cNvPr>
          <p:cNvSpPr>
            <a:spLocks noGrp="1"/>
          </p:cNvSpPr>
          <p:nvPr>
            <p:ph type="sldNum" sz="quarter" idx="12"/>
          </p:nvPr>
        </p:nvSpPr>
        <p:spPr/>
        <p:txBody>
          <a:bodyPr/>
          <a:lstStyle/>
          <a:p>
            <a:fld id="{47C9E101-E51D-431E-84FA-C029B8655B60}" type="slidenum">
              <a:rPr lang="zh-CN" altLang="en-US" smtClean="0"/>
              <a:pPr/>
              <a:t>41</a:t>
            </a:fld>
            <a:endParaRPr lang="zh-CN" altLang="en-US" dirty="0"/>
          </a:p>
        </p:txBody>
      </p:sp>
    </p:spTree>
    <p:extLst>
      <p:ext uri="{BB962C8B-B14F-4D97-AF65-F5344CB8AC3E}">
        <p14:creationId xmlns:p14="http://schemas.microsoft.com/office/powerpoint/2010/main" val="3759651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977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977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977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977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977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9779">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977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9779">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9779">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9779">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977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a:extLst>
              <a:ext uri="{FF2B5EF4-FFF2-40B4-BE49-F238E27FC236}">
                <a16:creationId xmlns:a16="http://schemas.microsoft.com/office/drawing/2014/main" id="{711BD51D-C7A8-4B4D-9D87-3C8196952C88}"/>
              </a:ext>
            </a:extLst>
          </p:cNvPr>
          <p:cNvSpPr>
            <a:spLocks noGrp="1" noChangeArrowheads="1"/>
          </p:cNvSpPr>
          <p:nvPr>
            <p:ph type="title"/>
          </p:nvPr>
        </p:nvSpPr>
        <p:spPr/>
        <p:txBody>
          <a:bodyPr/>
          <a:lstStyle/>
          <a:p>
            <a:r>
              <a:rPr lang="zh-CN" altLang="en-US"/>
              <a:t>完整性约束命名子句</a:t>
            </a:r>
            <a:r>
              <a:rPr lang="en-US" altLang="zh-CN"/>
              <a:t>(</a:t>
            </a:r>
            <a:r>
              <a:rPr lang="zh-CN" altLang="en-US"/>
              <a:t>续</a:t>
            </a:r>
            <a:r>
              <a:rPr lang="en-US" altLang="zh-CN"/>
              <a:t>)</a:t>
            </a:r>
          </a:p>
        </p:txBody>
      </p:sp>
      <p:sp>
        <p:nvSpPr>
          <p:cNvPr id="462851" name="Rectangle 3">
            <a:extLst>
              <a:ext uri="{FF2B5EF4-FFF2-40B4-BE49-F238E27FC236}">
                <a16:creationId xmlns:a16="http://schemas.microsoft.com/office/drawing/2014/main" id="{4EAC1287-6DAC-4118-BB68-0C011B5212E5}"/>
              </a:ext>
            </a:extLst>
          </p:cNvPr>
          <p:cNvSpPr>
            <a:spLocks noGrp="1" noChangeArrowheads="1"/>
          </p:cNvSpPr>
          <p:nvPr>
            <p:ph idx="1"/>
          </p:nvPr>
        </p:nvSpPr>
        <p:spPr/>
        <p:txBody>
          <a:bodyPr/>
          <a:lstStyle/>
          <a:p>
            <a:r>
              <a:rPr lang="en-US" altLang="zh-CN" dirty="0"/>
              <a:t>2. </a:t>
            </a:r>
            <a:r>
              <a:rPr lang="zh-CN" altLang="en-US" dirty="0"/>
              <a:t>修改表中的完整性限制</a:t>
            </a:r>
          </a:p>
          <a:p>
            <a:pPr lvl="1"/>
            <a:r>
              <a:rPr lang="zh-CN" altLang="en-US" dirty="0"/>
              <a:t>使用</a:t>
            </a:r>
            <a:r>
              <a:rPr lang="en-US" altLang="zh-CN" dirty="0">
                <a:solidFill>
                  <a:srgbClr val="C00000"/>
                </a:solidFill>
              </a:rPr>
              <a:t>ALTER TABLE</a:t>
            </a:r>
            <a:r>
              <a:rPr lang="zh-CN" altLang="en-US" dirty="0"/>
              <a:t>语句修改表中的完整性限制</a:t>
            </a:r>
            <a:endParaRPr lang="en-US" altLang="zh-CN" dirty="0"/>
          </a:p>
          <a:p>
            <a:pPr lvl="1"/>
            <a:endParaRPr lang="en-US" altLang="zh-CN" dirty="0"/>
          </a:p>
          <a:p>
            <a:pPr lvl="1"/>
            <a:r>
              <a:rPr lang="en-US" altLang="zh-CN" dirty="0"/>
              <a:t>[</a:t>
            </a:r>
            <a:r>
              <a:rPr lang="zh-CN" altLang="en-US" dirty="0"/>
              <a:t>例</a:t>
            </a:r>
            <a:r>
              <a:rPr lang="en-US" altLang="zh-CN" dirty="0"/>
              <a:t>12] </a:t>
            </a:r>
            <a:r>
              <a:rPr lang="zh-CN" altLang="en-US" dirty="0"/>
              <a:t>去掉</a:t>
            </a:r>
            <a:r>
              <a:rPr lang="en-US" altLang="zh-CN" dirty="0"/>
              <a:t>[</a:t>
            </a:r>
            <a:r>
              <a:rPr lang="zh-CN" altLang="en-US" dirty="0"/>
              <a:t>例</a:t>
            </a:r>
            <a:r>
              <a:rPr lang="en-US" altLang="zh-CN" dirty="0"/>
              <a:t>10] Student</a:t>
            </a:r>
            <a:r>
              <a:rPr lang="zh-CN" altLang="en-US" dirty="0"/>
              <a:t>表中对性别的限制。</a:t>
            </a:r>
            <a:endParaRPr lang="en-US" altLang="zh-CN" dirty="0"/>
          </a:p>
          <a:p>
            <a:pPr marL="800100" lvl="2" indent="0">
              <a:buNone/>
            </a:pPr>
            <a:r>
              <a:rPr lang="en-US" altLang="zh-CN" dirty="0"/>
              <a:t>ALTER TABLE Student</a:t>
            </a:r>
          </a:p>
          <a:p>
            <a:pPr marL="800100" lvl="2" indent="0">
              <a:buNone/>
            </a:pPr>
            <a:r>
              <a:rPr lang="en-US" altLang="zh-CN" dirty="0">
                <a:solidFill>
                  <a:srgbClr val="0000FF"/>
                </a:solidFill>
              </a:rPr>
              <a:t>DROP CONSTRAINT C4; </a:t>
            </a:r>
            <a:endParaRPr lang="zh-CN" altLang="en-US" dirty="0"/>
          </a:p>
        </p:txBody>
      </p:sp>
      <p:sp>
        <p:nvSpPr>
          <p:cNvPr id="2" name="灯片编号占位符 1">
            <a:extLst>
              <a:ext uri="{FF2B5EF4-FFF2-40B4-BE49-F238E27FC236}">
                <a16:creationId xmlns:a16="http://schemas.microsoft.com/office/drawing/2014/main" id="{10F67C5B-9E00-4124-96E4-6A29A7DB3B93}"/>
              </a:ext>
            </a:extLst>
          </p:cNvPr>
          <p:cNvSpPr>
            <a:spLocks noGrp="1"/>
          </p:cNvSpPr>
          <p:nvPr>
            <p:ph type="sldNum" sz="quarter" idx="12"/>
          </p:nvPr>
        </p:nvSpPr>
        <p:spPr/>
        <p:txBody>
          <a:bodyPr/>
          <a:lstStyle/>
          <a:p>
            <a:fld id="{47C9E101-E51D-431E-84FA-C029B8655B60}" type="slidenum">
              <a:rPr lang="zh-CN" altLang="en-US" smtClean="0"/>
              <a:pPr/>
              <a:t>42</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285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285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28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a:extLst>
              <a:ext uri="{FF2B5EF4-FFF2-40B4-BE49-F238E27FC236}">
                <a16:creationId xmlns:a16="http://schemas.microsoft.com/office/drawing/2014/main" id="{C28DAD28-030C-4BB0-A7CC-FAB6E6404904}"/>
              </a:ext>
            </a:extLst>
          </p:cNvPr>
          <p:cNvSpPr>
            <a:spLocks noGrp="1" noChangeArrowheads="1"/>
          </p:cNvSpPr>
          <p:nvPr>
            <p:ph type="title"/>
          </p:nvPr>
        </p:nvSpPr>
        <p:spPr/>
        <p:txBody>
          <a:bodyPr/>
          <a:lstStyle/>
          <a:p>
            <a:r>
              <a:rPr lang="zh-CN" altLang="en-US"/>
              <a:t>完整性约束命名子句</a:t>
            </a:r>
            <a:r>
              <a:rPr lang="en-US" altLang="zh-CN"/>
              <a:t>(</a:t>
            </a:r>
            <a:r>
              <a:rPr lang="zh-CN" altLang="en-US"/>
              <a:t>续</a:t>
            </a:r>
            <a:r>
              <a:rPr lang="en-US" altLang="zh-CN"/>
              <a:t>)</a:t>
            </a:r>
          </a:p>
        </p:txBody>
      </p:sp>
      <p:sp>
        <p:nvSpPr>
          <p:cNvPr id="463875" name="Rectangle 3">
            <a:extLst>
              <a:ext uri="{FF2B5EF4-FFF2-40B4-BE49-F238E27FC236}">
                <a16:creationId xmlns:a16="http://schemas.microsoft.com/office/drawing/2014/main" id="{5C26044D-565B-486A-8668-EE1EEE4E6911}"/>
              </a:ext>
            </a:extLst>
          </p:cNvPr>
          <p:cNvSpPr>
            <a:spLocks noGrp="1" noChangeArrowheads="1"/>
          </p:cNvSpPr>
          <p:nvPr>
            <p:ph idx="1"/>
          </p:nvPr>
        </p:nvSpPr>
        <p:spPr>
          <a:xfrm>
            <a:off x="838199" y="1147082"/>
            <a:ext cx="10854749" cy="5233307"/>
          </a:xfrm>
        </p:spPr>
        <p:txBody>
          <a:bodyPr>
            <a:normAutofit fontScale="92500" lnSpcReduction="10000"/>
          </a:bodyPr>
          <a:lstStyle/>
          <a:p>
            <a:r>
              <a:rPr lang="en-US" altLang="zh-CN" dirty="0"/>
              <a:t>[</a:t>
            </a:r>
            <a:r>
              <a:rPr lang="zh-CN" altLang="en-US" dirty="0"/>
              <a:t>例</a:t>
            </a:r>
            <a:r>
              <a:rPr lang="en-US" altLang="zh-CN" dirty="0"/>
              <a:t>13]</a:t>
            </a:r>
            <a:r>
              <a:rPr lang="zh-CN" altLang="en-US" dirty="0"/>
              <a:t>修改表</a:t>
            </a:r>
            <a:r>
              <a:rPr lang="en-US" altLang="zh-CN" dirty="0"/>
              <a:t>Student</a:t>
            </a:r>
            <a:r>
              <a:rPr lang="zh-CN" altLang="en-US" dirty="0"/>
              <a:t>中的约束条件，要求学号改为在</a:t>
            </a:r>
            <a:r>
              <a:rPr lang="en-US" altLang="zh-CN" dirty="0"/>
              <a:t>900000~999999</a:t>
            </a:r>
            <a:r>
              <a:rPr lang="zh-CN" altLang="en-US" dirty="0"/>
              <a:t>之间，年龄由小于</a:t>
            </a:r>
            <a:r>
              <a:rPr lang="en-US" altLang="zh-CN" dirty="0"/>
              <a:t>30</a:t>
            </a:r>
            <a:r>
              <a:rPr lang="zh-CN" altLang="en-US" dirty="0"/>
              <a:t>改为小于</a:t>
            </a:r>
            <a:r>
              <a:rPr lang="en-US" altLang="zh-CN" dirty="0"/>
              <a:t>40</a:t>
            </a:r>
            <a:r>
              <a:rPr lang="zh-CN" altLang="en-US" dirty="0"/>
              <a:t>。</a:t>
            </a:r>
            <a:endParaRPr lang="en-US" altLang="zh-CN" dirty="0"/>
          </a:p>
          <a:p>
            <a:pPr lvl="1"/>
            <a:r>
              <a:rPr lang="zh-CN" altLang="en-US" dirty="0"/>
              <a:t>可以先删除原来的约束条件，再增加新的约束条件</a:t>
            </a:r>
          </a:p>
          <a:p>
            <a:pPr marL="342900" lvl="1" indent="0">
              <a:buNone/>
            </a:pPr>
            <a:r>
              <a:rPr lang="zh-CN" altLang="en-US" dirty="0"/>
              <a:t>    </a:t>
            </a:r>
            <a:r>
              <a:rPr lang="en-US" altLang="zh-CN" dirty="0">
                <a:solidFill>
                  <a:srgbClr val="00B050"/>
                </a:solidFill>
              </a:rPr>
              <a:t>ALTER TABLE Student</a:t>
            </a:r>
          </a:p>
          <a:p>
            <a:pPr marL="342900" lvl="1" indent="0">
              <a:buNone/>
            </a:pPr>
            <a:r>
              <a:rPr lang="en-US" altLang="zh-CN" dirty="0">
                <a:solidFill>
                  <a:srgbClr val="00B050"/>
                </a:solidFill>
              </a:rPr>
              <a:t>    DROP CONSTRAINT C1;</a:t>
            </a:r>
          </a:p>
          <a:p>
            <a:pPr marL="342900" lvl="1" indent="0">
              <a:buNone/>
            </a:pPr>
            <a:r>
              <a:rPr lang="en-US" altLang="zh-CN" dirty="0"/>
              <a:t>    </a:t>
            </a:r>
            <a:r>
              <a:rPr lang="en-US" altLang="zh-CN" dirty="0">
                <a:solidFill>
                  <a:srgbClr val="0000FF"/>
                </a:solidFill>
              </a:rPr>
              <a:t>ALTER TABLE Student</a:t>
            </a:r>
          </a:p>
          <a:p>
            <a:pPr marL="342900" lvl="1" indent="0">
              <a:buNone/>
            </a:pPr>
            <a:r>
              <a:rPr lang="en-US" altLang="zh-CN" dirty="0">
                <a:solidFill>
                  <a:srgbClr val="0000FF"/>
                </a:solidFill>
              </a:rPr>
              <a:t>    ADD CONSTRAINT C1 CHECK (</a:t>
            </a:r>
            <a:r>
              <a:rPr lang="en-US" altLang="zh-CN" dirty="0" err="1">
                <a:solidFill>
                  <a:srgbClr val="0000FF"/>
                </a:solidFill>
              </a:rPr>
              <a:t>Sno</a:t>
            </a:r>
            <a:r>
              <a:rPr lang="en-US" altLang="zh-CN" dirty="0">
                <a:solidFill>
                  <a:srgbClr val="0000FF"/>
                </a:solidFill>
              </a:rPr>
              <a:t> BETWEEN 900000 AND 999999);</a:t>
            </a:r>
            <a:endParaRPr lang="zh-CN" altLang="en-US" dirty="0">
              <a:solidFill>
                <a:srgbClr val="0000FF"/>
              </a:solidFill>
            </a:endParaRPr>
          </a:p>
          <a:p>
            <a:pPr marL="342900" lvl="1" indent="0">
              <a:buNone/>
            </a:pPr>
            <a:r>
              <a:rPr lang="zh-CN" altLang="en-US" dirty="0"/>
              <a:t>    </a:t>
            </a:r>
            <a:r>
              <a:rPr lang="en-US" altLang="zh-CN" dirty="0">
                <a:solidFill>
                  <a:srgbClr val="00B050"/>
                </a:solidFill>
              </a:rPr>
              <a:t>ALTER TABLE Student</a:t>
            </a:r>
          </a:p>
          <a:p>
            <a:pPr marL="342900" lvl="1" indent="0">
              <a:buNone/>
            </a:pPr>
            <a:r>
              <a:rPr lang="en-US" altLang="zh-CN" dirty="0">
                <a:solidFill>
                  <a:srgbClr val="00B050"/>
                </a:solidFill>
              </a:rPr>
              <a:t>    DROP CONSTRAINT C3;</a:t>
            </a:r>
          </a:p>
          <a:p>
            <a:pPr marL="342900" lvl="1" indent="0">
              <a:buNone/>
            </a:pPr>
            <a:r>
              <a:rPr lang="en-US" altLang="zh-CN" dirty="0">
                <a:solidFill>
                  <a:srgbClr val="0000FF"/>
                </a:solidFill>
              </a:rPr>
              <a:t>    ALTER TABLE Student</a:t>
            </a:r>
          </a:p>
          <a:p>
            <a:pPr marL="342900" lvl="1" indent="0">
              <a:buNone/>
            </a:pPr>
            <a:r>
              <a:rPr lang="en-US" altLang="zh-CN" dirty="0">
                <a:solidFill>
                  <a:srgbClr val="0000FF"/>
                </a:solidFill>
              </a:rPr>
              <a:t>    ADD CONSTRAINT C3 CHECK (Sage &lt; 40)</a:t>
            </a:r>
            <a:r>
              <a:rPr lang="zh-CN" altLang="en-US" dirty="0">
                <a:solidFill>
                  <a:srgbClr val="0000FF"/>
                </a:solidFill>
              </a:rPr>
              <a:t>；</a:t>
            </a:r>
          </a:p>
        </p:txBody>
      </p:sp>
      <p:sp>
        <p:nvSpPr>
          <p:cNvPr id="2" name="灯片编号占位符 1">
            <a:extLst>
              <a:ext uri="{FF2B5EF4-FFF2-40B4-BE49-F238E27FC236}">
                <a16:creationId xmlns:a16="http://schemas.microsoft.com/office/drawing/2014/main" id="{A4D4DDFF-21E0-41EB-949E-19A2A18691E8}"/>
              </a:ext>
            </a:extLst>
          </p:cNvPr>
          <p:cNvSpPr>
            <a:spLocks noGrp="1"/>
          </p:cNvSpPr>
          <p:nvPr>
            <p:ph type="sldNum" sz="quarter" idx="12"/>
          </p:nvPr>
        </p:nvSpPr>
        <p:spPr/>
        <p:txBody>
          <a:bodyPr/>
          <a:lstStyle/>
          <a:p>
            <a:fld id="{47C9E101-E51D-431E-84FA-C029B8655B60}" type="slidenum">
              <a:rPr lang="zh-CN" altLang="en-US" smtClean="0"/>
              <a:pPr/>
              <a:t>43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38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387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387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6387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387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387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63875">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63875">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387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B58362-4EB3-471D-91E6-CA70F3D53A1D}"/>
              </a:ext>
            </a:extLst>
          </p:cNvPr>
          <p:cNvSpPr>
            <a:spLocks noGrp="1"/>
          </p:cNvSpPr>
          <p:nvPr>
            <p:ph type="title"/>
          </p:nvPr>
        </p:nvSpPr>
        <p:spPr/>
        <p:txBody>
          <a:bodyPr/>
          <a:lstStyle/>
          <a:p>
            <a:r>
              <a:rPr lang="en-US" altLang="zh-CN"/>
              <a:t>openGauss</a:t>
            </a:r>
            <a:r>
              <a:rPr lang="zh-CN" altLang="en-US"/>
              <a:t>典型约束示例</a:t>
            </a:r>
          </a:p>
        </p:txBody>
      </p:sp>
      <p:sp>
        <p:nvSpPr>
          <p:cNvPr id="4" name="灯片编号占位符 3">
            <a:extLst>
              <a:ext uri="{FF2B5EF4-FFF2-40B4-BE49-F238E27FC236}">
                <a16:creationId xmlns:a16="http://schemas.microsoft.com/office/drawing/2014/main" id="{E813ED36-77D0-46B7-906E-CE5F582342DE}"/>
              </a:ext>
            </a:extLst>
          </p:cNvPr>
          <p:cNvSpPr>
            <a:spLocks noGrp="1"/>
          </p:cNvSpPr>
          <p:nvPr>
            <p:ph type="sldNum" sz="quarter" idx="12"/>
          </p:nvPr>
        </p:nvSpPr>
        <p:spPr/>
        <p:txBody>
          <a:bodyPr/>
          <a:lstStyle/>
          <a:p>
            <a:fld id="{E63F6D5D-9733-4D44-9C56-AEFEDD5A4BA7}" type="slidenum">
              <a:rPr lang="en-US" smtClean="0"/>
              <a:pPr/>
              <a:t>44</a:t>
            </a:fld>
            <a:endParaRPr lang="en-US" dirty="0"/>
          </a:p>
        </p:txBody>
      </p:sp>
      <p:sp>
        <p:nvSpPr>
          <p:cNvPr id="5" name="矩形 4">
            <a:extLst>
              <a:ext uri="{FF2B5EF4-FFF2-40B4-BE49-F238E27FC236}">
                <a16:creationId xmlns:a16="http://schemas.microsoft.com/office/drawing/2014/main" id="{FE593966-2814-49BE-ABB5-3FAC99749D9A}"/>
              </a:ext>
            </a:extLst>
          </p:cNvPr>
          <p:cNvSpPr/>
          <p:nvPr/>
        </p:nvSpPr>
        <p:spPr>
          <a:xfrm>
            <a:off x="400050" y="1103227"/>
            <a:ext cx="11391900" cy="3785652"/>
          </a:xfrm>
          <a:prstGeom prst="rect">
            <a:avLst/>
          </a:prstGeom>
          <a:solidFill>
            <a:schemeClr val="bg1">
              <a:lumMod val="95000"/>
            </a:schemeClr>
          </a:solidFill>
        </p:spPr>
        <p:txBody>
          <a:bodyPr wrap="square">
            <a:spAutoFit/>
          </a:bodyPr>
          <a:lstStyle/>
          <a:p>
            <a:r>
              <a:rPr lang="en-US" altLang="zh-CN" sz="2000" dirty="0">
                <a:solidFill>
                  <a:srgbClr val="0000CC"/>
                </a:solidFill>
                <a:latin typeface="微软雅黑" panose="020B0503020204020204" pitchFamily="34" charset="-122"/>
                <a:ea typeface="微软雅黑" panose="020B0503020204020204" pitchFamily="34" charset="-122"/>
              </a:rPr>
              <a:t>--</a:t>
            </a:r>
            <a:r>
              <a:rPr lang="zh-CN" altLang="en-US" sz="2000" dirty="0">
                <a:solidFill>
                  <a:srgbClr val="0000CC"/>
                </a:solidFill>
                <a:latin typeface="微软雅黑" panose="020B0503020204020204" pitchFamily="34" charset="-122"/>
                <a:ea typeface="微软雅黑" panose="020B0503020204020204" pitchFamily="34" charset="-122"/>
              </a:rPr>
              <a:t>定义一个检查列约束</a:t>
            </a:r>
            <a:endParaRPr lang="en-US" altLang="zh-CN" sz="2000" dirty="0">
              <a:solidFill>
                <a:srgbClr val="0000CC"/>
              </a:solidFill>
              <a:latin typeface="微软雅黑" panose="020B0503020204020204" pitchFamily="34" charset="-122"/>
              <a:ea typeface="微软雅黑" panose="020B0503020204020204" pitchFamily="34" charset="-122"/>
            </a:endParaRPr>
          </a:p>
          <a:p>
            <a:r>
              <a:rPr lang="en-US" altLang="zh-CN" sz="2000" dirty="0" err="1">
                <a:solidFill>
                  <a:srgbClr val="0000CC"/>
                </a:solidFill>
                <a:latin typeface="微软雅黑" panose="020B0503020204020204" pitchFamily="34" charset="-122"/>
                <a:ea typeface="微软雅黑" panose="020B0503020204020204" pitchFamily="34" charset="-122"/>
              </a:rPr>
              <a:t>openGauss</a:t>
            </a:r>
            <a:r>
              <a:rPr lang="en-US" altLang="zh-CN" sz="2000" dirty="0">
                <a:solidFill>
                  <a:srgbClr val="0000CC"/>
                </a:solidFill>
                <a:latin typeface="微软雅黑" panose="020B0503020204020204" pitchFamily="34" charset="-122"/>
                <a:ea typeface="微软雅黑" panose="020B0503020204020204" pitchFamily="34" charset="-122"/>
              </a:rPr>
              <a:t>=# </a:t>
            </a:r>
            <a:r>
              <a:rPr lang="en-US" altLang="zh-CN" sz="2000" dirty="0">
                <a:solidFill>
                  <a:srgbClr val="FF0000"/>
                </a:solidFill>
                <a:latin typeface="微软雅黑" panose="020B0503020204020204" pitchFamily="34" charset="-122"/>
                <a:ea typeface="微软雅黑" panose="020B0503020204020204" pitchFamily="34" charset="-122"/>
              </a:rPr>
              <a:t>CREATE TABLE tpcds.warehouse_t2</a:t>
            </a:r>
            <a:r>
              <a:rPr lang="en-US" altLang="zh-CN" sz="2000" dirty="0">
                <a:solidFill>
                  <a:srgbClr val="0000CC"/>
                </a:solidFill>
                <a:latin typeface="微软雅黑" panose="020B0503020204020204" pitchFamily="34" charset="-122"/>
                <a:ea typeface="微软雅黑" panose="020B0503020204020204" pitchFamily="34" charset="-122"/>
              </a:rPr>
              <a:t/>
            </a:r>
            <a:br>
              <a:rPr lang="en-US" altLang="zh-CN" sz="2000" dirty="0">
                <a:solidFill>
                  <a:srgbClr val="0000CC"/>
                </a:solidFill>
                <a:latin typeface="微软雅黑" panose="020B0503020204020204" pitchFamily="34" charset="-122"/>
                <a:ea typeface="微软雅黑" panose="020B0503020204020204" pitchFamily="34" charset="-122"/>
              </a:rPr>
            </a:br>
            <a:r>
              <a:rPr lang="en-US" altLang="zh-CN" sz="2000" dirty="0">
                <a:solidFill>
                  <a:srgbClr val="0000CC"/>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W_WAREHOUSE_SK </a:t>
            </a:r>
            <a:r>
              <a:rPr lang="en-US" altLang="zh-CN" sz="2000" dirty="0">
                <a:solidFill>
                  <a:srgbClr val="0000CC"/>
                </a:solidFill>
                <a:latin typeface="微软雅黑" panose="020B0503020204020204" pitchFamily="34" charset="-122"/>
                <a:ea typeface="微软雅黑" panose="020B0503020204020204" pitchFamily="34" charset="-122"/>
              </a:rPr>
              <a:t>INTEGER PRIMARY KEY </a:t>
            </a:r>
            <a:r>
              <a:rPr lang="en-US" altLang="zh-CN" sz="2000" dirty="0">
                <a:solidFill>
                  <a:srgbClr val="FF0000"/>
                </a:solidFill>
                <a:latin typeface="微软雅黑" panose="020B0503020204020204" pitchFamily="34" charset="-122"/>
                <a:ea typeface="微软雅黑" panose="020B0503020204020204" pitchFamily="34" charset="-122"/>
              </a:rPr>
              <a:t>CHECK(W_WAREHOUSE_SK&gt;0</a:t>
            </a:r>
            <a:r>
              <a:rPr lang="en-US" altLang="zh-CN" sz="2000" dirty="0">
                <a:solidFill>
                  <a:srgbClr val="0000CC"/>
                </a:solidFill>
                <a:latin typeface="微软雅黑" panose="020B0503020204020204" pitchFamily="34" charset="-122"/>
                <a:ea typeface="微软雅黑" panose="020B0503020204020204" pitchFamily="34" charset="-122"/>
              </a:rPr>
              <a:t>),</a:t>
            </a:r>
            <a:br>
              <a:rPr lang="en-US" altLang="zh-CN" sz="2000" dirty="0">
                <a:solidFill>
                  <a:srgbClr val="0000CC"/>
                </a:solidFill>
                <a:latin typeface="微软雅黑" panose="020B0503020204020204" pitchFamily="34" charset="-122"/>
                <a:ea typeface="微软雅黑" panose="020B0503020204020204" pitchFamily="34" charset="-122"/>
              </a:rPr>
            </a:br>
            <a:r>
              <a:rPr lang="en-US" altLang="zh-CN" sz="2000" dirty="0">
                <a:solidFill>
                  <a:srgbClr val="0000CC"/>
                </a:solidFill>
                <a:latin typeface="微软雅黑" panose="020B0503020204020204" pitchFamily="34" charset="-122"/>
                <a:ea typeface="微软雅黑" panose="020B0503020204020204" pitchFamily="34" charset="-122"/>
              </a:rPr>
              <a:t>W_WAREHOUSE_ID CHAR(16)  NOT NULL,</a:t>
            </a:r>
            <a:br>
              <a:rPr lang="en-US" altLang="zh-CN" sz="2000" dirty="0">
                <a:solidFill>
                  <a:srgbClr val="0000CC"/>
                </a:solidFill>
                <a:latin typeface="微软雅黑" panose="020B0503020204020204" pitchFamily="34" charset="-122"/>
                <a:ea typeface="微软雅黑" panose="020B0503020204020204" pitchFamily="34" charset="-122"/>
              </a:rPr>
            </a:br>
            <a:r>
              <a:rPr lang="en-US" altLang="zh-CN" sz="2000" dirty="0">
                <a:solidFill>
                  <a:srgbClr val="0000CC"/>
                </a:solidFill>
                <a:latin typeface="微软雅黑" panose="020B0503020204020204" pitchFamily="34" charset="-122"/>
                <a:ea typeface="微软雅黑" panose="020B0503020204020204" pitchFamily="34" charset="-122"/>
              </a:rPr>
              <a:t>W_WAREHOUSE_NAME VARCHAR(20) </a:t>
            </a:r>
            <a:r>
              <a:rPr lang="en-US" altLang="zh-CN" sz="2000" dirty="0">
                <a:solidFill>
                  <a:srgbClr val="FF0000"/>
                </a:solidFill>
                <a:latin typeface="微软雅黑" panose="020B0503020204020204" pitchFamily="34" charset="-122"/>
                <a:ea typeface="微软雅黑" panose="020B0503020204020204" pitchFamily="34" charset="-122"/>
              </a:rPr>
              <a:t>CHECK(W_WAREHOUSE_NAME IS NOT NULL),</a:t>
            </a:r>
            <a:r>
              <a:rPr lang="en-US" altLang="zh-CN" sz="2000" dirty="0">
                <a:solidFill>
                  <a:srgbClr val="0000CC"/>
                </a:solidFill>
                <a:latin typeface="微软雅黑" panose="020B0503020204020204" pitchFamily="34" charset="-122"/>
                <a:ea typeface="微软雅黑" panose="020B0503020204020204" pitchFamily="34" charset="-122"/>
              </a:rPr>
              <a:t/>
            </a:r>
            <a:br>
              <a:rPr lang="en-US" altLang="zh-CN" sz="2000" dirty="0">
                <a:solidFill>
                  <a:srgbClr val="0000CC"/>
                </a:solidFill>
                <a:latin typeface="微软雅黑" panose="020B0503020204020204" pitchFamily="34" charset="-122"/>
                <a:ea typeface="微软雅黑" panose="020B0503020204020204" pitchFamily="34" charset="-122"/>
              </a:rPr>
            </a:br>
            <a:r>
              <a:rPr lang="en-US" altLang="zh-CN" sz="2000" dirty="0">
                <a:solidFill>
                  <a:srgbClr val="0000CC"/>
                </a:solidFill>
                <a:latin typeface="微软雅黑" panose="020B0503020204020204" pitchFamily="34" charset="-122"/>
                <a:ea typeface="微软雅黑" panose="020B0503020204020204" pitchFamily="34" charset="-122"/>
              </a:rPr>
              <a:t>W_WAREHOUSE_SQ_FT INTEGER ,</a:t>
            </a:r>
            <a:br>
              <a:rPr lang="en-US" altLang="zh-CN" sz="2000" dirty="0">
                <a:solidFill>
                  <a:srgbClr val="0000CC"/>
                </a:solidFill>
                <a:latin typeface="微软雅黑" panose="020B0503020204020204" pitchFamily="34" charset="-122"/>
                <a:ea typeface="微软雅黑" panose="020B0503020204020204" pitchFamily="34" charset="-122"/>
              </a:rPr>
            </a:br>
            <a:r>
              <a:rPr lang="en-US" altLang="zh-CN" sz="2000" dirty="0">
                <a:solidFill>
                  <a:srgbClr val="0000CC"/>
                </a:solidFill>
                <a:latin typeface="微软雅黑" panose="020B0503020204020204" pitchFamily="34" charset="-122"/>
                <a:ea typeface="微软雅黑" panose="020B0503020204020204" pitchFamily="34" charset="-122"/>
              </a:rPr>
              <a:t>W_CITY VARCHAR(60) ,</a:t>
            </a:r>
            <a:br>
              <a:rPr lang="en-US" altLang="zh-CN" sz="2000" dirty="0">
                <a:solidFill>
                  <a:srgbClr val="0000CC"/>
                </a:solidFill>
                <a:latin typeface="微软雅黑" panose="020B0503020204020204" pitchFamily="34" charset="-122"/>
                <a:ea typeface="微软雅黑" panose="020B0503020204020204" pitchFamily="34" charset="-122"/>
              </a:rPr>
            </a:br>
            <a:r>
              <a:rPr lang="en-US" altLang="zh-CN" sz="2000" dirty="0">
                <a:solidFill>
                  <a:srgbClr val="0000CC"/>
                </a:solidFill>
                <a:latin typeface="微软雅黑" panose="020B0503020204020204" pitchFamily="34" charset="-122"/>
                <a:ea typeface="微软雅黑" panose="020B0503020204020204" pitchFamily="34" charset="-122"/>
              </a:rPr>
              <a:t>W_COUNTY VARCHAR(30) ,</a:t>
            </a:r>
            <a:br>
              <a:rPr lang="en-US" altLang="zh-CN" sz="2000" dirty="0">
                <a:solidFill>
                  <a:srgbClr val="0000CC"/>
                </a:solidFill>
                <a:latin typeface="微软雅黑" panose="020B0503020204020204" pitchFamily="34" charset="-122"/>
                <a:ea typeface="微软雅黑" panose="020B0503020204020204" pitchFamily="34" charset="-122"/>
              </a:rPr>
            </a:br>
            <a:r>
              <a:rPr lang="en-US" altLang="zh-CN" sz="2000" dirty="0">
                <a:solidFill>
                  <a:srgbClr val="0000CC"/>
                </a:solidFill>
                <a:latin typeface="微软雅黑" panose="020B0503020204020204" pitchFamily="34" charset="-122"/>
                <a:ea typeface="微软雅黑" panose="020B0503020204020204" pitchFamily="34" charset="-122"/>
              </a:rPr>
              <a:t>W_STATE CHAR(2) ,</a:t>
            </a:r>
            <a:br>
              <a:rPr lang="en-US" altLang="zh-CN" sz="2000" dirty="0">
                <a:solidFill>
                  <a:srgbClr val="0000CC"/>
                </a:solidFill>
                <a:latin typeface="微软雅黑" panose="020B0503020204020204" pitchFamily="34" charset="-122"/>
                <a:ea typeface="微软雅黑" panose="020B0503020204020204" pitchFamily="34" charset="-122"/>
              </a:rPr>
            </a:br>
            <a:r>
              <a:rPr lang="en-US" altLang="zh-CN" sz="2000" dirty="0">
                <a:solidFill>
                  <a:srgbClr val="0000CC"/>
                </a:solidFill>
                <a:latin typeface="微软雅黑" panose="020B0503020204020204" pitchFamily="34" charset="-122"/>
                <a:ea typeface="微软雅黑" panose="020B0503020204020204" pitchFamily="34" charset="-122"/>
              </a:rPr>
              <a:t>W_ZIP CHAR(10) ,</a:t>
            </a:r>
            <a:br>
              <a:rPr lang="en-US" altLang="zh-CN" sz="2000" dirty="0">
                <a:solidFill>
                  <a:srgbClr val="0000CC"/>
                </a:solidFill>
                <a:latin typeface="微软雅黑" panose="020B0503020204020204" pitchFamily="34" charset="-122"/>
                <a:ea typeface="微软雅黑" panose="020B0503020204020204" pitchFamily="34" charset="-122"/>
              </a:rPr>
            </a:br>
            <a:r>
              <a:rPr lang="en-US" altLang="zh-CN" sz="2000" dirty="0">
                <a:solidFill>
                  <a:srgbClr val="0000CC"/>
                </a:solidFill>
                <a:latin typeface="微软雅黑" panose="020B0503020204020204" pitchFamily="34" charset="-122"/>
                <a:ea typeface="微软雅黑" panose="020B0503020204020204" pitchFamily="34" charset="-122"/>
              </a:rPr>
              <a:t>W_COUNTRY VARCHAR(20) ,</a:t>
            </a:r>
            <a:br>
              <a:rPr lang="en-US" altLang="zh-CN" sz="2000" dirty="0">
                <a:solidFill>
                  <a:srgbClr val="0000CC"/>
                </a:solidFill>
                <a:latin typeface="微软雅黑" panose="020B0503020204020204" pitchFamily="34" charset="-122"/>
                <a:ea typeface="微软雅黑" panose="020B0503020204020204" pitchFamily="34" charset="-122"/>
              </a:rPr>
            </a:br>
            <a:r>
              <a:rPr lang="en-US" altLang="zh-CN" sz="2000" dirty="0">
                <a:solidFill>
                  <a:srgbClr val="0000CC"/>
                </a:solidFill>
                <a:latin typeface="微软雅黑" panose="020B0503020204020204" pitchFamily="34" charset="-122"/>
                <a:ea typeface="微软雅黑" panose="020B0503020204020204" pitchFamily="34" charset="-122"/>
              </a:rPr>
              <a:t>W_GMT_OFFSET DECIMAL(5,2)); </a:t>
            </a:r>
            <a:endParaRPr lang="zh-CN" altLang="en-US" sz="2000" dirty="0">
              <a:solidFill>
                <a:srgbClr val="0000CC"/>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42EFBDE-0C1E-4805-93E4-A8F7571CE42A}"/>
              </a:ext>
            </a:extLst>
          </p:cNvPr>
          <p:cNvSpPr/>
          <p:nvPr/>
        </p:nvSpPr>
        <p:spPr>
          <a:xfrm>
            <a:off x="400050" y="5126168"/>
            <a:ext cx="11391900" cy="1077218"/>
          </a:xfrm>
          <a:prstGeom prst="rect">
            <a:avLst/>
          </a:prstGeom>
          <a:solidFill>
            <a:schemeClr val="bg1">
              <a:lumMod val="95000"/>
            </a:schemeClr>
          </a:solidFill>
        </p:spPr>
        <p:txBody>
          <a:bodyPr wrap="square">
            <a:spAutoFit/>
          </a:bodyPr>
          <a:lstStyle/>
          <a:p>
            <a:r>
              <a:rPr lang="en-US" altLang="zh-CN" sz="2200" dirty="0">
                <a:solidFill>
                  <a:srgbClr val="0000CC"/>
                </a:solidFill>
                <a:latin typeface="微软雅黑" panose="020B0503020204020204" pitchFamily="34" charset="-122"/>
                <a:ea typeface="微软雅黑" panose="020B0503020204020204" pitchFamily="34" charset="-122"/>
              </a:rPr>
              <a:t>--tpcds.warehouse_t2</a:t>
            </a:r>
            <a:r>
              <a:rPr lang="zh-CN" altLang="en-US" sz="2200" dirty="0">
                <a:solidFill>
                  <a:srgbClr val="0000CC"/>
                </a:solidFill>
                <a:latin typeface="微软雅黑" panose="020B0503020204020204" pitchFamily="34" charset="-122"/>
                <a:ea typeface="微软雅黑" panose="020B0503020204020204" pitchFamily="34" charset="-122"/>
              </a:rPr>
              <a:t>表增加一个检查约束</a:t>
            </a:r>
            <a:endParaRPr lang="en-US" altLang="zh-CN" sz="2200" dirty="0">
              <a:solidFill>
                <a:srgbClr val="0000CC"/>
              </a:solidFill>
              <a:latin typeface="微软雅黑" panose="020B0503020204020204" pitchFamily="34" charset="-122"/>
              <a:ea typeface="微软雅黑" panose="020B0503020204020204" pitchFamily="34" charset="-122"/>
            </a:endParaRPr>
          </a:p>
          <a:p>
            <a:r>
              <a:rPr lang="en-US" altLang="zh-CN" sz="2200" dirty="0" err="1">
                <a:solidFill>
                  <a:srgbClr val="0000CC"/>
                </a:solidFill>
                <a:latin typeface="微软雅黑" panose="020B0503020204020204" pitchFamily="34" charset="-122"/>
                <a:ea typeface="微软雅黑" panose="020B0503020204020204" pitchFamily="34" charset="-122"/>
              </a:rPr>
              <a:t>openGauss</a:t>
            </a:r>
            <a:r>
              <a:rPr lang="en-US" altLang="zh-CN" sz="2200" dirty="0">
                <a:solidFill>
                  <a:srgbClr val="0000CC"/>
                </a:solidFill>
                <a:latin typeface="微软雅黑" panose="020B0503020204020204" pitchFamily="34" charset="-122"/>
                <a:ea typeface="微软雅黑" panose="020B0503020204020204" pitchFamily="34" charset="-122"/>
              </a:rPr>
              <a:t>=# </a:t>
            </a:r>
            <a:r>
              <a:rPr lang="en-US" altLang="zh-CN" sz="2200" dirty="0">
                <a:solidFill>
                  <a:srgbClr val="FF0000"/>
                </a:solidFill>
                <a:latin typeface="微软雅黑" panose="020B0503020204020204" pitchFamily="34" charset="-122"/>
                <a:ea typeface="微软雅黑" panose="020B0503020204020204" pitchFamily="34" charset="-122"/>
              </a:rPr>
              <a:t>ALTER TABLE tpcds.warehouse_</a:t>
            </a:r>
            <a:r>
              <a:rPr lang="en-US" altLang="zh-CN" sz="2000" dirty="0">
                <a:solidFill>
                  <a:srgbClr val="FF0000"/>
                </a:solidFill>
                <a:latin typeface="微软雅黑" panose="020B0503020204020204" pitchFamily="34" charset="-122"/>
                <a:ea typeface="微软雅黑" panose="020B0503020204020204" pitchFamily="34" charset="-122"/>
              </a:rPr>
              <a:t>t2 </a:t>
            </a:r>
            <a:r>
              <a:rPr lang="en-US" altLang="zh-CN" sz="2000" dirty="0">
                <a:solidFill>
                  <a:srgbClr val="0000CC"/>
                </a:solidFill>
                <a:latin typeface="微软雅黑" panose="020B0503020204020204" pitchFamily="34" charset="-122"/>
                <a:ea typeface="微软雅黑" panose="020B0503020204020204" pitchFamily="34" charset="-122"/>
              </a:rPr>
              <a:t> ADD </a:t>
            </a:r>
            <a:r>
              <a:rPr lang="en-US" altLang="zh-CN" sz="2000" dirty="0">
                <a:solidFill>
                  <a:srgbClr val="FF0000"/>
                </a:solidFill>
                <a:latin typeface="微软雅黑" panose="020B0503020204020204" pitchFamily="34" charset="-122"/>
                <a:ea typeface="微软雅黑" panose="020B0503020204020204" pitchFamily="34" charset="-122"/>
              </a:rPr>
              <a:t>CONSTRAINT  W_CONSTR_KEY2  </a:t>
            </a:r>
            <a:r>
              <a:rPr lang="en-US" altLang="zh-CN" sz="2000" dirty="0">
                <a:solidFill>
                  <a:srgbClr val="0000CC"/>
                </a:solidFill>
                <a:latin typeface="微软雅黑" panose="020B0503020204020204" pitchFamily="34" charset="-122"/>
                <a:ea typeface="微软雅黑" panose="020B0503020204020204" pitchFamily="34" charset="-122"/>
              </a:rPr>
              <a:t>CHECK(W_STATE IS NOT NULL); </a:t>
            </a:r>
            <a:endParaRPr lang="zh-CN" altLang="en-US" sz="2000" dirty="0">
              <a:solidFill>
                <a:srgbClr val="0000C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12541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a:extLst>
              <a:ext uri="{FF2B5EF4-FFF2-40B4-BE49-F238E27FC236}">
                <a16:creationId xmlns:a16="http://schemas.microsoft.com/office/drawing/2014/main" id="{56F63473-DC26-40DD-A379-00AB1BC2AF4E}"/>
              </a:ext>
            </a:extLst>
          </p:cNvPr>
          <p:cNvSpPr>
            <a:spLocks noGrp="1" noChangeArrowheads="1"/>
          </p:cNvSpPr>
          <p:nvPr>
            <p:ph type="title"/>
          </p:nvPr>
        </p:nvSpPr>
        <p:spPr/>
        <p:txBody>
          <a:bodyPr/>
          <a:lstStyle/>
          <a:p>
            <a:r>
              <a:rPr lang="en-US" altLang="zh-CN" dirty="0"/>
              <a:t>5.7  </a:t>
            </a:r>
            <a:r>
              <a:rPr lang="zh-CN" altLang="en-US" dirty="0"/>
              <a:t>触发器</a:t>
            </a:r>
          </a:p>
        </p:txBody>
      </p:sp>
      <p:sp>
        <p:nvSpPr>
          <p:cNvPr id="466947" name="Rectangle 3">
            <a:extLst>
              <a:ext uri="{FF2B5EF4-FFF2-40B4-BE49-F238E27FC236}">
                <a16:creationId xmlns:a16="http://schemas.microsoft.com/office/drawing/2014/main" id="{A99CB78E-74E6-4D26-9EB6-73FE2F9651F7}"/>
              </a:ext>
            </a:extLst>
          </p:cNvPr>
          <p:cNvSpPr>
            <a:spLocks noGrp="1" noChangeArrowheads="1"/>
          </p:cNvSpPr>
          <p:nvPr>
            <p:ph idx="1"/>
          </p:nvPr>
        </p:nvSpPr>
        <p:spPr/>
        <p:txBody>
          <a:bodyPr>
            <a:normAutofit fontScale="92500"/>
          </a:bodyPr>
          <a:lstStyle/>
          <a:p>
            <a:r>
              <a:rPr lang="zh-CN" altLang="en-US" dirty="0">
                <a:solidFill>
                  <a:srgbClr val="C00000"/>
                </a:solidFill>
              </a:rPr>
              <a:t>触发器（</a:t>
            </a:r>
            <a:r>
              <a:rPr lang="en-US" altLang="zh-CN" dirty="0">
                <a:solidFill>
                  <a:srgbClr val="C00000"/>
                </a:solidFill>
              </a:rPr>
              <a:t>Trigger</a:t>
            </a:r>
            <a:r>
              <a:rPr lang="zh-CN" altLang="en-US" dirty="0">
                <a:solidFill>
                  <a:srgbClr val="C00000"/>
                </a:solidFill>
              </a:rPr>
              <a:t>）</a:t>
            </a:r>
            <a:r>
              <a:rPr lang="zh-CN" altLang="en-US" dirty="0"/>
              <a:t>又叫做</a:t>
            </a:r>
            <a:r>
              <a:rPr lang="zh-CN" altLang="en-US" dirty="0">
                <a:solidFill>
                  <a:srgbClr val="C00000"/>
                </a:solidFill>
              </a:rPr>
              <a:t>事件</a:t>
            </a:r>
            <a:r>
              <a:rPr lang="en-US" altLang="zh-CN" dirty="0">
                <a:solidFill>
                  <a:srgbClr val="C00000"/>
                </a:solidFill>
              </a:rPr>
              <a:t>-</a:t>
            </a:r>
            <a:r>
              <a:rPr lang="zh-CN" altLang="en-US" dirty="0">
                <a:solidFill>
                  <a:srgbClr val="C00000"/>
                </a:solidFill>
              </a:rPr>
              <a:t>条件</a:t>
            </a:r>
            <a:r>
              <a:rPr lang="en-US" altLang="zh-CN" dirty="0">
                <a:solidFill>
                  <a:srgbClr val="C00000"/>
                </a:solidFill>
              </a:rPr>
              <a:t>-</a:t>
            </a:r>
            <a:r>
              <a:rPr lang="zh-CN" altLang="en-US" dirty="0">
                <a:solidFill>
                  <a:srgbClr val="C00000"/>
                </a:solidFill>
              </a:rPr>
              <a:t>动作规则</a:t>
            </a:r>
            <a:r>
              <a:rPr lang="zh-CN" altLang="en-US" dirty="0"/>
              <a:t>，是用户定义在关系表上的一类由</a:t>
            </a:r>
            <a:r>
              <a:rPr lang="zh-CN" altLang="en-US" dirty="0">
                <a:solidFill>
                  <a:srgbClr val="C00000"/>
                </a:solidFill>
              </a:rPr>
              <a:t>事件驱动</a:t>
            </a:r>
            <a:r>
              <a:rPr lang="zh-CN" altLang="en-US" dirty="0"/>
              <a:t>的特殊过程</a:t>
            </a:r>
          </a:p>
          <a:p>
            <a:pPr lvl="1"/>
            <a:r>
              <a:rPr lang="zh-CN" altLang="en-US" dirty="0">
                <a:latin typeface="Calibri" panose="020F0502020204030204" pitchFamily="34" charset="0"/>
                <a:cs typeface="Calibri" panose="020F0502020204030204" pitchFamily="34" charset="0"/>
              </a:rPr>
              <a:t>当特定的</a:t>
            </a:r>
            <a:r>
              <a:rPr lang="zh-CN" altLang="en-US" dirty="0">
                <a:solidFill>
                  <a:srgbClr val="0000FF"/>
                </a:solidFill>
                <a:latin typeface="Calibri" panose="020F0502020204030204" pitchFamily="34" charset="0"/>
                <a:cs typeface="Calibri" panose="020F0502020204030204" pitchFamily="34" charset="0"/>
              </a:rPr>
              <a:t>系统事件</a:t>
            </a:r>
            <a:r>
              <a:rPr lang="zh-CN" altLang="en-US" dirty="0">
                <a:latin typeface="Calibri" panose="020F0502020204030204" pitchFamily="34" charset="0"/>
                <a:cs typeface="Calibri" panose="020F0502020204030204" pitchFamily="34" charset="0"/>
              </a:rPr>
              <a:t>发生时，对规则的条件进行检查。如果条件成立则执行规则中的动作，否则不执行该动作。规则中的动作体可以很复杂，通常是一段</a:t>
            </a:r>
            <a:r>
              <a:rPr lang="en-US" altLang="zh-CN" dirty="0">
                <a:solidFill>
                  <a:srgbClr val="0000FF"/>
                </a:solidFill>
                <a:latin typeface="Calibri" panose="020F0502020204030204" pitchFamily="34" charset="0"/>
                <a:cs typeface="Calibri" panose="020F0502020204030204" pitchFamily="34" charset="0"/>
              </a:rPr>
              <a:t>SQL</a:t>
            </a:r>
            <a:r>
              <a:rPr lang="zh-CN" altLang="en-US" dirty="0">
                <a:solidFill>
                  <a:srgbClr val="0000FF"/>
                </a:solidFill>
                <a:latin typeface="Calibri" panose="020F0502020204030204" pitchFamily="34" charset="0"/>
                <a:cs typeface="Calibri" panose="020F0502020204030204" pitchFamily="34" charset="0"/>
              </a:rPr>
              <a:t>存储过程</a:t>
            </a:r>
            <a:r>
              <a:rPr lang="zh-CN" altLang="en-US" dirty="0">
                <a:latin typeface="Calibri" panose="020F0502020204030204" pitchFamily="34" charset="0"/>
                <a:cs typeface="Calibri" panose="020F0502020204030204" pitchFamily="34" charset="0"/>
              </a:rPr>
              <a:t>。</a:t>
            </a:r>
            <a:endParaRPr lang="en-US" altLang="zh-CN" dirty="0">
              <a:latin typeface="Calibri" panose="020F0502020204030204" pitchFamily="34" charset="0"/>
              <a:cs typeface="Calibri" panose="020F0502020204030204" pitchFamily="34" charset="0"/>
            </a:endParaRPr>
          </a:p>
          <a:p>
            <a:pPr lvl="1"/>
            <a:r>
              <a:rPr lang="zh-CN" altLang="en-US" dirty="0"/>
              <a:t>触发器类似于约束，但是比约束更加灵活，可以实施比</a:t>
            </a:r>
            <a:r>
              <a:rPr lang="en-US" altLang="zh-CN" dirty="0"/>
              <a:t>FOREIGN KEY</a:t>
            </a:r>
            <a:r>
              <a:rPr lang="zh-CN" altLang="en-US" dirty="0"/>
              <a:t>约束、</a:t>
            </a:r>
            <a:r>
              <a:rPr lang="en-US" altLang="zh-CN" dirty="0"/>
              <a:t>CHECK</a:t>
            </a:r>
            <a:r>
              <a:rPr lang="zh-CN" altLang="en-US" dirty="0"/>
              <a:t>约束更为复杂的检查和操作，具有更精细和更强大的数据控制能力 </a:t>
            </a:r>
            <a:endParaRPr lang="en-US" altLang="zh-CN" dirty="0"/>
          </a:p>
          <a:p>
            <a:pPr lvl="1"/>
            <a:r>
              <a:rPr lang="zh-CN" altLang="en-US" dirty="0"/>
              <a:t>任何用户对表的增、删、改操作均由服务器自动激活相应的触发器</a:t>
            </a:r>
            <a:endParaRPr lang="en-US" altLang="zh-CN" dirty="0"/>
          </a:p>
          <a:p>
            <a:r>
              <a:rPr lang="zh-CN" altLang="en-US" dirty="0">
                <a:solidFill>
                  <a:srgbClr val="C00000"/>
                </a:solidFill>
              </a:rPr>
              <a:t>示例：</a:t>
            </a:r>
            <a:endParaRPr lang="en-US" altLang="zh-CN" dirty="0">
              <a:solidFill>
                <a:srgbClr val="C00000"/>
              </a:solidFill>
            </a:endParaRPr>
          </a:p>
          <a:p>
            <a:pPr lvl="1"/>
            <a:r>
              <a:rPr lang="zh-CN" altLang="en-US" dirty="0"/>
              <a:t>假设一个仓库希望每种物品的库存保持一个最小量。在更新某种物品的库存时，触发器会比较这种物品的当前库存和它的最小库存。如果库存数量等于或少于最小值，就会</a:t>
            </a:r>
            <a:r>
              <a:rPr lang="zh-CN" altLang="en-US" dirty="0">
                <a:solidFill>
                  <a:srgbClr val="0000FF"/>
                </a:solidFill>
              </a:rPr>
              <a:t>自动生成一个新的订单</a:t>
            </a:r>
            <a:r>
              <a:rPr lang="zh-CN" altLang="en-US" dirty="0"/>
              <a:t>。</a:t>
            </a:r>
            <a:endParaRPr lang="en-US" altLang="zh-CN" dirty="0"/>
          </a:p>
        </p:txBody>
      </p:sp>
      <p:sp>
        <p:nvSpPr>
          <p:cNvPr id="2" name="灯片编号占位符 1">
            <a:extLst>
              <a:ext uri="{FF2B5EF4-FFF2-40B4-BE49-F238E27FC236}">
                <a16:creationId xmlns:a16="http://schemas.microsoft.com/office/drawing/2014/main" id="{4D2B521E-F5B6-491D-B8CC-C9B332C8B88C}"/>
              </a:ext>
            </a:extLst>
          </p:cNvPr>
          <p:cNvSpPr>
            <a:spLocks noGrp="1"/>
          </p:cNvSpPr>
          <p:nvPr>
            <p:ph type="sldNum" sz="quarter" idx="12"/>
          </p:nvPr>
        </p:nvSpPr>
        <p:spPr/>
        <p:txBody>
          <a:bodyPr/>
          <a:lstStyle/>
          <a:p>
            <a:fld id="{47C9E101-E51D-431E-84FA-C029B8655B60}" type="slidenum">
              <a:rPr lang="zh-CN" altLang="en-US" smtClean="0"/>
              <a:pPr/>
              <a:t>45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66947">
                                            <p:txEl>
                                              <p:pRg st="4" end="4"/>
                                            </p:txEl>
                                          </p:spTgt>
                                        </p:tgtEl>
                                        <p:attrNameLst>
                                          <p:attrName>style.visibility</p:attrName>
                                        </p:attrNameLst>
                                      </p:cBhvr>
                                      <p:to>
                                        <p:strVal val="visible"/>
                                      </p:to>
                                    </p:set>
                                    <p:animEffect transition="in" filter="fade">
                                      <p:cBhvr>
                                        <p:cTn id="7" dur="1000"/>
                                        <p:tgtEl>
                                          <p:spTgt spid="466947">
                                            <p:txEl>
                                              <p:pRg st="4" end="4"/>
                                            </p:txEl>
                                          </p:spTgt>
                                        </p:tgtEl>
                                      </p:cBhvr>
                                    </p:animEffect>
                                    <p:anim calcmode="lin" valueType="num">
                                      <p:cBhvr>
                                        <p:cTn id="8" dur="1000" fill="hold"/>
                                        <p:tgtEl>
                                          <p:spTgt spid="466947">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66947">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66947">
                                            <p:txEl>
                                              <p:pRg st="5" end="5"/>
                                            </p:txEl>
                                          </p:spTgt>
                                        </p:tgtEl>
                                        <p:attrNameLst>
                                          <p:attrName>style.visibility</p:attrName>
                                        </p:attrNameLst>
                                      </p:cBhvr>
                                      <p:to>
                                        <p:strVal val="visible"/>
                                      </p:to>
                                    </p:set>
                                    <p:animEffect transition="in" filter="fade">
                                      <p:cBhvr>
                                        <p:cTn id="12" dur="1000"/>
                                        <p:tgtEl>
                                          <p:spTgt spid="466947">
                                            <p:txEl>
                                              <p:pRg st="5" end="5"/>
                                            </p:txEl>
                                          </p:spTgt>
                                        </p:tgtEl>
                                      </p:cBhvr>
                                    </p:animEffect>
                                    <p:anim calcmode="lin" valueType="num">
                                      <p:cBhvr>
                                        <p:cTn id="13" dur="1000" fill="hold"/>
                                        <p:tgtEl>
                                          <p:spTgt spid="466947">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46694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a:extLst>
              <a:ext uri="{FF2B5EF4-FFF2-40B4-BE49-F238E27FC236}">
                <a16:creationId xmlns:a16="http://schemas.microsoft.com/office/drawing/2014/main" id="{CEA2D63D-25B5-41A8-8F13-FEFBBDF24167}"/>
              </a:ext>
            </a:extLst>
          </p:cNvPr>
          <p:cNvSpPr>
            <a:spLocks noGrp="1" noChangeArrowheads="1"/>
          </p:cNvSpPr>
          <p:nvPr>
            <p:ph type="title"/>
          </p:nvPr>
        </p:nvSpPr>
        <p:spPr/>
        <p:txBody>
          <a:bodyPr/>
          <a:lstStyle/>
          <a:p>
            <a:r>
              <a:rPr lang="en-US" altLang="zh-CN" dirty="0"/>
              <a:t>5.7.1 </a:t>
            </a:r>
            <a:r>
              <a:rPr lang="zh-CN" altLang="en-US" dirty="0"/>
              <a:t>定义触发器</a:t>
            </a:r>
          </a:p>
        </p:txBody>
      </p:sp>
      <p:sp>
        <p:nvSpPr>
          <p:cNvPr id="468995" name="Rectangle 3">
            <a:extLst>
              <a:ext uri="{FF2B5EF4-FFF2-40B4-BE49-F238E27FC236}">
                <a16:creationId xmlns:a16="http://schemas.microsoft.com/office/drawing/2014/main" id="{BF460D44-3886-4DB6-8C53-3AAF76DBF578}"/>
              </a:ext>
            </a:extLst>
          </p:cNvPr>
          <p:cNvSpPr>
            <a:spLocks noGrp="1" noChangeArrowheads="1"/>
          </p:cNvSpPr>
          <p:nvPr>
            <p:ph idx="1"/>
          </p:nvPr>
        </p:nvSpPr>
        <p:spPr/>
        <p:txBody>
          <a:bodyPr>
            <a:normAutofit lnSpcReduction="10000"/>
          </a:bodyPr>
          <a:lstStyle/>
          <a:p>
            <a:r>
              <a:rPr lang="en-US" altLang="zh-CN" dirty="0"/>
              <a:t>CREATE TRIGGER</a:t>
            </a:r>
            <a:r>
              <a:rPr lang="zh-CN" altLang="en-US" dirty="0"/>
              <a:t>语法格式 </a:t>
            </a:r>
          </a:p>
          <a:p>
            <a:pPr marL="800100" lvl="2" indent="0">
              <a:buNone/>
            </a:pPr>
            <a:r>
              <a:rPr lang="en-US" altLang="zh-CN" dirty="0">
                <a:solidFill>
                  <a:srgbClr val="C00000"/>
                </a:solidFill>
              </a:rPr>
              <a:t>CREATE  TRIGGER </a:t>
            </a:r>
            <a:r>
              <a:rPr lang="en-US" altLang="zh-CN" dirty="0"/>
              <a:t>&lt; </a:t>
            </a:r>
            <a:r>
              <a:rPr lang="zh-CN" altLang="en-US" dirty="0"/>
              <a:t>触发器名</a:t>
            </a:r>
            <a:r>
              <a:rPr lang="en-US" altLang="zh-CN" dirty="0"/>
              <a:t>&gt; /*</a:t>
            </a:r>
            <a:r>
              <a:rPr lang="zh-CN" altLang="en-US" dirty="0"/>
              <a:t>触发事件发生时触发器被激活*</a:t>
            </a:r>
            <a:r>
              <a:rPr lang="en-US" altLang="zh-CN" dirty="0"/>
              <a:t>/</a:t>
            </a:r>
          </a:p>
          <a:p>
            <a:pPr marL="800100" lvl="2" indent="0">
              <a:buNone/>
            </a:pPr>
            <a:r>
              <a:rPr lang="en-US" altLang="zh-CN" dirty="0"/>
              <a:t>{</a:t>
            </a:r>
            <a:r>
              <a:rPr lang="en-US" altLang="zh-CN" dirty="0">
                <a:solidFill>
                  <a:srgbClr val="C00000"/>
                </a:solidFill>
              </a:rPr>
              <a:t>BEFORE | AFTER</a:t>
            </a:r>
            <a:r>
              <a:rPr lang="en-US" altLang="zh-CN" dirty="0"/>
              <a:t>} &lt; </a:t>
            </a:r>
            <a:r>
              <a:rPr lang="zh-CN" altLang="en-US" dirty="0"/>
              <a:t>触发事件</a:t>
            </a:r>
            <a:r>
              <a:rPr lang="en-US" altLang="zh-CN" dirty="0"/>
              <a:t>&gt; </a:t>
            </a:r>
            <a:r>
              <a:rPr lang="en-US" altLang="zh-CN" dirty="0">
                <a:solidFill>
                  <a:srgbClr val="C00000"/>
                </a:solidFill>
              </a:rPr>
              <a:t>ON</a:t>
            </a:r>
            <a:r>
              <a:rPr lang="en-US" altLang="zh-CN" dirty="0"/>
              <a:t> &lt; </a:t>
            </a:r>
            <a:r>
              <a:rPr lang="zh-CN" altLang="en-US" dirty="0"/>
              <a:t>表名</a:t>
            </a:r>
            <a:r>
              <a:rPr lang="en-US" altLang="zh-CN" dirty="0"/>
              <a:t>&gt;</a:t>
            </a:r>
          </a:p>
          <a:p>
            <a:pPr marL="800100" lvl="2" indent="0">
              <a:buNone/>
            </a:pPr>
            <a:r>
              <a:rPr lang="en-US" altLang="zh-CN" dirty="0">
                <a:solidFill>
                  <a:srgbClr val="C00000"/>
                </a:solidFill>
              </a:rPr>
              <a:t>REFERENCING NEW|OLD ROW AS</a:t>
            </a:r>
            <a:r>
              <a:rPr lang="en-US" altLang="zh-CN" dirty="0"/>
              <a:t>&lt; </a:t>
            </a:r>
            <a:r>
              <a:rPr lang="zh-CN" altLang="en-US" dirty="0"/>
              <a:t>变量</a:t>
            </a:r>
            <a:r>
              <a:rPr lang="en-US" altLang="zh-CN" dirty="0"/>
              <a:t>&gt;/*</a:t>
            </a:r>
            <a:r>
              <a:rPr lang="zh-CN" altLang="en-US" dirty="0"/>
              <a:t>指出引用的变量*</a:t>
            </a:r>
            <a:r>
              <a:rPr lang="en-US" altLang="zh-CN" dirty="0"/>
              <a:t>/</a:t>
            </a:r>
          </a:p>
          <a:p>
            <a:pPr marL="800100" lvl="2" indent="0">
              <a:buNone/>
            </a:pPr>
            <a:r>
              <a:rPr lang="en-US" altLang="zh-CN" dirty="0">
                <a:solidFill>
                  <a:srgbClr val="C00000"/>
                </a:solidFill>
              </a:rPr>
              <a:t>FOR EACH </a:t>
            </a:r>
            <a:r>
              <a:rPr lang="en-US" altLang="zh-CN" dirty="0"/>
              <a:t>{</a:t>
            </a:r>
            <a:r>
              <a:rPr lang="en-US" altLang="zh-CN" dirty="0">
                <a:solidFill>
                  <a:srgbClr val="C00000"/>
                </a:solidFill>
              </a:rPr>
              <a:t>ROW | STATEMENT</a:t>
            </a:r>
            <a:r>
              <a:rPr lang="en-US" altLang="zh-CN" dirty="0"/>
              <a:t>} /*</a:t>
            </a:r>
            <a:r>
              <a:rPr lang="zh-CN" altLang="en-US" dirty="0"/>
              <a:t>指出动作执行的频率*</a:t>
            </a:r>
            <a:r>
              <a:rPr lang="en-US" altLang="zh-CN" dirty="0"/>
              <a:t>/</a:t>
            </a:r>
          </a:p>
          <a:p>
            <a:pPr marL="800100" lvl="2" indent="0">
              <a:buNone/>
            </a:pPr>
            <a:r>
              <a:rPr lang="en-US" altLang="zh-CN" dirty="0"/>
              <a:t>[</a:t>
            </a:r>
            <a:r>
              <a:rPr lang="en-US" altLang="zh-CN" dirty="0">
                <a:solidFill>
                  <a:srgbClr val="0000FF"/>
                </a:solidFill>
              </a:rPr>
              <a:t>WHEN &lt; </a:t>
            </a:r>
            <a:r>
              <a:rPr lang="zh-CN" altLang="en-US" dirty="0">
                <a:solidFill>
                  <a:srgbClr val="0000FF"/>
                </a:solidFill>
              </a:rPr>
              <a:t>触发条件</a:t>
            </a:r>
            <a:r>
              <a:rPr lang="en-US" altLang="zh-CN" dirty="0">
                <a:solidFill>
                  <a:srgbClr val="0000FF"/>
                </a:solidFill>
              </a:rPr>
              <a:t>&gt;]&lt; </a:t>
            </a:r>
            <a:r>
              <a:rPr lang="zh-CN" altLang="en-US" dirty="0">
                <a:solidFill>
                  <a:srgbClr val="0000FF"/>
                </a:solidFill>
              </a:rPr>
              <a:t>触发动作体</a:t>
            </a:r>
            <a:r>
              <a:rPr lang="en-US" altLang="zh-CN" dirty="0"/>
              <a:t>&gt;</a:t>
            </a:r>
          </a:p>
          <a:p>
            <a:pPr lvl="2" indent="-342900"/>
            <a:r>
              <a:rPr lang="zh-CN" altLang="en-US" dirty="0">
                <a:solidFill>
                  <a:srgbClr val="C00000"/>
                </a:solidFill>
              </a:rPr>
              <a:t>谁可以创建触发器：表的拥有者（</a:t>
            </a:r>
            <a:r>
              <a:rPr lang="en-US" altLang="zh-CN" dirty="0">
                <a:solidFill>
                  <a:srgbClr val="C00000"/>
                </a:solidFill>
              </a:rPr>
              <a:t>owner</a:t>
            </a:r>
            <a:r>
              <a:rPr lang="zh-CN" altLang="en-US" dirty="0">
                <a:solidFill>
                  <a:srgbClr val="C00000"/>
                </a:solidFill>
              </a:rPr>
              <a:t>）</a:t>
            </a:r>
            <a:r>
              <a:rPr lang="zh-CN" altLang="en-US" dirty="0"/>
              <a:t>；需要有</a:t>
            </a:r>
            <a:r>
              <a:rPr lang="en-US" altLang="zh-CN" dirty="0">
                <a:solidFill>
                  <a:srgbClr val="0000FF"/>
                </a:solidFill>
              </a:rPr>
              <a:t>CREATE TRIGGER</a:t>
            </a:r>
            <a:r>
              <a:rPr lang="zh-CN" altLang="en-US" dirty="0"/>
              <a:t>系统权限</a:t>
            </a:r>
          </a:p>
          <a:p>
            <a:pPr lvl="2" indent="-342900"/>
            <a:r>
              <a:rPr lang="zh-CN" altLang="en-US" dirty="0">
                <a:solidFill>
                  <a:srgbClr val="C00000"/>
                </a:solidFill>
              </a:rPr>
              <a:t>触发器名称：</a:t>
            </a:r>
            <a:r>
              <a:rPr lang="zh-CN" altLang="en-US" dirty="0"/>
              <a:t>触发器名可以包含模式名，也可以不包含模式名；同一模式下，触发器名必须是唯一的；触发器名和表名必须在同一模式下；</a:t>
            </a:r>
            <a:endParaRPr lang="en-US" altLang="zh-CN" dirty="0"/>
          </a:p>
          <a:p>
            <a:pPr marL="800100" lvl="2" indent="0">
              <a:buNone/>
            </a:pPr>
            <a:r>
              <a:rPr lang="zh-CN" altLang="en-US" dirty="0">
                <a:solidFill>
                  <a:srgbClr val="0000FF"/>
                </a:solidFill>
              </a:rPr>
              <a:t>     一般命名约定：</a:t>
            </a:r>
            <a:r>
              <a:rPr lang="en-US" altLang="zh-CN" dirty="0">
                <a:solidFill>
                  <a:srgbClr val="0000FF"/>
                </a:solidFill>
              </a:rPr>
              <a:t>[table name]_ [trigger time]_[trigger event]</a:t>
            </a:r>
          </a:p>
          <a:p>
            <a:pPr lvl="2" indent="-342900"/>
            <a:r>
              <a:rPr lang="zh-CN" altLang="en-US" dirty="0">
                <a:solidFill>
                  <a:srgbClr val="C00000"/>
                </a:solidFill>
              </a:rPr>
              <a:t>表名：</a:t>
            </a:r>
            <a:r>
              <a:rPr lang="zh-CN" altLang="en-US" dirty="0"/>
              <a:t>触发器只能定义在</a:t>
            </a:r>
            <a:r>
              <a:rPr lang="zh-CN" altLang="en-US" dirty="0">
                <a:solidFill>
                  <a:srgbClr val="C00000"/>
                </a:solidFill>
              </a:rPr>
              <a:t>基本表上</a:t>
            </a:r>
            <a:r>
              <a:rPr lang="zh-CN" altLang="en-US" dirty="0"/>
              <a:t>，不能定义在视图上；当基本表的数据发生变化时，将激活定义在该表上相应触发事件的触发器。</a:t>
            </a:r>
            <a:endParaRPr lang="en-US" altLang="zh-CN" dirty="0"/>
          </a:p>
        </p:txBody>
      </p:sp>
      <p:sp>
        <p:nvSpPr>
          <p:cNvPr id="2" name="灯片编号占位符 1">
            <a:extLst>
              <a:ext uri="{FF2B5EF4-FFF2-40B4-BE49-F238E27FC236}">
                <a16:creationId xmlns:a16="http://schemas.microsoft.com/office/drawing/2014/main" id="{76483D77-EF97-4721-A1DF-3F81BAC664F1}"/>
              </a:ext>
            </a:extLst>
          </p:cNvPr>
          <p:cNvSpPr>
            <a:spLocks noGrp="1"/>
          </p:cNvSpPr>
          <p:nvPr>
            <p:ph type="sldNum" sz="quarter" idx="12"/>
          </p:nvPr>
        </p:nvSpPr>
        <p:spPr/>
        <p:txBody>
          <a:bodyPr/>
          <a:lstStyle/>
          <a:p>
            <a:fld id="{47C9E101-E51D-431E-84FA-C029B8655B60}" type="slidenum">
              <a:rPr lang="zh-CN" altLang="en-US" smtClean="0"/>
              <a:pPr/>
              <a:t>46</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8995">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8995">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8995">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89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a:extLst>
              <a:ext uri="{FF2B5EF4-FFF2-40B4-BE49-F238E27FC236}">
                <a16:creationId xmlns:a16="http://schemas.microsoft.com/office/drawing/2014/main" id="{C541AC7E-A91B-4630-9D28-1C4ACD657DB3}"/>
              </a:ext>
            </a:extLst>
          </p:cNvPr>
          <p:cNvSpPr>
            <a:spLocks noGrp="1" noChangeArrowheads="1"/>
          </p:cNvSpPr>
          <p:nvPr>
            <p:ph type="title"/>
          </p:nvPr>
        </p:nvSpPr>
        <p:spPr/>
        <p:txBody>
          <a:bodyPr/>
          <a:lstStyle/>
          <a:p>
            <a:r>
              <a:rPr lang="zh-CN" altLang="en-US"/>
              <a:t>定义触发器</a:t>
            </a:r>
            <a:r>
              <a:rPr lang="en-US" altLang="zh-CN"/>
              <a:t>(</a:t>
            </a:r>
            <a:r>
              <a:rPr lang="zh-CN" altLang="en-US"/>
              <a:t>续</a:t>
            </a:r>
            <a:r>
              <a:rPr lang="en-US" altLang="zh-CN"/>
              <a:t>)</a:t>
            </a:r>
          </a:p>
        </p:txBody>
      </p:sp>
      <p:sp>
        <p:nvSpPr>
          <p:cNvPr id="470019" name="Rectangle 3">
            <a:extLst>
              <a:ext uri="{FF2B5EF4-FFF2-40B4-BE49-F238E27FC236}">
                <a16:creationId xmlns:a16="http://schemas.microsoft.com/office/drawing/2014/main" id="{32E17907-3C51-49E1-A9A3-F7D8BB941095}"/>
              </a:ext>
            </a:extLst>
          </p:cNvPr>
          <p:cNvSpPr>
            <a:spLocks noGrp="1" noChangeArrowheads="1"/>
          </p:cNvSpPr>
          <p:nvPr>
            <p:ph idx="1"/>
          </p:nvPr>
        </p:nvSpPr>
        <p:spPr/>
        <p:txBody>
          <a:bodyPr>
            <a:normAutofit/>
          </a:bodyPr>
          <a:lstStyle/>
          <a:p>
            <a:pPr indent="-342900"/>
            <a:r>
              <a:rPr lang="zh-CN" altLang="en-US" dirty="0"/>
              <a:t>触发事件</a:t>
            </a:r>
          </a:p>
          <a:p>
            <a:pPr lvl="1"/>
            <a:r>
              <a:rPr lang="zh-CN" altLang="en-US" dirty="0"/>
              <a:t>触发事件可以是</a:t>
            </a:r>
            <a:r>
              <a:rPr lang="en-US" altLang="zh-CN" dirty="0">
                <a:solidFill>
                  <a:srgbClr val="C00000"/>
                </a:solidFill>
              </a:rPr>
              <a:t>INSERT</a:t>
            </a:r>
            <a:r>
              <a:rPr lang="zh-CN" altLang="en-US" dirty="0">
                <a:solidFill>
                  <a:srgbClr val="C00000"/>
                </a:solidFill>
              </a:rPr>
              <a:t>、 </a:t>
            </a:r>
            <a:r>
              <a:rPr lang="en-US" altLang="zh-CN" dirty="0">
                <a:solidFill>
                  <a:srgbClr val="C00000"/>
                </a:solidFill>
              </a:rPr>
              <a:t>DELETE</a:t>
            </a:r>
            <a:r>
              <a:rPr lang="zh-CN" altLang="en-US" dirty="0">
                <a:solidFill>
                  <a:srgbClr val="C00000"/>
                </a:solidFill>
              </a:rPr>
              <a:t>或</a:t>
            </a:r>
            <a:r>
              <a:rPr lang="en-US" altLang="zh-CN" dirty="0">
                <a:solidFill>
                  <a:srgbClr val="C00000"/>
                </a:solidFill>
              </a:rPr>
              <a:t>UPDATE</a:t>
            </a:r>
            <a:r>
              <a:rPr lang="zh-CN" altLang="en-US" dirty="0"/>
              <a:t>也可以是这几个事件的组合</a:t>
            </a:r>
          </a:p>
          <a:p>
            <a:pPr lvl="1"/>
            <a:r>
              <a:rPr lang="zh-CN" altLang="en-US" dirty="0"/>
              <a:t>还可以</a:t>
            </a:r>
            <a:r>
              <a:rPr lang="en-US" altLang="zh-CN" dirty="0">
                <a:solidFill>
                  <a:srgbClr val="C00000"/>
                </a:solidFill>
              </a:rPr>
              <a:t>UPDATE OF&lt;</a:t>
            </a:r>
            <a:r>
              <a:rPr lang="zh-CN" altLang="en-US" dirty="0">
                <a:solidFill>
                  <a:srgbClr val="C00000"/>
                </a:solidFill>
              </a:rPr>
              <a:t>触发列， </a:t>
            </a:r>
            <a:r>
              <a:rPr lang="en-US" altLang="zh-CN" dirty="0">
                <a:solidFill>
                  <a:srgbClr val="C00000"/>
                </a:solidFill>
              </a:rPr>
              <a:t>...&gt;</a:t>
            </a:r>
            <a:r>
              <a:rPr lang="zh-CN" altLang="en-US" dirty="0"/>
              <a:t>，即进一步指明修改哪些列时激活触发器</a:t>
            </a:r>
          </a:p>
          <a:p>
            <a:pPr lvl="1"/>
            <a:r>
              <a:rPr lang="en-US" altLang="zh-CN" dirty="0">
                <a:solidFill>
                  <a:srgbClr val="C00000"/>
                </a:solidFill>
              </a:rPr>
              <a:t>AFTER/BEFORE</a:t>
            </a:r>
            <a:r>
              <a:rPr lang="zh-CN" altLang="en-US" dirty="0"/>
              <a:t>是触发的时机</a:t>
            </a:r>
          </a:p>
          <a:p>
            <a:pPr lvl="2"/>
            <a:r>
              <a:rPr lang="en-US" altLang="zh-CN" dirty="0"/>
              <a:t>AFTER</a:t>
            </a:r>
            <a:r>
              <a:rPr lang="zh-CN" altLang="en-US" dirty="0"/>
              <a:t>表示在触发事件的操作执行之后激活触发器</a:t>
            </a:r>
          </a:p>
          <a:p>
            <a:pPr lvl="2"/>
            <a:r>
              <a:rPr lang="en-US" altLang="zh-CN" dirty="0"/>
              <a:t>BEFORE</a:t>
            </a:r>
            <a:r>
              <a:rPr lang="zh-CN" altLang="en-US" dirty="0"/>
              <a:t>表示在触发事件的操作执行之前激活触发器</a:t>
            </a:r>
            <a:endParaRPr lang="en-US" altLang="zh-CN" dirty="0"/>
          </a:p>
        </p:txBody>
      </p:sp>
      <p:sp>
        <p:nvSpPr>
          <p:cNvPr id="2" name="灯片编号占位符 1">
            <a:extLst>
              <a:ext uri="{FF2B5EF4-FFF2-40B4-BE49-F238E27FC236}">
                <a16:creationId xmlns:a16="http://schemas.microsoft.com/office/drawing/2014/main" id="{6C8C9575-8A01-4569-AC60-FE982630D66F}"/>
              </a:ext>
            </a:extLst>
          </p:cNvPr>
          <p:cNvSpPr>
            <a:spLocks noGrp="1"/>
          </p:cNvSpPr>
          <p:nvPr>
            <p:ph type="sldNum" sz="quarter" idx="12"/>
          </p:nvPr>
        </p:nvSpPr>
        <p:spPr/>
        <p:txBody>
          <a:bodyPr/>
          <a:lstStyle/>
          <a:p>
            <a:fld id="{47C9E101-E51D-431E-84FA-C029B8655B60}" type="slidenum">
              <a:rPr lang="zh-CN" altLang="en-US" smtClean="0"/>
              <a:pPr/>
              <a:t>47</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00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00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001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001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00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a:extLst>
              <a:ext uri="{FF2B5EF4-FFF2-40B4-BE49-F238E27FC236}">
                <a16:creationId xmlns:a16="http://schemas.microsoft.com/office/drawing/2014/main" id="{C541AC7E-A91B-4630-9D28-1C4ACD657DB3}"/>
              </a:ext>
            </a:extLst>
          </p:cNvPr>
          <p:cNvSpPr>
            <a:spLocks noGrp="1" noChangeArrowheads="1"/>
          </p:cNvSpPr>
          <p:nvPr>
            <p:ph type="title"/>
          </p:nvPr>
        </p:nvSpPr>
        <p:spPr/>
        <p:txBody>
          <a:bodyPr/>
          <a:lstStyle/>
          <a:p>
            <a:r>
              <a:rPr lang="zh-CN" altLang="en-US"/>
              <a:t>定义触发器</a:t>
            </a:r>
            <a:r>
              <a:rPr lang="en-US" altLang="zh-CN"/>
              <a:t>(</a:t>
            </a:r>
            <a:r>
              <a:rPr lang="zh-CN" altLang="en-US"/>
              <a:t>续</a:t>
            </a:r>
            <a:r>
              <a:rPr lang="en-US" altLang="zh-CN"/>
              <a:t>)</a:t>
            </a:r>
          </a:p>
        </p:txBody>
      </p:sp>
      <p:sp>
        <p:nvSpPr>
          <p:cNvPr id="470019" name="Rectangle 3">
            <a:extLst>
              <a:ext uri="{FF2B5EF4-FFF2-40B4-BE49-F238E27FC236}">
                <a16:creationId xmlns:a16="http://schemas.microsoft.com/office/drawing/2014/main" id="{32E17907-3C51-49E1-A9A3-F7D8BB941095}"/>
              </a:ext>
            </a:extLst>
          </p:cNvPr>
          <p:cNvSpPr>
            <a:spLocks noGrp="1" noChangeArrowheads="1"/>
          </p:cNvSpPr>
          <p:nvPr>
            <p:ph idx="1"/>
          </p:nvPr>
        </p:nvSpPr>
        <p:spPr/>
        <p:txBody>
          <a:bodyPr>
            <a:normAutofit/>
          </a:bodyPr>
          <a:lstStyle/>
          <a:p>
            <a:pPr indent="-342900"/>
            <a:r>
              <a:rPr lang="zh-CN" altLang="en-US" dirty="0"/>
              <a:t>触发器类型</a:t>
            </a:r>
          </a:p>
          <a:p>
            <a:pPr lvl="1"/>
            <a:r>
              <a:rPr lang="zh-CN" altLang="en-US" dirty="0">
                <a:solidFill>
                  <a:srgbClr val="C00000"/>
                </a:solidFill>
              </a:rPr>
              <a:t>行级触发器（</a:t>
            </a:r>
            <a:r>
              <a:rPr lang="en-US" altLang="zh-CN" dirty="0">
                <a:solidFill>
                  <a:srgbClr val="C00000"/>
                </a:solidFill>
              </a:rPr>
              <a:t>FOR EACH ROW</a:t>
            </a:r>
            <a:r>
              <a:rPr lang="zh-CN" altLang="en-US" dirty="0">
                <a:solidFill>
                  <a:srgbClr val="C00000"/>
                </a:solidFill>
              </a:rPr>
              <a:t>）</a:t>
            </a:r>
          </a:p>
          <a:p>
            <a:pPr lvl="1"/>
            <a:r>
              <a:rPr lang="zh-CN" altLang="en-US" dirty="0">
                <a:solidFill>
                  <a:srgbClr val="C00000"/>
                </a:solidFill>
              </a:rPr>
              <a:t>语句级触发器（</a:t>
            </a:r>
            <a:r>
              <a:rPr lang="en-US" altLang="zh-CN" dirty="0">
                <a:solidFill>
                  <a:srgbClr val="C00000"/>
                </a:solidFill>
              </a:rPr>
              <a:t>FOR EACH STATEMENT</a:t>
            </a:r>
            <a:r>
              <a:rPr lang="zh-CN" altLang="en-US" dirty="0">
                <a:solidFill>
                  <a:srgbClr val="C00000"/>
                </a:solidFill>
              </a:rPr>
              <a:t>）</a:t>
            </a:r>
          </a:p>
          <a:p>
            <a:pPr lvl="1"/>
            <a:endParaRPr lang="en-US" altLang="zh-CN" dirty="0"/>
          </a:p>
          <a:p>
            <a:pPr lvl="1"/>
            <a:r>
              <a:rPr lang="zh-CN" altLang="en-US" dirty="0"/>
              <a:t>例如，在</a:t>
            </a:r>
            <a:r>
              <a:rPr lang="en-US" altLang="zh-CN" dirty="0"/>
              <a:t>[</a:t>
            </a:r>
            <a:r>
              <a:rPr lang="zh-CN" altLang="en-US" dirty="0"/>
              <a:t>例</a:t>
            </a:r>
            <a:r>
              <a:rPr lang="en-US" altLang="zh-CN" dirty="0"/>
              <a:t>11]</a:t>
            </a:r>
            <a:r>
              <a:rPr lang="zh-CN" altLang="en-US" dirty="0"/>
              <a:t>的</a:t>
            </a:r>
            <a:r>
              <a:rPr lang="en-US" altLang="zh-CN" dirty="0"/>
              <a:t>TEACHER</a:t>
            </a:r>
            <a:r>
              <a:rPr lang="zh-CN" altLang="en-US" dirty="0"/>
              <a:t>表上创建一个</a:t>
            </a:r>
            <a:r>
              <a:rPr lang="en-US" altLang="zh-CN" dirty="0"/>
              <a:t>AFTER UPDATE</a:t>
            </a:r>
            <a:r>
              <a:rPr lang="zh-CN" altLang="en-US" dirty="0"/>
              <a:t>触发器，触发事件是</a:t>
            </a:r>
            <a:r>
              <a:rPr lang="en-US" altLang="zh-CN" dirty="0"/>
              <a:t>UPDATE</a:t>
            </a:r>
            <a:r>
              <a:rPr lang="zh-CN" altLang="en-US" dirty="0"/>
              <a:t>语句：</a:t>
            </a:r>
            <a:r>
              <a:rPr lang="en-US" altLang="zh-CN" dirty="0">
                <a:solidFill>
                  <a:srgbClr val="0000FF"/>
                </a:solidFill>
              </a:rPr>
              <a:t>UPDATE TEACHER SET </a:t>
            </a:r>
            <a:r>
              <a:rPr lang="en-US" altLang="zh-CN" dirty="0" err="1">
                <a:solidFill>
                  <a:srgbClr val="0000FF"/>
                </a:solidFill>
              </a:rPr>
              <a:t>Deptno</a:t>
            </a:r>
            <a:r>
              <a:rPr lang="en-US" altLang="zh-CN" dirty="0">
                <a:solidFill>
                  <a:srgbClr val="0000FF"/>
                </a:solidFill>
              </a:rPr>
              <a:t>=5;</a:t>
            </a:r>
          </a:p>
          <a:p>
            <a:pPr lvl="1"/>
            <a:r>
              <a:rPr lang="zh-CN" altLang="en-US" dirty="0"/>
              <a:t>假设表</a:t>
            </a:r>
            <a:r>
              <a:rPr lang="en-US" altLang="zh-CN" dirty="0"/>
              <a:t>TEACHER</a:t>
            </a:r>
            <a:r>
              <a:rPr lang="zh-CN" altLang="en-US" dirty="0"/>
              <a:t>有</a:t>
            </a:r>
            <a:r>
              <a:rPr lang="en-US" altLang="zh-CN" dirty="0"/>
              <a:t>1000</a:t>
            </a:r>
            <a:r>
              <a:rPr lang="zh-CN" altLang="en-US" dirty="0"/>
              <a:t>行</a:t>
            </a:r>
          </a:p>
          <a:p>
            <a:pPr lvl="2"/>
            <a:r>
              <a:rPr lang="zh-CN" altLang="en-US" dirty="0"/>
              <a:t>如果是</a:t>
            </a:r>
            <a:r>
              <a:rPr lang="zh-CN" altLang="en-US" dirty="0">
                <a:solidFill>
                  <a:srgbClr val="0000FF"/>
                </a:solidFill>
              </a:rPr>
              <a:t>语句级</a:t>
            </a:r>
            <a:r>
              <a:rPr lang="zh-CN" altLang="en-US" dirty="0"/>
              <a:t>触发器，那么执行完该语句后，触发动作只发生一次</a:t>
            </a:r>
          </a:p>
          <a:p>
            <a:pPr lvl="2"/>
            <a:r>
              <a:rPr lang="zh-CN" altLang="en-US" dirty="0"/>
              <a:t>如果是</a:t>
            </a:r>
            <a:r>
              <a:rPr lang="zh-CN" altLang="en-US" dirty="0">
                <a:solidFill>
                  <a:srgbClr val="0000FF"/>
                </a:solidFill>
              </a:rPr>
              <a:t>行级</a:t>
            </a:r>
            <a:r>
              <a:rPr lang="zh-CN" altLang="en-US" dirty="0"/>
              <a:t>触发器，触发动作将执行</a:t>
            </a:r>
            <a:r>
              <a:rPr lang="en-US" altLang="zh-CN" dirty="0"/>
              <a:t>1000</a:t>
            </a:r>
            <a:r>
              <a:rPr lang="zh-CN" altLang="en-US" dirty="0"/>
              <a:t>次</a:t>
            </a:r>
            <a:endParaRPr lang="en-US" altLang="zh-CN" dirty="0"/>
          </a:p>
        </p:txBody>
      </p:sp>
      <p:sp>
        <p:nvSpPr>
          <p:cNvPr id="2" name="灯片编号占位符 1">
            <a:extLst>
              <a:ext uri="{FF2B5EF4-FFF2-40B4-BE49-F238E27FC236}">
                <a16:creationId xmlns:a16="http://schemas.microsoft.com/office/drawing/2014/main" id="{1EDCE074-CC0F-4535-8A3E-F245B4F2732D}"/>
              </a:ext>
            </a:extLst>
          </p:cNvPr>
          <p:cNvSpPr>
            <a:spLocks noGrp="1"/>
          </p:cNvSpPr>
          <p:nvPr>
            <p:ph type="sldNum" sz="quarter" idx="12"/>
          </p:nvPr>
        </p:nvSpPr>
        <p:spPr/>
        <p:txBody>
          <a:bodyPr/>
          <a:lstStyle/>
          <a:p>
            <a:fld id="{47C9E101-E51D-431E-84FA-C029B8655B60}" type="slidenum">
              <a:rPr lang="zh-CN" altLang="en-US" smtClean="0"/>
              <a:pPr/>
              <a:t>48</a:t>
            </a:fld>
            <a:endParaRPr lang="zh-CN" altLang="en-US" dirty="0"/>
          </a:p>
        </p:txBody>
      </p:sp>
    </p:spTree>
    <p:extLst>
      <p:ext uri="{BB962C8B-B14F-4D97-AF65-F5344CB8AC3E}">
        <p14:creationId xmlns:p14="http://schemas.microsoft.com/office/powerpoint/2010/main" val="331306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001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001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001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00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a:extLst>
              <a:ext uri="{FF2B5EF4-FFF2-40B4-BE49-F238E27FC236}">
                <a16:creationId xmlns:a16="http://schemas.microsoft.com/office/drawing/2014/main" id="{C541AC7E-A91B-4630-9D28-1C4ACD657DB3}"/>
              </a:ext>
            </a:extLst>
          </p:cNvPr>
          <p:cNvSpPr>
            <a:spLocks noGrp="1" noChangeArrowheads="1"/>
          </p:cNvSpPr>
          <p:nvPr>
            <p:ph type="title"/>
          </p:nvPr>
        </p:nvSpPr>
        <p:spPr/>
        <p:txBody>
          <a:bodyPr/>
          <a:lstStyle/>
          <a:p>
            <a:r>
              <a:rPr lang="zh-CN" altLang="en-US"/>
              <a:t>定义触发器</a:t>
            </a:r>
            <a:r>
              <a:rPr lang="en-US" altLang="zh-CN"/>
              <a:t>(</a:t>
            </a:r>
            <a:r>
              <a:rPr lang="zh-CN" altLang="en-US"/>
              <a:t>续</a:t>
            </a:r>
            <a:r>
              <a:rPr lang="en-US" altLang="zh-CN"/>
              <a:t>)</a:t>
            </a:r>
          </a:p>
        </p:txBody>
      </p:sp>
      <p:sp>
        <p:nvSpPr>
          <p:cNvPr id="470019" name="Rectangle 3">
            <a:extLst>
              <a:ext uri="{FF2B5EF4-FFF2-40B4-BE49-F238E27FC236}">
                <a16:creationId xmlns:a16="http://schemas.microsoft.com/office/drawing/2014/main" id="{32E17907-3C51-49E1-A9A3-F7D8BB941095}"/>
              </a:ext>
            </a:extLst>
          </p:cNvPr>
          <p:cNvSpPr>
            <a:spLocks noGrp="1" noChangeArrowheads="1"/>
          </p:cNvSpPr>
          <p:nvPr>
            <p:ph idx="1"/>
          </p:nvPr>
        </p:nvSpPr>
        <p:spPr/>
        <p:txBody>
          <a:bodyPr>
            <a:normAutofit/>
          </a:bodyPr>
          <a:lstStyle/>
          <a:p>
            <a:pPr indent="-342900"/>
            <a:r>
              <a:rPr lang="zh-CN" altLang="en-US" dirty="0">
                <a:solidFill>
                  <a:srgbClr val="C00000"/>
                </a:solidFill>
              </a:rPr>
              <a:t>触发条件</a:t>
            </a:r>
          </a:p>
          <a:p>
            <a:pPr lvl="1"/>
            <a:r>
              <a:rPr lang="zh-CN" altLang="en-US" dirty="0"/>
              <a:t>触发器被激活时，只有当触发条件为真时触发动作体才执行；否则触发动作体不执行。</a:t>
            </a:r>
          </a:p>
          <a:p>
            <a:pPr lvl="1"/>
            <a:r>
              <a:rPr lang="zh-CN" altLang="en-US" dirty="0"/>
              <a:t>如果省略</a:t>
            </a:r>
            <a:r>
              <a:rPr lang="en-US" altLang="zh-CN" dirty="0"/>
              <a:t>WHEN</a:t>
            </a:r>
            <a:r>
              <a:rPr lang="zh-CN" altLang="en-US" dirty="0"/>
              <a:t>触发条件，则触发动作体在触发器激活后立即执行。</a:t>
            </a:r>
            <a:endParaRPr lang="en-US" altLang="zh-CN" dirty="0"/>
          </a:p>
          <a:p>
            <a:pPr indent="-342900"/>
            <a:r>
              <a:rPr lang="zh-CN" altLang="en-US" dirty="0">
                <a:solidFill>
                  <a:srgbClr val="C00000"/>
                </a:solidFill>
              </a:rPr>
              <a:t>触发动作体</a:t>
            </a:r>
          </a:p>
          <a:p>
            <a:pPr lvl="1"/>
            <a:r>
              <a:rPr lang="zh-CN" altLang="en-US" dirty="0"/>
              <a:t>触发动作体可以是一个</a:t>
            </a:r>
            <a:r>
              <a:rPr lang="zh-CN" altLang="en-US" dirty="0">
                <a:solidFill>
                  <a:srgbClr val="0000FF"/>
                </a:solidFill>
              </a:rPr>
              <a:t>匿名</a:t>
            </a:r>
            <a:r>
              <a:rPr lang="en-US" altLang="zh-CN" dirty="0">
                <a:solidFill>
                  <a:srgbClr val="0000FF"/>
                </a:solidFill>
              </a:rPr>
              <a:t>PL/SQL</a:t>
            </a:r>
            <a:r>
              <a:rPr lang="zh-CN" altLang="en-US" dirty="0">
                <a:solidFill>
                  <a:srgbClr val="0000FF"/>
                </a:solidFill>
              </a:rPr>
              <a:t>过程块</a:t>
            </a:r>
            <a:r>
              <a:rPr lang="zh-CN" altLang="en-US" dirty="0"/>
              <a:t>，也可以是对已创建</a:t>
            </a:r>
            <a:r>
              <a:rPr lang="zh-CN" altLang="en-US" dirty="0">
                <a:solidFill>
                  <a:srgbClr val="0000FF"/>
                </a:solidFill>
              </a:rPr>
              <a:t>存储过程</a:t>
            </a:r>
            <a:r>
              <a:rPr lang="zh-CN" altLang="en-US" dirty="0"/>
              <a:t>的调用；</a:t>
            </a:r>
            <a:endParaRPr lang="en-US" altLang="zh-CN" dirty="0"/>
          </a:p>
          <a:p>
            <a:pPr lvl="1"/>
            <a:r>
              <a:rPr lang="zh-CN" altLang="en-US" dirty="0"/>
              <a:t>如果是语句级触发器，则不能在触发动作体中使用</a:t>
            </a:r>
            <a:r>
              <a:rPr lang="en-US" altLang="zh-CN" dirty="0"/>
              <a:t>NEW</a:t>
            </a:r>
            <a:r>
              <a:rPr lang="zh-CN" altLang="en-US" dirty="0"/>
              <a:t>或</a:t>
            </a:r>
            <a:r>
              <a:rPr lang="en-US" altLang="zh-CN" dirty="0"/>
              <a:t>OLD</a:t>
            </a:r>
            <a:r>
              <a:rPr lang="zh-CN" altLang="en-US" dirty="0"/>
              <a:t>进行引用；如果触发动作体执行失败，激活触发器的事件就会终止执行，触发器的目标表或触发器可能影响的其他对象不发生任何变化。</a:t>
            </a:r>
            <a:endParaRPr lang="en-US" altLang="zh-CN" dirty="0"/>
          </a:p>
        </p:txBody>
      </p:sp>
      <p:sp>
        <p:nvSpPr>
          <p:cNvPr id="2" name="灯片编号占位符 1">
            <a:extLst>
              <a:ext uri="{FF2B5EF4-FFF2-40B4-BE49-F238E27FC236}">
                <a16:creationId xmlns:a16="http://schemas.microsoft.com/office/drawing/2014/main" id="{1EDCE074-CC0F-4535-8A3E-F245B4F2732D}"/>
              </a:ext>
            </a:extLst>
          </p:cNvPr>
          <p:cNvSpPr>
            <a:spLocks noGrp="1"/>
          </p:cNvSpPr>
          <p:nvPr>
            <p:ph type="sldNum" sz="quarter" idx="12"/>
          </p:nvPr>
        </p:nvSpPr>
        <p:spPr/>
        <p:txBody>
          <a:bodyPr/>
          <a:lstStyle/>
          <a:p>
            <a:fld id="{47C9E101-E51D-431E-84FA-C029B8655B60}" type="slidenum">
              <a:rPr lang="zh-CN" altLang="en-US" smtClean="0"/>
              <a:pPr/>
              <a:t>49</a:t>
            </a:fld>
            <a:endParaRPr lang="zh-CN" altLang="en-US" dirty="0"/>
          </a:p>
        </p:txBody>
      </p:sp>
      <p:sp>
        <p:nvSpPr>
          <p:cNvPr id="6" name="矩形 5">
            <a:extLst>
              <a:ext uri="{FF2B5EF4-FFF2-40B4-BE49-F238E27FC236}">
                <a16:creationId xmlns:a16="http://schemas.microsoft.com/office/drawing/2014/main" id="{3125D4CB-2039-4F35-812C-71D9266DA875}"/>
              </a:ext>
            </a:extLst>
          </p:cNvPr>
          <p:cNvSpPr/>
          <p:nvPr/>
        </p:nvSpPr>
        <p:spPr>
          <a:xfrm>
            <a:off x="1784976" y="5863057"/>
            <a:ext cx="8555577" cy="50039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lnSpc>
                <a:spcPct val="120000"/>
              </a:lnSpc>
            </a:pPr>
            <a:r>
              <a:rPr lang="zh-CN" altLang="en-US" sz="2400" b="1" dirty="0">
                <a:solidFill>
                  <a:srgbClr val="C00000"/>
                </a:solidFill>
                <a:latin typeface="微软雅黑 Light" panose="020B0502040204020203" pitchFamily="34" charset="-122"/>
                <a:ea typeface="微软雅黑 Light" panose="020B0502040204020203" pitchFamily="34" charset="-122"/>
                <a:cs typeface="Calibri" panose="020F0502020204030204" pitchFamily="34" charset="0"/>
              </a:rPr>
              <a:t>特别注意！</a:t>
            </a:r>
            <a:r>
              <a:rPr lang="zh-CN" altLang="en-US" sz="2400" b="1" dirty="0">
                <a:solidFill>
                  <a:srgbClr val="C00000"/>
                </a:solidFill>
                <a:latin typeface="微软雅黑 Light" panose="020B0502040204020203" pitchFamily="34" charset="-122"/>
                <a:ea typeface="微软雅黑 Light" panose="020B0502040204020203" pitchFamily="34" charset="-122"/>
              </a:rPr>
              <a:t>不同</a:t>
            </a:r>
            <a:r>
              <a:rPr lang="en-US" altLang="zh-CN" sz="2400" b="1" dirty="0">
                <a:solidFill>
                  <a:srgbClr val="C00000"/>
                </a:solidFill>
                <a:latin typeface="微软雅黑 Light" panose="020B0502040204020203" pitchFamily="34" charset="-122"/>
                <a:ea typeface="微软雅黑 Light" panose="020B0502040204020203" pitchFamily="34" charset="-122"/>
              </a:rPr>
              <a:t>RDBMS</a:t>
            </a:r>
            <a:r>
              <a:rPr lang="zh-CN" altLang="en-US" sz="2400" b="1" dirty="0">
                <a:solidFill>
                  <a:srgbClr val="C00000"/>
                </a:solidFill>
                <a:latin typeface="微软雅黑 Light" panose="020B0502040204020203" pitchFamily="34" charset="-122"/>
                <a:ea typeface="微软雅黑 Light" panose="020B0502040204020203" pitchFamily="34" charset="-122"/>
              </a:rPr>
              <a:t>产品的触发器语法各不相同。</a:t>
            </a:r>
            <a:endParaRPr lang="zh-CN" altLang="en-US" sz="2400" b="1" dirty="0">
              <a:solidFill>
                <a:srgbClr val="C00000"/>
              </a:solidFill>
              <a:latin typeface="微软雅黑 Light" panose="020B0502040204020203" pitchFamily="34" charset="-122"/>
              <a:ea typeface="微软雅黑 Light" panose="020B0502040204020203" pitchFamily="34" charset="-122"/>
              <a:cs typeface="Calibri" panose="020F0502020204030204" pitchFamily="34" charset="0"/>
            </a:endParaRPr>
          </a:p>
        </p:txBody>
      </p:sp>
    </p:spTree>
    <p:extLst>
      <p:ext uri="{BB962C8B-B14F-4D97-AF65-F5344CB8AC3E}">
        <p14:creationId xmlns:p14="http://schemas.microsoft.com/office/powerpoint/2010/main" val="3698639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00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00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00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001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001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001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37"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arn(outVertical)">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a:extLst>
              <a:ext uri="{FF2B5EF4-FFF2-40B4-BE49-F238E27FC236}">
                <a16:creationId xmlns:a16="http://schemas.microsoft.com/office/drawing/2014/main" id="{6A9AD91D-DBC9-4113-8D1C-177826F30DB4}"/>
              </a:ext>
            </a:extLst>
          </p:cNvPr>
          <p:cNvSpPr>
            <a:spLocks noGrp="1" noChangeArrowheads="1"/>
          </p:cNvSpPr>
          <p:nvPr>
            <p:ph type="title"/>
          </p:nvPr>
        </p:nvSpPr>
        <p:spPr/>
        <p:txBody>
          <a:bodyPr/>
          <a:lstStyle/>
          <a:p>
            <a:r>
              <a:rPr lang="zh-CN" altLang="en-US"/>
              <a:t>定义触发器</a:t>
            </a:r>
            <a:r>
              <a:rPr lang="en-US" altLang="zh-CN"/>
              <a:t>(</a:t>
            </a:r>
            <a:r>
              <a:rPr lang="zh-CN" altLang="en-US"/>
              <a:t>续</a:t>
            </a:r>
            <a:r>
              <a:rPr lang="en-US" altLang="zh-CN"/>
              <a:t>)</a:t>
            </a:r>
          </a:p>
        </p:txBody>
      </p:sp>
      <p:sp>
        <p:nvSpPr>
          <p:cNvPr id="473091" name="Rectangle 3">
            <a:extLst>
              <a:ext uri="{FF2B5EF4-FFF2-40B4-BE49-F238E27FC236}">
                <a16:creationId xmlns:a16="http://schemas.microsoft.com/office/drawing/2014/main" id="{FE5614C5-B2E1-4C13-BC5F-03DEDAC7AA57}"/>
              </a:ext>
            </a:extLst>
          </p:cNvPr>
          <p:cNvSpPr>
            <a:spLocks noGrp="1" noChangeArrowheads="1"/>
          </p:cNvSpPr>
          <p:nvPr>
            <p:ph idx="1"/>
          </p:nvPr>
        </p:nvSpPr>
        <p:spPr/>
        <p:txBody>
          <a:bodyPr>
            <a:normAutofit fontScale="85000" lnSpcReduction="20000"/>
          </a:bodyPr>
          <a:lstStyle/>
          <a:p>
            <a:r>
              <a:rPr lang="en-US" altLang="zh-CN" dirty="0"/>
              <a:t>[</a:t>
            </a:r>
            <a:r>
              <a:rPr lang="zh-CN" altLang="en-US" dirty="0"/>
              <a:t>例</a:t>
            </a:r>
            <a:r>
              <a:rPr lang="en-US" altLang="zh-CN" dirty="0"/>
              <a:t>21]</a:t>
            </a:r>
            <a:r>
              <a:rPr lang="zh-CN" altLang="en-US" dirty="0"/>
              <a:t>当对表</a:t>
            </a:r>
            <a:r>
              <a:rPr lang="en-US" altLang="zh-CN" dirty="0"/>
              <a:t>SC</a:t>
            </a:r>
            <a:r>
              <a:rPr lang="zh-CN" altLang="en-US" dirty="0"/>
              <a:t>的</a:t>
            </a:r>
            <a:r>
              <a:rPr lang="en-US" altLang="zh-CN" dirty="0"/>
              <a:t>Grade</a:t>
            </a:r>
            <a:r>
              <a:rPr lang="zh-CN" altLang="en-US" dirty="0"/>
              <a:t>属性进行修改时，若分数增加了</a:t>
            </a:r>
            <a:r>
              <a:rPr lang="en-US" altLang="zh-CN" dirty="0"/>
              <a:t>10%</a:t>
            </a:r>
            <a:br>
              <a:rPr lang="en-US" altLang="zh-CN" dirty="0"/>
            </a:br>
            <a:r>
              <a:rPr lang="zh-CN" altLang="en-US" dirty="0"/>
              <a:t>则将此次操作记录到下面表中：</a:t>
            </a:r>
            <a:r>
              <a:rPr lang="en-US" altLang="zh-CN" dirty="0"/>
              <a:t>SC_U</a:t>
            </a:r>
            <a:r>
              <a:rPr lang="zh-CN" altLang="en-US" dirty="0"/>
              <a:t>（</a:t>
            </a:r>
            <a:r>
              <a:rPr lang="en-US" altLang="zh-CN" dirty="0" err="1"/>
              <a:t>Sno</a:t>
            </a:r>
            <a:r>
              <a:rPr lang="en-US" altLang="zh-CN" dirty="0"/>
              <a:t>, </a:t>
            </a:r>
            <a:r>
              <a:rPr lang="en-US" altLang="zh-CN" dirty="0" err="1"/>
              <a:t>Cno</a:t>
            </a:r>
            <a:r>
              <a:rPr lang="en-US" altLang="zh-CN" dirty="0"/>
              <a:t>, </a:t>
            </a:r>
            <a:r>
              <a:rPr lang="en-US" altLang="zh-CN" dirty="0" err="1"/>
              <a:t>Oldgrade</a:t>
            </a:r>
            <a:r>
              <a:rPr lang="en-US" altLang="zh-CN" dirty="0"/>
              <a:t>, </a:t>
            </a:r>
            <a:r>
              <a:rPr lang="en-US" altLang="zh-CN" dirty="0" err="1"/>
              <a:t>Newgrade</a:t>
            </a:r>
            <a:r>
              <a:rPr lang="zh-CN" altLang="en-US" dirty="0"/>
              <a:t>）其中</a:t>
            </a:r>
            <a:r>
              <a:rPr lang="en-US" altLang="zh-CN" dirty="0" err="1"/>
              <a:t>Oldgrade</a:t>
            </a:r>
            <a:r>
              <a:rPr lang="zh-CN" altLang="en-US" dirty="0"/>
              <a:t>是修改前的分数， </a:t>
            </a:r>
            <a:r>
              <a:rPr lang="en-US" altLang="zh-CN" dirty="0" err="1"/>
              <a:t>Newgrade</a:t>
            </a:r>
            <a:r>
              <a:rPr lang="zh-CN" altLang="en-US" dirty="0"/>
              <a:t>是修改后的分数。</a:t>
            </a:r>
            <a:endParaRPr lang="en-US" altLang="zh-CN" dirty="0"/>
          </a:p>
          <a:p>
            <a:pPr marL="342900" lvl="1" indent="0">
              <a:buNone/>
            </a:pPr>
            <a:r>
              <a:rPr lang="en-US" altLang="zh-CN" dirty="0">
                <a:solidFill>
                  <a:srgbClr val="0000FF"/>
                </a:solidFill>
              </a:rPr>
              <a:t>CREATE TRIGGER SC_T </a:t>
            </a:r>
            <a:r>
              <a:rPr lang="en-US" altLang="zh-CN" dirty="0"/>
              <a:t>                       </a:t>
            </a:r>
            <a:r>
              <a:rPr lang="en-US" altLang="zh-CN" dirty="0">
                <a:solidFill>
                  <a:srgbClr val="0000FF"/>
                </a:solidFill>
                <a:highlight>
                  <a:srgbClr val="FFFF00"/>
                </a:highlight>
              </a:rPr>
              <a:t>/*</a:t>
            </a:r>
            <a:r>
              <a:rPr lang="zh-CN" altLang="en-US" dirty="0">
                <a:solidFill>
                  <a:srgbClr val="0000FF"/>
                </a:solidFill>
                <a:highlight>
                  <a:srgbClr val="FFFF00"/>
                </a:highlight>
              </a:rPr>
              <a:t>触发器名称*</a:t>
            </a:r>
            <a:r>
              <a:rPr lang="en-US" altLang="zh-CN" dirty="0">
                <a:solidFill>
                  <a:srgbClr val="0000FF"/>
                </a:solidFill>
                <a:highlight>
                  <a:srgbClr val="FFFF00"/>
                </a:highlight>
              </a:rPr>
              <a:t>/</a:t>
            </a:r>
          </a:p>
          <a:p>
            <a:pPr marL="342900" lvl="1" indent="0">
              <a:buNone/>
            </a:pPr>
            <a:r>
              <a:rPr lang="en-US" altLang="zh-CN" dirty="0">
                <a:solidFill>
                  <a:srgbClr val="0000FF"/>
                </a:solidFill>
              </a:rPr>
              <a:t>AFTER UPDATE OF Grade ON SC        </a:t>
            </a:r>
            <a:r>
              <a:rPr lang="en-US" altLang="zh-CN" dirty="0">
                <a:solidFill>
                  <a:srgbClr val="0000FF"/>
                </a:solidFill>
                <a:highlight>
                  <a:srgbClr val="FFFF00"/>
                </a:highlight>
              </a:rPr>
              <a:t>/*</a:t>
            </a:r>
            <a:r>
              <a:rPr lang="zh-CN" altLang="en-US" dirty="0">
                <a:solidFill>
                  <a:srgbClr val="0000FF"/>
                </a:solidFill>
                <a:highlight>
                  <a:srgbClr val="FFFF00"/>
                </a:highlight>
              </a:rPr>
              <a:t>触发事件是</a:t>
            </a:r>
            <a:r>
              <a:rPr lang="en-US" altLang="zh-CN" dirty="0">
                <a:solidFill>
                  <a:srgbClr val="0000FF"/>
                </a:solidFill>
                <a:highlight>
                  <a:srgbClr val="FFFF00"/>
                </a:highlight>
              </a:rPr>
              <a:t>UPDATE</a:t>
            </a:r>
            <a:r>
              <a:rPr lang="zh-CN" altLang="en-US" dirty="0">
                <a:solidFill>
                  <a:srgbClr val="0000FF"/>
                </a:solidFill>
                <a:highlight>
                  <a:srgbClr val="FFFF00"/>
                </a:highlight>
              </a:rPr>
              <a:t>操作*</a:t>
            </a:r>
            <a:r>
              <a:rPr lang="en-US" altLang="zh-CN" dirty="0">
                <a:solidFill>
                  <a:srgbClr val="0000FF"/>
                </a:solidFill>
                <a:highlight>
                  <a:srgbClr val="FFFF00"/>
                </a:highlight>
              </a:rPr>
              <a:t>/</a:t>
            </a:r>
          </a:p>
          <a:p>
            <a:pPr marL="342900" lvl="1" indent="0">
              <a:buNone/>
            </a:pPr>
            <a:r>
              <a:rPr lang="en-US" altLang="zh-CN" dirty="0">
                <a:solidFill>
                  <a:srgbClr val="0000FF"/>
                </a:solidFill>
                <a:highlight>
                  <a:srgbClr val="FFFF00"/>
                </a:highlight>
              </a:rPr>
              <a:t>/* AFTER</a:t>
            </a:r>
            <a:r>
              <a:rPr lang="zh-CN" altLang="en-US" dirty="0">
                <a:solidFill>
                  <a:srgbClr val="0000FF"/>
                </a:solidFill>
                <a:highlight>
                  <a:srgbClr val="FFFF00"/>
                </a:highlight>
              </a:rPr>
              <a:t>是触发的时机*</a:t>
            </a:r>
            <a:r>
              <a:rPr lang="en-US" altLang="zh-CN" dirty="0">
                <a:solidFill>
                  <a:srgbClr val="0000FF"/>
                </a:solidFill>
                <a:highlight>
                  <a:srgbClr val="FFFF00"/>
                </a:highlight>
              </a:rPr>
              <a:t>/</a:t>
            </a:r>
          </a:p>
          <a:p>
            <a:pPr marL="342900" lvl="1" indent="0">
              <a:buNone/>
            </a:pPr>
            <a:r>
              <a:rPr lang="en-US" altLang="zh-CN" dirty="0">
                <a:solidFill>
                  <a:srgbClr val="0000FF"/>
                </a:solidFill>
              </a:rPr>
              <a:t>REFERENCING </a:t>
            </a:r>
            <a:r>
              <a:rPr lang="en-US" altLang="zh-CN" dirty="0"/>
              <a:t>                                     </a:t>
            </a:r>
            <a:r>
              <a:rPr lang="en-US" altLang="zh-CN" dirty="0">
                <a:solidFill>
                  <a:srgbClr val="0000FF"/>
                </a:solidFill>
                <a:highlight>
                  <a:srgbClr val="FFFF00"/>
                </a:highlight>
              </a:rPr>
              <a:t>/*</a:t>
            </a:r>
            <a:r>
              <a:rPr lang="zh-CN" altLang="en-US" dirty="0">
                <a:solidFill>
                  <a:srgbClr val="0000FF"/>
                </a:solidFill>
                <a:highlight>
                  <a:srgbClr val="FFFF00"/>
                </a:highlight>
              </a:rPr>
              <a:t>触发器引用的变量*</a:t>
            </a:r>
            <a:r>
              <a:rPr lang="en-US" altLang="zh-CN" dirty="0">
                <a:solidFill>
                  <a:srgbClr val="0000FF"/>
                </a:solidFill>
                <a:highlight>
                  <a:srgbClr val="FFFF00"/>
                </a:highlight>
              </a:rPr>
              <a:t>/</a:t>
            </a:r>
          </a:p>
          <a:p>
            <a:pPr marL="342900" lvl="1" indent="0">
              <a:buNone/>
            </a:pPr>
            <a:r>
              <a:rPr lang="en-US" altLang="zh-CN" dirty="0"/>
              <a:t>      OLD row AS </a:t>
            </a:r>
            <a:r>
              <a:rPr lang="en-US" altLang="zh-CN" dirty="0" err="1"/>
              <a:t>OldTuple</a:t>
            </a:r>
            <a:r>
              <a:rPr lang="en-US" altLang="zh-CN" dirty="0"/>
              <a:t>,</a:t>
            </a:r>
          </a:p>
          <a:p>
            <a:pPr marL="342900" lvl="1" indent="0">
              <a:buNone/>
            </a:pPr>
            <a:r>
              <a:rPr lang="en-US" altLang="zh-CN" dirty="0"/>
              <a:t>      NEW row AS </a:t>
            </a:r>
            <a:r>
              <a:rPr lang="en-US" altLang="zh-CN" dirty="0" err="1"/>
              <a:t>NewTuple</a:t>
            </a:r>
            <a:endParaRPr lang="en-US" altLang="zh-CN" dirty="0"/>
          </a:p>
          <a:p>
            <a:pPr marL="342900" lvl="1" indent="0">
              <a:buNone/>
            </a:pPr>
            <a:r>
              <a:rPr lang="en-US" altLang="zh-CN" dirty="0">
                <a:solidFill>
                  <a:srgbClr val="0000FF"/>
                </a:solidFill>
              </a:rPr>
              <a:t>FOR EACH ROW                                   </a:t>
            </a:r>
            <a:r>
              <a:rPr lang="en-US" altLang="zh-CN" dirty="0">
                <a:solidFill>
                  <a:srgbClr val="0000FF"/>
                </a:solidFill>
                <a:highlight>
                  <a:srgbClr val="FFFF00"/>
                </a:highlight>
              </a:rPr>
              <a:t>/*</a:t>
            </a:r>
            <a:r>
              <a:rPr lang="zh-CN" altLang="en-US" dirty="0">
                <a:solidFill>
                  <a:srgbClr val="0000FF"/>
                </a:solidFill>
                <a:highlight>
                  <a:srgbClr val="FFFF00"/>
                </a:highlight>
              </a:rPr>
              <a:t>行级触发器*</a:t>
            </a:r>
            <a:r>
              <a:rPr lang="en-US" altLang="zh-CN" dirty="0">
                <a:solidFill>
                  <a:srgbClr val="0000FF"/>
                </a:solidFill>
                <a:highlight>
                  <a:srgbClr val="FFFF00"/>
                </a:highlight>
              </a:rPr>
              <a:t>/</a:t>
            </a:r>
          </a:p>
          <a:p>
            <a:pPr marL="342900" lvl="1" indent="0">
              <a:buNone/>
            </a:pPr>
            <a:r>
              <a:rPr lang="en-US" altLang="zh-CN" dirty="0">
                <a:solidFill>
                  <a:srgbClr val="0000FF"/>
                </a:solidFill>
              </a:rPr>
              <a:t>WHEN (</a:t>
            </a:r>
            <a:r>
              <a:rPr lang="en-US" altLang="zh-CN" dirty="0" err="1">
                <a:solidFill>
                  <a:srgbClr val="0000FF"/>
                </a:solidFill>
              </a:rPr>
              <a:t>NewTuple.Grade</a:t>
            </a:r>
            <a:r>
              <a:rPr lang="en-US" altLang="zh-CN" dirty="0">
                <a:solidFill>
                  <a:srgbClr val="0000FF"/>
                </a:solidFill>
              </a:rPr>
              <a:t> &gt;= 1.1*</a:t>
            </a:r>
            <a:r>
              <a:rPr lang="en-US" altLang="zh-CN" dirty="0" err="1">
                <a:solidFill>
                  <a:srgbClr val="0000FF"/>
                </a:solidFill>
              </a:rPr>
              <a:t>OldTuple.Grade</a:t>
            </a:r>
            <a:r>
              <a:rPr lang="en-US" altLang="zh-CN" dirty="0">
                <a:solidFill>
                  <a:srgbClr val="0000FF"/>
                </a:solidFill>
              </a:rPr>
              <a:t>)    </a:t>
            </a:r>
            <a:r>
              <a:rPr lang="en-US" altLang="zh-CN" dirty="0">
                <a:solidFill>
                  <a:srgbClr val="0000FF"/>
                </a:solidFill>
                <a:highlight>
                  <a:srgbClr val="FFFF00"/>
                </a:highlight>
              </a:rPr>
              <a:t>/*</a:t>
            </a:r>
            <a:r>
              <a:rPr lang="zh-CN" altLang="en-US" dirty="0">
                <a:solidFill>
                  <a:srgbClr val="0000FF"/>
                </a:solidFill>
                <a:highlight>
                  <a:srgbClr val="FFFF00"/>
                </a:highlight>
              </a:rPr>
              <a:t>触发条件*</a:t>
            </a:r>
            <a:r>
              <a:rPr lang="en-US" altLang="zh-CN" dirty="0">
                <a:solidFill>
                  <a:srgbClr val="0000FF"/>
                </a:solidFill>
                <a:highlight>
                  <a:srgbClr val="FFFF00"/>
                </a:highlight>
              </a:rPr>
              <a:t>/</a:t>
            </a:r>
          </a:p>
          <a:p>
            <a:pPr marL="342900" lvl="1" indent="0">
              <a:buNone/>
            </a:pPr>
            <a:r>
              <a:rPr lang="en-US" altLang="zh-CN" dirty="0"/>
              <a:t>      INSERT INTO SC_U(</a:t>
            </a:r>
            <a:r>
              <a:rPr lang="en-US" altLang="zh-CN" dirty="0" err="1"/>
              <a:t>Sno,Cno,OldGrade,NewGrade</a:t>
            </a:r>
            <a:r>
              <a:rPr lang="en-US" altLang="zh-CN" dirty="0"/>
              <a:t>)</a:t>
            </a:r>
          </a:p>
          <a:p>
            <a:pPr marL="342900" lvl="1" indent="0">
              <a:buNone/>
            </a:pPr>
            <a:r>
              <a:rPr lang="en-US" altLang="zh-CN" dirty="0"/>
              <a:t>      VALUES(</a:t>
            </a:r>
            <a:r>
              <a:rPr lang="en-US" altLang="zh-CN" dirty="0" err="1"/>
              <a:t>OldTuple.Sno,OldTuple.Cno,OldTuple.Grade,NewTuple.Grade</a:t>
            </a:r>
            <a:r>
              <a:rPr lang="en-US" altLang="zh-CN" dirty="0"/>
              <a:t>) </a:t>
            </a:r>
            <a:br>
              <a:rPr lang="en-US" altLang="zh-CN" dirty="0"/>
            </a:br>
            <a:r>
              <a:rPr lang="en-US" altLang="zh-CN" dirty="0"/>
              <a:t>	</a:t>
            </a:r>
          </a:p>
        </p:txBody>
      </p:sp>
      <p:sp>
        <p:nvSpPr>
          <p:cNvPr id="2" name="灯片编号占位符 1">
            <a:extLst>
              <a:ext uri="{FF2B5EF4-FFF2-40B4-BE49-F238E27FC236}">
                <a16:creationId xmlns:a16="http://schemas.microsoft.com/office/drawing/2014/main" id="{0E078169-FFE0-4D11-98D2-A9E96FBB1C0A}"/>
              </a:ext>
            </a:extLst>
          </p:cNvPr>
          <p:cNvSpPr>
            <a:spLocks noGrp="1"/>
          </p:cNvSpPr>
          <p:nvPr>
            <p:ph type="sldNum" sz="quarter" idx="12"/>
          </p:nvPr>
        </p:nvSpPr>
        <p:spPr/>
        <p:txBody>
          <a:bodyPr/>
          <a:lstStyle/>
          <a:p>
            <a:fld id="{47C9E101-E51D-431E-84FA-C029B8655B60}" type="slidenum">
              <a:rPr lang="zh-CN" altLang="en-US" smtClean="0"/>
              <a:pPr/>
              <a:t>50</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309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309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309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309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309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309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309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3091">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3091">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309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a:extLst>
              <a:ext uri="{FF2B5EF4-FFF2-40B4-BE49-F238E27FC236}">
                <a16:creationId xmlns:a16="http://schemas.microsoft.com/office/drawing/2014/main" id="{6A9AD91D-DBC9-4113-8D1C-177826F30DB4}"/>
              </a:ext>
            </a:extLst>
          </p:cNvPr>
          <p:cNvSpPr>
            <a:spLocks noGrp="1" noChangeArrowheads="1"/>
          </p:cNvSpPr>
          <p:nvPr>
            <p:ph type="title"/>
          </p:nvPr>
        </p:nvSpPr>
        <p:spPr/>
        <p:txBody>
          <a:bodyPr/>
          <a:lstStyle/>
          <a:p>
            <a:r>
              <a:rPr lang="zh-CN" altLang="en-US"/>
              <a:t>定义触发器</a:t>
            </a:r>
            <a:r>
              <a:rPr lang="en-US" altLang="zh-CN"/>
              <a:t>(</a:t>
            </a:r>
            <a:r>
              <a:rPr lang="zh-CN" altLang="en-US"/>
              <a:t>续</a:t>
            </a:r>
            <a:r>
              <a:rPr lang="en-US" altLang="zh-CN"/>
              <a:t>)</a:t>
            </a:r>
          </a:p>
        </p:txBody>
      </p:sp>
      <p:sp>
        <p:nvSpPr>
          <p:cNvPr id="473091" name="Rectangle 3">
            <a:extLst>
              <a:ext uri="{FF2B5EF4-FFF2-40B4-BE49-F238E27FC236}">
                <a16:creationId xmlns:a16="http://schemas.microsoft.com/office/drawing/2014/main" id="{FE5614C5-B2E1-4C13-BC5F-03DEDAC7AA57}"/>
              </a:ext>
            </a:extLst>
          </p:cNvPr>
          <p:cNvSpPr>
            <a:spLocks noGrp="1" noChangeArrowheads="1"/>
          </p:cNvSpPr>
          <p:nvPr>
            <p:ph idx="1"/>
          </p:nvPr>
        </p:nvSpPr>
        <p:spPr/>
        <p:txBody>
          <a:bodyPr>
            <a:normAutofit fontScale="92500" lnSpcReduction="10000"/>
          </a:bodyPr>
          <a:lstStyle/>
          <a:p>
            <a:r>
              <a:rPr lang="en-US" altLang="zh-CN" dirty="0"/>
              <a:t>[</a:t>
            </a:r>
            <a:r>
              <a:rPr lang="zh-CN" altLang="en-US" dirty="0"/>
              <a:t>例</a:t>
            </a:r>
            <a:r>
              <a:rPr lang="en-US" altLang="zh-CN" dirty="0"/>
              <a:t>22] </a:t>
            </a:r>
            <a:r>
              <a:rPr lang="zh-CN" altLang="en-US" dirty="0"/>
              <a:t>将每次对表</a:t>
            </a:r>
            <a:r>
              <a:rPr lang="en-US" altLang="zh-CN" dirty="0"/>
              <a:t>Student</a:t>
            </a:r>
            <a:r>
              <a:rPr lang="zh-CN" altLang="en-US" dirty="0"/>
              <a:t>的插入操作所增加的学生个数记录到表</a:t>
            </a:r>
            <a:r>
              <a:rPr lang="en-US" altLang="zh-CN" dirty="0" err="1"/>
              <a:t>StudentInsertLog</a:t>
            </a:r>
            <a:r>
              <a:rPr lang="zh-CN" altLang="en-US" dirty="0"/>
              <a:t>中。</a:t>
            </a:r>
          </a:p>
          <a:p>
            <a:pPr marL="342900" lvl="1" indent="0">
              <a:buNone/>
            </a:pPr>
            <a:r>
              <a:rPr lang="en-US" altLang="zh-CN" dirty="0">
                <a:solidFill>
                  <a:srgbClr val="0000FF"/>
                </a:solidFill>
              </a:rPr>
              <a:t>CREATE TRIGGER </a:t>
            </a:r>
            <a:r>
              <a:rPr lang="en-US" altLang="zh-CN" dirty="0" err="1">
                <a:solidFill>
                  <a:srgbClr val="0000FF"/>
                </a:solidFill>
              </a:rPr>
              <a:t>Student_Count</a:t>
            </a:r>
            <a:endParaRPr lang="en-US" altLang="zh-CN" dirty="0">
              <a:solidFill>
                <a:srgbClr val="0000FF"/>
              </a:solidFill>
            </a:endParaRPr>
          </a:p>
          <a:p>
            <a:pPr marL="342900" lvl="1" indent="0">
              <a:buNone/>
            </a:pPr>
            <a:r>
              <a:rPr lang="en-US" altLang="zh-CN" dirty="0">
                <a:solidFill>
                  <a:srgbClr val="0000FF"/>
                </a:solidFill>
              </a:rPr>
              <a:t>AFTER INSERT ON Student</a:t>
            </a:r>
          </a:p>
          <a:p>
            <a:pPr marL="342900" lvl="1" indent="0">
              <a:buNone/>
            </a:pPr>
            <a:r>
              <a:rPr lang="en-US" altLang="zh-CN" dirty="0"/>
              <a:t>    </a:t>
            </a:r>
            <a:r>
              <a:rPr lang="en-US" altLang="zh-CN" dirty="0">
                <a:solidFill>
                  <a:srgbClr val="0000FF"/>
                </a:solidFill>
                <a:highlight>
                  <a:srgbClr val="FFFF00"/>
                </a:highlight>
              </a:rPr>
              <a:t>/*</a:t>
            </a:r>
            <a:r>
              <a:rPr lang="zh-CN" altLang="en-US" dirty="0">
                <a:solidFill>
                  <a:srgbClr val="0000FF"/>
                </a:solidFill>
                <a:highlight>
                  <a:srgbClr val="FFFF00"/>
                </a:highlight>
              </a:rPr>
              <a:t>指明触发器激活的时间是在执行</a:t>
            </a:r>
            <a:r>
              <a:rPr lang="en-US" altLang="zh-CN" dirty="0">
                <a:solidFill>
                  <a:srgbClr val="0000FF"/>
                </a:solidFill>
                <a:highlight>
                  <a:srgbClr val="FFFF00"/>
                </a:highlight>
              </a:rPr>
              <a:t>INSERT</a:t>
            </a:r>
            <a:r>
              <a:rPr lang="zh-CN" altLang="en-US" dirty="0">
                <a:solidFill>
                  <a:srgbClr val="0000FF"/>
                </a:solidFill>
                <a:highlight>
                  <a:srgbClr val="FFFF00"/>
                </a:highlight>
              </a:rPr>
              <a:t>后*</a:t>
            </a:r>
            <a:r>
              <a:rPr lang="en-US" altLang="zh-CN" dirty="0">
                <a:solidFill>
                  <a:srgbClr val="0000FF"/>
                </a:solidFill>
                <a:highlight>
                  <a:srgbClr val="FFFF00"/>
                </a:highlight>
              </a:rPr>
              <a:t>/</a:t>
            </a:r>
          </a:p>
          <a:p>
            <a:pPr marL="342900" lvl="1" indent="0">
              <a:buNone/>
            </a:pPr>
            <a:r>
              <a:rPr lang="en-US" altLang="zh-CN" dirty="0">
                <a:solidFill>
                  <a:srgbClr val="0000FF"/>
                </a:solidFill>
              </a:rPr>
              <a:t>REFERENCING</a:t>
            </a:r>
          </a:p>
          <a:p>
            <a:pPr marL="342900" lvl="1" indent="0">
              <a:buNone/>
            </a:pPr>
            <a:r>
              <a:rPr lang="en-US" altLang="zh-CN" dirty="0"/>
              <a:t>     NEW TABLE AS DELTA</a:t>
            </a:r>
          </a:p>
          <a:p>
            <a:pPr marL="342900" lvl="1" indent="0">
              <a:buNone/>
            </a:pPr>
            <a:r>
              <a:rPr lang="en-US" altLang="zh-CN" dirty="0">
                <a:solidFill>
                  <a:srgbClr val="0000FF"/>
                </a:solidFill>
              </a:rPr>
              <a:t>FOR EACH STATEMENT</a:t>
            </a:r>
          </a:p>
          <a:p>
            <a:pPr marL="342900" lvl="1" indent="0">
              <a:buNone/>
            </a:pPr>
            <a:r>
              <a:rPr lang="en-US" altLang="zh-CN" dirty="0"/>
              <a:t>    </a:t>
            </a:r>
            <a:r>
              <a:rPr lang="en-US" altLang="zh-CN" dirty="0">
                <a:solidFill>
                  <a:srgbClr val="0000FF"/>
                </a:solidFill>
                <a:highlight>
                  <a:srgbClr val="FFFF00"/>
                </a:highlight>
              </a:rPr>
              <a:t>/*</a:t>
            </a:r>
            <a:r>
              <a:rPr lang="zh-CN" altLang="en-US" dirty="0">
                <a:solidFill>
                  <a:srgbClr val="0000FF"/>
                </a:solidFill>
                <a:highlight>
                  <a:srgbClr val="FFFF00"/>
                </a:highlight>
              </a:rPr>
              <a:t>语句级触发器</a:t>
            </a:r>
            <a:r>
              <a:rPr lang="en-US" altLang="zh-CN" dirty="0">
                <a:solidFill>
                  <a:srgbClr val="0000FF"/>
                </a:solidFill>
                <a:highlight>
                  <a:srgbClr val="FFFF00"/>
                </a:highlight>
              </a:rPr>
              <a:t>, </a:t>
            </a:r>
            <a:r>
              <a:rPr lang="zh-CN" altLang="en-US" dirty="0">
                <a:solidFill>
                  <a:srgbClr val="0000FF"/>
                </a:solidFill>
                <a:highlight>
                  <a:srgbClr val="FFFF00"/>
                </a:highlight>
              </a:rPr>
              <a:t>即执行完</a:t>
            </a:r>
            <a:r>
              <a:rPr lang="en-US" altLang="zh-CN" dirty="0">
                <a:solidFill>
                  <a:srgbClr val="0000FF"/>
                </a:solidFill>
                <a:highlight>
                  <a:srgbClr val="FFFF00"/>
                </a:highlight>
              </a:rPr>
              <a:t>INSERT</a:t>
            </a:r>
            <a:r>
              <a:rPr lang="zh-CN" altLang="en-US" dirty="0">
                <a:solidFill>
                  <a:srgbClr val="0000FF"/>
                </a:solidFill>
                <a:highlight>
                  <a:srgbClr val="FFFF00"/>
                </a:highlight>
              </a:rPr>
              <a:t>语句后下面的触发动作体才执行一次*</a:t>
            </a:r>
            <a:r>
              <a:rPr lang="en-US" altLang="zh-CN" dirty="0">
                <a:solidFill>
                  <a:srgbClr val="0000FF"/>
                </a:solidFill>
                <a:highlight>
                  <a:srgbClr val="FFFF00"/>
                </a:highlight>
              </a:rPr>
              <a:t>/</a:t>
            </a:r>
          </a:p>
          <a:p>
            <a:pPr marL="342900" lvl="1" indent="0">
              <a:buNone/>
            </a:pPr>
            <a:r>
              <a:rPr lang="en-US" altLang="zh-CN" dirty="0"/>
              <a:t>    INSERT INTO </a:t>
            </a:r>
            <a:r>
              <a:rPr lang="en-US" altLang="zh-CN" dirty="0" err="1"/>
              <a:t>StudentInsertLog</a:t>
            </a:r>
            <a:r>
              <a:rPr lang="en-US" altLang="zh-CN" dirty="0"/>
              <a:t> (Numbers)</a:t>
            </a:r>
          </a:p>
          <a:p>
            <a:pPr marL="342900" lvl="1" indent="0">
              <a:buNone/>
            </a:pPr>
            <a:r>
              <a:rPr lang="en-US" altLang="zh-CN" dirty="0"/>
              <a:t>    SELECT COUNT(*) FROM DELTA	</a:t>
            </a:r>
          </a:p>
        </p:txBody>
      </p:sp>
      <p:sp>
        <p:nvSpPr>
          <p:cNvPr id="2" name="灯片编号占位符 1">
            <a:extLst>
              <a:ext uri="{FF2B5EF4-FFF2-40B4-BE49-F238E27FC236}">
                <a16:creationId xmlns:a16="http://schemas.microsoft.com/office/drawing/2014/main" id="{F54689DC-2A67-410C-8944-EFDCA97882B5}"/>
              </a:ext>
            </a:extLst>
          </p:cNvPr>
          <p:cNvSpPr>
            <a:spLocks noGrp="1"/>
          </p:cNvSpPr>
          <p:nvPr>
            <p:ph type="sldNum" sz="quarter" idx="12"/>
          </p:nvPr>
        </p:nvSpPr>
        <p:spPr/>
        <p:txBody>
          <a:bodyPr/>
          <a:lstStyle/>
          <a:p>
            <a:fld id="{47C9E101-E51D-431E-84FA-C029B8655B60}" type="slidenum">
              <a:rPr lang="zh-CN" altLang="en-US" smtClean="0"/>
              <a:pPr/>
              <a:t>51</a:t>
            </a:fld>
            <a:endParaRPr lang="zh-CN" altLang="en-US" dirty="0"/>
          </a:p>
        </p:txBody>
      </p:sp>
    </p:spTree>
    <p:extLst>
      <p:ext uri="{BB962C8B-B14F-4D97-AF65-F5344CB8AC3E}">
        <p14:creationId xmlns:p14="http://schemas.microsoft.com/office/powerpoint/2010/main" val="1275327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309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309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309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309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309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309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309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3091">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309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a:extLst>
              <a:ext uri="{FF2B5EF4-FFF2-40B4-BE49-F238E27FC236}">
                <a16:creationId xmlns:a16="http://schemas.microsoft.com/office/drawing/2014/main" id="{443CBA48-6E3F-4940-BF8B-D202DF5F1E46}"/>
              </a:ext>
            </a:extLst>
          </p:cNvPr>
          <p:cNvSpPr>
            <a:spLocks noGrp="1" noChangeArrowheads="1"/>
          </p:cNvSpPr>
          <p:nvPr>
            <p:ph type="title"/>
          </p:nvPr>
        </p:nvSpPr>
        <p:spPr/>
        <p:txBody>
          <a:bodyPr/>
          <a:lstStyle/>
          <a:p>
            <a:r>
              <a:rPr lang="en-US" altLang="zh-CN" dirty="0"/>
              <a:t>5.7.2 </a:t>
            </a:r>
            <a:r>
              <a:rPr lang="zh-CN" altLang="en-US" dirty="0"/>
              <a:t>激活触发器</a:t>
            </a:r>
          </a:p>
        </p:txBody>
      </p:sp>
      <p:sp>
        <p:nvSpPr>
          <p:cNvPr id="475139" name="Rectangle 3">
            <a:extLst>
              <a:ext uri="{FF2B5EF4-FFF2-40B4-BE49-F238E27FC236}">
                <a16:creationId xmlns:a16="http://schemas.microsoft.com/office/drawing/2014/main" id="{F386A947-9300-4AA9-AF31-100A06960EB7}"/>
              </a:ext>
            </a:extLst>
          </p:cNvPr>
          <p:cNvSpPr>
            <a:spLocks noGrp="1" noChangeArrowheads="1"/>
          </p:cNvSpPr>
          <p:nvPr>
            <p:ph idx="1"/>
          </p:nvPr>
        </p:nvSpPr>
        <p:spPr/>
        <p:txBody>
          <a:bodyPr/>
          <a:lstStyle/>
          <a:p>
            <a:r>
              <a:rPr lang="zh-CN" altLang="en-US" dirty="0"/>
              <a:t>触发器的执行，是由触发事件激活的，并由数据库服务器</a:t>
            </a:r>
            <a:r>
              <a:rPr lang="zh-CN" altLang="en-US" dirty="0">
                <a:solidFill>
                  <a:srgbClr val="C00000"/>
                </a:solidFill>
              </a:rPr>
              <a:t>自动</a:t>
            </a:r>
            <a:r>
              <a:rPr lang="zh-CN" altLang="en-US" dirty="0"/>
              <a:t>执行</a:t>
            </a:r>
          </a:p>
          <a:p>
            <a:endParaRPr lang="en-US" altLang="zh-CN" dirty="0"/>
          </a:p>
          <a:p>
            <a:r>
              <a:rPr lang="zh-CN" altLang="en-US" dirty="0"/>
              <a:t>一个数据表上可能定义了多个触发器，遵循如下的执行顺序：</a:t>
            </a:r>
          </a:p>
          <a:p>
            <a:pPr marL="342900" lvl="1" indent="0">
              <a:buNone/>
            </a:pPr>
            <a:r>
              <a:rPr lang="zh-CN" altLang="en-US" dirty="0">
                <a:solidFill>
                  <a:srgbClr val="C00000"/>
                </a:solidFill>
              </a:rPr>
              <a:t>（</a:t>
            </a:r>
            <a:r>
              <a:rPr lang="en-US" altLang="zh-CN" dirty="0">
                <a:solidFill>
                  <a:srgbClr val="C00000"/>
                </a:solidFill>
              </a:rPr>
              <a:t>1</a:t>
            </a:r>
            <a:r>
              <a:rPr lang="zh-CN" altLang="en-US" dirty="0">
                <a:solidFill>
                  <a:srgbClr val="C00000"/>
                </a:solidFill>
              </a:rPr>
              <a:t>） 执行该表上的</a:t>
            </a:r>
            <a:r>
              <a:rPr lang="en-US" altLang="zh-CN" dirty="0">
                <a:solidFill>
                  <a:srgbClr val="C00000"/>
                </a:solidFill>
              </a:rPr>
              <a:t>BEFORE</a:t>
            </a:r>
            <a:r>
              <a:rPr lang="zh-CN" altLang="en-US" dirty="0">
                <a:solidFill>
                  <a:srgbClr val="C00000"/>
                </a:solidFill>
              </a:rPr>
              <a:t>触发器；</a:t>
            </a:r>
          </a:p>
          <a:p>
            <a:pPr marL="342900" lvl="1" indent="0">
              <a:buNone/>
            </a:pPr>
            <a:r>
              <a:rPr lang="zh-CN" altLang="en-US" dirty="0">
                <a:solidFill>
                  <a:srgbClr val="C00000"/>
                </a:solidFill>
              </a:rPr>
              <a:t>（</a:t>
            </a:r>
            <a:r>
              <a:rPr lang="en-US" altLang="zh-CN" dirty="0">
                <a:solidFill>
                  <a:srgbClr val="C00000"/>
                </a:solidFill>
              </a:rPr>
              <a:t>2</a:t>
            </a:r>
            <a:r>
              <a:rPr lang="zh-CN" altLang="en-US" dirty="0">
                <a:solidFill>
                  <a:srgbClr val="C00000"/>
                </a:solidFill>
              </a:rPr>
              <a:t>） 激活触发器的</a:t>
            </a:r>
            <a:r>
              <a:rPr lang="en-US" altLang="zh-CN" dirty="0">
                <a:solidFill>
                  <a:srgbClr val="C00000"/>
                </a:solidFill>
              </a:rPr>
              <a:t>SQL</a:t>
            </a:r>
            <a:r>
              <a:rPr lang="zh-CN" altLang="en-US" dirty="0">
                <a:solidFill>
                  <a:srgbClr val="C00000"/>
                </a:solidFill>
              </a:rPr>
              <a:t>语句；</a:t>
            </a:r>
          </a:p>
          <a:p>
            <a:pPr marL="342900" lvl="1" indent="0">
              <a:buNone/>
            </a:pPr>
            <a:r>
              <a:rPr lang="zh-CN" altLang="en-US" dirty="0">
                <a:solidFill>
                  <a:srgbClr val="C00000"/>
                </a:solidFill>
              </a:rPr>
              <a:t>（</a:t>
            </a:r>
            <a:r>
              <a:rPr lang="en-US" altLang="zh-CN" dirty="0">
                <a:solidFill>
                  <a:srgbClr val="C00000"/>
                </a:solidFill>
              </a:rPr>
              <a:t>3</a:t>
            </a:r>
            <a:r>
              <a:rPr lang="zh-CN" altLang="en-US" dirty="0">
                <a:solidFill>
                  <a:srgbClr val="C00000"/>
                </a:solidFill>
              </a:rPr>
              <a:t>） 执行该表上的</a:t>
            </a:r>
            <a:r>
              <a:rPr lang="en-US" altLang="zh-CN" dirty="0">
                <a:solidFill>
                  <a:srgbClr val="C00000"/>
                </a:solidFill>
              </a:rPr>
              <a:t>AFTER</a:t>
            </a:r>
            <a:r>
              <a:rPr lang="zh-CN" altLang="en-US" dirty="0">
                <a:solidFill>
                  <a:srgbClr val="C00000"/>
                </a:solidFill>
              </a:rPr>
              <a:t>触发器。</a:t>
            </a:r>
          </a:p>
        </p:txBody>
      </p:sp>
      <p:sp>
        <p:nvSpPr>
          <p:cNvPr id="2" name="灯片编号占位符 1">
            <a:extLst>
              <a:ext uri="{FF2B5EF4-FFF2-40B4-BE49-F238E27FC236}">
                <a16:creationId xmlns:a16="http://schemas.microsoft.com/office/drawing/2014/main" id="{C9533366-E8CC-4583-B110-8D59F2CA8A9B}"/>
              </a:ext>
            </a:extLst>
          </p:cNvPr>
          <p:cNvSpPr>
            <a:spLocks noGrp="1"/>
          </p:cNvSpPr>
          <p:nvPr>
            <p:ph type="sldNum" sz="quarter" idx="12"/>
          </p:nvPr>
        </p:nvSpPr>
        <p:spPr/>
        <p:txBody>
          <a:bodyPr/>
          <a:lstStyle/>
          <a:p>
            <a:fld id="{47C9E101-E51D-431E-84FA-C029B8655B60}" type="slidenum">
              <a:rPr lang="zh-CN" altLang="en-US" smtClean="0"/>
              <a:pPr/>
              <a:t>52</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75139">
                                            <p:txEl>
                                              <p:pRg st="2" end="2"/>
                                            </p:txEl>
                                          </p:spTgt>
                                        </p:tgtEl>
                                        <p:attrNameLst>
                                          <p:attrName>style.visibility</p:attrName>
                                        </p:attrNameLst>
                                      </p:cBhvr>
                                      <p:to>
                                        <p:strVal val="visible"/>
                                      </p:to>
                                    </p:set>
                                    <p:animEffect transition="in" filter="fade">
                                      <p:cBhvr>
                                        <p:cTn id="7" dur="1000"/>
                                        <p:tgtEl>
                                          <p:spTgt spid="475139">
                                            <p:txEl>
                                              <p:pRg st="2" end="2"/>
                                            </p:txEl>
                                          </p:spTgt>
                                        </p:tgtEl>
                                      </p:cBhvr>
                                    </p:animEffect>
                                    <p:anim calcmode="lin" valueType="num">
                                      <p:cBhvr>
                                        <p:cTn id="8" dur="1000" fill="hold"/>
                                        <p:tgtEl>
                                          <p:spTgt spid="47513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7513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75139">
                                            <p:txEl>
                                              <p:pRg st="3" end="3"/>
                                            </p:txEl>
                                          </p:spTgt>
                                        </p:tgtEl>
                                        <p:attrNameLst>
                                          <p:attrName>style.visibility</p:attrName>
                                        </p:attrNameLst>
                                      </p:cBhvr>
                                      <p:to>
                                        <p:strVal val="visible"/>
                                      </p:to>
                                    </p:set>
                                    <p:animEffect transition="in" filter="fade">
                                      <p:cBhvr>
                                        <p:cTn id="12" dur="1000"/>
                                        <p:tgtEl>
                                          <p:spTgt spid="475139">
                                            <p:txEl>
                                              <p:pRg st="3" end="3"/>
                                            </p:txEl>
                                          </p:spTgt>
                                        </p:tgtEl>
                                      </p:cBhvr>
                                    </p:animEffect>
                                    <p:anim calcmode="lin" valueType="num">
                                      <p:cBhvr>
                                        <p:cTn id="13" dur="1000" fill="hold"/>
                                        <p:tgtEl>
                                          <p:spTgt spid="47513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75139">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75139">
                                            <p:txEl>
                                              <p:pRg st="4" end="4"/>
                                            </p:txEl>
                                          </p:spTgt>
                                        </p:tgtEl>
                                        <p:attrNameLst>
                                          <p:attrName>style.visibility</p:attrName>
                                        </p:attrNameLst>
                                      </p:cBhvr>
                                      <p:to>
                                        <p:strVal val="visible"/>
                                      </p:to>
                                    </p:set>
                                    <p:animEffect transition="in" filter="fade">
                                      <p:cBhvr>
                                        <p:cTn id="17" dur="1000"/>
                                        <p:tgtEl>
                                          <p:spTgt spid="475139">
                                            <p:txEl>
                                              <p:pRg st="4" end="4"/>
                                            </p:txEl>
                                          </p:spTgt>
                                        </p:tgtEl>
                                      </p:cBhvr>
                                    </p:animEffect>
                                    <p:anim calcmode="lin" valueType="num">
                                      <p:cBhvr>
                                        <p:cTn id="18" dur="1000" fill="hold"/>
                                        <p:tgtEl>
                                          <p:spTgt spid="475139">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475139">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75139">
                                            <p:txEl>
                                              <p:pRg st="5" end="5"/>
                                            </p:txEl>
                                          </p:spTgt>
                                        </p:tgtEl>
                                        <p:attrNameLst>
                                          <p:attrName>style.visibility</p:attrName>
                                        </p:attrNameLst>
                                      </p:cBhvr>
                                      <p:to>
                                        <p:strVal val="visible"/>
                                      </p:to>
                                    </p:set>
                                    <p:animEffect transition="in" filter="fade">
                                      <p:cBhvr>
                                        <p:cTn id="22" dur="1000"/>
                                        <p:tgtEl>
                                          <p:spTgt spid="475139">
                                            <p:txEl>
                                              <p:pRg st="5" end="5"/>
                                            </p:txEl>
                                          </p:spTgt>
                                        </p:tgtEl>
                                      </p:cBhvr>
                                    </p:animEffect>
                                    <p:anim calcmode="lin" valueType="num">
                                      <p:cBhvr>
                                        <p:cTn id="23" dur="1000" fill="hold"/>
                                        <p:tgtEl>
                                          <p:spTgt spid="475139">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47513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a:extLst>
              <a:ext uri="{FF2B5EF4-FFF2-40B4-BE49-F238E27FC236}">
                <a16:creationId xmlns:a16="http://schemas.microsoft.com/office/drawing/2014/main" id="{74080601-6D9E-4766-8373-86D6D219786A}"/>
              </a:ext>
            </a:extLst>
          </p:cNvPr>
          <p:cNvSpPr>
            <a:spLocks noGrp="1" noChangeArrowheads="1"/>
          </p:cNvSpPr>
          <p:nvPr>
            <p:ph type="title"/>
          </p:nvPr>
        </p:nvSpPr>
        <p:spPr/>
        <p:txBody>
          <a:bodyPr/>
          <a:lstStyle/>
          <a:p>
            <a:r>
              <a:rPr lang="en-US" altLang="zh-CN" dirty="0"/>
              <a:t>5.7.3 </a:t>
            </a:r>
            <a:r>
              <a:rPr lang="zh-CN" altLang="en-US" dirty="0"/>
              <a:t>删除触发器</a:t>
            </a:r>
          </a:p>
        </p:txBody>
      </p:sp>
      <p:sp>
        <p:nvSpPr>
          <p:cNvPr id="477187" name="Rectangle 3">
            <a:extLst>
              <a:ext uri="{FF2B5EF4-FFF2-40B4-BE49-F238E27FC236}">
                <a16:creationId xmlns:a16="http://schemas.microsoft.com/office/drawing/2014/main" id="{D78ADA09-6C05-4BAD-899C-C7530042E653}"/>
              </a:ext>
            </a:extLst>
          </p:cNvPr>
          <p:cNvSpPr>
            <a:spLocks noGrp="1" noChangeArrowheads="1"/>
          </p:cNvSpPr>
          <p:nvPr>
            <p:ph idx="1"/>
          </p:nvPr>
        </p:nvSpPr>
        <p:spPr/>
        <p:txBody>
          <a:bodyPr/>
          <a:lstStyle/>
          <a:p>
            <a:r>
              <a:rPr lang="zh-CN" altLang="en-US" dirty="0"/>
              <a:t>删除触发器的</a:t>
            </a:r>
            <a:r>
              <a:rPr lang="en-US" altLang="zh-CN" dirty="0"/>
              <a:t>SQL</a:t>
            </a:r>
            <a:r>
              <a:rPr lang="zh-CN" altLang="en-US" dirty="0"/>
              <a:t>语法：</a:t>
            </a:r>
          </a:p>
          <a:p>
            <a:pPr marL="342900" lvl="1" indent="0">
              <a:buNone/>
            </a:pPr>
            <a:r>
              <a:rPr lang="zh-CN" altLang="en-US" dirty="0">
                <a:solidFill>
                  <a:srgbClr val="C00000"/>
                </a:solidFill>
              </a:rPr>
              <a:t>     </a:t>
            </a:r>
            <a:r>
              <a:rPr lang="en-US" altLang="zh-CN" dirty="0">
                <a:solidFill>
                  <a:srgbClr val="C00000"/>
                </a:solidFill>
              </a:rPr>
              <a:t>DROP TRIGGER </a:t>
            </a:r>
            <a:r>
              <a:rPr lang="en-US" altLang="zh-CN" dirty="0"/>
              <a:t>&lt;</a:t>
            </a:r>
            <a:r>
              <a:rPr lang="zh-CN" altLang="en-US" dirty="0"/>
              <a:t>触发器名</a:t>
            </a:r>
            <a:r>
              <a:rPr lang="en-US" altLang="zh-CN" dirty="0"/>
              <a:t>&gt; </a:t>
            </a:r>
            <a:r>
              <a:rPr lang="en-US" altLang="zh-CN" dirty="0">
                <a:solidFill>
                  <a:srgbClr val="C00000"/>
                </a:solidFill>
              </a:rPr>
              <a:t>ON</a:t>
            </a:r>
            <a:r>
              <a:rPr lang="en-US" altLang="zh-CN" dirty="0"/>
              <a:t> &lt;</a:t>
            </a:r>
            <a:r>
              <a:rPr lang="zh-CN" altLang="en-US" dirty="0"/>
              <a:t>表名</a:t>
            </a:r>
            <a:r>
              <a:rPr lang="en-US" altLang="zh-CN" dirty="0"/>
              <a:t>&gt;;</a:t>
            </a:r>
          </a:p>
          <a:p>
            <a:pPr lvl="1"/>
            <a:r>
              <a:rPr lang="zh-CN" altLang="en-US" dirty="0"/>
              <a:t>触发器必须是一个已经创建的触发器，并且只能由具有相应权限的用户删除。</a:t>
            </a:r>
          </a:p>
          <a:p>
            <a:pPr lvl="1"/>
            <a:endParaRPr lang="en-US" altLang="zh-CN" dirty="0"/>
          </a:p>
          <a:p>
            <a:r>
              <a:rPr lang="zh-CN" altLang="en-US" dirty="0"/>
              <a:t>例：删除教师表</a:t>
            </a:r>
            <a:r>
              <a:rPr lang="en-US" altLang="zh-CN" dirty="0"/>
              <a:t>Teacher</a:t>
            </a:r>
            <a:r>
              <a:rPr lang="zh-CN" altLang="en-US" dirty="0"/>
              <a:t>上的触发器</a:t>
            </a:r>
            <a:r>
              <a:rPr lang="en-US" altLang="zh-CN" dirty="0" err="1"/>
              <a:t>Insert_Sal</a:t>
            </a:r>
            <a:endParaRPr lang="en-US" altLang="zh-CN" dirty="0"/>
          </a:p>
          <a:p>
            <a:pPr marL="342900" lvl="1" indent="0">
              <a:buNone/>
            </a:pPr>
            <a:r>
              <a:rPr lang="en-US" altLang="zh-CN" dirty="0"/>
              <a:t>     DROP TRIGGER </a:t>
            </a:r>
            <a:r>
              <a:rPr lang="en-US" altLang="zh-CN" dirty="0" err="1"/>
              <a:t>Insert_Sal</a:t>
            </a:r>
            <a:r>
              <a:rPr lang="en-US" altLang="zh-CN" dirty="0"/>
              <a:t> ON Teacher;</a:t>
            </a:r>
          </a:p>
        </p:txBody>
      </p:sp>
      <p:sp>
        <p:nvSpPr>
          <p:cNvPr id="2" name="灯片编号占位符 1">
            <a:extLst>
              <a:ext uri="{FF2B5EF4-FFF2-40B4-BE49-F238E27FC236}">
                <a16:creationId xmlns:a16="http://schemas.microsoft.com/office/drawing/2014/main" id="{563B886E-821A-4CB0-A1B4-D6A2B14B41FC}"/>
              </a:ext>
            </a:extLst>
          </p:cNvPr>
          <p:cNvSpPr>
            <a:spLocks noGrp="1"/>
          </p:cNvSpPr>
          <p:nvPr>
            <p:ph type="sldNum" sz="quarter" idx="12"/>
          </p:nvPr>
        </p:nvSpPr>
        <p:spPr/>
        <p:txBody>
          <a:bodyPr/>
          <a:lstStyle/>
          <a:p>
            <a:fld id="{47C9E101-E51D-431E-84FA-C029B8655B60}" type="slidenum">
              <a:rPr lang="zh-CN" altLang="en-US" smtClean="0"/>
              <a:pPr/>
              <a:t>53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718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71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4E4059-C060-4230-A115-E7369C5046A0}"/>
              </a:ext>
            </a:extLst>
          </p:cNvPr>
          <p:cNvSpPr>
            <a:spLocks noGrp="1"/>
          </p:cNvSpPr>
          <p:nvPr>
            <p:ph type="title"/>
          </p:nvPr>
        </p:nvSpPr>
        <p:spPr/>
        <p:txBody>
          <a:bodyPr/>
          <a:lstStyle/>
          <a:p>
            <a:r>
              <a:rPr lang="en-US" altLang="zh-CN"/>
              <a:t>openGauss</a:t>
            </a:r>
            <a:r>
              <a:rPr lang="zh-CN" altLang="en-US"/>
              <a:t>触发器</a:t>
            </a:r>
          </a:p>
        </p:txBody>
      </p:sp>
      <p:sp>
        <p:nvSpPr>
          <p:cNvPr id="3" name="内容占位符 2">
            <a:extLst>
              <a:ext uri="{FF2B5EF4-FFF2-40B4-BE49-F238E27FC236}">
                <a16:creationId xmlns:a16="http://schemas.microsoft.com/office/drawing/2014/main" id="{FBEF6219-6FE6-4E1B-841E-36931B1ECB40}"/>
              </a:ext>
            </a:extLst>
          </p:cNvPr>
          <p:cNvSpPr>
            <a:spLocks noGrp="1"/>
          </p:cNvSpPr>
          <p:nvPr>
            <p:ph idx="1"/>
          </p:nvPr>
        </p:nvSpPr>
        <p:spPr>
          <a:xfrm>
            <a:off x="595085" y="1066800"/>
            <a:ext cx="11007107" cy="914400"/>
          </a:xfrm>
        </p:spPr>
        <p:txBody>
          <a:bodyPr>
            <a:normAutofit/>
          </a:bodyPr>
          <a:lstStyle/>
          <a:p>
            <a:r>
              <a:rPr lang="en-US" altLang="zh-CN" dirty="0" err="1"/>
              <a:t>openGauss</a:t>
            </a:r>
            <a:r>
              <a:rPr lang="zh-CN" altLang="en-US" dirty="0"/>
              <a:t>支持创建、修改和删除触发器。</a:t>
            </a:r>
            <a:endParaRPr lang="en-US" altLang="zh-CN" dirty="0"/>
          </a:p>
        </p:txBody>
      </p:sp>
      <p:sp>
        <p:nvSpPr>
          <p:cNvPr id="4" name="灯片编号占位符 3">
            <a:extLst>
              <a:ext uri="{FF2B5EF4-FFF2-40B4-BE49-F238E27FC236}">
                <a16:creationId xmlns:a16="http://schemas.microsoft.com/office/drawing/2014/main" id="{5225AFB5-076D-4250-8B1B-120294AB4406}"/>
              </a:ext>
            </a:extLst>
          </p:cNvPr>
          <p:cNvSpPr>
            <a:spLocks noGrp="1"/>
          </p:cNvSpPr>
          <p:nvPr>
            <p:ph type="sldNum" sz="quarter" idx="12"/>
          </p:nvPr>
        </p:nvSpPr>
        <p:spPr/>
        <p:txBody>
          <a:bodyPr/>
          <a:lstStyle/>
          <a:p>
            <a:fld id="{E63F6D5D-9733-4D44-9C56-AEFEDD5A4BA7}" type="slidenum">
              <a:rPr lang="en-US" smtClean="0"/>
              <a:pPr/>
              <a:t>54</a:t>
            </a:fld>
            <a:endParaRPr lang="en-US" dirty="0"/>
          </a:p>
        </p:txBody>
      </p:sp>
      <p:sp>
        <p:nvSpPr>
          <p:cNvPr id="5" name="矩形 4">
            <a:extLst>
              <a:ext uri="{FF2B5EF4-FFF2-40B4-BE49-F238E27FC236}">
                <a16:creationId xmlns:a16="http://schemas.microsoft.com/office/drawing/2014/main" id="{E486CFA1-E399-411B-86F0-F55B435222C9}"/>
              </a:ext>
            </a:extLst>
          </p:cNvPr>
          <p:cNvSpPr/>
          <p:nvPr/>
        </p:nvSpPr>
        <p:spPr>
          <a:xfrm>
            <a:off x="762000" y="2005548"/>
            <a:ext cx="7924800" cy="4366708"/>
          </a:xfrm>
          <a:prstGeom prst="rect">
            <a:avLst/>
          </a:prstGeom>
          <a:solidFill>
            <a:schemeClr val="bg1">
              <a:lumMod val="85000"/>
            </a:schemeClr>
          </a:solidFill>
        </p:spPr>
        <p:txBody>
          <a:bodyPr wrap="square">
            <a:spAutoFit/>
          </a:bodyPr>
          <a:lstStyle/>
          <a:p>
            <a:pPr>
              <a:lnSpc>
                <a:spcPct val="130000"/>
              </a:lnSpc>
            </a:pPr>
            <a:r>
              <a:rPr lang="en-US" altLang="zh-CN" sz="2400" dirty="0">
                <a:solidFill>
                  <a:srgbClr val="FF0000"/>
                </a:solidFill>
                <a:latin typeface="微软雅黑" panose="020B0503020204020204" pitchFamily="34" charset="-122"/>
                <a:ea typeface="微软雅黑" panose="020B0503020204020204" pitchFamily="34" charset="-122"/>
              </a:rPr>
              <a:t>CREATE</a:t>
            </a:r>
            <a:r>
              <a:rPr lang="en-US" altLang="zh-CN" sz="2400" dirty="0">
                <a:solidFill>
                  <a:srgbClr val="0000FF"/>
                </a:solidFill>
                <a:latin typeface="微软雅黑" panose="020B0503020204020204" pitchFamily="34" charset="-122"/>
                <a:ea typeface="微软雅黑" panose="020B0503020204020204" pitchFamily="34" charset="-122"/>
              </a:rPr>
              <a:t> [ CONSTRAINT ] </a:t>
            </a:r>
            <a:r>
              <a:rPr lang="en-US" altLang="zh-CN" sz="2400" dirty="0">
                <a:solidFill>
                  <a:srgbClr val="FF0000"/>
                </a:solidFill>
                <a:latin typeface="微软雅黑" panose="020B0503020204020204" pitchFamily="34" charset="-122"/>
                <a:ea typeface="微软雅黑" panose="020B0503020204020204" pitchFamily="34" charset="-122"/>
              </a:rPr>
              <a:t>TRIGGER </a:t>
            </a:r>
            <a:r>
              <a:rPr lang="en-US" altLang="zh-CN" sz="2400" dirty="0" err="1">
                <a:solidFill>
                  <a:srgbClr val="0000FF"/>
                </a:solidFill>
                <a:latin typeface="微软雅黑" panose="020B0503020204020204" pitchFamily="34" charset="-122"/>
                <a:ea typeface="微软雅黑" panose="020B0503020204020204" pitchFamily="34" charset="-122"/>
              </a:rPr>
              <a:t>trigger_name</a:t>
            </a:r>
            <a:r>
              <a:rPr lang="en-US" altLang="zh-CN" sz="2400" dirty="0">
                <a:solidFill>
                  <a:srgbClr val="0000FF"/>
                </a:solidFill>
                <a:latin typeface="微软雅黑" panose="020B0503020204020204" pitchFamily="34" charset="-122"/>
                <a:ea typeface="微软雅黑" panose="020B0503020204020204" pitchFamily="34" charset="-122"/>
              </a:rPr>
              <a:t> { BEFORE | AFTER | INSTEAD OF } { event [ OR ... ] }</a:t>
            </a:r>
            <a:br>
              <a:rPr lang="en-US" altLang="zh-CN" sz="2400" dirty="0">
                <a:solidFill>
                  <a:srgbClr val="0000FF"/>
                </a:solidFill>
                <a:latin typeface="微软雅黑" panose="020B0503020204020204" pitchFamily="34" charset="-122"/>
                <a:ea typeface="微软雅黑" panose="020B0503020204020204" pitchFamily="34" charset="-122"/>
              </a:rPr>
            </a:br>
            <a:r>
              <a:rPr lang="en-US" altLang="zh-CN" sz="2400" dirty="0">
                <a:solidFill>
                  <a:srgbClr val="0000FF"/>
                </a:solidFill>
                <a:latin typeface="微软雅黑" panose="020B0503020204020204" pitchFamily="34" charset="-122"/>
                <a:ea typeface="微软雅黑" panose="020B0503020204020204" pitchFamily="34" charset="-122"/>
              </a:rPr>
              <a:t>ON </a:t>
            </a:r>
            <a:r>
              <a:rPr lang="en-US" altLang="zh-CN" sz="2400" dirty="0" err="1">
                <a:solidFill>
                  <a:srgbClr val="0000FF"/>
                </a:solidFill>
                <a:latin typeface="微软雅黑" panose="020B0503020204020204" pitchFamily="34" charset="-122"/>
                <a:ea typeface="微软雅黑" panose="020B0503020204020204" pitchFamily="34" charset="-122"/>
              </a:rPr>
              <a:t>table_name</a:t>
            </a:r>
            <a:r>
              <a:rPr lang="en-US" altLang="zh-CN" sz="2400" dirty="0">
                <a:solidFill>
                  <a:srgbClr val="0000FF"/>
                </a:solidFill>
                <a:latin typeface="微软雅黑" panose="020B0503020204020204" pitchFamily="34" charset="-122"/>
                <a:ea typeface="微软雅黑" panose="020B0503020204020204" pitchFamily="34" charset="-122"/>
              </a:rPr>
              <a:t/>
            </a:r>
            <a:br>
              <a:rPr lang="en-US" altLang="zh-CN" sz="2400" dirty="0">
                <a:solidFill>
                  <a:srgbClr val="0000FF"/>
                </a:solidFill>
                <a:latin typeface="微软雅黑" panose="020B0503020204020204" pitchFamily="34" charset="-122"/>
                <a:ea typeface="微软雅黑" panose="020B0503020204020204" pitchFamily="34" charset="-122"/>
              </a:rPr>
            </a:br>
            <a:r>
              <a:rPr lang="en-US" altLang="zh-CN" sz="2400" dirty="0">
                <a:solidFill>
                  <a:srgbClr val="0000FF"/>
                </a:solidFill>
                <a:latin typeface="微软雅黑" panose="020B0503020204020204" pitchFamily="34" charset="-122"/>
                <a:ea typeface="微软雅黑" panose="020B0503020204020204" pitchFamily="34" charset="-122"/>
              </a:rPr>
              <a:t>[ FROM </a:t>
            </a:r>
            <a:r>
              <a:rPr lang="en-US" altLang="zh-CN" sz="2400" dirty="0" err="1">
                <a:solidFill>
                  <a:srgbClr val="0000FF"/>
                </a:solidFill>
                <a:latin typeface="微软雅黑" panose="020B0503020204020204" pitchFamily="34" charset="-122"/>
                <a:ea typeface="微软雅黑" panose="020B0503020204020204" pitchFamily="34" charset="-122"/>
              </a:rPr>
              <a:t>referenced_table_name</a:t>
            </a:r>
            <a:r>
              <a:rPr lang="en-US" altLang="zh-CN" sz="2400" dirty="0">
                <a:solidFill>
                  <a:srgbClr val="0000FF"/>
                </a:solidFill>
                <a:latin typeface="微软雅黑" panose="020B0503020204020204" pitchFamily="34" charset="-122"/>
                <a:ea typeface="微软雅黑" panose="020B0503020204020204" pitchFamily="34" charset="-122"/>
              </a:rPr>
              <a:t> ]</a:t>
            </a:r>
            <a:br>
              <a:rPr lang="en-US" altLang="zh-CN" sz="2400" dirty="0">
                <a:solidFill>
                  <a:srgbClr val="0000FF"/>
                </a:solidFill>
                <a:latin typeface="微软雅黑" panose="020B0503020204020204" pitchFamily="34" charset="-122"/>
                <a:ea typeface="微软雅黑" panose="020B0503020204020204" pitchFamily="34" charset="-122"/>
              </a:rPr>
            </a:br>
            <a:r>
              <a:rPr lang="en-US" altLang="zh-CN" sz="2400" dirty="0">
                <a:solidFill>
                  <a:srgbClr val="0000FF"/>
                </a:solidFill>
                <a:latin typeface="微软雅黑" panose="020B0503020204020204" pitchFamily="34" charset="-122"/>
                <a:ea typeface="微软雅黑" panose="020B0503020204020204" pitchFamily="34" charset="-122"/>
              </a:rPr>
              <a:t>{ NOT DEFERRABLE | [ DEFERRABLE ] { INITIALLY IMMEDIATE | INITIALLY DEFERRED } }</a:t>
            </a:r>
            <a:br>
              <a:rPr lang="en-US" altLang="zh-CN" sz="2400" dirty="0">
                <a:solidFill>
                  <a:srgbClr val="0000FF"/>
                </a:solidFill>
                <a:latin typeface="微软雅黑" panose="020B0503020204020204" pitchFamily="34" charset="-122"/>
                <a:ea typeface="微软雅黑" panose="020B0503020204020204" pitchFamily="34" charset="-122"/>
              </a:rPr>
            </a:br>
            <a:r>
              <a:rPr lang="en-US" altLang="zh-CN" sz="2400" dirty="0">
                <a:solidFill>
                  <a:srgbClr val="0000FF"/>
                </a:solidFill>
                <a:latin typeface="微软雅黑" panose="020B0503020204020204" pitchFamily="34" charset="-122"/>
                <a:ea typeface="微软雅黑" panose="020B0503020204020204" pitchFamily="34" charset="-122"/>
              </a:rPr>
              <a:t>[ FOR [ EACH ] { ROW | STATEMENT } ]</a:t>
            </a:r>
            <a:br>
              <a:rPr lang="en-US" altLang="zh-CN" sz="2400" dirty="0">
                <a:solidFill>
                  <a:srgbClr val="0000FF"/>
                </a:solidFill>
                <a:latin typeface="微软雅黑" panose="020B0503020204020204" pitchFamily="34" charset="-122"/>
                <a:ea typeface="微软雅黑" panose="020B0503020204020204" pitchFamily="34" charset="-122"/>
              </a:rPr>
            </a:br>
            <a:r>
              <a:rPr lang="en-US" altLang="zh-CN" sz="2400" dirty="0">
                <a:solidFill>
                  <a:srgbClr val="0000FF"/>
                </a:solidFill>
                <a:latin typeface="微软雅黑" panose="020B0503020204020204" pitchFamily="34" charset="-122"/>
                <a:ea typeface="微软雅黑" panose="020B0503020204020204" pitchFamily="34" charset="-122"/>
              </a:rPr>
              <a:t>[ WHEN ( condition ) ]</a:t>
            </a:r>
            <a:br>
              <a:rPr lang="en-US" altLang="zh-CN" sz="2400" dirty="0">
                <a:solidFill>
                  <a:srgbClr val="0000FF"/>
                </a:solidFill>
                <a:latin typeface="微软雅黑" panose="020B0503020204020204" pitchFamily="34" charset="-122"/>
                <a:ea typeface="微软雅黑" panose="020B0503020204020204" pitchFamily="34" charset="-122"/>
              </a:rPr>
            </a:br>
            <a:r>
              <a:rPr lang="en-US" altLang="zh-CN" sz="2400" dirty="0">
                <a:solidFill>
                  <a:srgbClr val="0000FF"/>
                </a:solidFill>
                <a:latin typeface="微软雅黑" panose="020B0503020204020204" pitchFamily="34" charset="-122"/>
                <a:ea typeface="微软雅黑" panose="020B0503020204020204" pitchFamily="34" charset="-122"/>
              </a:rPr>
              <a:t>EXECUTE PROCEDURE </a:t>
            </a:r>
            <a:r>
              <a:rPr lang="en-US" altLang="zh-CN" sz="2400" dirty="0" err="1">
                <a:solidFill>
                  <a:srgbClr val="0000FF"/>
                </a:solidFill>
                <a:latin typeface="微软雅黑" panose="020B0503020204020204" pitchFamily="34" charset="-122"/>
                <a:ea typeface="微软雅黑" panose="020B0503020204020204" pitchFamily="34" charset="-122"/>
              </a:rPr>
              <a:t>function_name</a:t>
            </a:r>
            <a:r>
              <a:rPr lang="en-US" altLang="zh-CN" sz="2400" dirty="0">
                <a:solidFill>
                  <a:srgbClr val="0000FF"/>
                </a:solidFill>
                <a:latin typeface="微软雅黑" panose="020B0503020204020204" pitchFamily="34" charset="-122"/>
                <a:ea typeface="微软雅黑" panose="020B0503020204020204" pitchFamily="34" charset="-122"/>
              </a:rPr>
              <a:t> ( arguments ); </a:t>
            </a:r>
            <a:endParaRPr lang="zh-CN" altLang="en-US" sz="2400" dirty="0">
              <a:solidFill>
                <a:srgbClr val="0000FF"/>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40C84DB0-5130-48FF-B5F2-6063607168B3}"/>
              </a:ext>
            </a:extLst>
          </p:cNvPr>
          <p:cNvSpPr/>
          <p:nvPr/>
        </p:nvSpPr>
        <p:spPr>
          <a:xfrm>
            <a:off x="8858992" y="2048191"/>
            <a:ext cx="2511785" cy="16330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HuaweiSans"/>
              </a:rPr>
              <a:t>INSERT</a:t>
            </a:r>
            <a:br>
              <a:rPr lang="en-US" altLang="zh-CN" sz="2000" dirty="0">
                <a:solidFill>
                  <a:srgbClr val="FF0000"/>
                </a:solidFill>
                <a:latin typeface="HuaweiSans"/>
              </a:rPr>
            </a:br>
            <a:r>
              <a:rPr lang="en-US" altLang="zh-CN" sz="2000" dirty="0">
                <a:solidFill>
                  <a:srgbClr val="FF0000"/>
                </a:solidFill>
                <a:latin typeface="HuaweiSans"/>
              </a:rPr>
              <a:t>UPDATE [ OF </a:t>
            </a:r>
            <a:r>
              <a:rPr lang="en-US" altLang="zh-CN" sz="2000" dirty="0" err="1">
                <a:solidFill>
                  <a:srgbClr val="FF0000"/>
                </a:solidFill>
                <a:latin typeface="HuaweiSans"/>
              </a:rPr>
              <a:t>column_name</a:t>
            </a:r>
            <a:r>
              <a:rPr lang="en-US" altLang="zh-CN" sz="2000" dirty="0">
                <a:solidFill>
                  <a:srgbClr val="FF0000"/>
                </a:solidFill>
                <a:latin typeface="HuaweiSans"/>
              </a:rPr>
              <a:t> [, ... ] ]</a:t>
            </a:r>
            <a:br>
              <a:rPr lang="en-US" altLang="zh-CN" sz="2000" dirty="0">
                <a:solidFill>
                  <a:srgbClr val="FF0000"/>
                </a:solidFill>
                <a:latin typeface="HuaweiSans"/>
              </a:rPr>
            </a:br>
            <a:r>
              <a:rPr lang="en-US" altLang="zh-CN" sz="2000" dirty="0">
                <a:solidFill>
                  <a:srgbClr val="FF0000"/>
                </a:solidFill>
                <a:latin typeface="HuaweiSans"/>
              </a:rPr>
              <a:t>DELETE</a:t>
            </a:r>
            <a:br>
              <a:rPr lang="en-US" altLang="zh-CN" sz="2000" dirty="0">
                <a:solidFill>
                  <a:srgbClr val="FF0000"/>
                </a:solidFill>
                <a:latin typeface="HuaweiSans"/>
              </a:rPr>
            </a:br>
            <a:r>
              <a:rPr lang="en-US" altLang="zh-CN" sz="2000" dirty="0">
                <a:solidFill>
                  <a:srgbClr val="FF0000"/>
                </a:solidFill>
                <a:latin typeface="HuaweiSans"/>
              </a:rPr>
              <a:t>TRUNCATE</a:t>
            </a:r>
            <a:r>
              <a:rPr lang="en-US" altLang="zh-CN" sz="2000" dirty="0">
                <a:solidFill>
                  <a:srgbClr val="FF0000"/>
                </a:solidFill>
              </a:rPr>
              <a:t> </a:t>
            </a:r>
            <a:endParaRPr lang="zh-CN" altLang="en-US" sz="2000" dirty="0">
              <a:solidFill>
                <a:srgbClr val="FF0000"/>
              </a:solidFill>
            </a:endParaRPr>
          </a:p>
        </p:txBody>
      </p:sp>
      <p:sp>
        <p:nvSpPr>
          <p:cNvPr id="9" name="椭圆 8">
            <a:extLst>
              <a:ext uri="{FF2B5EF4-FFF2-40B4-BE49-F238E27FC236}">
                <a16:creationId xmlns:a16="http://schemas.microsoft.com/office/drawing/2014/main" id="{6CD9AD2A-68C9-4A3E-9B74-AFD2A30E17A5}"/>
              </a:ext>
            </a:extLst>
          </p:cNvPr>
          <p:cNvSpPr/>
          <p:nvPr/>
        </p:nvSpPr>
        <p:spPr>
          <a:xfrm>
            <a:off x="5695335" y="2590800"/>
            <a:ext cx="12192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a:extLst>
              <a:ext uri="{FF2B5EF4-FFF2-40B4-BE49-F238E27FC236}">
                <a16:creationId xmlns:a16="http://schemas.microsoft.com/office/drawing/2014/main" id="{882D93CE-8BCD-4D63-9FB1-C0254D27DD3E}"/>
              </a:ext>
            </a:extLst>
          </p:cNvPr>
          <p:cNvCxnSpPr>
            <a:cxnSpLocks/>
            <a:stCxn id="9" idx="6"/>
          </p:cNvCxnSpPr>
          <p:nvPr/>
        </p:nvCxnSpPr>
        <p:spPr>
          <a:xfrm flipV="1">
            <a:off x="6914535" y="2407176"/>
            <a:ext cx="1924792" cy="374124"/>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238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500"/>
                                        <p:tgtEl>
                                          <p:spTgt spid="9"/>
                                        </p:tgtEl>
                                      </p:cBhvr>
                                    </p:animEffect>
                                  </p:childTnLst>
                                </p:cTn>
                              </p:par>
                              <p:par>
                                <p:cTn id="8" presetID="22" presetClass="entr" presetSubtype="8"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FC17589-3797-47EC-9CEA-FE11AF5071FD}"/>
              </a:ext>
            </a:extLst>
          </p:cNvPr>
          <p:cNvSpPr>
            <a:spLocks noGrp="1"/>
          </p:cNvSpPr>
          <p:nvPr>
            <p:ph type="sldNum" sz="quarter" idx="12"/>
          </p:nvPr>
        </p:nvSpPr>
        <p:spPr/>
        <p:txBody>
          <a:bodyPr/>
          <a:lstStyle/>
          <a:p>
            <a:fld id="{47C9E101-E51D-431E-84FA-C029B8655B60}" type="slidenum">
              <a:rPr lang="zh-CN" altLang="en-US" smtClean="0"/>
              <a:pPr/>
              <a:t>55</a:t>
            </a:fld>
            <a:endParaRPr lang="zh-CN" altLang="en-US" dirty="0"/>
          </a:p>
        </p:txBody>
      </p:sp>
      <p:sp>
        <p:nvSpPr>
          <p:cNvPr id="7" name="文本框 6">
            <a:extLst>
              <a:ext uri="{FF2B5EF4-FFF2-40B4-BE49-F238E27FC236}">
                <a16:creationId xmlns:a16="http://schemas.microsoft.com/office/drawing/2014/main" id="{B67588B0-1BA2-4653-B84C-76646CB5E4D5}"/>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在数据库中，产生数据不一致的根本原因是</a:t>
            </a:r>
            <a:r>
              <a:rPr lang="en-US" altLang="zh-CN"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8392573E-B31B-4C68-B15F-09A7845214FA}"/>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数据存储量太大</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64C3F49C-B0B8-4E50-B743-938BA2C02F55}"/>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pPr>
              <a:spcBef>
                <a:spcPct val="0"/>
              </a:spcBef>
              <a:buSzTx/>
              <a:buFontTx/>
              <a:buNone/>
            </a:pPr>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没有严格保护数据 </a:t>
            </a:r>
          </a:p>
        </p:txBody>
      </p:sp>
      <p:sp>
        <p:nvSpPr>
          <p:cNvPr id="10" name="文本框 9">
            <a:extLst>
              <a:ext uri="{FF2B5EF4-FFF2-40B4-BE49-F238E27FC236}">
                <a16:creationId xmlns:a16="http://schemas.microsoft.com/office/drawing/2014/main" id="{DD429215-70B0-400D-8C52-7F3A10C8808C}"/>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pPr>
              <a:spcBef>
                <a:spcPct val="0"/>
              </a:spcBef>
              <a:buSzTx/>
              <a:buFontTx/>
              <a:buNone/>
            </a:pPr>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未对数据进行完整性控制 </a:t>
            </a:r>
          </a:p>
        </p:txBody>
      </p:sp>
      <p:sp>
        <p:nvSpPr>
          <p:cNvPr id="11" name="文本框 10">
            <a:extLst>
              <a:ext uri="{FF2B5EF4-FFF2-40B4-BE49-F238E27FC236}">
                <a16:creationId xmlns:a16="http://schemas.microsoft.com/office/drawing/2014/main" id="{0410A216-32DD-4CC6-B976-872D2CF9191B}"/>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pPr>
              <a:spcBef>
                <a:spcPct val="0"/>
              </a:spcBef>
              <a:buSzTx/>
              <a:buFontTx/>
              <a:buNone/>
            </a:pPr>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数据冗余</a:t>
            </a:r>
          </a:p>
        </p:txBody>
      </p:sp>
      <p:sp>
        <p:nvSpPr>
          <p:cNvPr id="12" name="椭圆 11">
            <a:extLst>
              <a:ext uri="{FF2B5EF4-FFF2-40B4-BE49-F238E27FC236}">
                <a16:creationId xmlns:a16="http://schemas.microsoft.com/office/drawing/2014/main" id="{A7788323-966F-4E92-A5E6-E2537347D92B}"/>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BFC44E0D-3094-42CA-AAE6-20D59A4C881E}"/>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BF69C58A-A80C-45FB-BE5E-6642BCA61AC8}"/>
              </a:ext>
            </a:extLst>
          </p:cNvPr>
          <p:cNvSpPr>
            <a:spLocks noChangeAspect="1"/>
          </p:cNvSpPr>
          <p:nvPr>
            <p:custDataLst>
              <p:tags r:id="rId9"/>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A1638D83-A45D-4EEF-86BE-1D4ECEA97DC7}"/>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矩形: 圆角 15">
            <a:extLst>
              <a:ext uri="{FF2B5EF4-FFF2-40B4-BE49-F238E27FC236}">
                <a16:creationId xmlns:a16="http://schemas.microsoft.com/office/drawing/2014/main" id="{3CA0DEC6-FDC4-4DBA-8A30-C3C8641698BB}"/>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a:extLst>
              <a:ext uri="{FF2B5EF4-FFF2-40B4-BE49-F238E27FC236}">
                <a16:creationId xmlns:a16="http://schemas.microsoft.com/office/drawing/2014/main" id="{CB887D0D-3CEB-415B-9093-B560FD7A1BD8}"/>
              </a:ext>
            </a:extLst>
          </p:cNvPr>
          <p:cNvGrpSpPr/>
          <p:nvPr>
            <p:custDataLst>
              <p:tags r:id="rId12"/>
            </p:custDataLst>
          </p:nvPr>
        </p:nvGrpSpPr>
        <p:grpSpPr>
          <a:xfrm>
            <a:off x="0" y="0"/>
            <a:ext cx="12192000" cy="635000"/>
            <a:chOff x="0" y="0"/>
            <a:chExt cx="12192000" cy="635000"/>
          </a:xfrm>
        </p:grpSpPr>
        <p:sp>
          <p:nvSpPr>
            <p:cNvPr id="17" name="TitleBackground">
              <a:extLst>
                <a:ext uri="{FF2B5EF4-FFF2-40B4-BE49-F238E27FC236}">
                  <a16:creationId xmlns:a16="http://schemas.microsoft.com/office/drawing/2014/main" id="{EF845184-908A-4D32-A78E-2FD5DBC9593E}"/>
                </a:ext>
              </a:extLst>
            </p:cNvPr>
            <p:cNvSpPr/>
            <p:nvPr>
              <p:custDataLst>
                <p:tags r:id="rId14"/>
              </p:custDataLst>
            </p:nvPr>
          </p:nvSpPr>
          <p:spPr>
            <a:xfrm>
              <a:off x="0" y="0"/>
              <a:ext cx="12192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a:extLst>
                <a:ext uri="{FF2B5EF4-FFF2-40B4-BE49-F238E27FC236}">
                  <a16:creationId xmlns:a16="http://schemas.microsoft.com/office/drawing/2014/main" id="{08F6DA6D-48DB-4467-B344-53DF882A30F0}"/>
                </a:ext>
              </a:extLst>
            </p:cNvPr>
            <p:cNvSpPr/>
            <p:nvPr>
              <p:custDataLst>
                <p:tags r:id="rId15"/>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a:extLst>
                <a:ext uri="{FF2B5EF4-FFF2-40B4-BE49-F238E27FC236}">
                  <a16:creationId xmlns:a16="http://schemas.microsoft.com/office/drawing/2014/main" id="{6581E9CE-D909-44F1-A905-465EE30BA464}"/>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a:extLst>
                <a:ext uri="{FF2B5EF4-FFF2-40B4-BE49-F238E27FC236}">
                  <a16:creationId xmlns:a16="http://schemas.microsoft.com/office/drawing/2014/main" id="{ED3D39B3-035F-4471-AC5E-E8FCFEF6EACF}"/>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9E56836A-881B-4494-959E-8FE4317743E1}"/>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51287212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8D2D181-BDD8-4B8B-A640-4EDD60B9BCA8}"/>
              </a:ext>
            </a:extLst>
          </p:cNvPr>
          <p:cNvSpPr>
            <a:spLocks noGrp="1"/>
          </p:cNvSpPr>
          <p:nvPr>
            <p:ph type="sldNum" sz="quarter" idx="12"/>
          </p:nvPr>
        </p:nvSpPr>
        <p:spPr/>
        <p:txBody>
          <a:bodyPr/>
          <a:lstStyle/>
          <a:p>
            <a:fld id="{47C9E101-E51D-431E-84FA-C029B8655B60}" type="slidenum">
              <a:rPr lang="zh-CN" altLang="en-US" smtClean="0"/>
              <a:t>56</a:t>
            </a:fld>
            <a:endParaRPr lang="zh-CN" altLang="en-US"/>
          </a:p>
        </p:txBody>
      </p:sp>
      <p:sp>
        <p:nvSpPr>
          <p:cNvPr id="5" name="文本框 4">
            <a:extLst>
              <a:ext uri="{FF2B5EF4-FFF2-40B4-BE49-F238E27FC236}">
                <a16:creationId xmlns:a16="http://schemas.microsoft.com/office/drawing/2014/main" id="{2F6B3C00-A3AF-4653-8FCF-FC4B4F200DF4}"/>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数据库中的的字段范围“年龄限制在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18—30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岁之间”属于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的哪种功能（   ）。</a:t>
            </a:r>
          </a:p>
        </p:txBody>
      </p:sp>
      <p:sp>
        <p:nvSpPr>
          <p:cNvPr id="6" name="文本框 5">
            <a:extLst>
              <a:ext uri="{FF2B5EF4-FFF2-40B4-BE49-F238E27FC236}">
                <a16:creationId xmlns:a16="http://schemas.microsoft.com/office/drawing/2014/main" id="{E19954E7-D9B9-4BD4-9F39-F7B0855086EA}"/>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安全性</a:t>
            </a:r>
          </a:p>
        </p:txBody>
      </p:sp>
      <p:sp>
        <p:nvSpPr>
          <p:cNvPr id="7" name="文本框 6">
            <a:extLst>
              <a:ext uri="{FF2B5EF4-FFF2-40B4-BE49-F238E27FC236}">
                <a16:creationId xmlns:a16="http://schemas.microsoft.com/office/drawing/2014/main" id="{24A80F3B-C5CE-4457-9B0F-B7D39AF64911}"/>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pPr>
              <a:spcBef>
                <a:spcPct val="0"/>
              </a:spcBef>
              <a:buSzTx/>
              <a:buFontTx/>
              <a:buNone/>
            </a:pP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完整性</a:t>
            </a:r>
          </a:p>
        </p:txBody>
      </p:sp>
      <p:sp>
        <p:nvSpPr>
          <p:cNvPr id="8" name="文本框 7">
            <a:extLst>
              <a:ext uri="{FF2B5EF4-FFF2-40B4-BE49-F238E27FC236}">
                <a16:creationId xmlns:a16="http://schemas.microsoft.com/office/drawing/2014/main" id="{FA983CB1-162A-4087-8A52-4F553F7217F4}"/>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pPr>
              <a:spcBef>
                <a:spcPct val="0"/>
              </a:spcBef>
              <a:buSzTx/>
              <a:buFontTx/>
              <a:buNone/>
            </a:pP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并发控制 </a:t>
            </a:r>
          </a:p>
        </p:txBody>
      </p:sp>
      <p:sp>
        <p:nvSpPr>
          <p:cNvPr id="9" name="文本框 8">
            <a:extLst>
              <a:ext uri="{FF2B5EF4-FFF2-40B4-BE49-F238E27FC236}">
                <a16:creationId xmlns:a16="http://schemas.microsoft.com/office/drawing/2014/main" id="{4D84F3E2-4755-451F-A969-25BE5FEF5393}"/>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pPr>
              <a:spcBef>
                <a:spcPct val="0"/>
              </a:spcBef>
              <a:buSzTx/>
              <a:buFontTx/>
              <a:buNone/>
            </a:pP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恢复</a:t>
            </a:r>
          </a:p>
        </p:txBody>
      </p:sp>
      <p:sp>
        <p:nvSpPr>
          <p:cNvPr id="10" name="椭圆 9">
            <a:extLst>
              <a:ext uri="{FF2B5EF4-FFF2-40B4-BE49-F238E27FC236}">
                <a16:creationId xmlns:a16="http://schemas.microsoft.com/office/drawing/2014/main" id="{D3D7BCB8-A470-4572-9F48-DA27DB77510D}"/>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5F85CC0E-F58D-42FE-A128-A73FD44631FF}"/>
              </a:ext>
            </a:extLst>
          </p:cNvPr>
          <p:cNvSpPr>
            <a:spLocks noChangeAspect="1"/>
          </p:cNvSpPr>
          <p:nvPr>
            <p:custDataLst>
              <p:tags r:id="rId8"/>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EA77C498-1E02-49B9-9F99-8660540729CC}"/>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1C00366B-7543-4BB9-8985-076C6CED2F29}"/>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FB7FD59D-4455-4C81-A113-1AC2A297DA95}"/>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DAB566BF-0C83-4DB6-B3AC-384EBB6D8D4E}"/>
              </a:ext>
            </a:extLst>
          </p:cNvPr>
          <p:cNvGrpSpPr/>
          <p:nvPr>
            <p:custDataLst>
              <p:tags r:id="rId12"/>
            </p:custDataLst>
          </p:nvPr>
        </p:nvGrpSpPr>
        <p:grpSpPr>
          <a:xfrm>
            <a:off x="0" y="0"/>
            <a:ext cx="12192000" cy="635000"/>
            <a:chOff x="0" y="0"/>
            <a:chExt cx="12192000" cy="635000"/>
          </a:xfrm>
        </p:grpSpPr>
        <p:sp>
          <p:nvSpPr>
            <p:cNvPr id="15" name="TitleBackground">
              <a:extLst>
                <a:ext uri="{FF2B5EF4-FFF2-40B4-BE49-F238E27FC236}">
                  <a16:creationId xmlns:a16="http://schemas.microsoft.com/office/drawing/2014/main" id="{A46CE6F3-9CF5-40F8-9993-C3E34E7BAE8F}"/>
                </a:ext>
              </a:extLst>
            </p:cNvPr>
            <p:cNvSpPr/>
            <p:nvPr>
              <p:custDataLst>
                <p:tags r:id="rId14"/>
              </p:custDataLst>
            </p:nvPr>
          </p:nvSpPr>
          <p:spPr>
            <a:xfrm>
              <a:off x="0" y="0"/>
              <a:ext cx="12192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D2F64528-9298-4A5F-A467-E037DF59CC90}"/>
                </a:ext>
              </a:extLst>
            </p:cNvPr>
            <p:cNvSpPr/>
            <p:nvPr>
              <p:custDataLst>
                <p:tags r:id="rId15"/>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55A72578-F15C-4AF9-A769-508E2E26A1A3}"/>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a:extLst>
                <a:ext uri="{FF2B5EF4-FFF2-40B4-BE49-F238E27FC236}">
                  <a16:creationId xmlns:a16="http://schemas.microsoft.com/office/drawing/2014/main" id="{0F0C9143-4AC6-4915-A204-79ED4E781799}"/>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0488329C-2C34-4C2A-A3AF-35E49545C0C9}"/>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50370729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D5ABF7D-3665-4F67-86BB-1385FD37A0D5}"/>
              </a:ext>
            </a:extLst>
          </p:cNvPr>
          <p:cNvSpPr>
            <a:spLocks noGrp="1"/>
          </p:cNvSpPr>
          <p:nvPr>
            <p:ph type="sldNum" sz="quarter" idx="12"/>
          </p:nvPr>
        </p:nvSpPr>
        <p:spPr/>
        <p:txBody>
          <a:bodyPr/>
          <a:lstStyle/>
          <a:p>
            <a:fld id="{47C9E101-E51D-431E-84FA-C029B8655B60}" type="slidenum">
              <a:rPr lang="zh-CN" altLang="en-US" smtClean="0"/>
              <a:pPr/>
              <a:t>57</a:t>
            </a:fld>
            <a:endParaRPr lang="zh-CN" altLang="en-US" dirty="0"/>
          </a:p>
        </p:txBody>
      </p:sp>
      <p:sp>
        <p:nvSpPr>
          <p:cNvPr id="7" name="文本框 6">
            <a:extLst>
              <a:ext uri="{FF2B5EF4-FFF2-40B4-BE49-F238E27FC236}">
                <a16:creationId xmlns:a16="http://schemas.microsoft.com/office/drawing/2014/main" id="{1740109C-4965-408A-910E-9BDAF9F632C0}"/>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pPr>
              <a:lnSpc>
                <a:spcPct val="150000"/>
              </a:lnSpc>
            </a:pPr>
            <a:r>
              <a:rPr lang="zh-CN" altLang="en-US" sz="2800" dirty="0"/>
              <a:t>定义关系的主码意味着主码属性（ ）。</a:t>
            </a:r>
            <a:endParaRPr lang="en-US" altLang="zh-CN" sz="2800" dirty="0"/>
          </a:p>
        </p:txBody>
      </p:sp>
      <p:sp>
        <p:nvSpPr>
          <p:cNvPr id="8" name="文本框 7">
            <a:extLst>
              <a:ext uri="{FF2B5EF4-FFF2-40B4-BE49-F238E27FC236}">
                <a16:creationId xmlns:a16="http://schemas.microsoft.com/office/drawing/2014/main" id="{EB3025C9-A045-43C9-8C94-3D211A8B406D}"/>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800" dirty="0"/>
              <a:t>必须唯一</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2C1F2554-7C9E-401B-AFE0-F8DC881AC549}"/>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800" dirty="0"/>
              <a:t>不能为空</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EFF70F4C-0228-47BF-AC91-ABCB0821820B}"/>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800" dirty="0"/>
              <a:t>唯一且部分主码属性不能为空</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CB8DDC60-889B-4257-8A20-CD8DC4280408}"/>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800" dirty="0"/>
              <a:t>唯一且所有主码属性不能为空</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C7669D34-DA22-4DAD-8B6A-98CDCB8356A9}"/>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D1D32B41-F35B-4D07-965B-11C3273E5617}"/>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95D19DB9-1CC6-4C2D-97D0-FC9F6F14C19D}"/>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0C4126F6-30FD-48ED-B3EE-31794DC04DF1}"/>
              </a:ext>
            </a:extLst>
          </p:cNvPr>
          <p:cNvSpPr>
            <a:spLocks noChangeAspect="1"/>
          </p:cNvSpPr>
          <p:nvPr>
            <p:custDataLst>
              <p:tags r:id="rId10"/>
            </p:custDataLst>
          </p:nvPr>
        </p:nvSpPr>
        <p:spPr>
          <a:xfrm>
            <a:off x="15716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矩形: 圆角 15">
            <a:extLst>
              <a:ext uri="{FF2B5EF4-FFF2-40B4-BE49-F238E27FC236}">
                <a16:creationId xmlns:a16="http://schemas.microsoft.com/office/drawing/2014/main" id="{B4483408-763F-4EFC-AF57-40243D293BDB}"/>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a:extLst>
              <a:ext uri="{FF2B5EF4-FFF2-40B4-BE49-F238E27FC236}">
                <a16:creationId xmlns:a16="http://schemas.microsoft.com/office/drawing/2014/main" id="{CA36B713-7452-4FCC-9713-BA631A7FCA4F}"/>
              </a:ext>
            </a:extLst>
          </p:cNvPr>
          <p:cNvGrpSpPr/>
          <p:nvPr>
            <p:custDataLst>
              <p:tags r:id="rId12"/>
            </p:custDataLst>
          </p:nvPr>
        </p:nvGrpSpPr>
        <p:grpSpPr>
          <a:xfrm>
            <a:off x="0" y="0"/>
            <a:ext cx="12192000" cy="635000"/>
            <a:chOff x="0" y="0"/>
            <a:chExt cx="12192000" cy="635000"/>
          </a:xfrm>
        </p:grpSpPr>
        <p:sp>
          <p:nvSpPr>
            <p:cNvPr id="17" name="TitleBackground">
              <a:extLst>
                <a:ext uri="{FF2B5EF4-FFF2-40B4-BE49-F238E27FC236}">
                  <a16:creationId xmlns:a16="http://schemas.microsoft.com/office/drawing/2014/main" id="{7E95A9DB-6F86-4F14-B9C5-A60B510C4CD7}"/>
                </a:ext>
              </a:extLst>
            </p:cNvPr>
            <p:cNvSpPr/>
            <p:nvPr>
              <p:custDataLst>
                <p:tags r:id="rId14"/>
              </p:custDataLst>
            </p:nvPr>
          </p:nvSpPr>
          <p:spPr>
            <a:xfrm>
              <a:off x="0" y="0"/>
              <a:ext cx="12192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a:extLst>
                <a:ext uri="{FF2B5EF4-FFF2-40B4-BE49-F238E27FC236}">
                  <a16:creationId xmlns:a16="http://schemas.microsoft.com/office/drawing/2014/main" id="{1480B18A-193A-4A1A-A9DE-2ED00303C33B}"/>
                </a:ext>
              </a:extLst>
            </p:cNvPr>
            <p:cNvSpPr/>
            <p:nvPr>
              <p:custDataLst>
                <p:tags r:id="rId15"/>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a:extLst>
                <a:ext uri="{FF2B5EF4-FFF2-40B4-BE49-F238E27FC236}">
                  <a16:creationId xmlns:a16="http://schemas.microsoft.com/office/drawing/2014/main" id="{628BB1F7-A9E0-470C-AFE8-BBD7BF9EFBEE}"/>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a:extLst>
                <a:ext uri="{FF2B5EF4-FFF2-40B4-BE49-F238E27FC236}">
                  <a16:creationId xmlns:a16="http://schemas.microsoft.com/office/drawing/2014/main" id="{49920AD3-7A4A-46E3-A1E2-E081B155B8AB}"/>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102618B9-BDC8-4A7B-86BD-DFDC9FB8AD45}"/>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29805806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5059A84-4D2D-4A08-A16B-7900E61AC27A}"/>
              </a:ext>
            </a:extLst>
          </p:cNvPr>
          <p:cNvSpPr>
            <a:spLocks noGrp="1"/>
          </p:cNvSpPr>
          <p:nvPr>
            <p:ph type="sldNum" sz="quarter" idx="12"/>
          </p:nvPr>
        </p:nvSpPr>
        <p:spPr/>
        <p:txBody>
          <a:bodyPr/>
          <a:lstStyle/>
          <a:p>
            <a:fld id="{47C9E101-E51D-431E-84FA-C029B8655B60}" type="slidenum">
              <a:rPr lang="zh-CN" altLang="en-US" smtClean="0"/>
              <a:t>58</a:t>
            </a:fld>
            <a:endParaRPr lang="zh-CN" altLang="en-US"/>
          </a:p>
        </p:txBody>
      </p:sp>
      <p:sp>
        <p:nvSpPr>
          <p:cNvPr id="5" name="文本框 4">
            <a:extLst>
              <a:ext uri="{FF2B5EF4-FFF2-40B4-BE49-F238E27FC236}">
                <a16:creationId xmlns:a16="http://schemas.microsoft.com/office/drawing/2014/main" id="{DDC0B00A-24F2-4220-9D1B-B1B2BCAAF664}"/>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pPr>
              <a:lnSpc>
                <a:spcPct val="150000"/>
              </a:lnSpc>
            </a:pPr>
            <a:r>
              <a:rPr lang="zh-CN" altLang="en-US" sz="2400" dirty="0"/>
              <a:t>关于语句</a:t>
            </a:r>
            <a:r>
              <a:rPr lang="en-US" altLang="zh-CN" sz="2400" dirty="0"/>
              <a:t>CREATE TABLE R(no int, sum int CHECK(sum &gt; 0))</a:t>
            </a:r>
            <a:r>
              <a:rPr lang="zh-CN" altLang="en-US" sz="2400" dirty="0"/>
              <a:t>和</a:t>
            </a:r>
            <a:r>
              <a:rPr lang="en-US" altLang="zh-CN" sz="2400" dirty="0"/>
              <a:t>CREATE TABLE R(no int, sum int </a:t>
            </a:r>
            <a:r>
              <a:rPr lang="en-US" altLang="zh-CN" sz="2400" dirty="0">
                <a:solidFill>
                  <a:srgbClr val="FF0000"/>
                </a:solidFill>
              </a:rPr>
              <a:t>, </a:t>
            </a:r>
            <a:r>
              <a:rPr lang="en-US" altLang="zh-CN" sz="2400" dirty="0"/>
              <a:t>CHECK(sum &gt;0))</a:t>
            </a:r>
            <a:r>
              <a:rPr lang="zh-CN" altLang="en-US" sz="2400" dirty="0"/>
              <a:t>，以下说法</a:t>
            </a:r>
            <a:r>
              <a:rPr lang="zh-CN" altLang="en-US" sz="2400" dirty="0">
                <a:solidFill>
                  <a:srgbClr val="0000FF"/>
                </a:solidFill>
              </a:rPr>
              <a:t>不正确</a:t>
            </a:r>
            <a:r>
              <a:rPr lang="zh-CN" altLang="en-US" sz="2400" dirty="0"/>
              <a:t>的是（ ）。</a:t>
            </a:r>
            <a:endParaRPr lang="en-US" altLang="zh-CN" sz="2400" dirty="0"/>
          </a:p>
        </p:txBody>
      </p:sp>
      <p:sp>
        <p:nvSpPr>
          <p:cNvPr id="6" name="文本框 5">
            <a:extLst>
              <a:ext uri="{FF2B5EF4-FFF2-40B4-BE49-F238E27FC236}">
                <a16:creationId xmlns:a16="http://schemas.microsoft.com/office/drawing/2014/main" id="{29A6AD66-7576-4DF6-BB62-0F81341AC497}"/>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800" dirty="0"/>
              <a:t>两条语句都是合法的</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6E9CC04F-9AA3-4516-9017-1B37C0AAA735}"/>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800" dirty="0"/>
              <a:t>前者定义了属性上的约束条件，后者定义了元组上的约束条件</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26421EB9-0CA4-4C97-B9A0-BC652B42E00B}"/>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800" dirty="0"/>
              <a:t>两条语句的约束效果不一样</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6831ACB9-A48F-482C-9D73-99970779F15D}"/>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800" dirty="0"/>
              <a:t>当</a:t>
            </a:r>
            <a:r>
              <a:rPr lang="en-US" altLang="zh-CN" sz="2800" dirty="0"/>
              <a:t>sum</a:t>
            </a:r>
            <a:r>
              <a:rPr lang="zh-CN" altLang="en-US" sz="2800" dirty="0"/>
              <a:t>属性改变时检查，上述两种</a:t>
            </a:r>
            <a:r>
              <a:rPr lang="en-US" altLang="zh-CN" sz="2800" dirty="0"/>
              <a:t>CHECK</a:t>
            </a:r>
            <a:r>
              <a:rPr lang="zh-CN" altLang="en-US" sz="2800" dirty="0"/>
              <a:t>约束都要被检查</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12A460CF-AE66-4E88-BB0B-3771BD17F2D1}"/>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4828DED1-A3BB-465D-B2E4-2B40968A73CA}"/>
              </a:ext>
            </a:extLst>
          </p:cNvPr>
          <p:cNvSpPr>
            <a:spLocks noChangeAspect="1"/>
          </p:cNvSpPr>
          <p:nvPr>
            <p:custDataLst>
              <p:tags r:id="rId8"/>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12E17B6B-E9FC-4148-B61E-EF1E0A0A5CF9}"/>
              </a:ext>
            </a:extLst>
          </p:cNvPr>
          <p:cNvSpPr>
            <a:spLocks noChangeAspect="1"/>
          </p:cNvSpPr>
          <p:nvPr>
            <p:custDataLst>
              <p:tags r:id="rId9"/>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1FB22176-817E-472B-B51F-AF1A5B881B20}"/>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83BC4F1D-2898-4F51-939F-D54A2F251714}"/>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C05CB8C4-0D42-47F6-97D3-F95D37B57BFD}"/>
              </a:ext>
            </a:extLst>
          </p:cNvPr>
          <p:cNvGrpSpPr/>
          <p:nvPr>
            <p:custDataLst>
              <p:tags r:id="rId12"/>
            </p:custDataLst>
          </p:nvPr>
        </p:nvGrpSpPr>
        <p:grpSpPr>
          <a:xfrm>
            <a:off x="0" y="0"/>
            <a:ext cx="12192000" cy="635000"/>
            <a:chOff x="0" y="0"/>
            <a:chExt cx="12192000" cy="635000"/>
          </a:xfrm>
        </p:grpSpPr>
        <p:sp>
          <p:nvSpPr>
            <p:cNvPr id="15" name="TitleBackground">
              <a:extLst>
                <a:ext uri="{FF2B5EF4-FFF2-40B4-BE49-F238E27FC236}">
                  <a16:creationId xmlns:a16="http://schemas.microsoft.com/office/drawing/2014/main" id="{824ACEB6-A3F3-488A-B7E0-828E590BAB7B}"/>
                </a:ext>
              </a:extLst>
            </p:cNvPr>
            <p:cNvSpPr/>
            <p:nvPr>
              <p:custDataLst>
                <p:tags r:id="rId14"/>
              </p:custDataLst>
            </p:nvPr>
          </p:nvSpPr>
          <p:spPr>
            <a:xfrm>
              <a:off x="0" y="0"/>
              <a:ext cx="12192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B87769A0-2A75-48E1-AAA3-461B38C970B4}"/>
                </a:ext>
              </a:extLst>
            </p:cNvPr>
            <p:cNvSpPr/>
            <p:nvPr>
              <p:custDataLst>
                <p:tags r:id="rId15"/>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D5F02F9B-0254-4407-ACCC-BD800BEDF0A0}"/>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a:extLst>
                <a:ext uri="{FF2B5EF4-FFF2-40B4-BE49-F238E27FC236}">
                  <a16:creationId xmlns:a16="http://schemas.microsoft.com/office/drawing/2014/main" id="{F0E2832F-674A-4491-B30B-A46F1F89564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0EA9EC6C-EC89-4706-886F-2E1AC455F029}"/>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58025177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73B9C49-131D-4716-A319-A8DC30A20A3E}"/>
              </a:ext>
            </a:extLst>
          </p:cNvPr>
          <p:cNvSpPr>
            <a:spLocks noGrp="1"/>
          </p:cNvSpPr>
          <p:nvPr>
            <p:ph type="sldNum" sz="quarter" idx="12"/>
          </p:nvPr>
        </p:nvSpPr>
        <p:spPr/>
        <p:txBody>
          <a:bodyPr/>
          <a:lstStyle/>
          <a:p>
            <a:fld id="{47C9E101-E51D-431E-84FA-C029B8655B60}" type="slidenum">
              <a:rPr lang="zh-CN" altLang="en-US" smtClean="0"/>
              <a:t>59</a:t>
            </a:fld>
            <a:endParaRPr lang="zh-CN" altLang="en-US"/>
          </a:p>
        </p:txBody>
      </p:sp>
      <p:sp>
        <p:nvSpPr>
          <p:cNvPr id="5" name="文本框 4">
            <a:extLst>
              <a:ext uri="{FF2B5EF4-FFF2-40B4-BE49-F238E27FC236}">
                <a16:creationId xmlns:a16="http://schemas.microsoft.com/office/drawing/2014/main" id="{81661541-716D-4AE7-A9E2-23F1EFF35369}"/>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pPr>
              <a:lnSpc>
                <a:spcPct val="150000"/>
              </a:lnSpc>
            </a:pPr>
            <a:r>
              <a:rPr lang="zh-CN" altLang="en-US" sz="2800" dirty="0"/>
              <a:t>下列说法正确的是（ ）。</a:t>
            </a:r>
            <a:endParaRPr lang="en-US" altLang="zh-CN" sz="2800" dirty="0"/>
          </a:p>
        </p:txBody>
      </p:sp>
      <p:sp>
        <p:nvSpPr>
          <p:cNvPr id="6" name="文本框 5">
            <a:extLst>
              <a:ext uri="{FF2B5EF4-FFF2-40B4-BE49-F238E27FC236}">
                <a16:creationId xmlns:a16="http://schemas.microsoft.com/office/drawing/2014/main" id="{2044DA4A-D03D-45BC-A1B3-BC0705316F14}"/>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800" dirty="0"/>
              <a:t>使用</a:t>
            </a:r>
            <a:r>
              <a:rPr lang="en-US" altLang="zh-CN" sz="2800" dirty="0"/>
              <a:t>ALTER TABLE ADD CONSTRAINT </a:t>
            </a:r>
            <a:r>
              <a:rPr lang="zh-CN" altLang="en-US" sz="2800" dirty="0"/>
              <a:t>可以增加基于元组的约束</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10DA84E0-B03E-4EB1-8B31-92093E36A9EC}"/>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pPr>
              <a:lnSpc>
                <a:spcPct val="150000"/>
              </a:lnSpc>
            </a:pPr>
            <a:r>
              <a:rPr lang="zh-CN" altLang="en-US" sz="2800" dirty="0"/>
              <a:t>如果属性</a:t>
            </a:r>
            <a:r>
              <a:rPr lang="en-US" altLang="zh-CN" sz="2800" dirty="0"/>
              <a:t>A</a:t>
            </a:r>
            <a:r>
              <a:rPr lang="zh-CN" altLang="en-US" sz="2800" dirty="0"/>
              <a:t>上定义了</a:t>
            </a:r>
            <a:r>
              <a:rPr lang="en-US" altLang="zh-CN" sz="2800" dirty="0"/>
              <a:t>UNIQUE</a:t>
            </a:r>
            <a:r>
              <a:rPr lang="zh-CN" altLang="en-US" sz="2800" dirty="0"/>
              <a:t>约束，则</a:t>
            </a:r>
            <a:r>
              <a:rPr lang="en-US" altLang="zh-CN" sz="2800" dirty="0"/>
              <a:t>A</a:t>
            </a:r>
            <a:r>
              <a:rPr lang="zh-CN" altLang="en-US" sz="2800" dirty="0"/>
              <a:t>不可以为空</a:t>
            </a:r>
            <a:endParaRPr lang="en-US" altLang="zh-CN" sz="2800" dirty="0"/>
          </a:p>
        </p:txBody>
      </p:sp>
      <p:sp>
        <p:nvSpPr>
          <p:cNvPr id="8" name="文本框 7">
            <a:extLst>
              <a:ext uri="{FF2B5EF4-FFF2-40B4-BE49-F238E27FC236}">
                <a16:creationId xmlns:a16="http://schemas.microsoft.com/office/drawing/2014/main" id="{62068BEE-3C7B-4306-B790-7FC7EF61CED8}"/>
              </a:ext>
            </a:extLst>
          </p:cNvPr>
          <p:cNvSpPr txBox="1"/>
          <p:nvPr>
            <p:custDataLst>
              <p:tags r:id="rId5"/>
            </p:custDataLst>
          </p:nvPr>
        </p:nvSpPr>
        <p:spPr>
          <a:xfrm>
            <a:off x="2433662" y="4396332"/>
            <a:ext cx="8534400" cy="642938"/>
          </a:xfrm>
          <a:prstGeom prst="rect">
            <a:avLst/>
          </a:prstGeom>
          <a:noFill/>
        </p:spPr>
        <p:txBody>
          <a:bodyPr vert="horz" rtlCol="0" anchor="ctr" anchorCtr="0">
            <a:noAutofit/>
          </a:bodyPr>
          <a:lstStyle/>
          <a:p>
            <a:pPr>
              <a:lnSpc>
                <a:spcPct val="150000"/>
              </a:lnSpc>
            </a:pPr>
            <a:r>
              <a:rPr lang="zh-CN" altLang="en-US" sz="2800" dirty="0"/>
              <a:t>如果属性</a:t>
            </a:r>
            <a:r>
              <a:rPr lang="en-US" altLang="zh-CN" sz="2800" dirty="0"/>
              <a:t>A</a:t>
            </a:r>
            <a:r>
              <a:rPr lang="zh-CN" altLang="en-US" sz="2800" dirty="0"/>
              <a:t>上定义了外码约束，则</a:t>
            </a:r>
            <a:r>
              <a:rPr lang="en-US" altLang="zh-CN" sz="2800" dirty="0"/>
              <a:t>A</a:t>
            </a:r>
            <a:r>
              <a:rPr lang="zh-CN" altLang="en-US" sz="2800" dirty="0"/>
              <a:t>不可以为空</a:t>
            </a:r>
            <a:endParaRPr lang="en-US" altLang="zh-CN" sz="2800" dirty="0"/>
          </a:p>
        </p:txBody>
      </p:sp>
      <p:sp>
        <p:nvSpPr>
          <p:cNvPr id="9" name="文本框 8">
            <a:extLst>
              <a:ext uri="{FF2B5EF4-FFF2-40B4-BE49-F238E27FC236}">
                <a16:creationId xmlns:a16="http://schemas.microsoft.com/office/drawing/2014/main" id="{AE286D44-ACC1-45CF-AAF0-76E0888C5123}"/>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800" dirty="0"/>
              <a:t>不能使用</a:t>
            </a:r>
            <a:r>
              <a:rPr lang="en-US" altLang="zh-CN" sz="2800" dirty="0"/>
              <a:t>ALTER TABLE ADD CONSTRAINT</a:t>
            </a:r>
            <a:r>
              <a:rPr lang="zh-CN" altLang="en-US" sz="2800" dirty="0"/>
              <a:t>增加主码约束</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4D5DF560-BBCE-4EF3-8808-2726CC0AA9D7}"/>
              </a:ext>
            </a:extLst>
          </p:cNvPr>
          <p:cNvSpPr>
            <a:spLocks noChangeAspect="1"/>
          </p:cNvSpPr>
          <p:nvPr>
            <p:custDataLst>
              <p:tags r:id="rId7"/>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F8EB6FC3-A003-4D49-8D7A-1F843357485E}"/>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243ABFDC-60AD-424F-8782-EBD4CEC95AB7}"/>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0937DC12-8F0B-4026-A212-316BC9CA292F}"/>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4627FFC5-D46A-4F84-904F-BE40BAA13A0E}"/>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30F6231B-CA1D-4A80-A1C9-E1398E2F9B04}"/>
              </a:ext>
            </a:extLst>
          </p:cNvPr>
          <p:cNvGrpSpPr/>
          <p:nvPr>
            <p:custDataLst>
              <p:tags r:id="rId12"/>
            </p:custDataLst>
          </p:nvPr>
        </p:nvGrpSpPr>
        <p:grpSpPr>
          <a:xfrm>
            <a:off x="0" y="0"/>
            <a:ext cx="12192000" cy="635000"/>
            <a:chOff x="0" y="37903"/>
            <a:chExt cx="12192000" cy="635000"/>
          </a:xfrm>
        </p:grpSpPr>
        <p:sp>
          <p:nvSpPr>
            <p:cNvPr id="15" name="TitleBackground">
              <a:extLst>
                <a:ext uri="{FF2B5EF4-FFF2-40B4-BE49-F238E27FC236}">
                  <a16:creationId xmlns:a16="http://schemas.microsoft.com/office/drawing/2014/main" id="{93165EF8-516F-463D-AA3E-4991D74265B2}"/>
                </a:ext>
              </a:extLst>
            </p:cNvPr>
            <p:cNvSpPr/>
            <p:nvPr>
              <p:custDataLst>
                <p:tags r:id="rId14"/>
              </p:custDataLst>
            </p:nvPr>
          </p:nvSpPr>
          <p:spPr>
            <a:xfrm>
              <a:off x="0" y="37903"/>
              <a:ext cx="12192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E587F428-02CC-49A3-BD2F-8B3DDE803494}"/>
                </a:ext>
              </a:extLst>
            </p:cNvPr>
            <p:cNvSpPr/>
            <p:nvPr>
              <p:custDataLst>
                <p:tags r:id="rId15"/>
              </p:custDataLst>
            </p:nvPr>
          </p:nvSpPr>
          <p:spPr>
            <a:xfrm>
              <a:off x="0" y="37903"/>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79CC37F2-48BE-44EE-AE87-91EC578BC803}"/>
                </a:ext>
              </a:extLst>
            </p:cNvPr>
            <p:cNvSpPr txBox="1"/>
            <p:nvPr>
              <p:custDataLst>
                <p:tags r:id="rId16"/>
              </p:custDataLst>
            </p:nvPr>
          </p:nvSpPr>
          <p:spPr>
            <a:xfrm>
              <a:off x="254000" y="37903"/>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a:extLst>
                <a:ext uri="{FF2B5EF4-FFF2-40B4-BE49-F238E27FC236}">
                  <a16:creationId xmlns:a16="http://schemas.microsoft.com/office/drawing/2014/main" id="{A14C809E-DAD5-4BDB-A383-F2AE3C88FC8F}"/>
                </a:ext>
              </a:extLst>
            </p:cNvPr>
            <p:cNvSpPr txBox="1"/>
            <p:nvPr>
              <p:custDataLst>
                <p:tags r:id="rId17"/>
              </p:custDataLst>
            </p:nvPr>
          </p:nvSpPr>
          <p:spPr>
            <a:xfrm>
              <a:off x="1525905" y="147123"/>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9D1A1393-D50C-4565-A16B-71C0B54FBB02}"/>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74371085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a:extLst>
              <a:ext uri="{FF2B5EF4-FFF2-40B4-BE49-F238E27FC236}">
                <a16:creationId xmlns:a16="http://schemas.microsoft.com/office/drawing/2014/main" id="{B865F002-FCB9-452D-B70E-634F6C75482A}"/>
              </a:ext>
            </a:extLst>
          </p:cNvPr>
          <p:cNvSpPr>
            <a:spLocks noGrp="1" noChangeArrowheads="1"/>
          </p:cNvSpPr>
          <p:nvPr>
            <p:ph type="title"/>
          </p:nvPr>
        </p:nvSpPr>
        <p:spPr/>
        <p:txBody>
          <a:bodyPr/>
          <a:lstStyle/>
          <a:p>
            <a:r>
              <a:rPr lang="en-US" altLang="zh-CN" dirty="0"/>
              <a:t>5.8  </a:t>
            </a:r>
            <a:r>
              <a:rPr lang="zh-CN" altLang="en-US" dirty="0"/>
              <a:t>小结</a:t>
            </a:r>
          </a:p>
        </p:txBody>
      </p:sp>
      <p:sp>
        <p:nvSpPr>
          <p:cNvPr id="478211" name="Rectangle 3">
            <a:extLst>
              <a:ext uri="{FF2B5EF4-FFF2-40B4-BE49-F238E27FC236}">
                <a16:creationId xmlns:a16="http://schemas.microsoft.com/office/drawing/2014/main" id="{605DB924-DF0E-41C1-82D0-86049657361A}"/>
              </a:ext>
            </a:extLst>
          </p:cNvPr>
          <p:cNvSpPr>
            <a:spLocks noGrp="1" noChangeArrowheads="1"/>
          </p:cNvSpPr>
          <p:nvPr>
            <p:ph idx="1"/>
          </p:nvPr>
        </p:nvSpPr>
        <p:spPr/>
        <p:txBody>
          <a:bodyPr/>
          <a:lstStyle/>
          <a:p>
            <a:r>
              <a:rPr lang="zh-CN" altLang="en-US" dirty="0"/>
              <a:t>数据库的完整性是为了保证数据库中存储的数据是</a:t>
            </a:r>
            <a:r>
              <a:rPr lang="zh-CN" altLang="en-US" dirty="0">
                <a:solidFill>
                  <a:srgbClr val="C00000"/>
                </a:solidFill>
              </a:rPr>
              <a:t>正确和相容的</a:t>
            </a:r>
          </a:p>
          <a:p>
            <a:endParaRPr lang="en-US" altLang="zh-CN" dirty="0"/>
          </a:p>
          <a:p>
            <a:r>
              <a:rPr lang="zh-CN" altLang="en-US" dirty="0"/>
              <a:t>关系数据库管理系统完整性实现的机制</a:t>
            </a:r>
          </a:p>
          <a:p>
            <a:pPr lvl="1"/>
            <a:r>
              <a:rPr lang="zh-CN" altLang="en-US" dirty="0">
                <a:solidFill>
                  <a:srgbClr val="C00000"/>
                </a:solidFill>
              </a:rPr>
              <a:t>完整性约束定义机制</a:t>
            </a:r>
          </a:p>
          <a:p>
            <a:pPr lvl="1"/>
            <a:r>
              <a:rPr lang="zh-CN" altLang="en-US" dirty="0">
                <a:solidFill>
                  <a:srgbClr val="C00000"/>
                </a:solidFill>
              </a:rPr>
              <a:t>完整性检查机制</a:t>
            </a:r>
          </a:p>
          <a:p>
            <a:pPr lvl="1"/>
            <a:r>
              <a:rPr lang="zh-CN" altLang="en-US" dirty="0">
                <a:solidFill>
                  <a:srgbClr val="C00000"/>
                </a:solidFill>
              </a:rPr>
              <a:t>违背完整性约束条件时关系数据库管理系统应采取的动作</a:t>
            </a:r>
            <a:endParaRPr lang="en-US" altLang="zh-CN" dirty="0">
              <a:solidFill>
                <a:srgbClr val="C00000"/>
              </a:solidFill>
            </a:endParaRPr>
          </a:p>
        </p:txBody>
      </p:sp>
      <p:sp>
        <p:nvSpPr>
          <p:cNvPr id="2" name="灯片编号占位符 1">
            <a:extLst>
              <a:ext uri="{FF2B5EF4-FFF2-40B4-BE49-F238E27FC236}">
                <a16:creationId xmlns:a16="http://schemas.microsoft.com/office/drawing/2014/main" id="{5FBEC2D9-C46F-4851-8081-1F0195E397A2}"/>
              </a:ext>
            </a:extLst>
          </p:cNvPr>
          <p:cNvSpPr>
            <a:spLocks noGrp="1"/>
          </p:cNvSpPr>
          <p:nvPr>
            <p:ph type="sldNum" sz="quarter" idx="12"/>
          </p:nvPr>
        </p:nvSpPr>
        <p:spPr/>
        <p:txBody>
          <a:bodyPr/>
          <a:lstStyle/>
          <a:p>
            <a:fld id="{47C9E101-E51D-431E-84FA-C029B8655B60}" type="slidenum">
              <a:rPr lang="zh-CN" altLang="en-US" smtClean="0"/>
              <a:pPr/>
              <a:t>60</a:t>
            </a:fld>
            <a:endParaRPr lang="zh-CN" altLang="en-US"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730da304-3c2b-4ad7-b90a-47bab58f93fc}"/>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8920bc82-71f0-4602-b401-5e85119ec6f6}"/>
  <p:tag name="TABLE_ENDDRAG_ORIGIN_RECT" val="112*141"/>
  <p:tag name="TABLE_ENDDRAG_RECT" val="310*201*112*141"/>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d41c0760-0296-4323-b31c-dec1a36a67a1}"/>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06c9dc49-93e2-4e2e-b94e-9b5a3dafb100}"/>
</p:tagLst>
</file>

<file path=ppt/tags/tag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44546A"/>
      </a:dk2>
      <a:lt2>
        <a:srgbClr val="E7E6E6"/>
      </a:lt2>
      <a:accent1>
        <a:srgbClr val="0070C0"/>
      </a:accent1>
      <a:accent2>
        <a:srgbClr val="07C1CC"/>
      </a:accent2>
      <a:accent3>
        <a:srgbClr val="839192"/>
      </a:accent3>
      <a:accent4>
        <a:srgbClr val="156595"/>
      </a:accent4>
      <a:accent5>
        <a:srgbClr val="FBD78D"/>
      </a:accent5>
      <a:accent6>
        <a:srgbClr val="F25237"/>
      </a:accent6>
      <a:hlink>
        <a:srgbClr val="0563C1"/>
      </a:hlink>
      <a:folHlink>
        <a:srgbClr val="954F7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B.potx" id="{71FE36DE-E8EE-4572-B7AD-2FD59B46D774}" vid="{27F9D4F0-F007-4654-8CDF-2D6BB615FE1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Template>
  <TotalTime>1284</TotalTime>
  <Words>5076</Words>
  <Application>Microsoft Office PowerPoint</Application>
  <PresentationFormat>宽屏</PresentationFormat>
  <Paragraphs>916</Paragraphs>
  <Slides>60</Slides>
  <Notes>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60</vt:i4>
      </vt:variant>
    </vt:vector>
  </HeadingPairs>
  <TitlesOfParts>
    <vt:vector size="77" baseType="lpstr">
      <vt:lpstr>HuaweiSans</vt:lpstr>
      <vt:lpstr>Microsoft Yahei</vt:lpstr>
      <vt:lpstr>Monotype Sorts</vt:lpstr>
      <vt:lpstr>等线</vt:lpstr>
      <vt:lpstr>黑体</vt:lpstr>
      <vt:lpstr>楷体_GB2312</vt:lpstr>
      <vt:lpstr>宋体</vt:lpstr>
      <vt:lpstr>微软雅黑</vt:lpstr>
      <vt:lpstr>微软雅黑 Light</vt:lpstr>
      <vt:lpstr>Arial</vt:lpstr>
      <vt:lpstr>Calibri</vt:lpstr>
      <vt:lpstr>Courier New</vt:lpstr>
      <vt:lpstr>Helvetica</vt:lpstr>
      <vt:lpstr>Tahoma</vt:lpstr>
      <vt:lpstr>Times New Roman</vt:lpstr>
      <vt:lpstr>Wingdings</vt:lpstr>
      <vt:lpstr>Office 主题</vt:lpstr>
      <vt:lpstr> 第五章  数据库完整性</vt:lpstr>
      <vt:lpstr>第五章 数据库完整性</vt:lpstr>
      <vt:lpstr>数据库完整性</vt:lpstr>
      <vt:lpstr>数据库完整性(续)</vt:lpstr>
      <vt:lpstr>数据库完整性(续)</vt:lpstr>
      <vt:lpstr>数据库完整性(续)</vt:lpstr>
      <vt:lpstr>5.1 实体完整性</vt:lpstr>
      <vt:lpstr>5.1.1 实体完整性定义</vt:lpstr>
      <vt:lpstr>实体完整性定义(续)</vt:lpstr>
      <vt:lpstr>实体完整性定义(续)</vt:lpstr>
      <vt:lpstr>5.1.2 实体完整性检查和违约处理</vt:lpstr>
      <vt:lpstr>实体完整性检查和违约处理(续)</vt:lpstr>
      <vt:lpstr>实体完整性检查和违约处理(续)</vt:lpstr>
      <vt:lpstr>5.2  参照完整性</vt:lpstr>
      <vt:lpstr>5.2.1 参照完整性定义</vt:lpstr>
      <vt:lpstr>参照完整性定义(续)</vt:lpstr>
      <vt:lpstr>参照完整性检查和违约处理</vt:lpstr>
      <vt:lpstr>参照完整性检查和违约处理(续)</vt:lpstr>
      <vt:lpstr>违约处理</vt:lpstr>
      <vt:lpstr>违约处理(续)</vt:lpstr>
      <vt:lpstr>openGauss参照完整性处理规则</vt:lpstr>
      <vt:lpstr>openGauss外部码约束</vt:lpstr>
      <vt:lpstr>RESTRICT方式</vt:lpstr>
      <vt:lpstr>CASCADE方式</vt:lpstr>
      <vt:lpstr>SET NULL方式</vt:lpstr>
      <vt:lpstr>SET DEFAULT方式</vt:lpstr>
      <vt:lpstr>例子</vt:lpstr>
      <vt:lpstr>外部码约束</vt:lpstr>
      <vt:lpstr>5.3  用户定义的完整性</vt:lpstr>
      <vt:lpstr>5.3.1 属性上的约束条件的定义</vt:lpstr>
      <vt:lpstr>属性上的约束条件的定义(续)</vt:lpstr>
      <vt:lpstr>属性上的约束条件的定义(续)</vt:lpstr>
      <vt:lpstr>属性上的约束条件的定义(续)</vt:lpstr>
      <vt:lpstr>属性上的约束条件的定义(续)</vt:lpstr>
      <vt:lpstr>属性上的约束条件检查和违约处理</vt:lpstr>
      <vt:lpstr>5.3.2 元组上的约束条件的定义</vt:lpstr>
      <vt:lpstr>元组上的约束条件的定义(续)</vt:lpstr>
      <vt:lpstr>元组上的约束条件检查和违约处理</vt:lpstr>
      <vt:lpstr>5.4  完整性约束命名子句</vt:lpstr>
      <vt:lpstr>5.4  完整性约束命名子句</vt:lpstr>
      <vt:lpstr>5.4  完整性约束命名子句</vt:lpstr>
      <vt:lpstr>完整性约束命名子句(续)</vt:lpstr>
      <vt:lpstr>完整性约束命名子句(续)</vt:lpstr>
      <vt:lpstr>openGauss典型约束示例</vt:lpstr>
      <vt:lpstr>5.7  触发器</vt:lpstr>
      <vt:lpstr>5.7.1 定义触发器</vt:lpstr>
      <vt:lpstr>定义触发器(续)</vt:lpstr>
      <vt:lpstr>定义触发器(续)</vt:lpstr>
      <vt:lpstr>定义触发器(续)</vt:lpstr>
      <vt:lpstr>定义触发器(续)</vt:lpstr>
      <vt:lpstr>定义触发器(续)</vt:lpstr>
      <vt:lpstr>5.7.2 激活触发器</vt:lpstr>
      <vt:lpstr>5.7.3 删除触发器</vt:lpstr>
      <vt:lpstr>openGauss触发器</vt:lpstr>
      <vt:lpstr>PowerPoint 演示文稿</vt:lpstr>
      <vt:lpstr>PowerPoint 演示文稿</vt:lpstr>
      <vt:lpstr>PowerPoint 演示文稿</vt:lpstr>
      <vt:lpstr>PowerPoint 演示文稿</vt:lpstr>
      <vt:lpstr>PowerPoint 演示文稿</vt:lpstr>
      <vt:lpstr>5.8  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数据库原理及应用</dc:title>
  <dc:creator>Miao</dc:creator>
  <cp:lastModifiedBy>Windows 用户</cp:lastModifiedBy>
  <cp:revision>120</cp:revision>
  <cp:lastPrinted>2021-11-10T03:59:04Z</cp:lastPrinted>
  <dcterms:created xsi:type="dcterms:W3CDTF">2021-08-17T08:04:31Z</dcterms:created>
  <dcterms:modified xsi:type="dcterms:W3CDTF">2023-11-14T01:40:55Z</dcterms:modified>
</cp:coreProperties>
</file>