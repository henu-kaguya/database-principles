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tmp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8" r:id="rId1"/>
  </p:sldMasterIdLst>
  <p:notesMasterIdLst>
    <p:notesMasterId r:id="rId103"/>
  </p:notesMasterIdLst>
  <p:sldIdLst>
    <p:sldId id="256" r:id="rId2"/>
    <p:sldId id="579" r:id="rId3"/>
    <p:sldId id="542" r:id="rId4"/>
    <p:sldId id="543" r:id="rId5"/>
    <p:sldId id="546" r:id="rId6"/>
    <p:sldId id="548" r:id="rId7"/>
    <p:sldId id="884" r:id="rId8"/>
    <p:sldId id="551" r:id="rId9"/>
    <p:sldId id="553" r:id="rId10"/>
    <p:sldId id="329" r:id="rId11"/>
    <p:sldId id="885" r:id="rId12"/>
    <p:sldId id="554" r:id="rId13"/>
    <p:sldId id="556" r:id="rId14"/>
    <p:sldId id="682" r:id="rId15"/>
    <p:sldId id="557" r:id="rId16"/>
    <p:sldId id="558" r:id="rId17"/>
    <p:sldId id="559" r:id="rId18"/>
    <p:sldId id="560" r:id="rId19"/>
    <p:sldId id="315" r:id="rId20"/>
    <p:sldId id="886" r:id="rId21"/>
    <p:sldId id="562" r:id="rId22"/>
    <p:sldId id="563" r:id="rId23"/>
    <p:sldId id="564" r:id="rId24"/>
    <p:sldId id="566" r:id="rId25"/>
    <p:sldId id="887" r:id="rId26"/>
    <p:sldId id="567" r:id="rId27"/>
    <p:sldId id="684" r:id="rId28"/>
    <p:sldId id="568" r:id="rId29"/>
    <p:sldId id="569" r:id="rId30"/>
    <p:sldId id="570" r:id="rId31"/>
    <p:sldId id="571" r:id="rId32"/>
    <p:sldId id="883" r:id="rId33"/>
    <p:sldId id="574" r:id="rId34"/>
    <p:sldId id="576" r:id="rId35"/>
    <p:sldId id="1003" r:id="rId36"/>
    <p:sldId id="581" r:id="rId37"/>
    <p:sldId id="889" r:id="rId38"/>
    <p:sldId id="586" r:id="rId39"/>
    <p:sldId id="587" r:id="rId40"/>
    <p:sldId id="592" r:id="rId41"/>
    <p:sldId id="685" r:id="rId42"/>
    <p:sldId id="1002" r:id="rId43"/>
    <p:sldId id="588" r:id="rId44"/>
    <p:sldId id="890" r:id="rId45"/>
    <p:sldId id="591" r:id="rId46"/>
    <p:sldId id="1004" r:id="rId47"/>
    <p:sldId id="359" r:id="rId48"/>
    <p:sldId id="360" r:id="rId49"/>
    <p:sldId id="1023" r:id="rId50"/>
    <p:sldId id="594" r:id="rId51"/>
    <p:sldId id="598" r:id="rId52"/>
    <p:sldId id="600" r:id="rId53"/>
    <p:sldId id="601" r:id="rId54"/>
    <p:sldId id="688" r:id="rId55"/>
    <p:sldId id="1005" r:id="rId56"/>
    <p:sldId id="999" r:id="rId57"/>
    <p:sldId id="1000" r:id="rId58"/>
    <p:sldId id="1001" r:id="rId59"/>
    <p:sldId id="603" r:id="rId60"/>
    <p:sldId id="998" r:id="rId61"/>
    <p:sldId id="1008" r:id="rId62"/>
    <p:sldId id="368" r:id="rId63"/>
    <p:sldId id="1007" r:id="rId64"/>
    <p:sldId id="610" r:id="rId65"/>
    <p:sldId id="373" r:id="rId66"/>
    <p:sldId id="372" r:id="rId67"/>
    <p:sldId id="988" r:id="rId68"/>
    <p:sldId id="997" r:id="rId69"/>
    <p:sldId id="991" r:id="rId70"/>
    <p:sldId id="995" r:id="rId71"/>
    <p:sldId id="996" r:id="rId72"/>
    <p:sldId id="1010" r:id="rId73"/>
    <p:sldId id="613" r:id="rId74"/>
    <p:sldId id="378" r:id="rId75"/>
    <p:sldId id="1011" r:id="rId76"/>
    <p:sldId id="406" r:id="rId77"/>
    <p:sldId id="1013" r:id="rId78"/>
    <p:sldId id="622" r:id="rId79"/>
    <p:sldId id="624" r:id="rId80"/>
    <p:sldId id="380" r:id="rId81"/>
    <p:sldId id="381" r:id="rId82"/>
    <p:sldId id="382" r:id="rId83"/>
    <p:sldId id="630" r:id="rId84"/>
    <p:sldId id="1014" r:id="rId85"/>
    <p:sldId id="1015" r:id="rId86"/>
    <p:sldId id="1024" r:id="rId87"/>
    <p:sldId id="392" r:id="rId88"/>
    <p:sldId id="393" r:id="rId89"/>
    <p:sldId id="1016" r:id="rId90"/>
    <p:sldId id="385" r:id="rId91"/>
    <p:sldId id="1018" r:id="rId92"/>
    <p:sldId id="407" r:id="rId93"/>
    <p:sldId id="408" r:id="rId94"/>
    <p:sldId id="409" r:id="rId95"/>
    <p:sldId id="389" r:id="rId96"/>
    <p:sldId id="1019" r:id="rId97"/>
    <p:sldId id="1022" r:id="rId98"/>
    <p:sldId id="752" r:id="rId99"/>
    <p:sldId id="1021" r:id="rId100"/>
    <p:sldId id="320" r:id="rId101"/>
    <p:sldId id="396" r:id="rId102"/>
  </p:sldIdLst>
  <p:sldSz cx="12192000" cy="6858000"/>
  <p:notesSz cx="9866313" cy="673576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4E2E5"/>
    <a:srgbClr val="34A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6722" autoAdjust="0"/>
  </p:normalViewPr>
  <p:slideViewPr>
    <p:cSldViewPr snapToGrid="0">
      <p:cViewPr varScale="1">
        <p:scale>
          <a:sx n="77" d="100"/>
          <a:sy n="77" d="100"/>
        </p:scale>
        <p:origin x="-10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588628" y="0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0E76F-B0B7-4B7D-99A2-1AE4E5003A85}" type="datetimeFigureOut">
              <a:rPr lang="zh-CN" altLang="en-US" smtClean="0"/>
              <a:t>2023-12-05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86632" y="3241586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CED3-A290-4E4D-B94F-B458FF2BD3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07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913063" y="841375"/>
            <a:ext cx="4040187" cy="22733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50377-A5DD-48F2-846C-03AD28820F76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715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幻灯片图像占位符 1">
            <a:extLst>
              <a:ext uri="{FF2B5EF4-FFF2-40B4-BE49-F238E27FC236}">
                <a16:creationId xmlns:a16="http://schemas.microsoft.com/office/drawing/2014/main" xmlns="" id="{CF26C93D-30B9-407A-A5AB-C0449AE125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913063" y="841375"/>
            <a:ext cx="4040187" cy="2273300"/>
          </a:xfrm>
          <a:ln/>
        </p:spPr>
      </p:sp>
      <p:sp>
        <p:nvSpPr>
          <p:cNvPr id="155651" name="备注占位符 2">
            <a:extLst>
              <a:ext uri="{FF2B5EF4-FFF2-40B4-BE49-F238E27FC236}">
                <a16:creationId xmlns:a16="http://schemas.microsoft.com/office/drawing/2014/main" xmlns="" id="{54605A01-EE23-4C3B-A6F7-CB9FB331A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5652" name="灯片编号占位符 3">
            <a:extLst>
              <a:ext uri="{FF2B5EF4-FFF2-40B4-BE49-F238E27FC236}">
                <a16:creationId xmlns:a16="http://schemas.microsoft.com/office/drawing/2014/main" xmlns="" id="{2D0A1302-809D-41E1-952F-41243698E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508D7D-A4B7-41D8-B211-ED9ADC72BC2D}" type="slidenum">
              <a:rPr lang="en-US" altLang="zh-CN">
                <a:latin typeface="Times New Roman" panose="02020603050405020304" pitchFamily="18" charset="0"/>
              </a:rPr>
              <a:pPr/>
              <a:t>11</a:t>
            </a:fld>
            <a:endParaRPr lang="en-US" altLang="zh-CN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CED3-A290-4E4D-B94F-B458FF2BD3D8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276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0660C4-AC12-4019-82B9-40EB2BC385B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01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主码：（客户名，书号），</a:t>
            </a:r>
            <a:r>
              <a:rPr lang="en-US" altLang="zh-CN" dirty="0"/>
              <a:t>1NF</a:t>
            </a:r>
          </a:p>
          <a:p>
            <a:r>
              <a:rPr lang="zh-CN" altLang="en-US" dirty="0"/>
              <a:t>客户（</a:t>
            </a:r>
            <a:r>
              <a:rPr lang="zh-CN" altLang="en-US" u="sng" dirty="0"/>
              <a:t>客户名</a:t>
            </a:r>
            <a:r>
              <a:rPr lang="zh-CN" altLang="en-US" dirty="0"/>
              <a:t>，住址，联系电话）</a:t>
            </a:r>
            <a:endParaRPr lang="en-US" altLang="zh-CN" dirty="0"/>
          </a:p>
          <a:p>
            <a:r>
              <a:rPr lang="zh-CN" altLang="en-US" dirty="0"/>
              <a:t>图书（</a:t>
            </a:r>
            <a:r>
              <a:rPr lang="zh-CN" altLang="en-US" u="sng" dirty="0"/>
              <a:t>书号</a:t>
            </a:r>
            <a:r>
              <a:rPr lang="zh-CN" altLang="en-US" dirty="0"/>
              <a:t>，书名，作者，出版社）</a:t>
            </a:r>
            <a:endParaRPr lang="en-US" altLang="zh-CN" dirty="0"/>
          </a:p>
          <a:p>
            <a:r>
              <a:rPr lang="zh-CN" altLang="en-US" dirty="0"/>
              <a:t>出版社（</a:t>
            </a:r>
            <a:r>
              <a:rPr lang="zh-CN" altLang="en-US" u="sng" dirty="0"/>
              <a:t>出版社</a:t>
            </a:r>
            <a:r>
              <a:rPr lang="zh-CN" altLang="en-US" dirty="0"/>
              <a:t>，社址）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i="0" dirty="0"/>
              <a:t>引理</a:t>
            </a:r>
            <a:r>
              <a:rPr lang="en-US" altLang="zh-CN" i="0" dirty="0"/>
              <a:t>6.3</a:t>
            </a:r>
            <a:r>
              <a:rPr lang="zh-CN" altLang="en-US" i="0" dirty="0"/>
              <a:t>给出了判断两个函数依赖集等价的可行算法。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CED3-A290-4E4D-B94F-B458FF2BD3D8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91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xmlns="" id="{787DEED2-46DC-4856-B13B-5E3D51E14B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932A8B-D7E1-49C3-9BDD-0A5A5133558C}" type="slidenum">
              <a:rPr lang="en-US" altLang="zh-CN">
                <a:latin typeface="Times New Roman" panose="02020603050405020304" pitchFamily="18" charset="0"/>
              </a:rPr>
              <a:pPr/>
              <a:t>98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xmlns="" id="{30D40E62-18D2-473F-B72B-AE29ABA044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xmlns="" id="{B8ED4000-B0E9-48BB-8797-E9A1AB94E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FF"/>
                </a:solidFill>
                <a:sym typeface="Symbol"/>
              </a:rPr>
              <a:t>F3={ABC, CA, BCD, CDB,</a:t>
            </a:r>
            <a:r>
              <a:rPr lang="zh-CN" altLang="en-US" dirty="0">
                <a:solidFill>
                  <a:srgbClr val="0000FF"/>
                </a:solidFill>
                <a:sym typeface="Symbol"/>
              </a:rPr>
              <a:t> 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DE, DG, BEC,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CGD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CEG</a:t>
            </a:r>
            <a:r>
              <a:rPr lang="en-US" altLang="zh-CN" dirty="0">
                <a:sym typeface="Symbol"/>
              </a:rPr>
              <a:t>}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>
            <a:extLst>
              <a:ext uri="{FF2B5EF4-FFF2-40B4-BE49-F238E27FC236}">
                <a16:creationId xmlns:a16="http://schemas.microsoft.com/office/drawing/2014/main" xmlns="" id="{787DEED2-46DC-4856-B13B-5E3D51E14B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932A8B-D7E1-49C3-9BDD-0A5A5133558C}" type="slidenum">
              <a:rPr lang="en-US" altLang="zh-CN">
                <a:latin typeface="Times New Roman" panose="02020603050405020304" pitchFamily="18" charset="0"/>
              </a:rPr>
              <a:pPr/>
              <a:t>99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71011" name="Rectangle 2">
            <a:extLst>
              <a:ext uri="{FF2B5EF4-FFF2-40B4-BE49-F238E27FC236}">
                <a16:creationId xmlns:a16="http://schemas.microsoft.com/office/drawing/2014/main" xmlns="" id="{30D40E62-18D2-473F-B72B-AE29ABA044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>
            <a:extLst>
              <a:ext uri="{FF2B5EF4-FFF2-40B4-BE49-F238E27FC236}">
                <a16:creationId xmlns:a16="http://schemas.microsoft.com/office/drawing/2014/main" xmlns="" id="{B8ED4000-B0E9-48BB-8797-E9A1AB94EF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42322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99508" y="437764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xmlns="" id="{2B68CA98-A398-4530-9020-4D4DB6439D6A}"/>
              </a:ext>
            </a:extLst>
          </p:cNvPr>
          <p:cNvSpPr/>
          <p:nvPr/>
        </p:nvSpPr>
        <p:spPr>
          <a:xfrm>
            <a:off x="0" y="1724896"/>
            <a:ext cx="12192000" cy="21382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9AFCF4C2-E096-4262-8ECB-78D0989EDE7A}"/>
              </a:ext>
            </a:extLst>
          </p:cNvPr>
          <p:cNvGrpSpPr/>
          <p:nvPr/>
        </p:nvGrpSpPr>
        <p:grpSpPr>
          <a:xfrm>
            <a:off x="4688155" y="5875923"/>
            <a:ext cx="342764" cy="342764"/>
            <a:chOff x="4688155" y="5875923"/>
            <a:chExt cx="342764" cy="342764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CF0BDC3B-A6A3-45D0-B9DB-DF2D639EE734}"/>
                </a:ext>
              </a:extLst>
            </p:cNvPr>
            <p:cNvSpPr/>
            <p:nvPr/>
          </p:nvSpPr>
          <p:spPr>
            <a:xfrm>
              <a:off x="4688155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xmlns="" id="{C57D6A93-2E21-4CEE-8B0C-82D273459889}"/>
                </a:ext>
              </a:extLst>
            </p:cNvPr>
            <p:cNvGrpSpPr/>
            <p:nvPr/>
          </p:nvGrpSpPr>
          <p:grpSpPr>
            <a:xfrm>
              <a:off x="4763028" y="5947390"/>
              <a:ext cx="193018" cy="199830"/>
              <a:chOff x="5753100" y="3041650"/>
              <a:chExt cx="682626" cy="771526"/>
            </a:xfrm>
            <a:solidFill>
              <a:schemeClr val="accent1"/>
            </a:solidFill>
          </p:grpSpPr>
          <p:sp>
            <p:nvSpPr>
              <p:cNvPr id="11" name="Oval 202">
                <a:extLst>
                  <a:ext uri="{FF2B5EF4-FFF2-40B4-BE49-F238E27FC236}">
                    <a16:creationId xmlns:a16="http://schemas.microsoft.com/office/drawing/2014/main" xmlns="" id="{2F0A091A-AD4E-45CF-AFEB-14261F953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8675" y="3041650"/>
                <a:ext cx="119063" cy="1476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Freeform 203">
                <a:extLst>
                  <a:ext uri="{FF2B5EF4-FFF2-40B4-BE49-F238E27FC236}">
                    <a16:creationId xmlns:a16="http://schemas.microsoft.com/office/drawing/2014/main" xmlns="" id="{D6D7EDDD-D438-4D26-8D11-489580AAB1B0}"/>
                  </a:ext>
                </a:extLst>
              </p:cNvPr>
              <p:cNvSpPr/>
              <p:nvPr/>
            </p:nvSpPr>
            <p:spPr bwMode="auto">
              <a:xfrm>
                <a:off x="6103938" y="3413125"/>
                <a:ext cx="46038" cy="84138"/>
              </a:xfrm>
              <a:custGeom>
                <a:avLst/>
                <a:gdLst>
                  <a:gd name="T0" fmla="*/ 2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2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2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2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1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Freeform 204">
                <a:extLst>
                  <a:ext uri="{FF2B5EF4-FFF2-40B4-BE49-F238E27FC236}">
                    <a16:creationId xmlns:a16="http://schemas.microsoft.com/office/drawing/2014/main" xmlns="" id="{63ABB64B-5B7B-41F3-908D-85AF1C674D97}"/>
                  </a:ext>
                </a:extLst>
              </p:cNvPr>
              <p:cNvSpPr/>
              <p:nvPr/>
            </p:nvSpPr>
            <p:spPr bwMode="auto">
              <a:xfrm>
                <a:off x="6313488" y="3413125"/>
                <a:ext cx="46038" cy="84138"/>
              </a:xfrm>
              <a:custGeom>
                <a:avLst/>
                <a:gdLst>
                  <a:gd name="T0" fmla="*/ 3 w 12"/>
                  <a:gd name="T1" fmla="*/ 22 h 22"/>
                  <a:gd name="T2" fmla="*/ 10 w 12"/>
                  <a:gd name="T3" fmla="*/ 22 h 22"/>
                  <a:gd name="T4" fmla="*/ 12 w 12"/>
                  <a:gd name="T5" fmla="*/ 20 h 22"/>
                  <a:gd name="T6" fmla="*/ 12 w 12"/>
                  <a:gd name="T7" fmla="*/ 2 h 22"/>
                  <a:gd name="T8" fmla="*/ 10 w 12"/>
                  <a:gd name="T9" fmla="*/ 0 h 22"/>
                  <a:gd name="T10" fmla="*/ 3 w 12"/>
                  <a:gd name="T11" fmla="*/ 0 h 22"/>
                  <a:gd name="T12" fmla="*/ 0 w 12"/>
                  <a:gd name="T13" fmla="*/ 2 h 22"/>
                  <a:gd name="T14" fmla="*/ 0 w 12"/>
                  <a:gd name="T15" fmla="*/ 20 h 22"/>
                  <a:gd name="T16" fmla="*/ 3 w 12"/>
                  <a:gd name="T17" fmla="*/ 22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" h="22">
                    <a:moveTo>
                      <a:pt x="3" y="22"/>
                    </a:moveTo>
                    <a:cubicBezTo>
                      <a:pt x="10" y="22"/>
                      <a:pt x="10" y="22"/>
                      <a:pt x="10" y="22"/>
                    </a:cubicBezTo>
                    <a:cubicBezTo>
                      <a:pt x="12" y="22"/>
                      <a:pt x="12" y="21"/>
                      <a:pt x="12" y="20"/>
                    </a:cubicBezTo>
                    <a:cubicBezTo>
                      <a:pt x="12" y="2"/>
                      <a:pt x="12" y="2"/>
                      <a:pt x="12" y="2"/>
                    </a:cubicBezTo>
                    <a:cubicBezTo>
                      <a:pt x="12" y="1"/>
                      <a:pt x="12" y="0"/>
                      <a:pt x="1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1" y="22"/>
                      <a:pt x="3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Freeform 205">
                <a:extLst>
                  <a:ext uri="{FF2B5EF4-FFF2-40B4-BE49-F238E27FC236}">
                    <a16:creationId xmlns:a16="http://schemas.microsoft.com/office/drawing/2014/main" xmlns="" id="{0DC5A647-E6DF-4675-9E56-B3AFBA405D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030913" y="3444875"/>
                <a:ext cx="404813" cy="360363"/>
              </a:xfrm>
              <a:custGeom>
                <a:avLst/>
                <a:gdLst>
                  <a:gd name="T0" fmla="*/ 94 w 106"/>
                  <a:gd name="T1" fmla="*/ 0 h 95"/>
                  <a:gd name="T2" fmla="*/ 91 w 106"/>
                  <a:gd name="T3" fmla="*/ 0 h 95"/>
                  <a:gd name="T4" fmla="*/ 91 w 106"/>
                  <a:gd name="T5" fmla="*/ 12 h 95"/>
                  <a:gd name="T6" fmla="*/ 84 w 106"/>
                  <a:gd name="T7" fmla="*/ 18 h 95"/>
                  <a:gd name="T8" fmla="*/ 77 w 106"/>
                  <a:gd name="T9" fmla="*/ 18 h 95"/>
                  <a:gd name="T10" fmla="*/ 70 w 106"/>
                  <a:gd name="T11" fmla="*/ 12 h 95"/>
                  <a:gd name="T12" fmla="*/ 70 w 106"/>
                  <a:gd name="T13" fmla="*/ 0 h 95"/>
                  <a:gd name="T14" fmla="*/ 36 w 106"/>
                  <a:gd name="T15" fmla="*/ 0 h 95"/>
                  <a:gd name="T16" fmla="*/ 36 w 106"/>
                  <a:gd name="T17" fmla="*/ 12 h 95"/>
                  <a:gd name="T18" fmla="*/ 29 w 106"/>
                  <a:gd name="T19" fmla="*/ 18 h 95"/>
                  <a:gd name="T20" fmla="*/ 21 w 106"/>
                  <a:gd name="T21" fmla="*/ 18 h 95"/>
                  <a:gd name="T22" fmla="*/ 15 w 106"/>
                  <a:gd name="T23" fmla="*/ 12 h 95"/>
                  <a:gd name="T24" fmla="*/ 15 w 106"/>
                  <a:gd name="T25" fmla="*/ 0 h 95"/>
                  <a:gd name="T26" fmla="*/ 12 w 106"/>
                  <a:gd name="T27" fmla="*/ 0 h 95"/>
                  <a:gd name="T28" fmla="*/ 0 w 106"/>
                  <a:gd name="T29" fmla="*/ 13 h 95"/>
                  <a:gd name="T30" fmla="*/ 0 w 106"/>
                  <a:gd name="T31" fmla="*/ 36 h 95"/>
                  <a:gd name="T32" fmla="*/ 0 w 106"/>
                  <a:gd name="T33" fmla="*/ 83 h 95"/>
                  <a:gd name="T34" fmla="*/ 12 w 106"/>
                  <a:gd name="T35" fmla="*/ 95 h 95"/>
                  <a:gd name="T36" fmla="*/ 94 w 106"/>
                  <a:gd name="T37" fmla="*/ 95 h 95"/>
                  <a:gd name="T38" fmla="*/ 106 w 106"/>
                  <a:gd name="T39" fmla="*/ 83 h 95"/>
                  <a:gd name="T40" fmla="*/ 106 w 106"/>
                  <a:gd name="T41" fmla="*/ 36 h 95"/>
                  <a:gd name="T42" fmla="*/ 106 w 106"/>
                  <a:gd name="T43" fmla="*/ 13 h 95"/>
                  <a:gd name="T44" fmla="*/ 94 w 106"/>
                  <a:gd name="T45" fmla="*/ 0 h 95"/>
                  <a:gd name="T46" fmla="*/ 98 w 106"/>
                  <a:gd name="T47" fmla="*/ 83 h 95"/>
                  <a:gd name="T48" fmla="*/ 94 w 106"/>
                  <a:gd name="T49" fmla="*/ 88 h 95"/>
                  <a:gd name="T50" fmla="*/ 12 w 106"/>
                  <a:gd name="T51" fmla="*/ 88 h 95"/>
                  <a:gd name="T52" fmla="*/ 8 w 106"/>
                  <a:gd name="T53" fmla="*/ 83 h 95"/>
                  <a:gd name="T54" fmla="*/ 8 w 106"/>
                  <a:gd name="T55" fmla="*/ 36 h 95"/>
                  <a:gd name="T56" fmla="*/ 98 w 106"/>
                  <a:gd name="T57" fmla="*/ 36 h 95"/>
                  <a:gd name="T58" fmla="*/ 98 w 106"/>
                  <a:gd name="T59" fmla="*/ 83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06" h="95">
                    <a:moveTo>
                      <a:pt x="94" y="0"/>
                    </a:moveTo>
                    <a:cubicBezTo>
                      <a:pt x="91" y="0"/>
                      <a:pt x="91" y="0"/>
                      <a:pt x="91" y="0"/>
                    </a:cubicBezTo>
                    <a:cubicBezTo>
                      <a:pt x="91" y="12"/>
                      <a:pt x="91" y="12"/>
                      <a:pt x="91" y="12"/>
                    </a:cubicBezTo>
                    <a:cubicBezTo>
                      <a:pt x="91" y="15"/>
                      <a:pt x="88" y="18"/>
                      <a:pt x="84" y="18"/>
                    </a:cubicBezTo>
                    <a:cubicBezTo>
                      <a:pt x="77" y="18"/>
                      <a:pt x="77" y="18"/>
                      <a:pt x="77" y="18"/>
                    </a:cubicBezTo>
                    <a:cubicBezTo>
                      <a:pt x="73" y="18"/>
                      <a:pt x="70" y="15"/>
                      <a:pt x="70" y="12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36" y="15"/>
                      <a:pt x="33" y="18"/>
                      <a:pt x="29" y="18"/>
                    </a:cubicBezTo>
                    <a:cubicBezTo>
                      <a:pt x="21" y="18"/>
                      <a:pt x="21" y="18"/>
                      <a:pt x="21" y="18"/>
                    </a:cubicBezTo>
                    <a:cubicBezTo>
                      <a:pt x="18" y="18"/>
                      <a:pt x="15" y="15"/>
                      <a:pt x="15" y="12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6"/>
                      <a:pt x="0" y="13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0"/>
                      <a:pt x="5" y="95"/>
                      <a:pt x="12" y="95"/>
                    </a:cubicBezTo>
                    <a:cubicBezTo>
                      <a:pt x="94" y="95"/>
                      <a:pt x="94" y="95"/>
                      <a:pt x="94" y="95"/>
                    </a:cubicBezTo>
                    <a:cubicBezTo>
                      <a:pt x="100" y="95"/>
                      <a:pt x="106" y="90"/>
                      <a:pt x="106" y="83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6" y="13"/>
                      <a:pt x="106" y="13"/>
                      <a:pt x="106" y="13"/>
                    </a:cubicBezTo>
                    <a:cubicBezTo>
                      <a:pt x="106" y="6"/>
                      <a:pt x="100" y="0"/>
                      <a:pt x="94" y="0"/>
                    </a:cubicBezTo>
                    <a:close/>
                    <a:moveTo>
                      <a:pt x="98" y="83"/>
                    </a:moveTo>
                    <a:cubicBezTo>
                      <a:pt x="98" y="86"/>
                      <a:pt x="96" y="88"/>
                      <a:pt x="94" y="88"/>
                    </a:cubicBezTo>
                    <a:cubicBezTo>
                      <a:pt x="12" y="88"/>
                      <a:pt x="12" y="88"/>
                      <a:pt x="12" y="88"/>
                    </a:cubicBezTo>
                    <a:cubicBezTo>
                      <a:pt x="10" y="88"/>
                      <a:pt x="8" y="86"/>
                      <a:pt x="8" y="83"/>
                    </a:cubicBezTo>
                    <a:cubicBezTo>
                      <a:pt x="8" y="36"/>
                      <a:pt x="8" y="36"/>
                      <a:pt x="8" y="36"/>
                    </a:cubicBezTo>
                    <a:cubicBezTo>
                      <a:pt x="98" y="36"/>
                      <a:pt x="98" y="36"/>
                      <a:pt x="98" y="36"/>
                    </a:cubicBezTo>
                    <a:lnTo>
                      <a:pt x="98" y="8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5" name="Rectangle 206">
                <a:extLst>
                  <a:ext uri="{FF2B5EF4-FFF2-40B4-BE49-F238E27FC236}">
                    <a16:creationId xmlns:a16="http://schemas.microsoft.com/office/drawing/2014/main" xmlns="" id="{D0010BBB-DFB9-4175-A76B-C3B2B09AB3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6" name="Rectangle 207">
                <a:extLst>
                  <a:ext uri="{FF2B5EF4-FFF2-40B4-BE49-F238E27FC236}">
                    <a16:creationId xmlns:a16="http://schemas.microsoft.com/office/drawing/2014/main" xmlns="" id="{AB3A1A45-8B07-40C8-B06D-85B240A9F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1250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Rectangle 208">
                <a:extLst>
                  <a:ext uri="{FF2B5EF4-FFF2-40B4-BE49-F238E27FC236}">
                    <a16:creationId xmlns:a16="http://schemas.microsoft.com/office/drawing/2014/main" xmlns="" id="{50D6D5DE-227B-4BD8-8872-55F14BF1F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438" y="3611563"/>
                <a:ext cx="7937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8" name="Rectangle 209">
                <a:extLst>
                  <a:ext uri="{FF2B5EF4-FFF2-40B4-BE49-F238E27FC236}">
                    <a16:creationId xmlns:a16="http://schemas.microsoft.com/office/drawing/2014/main" xmlns="" id="{2129D8C0-5574-4981-A473-54A4DA5BB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9" name="Rectangle 210">
                <a:extLst>
                  <a:ext uri="{FF2B5EF4-FFF2-40B4-BE49-F238E27FC236}">
                    <a16:creationId xmlns:a16="http://schemas.microsoft.com/office/drawing/2014/main" xmlns="" id="{42C482E4-5992-4F76-A4FC-FAEA3959B4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1250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0" name="Rectangle 211">
                <a:extLst>
                  <a:ext uri="{FF2B5EF4-FFF2-40B4-BE49-F238E27FC236}">
                    <a16:creationId xmlns:a16="http://schemas.microsoft.com/office/drawing/2014/main" xmlns="" id="{608FABB8-F614-48FA-B8BA-76252847C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438" y="3663950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1" name="Rectangle 212">
                <a:extLst>
                  <a:ext uri="{FF2B5EF4-FFF2-40B4-BE49-F238E27FC236}">
                    <a16:creationId xmlns:a16="http://schemas.microsoft.com/office/drawing/2014/main" xmlns="" id="{BE49BF88-4A04-43E2-8944-E6471A990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488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2" name="Rectangle 213">
                <a:extLst>
                  <a:ext uri="{FF2B5EF4-FFF2-40B4-BE49-F238E27FC236}">
                    <a16:creationId xmlns:a16="http://schemas.microsoft.com/office/drawing/2014/main" xmlns="" id="{1F29B5A7-F2A1-4F35-A35C-004039DDA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91250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3" name="Rectangle 214">
                <a:extLst>
                  <a:ext uri="{FF2B5EF4-FFF2-40B4-BE49-F238E27FC236}">
                    <a16:creationId xmlns:a16="http://schemas.microsoft.com/office/drawing/2014/main" xmlns="" id="{7A1C70A7-03A0-4142-914C-A675EEB0F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4438" y="3713163"/>
                <a:ext cx="79375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4" name="Rectangle 215">
                <a:extLst>
                  <a:ext uri="{FF2B5EF4-FFF2-40B4-BE49-F238E27FC236}">
                    <a16:creationId xmlns:a16="http://schemas.microsoft.com/office/drawing/2014/main" xmlns="" id="{95C51AC2-93C4-4847-869B-B822FA435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65825" y="3398838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5" name="Freeform 216">
                <a:extLst>
                  <a:ext uri="{FF2B5EF4-FFF2-40B4-BE49-F238E27FC236}">
                    <a16:creationId xmlns:a16="http://schemas.microsoft.com/office/drawing/2014/main" xmlns="" id="{E4FB0AFD-8DFA-47AF-A756-6E3640B92A9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53100" y="3208338"/>
                <a:ext cx="427038" cy="604838"/>
              </a:xfrm>
              <a:custGeom>
                <a:avLst/>
                <a:gdLst>
                  <a:gd name="T0" fmla="*/ 111 w 112"/>
                  <a:gd name="T1" fmla="*/ 23 h 159"/>
                  <a:gd name="T2" fmla="*/ 106 w 112"/>
                  <a:gd name="T3" fmla="*/ 19 h 159"/>
                  <a:gd name="T4" fmla="*/ 83 w 112"/>
                  <a:gd name="T5" fmla="*/ 2 h 159"/>
                  <a:gd name="T6" fmla="*/ 77 w 112"/>
                  <a:gd name="T7" fmla="*/ 0 h 159"/>
                  <a:gd name="T8" fmla="*/ 70 w 112"/>
                  <a:gd name="T9" fmla="*/ 0 h 159"/>
                  <a:gd name="T10" fmla="*/ 68 w 112"/>
                  <a:gd name="T11" fmla="*/ 10 h 159"/>
                  <a:gd name="T12" fmla="*/ 56 w 112"/>
                  <a:gd name="T13" fmla="*/ 50 h 159"/>
                  <a:gd name="T14" fmla="*/ 56 w 112"/>
                  <a:gd name="T15" fmla="*/ 51 h 159"/>
                  <a:gd name="T16" fmla="*/ 56 w 112"/>
                  <a:gd name="T17" fmla="*/ 50 h 159"/>
                  <a:gd name="T18" fmla="*/ 45 w 112"/>
                  <a:gd name="T19" fmla="*/ 10 h 159"/>
                  <a:gd name="T20" fmla="*/ 43 w 112"/>
                  <a:gd name="T21" fmla="*/ 0 h 159"/>
                  <a:gd name="T22" fmla="*/ 35 w 112"/>
                  <a:gd name="T23" fmla="*/ 0 h 159"/>
                  <a:gd name="T24" fmla="*/ 28 w 112"/>
                  <a:gd name="T25" fmla="*/ 4 h 159"/>
                  <a:gd name="T26" fmla="*/ 0 w 112"/>
                  <a:gd name="T27" fmla="*/ 44 h 159"/>
                  <a:gd name="T28" fmla="*/ 0 w 112"/>
                  <a:gd name="T29" fmla="*/ 44 h 159"/>
                  <a:gd name="T30" fmla="*/ 0 w 112"/>
                  <a:gd name="T31" fmla="*/ 45 h 159"/>
                  <a:gd name="T32" fmla="*/ 2 w 112"/>
                  <a:gd name="T33" fmla="*/ 48 h 159"/>
                  <a:gd name="T34" fmla="*/ 9 w 112"/>
                  <a:gd name="T35" fmla="*/ 61 h 159"/>
                  <a:gd name="T36" fmla="*/ 29 w 112"/>
                  <a:gd name="T37" fmla="*/ 72 h 159"/>
                  <a:gd name="T38" fmla="*/ 29 w 112"/>
                  <a:gd name="T39" fmla="*/ 84 h 159"/>
                  <a:gd name="T40" fmla="*/ 34 w 112"/>
                  <a:gd name="T41" fmla="*/ 159 h 159"/>
                  <a:gd name="T42" fmla="*/ 55 w 112"/>
                  <a:gd name="T43" fmla="*/ 84 h 159"/>
                  <a:gd name="T44" fmla="*/ 60 w 112"/>
                  <a:gd name="T45" fmla="*/ 159 h 159"/>
                  <a:gd name="T46" fmla="*/ 67 w 112"/>
                  <a:gd name="T47" fmla="*/ 145 h 159"/>
                  <a:gd name="T48" fmla="*/ 76 w 112"/>
                  <a:gd name="T49" fmla="*/ 59 h 159"/>
                  <a:gd name="T50" fmla="*/ 110 w 112"/>
                  <a:gd name="T51" fmla="*/ 41 h 159"/>
                  <a:gd name="T52" fmla="*/ 112 w 112"/>
                  <a:gd name="T53" fmla="*/ 24 h 159"/>
                  <a:gd name="T54" fmla="*/ 27 w 112"/>
                  <a:gd name="T55" fmla="*/ 51 h 159"/>
                  <a:gd name="T56" fmla="*/ 21 w 112"/>
                  <a:gd name="T57" fmla="*/ 40 h 159"/>
                  <a:gd name="T58" fmla="*/ 30 w 112"/>
                  <a:gd name="T59" fmla="*/ 55 h 159"/>
                  <a:gd name="T60" fmla="*/ 68 w 112"/>
                  <a:gd name="T61" fmla="*/ 39 h 159"/>
                  <a:gd name="T62" fmla="*/ 82 w 112"/>
                  <a:gd name="T63" fmla="*/ 25 h 159"/>
                  <a:gd name="T64" fmla="*/ 88 w 112"/>
                  <a:gd name="T65" fmla="*/ 30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12" h="159">
                    <a:moveTo>
                      <a:pt x="112" y="24"/>
                    </a:moveTo>
                    <a:cubicBezTo>
                      <a:pt x="111" y="23"/>
                      <a:pt x="111" y="23"/>
                      <a:pt x="111" y="23"/>
                    </a:cubicBezTo>
                    <a:cubicBezTo>
                      <a:pt x="110" y="22"/>
                      <a:pt x="110" y="22"/>
                      <a:pt x="110" y="22"/>
                    </a:cubicBezTo>
                    <a:cubicBezTo>
                      <a:pt x="106" y="19"/>
                      <a:pt x="106" y="19"/>
                      <a:pt x="106" y="19"/>
                    </a:cubicBezTo>
                    <a:cubicBezTo>
                      <a:pt x="98" y="13"/>
                      <a:pt x="98" y="13"/>
                      <a:pt x="98" y="13"/>
                    </a:cubicBezTo>
                    <a:cubicBezTo>
                      <a:pt x="83" y="2"/>
                      <a:pt x="83" y="2"/>
                      <a:pt x="83" y="2"/>
                    </a:cubicBezTo>
                    <a:cubicBezTo>
                      <a:pt x="81" y="1"/>
                      <a:pt x="80" y="0"/>
                      <a:pt x="78" y="0"/>
                    </a:cubicBezTo>
                    <a:cubicBezTo>
                      <a:pt x="78" y="0"/>
                      <a:pt x="78" y="0"/>
                      <a:pt x="77" y="0"/>
                    </a:cubicBezTo>
                    <a:cubicBezTo>
                      <a:pt x="75" y="0"/>
                      <a:pt x="72" y="0"/>
                      <a:pt x="70" y="0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76" y="5"/>
                      <a:pt x="76" y="5"/>
                      <a:pt x="76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72" y="16"/>
                      <a:pt x="72" y="16"/>
                      <a:pt x="72" y="16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1"/>
                      <a:pt x="56" y="51"/>
                      <a:pt x="56" y="51"/>
                    </a:cubicBezTo>
                    <a:cubicBezTo>
                      <a:pt x="56" y="50"/>
                      <a:pt x="56" y="50"/>
                      <a:pt x="56" y="50"/>
                    </a:cubicBezTo>
                    <a:cubicBezTo>
                      <a:pt x="41" y="16"/>
                      <a:pt x="41" y="16"/>
                      <a:pt x="41" y="16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1" y="0"/>
                      <a:pt x="38" y="0"/>
                      <a:pt x="35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2" y="1"/>
                      <a:pt x="30" y="2"/>
                      <a:pt x="28" y="4"/>
                    </a:cubicBezTo>
                    <a:cubicBezTo>
                      <a:pt x="1" y="32"/>
                      <a:pt x="1" y="32"/>
                      <a:pt x="1" y="3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1" y="46"/>
                      <a:pt x="1" y="46"/>
                      <a:pt x="1" y="46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9" y="61"/>
                      <a:pt x="9" y="61"/>
                      <a:pt x="9" y="61"/>
                    </a:cubicBezTo>
                    <a:cubicBezTo>
                      <a:pt x="18" y="78"/>
                      <a:pt x="18" y="78"/>
                      <a:pt x="18" y="78"/>
                    </a:cubicBezTo>
                    <a:cubicBezTo>
                      <a:pt x="22" y="76"/>
                      <a:pt x="26" y="74"/>
                      <a:pt x="29" y="72"/>
                    </a:cubicBezTo>
                    <a:cubicBezTo>
                      <a:pt x="29" y="76"/>
                      <a:pt x="29" y="80"/>
                      <a:pt x="29" y="83"/>
                    </a:cubicBezTo>
                    <a:cubicBezTo>
                      <a:pt x="29" y="83"/>
                      <a:pt x="29" y="84"/>
                      <a:pt x="29" y="84"/>
                    </a:cubicBezTo>
                    <a:cubicBezTo>
                      <a:pt x="30" y="84"/>
                      <a:pt x="31" y="84"/>
                      <a:pt x="31" y="84"/>
                    </a:cubicBezTo>
                    <a:cubicBezTo>
                      <a:pt x="34" y="159"/>
                      <a:pt x="34" y="159"/>
                      <a:pt x="34" y="159"/>
                    </a:cubicBezTo>
                    <a:cubicBezTo>
                      <a:pt x="55" y="159"/>
                      <a:pt x="55" y="159"/>
                      <a:pt x="55" y="159"/>
                    </a:cubicBezTo>
                    <a:cubicBezTo>
                      <a:pt x="56" y="137"/>
                      <a:pt x="56" y="99"/>
                      <a:pt x="55" y="84"/>
                    </a:cubicBezTo>
                    <a:cubicBezTo>
                      <a:pt x="56" y="84"/>
                      <a:pt x="57" y="84"/>
                      <a:pt x="58" y="84"/>
                    </a:cubicBezTo>
                    <a:cubicBezTo>
                      <a:pt x="60" y="159"/>
                      <a:pt x="60" y="159"/>
                      <a:pt x="60" y="15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0" y="156"/>
                      <a:pt x="67" y="151"/>
                      <a:pt x="67" y="145"/>
                    </a:cubicBezTo>
                    <a:cubicBezTo>
                      <a:pt x="67" y="75"/>
                      <a:pt x="67" y="75"/>
                      <a:pt x="67" y="75"/>
                    </a:cubicBezTo>
                    <a:cubicBezTo>
                      <a:pt x="67" y="68"/>
                      <a:pt x="71" y="62"/>
                      <a:pt x="76" y="59"/>
                    </a:cubicBezTo>
                    <a:cubicBezTo>
                      <a:pt x="77" y="60"/>
                      <a:pt x="78" y="61"/>
                      <a:pt x="78" y="62"/>
                    </a:cubicBezTo>
                    <a:cubicBezTo>
                      <a:pt x="110" y="41"/>
                      <a:pt x="110" y="41"/>
                      <a:pt x="110" y="41"/>
                    </a:cubicBezTo>
                    <a:cubicBezTo>
                      <a:pt x="111" y="40"/>
                      <a:pt x="111" y="40"/>
                      <a:pt x="111" y="40"/>
                    </a:cubicBezTo>
                    <a:lnTo>
                      <a:pt x="112" y="24"/>
                    </a:lnTo>
                    <a:close/>
                    <a:moveTo>
                      <a:pt x="30" y="55"/>
                    </a:moveTo>
                    <a:cubicBezTo>
                      <a:pt x="27" y="51"/>
                      <a:pt x="27" y="51"/>
                      <a:pt x="27" y="51"/>
                    </a:cubicBezTo>
                    <a:cubicBezTo>
                      <a:pt x="22" y="43"/>
                      <a:pt x="22" y="43"/>
                      <a:pt x="22" y="43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37"/>
                      <a:pt x="30" y="46"/>
                      <a:pt x="30" y="55"/>
                    </a:cubicBezTo>
                    <a:close/>
                    <a:moveTo>
                      <a:pt x="70" y="41"/>
                    </a:moveTo>
                    <a:cubicBezTo>
                      <a:pt x="68" y="39"/>
                      <a:pt x="68" y="39"/>
                      <a:pt x="68" y="39"/>
                    </a:cubicBezTo>
                    <a:cubicBezTo>
                      <a:pt x="82" y="30"/>
                      <a:pt x="82" y="30"/>
                      <a:pt x="82" y="30"/>
                    </a:cubicBezTo>
                    <a:cubicBezTo>
                      <a:pt x="82" y="28"/>
                      <a:pt x="82" y="27"/>
                      <a:pt x="82" y="25"/>
                    </a:cubicBezTo>
                    <a:cubicBezTo>
                      <a:pt x="86" y="28"/>
                      <a:pt x="86" y="28"/>
                      <a:pt x="86" y="28"/>
                    </a:cubicBezTo>
                    <a:cubicBezTo>
                      <a:pt x="88" y="30"/>
                      <a:pt x="88" y="30"/>
                      <a:pt x="88" y="30"/>
                    </a:cubicBezTo>
                    <a:lnTo>
                      <a:pt x="70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6" name="Freeform 217">
                <a:extLst>
                  <a:ext uri="{FF2B5EF4-FFF2-40B4-BE49-F238E27FC236}">
                    <a16:creationId xmlns:a16="http://schemas.microsoft.com/office/drawing/2014/main" xmlns="" id="{7681A10F-763B-493B-994C-DB48180CB530}"/>
                  </a:ext>
                </a:extLst>
              </p:cNvPr>
              <p:cNvSpPr/>
              <p:nvPr/>
            </p:nvSpPr>
            <p:spPr bwMode="auto">
              <a:xfrm>
                <a:off x="5946775" y="3201988"/>
                <a:ext cx="42863" cy="44450"/>
              </a:xfrm>
              <a:custGeom>
                <a:avLst/>
                <a:gdLst>
                  <a:gd name="T0" fmla="*/ 22 w 27"/>
                  <a:gd name="T1" fmla="*/ 0 h 28"/>
                  <a:gd name="T2" fmla="*/ 27 w 27"/>
                  <a:gd name="T3" fmla="*/ 16 h 28"/>
                  <a:gd name="T4" fmla="*/ 12 w 27"/>
                  <a:gd name="T5" fmla="*/ 28 h 28"/>
                  <a:gd name="T6" fmla="*/ 0 w 27"/>
                  <a:gd name="T7" fmla="*/ 16 h 28"/>
                  <a:gd name="T8" fmla="*/ 5 w 27"/>
                  <a:gd name="T9" fmla="*/ 0 h 28"/>
                  <a:gd name="T10" fmla="*/ 22 w 27"/>
                  <a:gd name="T11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28">
                    <a:moveTo>
                      <a:pt x="22" y="0"/>
                    </a:moveTo>
                    <a:lnTo>
                      <a:pt x="27" y="16"/>
                    </a:lnTo>
                    <a:lnTo>
                      <a:pt x="12" y="28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7" name="Freeform 218">
                <a:extLst>
                  <a:ext uri="{FF2B5EF4-FFF2-40B4-BE49-F238E27FC236}">
                    <a16:creationId xmlns:a16="http://schemas.microsoft.com/office/drawing/2014/main" xmlns="" id="{52EF81C8-1053-48B5-90C5-0CB1F16929B1}"/>
                  </a:ext>
                </a:extLst>
              </p:cNvPr>
              <p:cNvSpPr/>
              <p:nvPr/>
            </p:nvSpPr>
            <p:spPr bwMode="auto">
              <a:xfrm>
                <a:off x="5946775" y="3232150"/>
                <a:ext cx="42863" cy="185738"/>
              </a:xfrm>
              <a:custGeom>
                <a:avLst/>
                <a:gdLst>
                  <a:gd name="T0" fmla="*/ 22 w 27"/>
                  <a:gd name="T1" fmla="*/ 0 h 117"/>
                  <a:gd name="T2" fmla="*/ 27 w 27"/>
                  <a:gd name="T3" fmla="*/ 105 h 117"/>
                  <a:gd name="T4" fmla="*/ 12 w 27"/>
                  <a:gd name="T5" fmla="*/ 117 h 117"/>
                  <a:gd name="T6" fmla="*/ 0 w 27"/>
                  <a:gd name="T7" fmla="*/ 105 h 117"/>
                  <a:gd name="T8" fmla="*/ 5 w 27"/>
                  <a:gd name="T9" fmla="*/ 0 h 117"/>
                  <a:gd name="T10" fmla="*/ 22 w 27"/>
                  <a:gd name="T11" fmla="*/ 0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7" h="117">
                    <a:moveTo>
                      <a:pt x="22" y="0"/>
                    </a:moveTo>
                    <a:lnTo>
                      <a:pt x="27" y="105"/>
                    </a:lnTo>
                    <a:lnTo>
                      <a:pt x="12" y="117"/>
                    </a:lnTo>
                    <a:lnTo>
                      <a:pt x="0" y="105"/>
                    </a:lnTo>
                    <a:lnTo>
                      <a:pt x="5" y="0"/>
                    </a:lnTo>
                    <a:lnTo>
                      <a:pt x="2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xmlns="" id="{A0A7B8D9-00C8-461B-8C07-C40FC740B4E6}"/>
              </a:ext>
            </a:extLst>
          </p:cNvPr>
          <p:cNvGrpSpPr/>
          <p:nvPr/>
        </p:nvGrpSpPr>
        <p:grpSpPr>
          <a:xfrm>
            <a:off x="5306387" y="5875923"/>
            <a:ext cx="342764" cy="342764"/>
            <a:chOff x="5306387" y="5875923"/>
            <a:chExt cx="342764" cy="342764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xmlns="" id="{713CE592-4EAD-4944-A286-E51D3A308F83}"/>
                </a:ext>
              </a:extLst>
            </p:cNvPr>
            <p:cNvSpPr/>
            <p:nvPr/>
          </p:nvSpPr>
          <p:spPr>
            <a:xfrm>
              <a:off x="5306387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xmlns="" id="{F5FC36AF-6731-43C7-B468-EE7FDCB57E01}"/>
                </a:ext>
              </a:extLst>
            </p:cNvPr>
            <p:cNvGrpSpPr/>
            <p:nvPr/>
          </p:nvGrpSpPr>
          <p:grpSpPr>
            <a:xfrm>
              <a:off x="5370562" y="5961635"/>
              <a:ext cx="214413" cy="171339"/>
              <a:chOff x="5738813" y="3144838"/>
              <a:chExt cx="711200" cy="568325"/>
            </a:xfrm>
            <a:solidFill>
              <a:schemeClr val="accent1"/>
            </a:solidFill>
          </p:grpSpPr>
          <p:sp>
            <p:nvSpPr>
              <p:cNvPr id="31" name="Freeform 103">
                <a:extLst>
                  <a:ext uri="{FF2B5EF4-FFF2-40B4-BE49-F238E27FC236}">
                    <a16:creationId xmlns:a16="http://schemas.microsoft.com/office/drawing/2014/main" xmlns="" id="{B0CD356E-E0A2-49E4-8270-523C0D2BEAB1}"/>
                  </a:ext>
                </a:extLst>
              </p:cNvPr>
              <p:cNvSpPr/>
              <p:nvPr/>
            </p:nvSpPr>
            <p:spPr bwMode="auto">
              <a:xfrm>
                <a:off x="5821363" y="3159126"/>
                <a:ext cx="533400" cy="371475"/>
              </a:xfrm>
              <a:custGeom>
                <a:avLst/>
                <a:gdLst>
                  <a:gd name="T0" fmla="*/ 22 w 336"/>
                  <a:gd name="T1" fmla="*/ 234 h 234"/>
                  <a:gd name="T2" fmla="*/ 0 w 336"/>
                  <a:gd name="T3" fmla="*/ 215 h 234"/>
                  <a:gd name="T4" fmla="*/ 135 w 336"/>
                  <a:gd name="T5" fmla="*/ 56 h 234"/>
                  <a:gd name="T6" fmla="*/ 216 w 336"/>
                  <a:gd name="T7" fmla="*/ 126 h 234"/>
                  <a:gd name="T8" fmla="*/ 312 w 336"/>
                  <a:gd name="T9" fmla="*/ 0 h 234"/>
                  <a:gd name="T10" fmla="*/ 336 w 336"/>
                  <a:gd name="T11" fmla="*/ 17 h 234"/>
                  <a:gd name="T12" fmla="*/ 219 w 336"/>
                  <a:gd name="T13" fmla="*/ 171 h 234"/>
                  <a:gd name="T14" fmla="*/ 137 w 336"/>
                  <a:gd name="T15" fmla="*/ 99 h 234"/>
                  <a:gd name="T16" fmla="*/ 22 w 336"/>
                  <a:gd name="T17" fmla="*/ 234 h 234"/>
                  <a:gd name="T18" fmla="*/ 22 w 336"/>
                  <a:gd name="T19" fmla="*/ 234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36" h="234">
                    <a:moveTo>
                      <a:pt x="22" y="234"/>
                    </a:moveTo>
                    <a:lnTo>
                      <a:pt x="0" y="215"/>
                    </a:lnTo>
                    <a:lnTo>
                      <a:pt x="135" y="56"/>
                    </a:lnTo>
                    <a:lnTo>
                      <a:pt x="216" y="126"/>
                    </a:lnTo>
                    <a:lnTo>
                      <a:pt x="312" y="0"/>
                    </a:lnTo>
                    <a:lnTo>
                      <a:pt x="336" y="17"/>
                    </a:lnTo>
                    <a:lnTo>
                      <a:pt x="219" y="171"/>
                    </a:lnTo>
                    <a:lnTo>
                      <a:pt x="137" y="99"/>
                    </a:lnTo>
                    <a:lnTo>
                      <a:pt x="22" y="234"/>
                    </a:lnTo>
                    <a:lnTo>
                      <a:pt x="22" y="2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2" name="Freeform 104">
                <a:extLst>
                  <a:ext uri="{FF2B5EF4-FFF2-40B4-BE49-F238E27FC236}">
                    <a16:creationId xmlns:a16="http://schemas.microsoft.com/office/drawing/2014/main" xmlns="" id="{7A574504-B751-47C3-BE54-02544A0E9B9D}"/>
                  </a:ext>
                </a:extLst>
              </p:cNvPr>
              <p:cNvSpPr/>
              <p:nvPr/>
            </p:nvSpPr>
            <p:spPr bwMode="auto">
              <a:xfrm>
                <a:off x="6248401" y="3148013"/>
                <a:ext cx="117475" cy="119063"/>
              </a:xfrm>
              <a:custGeom>
                <a:avLst/>
                <a:gdLst>
                  <a:gd name="T0" fmla="*/ 0 w 74"/>
                  <a:gd name="T1" fmla="*/ 0 h 75"/>
                  <a:gd name="T2" fmla="*/ 74 w 74"/>
                  <a:gd name="T3" fmla="*/ 0 h 75"/>
                  <a:gd name="T4" fmla="*/ 74 w 74"/>
                  <a:gd name="T5" fmla="*/ 75 h 75"/>
                  <a:gd name="T6" fmla="*/ 0 w 74"/>
                  <a:gd name="T7" fmla="*/ 0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4" h="75">
                    <a:moveTo>
                      <a:pt x="0" y="0"/>
                    </a:moveTo>
                    <a:lnTo>
                      <a:pt x="74" y="0"/>
                    </a:lnTo>
                    <a:lnTo>
                      <a:pt x="74" y="7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3" name="Freeform 105">
                <a:extLst>
                  <a:ext uri="{FF2B5EF4-FFF2-40B4-BE49-F238E27FC236}">
                    <a16:creationId xmlns:a16="http://schemas.microsoft.com/office/drawing/2014/main" xmlns="" id="{56B0AF31-AE80-44B4-85A5-6071B641491E}"/>
                  </a:ext>
                </a:extLst>
              </p:cNvPr>
              <p:cNvSpPr/>
              <p:nvPr/>
            </p:nvSpPr>
            <p:spPr bwMode="auto">
              <a:xfrm>
                <a:off x="5738813" y="3144838"/>
                <a:ext cx="711200" cy="568325"/>
              </a:xfrm>
              <a:custGeom>
                <a:avLst/>
                <a:gdLst>
                  <a:gd name="T0" fmla="*/ 448 w 448"/>
                  <a:gd name="T1" fmla="*/ 358 h 358"/>
                  <a:gd name="T2" fmla="*/ 0 w 448"/>
                  <a:gd name="T3" fmla="*/ 358 h 358"/>
                  <a:gd name="T4" fmla="*/ 0 w 448"/>
                  <a:gd name="T5" fmla="*/ 0 h 358"/>
                  <a:gd name="T6" fmla="*/ 26 w 448"/>
                  <a:gd name="T7" fmla="*/ 0 h 358"/>
                  <a:gd name="T8" fmla="*/ 26 w 448"/>
                  <a:gd name="T9" fmla="*/ 334 h 358"/>
                  <a:gd name="T10" fmla="*/ 448 w 448"/>
                  <a:gd name="T11" fmla="*/ 334 h 358"/>
                  <a:gd name="T12" fmla="*/ 448 w 448"/>
                  <a:gd name="T13" fmla="*/ 358 h 358"/>
                  <a:gd name="T14" fmla="*/ 448 w 448"/>
                  <a:gd name="T15" fmla="*/ 358 h 3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8" h="358">
                    <a:moveTo>
                      <a:pt x="448" y="358"/>
                    </a:moveTo>
                    <a:lnTo>
                      <a:pt x="0" y="358"/>
                    </a:lnTo>
                    <a:lnTo>
                      <a:pt x="0" y="0"/>
                    </a:lnTo>
                    <a:lnTo>
                      <a:pt x="26" y="0"/>
                    </a:lnTo>
                    <a:lnTo>
                      <a:pt x="26" y="334"/>
                    </a:lnTo>
                    <a:lnTo>
                      <a:pt x="448" y="334"/>
                    </a:lnTo>
                    <a:lnTo>
                      <a:pt x="448" y="358"/>
                    </a:lnTo>
                    <a:lnTo>
                      <a:pt x="448" y="3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4" name="Rectangle 106">
                <a:extLst>
                  <a:ext uri="{FF2B5EF4-FFF2-40B4-BE49-F238E27FC236}">
                    <a16:creationId xmlns:a16="http://schemas.microsoft.com/office/drawing/2014/main" xmlns="" id="{342E43F6-202A-455C-8670-6B04C34EF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3113" y="3560763"/>
                <a:ext cx="79375" cy="1222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5" name="Rectangle 107">
                <a:extLst>
                  <a:ext uri="{FF2B5EF4-FFF2-40B4-BE49-F238E27FC236}">
                    <a16:creationId xmlns:a16="http://schemas.microsoft.com/office/drawing/2014/main" xmlns="" id="{81739738-E957-403C-B570-1CE7BC646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7576" y="3408363"/>
                <a:ext cx="79375" cy="27463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6" name="Rectangle 108">
                <a:extLst>
                  <a:ext uri="{FF2B5EF4-FFF2-40B4-BE49-F238E27FC236}">
                    <a16:creationId xmlns:a16="http://schemas.microsoft.com/office/drawing/2014/main" xmlns="" id="{57107470-EA4C-498A-A756-A70AD23D8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2038" y="3487738"/>
                <a:ext cx="79375" cy="1952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7" name="Rectangle 109">
                <a:extLst>
                  <a:ext uri="{FF2B5EF4-FFF2-40B4-BE49-F238E27FC236}">
                    <a16:creationId xmlns:a16="http://schemas.microsoft.com/office/drawing/2014/main" xmlns="" id="{C3AE1AD3-F23B-4D98-A1F9-207062ADCF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6501" y="3305176"/>
                <a:ext cx="79375" cy="3778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xmlns="" id="{3F8F588E-CC41-4DEC-BFD6-57015A7C8B67}"/>
              </a:ext>
            </a:extLst>
          </p:cNvPr>
          <p:cNvGrpSpPr/>
          <p:nvPr/>
        </p:nvGrpSpPr>
        <p:grpSpPr>
          <a:xfrm>
            <a:off x="5924618" y="5875923"/>
            <a:ext cx="342764" cy="342764"/>
            <a:chOff x="5924618" y="5875923"/>
            <a:chExt cx="342764" cy="342764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xmlns="" id="{C75AFBD7-DBC5-4AB1-85DF-0CCE65BAAA6F}"/>
                </a:ext>
              </a:extLst>
            </p:cNvPr>
            <p:cNvSpPr/>
            <p:nvPr/>
          </p:nvSpPr>
          <p:spPr>
            <a:xfrm>
              <a:off x="5924618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xmlns="" id="{1954B2CE-4A66-4B5F-97D9-F427D33D9FE2}"/>
                </a:ext>
              </a:extLst>
            </p:cNvPr>
            <p:cNvGrpSpPr/>
            <p:nvPr/>
          </p:nvGrpSpPr>
          <p:grpSpPr>
            <a:xfrm>
              <a:off x="5999323" y="5949431"/>
              <a:ext cx="193355" cy="195748"/>
              <a:chOff x="5778500" y="3105150"/>
              <a:chExt cx="641350" cy="649288"/>
            </a:xfrm>
            <a:solidFill>
              <a:schemeClr val="accent1"/>
            </a:solidFill>
          </p:grpSpPr>
          <p:sp>
            <p:nvSpPr>
              <p:cNvPr id="41" name="Freeform 425">
                <a:extLst>
                  <a:ext uri="{FF2B5EF4-FFF2-40B4-BE49-F238E27FC236}">
                    <a16:creationId xmlns:a16="http://schemas.microsoft.com/office/drawing/2014/main" xmlns="" id="{B91F5DCD-DE23-4812-A1CD-2E7E844B7BDF}"/>
                  </a:ext>
                </a:extLst>
              </p:cNvPr>
              <p:cNvSpPr/>
              <p:nvPr/>
            </p:nvSpPr>
            <p:spPr bwMode="auto">
              <a:xfrm>
                <a:off x="5959475" y="3227388"/>
                <a:ext cx="217488" cy="438150"/>
              </a:xfrm>
              <a:custGeom>
                <a:avLst/>
                <a:gdLst>
                  <a:gd name="T0" fmla="*/ 36 w 137"/>
                  <a:gd name="T1" fmla="*/ 276 h 276"/>
                  <a:gd name="T2" fmla="*/ 101 w 137"/>
                  <a:gd name="T3" fmla="*/ 276 h 276"/>
                  <a:gd name="T4" fmla="*/ 101 w 137"/>
                  <a:gd name="T5" fmla="*/ 69 h 276"/>
                  <a:gd name="T6" fmla="*/ 137 w 137"/>
                  <a:gd name="T7" fmla="*/ 69 h 276"/>
                  <a:gd name="T8" fmla="*/ 67 w 137"/>
                  <a:gd name="T9" fmla="*/ 0 h 276"/>
                  <a:gd name="T10" fmla="*/ 0 w 137"/>
                  <a:gd name="T11" fmla="*/ 69 h 276"/>
                  <a:gd name="T12" fmla="*/ 36 w 137"/>
                  <a:gd name="T13" fmla="*/ 69 h 276"/>
                  <a:gd name="T14" fmla="*/ 36 w 137"/>
                  <a:gd name="T15" fmla="*/ 276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276">
                    <a:moveTo>
                      <a:pt x="36" y="276"/>
                    </a:moveTo>
                    <a:lnTo>
                      <a:pt x="101" y="276"/>
                    </a:lnTo>
                    <a:lnTo>
                      <a:pt x="101" y="69"/>
                    </a:lnTo>
                    <a:lnTo>
                      <a:pt x="137" y="69"/>
                    </a:lnTo>
                    <a:lnTo>
                      <a:pt x="67" y="0"/>
                    </a:lnTo>
                    <a:lnTo>
                      <a:pt x="0" y="69"/>
                    </a:lnTo>
                    <a:lnTo>
                      <a:pt x="36" y="69"/>
                    </a:lnTo>
                    <a:lnTo>
                      <a:pt x="36" y="2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" name="Freeform 426">
                <a:extLst>
                  <a:ext uri="{FF2B5EF4-FFF2-40B4-BE49-F238E27FC236}">
                    <a16:creationId xmlns:a16="http://schemas.microsoft.com/office/drawing/2014/main" xmlns="" id="{F65B7A26-E792-47F9-85D2-F972294E4CF6}"/>
                  </a:ext>
                </a:extLst>
              </p:cNvPr>
              <p:cNvSpPr/>
              <p:nvPr/>
            </p:nvSpPr>
            <p:spPr bwMode="auto">
              <a:xfrm>
                <a:off x="5783263" y="3398838"/>
                <a:ext cx="214313" cy="266700"/>
              </a:xfrm>
              <a:custGeom>
                <a:avLst/>
                <a:gdLst>
                  <a:gd name="T0" fmla="*/ 36 w 135"/>
                  <a:gd name="T1" fmla="*/ 168 h 168"/>
                  <a:gd name="T2" fmla="*/ 98 w 135"/>
                  <a:gd name="T3" fmla="*/ 168 h 168"/>
                  <a:gd name="T4" fmla="*/ 98 w 135"/>
                  <a:gd name="T5" fmla="*/ 70 h 168"/>
                  <a:gd name="T6" fmla="*/ 135 w 135"/>
                  <a:gd name="T7" fmla="*/ 70 h 168"/>
                  <a:gd name="T8" fmla="*/ 67 w 135"/>
                  <a:gd name="T9" fmla="*/ 0 h 168"/>
                  <a:gd name="T10" fmla="*/ 0 w 135"/>
                  <a:gd name="T11" fmla="*/ 70 h 168"/>
                  <a:gd name="T12" fmla="*/ 36 w 135"/>
                  <a:gd name="T13" fmla="*/ 70 h 168"/>
                  <a:gd name="T14" fmla="*/ 36 w 135"/>
                  <a:gd name="T15" fmla="*/ 168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5" h="168">
                    <a:moveTo>
                      <a:pt x="36" y="168"/>
                    </a:moveTo>
                    <a:lnTo>
                      <a:pt x="98" y="168"/>
                    </a:lnTo>
                    <a:lnTo>
                      <a:pt x="98" y="70"/>
                    </a:lnTo>
                    <a:lnTo>
                      <a:pt x="135" y="70"/>
                    </a:lnTo>
                    <a:lnTo>
                      <a:pt x="67" y="0"/>
                    </a:lnTo>
                    <a:lnTo>
                      <a:pt x="0" y="70"/>
                    </a:lnTo>
                    <a:lnTo>
                      <a:pt x="36" y="70"/>
                    </a:lnTo>
                    <a:lnTo>
                      <a:pt x="36" y="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" name="Rectangle 427">
                <a:extLst>
                  <a:ext uri="{FF2B5EF4-FFF2-40B4-BE49-F238E27FC236}">
                    <a16:creationId xmlns:a16="http://schemas.microsoft.com/office/drawing/2014/main" xmlns="" id="{C368463A-6A5A-49B0-9F7C-4CA26AD7EC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78500" y="3692525"/>
                <a:ext cx="641350" cy="619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" name="Oval 428">
                <a:extLst>
                  <a:ext uri="{FF2B5EF4-FFF2-40B4-BE49-F238E27FC236}">
                    <a16:creationId xmlns:a16="http://schemas.microsoft.com/office/drawing/2014/main" xmlns="" id="{108B0B09-358B-41FD-B6C9-E24FED2E5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8400" y="3105150"/>
                <a:ext cx="88900" cy="1095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" name="Freeform 429">
                <a:extLst>
                  <a:ext uri="{FF2B5EF4-FFF2-40B4-BE49-F238E27FC236}">
                    <a16:creationId xmlns:a16="http://schemas.microsoft.com/office/drawing/2014/main" xmlns="" id="{6AD36026-0647-4CF9-B6B8-8368B2AD47DE}"/>
                  </a:ext>
                </a:extLst>
              </p:cNvPr>
              <p:cNvSpPr/>
              <p:nvPr/>
            </p:nvSpPr>
            <p:spPr bwMode="auto">
              <a:xfrm>
                <a:off x="6188075" y="3222625"/>
                <a:ext cx="206375" cy="442913"/>
              </a:xfrm>
              <a:custGeom>
                <a:avLst/>
                <a:gdLst>
                  <a:gd name="T0" fmla="*/ 7 w 54"/>
                  <a:gd name="T1" fmla="*/ 61 h 116"/>
                  <a:gd name="T2" fmla="*/ 8 w 54"/>
                  <a:gd name="T3" fmla="*/ 61 h 116"/>
                  <a:gd name="T4" fmla="*/ 9 w 54"/>
                  <a:gd name="T5" fmla="*/ 61 h 116"/>
                  <a:gd name="T6" fmla="*/ 11 w 54"/>
                  <a:gd name="T7" fmla="*/ 116 h 116"/>
                  <a:gd name="T8" fmla="*/ 26 w 54"/>
                  <a:gd name="T9" fmla="*/ 116 h 116"/>
                  <a:gd name="T10" fmla="*/ 26 w 54"/>
                  <a:gd name="T11" fmla="*/ 61 h 116"/>
                  <a:gd name="T12" fmla="*/ 28 w 54"/>
                  <a:gd name="T13" fmla="*/ 61 h 116"/>
                  <a:gd name="T14" fmla="*/ 30 w 54"/>
                  <a:gd name="T15" fmla="*/ 116 h 116"/>
                  <a:gd name="T16" fmla="*/ 45 w 54"/>
                  <a:gd name="T17" fmla="*/ 116 h 116"/>
                  <a:gd name="T18" fmla="*/ 45 w 54"/>
                  <a:gd name="T19" fmla="*/ 61 h 116"/>
                  <a:gd name="T20" fmla="*/ 46 w 54"/>
                  <a:gd name="T21" fmla="*/ 61 h 116"/>
                  <a:gd name="T22" fmla="*/ 47 w 54"/>
                  <a:gd name="T23" fmla="*/ 61 h 116"/>
                  <a:gd name="T24" fmla="*/ 47 w 54"/>
                  <a:gd name="T25" fmla="*/ 61 h 116"/>
                  <a:gd name="T26" fmla="*/ 54 w 54"/>
                  <a:gd name="T27" fmla="*/ 61 h 116"/>
                  <a:gd name="T28" fmla="*/ 50 w 54"/>
                  <a:gd name="T29" fmla="*/ 8 h 116"/>
                  <a:gd name="T30" fmla="*/ 43 w 54"/>
                  <a:gd name="T31" fmla="*/ 1 h 116"/>
                  <a:gd name="T32" fmla="*/ 37 w 54"/>
                  <a:gd name="T33" fmla="*/ 0 h 116"/>
                  <a:gd name="T34" fmla="*/ 37 w 54"/>
                  <a:gd name="T35" fmla="*/ 1 h 116"/>
                  <a:gd name="T36" fmla="*/ 41 w 54"/>
                  <a:gd name="T37" fmla="*/ 5 h 116"/>
                  <a:gd name="T38" fmla="*/ 36 w 54"/>
                  <a:gd name="T39" fmla="*/ 8 h 116"/>
                  <a:gd name="T40" fmla="*/ 38 w 54"/>
                  <a:gd name="T41" fmla="*/ 12 h 116"/>
                  <a:gd name="T42" fmla="*/ 31 w 54"/>
                  <a:gd name="T43" fmla="*/ 28 h 116"/>
                  <a:gd name="T44" fmla="*/ 30 w 54"/>
                  <a:gd name="T45" fmla="*/ 6 h 116"/>
                  <a:gd name="T46" fmla="*/ 31 w 54"/>
                  <a:gd name="T47" fmla="*/ 5 h 116"/>
                  <a:gd name="T48" fmla="*/ 30 w 54"/>
                  <a:gd name="T49" fmla="*/ 0 h 116"/>
                  <a:gd name="T50" fmla="*/ 25 w 54"/>
                  <a:gd name="T51" fmla="*/ 0 h 116"/>
                  <a:gd name="T52" fmla="*/ 23 w 54"/>
                  <a:gd name="T53" fmla="*/ 5 h 116"/>
                  <a:gd name="T54" fmla="*/ 24 w 54"/>
                  <a:gd name="T55" fmla="*/ 6 h 116"/>
                  <a:gd name="T56" fmla="*/ 23 w 54"/>
                  <a:gd name="T57" fmla="*/ 29 h 116"/>
                  <a:gd name="T58" fmla="*/ 16 w 54"/>
                  <a:gd name="T59" fmla="*/ 12 h 116"/>
                  <a:gd name="T60" fmla="*/ 18 w 54"/>
                  <a:gd name="T61" fmla="*/ 8 h 116"/>
                  <a:gd name="T62" fmla="*/ 13 w 54"/>
                  <a:gd name="T63" fmla="*/ 5 h 116"/>
                  <a:gd name="T64" fmla="*/ 17 w 54"/>
                  <a:gd name="T65" fmla="*/ 1 h 116"/>
                  <a:gd name="T66" fmla="*/ 17 w 54"/>
                  <a:gd name="T67" fmla="*/ 0 h 116"/>
                  <a:gd name="T68" fmla="*/ 11 w 54"/>
                  <a:gd name="T69" fmla="*/ 1 h 116"/>
                  <a:gd name="T70" fmla="*/ 4 w 54"/>
                  <a:gd name="T71" fmla="*/ 8 h 116"/>
                  <a:gd name="T72" fmla="*/ 0 w 54"/>
                  <a:gd name="T73" fmla="*/ 61 h 116"/>
                  <a:gd name="T74" fmla="*/ 7 w 54"/>
                  <a:gd name="T75" fmla="*/ 61 h 116"/>
                  <a:gd name="T76" fmla="*/ 7 w 54"/>
                  <a:gd name="T77" fmla="*/ 6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54" h="116">
                    <a:moveTo>
                      <a:pt x="7" y="61"/>
                    </a:moveTo>
                    <a:cubicBezTo>
                      <a:pt x="8" y="61"/>
                      <a:pt x="8" y="61"/>
                      <a:pt x="8" y="61"/>
                    </a:cubicBezTo>
                    <a:cubicBezTo>
                      <a:pt x="8" y="61"/>
                      <a:pt x="9" y="61"/>
                      <a:pt x="9" y="61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26" y="116"/>
                      <a:pt x="26" y="116"/>
                      <a:pt x="26" y="116"/>
                    </a:cubicBezTo>
                    <a:cubicBezTo>
                      <a:pt x="27" y="100"/>
                      <a:pt x="27" y="72"/>
                      <a:pt x="26" y="61"/>
                    </a:cubicBezTo>
                    <a:cubicBezTo>
                      <a:pt x="27" y="61"/>
                      <a:pt x="27" y="61"/>
                      <a:pt x="28" y="61"/>
                    </a:cubicBezTo>
                    <a:cubicBezTo>
                      <a:pt x="30" y="116"/>
                      <a:pt x="30" y="116"/>
                      <a:pt x="30" y="116"/>
                    </a:cubicBezTo>
                    <a:cubicBezTo>
                      <a:pt x="45" y="116"/>
                      <a:pt x="45" y="116"/>
                      <a:pt x="45" y="116"/>
                    </a:cubicBezTo>
                    <a:cubicBezTo>
                      <a:pt x="46" y="100"/>
                      <a:pt x="45" y="72"/>
                      <a:pt x="45" y="61"/>
                    </a:cubicBezTo>
                    <a:cubicBezTo>
                      <a:pt x="46" y="61"/>
                      <a:pt x="46" y="61"/>
                      <a:pt x="46" y="61"/>
                    </a:cubicBezTo>
                    <a:cubicBezTo>
                      <a:pt x="46" y="61"/>
                      <a:pt x="47" y="61"/>
                      <a:pt x="47" y="61"/>
                    </a:cubicBezTo>
                    <a:cubicBezTo>
                      <a:pt x="47" y="61"/>
                      <a:pt x="47" y="61"/>
                      <a:pt x="47" y="61"/>
                    </a:cubicBezTo>
                    <a:cubicBezTo>
                      <a:pt x="49" y="61"/>
                      <a:pt x="52" y="61"/>
                      <a:pt x="54" y="61"/>
                    </a:cubicBezTo>
                    <a:cubicBezTo>
                      <a:pt x="50" y="8"/>
                      <a:pt x="50" y="8"/>
                      <a:pt x="50" y="8"/>
                    </a:cubicBezTo>
                    <a:cubicBezTo>
                      <a:pt x="50" y="4"/>
                      <a:pt x="47" y="1"/>
                      <a:pt x="43" y="1"/>
                    </a:cubicBezTo>
                    <a:cubicBezTo>
                      <a:pt x="43" y="1"/>
                      <a:pt x="38" y="1"/>
                      <a:pt x="37" y="0"/>
                    </a:cubicBezTo>
                    <a:cubicBezTo>
                      <a:pt x="37" y="1"/>
                      <a:pt x="37" y="1"/>
                      <a:pt x="37" y="1"/>
                    </a:cubicBezTo>
                    <a:cubicBezTo>
                      <a:pt x="41" y="5"/>
                      <a:pt x="41" y="5"/>
                      <a:pt x="41" y="5"/>
                    </a:cubicBezTo>
                    <a:cubicBezTo>
                      <a:pt x="36" y="8"/>
                      <a:pt x="36" y="8"/>
                      <a:pt x="36" y="8"/>
                    </a:cubicBezTo>
                    <a:cubicBezTo>
                      <a:pt x="38" y="12"/>
                      <a:pt x="38" y="12"/>
                      <a:pt x="38" y="12"/>
                    </a:cubicBezTo>
                    <a:cubicBezTo>
                      <a:pt x="31" y="28"/>
                      <a:pt x="31" y="28"/>
                      <a:pt x="31" y="2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31" y="5"/>
                      <a:pt x="31" y="5"/>
                      <a:pt x="31" y="5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4" y="6"/>
                      <a:pt x="24" y="6"/>
                      <a:pt x="24" y="6"/>
                    </a:cubicBezTo>
                    <a:cubicBezTo>
                      <a:pt x="23" y="29"/>
                      <a:pt x="23" y="29"/>
                      <a:pt x="23" y="29"/>
                    </a:cubicBezTo>
                    <a:cubicBezTo>
                      <a:pt x="16" y="12"/>
                      <a:pt x="16" y="12"/>
                      <a:pt x="16" y="12"/>
                    </a:cubicBezTo>
                    <a:cubicBezTo>
                      <a:pt x="18" y="8"/>
                      <a:pt x="18" y="8"/>
                      <a:pt x="18" y="8"/>
                    </a:cubicBezTo>
                    <a:cubicBezTo>
                      <a:pt x="13" y="5"/>
                      <a:pt x="13" y="5"/>
                      <a:pt x="13" y="5"/>
                    </a:cubicBezTo>
                    <a:cubicBezTo>
                      <a:pt x="17" y="1"/>
                      <a:pt x="17" y="1"/>
                      <a:pt x="17" y="1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6" y="1"/>
                      <a:pt x="11" y="1"/>
                      <a:pt x="11" y="1"/>
                    </a:cubicBezTo>
                    <a:cubicBezTo>
                      <a:pt x="8" y="1"/>
                      <a:pt x="5" y="4"/>
                      <a:pt x="4" y="8"/>
                    </a:cubicBezTo>
                    <a:cubicBezTo>
                      <a:pt x="0" y="61"/>
                      <a:pt x="0" y="61"/>
                      <a:pt x="0" y="61"/>
                    </a:cubicBezTo>
                    <a:cubicBezTo>
                      <a:pt x="3" y="61"/>
                      <a:pt x="5" y="61"/>
                      <a:pt x="7" y="61"/>
                    </a:cubicBezTo>
                    <a:cubicBezTo>
                      <a:pt x="7" y="61"/>
                      <a:pt x="7" y="61"/>
                      <a:pt x="7" y="6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9148CD87-D12B-4D5C-A1BE-E6F8ED1A1C58}"/>
              </a:ext>
            </a:extLst>
          </p:cNvPr>
          <p:cNvGrpSpPr/>
          <p:nvPr/>
        </p:nvGrpSpPr>
        <p:grpSpPr>
          <a:xfrm>
            <a:off x="6542850" y="5875923"/>
            <a:ext cx="342764" cy="342764"/>
            <a:chOff x="6542850" y="5875923"/>
            <a:chExt cx="342764" cy="342764"/>
          </a:xfrm>
        </p:grpSpPr>
        <p:sp>
          <p:nvSpPr>
            <p:cNvPr id="47" name="椭圆 46">
              <a:extLst>
                <a:ext uri="{FF2B5EF4-FFF2-40B4-BE49-F238E27FC236}">
                  <a16:creationId xmlns:a16="http://schemas.microsoft.com/office/drawing/2014/main" xmlns="" id="{E3BF3175-9BC8-4E76-8B89-97FB03BB8263}"/>
                </a:ext>
              </a:extLst>
            </p:cNvPr>
            <p:cNvSpPr/>
            <p:nvPr/>
          </p:nvSpPr>
          <p:spPr>
            <a:xfrm>
              <a:off x="6542850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xmlns="" id="{C06505D0-EA39-41E4-9510-2423A2335B4A}"/>
                </a:ext>
              </a:extLst>
            </p:cNvPr>
            <p:cNvGrpSpPr/>
            <p:nvPr/>
          </p:nvGrpSpPr>
          <p:grpSpPr>
            <a:xfrm>
              <a:off x="6626221" y="5960251"/>
              <a:ext cx="200055" cy="198141"/>
              <a:chOff x="5767388" y="3098800"/>
              <a:chExt cx="663575" cy="657225"/>
            </a:xfrm>
            <a:solidFill>
              <a:schemeClr val="accent1"/>
            </a:solidFill>
          </p:grpSpPr>
          <p:sp>
            <p:nvSpPr>
              <p:cNvPr id="49" name="Freeform 253">
                <a:extLst>
                  <a:ext uri="{FF2B5EF4-FFF2-40B4-BE49-F238E27FC236}">
                    <a16:creationId xmlns:a16="http://schemas.microsoft.com/office/drawing/2014/main" xmlns="" id="{D42B857E-69FF-447F-9286-4AAD220504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67388" y="3098800"/>
                <a:ext cx="663575" cy="519113"/>
              </a:xfrm>
              <a:custGeom>
                <a:avLst/>
                <a:gdLst>
                  <a:gd name="T0" fmla="*/ 165 w 174"/>
                  <a:gd name="T1" fmla="*/ 0 h 136"/>
                  <a:gd name="T2" fmla="*/ 9 w 174"/>
                  <a:gd name="T3" fmla="*/ 0 h 136"/>
                  <a:gd name="T4" fmla="*/ 0 w 174"/>
                  <a:gd name="T5" fmla="*/ 9 h 136"/>
                  <a:gd name="T6" fmla="*/ 0 w 174"/>
                  <a:gd name="T7" fmla="*/ 128 h 136"/>
                  <a:gd name="T8" fmla="*/ 9 w 174"/>
                  <a:gd name="T9" fmla="*/ 136 h 136"/>
                  <a:gd name="T10" fmla="*/ 50 w 174"/>
                  <a:gd name="T11" fmla="*/ 136 h 136"/>
                  <a:gd name="T12" fmla="*/ 41 w 174"/>
                  <a:gd name="T13" fmla="*/ 121 h 136"/>
                  <a:gd name="T14" fmla="*/ 17 w 174"/>
                  <a:gd name="T15" fmla="*/ 121 h 136"/>
                  <a:gd name="T16" fmla="*/ 17 w 174"/>
                  <a:gd name="T17" fmla="*/ 16 h 136"/>
                  <a:gd name="T18" fmla="*/ 157 w 174"/>
                  <a:gd name="T19" fmla="*/ 16 h 136"/>
                  <a:gd name="T20" fmla="*/ 157 w 174"/>
                  <a:gd name="T21" fmla="*/ 121 h 136"/>
                  <a:gd name="T22" fmla="*/ 133 w 174"/>
                  <a:gd name="T23" fmla="*/ 121 h 136"/>
                  <a:gd name="T24" fmla="*/ 133 w 174"/>
                  <a:gd name="T25" fmla="*/ 127 h 136"/>
                  <a:gd name="T26" fmla="*/ 131 w 174"/>
                  <a:gd name="T27" fmla="*/ 136 h 136"/>
                  <a:gd name="T28" fmla="*/ 165 w 174"/>
                  <a:gd name="T29" fmla="*/ 136 h 136"/>
                  <a:gd name="T30" fmla="*/ 174 w 174"/>
                  <a:gd name="T31" fmla="*/ 128 h 136"/>
                  <a:gd name="T32" fmla="*/ 174 w 174"/>
                  <a:gd name="T33" fmla="*/ 9 h 136"/>
                  <a:gd name="T34" fmla="*/ 165 w 174"/>
                  <a:gd name="T35" fmla="*/ 0 h 136"/>
                  <a:gd name="T36" fmla="*/ 8 w 174"/>
                  <a:gd name="T37" fmla="*/ 74 h 136"/>
                  <a:gd name="T38" fmla="*/ 3 w 174"/>
                  <a:gd name="T39" fmla="*/ 68 h 136"/>
                  <a:gd name="T40" fmla="*/ 8 w 174"/>
                  <a:gd name="T41" fmla="*/ 63 h 136"/>
                  <a:gd name="T42" fmla="*/ 14 w 174"/>
                  <a:gd name="T43" fmla="*/ 68 h 136"/>
                  <a:gd name="T44" fmla="*/ 8 w 174"/>
                  <a:gd name="T45" fmla="*/ 74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74" h="136">
                    <a:moveTo>
                      <a:pt x="165" y="0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4" y="0"/>
                      <a:pt x="0" y="4"/>
                      <a:pt x="0" y="9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32"/>
                      <a:pt x="4" y="136"/>
                      <a:pt x="9" y="136"/>
                    </a:cubicBezTo>
                    <a:cubicBezTo>
                      <a:pt x="50" y="136"/>
                      <a:pt x="50" y="136"/>
                      <a:pt x="50" y="136"/>
                    </a:cubicBezTo>
                    <a:cubicBezTo>
                      <a:pt x="46" y="131"/>
                      <a:pt x="43" y="126"/>
                      <a:pt x="41" y="121"/>
                    </a:cubicBezTo>
                    <a:cubicBezTo>
                      <a:pt x="17" y="121"/>
                      <a:pt x="17" y="121"/>
                      <a:pt x="17" y="121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57" y="16"/>
                      <a:pt x="157" y="16"/>
                      <a:pt x="157" y="16"/>
                    </a:cubicBezTo>
                    <a:cubicBezTo>
                      <a:pt x="157" y="121"/>
                      <a:pt x="157" y="121"/>
                      <a:pt x="157" y="121"/>
                    </a:cubicBezTo>
                    <a:cubicBezTo>
                      <a:pt x="133" y="121"/>
                      <a:pt x="133" y="121"/>
                      <a:pt x="133" y="121"/>
                    </a:cubicBezTo>
                    <a:cubicBezTo>
                      <a:pt x="133" y="127"/>
                      <a:pt x="133" y="127"/>
                      <a:pt x="133" y="127"/>
                    </a:cubicBezTo>
                    <a:cubicBezTo>
                      <a:pt x="133" y="130"/>
                      <a:pt x="132" y="133"/>
                      <a:pt x="131" y="136"/>
                    </a:cubicBezTo>
                    <a:cubicBezTo>
                      <a:pt x="165" y="136"/>
                      <a:pt x="165" y="136"/>
                      <a:pt x="165" y="136"/>
                    </a:cubicBezTo>
                    <a:cubicBezTo>
                      <a:pt x="170" y="136"/>
                      <a:pt x="174" y="132"/>
                      <a:pt x="174" y="128"/>
                    </a:cubicBezTo>
                    <a:cubicBezTo>
                      <a:pt x="174" y="9"/>
                      <a:pt x="174" y="9"/>
                      <a:pt x="174" y="9"/>
                    </a:cubicBezTo>
                    <a:cubicBezTo>
                      <a:pt x="174" y="4"/>
                      <a:pt x="170" y="0"/>
                      <a:pt x="165" y="0"/>
                    </a:cubicBezTo>
                    <a:close/>
                    <a:moveTo>
                      <a:pt x="8" y="74"/>
                    </a:moveTo>
                    <a:cubicBezTo>
                      <a:pt x="5" y="74"/>
                      <a:pt x="3" y="71"/>
                      <a:pt x="3" y="68"/>
                    </a:cubicBezTo>
                    <a:cubicBezTo>
                      <a:pt x="3" y="65"/>
                      <a:pt x="5" y="63"/>
                      <a:pt x="8" y="63"/>
                    </a:cubicBezTo>
                    <a:cubicBezTo>
                      <a:pt x="11" y="63"/>
                      <a:pt x="14" y="65"/>
                      <a:pt x="14" y="68"/>
                    </a:cubicBezTo>
                    <a:cubicBezTo>
                      <a:pt x="14" y="71"/>
                      <a:pt x="11" y="74"/>
                      <a:pt x="8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0" name="Freeform 254">
                <a:extLst>
                  <a:ext uri="{FF2B5EF4-FFF2-40B4-BE49-F238E27FC236}">
                    <a16:creationId xmlns:a16="http://schemas.microsoft.com/office/drawing/2014/main" xmlns="" id="{0C92A0B8-18D5-496D-A0F7-C493E6DF8C99}"/>
                  </a:ext>
                </a:extLst>
              </p:cNvPr>
              <p:cNvSpPr/>
              <p:nvPr/>
            </p:nvSpPr>
            <p:spPr bwMode="auto">
              <a:xfrm>
                <a:off x="5913438" y="3235325"/>
                <a:ext cx="334963" cy="520700"/>
              </a:xfrm>
              <a:custGeom>
                <a:avLst/>
                <a:gdLst>
                  <a:gd name="T0" fmla="*/ 88 w 88"/>
                  <a:gd name="T1" fmla="*/ 72 h 136"/>
                  <a:gd name="T2" fmla="*/ 88 w 88"/>
                  <a:gd name="T3" fmla="*/ 69 h 136"/>
                  <a:gd name="T4" fmla="*/ 88 w 88"/>
                  <a:gd name="T5" fmla="*/ 47 h 136"/>
                  <a:gd name="T6" fmla="*/ 81 w 88"/>
                  <a:gd name="T7" fmla="*/ 40 h 136"/>
                  <a:gd name="T8" fmla="*/ 73 w 88"/>
                  <a:gd name="T9" fmla="*/ 47 h 136"/>
                  <a:gd name="T10" fmla="*/ 73 w 88"/>
                  <a:gd name="T11" fmla="*/ 49 h 136"/>
                  <a:gd name="T12" fmla="*/ 72 w 88"/>
                  <a:gd name="T13" fmla="*/ 48 h 136"/>
                  <a:gd name="T14" fmla="*/ 72 w 88"/>
                  <a:gd name="T15" fmla="*/ 37 h 136"/>
                  <a:gd name="T16" fmla="*/ 64 w 88"/>
                  <a:gd name="T17" fmla="*/ 30 h 136"/>
                  <a:gd name="T18" fmla="*/ 57 w 88"/>
                  <a:gd name="T19" fmla="*/ 37 h 136"/>
                  <a:gd name="T20" fmla="*/ 57 w 88"/>
                  <a:gd name="T21" fmla="*/ 43 h 136"/>
                  <a:gd name="T22" fmla="*/ 55 w 88"/>
                  <a:gd name="T23" fmla="*/ 43 h 136"/>
                  <a:gd name="T24" fmla="*/ 55 w 88"/>
                  <a:gd name="T25" fmla="*/ 31 h 136"/>
                  <a:gd name="T26" fmla="*/ 48 w 88"/>
                  <a:gd name="T27" fmla="*/ 24 h 136"/>
                  <a:gd name="T28" fmla="*/ 40 w 88"/>
                  <a:gd name="T29" fmla="*/ 31 h 136"/>
                  <a:gd name="T30" fmla="*/ 40 w 88"/>
                  <a:gd name="T31" fmla="*/ 40 h 136"/>
                  <a:gd name="T32" fmla="*/ 38 w 88"/>
                  <a:gd name="T33" fmla="*/ 41 h 136"/>
                  <a:gd name="T34" fmla="*/ 38 w 88"/>
                  <a:gd name="T35" fmla="*/ 7 h 136"/>
                  <a:gd name="T36" fmla="*/ 31 w 88"/>
                  <a:gd name="T37" fmla="*/ 0 h 136"/>
                  <a:gd name="T38" fmla="*/ 24 w 88"/>
                  <a:gd name="T39" fmla="*/ 7 h 136"/>
                  <a:gd name="T40" fmla="*/ 24 w 88"/>
                  <a:gd name="T41" fmla="*/ 67 h 136"/>
                  <a:gd name="T42" fmla="*/ 22 w 88"/>
                  <a:gd name="T43" fmla="*/ 56 h 136"/>
                  <a:gd name="T44" fmla="*/ 8 w 88"/>
                  <a:gd name="T45" fmla="*/ 40 h 136"/>
                  <a:gd name="T46" fmla="*/ 1 w 88"/>
                  <a:gd name="T47" fmla="*/ 46 h 136"/>
                  <a:gd name="T48" fmla="*/ 8 w 88"/>
                  <a:gd name="T49" fmla="*/ 73 h 136"/>
                  <a:gd name="T50" fmla="*/ 20 w 88"/>
                  <a:gd name="T51" fmla="*/ 98 h 136"/>
                  <a:gd name="T52" fmla="*/ 22 w 88"/>
                  <a:gd name="T53" fmla="*/ 101 h 136"/>
                  <a:gd name="T54" fmla="*/ 32 w 88"/>
                  <a:gd name="T55" fmla="*/ 111 h 136"/>
                  <a:gd name="T56" fmla="*/ 32 w 88"/>
                  <a:gd name="T57" fmla="*/ 136 h 136"/>
                  <a:gd name="T58" fmla="*/ 81 w 88"/>
                  <a:gd name="T59" fmla="*/ 136 h 136"/>
                  <a:gd name="T60" fmla="*/ 81 w 88"/>
                  <a:gd name="T61" fmla="*/ 110 h 136"/>
                  <a:gd name="T62" fmla="*/ 87 w 88"/>
                  <a:gd name="T63" fmla="*/ 91 h 136"/>
                  <a:gd name="T64" fmla="*/ 88 w 88"/>
                  <a:gd name="T65" fmla="*/ 72 h 136"/>
                  <a:gd name="T66" fmla="*/ 88 w 88"/>
                  <a:gd name="T67" fmla="*/ 72 h 136"/>
                  <a:gd name="T68" fmla="*/ 88 w 88"/>
                  <a:gd name="T69" fmla="*/ 72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8" h="136">
                    <a:moveTo>
                      <a:pt x="88" y="72"/>
                    </a:moveTo>
                    <a:cubicBezTo>
                      <a:pt x="88" y="71"/>
                      <a:pt x="88" y="70"/>
                      <a:pt x="88" y="69"/>
                    </a:cubicBezTo>
                    <a:cubicBezTo>
                      <a:pt x="88" y="47"/>
                      <a:pt x="88" y="47"/>
                      <a:pt x="88" y="47"/>
                    </a:cubicBezTo>
                    <a:cubicBezTo>
                      <a:pt x="88" y="43"/>
                      <a:pt x="85" y="40"/>
                      <a:pt x="81" y="40"/>
                    </a:cubicBezTo>
                    <a:cubicBezTo>
                      <a:pt x="77" y="40"/>
                      <a:pt x="73" y="43"/>
                      <a:pt x="73" y="47"/>
                    </a:cubicBezTo>
                    <a:cubicBezTo>
                      <a:pt x="73" y="49"/>
                      <a:pt x="73" y="49"/>
                      <a:pt x="73" y="49"/>
                    </a:cubicBezTo>
                    <a:cubicBezTo>
                      <a:pt x="73" y="49"/>
                      <a:pt x="72" y="48"/>
                      <a:pt x="72" y="48"/>
                    </a:cubicBezTo>
                    <a:cubicBezTo>
                      <a:pt x="72" y="37"/>
                      <a:pt x="72" y="37"/>
                      <a:pt x="72" y="37"/>
                    </a:cubicBezTo>
                    <a:cubicBezTo>
                      <a:pt x="72" y="33"/>
                      <a:pt x="68" y="30"/>
                      <a:pt x="64" y="30"/>
                    </a:cubicBezTo>
                    <a:cubicBezTo>
                      <a:pt x="60" y="30"/>
                      <a:pt x="57" y="33"/>
                      <a:pt x="57" y="37"/>
                    </a:cubicBezTo>
                    <a:cubicBezTo>
                      <a:pt x="57" y="43"/>
                      <a:pt x="57" y="43"/>
                      <a:pt x="57" y="43"/>
                    </a:cubicBezTo>
                    <a:cubicBezTo>
                      <a:pt x="56" y="43"/>
                      <a:pt x="56" y="43"/>
                      <a:pt x="55" y="43"/>
                    </a:cubicBezTo>
                    <a:cubicBezTo>
                      <a:pt x="55" y="31"/>
                      <a:pt x="55" y="31"/>
                      <a:pt x="55" y="31"/>
                    </a:cubicBezTo>
                    <a:cubicBezTo>
                      <a:pt x="55" y="27"/>
                      <a:pt x="52" y="24"/>
                      <a:pt x="48" y="24"/>
                    </a:cubicBezTo>
                    <a:cubicBezTo>
                      <a:pt x="44" y="24"/>
                      <a:pt x="40" y="27"/>
                      <a:pt x="40" y="31"/>
                    </a:cubicBezTo>
                    <a:cubicBezTo>
                      <a:pt x="40" y="40"/>
                      <a:pt x="40" y="40"/>
                      <a:pt x="40" y="40"/>
                    </a:cubicBezTo>
                    <a:cubicBezTo>
                      <a:pt x="40" y="40"/>
                      <a:pt x="39" y="40"/>
                      <a:pt x="38" y="41"/>
                    </a:cubicBezTo>
                    <a:cubicBezTo>
                      <a:pt x="38" y="7"/>
                      <a:pt x="38" y="7"/>
                      <a:pt x="38" y="7"/>
                    </a:cubicBezTo>
                    <a:cubicBezTo>
                      <a:pt x="38" y="3"/>
                      <a:pt x="35" y="0"/>
                      <a:pt x="31" y="0"/>
                    </a:cubicBezTo>
                    <a:cubicBezTo>
                      <a:pt x="27" y="0"/>
                      <a:pt x="24" y="3"/>
                      <a:pt x="24" y="7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2" y="63"/>
                      <a:pt x="22" y="59"/>
                      <a:pt x="22" y="56"/>
                    </a:cubicBezTo>
                    <a:cubicBezTo>
                      <a:pt x="19" y="44"/>
                      <a:pt x="12" y="39"/>
                      <a:pt x="8" y="40"/>
                    </a:cubicBezTo>
                    <a:cubicBezTo>
                      <a:pt x="7" y="40"/>
                      <a:pt x="0" y="43"/>
                      <a:pt x="1" y="46"/>
                    </a:cubicBezTo>
                    <a:cubicBezTo>
                      <a:pt x="2" y="48"/>
                      <a:pt x="7" y="60"/>
                      <a:pt x="8" y="73"/>
                    </a:cubicBezTo>
                    <a:cubicBezTo>
                      <a:pt x="8" y="82"/>
                      <a:pt x="14" y="91"/>
                      <a:pt x="20" y="98"/>
                    </a:cubicBezTo>
                    <a:cubicBezTo>
                      <a:pt x="20" y="99"/>
                      <a:pt x="21" y="100"/>
                      <a:pt x="22" y="101"/>
                    </a:cubicBezTo>
                    <a:cubicBezTo>
                      <a:pt x="32" y="111"/>
                      <a:pt x="32" y="111"/>
                      <a:pt x="32" y="111"/>
                    </a:cubicBezTo>
                    <a:cubicBezTo>
                      <a:pt x="32" y="136"/>
                      <a:pt x="32" y="136"/>
                      <a:pt x="32" y="136"/>
                    </a:cubicBezTo>
                    <a:cubicBezTo>
                      <a:pt x="81" y="136"/>
                      <a:pt x="81" y="136"/>
                      <a:pt x="81" y="136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5" y="104"/>
                      <a:pt x="87" y="97"/>
                      <a:pt x="87" y="91"/>
                    </a:cubicBezTo>
                    <a:cubicBezTo>
                      <a:pt x="88" y="85"/>
                      <a:pt x="88" y="78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ubicBezTo>
                      <a:pt x="88" y="72"/>
                      <a:pt x="88" y="72"/>
                      <a:pt x="88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28A69667-C074-4130-B878-C9696CB90B22}"/>
              </a:ext>
            </a:extLst>
          </p:cNvPr>
          <p:cNvGrpSpPr/>
          <p:nvPr/>
        </p:nvGrpSpPr>
        <p:grpSpPr>
          <a:xfrm>
            <a:off x="7161082" y="5875923"/>
            <a:ext cx="342764" cy="342764"/>
            <a:chOff x="7161082" y="5875923"/>
            <a:chExt cx="342764" cy="342764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xmlns="" id="{091EA3C8-07DE-4A3E-9DF5-7E464F3C9B28}"/>
                </a:ext>
              </a:extLst>
            </p:cNvPr>
            <p:cNvSpPr/>
            <p:nvPr/>
          </p:nvSpPr>
          <p:spPr>
            <a:xfrm>
              <a:off x="7161082" y="5875923"/>
              <a:ext cx="342764" cy="3427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xmlns="" id="{1366B173-583E-4E60-8585-FBA0D99DD8AA}"/>
                </a:ext>
              </a:extLst>
            </p:cNvPr>
            <p:cNvGrpSpPr>
              <a:grpSpLocks noChangeAspect="1"/>
            </p:cNvGrpSpPr>
            <p:nvPr/>
          </p:nvGrpSpPr>
          <p:grpSpPr>
            <a:xfrm flipH="1">
              <a:off x="7229508" y="5947390"/>
              <a:ext cx="205911" cy="199830"/>
              <a:chOff x="5719763" y="3063875"/>
              <a:chExt cx="752475" cy="730250"/>
            </a:xfrm>
            <a:solidFill>
              <a:schemeClr val="accent1"/>
            </a:solidFill>
          </p:grpSpPr>
          <p:sp>
            <p:nvSpPr>
              <p:cNvPr id="54" name="Oval 154">
                <a:extLst>
                  <a:ext uri="{FF2B5EF4-FFF2-40B4-BE49-F238E27FC236}">
                    <a16:creationId xmlns:a16="http://schemas.microsoft.com/office/drawing/2014/main" xmlns="" id="{F6500758-755F-441D-A869-1DE3F4A313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1088" y="3098800"/>
                <a:ext cx="95250" cy="1174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5" name="Rectangle 155">
                <a:extLst>
                  <a:ext uri="{FF2B5EF4-FFF2-40B4-BE49-F238E27FC236}">
                    <a16:creationId xmlns:a16="http://schemas.microsoft.com/office/drawing/2014/main" xmlns="" id="{513FA4C5-B132-4E85-B0EA-D9556FBF1E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10301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6" name="Freeform 156">
                <a:extLst>
                  <a:ext uri="{FF2B5EF4-FFF2-40B4-BE49-F238E27FC236}">
                    <a16:creationId xmlns:a16="http://schemas.microsoft.com/office/drawing/2014/main" xmlns="" id="{9122EC7F-A774-4371-87EE-B46FD6FC412C}"/>
                  </a:ext>
                </a:extLst>
              </p:cNvPr>
              <p:cNvSpPr/>
              <p:nvPr/>
            </p:nvSpPr>
            <p:spPr bwMode="auto">
              <a:xfrm>
                <a:off x="6191251" y="3235325"/>
                <a:ext cx="33338" cy="33338"/>
              </a:xfrm>
              <a:custGeom>
                <a:avLst/>
                <a:gdLst>
                  <a:gd name="T0" fmla="*/ 17 w 21"/>
                  <a:gd name="T1" fmla="*/ 0 h 21"/>
                  <a:gd name="T2" fmla="*/ 21 w 21"/>
                  <a:gd name="T3" fmla="*/ 12 h 21"/>
                  <a:gd name="T4" fmla="*/ 12 w 21"/>
                  <a:gd name="T5" fmla="*/ 21 h 21"/>
                  <a:gd name="T6" fmla="*/ 0 w 21"/>
                  <a:gd name="T7" fmla="*/ 12 h 21"/>
                  <a:gd name="T8" fmla="*/ 5 w 21"/>
                  <a:gd name="T9" fmla="*/ 0 h 21"/>
                  <a:gd name="T10" fmla="*/ 17 w 21"/>
                  <a:gd name="T11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21">
                    <a:moveTo>
                      <a:pt x="17" y="0"/>
                    </a:moveTo>
                    <a:lnTo>
                      <a:pt x="21" y="12"/>
                    </a:lnTo>
                    <a:lnTo>
                      <a:pt x="12" y="21"/>
                    </a:lnTo>
                    <a:lnTo>
                      <a:pt x="0" y="12"/>
                    </a:lnTo>
                    <a:lnTo>
                      <a:pt x="5" y="0"/>
                    </a:ln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7" name="Freeform 157">
                <a:extLst>
                  <a:ext uri="{FF2B5EF4-FFF2-40B4-BE49-F238E27FC236}">
                    <a16:creationId xmlns:a16="http://schemas.microsoft.com/office/drawing/2014/main" xmlns="" id="{9864FA0E-B9E6-4786-8FF4-750C43E41132}"/>
                  </a:ext>
                </a:extLst>
              </p:cNvPr>
              <p:cNvSpPr/>
              <p:nvPr/>
            </p:nvSpPr>
            <p:spPr bwMode="auto">
              <a:xfrm>
                <a:off x="6191251" y="3257550"/>
                <a:ext cx="33338" cy="141288"/>
              </a:xfrm>
              <a:custGeom>
                <a:avLst/>
                <a:gdLst>
                  <a:gd name="T0" fmla="*/ 19 w 21"/>
                  <a:gd name="T1" fmla="*/ 0 h 89"/>
                  <a:gd name="T2" fmla="*/ 21 w 21"/>
                  <a:gd name="T3" fmla="*/ 82 h 89"/>
                  <a:gd name="T4" fmla="*/ 12 w 21"/>
                  <a:gd name="T5" fmla="*/ 89 h 89"/>
                  <a:gd name="T6" fmla="*/ 0 w 21"/>
                  <a:gd name="T7" fmla="*/ 82 h 89"/>
                  <a:gd name="T8" fmla="*/ 5 w 21"/>
                  <a:gd name="T9" fmla="*/ 0 h 89"/>
                  <a:gd name="T10" fmla="*/ 19 w 21"/>
                  <a:gd name="T11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1" h="89">
                    <a:moveTo>
                      <a:pt x="19" y="0"/>
                    </a:moveTo>
                    <a:lnTo>
                      <a:pt x="21" y="82"/>
                    </a:lnTo>
                    <a:lnTo>
                      <a:pt x="12" y="89"/>
                    </a:lnTo>
                    <a:lnTo>
                      <a:pt x="0" y="82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8" name="Oval 158">
                <a:extLst>
                  <a:ext uri="{FF2B5EF4-FFF2-40B4-BE49-F238E27FC236}">
                    <a16:creationId xmlns:a16="http://schemas.microsoft.com/office/drawing/2014/main" xmlns="" id="{B28841C7-9E82-4417-99BB-F92212E43B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6288" y="3063875"/>
                <a:ext cx="111125" cy="1333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59" name="Rectangle 159">
                <a:extLst>
                  <a:ext uri="{FF2B5EF4-FFF2-40B4-BE49-F238E27FC236}">
                    <a16:creationId xmlns:a16="http://schemas.microsoft.com/office/drawing/2014/main" xmlns="" id="{EDE2B556-B937-4681-8F4D-5D6729C01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0" name="Freeform 160">
                <a:extLst>
                  <a:ext uri="{FF2B5EF4-FFF2-40B4-BE49-F238E27FC236}">
                    <a16:creationId xmlns:a16="http://schemas.microsoft.com/office/drawing/2014/main" xmlns="" id="{B91E5A24-C608-4095-A701-FE7CE461A55E}"/>
                  </a:ext>
                </a:extLst>
              </p:cNvPr>
              <p:cNvSpPr/>
              <p:nvPr/>
            </p:nvSpPr>
            <p:spPr bwMode="auto">
              <a:xfrm>
                <a:off x="5722938" y="3322638"/>
                <a:ext cx="0" cy="3175"/>
              </a:xfrm>
              <a:custGeom>
                <a:avLst/>
                <a:gdLst>
                  <a:gd name="T0" fmla="*/ 1 h 1"/>
                  <a:gd name="T1" fmla="*/ 1 h 1"/>
                  <a:gd name="T2" fmla="*/ 1 h 1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</a:cxnLst>
                <a:rect l="0" t="0" r="r" b="b"/>
                <a:pathLst>
                  <a:path h="1">
                    <a:moveTo>
                      <a:pt x="0" y="1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1" name="Rectangle 161">
                <a:extLst>
                  <a:ext uri="{FF2B5EF4-FFF2-40B4-BE49-F238E27FC236}">
                    <a16:creationId xmlns:a16="http://schemas.microsoft.com/office/drawing/2014/main" xmlns="" id="{933295DC-B98B-4C5B-A4DA-02FB61541B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3438" y="3387725"/>
                <a:ext cx="1588" cy="15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2" name="Freeform 162">
                <a:extLst>
                  <a:ext uri="{FF2B5EF4-FFF2-40B4-BE49-F238E27FC236}">
                    <a16:creationId xmlns:a16="http://schemas.microsoft.com/office/drawing/2014/main" xmlns="" id="{F1DFDE6F-926B-44F2-B553-04294D280831}"/>
                  </a:ext>
                </a:extLst>
              </p:cNvPr>
              <p:cNvSpPr/>
              <p:nvPr/>
            </p:nvSpPr>
            <p:spPr bwMode="auto">
              <a:xfrm>
                <a:off x="5894388" y="3205163"/>
                <a:ext cx="34925" cy="41275"/>
              </a:xfrm>
              <a:custGeom>
                <a:avLst/>
                <a:gdLst>
                  <a:gd name="T0" fmla="*/ 19 w 22"/>
                  <a:gd name="T1" fmla="*/ 0 h 26"/>
                  <a:gd name="T2" fmla="*/ 22 w 22"/>
                  <a:gd name="T3" fmla="*/ 16 h 26"/>
                  <a:gd name="T4" fmla="*/ 12 w 22"/>
                  <a:gd name="T5" fmla="*/ 26 h 26"/>
                  <a:gd name="T6" fmla="*/ 0 w 22"/>
                  <a:gd name="T7" fmla="*/ 16 h 26"/>
                  <a:gd name="T8" fmla="*/ 5 w 22"/>
                  <a:gd name="T9" fmla="*/ 0 h 26"/>
                  <a:gd name="T10" fmla="*/ 19 w 22"/>
                  <a:gd name="T11" fmla="*/ 0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lnTo>
                      <a:pt x="22" y="16"/>
                    </a:lnTo>
                    <a:lnTo>
                      <a:pt x="12" y="26"/>
                    </a:lnTo>
                    <a:lnTo>
                      <a:pt x="0" y="16"/>
                    </a:lnTo>
                    <a:lnTo>
                      <a:pt x="5" y="0"/>
                    </a:lnTo>
                    <a:lnTo>
                      <a:pt x="19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3" name="Freeform 163">
                <a:extLst>
                  <a:ext uri="{FF2B5EF4-FFF2-40B4-BE49-F238E27FC236}">
                    <a16:creationId xmlns:a16="http://schemas.microsoft.com/office/drawing/2014/main" xmlns="" id="{B106AAE0-C66A-4689-9FCA-B67ECD001860}"/>
                  </a:ext>
                </a:extLst>
              </p:cNvPr>
              <p:cNvSpPr/>
              <p:nvPr/>
            </p:nvSpPr>
            <p:spPr bwMode="auto">
              <a:xfrm>
                <a:off x="5891213" y="3235325"/>
                <a:ext cx="41275" cy="166688"/>
              </a:xfrm>
              <a:custGeom>
                <a:avLst/>
                <a:gdLst>
                  <a:gd name="T0" fmla="*/ 21 w 26"/>
                  <a:gd name="T1" fmla="*/ 0 h 105"/>
                  <a:gd name="T2" fmla="*/ 26 w 26"/>
                  <a:gd name="T3" fmla="*/ 96 h 105"/>
                  <a:gd name="T4" fmla="*/ 14 w 26"/>
                  <a:gd name="T5" fmla="*/ 105 h 105"/>
                  <a:gd name="T6" fmla="*/ 0 w 26"/>
                  <a:gd name="T7" fmla="*/ 96 h 105"/>
                  <a:gd name="T8" fmla="*/ 4 w 26"/>
                  <a:gd name="T9" fmla="*/ 0 h 105"/>
                  <a:gd name="T10" fmla="*/ 21 w 26"/>
                  <a:gd name="T11" fmla="*/ 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6" h="105">
                    <a:moveTo>
                      <a:pt x="21" y="0"/>
                    </a:moveTo>
                    <a:lnTo>
                      <a:pt x="26" y="96"/>
                    </a:lnTo>
                    <a:lnTo>
                      <a:pt x="14" y="105"/>
                    </a:lnTo>
                    <a:lnTo>
                      <a:pt x="0" y="96"/>
                    </a:lnTo>
                    <a:lnTo>
                      <a:pt x="4" y="0"/>
                    </a:lnTo>
                    <a:lnTo>
                      <a:pt x="2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4" name="Freeform 164">
                <a:extLst>
                  <a:ext uri="{FF2B5EF4-FFF2-40B4-BE49-F238E27FC236}">
                    <a16:creationId xmlns:a16="http://schemas.microsoft.com/office/drawing/2014/main" xmlns="" id="{C483CAA4-3170-4899-9FBB-3B3F0EAC267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19763" y="3211513"/>
                <a:ext cx="373063" cy="547688"/>
              </a:xfrm>
              <a:custGeom>
                <a:avLst/>
                <a:gdLst>
                  <a:gd name="T0" fmla="*/ 60 w 98"/>
                  <a:gd name="T1" fmla="*/ 74 h 144"/>
                  <a:gd name="T2" fmla="*/ 75 w 98"/>
                  <a:gd name="T3" fmla="*/ 57 h 144"/>
                  <a:gd name="T4" fmla="*/ 74 w 98"/>
                  <a:gd name="T5" fmla="*/ 36 h 144"/>
                  <a:gd name="T6" fmla="*/ 77 w 98"/>
                  <a:gd name="T7" fmla="*/ 40 h 144"/>
                  <a:gd name="T8" fmla="*/ 78 w 98"/>
                  <a:gd name="T9" fmla="*/ 57 h 144"/>
                  <a:gd name="T10" fmla="*/ 98 w 98"/>
                  <a:gd name="T11" fmla="*/ 57 h 144"/>
                  <a:gd name="T12" fmla="*/ 92 w 98"/>
                  <a:gd name="T13" fmla="*/ 31 h 144"/>
                  <a:gd name="T14" fmla="*/ 74 w 98"/>
                  <a:gd name="T15" fmla="*/ 4 h 144"/>
                  <a:gd name="T16" fmla="*/ 63 w 98"/>
                  <a:gd name="T17" fmla="*/ 0 h 144"/>
                  <a:gd name="T18" fmla="*/ 63 w 98"/>
                  <a:gd name="T19" fmla="*/ 0 h 144"/>
                  <a:gd name="T20" fmla="*/ 69 w 98"/>
                  <a:gd name="T21" fmla="*/ 5 h 144"/>
                  <a:gd name="T22" fmla="*/ 61 w 98"/>
                  <a:gd name="T23" fmla="*/ 9 h 144"/>
                  <a:gd name="T24" fmla="*/ 65 w 98"/>
                  <a:gd name="T25" fmla="*/ 15 h 144"/>
                  <a:gd name="T26" fmla="*/ 51 w 98"/>
                  <a:gd name="T27" fmla="*/ 46 h 144"/>
                  <a:gd name="T28" fmla="*/ 51 w 98"/>
                  <a:gd name="T29" fmla="*/ 46 h 144"/>
                  <a:gd name="T30" fmla="*/ 51 w 98"/>
                  <a:gd name="T31" fmla="*/ 46 h 144"/>
                  <a:gd name="T32" fmla="*/ 51 w 98"/>
                  <a:gd name="T33" fmla="*/ 46 h 144"/>
                  <a:gd name="T34" fmla="*/ 51 w 98"/>
                  <a:gd name="T35" fmla="*/ 46 h 144"/>
                  <a:gd name="T36" fmla="*/ 36 w 98"/>
                  <a:gd name="T37" fmla="*/ 15 h 144"/>
                  <a:gd name="T38" fmla="*/ 40 w 98"/>
                  <a:gd name="T39" fmla="*/ 9 h 144"/>
                  <a:gd name="T40" fmla="*/ 33 w 98"/>
                  <a:gd name="T41" fmla="*/ 5 h 144"/>
                  <a:gd name="T42" fmla="*/ 39 w 98"/>
                  <a:gd name="T43" fmla="*/ 0 h 144"/>
                  <a:gd name="T44" fmla="*/ 39 w 98"/>
                  <a:gd name="T45" fmla="*/ 0 h 144"/>
                  <a:gd name="T46" fmla="*/ 31 w 98"/>
                  <a:gd name="T47" fmla="*/ 0 h 144"/>
                  <a:gd name="T48" fmla="*/ 25 w 98"/>
                  <a:gd name="T49" fmla="*/ 3 h 144"/>
                  <a:gd name="T50" fmla="*/ 1 w 98"/>
                  <a:gd name="T51" fmla="*/ 29 h 144"/>
                  <a:gd name="T52" fmla="*/ 1 w 98"/>
                  <a:gd name="T53" fmla="*/ 29 h 144"/>
                  <a:gd name="T54" fmla="*/ 1 w 98"/>
                  <a:gd name="T55" fmla="*/ 30 h 144"/>
                  <a:gd name="T56" fmla="*/ 0 w 98"/>
                  <a:gd name="T57" fmla="*/ 40 h 144"/>
                  <a:gd name="T58" fmla="*/ 0 w 98"/>
                  <a:gd name="T59" fmla="*/ 41 h 144"/>
                  <a:gd name="T60" fmla="*/ 0 w 98"/>
                  <a:gd name="T61" fmla="*/ 42 h 144"/>
                  <a:gd name="T62" fmla="*/ 1 w 98"/>
                  <a:gd name="T63" fmla="*/ 44 h 144"/>
                  <a:gd name="T64" fmla="*/ 3 w 98"/>
                  <a:gd name="T65" fmla="*/ 48 h 144"/>
                  <a:gd name="T66" fmla="*/ 7 w 98"/>
                  <a:gd name="T67" fmla="*/ 55 h 144"/>
                  <a:gd name="T68" fmla="*/ 15 w 98"/>
                  <a:gd name="T69" fmla="*/ 71 h 144"/>
                  <a:gd name="T70" fmla="*/ 26 w 98"/>
                  <a:gd name="T71" fmla="*/ 65 h 144"/>
                  <a:gd name="T72" fmla="*/ 26 w 98"/>
                  <a:gd name="T73" fmla="*/ 75 h 144"/>
                  <a:gd name="T74" fmla="*/ 26 w 98"/>
                  <a:gd name="T75" fmla="*/ 76 h 144"/>
                  <a:gd name="T76" fmla="*/ 28 w 98"/>
                  <a:gd name="T77" fmla="*/ 76 h 144"/>
                  <a:gd name="T78" fmla="*/ 30 w 98"/>
                  <a:gd name="T79" fmla="*/ 144 h 144"/>
                  <a:gd name="T80" fmla="*/ 50 w 98"/>
                  <a:gd name="T81" fmla="*/ 144 h 144"/>
                  <a:gd name="T82" fmla="*/ 50 w 98"/>
                  <a:gd name="T83" fmla="*/ 76 h 144"/>
                  <a:gd name="T84" fmla="*/ 52 w 98"/>
                  <a:gd name="T85" fmla="*/ 76 h 144"/>
                  <a:gd name="T86" fmla="*/ 54 w 98"/>
                  <a:gd name="T87" fmla="*/ 144 h 144"/>
                  <a:gd name="T88" fmla="*/ 60 w 98"/>
                  <a:gd name="T89" fmla="*/ 144 h 144"/>
                  <a:gd name="T90" fmla="*/ 60 w 98"/>
                  <a:gd name="T91" fmla="*/ 74 h 144"/>
                  <a:gd name="T92" fmla="*/ 27 w 98"/>
                  <a:gd name="T93" fmla="*/ 50 h 144"/>
                  <a:gd name="T94" fmla="*/ 24 w 98"/>
                  <a:gd name="T95" fmla="*/ 46 h 144"/>
                  <a:gd name="T96" fmla="*/ 20 w 98"/>
                  <a:gd name="T97" fmla="*/ 39 h 144"/>
                  <a:gd name="T98" fmla="*/ 19 w 98"/>
                  <a:gd name="T99" fmla="*/ 36 h 144"/>
                  <a:gd name="T100" fmla="*/ 27 w 98"/>
                  <a:gd name="T101" fmla="*/ 26 h 144"/>
                  <a:gd name="T102" fmla="*/ 27 w 98"/>
                  <a:gd name="T103" fmla="*/ 50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98" h="144">
                    <a:moveTo>
                      <a:pt x="60" y="74"/>
                    </a:moveTo>
                    <a:cubicBezTo>
                      <a:pt x="60" y="66"/>
                      <a:pt x="66" y="58"/>
                      <a:pt x="75" y="57"/>
                    </a:cubicBezTo>
                    <a:cubicBezTo>
                      <a:pt x="75" y="50"/>
                      <a:pt x="75" y="43"/>
                      <a:pt x="74" y="36"/>
                    </a:cubicBezTo>
                    <a:cubicBezTo>
                      <a:pt x="77" y="40"/>
                      <a:pt x="77" y="40"/>
                      <a:pt x="77" y="40"/>
                    </a:cubicBezTo>
                    <a:cubicBezTo>
                      <a:pt x="78" y="41"/>
                      <a:pt x="78" y="49"/>
                      <a:pt x="78" y="57"/>
                    </a:cubicBezTo>
                    <a:cubicBezTo>
                      <a:pt x="98" y="57"/>
                      <a:pt x="98" y="57"/>
                      <a:pt x="98" y="57"/>
                    </a:cubicBezTo>
                    <a:cubicBezTo>
                      <a:pt x="98" y="50"/>
                      <a:pt x="98" y="43"/>
                      <a:pt x="92" y="31"/>
                    </a:cubicBezTo>
                    <a:cubicBezTo>
                      <a:pt x="74" y="4"/>
                      <a:pt x="74" y="4"/>
                      <a:pt x="74" y="4"/>
                    </a:cubicBezTo>
                    <a:cubicBezTo>
                      <a:pt x="71" y="0"/>
                      <a:pt x="64" y="0"/>
                      <a:pt x="63" y="0"/>
                    </a:cubicBezTo>
                    <a:cubicBezTo>
                      <a:pt x="63" y="0"/>
                      <a:pt x="63" y="0"/>
                      <a:pt x="63" y="0"/>
                    </a:cubicBezTo>
                    <a:cubicBezTo>
                      <a:pt x="69" y="5"/>
                      <a:pt x="69" y="5"/>
                      <a:pt x="69" y="5"/>
                    </a:cubicBezTo>
                    <a:cubicBezTo>
                      <a:pt x="61" y="9"/>
                      <a:pt x="61" y="9"/>
                      <a:pt x="61" y="9"/>
                    </a:cubicBezTo>
                    <a:cubicBezTo>
                      <a:pt x="65" y="15"/>
                      <a:pt x="65" y="15"/>
                      <a:pt x="65" y="15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51" y="46"/>
                      <a:pt x="51" y="46"/>
                      <a:pt x="51" y="46"/>
                    </a:cubicBezTo>
                    <a:cubicBezTo>
                      <a:pt x="36" y="15"/>
                      <a:pt x="36" y="15"/>
                      <a:pt x="36" y="15"/>
                    </a:cubicBezTo>
                    <a:cubicBezTo>
                      <a:pt x="40" y="9"/>
                      <a:pt x="40" y="9"/>
                      <a:pt x="40" y="9"/>
                    </a:cubicBezTo>
                    <a:cubicBezTo>
                      <a:pt x="33" y="5"/>
                      <a:pt x="33" y="5"/>
                      <a:pt x="33" y="5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6" y="0"/>
                      <a:pt x="31" y="0"/>
                      <a:pt x="31" y="0"/>
                    </a:cubicBezTo>
                    <a:cubicBezTo>
                      <a:pt x="29" y="1"/>
                      <a:pt x="27" y="2"/>
                      <a:pt x="25" y="3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29"/>
                      <a:pt x="1" y="29"/>
                      <a:pt x="1" y="2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1" y="31"/>
                      <a:pt x="0" y="40"/>
                      <a:pt x="0" y="40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1" y="44"/>
                      <a:pt x="1" y="44"/>
                      <a:pt x="1" y="44"/>
                    </a:cubicBezTo>
                    <a:cubicBezTo>
                      <a:pt x="3" y="48"/>
                      <a:pt x="3" y="48"/>
                      <a:pt x="3" y="48"/>
                    </a:cubicBezTo>
                    <a:cubicBezTo>
                      <a:pt x="7" y="55"/>
                      <a:pt x="7" y="55"/>
                      <a:pt x="7" y="55"/>
                    </a:cubicBezTo>
                    <a:cubicBezTo>
                      <a:pt x="15" y="71"/>
                      <a:pt x="15" y="71"/>
                      <a:pt x="15" y="71"/>
                    </a:cubicBezTo>
                    <a:cubicBezTo>
                      <a:pt x="19" y="69"/>
                      <a:pt x="23" y="67"/>
                      <a:pt x="26" y="65"/>
                    </a:cubicBezTo>
                    <a:cubicBezTo>
                      <a:pt x="26" y="69"/>
                      <a:pt x="26" y="72"/>
                      <a:pt x="26" y="75"/>
                    </a:cubicBezTo>
                    <a:cubicBezTo>
                      <a:pt x="26" y="76"/>
                      <a:pt x="26" y="76"/>
                      <a:pt x="26" y="76"/>
                    </a:cubicBezTo>
                    <a:cubicBezTo>
                      <a:pt x="27" y="76"/>
                      <a:pt x="27" y="76"/>
                      <a:pt x="28" y="76"/>
                    </a:cubicBezTo>
                    <a:cubicBezTo>
                      <a:pt x="30" y="144"/>
                      <a:pt x="30" y="144"/>
                      <a:pt x="30" y="144"/>
                    </a:cubicBezTo>
                    <a:cubicBezTo>
                      <a:pt x="50" y="144"/>
                      <a:pt x="50" y="144"/>
                      <a:pt x="50" y="144"/>
                    </a:cubicBezTo>
                    <a:cubicBezTo>
                      <a:pt x="50" y="124"/>
                      <a:pt x="50" y="89"/>
                      <a:pt x="50" y="76"/>
                    </a:cubicBezTo>
                    <a:cubicBezTo>
                      <a:pt x="50" y="76"/>
                      <a:pt x="51" y="76"/>
                      <a:pt x="52" y="76"/>
                    </a:cubicBezTo>
                    <a:cubicBezTo>
                      <a:pt x="54" y="144"/>
                      <a:pt x="54" y="144"/>
                      <a:pt x="54" y="144"/>
                    </a:cubicBezTo>
                    <a:cubicBezTo>
                      <a:pt x="60" y="144"/>
                      <a:pt x="60" y="144"/>
                      <a:pt x="60" y="144"/>
                    </a:cubicBezTo>
                    <a:lnTo>
                      <a:pt x="60" y="74"/>
                    </a:lnTo>
                    <a:close/>
                    <a:moveTo>
                      <a:pt x="27" y="50"/>
                    </a:moveTo>
                    <a:cubicBezTo>
                      <a:pt x="24" y="46"/>
                      <a:pt x="24" y="46"/>
                      <a:pt x="24" y="46"/>
                    </a:cubicBezTo>
                    <a:cubicBezTo>
                      <a:pt x="20" y="39"/>
                      <a:pt x="20" y="39"/>
                      <a:pt x="20" y="39"/>
                    </a:cubicBezTo>
                    <a:cubicBezTo>
                      <a:pt x="19" y="36"/>
                      <a:pt x="19" y="36"/>
                      <a:pt x="19" y="36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27" y="34"/>
                      <a:pt x="27" y="42"/>
                      <a:pt x="27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5" name="Freeform 165">
                <a:extLst>
                  <a:ext uri="{FF2B5EF4-FFF2-40B4-BE49-F238E27FC236}">
                    <a16:creationId xmlns:a16="http://schemas.microsoft.com/office/drawing/2014/main" xmlns="" id="{109D93F2-39D7-4720-A015-41D1E18020FB}"/>
                  </a:ext>
                </a:extLst>
              </p:cNvPr>
              <p:cNvSpPr/>
              <p:nvPr/>
            </p:nvSpPr>
            <p:spPr bwMode="auto">
              <a:xfrm>
                <a:off x="6099176" y="3230563"/>
                <a:ext cx="220663" cy="198438"/>
              </a:xfrm>
              <a:custGeom>
                <a:avLst/>
                <a:gdLst>
                  <a:gd name="T0" fmla="*/ 1 w 58"/>
                  <a:gd name="T1" fmla="*/ 52 h 52"/>
                  <a:gd name="T2" fmla="*/ 30 w 58"/>
                  <a:gd name="T3" fmla="*/ 52 h 52"/>
                  <a:gd name="T4" fmla="*/ 58 w 58"/>
                  <a:gd name="T5" fmla="*/ 52 h 52"/>
                  <a:gd name="T6" fmla="*/ 55 w 58"/>
                  <a:gd name="T7" fmla="*/ 8 h 52"/>
                  <a:gd name="T8" fmla="*/ 47 w 58"/>
                  <a:gd name="T9" fmla="*/ 0 h 52"/>
                  <a:gd name="T10" fmla="*/ 40 w 58"/>
                  <a:gd name="T11" fmla="*/ 0 h 52"/>
                  <a:gd name="T12" fmla="*/ 45 w 58"/>
                  <a:gd name="T13" fmla="*/ 4 h 52"/>
                  <a:gd name="T14" fmla="*/ 38 w 58"/>
                  <a:gd name="T15" fmla="*/ 8 h 52"/>
                  <a:gd name="T16" fmla="*/ 41 w 58"/>
                  <a:gd name="T17" fmla="*/ 13 h 52"/>
                  <a:gd name="T18" fmla="*/ 29 w 58"/>
                  <a:gd name="T19" fmla="*/ 41 h 52"/>
                  <a:gd name="T20" fmla="*/ 29 w 58"/>
                  <a:gd name="T21" fmla="*/ 41 h 52"/>
                  <a:gd name="T22" fmla="*/ 29 w 58"/>
                  <a:gd name="T23" fmla="*/ 41 h 52"/>
                  <a:gd name="T24" fmla="*/ 29 w 58"/>
                  <a:gd name="T25" fmla="*/ 41 h 52"/>
                  <a:gd name="T26" fmla="*/ 29 w 58"/>
                  <a:gd name="T27" fmla="*/ 41 h 52"/>
                  <a:gd name="T28" fmla="*/ 16 w 58"/>
                  <a:gd name="T29" fmla="*/ 13 h 52"/>
                  <a:gd name="T30" fmla="*/ 19 w 58"/>
                  <a:gd name="T31" fmla="*/ 8 h 52"/>
                  <a:gd name="T32" fmla="*/ 12 w 58"/>
                  <a:gd name="T33" fmla="*/ 4 h 52"/>
                  <a:gd name="T34" fmla="*/ 17 w 58"/>
                  <a:gd name="T35" fmla="*/ 0 h 52"/>
                  <a:gd name="T36" fmla="*/ 11 w 58"/>
                  <a:gd name="T37" fmla="*/ 0 h 52"/>
                  <a:gd name="T38" fmla="*/ 11 w 58"/>
                  <a:gd name="T39" fmla="*/ 0 h 52"/>
                  <a:gd name="T40" fmla="*/ 3 w 58"/>
                  <a:gd name="T41" fmla="*/ 8 h 52"/>
                  <a:gd name="T42" fmla="*/ 0 w 58"/>
                  <a:gd name="T43" fmla="*/ 52 h 52"/>
                  <a:gd name="T44" fmla="*/ 1 w 58"/>
                  <a:gd name="T45" fmla="*/ 52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8" h="52">
                    <a:moveTo>
                      <a:pt x="1" y="52"/>
                    </a:moveTo>
                    <a:cubicBezTo>
                      <a:pt x="30" y="52"/>
                      <a:pt x="30" y="52"/>
                      <a:pt x="30" y="52"/>
                    </a:cubicBezTo>
                    <a:cubicBezTo>
                      <a:pt x="58" y="52"/>
                      <a:pt x="58" y="52"/>
                      <a:pt x="58" y="52"/>
                    </a:cubicBezTo>
                    <a:cubicBezTo>
                      <a:pt x="55" y="8"/>
                      <a:pt x="55" y="8"/>
                      <a:pt x="55" y="8"/>
                    </a:cubicBezTo>
                    <a:cubicBezTo>
                      <a:pt x="54" y="3"/>
                      <a:pt x="51" y="0"/>
                      <a:pt x="47" y="0"/>
                    </a:cubicBezTo>
                    <a:cubicBezTo>
                      <a:pt x="47" y="0"/>
                      <a:pt x="44" y="0"/>
                      <a:pt x="40" y="0"/>
                    </a:cubicBezTo>
                    <a:cubicBezTo>
                      <a:pt x="45" y="4"/>
                      <a:pt x="45" y="4"/>
                      <a:pt x="45" y="4"/>
                    </a:cubicBezTo>
                    <a:cubicBezTo>
                      <a:pt x="38" y="8"/>
                      <a:pt x="38" y="8"/>
                      <a:pt x="38" y="8"/>
                    </a:cubicBezTo>
                    <a:cubicBezTo>
                      <a:pt x="41" y="13"/>
                      <a:pt x="41" y="13"/>
                      <a:pt x="41" y="13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29" y="41"/>
                      <a:pt x="29" y="41"/>
                      <a:pt x="29" y="41"/>
                    </a:cubicBezTo>
                    <a:cubicBezTo>
                      <a:pt x="16" y="13"/>
                      <a:pt x="16" y="13"/>
                      <a:pt x="16" y="13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2" y="4"/>
                      <a:pt x="12" y="4"/>
                      <a:pt x="12" y="4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13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0"/>
                      <a:pt x="3" y="3"/>
                      <a:pt x="3" y="8"/>
                    </a:cubicBezTo>
                    <a:cubicBezTo>
                      <a:pt x="0" y="52"/>
                      <a:pt x="0" y="52"/>
                      <a:pt x="0" y="52"/>
                    </a:cubicBezTo>
                    <a:lnTo>
                      <a:pt x="1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6" name="Freeform 166">
                <a:extLst>
                  <a:ext uri="{FF2B5EF4-FFF2-40B4-BE49-F238E27FC236}">
                    <a16:creationId xmlns:a16="http://schemas.microsoft.com/office/drawing/2014/main" xmlns="" id="{BEBD6132-55E7-4CA8-9C34-D78B3B190E1E}"/>
                  </a:ext>
                </a:extLst>
              </p:cNvPr>
              <p:cNvSpPr/>
              <p:nvPr/>
            </p:nvSpPr>
            <p:spPr bwMode="auto">
              <a:xfrm>
                <a:off x="6019801" y="3633788"/>
                <a:ext cx="111125" cy="103188"/>
              </a:xfrm>
              <a:custGeom>
                <a:avLst/>
                <a:gdLst>
                  <a:gd name="T0" fmla="*/ 27 w 29"/>
                  <a:gd name="T1" fmla="*/ 0 h 27"/>
                  <a:gd name="T2" fmla="*/ 26 w 29"/>
                  <a:gd name="T3" fmla="*/ 0 h 27"/>
                  <a:gd name="T4" fmla="*/ 1 w 29"/>
                  <a:gd name="T5" fmla="*/ 24 h 27"/>
                  <a:gd name="T6" fmla="*/ 1 w 29"/>
                  <a:gd name="T7" fmla="*/ 27 h 27"/>
                  <a:gd name="T8" fmla="*/ 2 w 29"/>
                  <a:gd name="T9" fmla="*/ 27 h 27"/>
                  <a:gd name="T10" fmla="*/ 4 w 29"/>
                  <a:gd name="T11" fmla="*/ 27 h 27"/>
                  <a:gd name="T12" fmla="*/ 29 w 29"/>
                  <a:gd name="T13" fmla="*/ 3 h 27"/>
                  <a:gd name="T14" fmla="*/ 29 w 29"/>
                  <a:gd name="T15" fmla="*/ 0 h 27"/>
                  <a:gd name="T16" fmla="*/ 27 w 29"/>
                  <a:gd name="T17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" h="27">
                    <a:moveTo>
                      <a:pt x="27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1" y="24"/>
                      <a:pt x="1" y="24"/>
                      <a:pt x="1" y="24"/>
                    </a:cubicBezTo>
                    <a:cubicBezTo>
                      <a:pt x="0" y="25"/>
                      <a:pt x="0" y="26"/>
                      <a:pt x="1" y="27"/>
                    </a:cubicBezTo>
                    <a:cubicBezTo>
                      <a:pt x="1" y="27"/>
                      <a:pt x="2" y="27"/>
                      <a:pt x="2" y="27"/>
                    </a:cubicBezTo>
                    <a:cubicBezTo>
                      <a:pt x="3" y="27"/>
                      <a:pt x="3" y="27"/>
                      <a:pt x="4" y="27"/>
                    </a:cubicBezTo>
                    <a:cubicBezTo>
                      <a:pt x="29" y="3"/>
                      <a:pt x="29" y="3"/>
                      <a:pt x="29" y="3"/>
                    </a:cubicBezTo>
                    <a:cubicBezTo>
                      <a:pt x="29" y="3"/>
                      <a:pt x="29" y="1"/>
                      <a:pt x="29" y="0"/>
                    </a:cubicBezTo>
                    <a:cubicBezTo>
                      <a:pt x="28" y="0"/>
                      <a:pt x="28" y="0"/>
                      <a:pt x="2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7" name="Freeform 167">
                <a:extLst>
                  <a:ext uri="{FF2B5EF4-FFF2-40B4-BE49-F238E27FC236}">
                    <a16:creationId xmlns:a16="http://schemas.microsoft.com/office/drawing/2014/main" xmlns="" id="{20B37B38-C020-45B9-9974-0E3BD142BD6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967413" y="3448050"/>
                <a:ext cx="504825" cy="346075"/>
              </a:xfrm>
              <a:custGeom>
                <a:avLst/>
                <a:gdLst>
                  <a:gd name="T0" fmla="*/ 128 w 133"/>
                  <a:gd name="T1" fmla="*/ 4 h 91"/>
                  <a:gd name="T2" fmla="*/ 118 w 133"/>
                  <a:gd name="T3" fmla="*/ 0 h 91"/>
                  <a:gd name="T4" fmla="*/ 15 w 133"/>
                  <a:gd name="T5" fmla="*/ 0 h 91"/>
                  <a:gd name="T6" fmla="*/ 5 w 133"/>
                  <a:gd name="T7" fmla="*/ 4 h 91"/>
                  <a:gd name="T8" fmla="*/ 0 w 133"/>
                  <a:gd name="T9" fmla="*/ 17 h 91"/>
                  <a:gd name="T10" fmla="*/ 0 w 133"/>
                  <a:gd name="T11" fmla="*/ 75 h 91"/>
                  <a:gd name="T12" fmla="*/ 15 w 133"/>
                  <a:gd name="T13" fmla="*/ 91 h 91"/>
                  <a:gd name="T14" fmla="*/ 118 w 133"/>
                  <a:gd name="T15" fmla="*/ 91 h 91"/>
                  <a:gd name="T16" fmla="*/ 133 w 133"/>
                  <a:gd name="T17" fmla="*/ 75 h 91"/>
                  <a:gd name="T18" fmla="*/ 133 w 133"/>
                  <a:gd name="T19" fmla="*/ 17 h 91"/>
                  <a:gd name="T20" fmla="*/ 128 w 133"/>
                  <a:gd name="T21" fmla="*/ 4 h 91"/>
                  <a:gd name="T22" fmla="*/ 66 w 133"/>
                  <a:gd name="T23" fmla="*/ 50 h 91"/>
                  <a:gd name="T24" fmla="*/ 17 w 133"/>
                  <a:gd name="T25" fmla="*/ 10 h 91"/>
                  <a:gd name="T26" fmla="*/ 115 w 133"/>
                  <a:gd name="T27" fmla="*/ 10 h 91"/>
                  <a:gd name="T28" fmla="*/ 66 w 133"/>
                  <a:gd name="T29" fmla="*/ 50 h 91"/>
                  <a:gd name="T30" fmla="*/ 123 w 133"/>
                  <a:gd name="T31" fmla="*/ 75 h 91"/>
                  <a:gd name="T32" fmla="*/ 118 w 133"/>
                  <a:gd name="T33" fmla="*/ 80 h 91"/>
                  <a:gd name="T34" fmla="*/ 15 w 133"/>
                  <a:gd name="T35" fmla="*/ 80 h 91"/>
                  <a:gd name="T36" fmla="*/ 10 w 133"/>
                  <a:gd name="T37" fmla="*/ 75 h 91"/>
                  <a:gd name="T38" fmla="*/ 10 w 133"/>
                  <a:gd name="T39" fmla="*/ 17 h 91"/>
                  <a:gd name="T40" fmla="*/ 62 w 133"/>
                  <a:gd name="T41" fmla="*/ 60 h 91"/>
                  <a:gd name="T42" fmla="*/ 66 w 133"/>
                  <a:gd name="T43" fmla="*/ 61 h 91"/>
                  <a:gd name="T44" fmla="*/ 70 w 133"/>
                  <a:gd name="T45" fmla="*/ 60 h 91"/>
                  <a:gd name="T46" fmla="*/ 123 w 133"/>
                  <a:gd name="T47" fmla="*/ 17 h 91"/>
                  <a:gd name="T48" fmla="*/ 123 w 133"/>
                  <a:gd name="T49" fmla="*/ 75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3" h="91">
                    <a:moveTo>
                      <a:pt x="128" y="4"/>
                    </a:moveTo>
                    <a:cubicBezTo>
                      <a:pt x="125" y="1"/>
                      <a:pt x="121" y="0"/>
                      <a:pt x="118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12" y="0"/>
                      <a:pt x="8" y="1"/>
                      <a:pt x="5" y="4"/>
                    </a:cubicBezTo>
                    <a:cubicBezTo>
                      <a:pt x="3" y="6"/>
                      <a:pt x="0" y="11"/>
                      <a:pt x="0" y="17"/>
                    </a:cubicBezTo>
                    <a:cubicBezTo>
                      <a:pt x="0" y="75"/>
                      <a:pt x="0" y="75"/>
                      <a:pt x="0" y="75"/>
                    </a:cubicBezTo>
                    <a:cubicBezTo>
                      <a:pt x="0" y="84"/>
                      <a:pt x="7" y="91"/>
                      <a:pt x="15" y="91"/>
                    </a:cubicBezTo>
                    <a:cubicBezTo>
                      <a:pt x="118" y="91"/>
                      <a:pt x="118" y="91"/>
                      <a:pt x="118" y="91"/>
                    </a:cubicBezTo>
                    <a:cubicBezTo>
                      <a:pt x="126" y="91"/>
                      <a:pt x="133" y="84"/>
                      <a:pt x="133" y="75"/>
                    </a:cubicBezTo>
                    <a:cubicBezTo>
                      <a:pt x="133" y="17"/>
                      <a:pt x="133" y="17"/>
                      <a:pt x="133" y="17"/>
                    </a:cubicBezTo>
                    <a:cubicBezTo>
                      <a:pt x="133" y="11"/>
                      <a:pt x="130" y="6"/>
                      <a:pt x="128" y="4"/>
                    </a:cubicBezTo>
                    <a:close/>
                    <a:moveTo>
                      <a:pt x="66" y="50"/>
                    </a:moveTo>
                    <a:cubicBezTo>
                      <a:pt x="17" y="10"/>
                      <a:pt x="17" y="10"/>
                      <a:pt x="17" y="10"/>
                    </a:cubicBezTo>
                    <a:cubicBezTo>
                      <a:pt x="115" y="10"/>
                      <a:pt x="115" y="10"/>
                      <a:pt x="115" y="10"/>
                    </a:cubicBezTo>
                    <a:lnTo>
                      <a:pt x="66" y="50"/>
                    </a:lnTo>
                    <a:close/>
                    <a:moveTo>
                      <a:pt x="123" y="75"/>
                    </a:moveTo>
                    <a:cubicBezTo>
                      <a:pt x="123" y="78"/>
                      <a:pt x="120" y="80"/>
                      <a:pt x="118" y="80"/>
                    </a:cubicBezTo>
                    <a:cubicBezTo>
                      <a:pt x="15" y="80"/>
                      <a:pt x="15" y="80"/>
                      <a:pt x="15" y="80"/>
                    </a:cubicBezTo>
                    <a:cubicBezTo>
                      <a:pt x="12" y="80"/>
                      <a:pt x="10" y="78"/>
                      <a:pt x="10" y="75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62" y="60"/>
                      <a:pt x="62" y="60"/>
                      <a:pt x="62" y="60"/>
                    </a:cubicBezTo>
                    <a:cubicBezTo>
                      <a:pt x="64" y="61"/>
                      <a:pt x="65" y="61"/>
                      <a:pt x="66" y="61"/>
                    </a:cubicBezTo>
                    <a:cubicBezTo>
                      <a:pt x="68" y="61"/>
                      <a:pt x="69" y="61"/>
                      <a:pt x="70" y="60"/>
                    </a:cubicBezTo>
                    <a:cubicBezTo>
                      <a:pt x="123" y="17"/>
                      <a:pt x="123" y="17"/>
                      <a:pt x="123" y="17"/>
                    </a:cubicBezTo>
                    <a:lnTo>
                      <a:pt x="123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8" name="Freeform 168">
                <a:extLst>
                  <a:ext uri="{FF2B5EF4-FFF2-40B4-BE49-F238E27FC236}">
                    <a16:creationId xmlns:a16="http://schemas.microsoft.com/office/drawing/2014/main" xmlns="" id="{2C1234A7-26C6-4F13-B659-C466C5215F7E}"/>
                  </a:ext>
                </a:extLst>
              </p:cNvPr>
              <p:cNvSpPr/>
              <p:nvPr/>
            </p:nvSpPr>
            <p:spPr bwMode="auto">
              <a:xfrm>
                <a:off x="6305551" y="3633788"/>
                <a:ext cx="114300" cy="103188"/>
              </a:xfrm>
              <a:custGeom>
                <a:avLst/>
                <a:gdLst>
                  <a:gd name="T0" fmla="*/ 26 w 30"/>
                  <a:gd name="T1" fmla="*/ 27 h 27"/>
                  <a:gd name="T2" fmla="*/ 28 w 30"/>
                  <a:gd name="T3" fmla="*/ 27 h 27"/>
                  <a:gd name="T4" fmla="*/ 29 w 30"/>
                  <a:gd name="T5" fmla="*/ 27 h 27"/>
                  <a:gd name="T6" fmla="*/ 29 w 30"/>
                  <a:gd name="T7" fmla="*/ 24 h 27"/>
                  <a:gd name="T8" fmla="*/ 4 w 30"/>
                  <a:gd name="T9" fmla="*/ 0 h 27"/>
                  <a:gd name="T10" fmla="*/ 3 w 30"/>
                  <a:gd name="T11" fmla="*/ 0 h 27"/>
                  <a:gd name="T12" fmla="*/ 1 w 30"/>
                  <a:gd name="T13" fmla="*/ 0 h 27"/>
                  <a:gd name="T14" fmla="*/ 1 w 30"/>
                  <a:gd name="T15" fmla="*/ 3 h 27"/>
                  <a:gd name="T16" fmla="*/ 26 w 30"/>
                  <a:gd name="T17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7">
                    <a:moveTo>
                      <a:pt x="26" y="27"/>
                    </a:moveTo>
                    <a:cubicBezTo>
                      <a:pt x="26" y="27"/>
                      <a:pt x="27" y="27"/>
                      <a:pt x="28" y="27"/>
                    </a:cubicBezTo>
                    <a:cubicBezTo>
                      <a:pt x="28" y="27"/>
                      <a:pt x="29" y="27"/>
                      <a:pt x="29" y="27"/>
                    </a:cubicBezTo>
                    <a:cubicBezTo>
                      <a:pt x="30" y="26"/>
                      <a:pt x="30" y="25"/>
                      <a:pt x="29" y="24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0" y="1"/>
                      <a:pt x="0" y="3"/>
                      <a:pt x="1" y="3"/>
                    </a:cubicBezTo>
                    <a:lnTo>
                      <a:pt x="2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9" name="Freeform 169">
                <a:extLst>
                  <a:ext uri="{FF2B5EF4-FFF2-40B4-BE49-F238E27FC236}">
                    <a16:creationId xmlns:a16="http://schemas.microsoft.com/office/drawing/2014/main" xmlns="" id="{1019D8C7-0C18-438D-9A4C-3E06C9220552}"/>
                  </a:ext>
                </a:extLst>
              </p:cNvPr>
              <p:cNvSpPr/>
              <p:nvPr/>
            </p:nvSpPr>
            <p:spPr bwMode="auto">
              <a:xfrm>
                <a:off x="6016626" y="3413125"/>
                <a:ext cx="79375" cy="57150"/>
              </a:xfrm>
              <a:custGeom>
                <a:avLst/>
                <a:gdLst>
                  <a:gd name="T0" fmla="*/ 1 w 21"/>
                  <a:gd name="T1" fmla="*/ 15 h 15"/>
                  <a:gd name="T2" fmla="*/ 21 w 21"/>
                  <a:gd name="T3" fmla="*/ 14 h 15"/>
                  <a:gd name="T4" fmla="*/ 20 w 21"/>
                  <a:gd name="T5" fmla="*/ 0 h 15"/>
                  <a:gd name="T6" fmla="*/ 0 w 21"/>
                  <a:gd name="T7" fmla="*/ 0 h 15"/>
                  <a:gd name="T8" fmla="*/ 1 w 21"/>
                  <a:gd name="T9" fmla="*/ 1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1" y="15"/>
                    </a:moveTo>
                    <a:cubicBezTo>
                      <a:pt x="8" y="15"/>
                      <a:pt x="14" y="14"/>
                      <a:pt x="21" y="14"/>
                    </a:cubicBezTo>
                    <a:cubicBezTo>
                      <a:pt x="20" y="8"/>
                      <a:pt x="20" y="4"/>
                      <a:pt x="2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1" y="11"/>
                      <a:pt x="1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477375" cy="2261733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362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accel="22000" fill="hold" nodeType="withEffect" p14:presetBounceEnd="20000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accel="22000" fill="hold" nodeType="withEffect" p14:presetBounceEnd="20000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accel="22000" fill="hold" nodeType="withEffect" p14:presetBounceEnd="20000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1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1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accel="22000" fill="hold" nodeType="withEffect" p14:presetBounceEnd="20000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accel="22000" fill="hold" nodeType="withEffect" p14:presetBounceEnd="20000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" presetClass="entr" presetSubtype="4" accel="22000" fill="hold" nodeType="withEffect">
                                      <p:stCondLst>
                                        <p:cond delay="22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4" accel="22000" fill="hold" nodeType="withEffect">
                                      <p:stCondLst>
                                        <p:cond delay="240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2" presetClass="entr" presetSubtype="4" accel="22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4" accel="22000" fill="hold" nodeType="withEffect">
                                      <p:stCondLst>
                                        <p:cond delay="280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2" presetClass="entr" presetSubtype="4" accel="2200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7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</p:bldLst>
      </p:timing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1793" y="93890"/>
            <a:ext cx="9553575" cy="824592"/>
          </a:xfrm>
        </p:spPr>
        <p:txBody>
          <a:bodyPr>
            <a:noAutofit/>
          </a:bodyPr>
          <a:lstStyle>
            <a:lvl1pPr>
              <a:defRPr sz="40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B492DC46-649C-4371-BE00-7E12AB77B934}"/>
              </a:ext>
            </a:extLst>
          </p:cNvPr>
          <p:cNvGrpSpPr/>
          <p:nvPr/>
        </p:nvGrpSpPr>
        <p:grpSpPr>
          <a:xfrm>
            <a:off x="0" y="237055"/>
            <a:ext cx="1200150" cy="488496"/>
            <a:chOff x="0" y="254454"/>
            <a:chExt cx="1795510" cy="732518"/>
          </a:xfrm>
        </p:grpSpPr>
        <p:sp>
          <p:nvSpPr>
            <p:cNvPr id="8" name="矩形 1">
              <a:extLst>
                <a:ext uri="{FF2B5EF4-FFF2-40B4-BE49-F238E27FC236}">
                  <a16:creationId xmlns:a16="http://schemas.microsoft.com/office/drawing/2014/main" xmlns="" id="{84087D0E-5E69-4C4D-BBAF-B8A66AD85339}"/>
                </a:ext>
              </a:extLst>
            </p:cNvPr>
            <p:cNvSpPr/>
            <p:nvPr/>
          </p:nvSpPr>
          <p:spPr>
            <a:xfrm>
              <a:off x="0" y="254454"/>
              <a:ext cx="1487837" cy="732518"/>
            </a:xfrm>
            <a:custGeom>
              <a:avLst/>
              <a:gdLst>
                <a:gd name="connsiteX0" fmla="*/ 0 w 1487837"/>
                <a:gd name="connsiteY0" fmla="*/ 0 h 914400"/>
                <a:gd name="connsiteX1" fmla="*/ 1487837 w 1487837"/>
                <a:gd name="connsiteY1" fmla="*/ 0 h 914400"/>
                <a:gd name="connsiteX2" fmla="*/ 1487837 w 1487837"/>
                <a:gd name="connsiteY2" fmla="*/ 914400 h 914400"/>
                <a:gd name="connsiteX3" fmla="*/ 0 w 1487837"/>
                <a:gd name="connsiteY3" fmla="*/ 914400 h 914400"/>
                <a:gd name="connsiteX4" fmla="*/ 0 w 1487837"/>
                <a:gd name="connsiteY4" fmla="*/ 0 h 914400"/>
                <a:gd name="connsiteX0-1" fmla="*/ 0 w 1487837"/>
                <a:gd name="connsiteY0-2" fmla="*/ 29029 h 943429"/>
                <a:gd name="connsiteX1-3" fmla="*/ 820180 w 1487837"/>
                <a:gd name="connsiteY1-4" fmla="*/ 0 h 943429"/>
                <a:gd name="connsiteX2-5" fmla="*/ 1487837 w 1487837"/>
                <a:gd name="connsiteY2-6" fmla="*/ 943429 h 943429"/>
                <a:gd name="connsiteX3-7" fmla="*/ 0 w 1487837"/>
                <a:gd name="connsiteY3-8" fmla="*/ 943429 h 943429"/>
                <a:gd name="connsiteX4-9" fmla="*/ 0 w 1487837"/>
                <a:gd name="connsiteY4-10" fmla="*/ 29029 h 943429"/>
                <a:gd name="connsiteX0-11" fmla="*/ 0 w 1487837"/>
                <a:gd name="connsiteY0-12" fmla="*/ 0 h 914400"/>
                <a:gd name="connsiteX1-13" fmla="*/ 820180 w 1487837"/>
                <a:gd name="connsiteY1-14" fmla="*/ 10659 h 914400"/>
                <a:gd name="connsiteX2-15" fmla="*/ 1487837 w 1487837"/>
                <a:gd name="connsiteY2-16" fmla="*/ 914400 h 914400"/>
                <a:gd name="connsiteX3-17" fmla="*/ 0 w 1487837"/>
                <a:gd name="connsiteY3-18" fmla="*/ 914400 h 914400"/>
                <a:gd name="connsiteX4-19" fmla="*/ 0 w 1487837"/>
                <a:gd name="connsiteY4-20" fmla="*/ 0 h 914400"/>
                <a:gd name="connsiteX0-21" fmla="*/ 0 w 1487837"/>
                <a:gd name="connsiteY0-22" fmla="*/ 0 h 914400"/>
                <a:gd name="connsiteX1-23" fmla="*/ 820180 w 1487837"/>
                <a:gd name="connsiteY1-24" fmla="*/ 2721 h 914400"/>
                <a:gd name="connsiteX2-25" fmla="*/ 1487837 w 1487837"/>
                <a:gd name="connsiteY2-26" fmla="*/ 914400 h 914400"/>
                <a:gd name="connsiteX3-27" fmla="*/ 0 w 1487837"/>
                <a:gd name="connsiteY3-28" fmla="*/ 914400 h 914400"/>
                <a:gd name="connsiteX4-29" fmla="*/ 0 w 1487837"/>
                <a:gd name="connsiteY4-30" fmla="*/ 0 h 914400"/>
                <a:gd name="connsiteX0-31" fmla="*/ 0 w 1487837"/>
                <a:gd name="connsiteY0-32" fmla="*/ 1248 h 915648"/>
                <a:gd name="connsiteX1-33" fmla="*/ 867805 w 1487837"/>
                <a:gd name="connsiteY1-34" fmla="*/ 0 h 915648"/>
                <a:gd name="connsiteX2-35" fmla="*/ 1487837 w 1487837"/>
                <a:gd name="connsiteY2-36" fmla="*/ 915648 h 915648"/>
                <a:gd name="connsiteX3-37" fmla="*/ 0 w 1487837"/>
                <a:gd name="connsiteY3-38" fmla="*/ 915648 h 915648"/>
                <a:gd name="connsiteX4-39" fmla="*/ 0 w 1487837"/>
                <a:gd name="connsiteY4-40" fmla="*/ 1248 h 9156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487837" h="915648">
                  <a:moveTo>
                    <a:pt x="0" y="1248"/>
                  </a:moveTo>
                  <a:lnTo>
                    <a:pt x="867805" y="0"/>
                  </a:lnTo>
                  <a:lnTo>
                    <a:pt x="1487837" y="915648"/>
                  </a:lnTo>
                  <a:lnTo>
                    <a:pt x="0" y="915648"/>
                  </a:lnTo>
                  <a:lnTo>
                    <a:pt x="0" y="124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 4">
              <a:extLst>
                <a:ext uri="{FF2B5EF4-FFF2-40B4-BE49-F238E27FC236}">
                  <a16:creationId xmlns:a16="http://schemas.microsoft.com/office/drawing/2014/main" xmlns="" id="{1E4C8D98-A40C-4A48-9EA3-A4B8C1C723EF}"/>
                </a:ext>
              </a:extLst>
            </p:cNvPr>
            <p:cNvSpPr/>
            <p:nvPr/>
          </p:nvSpPr>
          <p:spPr>
            <a:xfrm>
              <a:off x="1010747" y="254454"/>
              <a:ext cx="784763" cy="732518"/>
            </a:xfrm>
            <a:custGeom>
              <a:avLst/>
              <a:gdLst>
                <a:gd name="connsiteX0" fmla="*/ 164731 w 784763"/>
                <a:gd name="connsiteY0" fmla="*/ 0 h 732518"/>
                <a:gd name="connsiteX1" fmla="*/ 784763 w 784763"/>
                <a:gd name="connsiteY1" fmla="*/ 732518 h 732518"/>
                <a:gd name="connsiteX2" fmla="*/ 619871 w 784763"/>
                <a:gd name="connsiteY2" fmla="*/ 732518 h 732518"/>
                <a:gd name="connsiteX3" fmla="*/ 0 w 784763"/>
                <a:gd name="connsiteY3" fmla="*/ 190 h 73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4763" h="732518">
                  <a:moveTo>
                    <a:pt x="164731" y="0"/>
                  </a:moveTo>
                  <a:lnTo>
                    <a:pt x="784763" y="732518"/>
                  </a:lnTo>
                  <a:lnTo>
                    <a:pt x="619871" y="732518"/>
                  </a:lnTo>
                  <a:lnTo>
                    <a:pt x="0" y="1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202F2469-59F2-4336-87AE-7A3ADA9B58E5}"/>
              </a:ext>
            </a:extLst>
          </p:cNvPr>
          <p:cNvGrpSpPr/>
          <p:nvPr/>
        </p:nvGrpSpPr>
        <p:grpSpPr>
          <a:xfrm>
            <a:off x="0" y="6575725"/>
            <a:ext cx="12195693" cy="282275"/>
            <a:chOff x="-3693" y="6575725"/>
            <a:chExt cx="12195693" cy="282275"/>
          </a:xfrm>
        </p:grpSpPr>
        <p:sp>
          <p:nvSpPr>
            <p:cNvPr id="11" name="矩形 19">
              <a:extLst>
                <a:ext uri="{FF2B5EF4-FFF2-40B4-BE49-F238E27FC236}">
                  <a16:creationId xmlns:a16="http://schemas.microsoft.com/office/drawing/2014/main" xmlns="" id="{13251B82-8654-4AE7-8DCF-E8C422C7F5B9}"/>
                </a:ext>
              </a:extLst>
            </p:cNvPr>
            <p:cNvSpPr/>
            <p:nvPr/>
          </p:nvSpPr>
          <p:spPr>
            <a:xfrm>
              <a:off x="-3693" y="6575725"/>
              <a:ext cx="9213008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DF7438A7-23DE-46F1-82DA-7D1E2B69C890}"/>
                </a:ext>
              </a:extLst>
            </p:cNvPr>
            <p:cNvSpPr txBox="1"/>
            <p:nvPr/>
          </p:nvSpPr>
          <p:spPr>
            <a:xfrm>
              <a:off x="9095014" y="6575725"/>
              <a:ext cx="2496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河南大学计算机与信息工程学院</a:t>
              </a:r>
            </a:p>
          </p:txBody>
        </p:sp>
        <p:sp>
          <p:nvSpPr>
            <p:cNvPr id="13" name="矩形 21">
              <a:extLst>
                <a:ext uri="{FF2B5EF4-FFF2-40B4-BE49-F238E27FC236}">
                  <a16:creationId xmlns:a16="http://schemas.microsoft.com/office/drawing/2014/main" xmlns="" id="{F591C9DB-985F-4F14-A901-B51657D6E773}"/>
                </a:ext>
              </a:extLst>
            </p:cNvPr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919732" y="6584496"/>
            <a:ext cx="1272268" cy="27350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672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21413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53A3343A-59AE-4A2F-B3CD-6A009219BBEB}"/>
              </a:ext>
            </a:extLst>
          </p:cNvPr>
          <p:cNvGrpSpPr/>
          <p:nvPr/>
        </p:nvGrpSpPr>
        <p:grpSpPr>
          <a:xfrm>
            <a:off x="0" y="6575725"/>
            <a:ext cx="12195693" cy="282275"/>
            <a:chOff x="-3693" y="6575725"/>
            <a:chExt cx="12195693" cy="282275"/>
          </a:xfrm>
        </p:grpSpPr>
        <p:sp>
          <p:nvSpPr>
            <p:cNvPr id="12" name="矩形 19">
              <a:extLst>
                <a:ext uri="{FF2B5EF4-FFF2-40B4-BE49-F238E27FC236}">
                  <a16:creationId xmlns:a16="http://schemas.microsoft.com/office/drawing/2014/main" xmlns="" id="{77E6E2F6-076F-44AF-A427-D4E574D9DAD9}"/>
                </a:ext>
              </a:extLst>
            </p:cNvPr>
            <p:cNvSpPr/>
            <p:nvPr/>
          </p:nvSpPr>
          <p:spPr>
            <a:xfrm>
              <a:off x="-3693" y="6575725"/>
              <a:ext cx="9213008" cy="282275"/>
            </a:xfrm>
            <a:custGeom>
              <a:avLst/>
              <a:gdLst>
                <a:gd name="connsiteX0" fmla="*/ 0 w 9785869"/>
                <a:gd name="connsiteY0" fmla="*/ 0 h 282275"/>
                <a:gd name="connsiteX1" fmla="*/ 9785869 w 9785869"/>
                <a:gd name="connsiteY1" fmla="*/ 0 h 282275"/>
                <a:gd name="connsiteX2" fmla="*/ 9785869 w 9785869"/>
                <a:gd name="connsiteY2" fmla="*/ 282275 h 282275"/>
                <a:gd name="connsiteX3" fmla="*/ 0 w 9785869"/>
                <a:gd name="connsiteY3" fmla="*/ 282275 h 282275"/>
                <a:gd name="connsiteX4" fmla="*/ 0 w 9785869"/>
                <a:gd name="connsiteY4" fmla="*/ 0 h 282275"/>
                <a:gd name="connsiteX0-1" fmla="*/ 0 w 9785869"/>
                <a:gd name="connsiteY0-2" fmla="*/ 0 h 282275"/>
                <a:gd name="connsiteX1-3" fmla="*/ 9785869 w 9785869"/>
                <a:gd name="connsiteY1-4" fmla="*/ 0 h 282275"/>
                <a:gd name="connsiteX2-5" fmla="*/ 9500119 w 9785869"/>
                <a:gd name="connsiteY2-6" fmla="*/ 282275 h 282275"/>
                <a:gd name="connsiteX3-7" fmla="*/ 0 w 9785869"/>
                <a:gd name="connsiteY3-8" fmla="*/ 282275 h 282275"/>
                <a:gd name="connsiteX4-9" fmla="*/ 0 w 9785869"/>
                <a:gd name="connsiteY4-10" fmla="*/ 0 h 282275"/>
                <a:gd name="connsiteX0-11" fmla="*/ 0 w 9785869"/>
                <a:gd name="connsiteY0-12" fmla="*/ 0 h 282275"/>
                <a:gd name="connsiteX1-13" fmla="*/ 9785869 w 9785869"/>
                <a:gd name="connsiteY1-14" fmla="*/ 0 h 282275"/>
                <a:gd name="connsiteX2-15" fmla="*/ 9623944 w 9785869"/>
                <a:gd name="connsiteY2-16" fmla="*/ 263225 h 282275"/>
                <a:gd name="connsiteX3-17" fmla="*/ 0 w 9785869"/>
                <a:gd name="connsiteY3-18" fmla="*/ 282275 h 282275"/>
                <a:gd name="connsiteX4-19" fmla="*/ 0 w 9785869"/>
                <a:gd name="connsiteY4-20" fmla="*/ 0 h 282275"/>
                <a:gd name="connsiteX0-21" fmla="*/ 0 w 9785869"/>
                <a:gd name="connsiteY0-22" fmla="*/ 0 h 282275"/>
                <a:gd name="connsiteX1-23" fmla="*/ 9785869 w 9785869"/>
                <a:gd name="connsiteY1-24" fmla="*/ 0 h 282275"/>
                <a:gd name="connsiteX2-25" fmla="*/ 9633469 w 9785869"/>
                <a:gd name="connsiteY2-26" fmla="*/ 282275 h 282275"/>
                <a:gd name="connsiteX3-27" fmla="*/ 0 w 9785869"/>
                <a:gd name="connsiteY3-28" fmla="*/ 282275 h 282275"/>
                <a:gd name="connsiteX4-29" fmla="*/ 0 w 9785869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9785869" h="282275">
                  <a:moveTo>
                    <a:pt x="0" y="0"/>
                  </a:moveTo>
                  <a:lnTo>
                    <a:pt x="9785869" y="0"/>
                  </a:lnTo>
                  <a:lnTo>
                    <a:pt x="9633469" y="282275"/>
                  </a:lnTo>
                  <a:lnTo>
                    <a:pt x="0" y="282275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18A8A0EF-563C-449D-A72A-E94BE5F23A1B}"/>
                </a:ext>
              </a:extLst>
            </p:cNvPr>
            <p:cNvSpPr txBox="1"/>
            <p:nvPr/>
          </p:nvSpPr>
          <p:spPr>
            <a:xfrm>
              <a:off x="9095014" y="6575725"/>
              <a:ext cx="24969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200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河南大学计算机与信息工程学院</a:t>
              </a:r>
            </a:p>
          </p:txBody>
        </p:sp>
        <p:sp>
          <p:nvSpPr>
            <p:cNvPr id="14" name="矩形 21">
              <a:extLst>
                <a:ext uri="{FF2B5EF4-FFF2-40B4-BE49-F238E27FC236}">
                  <a16:creationId xmlns:a16="http://schemas.microsoft.com/office/drawing/2014/main" xmlns="" id="{2B584D5A-E13D-4D49-BE6D-6370F8729161}"/>
                </a:ext>
              </a:extLst>
            </p:cNvPr>
            <p:cNvSpPr/>
            <p:nvPr/>
          </p:nvSpPr>
          <p:spPr>
            <a:xfrm>
              <a:off x="11591925" y="6575725"/>
              <a:ext cx="600075" cy="282275"/>
            </a:xfrm>
            <a:custGeom>
              <a:avLst/>
              <a:gdLst>
                <a:gd name="connsiteX0" fmla="*/ 0 w 600075"/>
                <a:gd name="connsiteY0" fmla="*/ 0 h 282275"/>
                <a:gd name="connsiteX1" fmla="*/ 600075 w 600075"/>
                <a:gd name="connsiteY1" fmla="*/ 0 h 282275"/>
                <a:gd name="connsiteX2" fmla="*/ 600075 w 600075"/>
                <a:gd name="connsiteY2" fmla="*/ 282275 h 282275"/>
                <a:gd name="connsiteX3" fmla="*/ 0 w 600075"/>
                <a:gd name="connsiteY3" fmla="*/ 282275 h 282275"/>
                <a:gd name="connsiteX4" fmla="*/ 0 w 600075"/>
                <a:gd name="connsiteY4" fmla="*/ 0 h 282275"/>
                <a:gd name="connsiteX0-1" fmla="*/ 247650 w 600075"/>
                <a:gd name="connsiteY0-2" fmla="*/ 0 h 282275"/>
                <a:gd name="connsiteX1-3" fmla="*/ 600075 w 600075"/>
                <a:gd name="connsiteY1-4" fmla="*/ 0 h 282275"/>
                <a:gd name="connsiteX2-5" fmla="*/ 600075 w 600075"/>
                <a:gd name="connsiteY2-6" fmla="*/ 282275 h 282275"/>
                <a:gd name="connsiteX3-7" fmla="*/ 0 w 600075"/>
                <a:gd name="connsiteY3-8" fmla="*/ 282275 h 282275"/>
                <a:gd name="connsiteX4-9" fmla="*/ 247650 w 600075"/>
                <a:gd name="connsiteY4-10" fmla="*/ 0 h 282275"/>
                <a:gd name="connsiteX0-11" fmla="*/ 217170 w 600075"/>
                <a:gd name="connsiteY0-12" fmla="*/ 0 h 282275"/>
                <a:gd name="connsiteX1-13" fmla="*/ 600075 w 600075"/>
                <a:gd name="connsiteY1-14" fmla="*/ 0 h 282275"/>
                <a:gd name="connsiteX2-15" fmla="*/ 600075 w 600075"/>
                <a:gd name="connsiteY2-16" fmla="*/ 282275 h 282275"/>
                <a:gd name="connsiteX3-17" fmla="*/ 0 w 600075"/>
                <a:gd name="connsiteY3-18" fmla="*/ 282275 h 282275"/>
                <a:gd name="connsiteX4-19" fmla="*/ 217170 w 600075"/>
                <a:gd name="connsiteY4-20" fmla="*/ 0 h 282275"/>
                <a:gd name="connsiteX0-21" fmla="*/ 140970 w 600075"/>
                <a:gd name="connsiteY0-22" fmla="*/ 0 h 282275"/>
                <a:gd name="connsiteX1-23" fmla="*/ 600075 w 600075"/>
                <a:gd name="connsiteY1-24" fmla="*/ 0 h 282275"/>
                <a:gd name="connsiteX2-25" fmla="*/ 600075 w 600075"/>
                <a:gd name="connsiteY2-26" fmla="*/ 282275 h 282275"/>
                <a:gd name="connsiteX3-27" fmla="*/ 0 w 600075"/>
                <a:gd name="connsiteY3-28" fmla="*/ 282275 h 282275"/>
                <a:gd name="connsiteX4-29" fmla="*/ 140970 w 600075"/>
                <a:gd name="connsiteY4-30" fmla="*/ 0 h 28227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00075" h="282275">
                  <a:moveTo>
                    <a:pt x="140970" y="0"/>
                  </a:moveTo>
                  <a:lnTo>
                    <a:pt x="600075" y="0"/>
                  </a:lnTo>
                  <a:lnTo>
                    <a:pt x="600075" y="282275"/>
                  </a:lnTo>
                  <a:lnTo>
                    <a:pt x="0" y="282275"/>
                  </a:lnTo>
                  <a:lnTo>
                    <a:pt x="14097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204232"/>
            <a:ext cx="5181600" cy="513941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208314"/>
            <a:ext cx="5181600" cy="5139418"/>
          </a:xfr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488261" y="6544129"/>
            <a:ext cx="26683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7C9E101-E51D-431E-84FA-C029B8655B60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103E3B63-30D6-436B-84E4-2E5D5DE5788C}"/>
              </a:ext>
            </a:extLst>
          </p:cNvPr>
          <p:cNvGrpSpPr/>
          <p:nvPr/>
        </p:nvGrpSpPr>
        <p:grpSpPr>
          <a:xfrm>
            <a:off x="0" y="237055"/>
            <a:ext cx="1200150" cy="488496"/>
            <a:chOff x="0" y="254454"/>
            <a:chExt cx="1795510" cy="732518"/>
          </a:xfrm>
        </p:grpSpPr>
        <p:sp>
          <p:nvSpPr>
            <p:cNvPr id="9" name="矩形 1">
              <a:extLst>
                <a:ext uri="{FF2B5EF4-FFF2-40B4-BE49-F238E27FC236}">
                  <a16:creationId xmlns:a16="http://schemas.microsoft.com/office/drawing/2014/main" xmlns="" id="{BECDD563-4923-4C59-92AB-A46BE222C13D}"/>
                </a:ext>
              </a:extLst>
            </p:cNvPr>
            <p:cNvSpPr/>
            <p:nvPr/>
          </p:nvSpPr>
          <p:spPr>
            <a:xfrm>
              <a:off x="0" y="254454"/>
              <a:ext cx="1487837" cy="732518"/>
            </a:xfrm>
            <a:custGeom>
              <a:avLst/>
              <a:gdLst>
                <a:gd name="connsiteX0" fmla="*/ 0 w 1487837"/>
                <a:gd name="connsiteY0" fmla="*/ 0 h 914400"/>
                <a:gd name="connsiteX1" fmla="*/ 1487837 w 1487837"/>
                <a:gd name="connsiteY1" fmla="*/ 0 h 914400"/>
                <a:gd name="connsiteX2" fmla="*/ 1487837 w 1487837"/>
                <a:gd name="connsiteY2" fmla="*/ 914400 h 914400"/>
                <a:gd name="connsiteX3" fmla="*/ 0 w 1487837"/>
                <a:gd name="connsiteY3" fmla="*/ 914400 h 914400"/>
                <a:gd name="connsiteX4" fmla="*/ 0 w 1487837"/>
                <a:gd name="connsiteY4" fmla="*/ 0 h 914400"/>
                <a:gd name="connsiteX0-1" fmla="*/ 0 w 1487837"/>
                <a:gd name="connsiteY0-2" fmla="*/ 29029 h 943429"/>
                <a:gd name="connsiteX1-3" fmla="*/ 820180 w 1487837"/>
                <a:gd name="connsiteY1-4" fmla="*/ 0 h 943429"/>
                <a:gd name="connsiteX2-5" fmla="*/ 1487837 w 1487837"/>
                <a:gd name="connsiteY2-6" fmla="*/ 943429 h 943429"/>
                <a:gd name="connsiteX3-7" fmla="*/ 0 w 1487837"/>
                <a:gd name="connsiteY3-8" fmla="*/ 943429 h 943429"/>
                <a:gd name="connsiteX4-9" fmla="*/ 0 w 1487837"/>
                <a:gd name="connsiteY4-10" fmla="*/ 29029 h 943429"/>
                <a:gd name="connsiteX0-11" fmla="*/ 0 w 1487837"/>
                <a:gd name="connsiteY0-12" fmla="*/ 0 h 914400"/>
                <a:gd name="connsiteX1-13" fmla="*/ 820180 w 1487837"/>
                <a:gd name="connsiteY1-14" fmla="*/ 10659 h 914400"/>
                <a:gd name="connsiteX2-15" fmla="*/ 1487837 w 1487837"/>
                <a:gd name="connsiteY2-16" fmla="*/ 914400 h 914400"/>
                <a:gd name="connsiteX3-17" fmla="*/ 0 w 1487837"/>
                <a:gd name="connsiteY3-18" fmla="*/ 914400 h 914400"/>
                <a:gd name="connsiteX4-19" fmla="*/ 0 w 1487837"/>
                <a:gd name="connsiteY4-20" fmla="*/ 0 h 914400"/>
                <a:gd name="connsiteX0-21" fmla="*/ 0 w 1487837"/>
                <a:gd name="connsiteY0-22" fmla="*/ 0 h 914400"/>
                <a:gd name="connsiteX1-23" fmla="*/ 820180 w 1487837"/>
                <a:gd name="connsiteY1-24" fmla="*/ 2721 h 914400"/>
                <a:gd name="connsiteX2-25" fmla="*/ 1487837 w 1487837"/>
                <a:gd name="connsiteY2-26" fmla="*/ 914400 h 914400"/>
                <a:gd name="connsiteX3-27" fmla="*/ 0 w 1487837"/>
                <a:gd name="connsiteY3-28" fmla="*/ 914400 h 914400"/>
                <a:gd name="connsiteX4-29" fmla="*/ 0 w 1487837"/>
                <a:gd name="connsiteY4-30" fmla="*/ 0 h 914400"/>
                <a:gd name="connsiteX0-31" fmla="*/ 0 w 1487837"/>
                <a:gd name="connsiteY0-32" fmla="*/ 1248 h 915648"/>
                <a:gd name="connsiteX1-33" fmla="*/ 867805 w 1487837"/>
                <a:gd name="connsiteY1-34" fmla="*/ 0 h 915648"/>
                <a:gd name="connsiteX2-35" fmla="*/ 1487837 w 1487837"/>
                <a:gd name="connsiteY2-36" fmla="*/ 915648 h 915648"/>
                <a:gd name="connsiteX3-37" fmla="*/ 0 w 1487837"/>
                <a:gd name="connsiteY3-38" fmla="*/ 915648 h 915648"/>
                <a:gd name="connsiteX4-39" fmla="*/ 0 w 1487837"/>
                <a:gd name="connsiteY4-40" fmla="*/ 1248 h 91564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487837" h="915648">
                  <a:moveTo>
                    <a:pt x="0" y="1248"/>
                  </a:moveTo>
                  <a:lnTo>
                    <a:pt x="867805" y="0"/>
                  </a:lnTo>
                  <a:lnTo>
                    <a:pt x="1487837" y="915648"/>
                  </a:lnTo>
                  <a:lnTo>
                    <a:pt x="0" y="915648"/>
                  </a:lnTo>
                  <a:lnTo>
                    <a:pt x="0" y="124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 4">
              <a:extLst>
                <a:ext uri="{FF2B5EF4-FFF2-40B4-BE49-F238E27FC236}">
                  <a16:creationId xmlns:a16="http://schemas.microsoft.com/office/drawing/2014/main" xmlns="" id="{CBA445E0-EF1F-4322-B5E9-96A323AF683A}"/>
                </a:ext>
              </a:extLst>
            </p:cNvPr>
            <p:cNvSpPr/>
            <p:nvPr/>
          </p:nvSpPr>
          <p:spPr>
            <a:xfrm>
              <a:off x="1010747" y="254454"/>
              <a:ext cx="784763" cy="732518"/>
            </a:xfrm>
            <a:custGeom>
              <a:avLst/>
              <a:gdLst>
                <a:gd name="connsiteX0" fmla="*/ 164731 w 784763"/>
                <a:gd name="connsiteY0" fmla="*/ 0 h 732518"/>
                <a:gd name="connsiteX1" fmla="*/ 784763 w 784763"/>
                <a:gd name="connsiteY1" fmla="*/ 732518 h 732518"/>
                <a:gd name="connsiteX2" fmla="*/ 619871 w 784763"/>
                <a:gd name="connsiteY2" fmla="*/ 732518 h 732518"/>
                <a:gd name="connsiteX3" fmla="*/ 0 w 784763"/>
                <a:gd name="connsiteY3" fmla="*/ 190 h 73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4763" h="732518">
                  <a:moveTo>
                    <a:pt x="164731" y="0"/>
                  </a:moveTo>
                  <a:lnTo>
                    <a:pt x="784763" y="732518"/>
                  </a:lnTo>
                  <a:lnTo>
                    <a:pt x="619871" y="732518"/>
                  </a:lnTo>
                  <a:lnTo>
                    <a:pt x="0" y="19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6" name="标题 1">
            <a:extLst>
              <a:ext uri="{FF2B5EF4-FFF2-40B4-BE49-F238E27FC236}">
                <a16:creationId xmlns:a16="http://schemas.microsoft.com/office/drawing/2014/main" xmlns="" id="{228A6188-E823-42CA-A942-9C975B55B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93" y="122464"/>
            <a:ext cx="9553575" cy="881743"/>
          </a:xfrm>
        </p:spPr>
        <p:txBody>
          <a:bodyPr>
            <a:noAutofit/>
          </a:bodyPr>
          <a:lstStyle>
            <a:lvl1pPr>
              <a:defRPr sz="4000" b="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2880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81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990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593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99937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27334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903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15263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12/5/2023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9E101-E51D-431E-84FA-C029B8655B6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10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9.tm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9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9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9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9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9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csdn.net/weixin_44611096/article/details/105792748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image" Target="../media/image9.tmp"/><Relationship Id="rId5" Type="http://schemas.openxmlformats.org/officeDocument/2006/relationships/tags" Target="../tags/tag10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30E38DE8-68FA-44A1-9EDB-75180A31F7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苗 茹</a:t>
            </a:r>
            <a:endParaRPr lang="en-US" altLang="zh-CN" dirty="0"/>
          </a:p>
          <a:p>
            <a:r>
              <a:rPr lang="zh-CN" altLang="en-US" dirty="0"/>
              <a:t>河南大学计算机与信息工程学院</a:t>
            </a:r>
            <a:endParaRPr lang="en-US" altLang="zh-CN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xmlns="" id="{9CA416F6-B179-48CB-9EED-8FA847D72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974273"/>
            <a:ext cx="9477375" cy="140982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/>
            </a:r>
            <a:br>
              <a:rPr lang="zh-CN" altLang="en-US" dirty="0">
                <a:solidFill>
                  <a:srgbClr val="000000"/>
                </a:solidFill>
              </a:rPr>
            </a:br>
            <a:r>
              <a:rPr lang="zh-CN" altLang="en-US" dirty="0">
                <a:solidFill>
                  <a:srgbClr val="000000"/>
                </a:solidFill>
              </a:rPr>
              <a:t>第六章  关系数据理论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30F51192-029F-4063-8470-2A8A0C65D650}"/>
              </a:ext>
            </a:extLst>
          </p:cNvPr>
          <p:cNvSpPr/>
          <p:nvPr/>
        </p:nvSpPr>
        <p:spPr>
          <a:xfrm>
            <a:off x="208551" y="894417"/>
            <a:ext cx="48013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/>
              <a:t>数据库系统原理及应用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2327371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373761">
            <a:extLst>
              <a:ext uri="{FF2B5EF4-FFF2-40B4-BE49-F238E27FC236}">
                <a16:creationId xmlns:a16="http://schemas.microsoft.com/office/drawing/2014/main" xmlns="" id="{A16AFB6F-B294-4323-9651-454493722E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第二篇 设计与应用开发篇</a:t>
            </a:r>
            <a:endParaRPr lang="zh-CN" altLang="en-US" dirty="0"/>
          </a:p>
        </p:txBody>
      </p:sp>
      <p:sp>
        <p:nvSpPr>
          <p:cNvPr id="21507" name="文本占位符 373762">
            <a:extLst>
              <a:ext uri="{FF2B5EF4-FFF2-40B4-BE49-F238E27FC236}">
                <a16:creationId xmlns:a16="http://schemas.microsoft.com/office/drawing/2014/main" xmlns="" id="{82ACEA5D-FA67-4CB8-B176-998C8E830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基于某个数据库管理系统设计数据库，如何基于数据库系统编程</a:t>
            </a:r>
          </a:p>
          <a:p>
            <a:endParaRPr lang="en-US" altLang="zh-CN"/>
          </a:p>
          <a:p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章 关系数据理论</a:t>
            </a:r>
          </a:p>
          <a:p>
            <a:r>
              <a:rPr lang="zh-CN" altLang="en-US"/>
              <a:t>第</a:t>
            </a:r>
            <a:r>
              <a:rPr lang="en-US" altLang="zh-CN"/>
              <a:t>7</a:t>
            </a:r>
            <a:r>
              <a:rPr lang="zh-CN" altLang="en-US"/>
              <a:t>章 数据库设计</a:t>
            </a:r>
          </a:p>
          <a:p>
            <a:r>
              <a:rPr lang="zh-CN" altLang="en-US"/>
              <a:t>第</a:t>
            </a:r>
            <a:r>
              <a:rPr lang="en-US" altLang="zh-CN"/>
              <a:t>8</a:t>
            </a:r>
            <a:r>
              <a:rPr lang="zh-CN" altLang="en-US"/>
              <a:t>章 数据库编程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F3EF1AC4-BA1F-47CE-9B05-169D598B3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394241">
            <a:extLst>
              <a:ext uri="{FF2B5EF4-FFF2-40B4-BE49-F238E27FC236}">
                <a16:creationId xmlns:a16="http://schemas.microsoft.com/office/drawing/2014/main" xmlns="" id="{07E05C37-D534-4FAE-882F-41AD5194E4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第六章 关系数据理论</a:t>
            </a:r>
          </a:p>
        </p:txBody>
      </p:sp>
      <p:sp>
        <p:nvSpPr>
          <p:cNvPr id="15363" name="文本占位符 394242">
            <a:extLst>
              <a:ext uri="{FF2B5EF4-FFF2-40B4-BE49-F238E27FC236}">
                <a16:creationId xmlns:a16="http://schemas.microsoft.com/office/drawing/2014/main" xmlns="" id="{684BE5B3-1F33-40ED-ACD1-A9780FE83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</a:p>
          <a:p>
            <a:r>
              <a:rPr lang="en-US" altLang="zh-CN" dirty="0"/>
              <a:t>6.2 </a:t>
            </a:r>
            <a:r>
              <a:rPr lang="zh-CN" altLang="en-US" dirty="0"/>
              <a:t>规范化</a:t>
            </a:r>
          </a:p>
          <a:p>
            <a:r>
              <a:rPr lang="en-US" altLang="zh-CN" dirty="0"/>
              <a:t>6.3 </a:t>
            </a:r>
            <a:r>
              <a:rPr lang="zh-CN" altLang="en-US" dirty="0"/>
              <a:t>数据依赖的公理系统</a:t>
            </a:r>
          </a:p>
          <a:p>
            <a:r>
              <a:rPr lang="en-US" altLang="zh-CN" dirty="0"/>
              <a:t>*6.4 </a:t>
            </a:r>
            <a:r>
              <a:rPr lang="zh-CN" altLang="en-US" dirty="0"/>
              <a:t>模式的分解</a:t>
            </a:r>
          </a:p>
          <a:p>
            <a:r>
              <a:rPr lang="en-US" altLang="zh-CN" dirty="0"/>
              <a:t>6.5 </a:t>
            </a:r>
            <a:r>
              <a:rPr lang="zh-CN" altLang="en-US" dirty="0"/>
              <a:t>小结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64D56532-A87C-47FF-AA88-187662E54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395265">
            <a:extLst>
              <a:ext uri="{FF2B5EF4-FFF2-40B4-BE49-F238E27FC236}">
                <a16:creationId xmlns:a16="http://schemas.microsoft.com/office/drawing/2014/main" xmlns="" id="{04E7EC68-1979-426C-B4C4-B173E1C603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问题的提出</a:t>
            </a:r>
          </a:p>
        </p:txBody>
      </p:sp>
      <p:sp>
        <p:nvSpPr>
          <p:cNvPr id="16387" name="文本占位符 395266">
            <a:extLst>
              <a:ext uri="{FF2B5EF4-FFF2-40B4-BE49-F238E27FC236}">
                <a16:creationId xmlns:a16="http://schemas.microsoft.com/office/drawing/2014/main" xmlns="" id="{115DB9E6-80DF-4972-BD33-35E0D05956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关系数据库逻辑设计</a:t>
            </a:r>
          </a:p>
          <a:p>
            <a:pPr lvl="1"/>
            <a:r>
              <a:rPr lang="zh-CN" altLang="en-US" dirty="0"/>
              <a:t>针对具体问题，如何构造一个适合于它的数据模式</a:t>
            </a:r>
            <a:endParaRPr lang="en-US" altLang="zh-CN" dirty="0"/>
          </a:p>
          <a:p>
            <a:pPr lvl="2"/>
            <a:r>
              <a:rPr lang="zh-CN" altLang="en-US" dirty="0"/>
              <a:t>即：</a:t>
            </a:r>
            <a:r>
              <a:rPr lang="zh-CN" altLang="en-US" dirty="0">
                <a:solidFill>
                  <a:srgbClr val="C00000"/>
                </a:solidFill>
              </a:rPr>
              <a:t>数据库需要构造多少个关系模式，每个关系由哪些属性组成？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数据库逻辑设计的工具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——</a:t>
            </a:r>
            <a:r>
              <a:rPr lang="zh-CN" altLang="en-US" dirty="0">
                <a:solidFill>
                  <a:srgbClr val="C00000"/>
                </a:solidFill>
              </a:rPr>
              <a:t>关系数据库的规范化理论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zh-CN" altLang="en-US" dirty="0"/>
              <a:t>数据依赖</a:t>
            </a:r>
          </a:p>
          <a:p>
            <a:pPr lvl="2"/>
            <a:r>
              <a:rPr lang="zh-CN" altLang="en-US" dirty="0"/>
              <a:t>范式</a:t>
            </a:r>
          </a:p>
          <a:p>
            <a:pPr lvl="2"/>
            <a:r>
              <a:rPr lang="zh-CN" altLang="en-US" dirty="0"/>
              <a:t>模式设计方法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39260538-DF45-4CD5-BC51-1C259F881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C0B6E145-988C-4B17-9D95-607AB0284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858" y="2899547"/>
            <a:ext cx="4312337" cy="347880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xmlns="" id="{B47830F4-C745-4FFA-AAC4-B74E39DFF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一、概念回顾</a:t>
            </a:r>
          </a:p>
        </p:txBody>
      </p:sp>
      <p:sp>
        <p:nvSpPr>
          <p:cNvPr id="19459" name="文本占位符 398338">
            <a:extLst>
              <a:ext uri="{FF2B5EF4-FFF2-40B4-BE49-F238E27FC236}">
                <a16:creationId xmlns:a16="http://schemas.microsoft.com/office/drawing/2014/main" xmlns="" id="{42B74E3B-D0D0-4751-9E69-D94A0FABB2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关系模式的形式化定义</a:t>
            </a:r>
            <a:endParaRPr lang="en-US" altLang="zh-CN" dirty="0"/>
          </a:p>
          <a:p>
            <a:pPr lvl="1"/>
            <a:r>
              <a:rPr lang="zh-CN" altLang="en-US" dirty="0"/>
              <a:t>关系模式由五部分组成，即它是一个</a:t>
            </a:r>
            <a:r>
              <a:rPr lang="zh-CN" altLang="en-US" dirty="0">
                <a:solidFill>
                  <a:srgbClr val="C00000"/>
                </a:solidFill>
              </a:rPr>
              <a:t>五元组</a:t>
            </a:r>
            <a:r>
              <a:rPr lang="zh-CN" altLang="en-US" dirty="0"/>
              <a:t>：</a:t>
            </a:r>
          </a:p>
          <a:p>
            <a:pPr marL="342900" lvl="1" indent="0">
              <a:buNone/>
            </a:pPr>
            <a:r>
              <a:rPr lang="zh-CN" altLang="en-US" dirty="0"/>
              <a:t>     </a:t>
            </a:r>
            <a:r>
              <a:rPr lang="en-US" altLang="zh-CN" dirty="0"/>
              <a:t>R(U, D, DOM, F)</a:t>
            </a:r>
          </a:p>
          <a:p>
            <a:pPr lvl="2"/>
            <a:r>
              <a:rPr lang="en-US" altLang="zh-CN" dirty="0"/>
              <a:t>R</a:t>
            </a:r>
            <a:r>
              <a:rPr lang="zh-CN" altLang="en-US" dirty="0"/>
              <a:t>：      关系名</a:t>
            </a:r>
          </a:p>
          <a:p>
            <a:pPr lvl="2"/>
            <a:r>
              <a:rPr lang="en-US" altLang="zh-CN" dirty="0"/>
              <a:t>U</a:t>
            </a:r>
            <a:r>
              <a:rPr lang="zh-CN" altLang="en-US" dirty="0"/>
              <a:t>：       组成该关系的属性名集合</a:t>
            </a:r>
          </a:p>
          <a:p>
            <a:pPr lvl="2"/>
            <a:r>
              <a:rPr lang="en-US" altLang="zh-CN" dirty="0"/>
              <a:t>D</a:t>
            </a:r>
            <a:r>
              <a:rPr lang="zh-CN" altLang="en-US" dirty="0"/>
              <a:t>：       属性组</a:t>
            </a:r>
            <a:r>
              <a:rPr lang="en-US" altLang="zh-CN" dirty="0"/>
              <a:t>U</a:t>
            </a:r>
            <a:r>
              <a:rPr lang="zh-CN" altLang="en-US" dirty="0"/>
              <a:t>中属性所来自的域</a:t>
            </a:r>
          </a:p>
          <a:p>
            <a:pPr lvl="2"/>
            <a:r>
              <a:rPr lang="en-US" altLang="zh-CN" dirty="0"/>
              <a:t>DOM</a:t>
            </a:r>
            <a:r>
              <a:rPr lang="zh-CN" altLang="en-US" dirty="0"/>
              <a:t>： 属性向域的映象集合</a:t>
            </a:r>
          </a:p>
          <a:p>
            <a:pPr lvl="2"/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：       属性间数据的依赖关系集合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由于</a:t>
            </a:r>
            <a:r>
              <a:rPr lang="en-US" altLang="zh-CN" dirty="0"/>
              <a:t>D</a:t>
            </a:r>
            <a:r>
              <a:rPr lang="zh-CN" altLang="en-US" dirty="0"/>
              <a:t>、 </a:t>
            </a:r>
            <a:r>
              <a:rPr lang="en-US" altLang="zh-CN" dirty="0"/>
              <a:t>DOM</a:t>
            </a:r>
            <a:r>
              <a:rPr lang="zh-CN" altLang="en-US" dirty="0"/>
              <a:t>与模式设计关系不大，因此把关系模式简化为一个三元组：</a:t>
            </a:r>
            <a:r>
              <a:rPr lang="en-US" altLang="zh-CN" dirty="0">
                <a:solidFill>
                  <a:srgbClr val="C00000"/>
                </a:solidFill>
              </a:rPr>
              <a:t>R&lt;U, F&gt;</a:t>
            </a:r>
          </a:p>
          <a:p>
            <a:pPr lvl="2"/>
            <a:r>
              <a:rPr lang="zh-CN" altLang="en-US" dirty="0"/>
              <a:t>当且仅当</a:t>
            </a:r>
            <a:r>
              <a:rPr lang="en-US" altLang="zh-CN" dirty="0"/>
              <a:t>U</a:t>
            </a:r>
            <a:r>
              <a:rPr lang="zh-CN" altLang="en-US" dirty="0"/>
              <a:t>上的一个关系</a:t>
            </a:r>
            <a:r>
              <a:rPr lang="en-US" altLang="zh-CN" dirty="0"/>
              <a:t>r</a:t>
            </a:r>
            <a:r>
              <a:rPr lang="zh-CN" altLang="en-US" dirty="0"/>
              <a:t>满足</a:t>
            </a:r>
            <a:r>
              <a:rPr lang="en-US" altLang="zh-CN" dirty="0"/>
              <a:t>F</a:t>
            </a:r>
            <a:r>
              <a:rPr lang="zh-CN" altLang="en-US" dirty="0"/>
              <a:t>时， </a:t>
            </a:r>
            <a:r>
              <a:rPr lang="en-US" altLang="zh-CN" dirty="0"/>
              <a:t>r</a:t>
            </a:r>
            <a:r>
              <a:rPr lang="zh-CN" altLang="en-US" dirty="0"/>
              <a:t>称为关系模式</a:t>
            </a:r>
            <a:r>
              <a:rPr lang="en-US" altLang="zh-CN" dirty="0"/>
              <a:t>R&lt;U,F&gt;</a:t>
            </a:r>
            <a:r>
              <a:rPr lang="zh-CN" altLang="en-US" dirty="0"/>
              <a:t>的一个关系</a:t>
            </a:r>
            <a:endParaRPr lang="en-US" altLang="zh-CN" dirty="0"/>
          </a:p>
          <a:p>
            <a:pPr lvl="2"/>
            <a:r>
              <a:rPr lang="zh-CN" altLang="en-US" dirty="0"/>
              <a:t>作为二维表，关系要符合一个最基本的条件：每个分量必须是不可分开的数据项。满足了这个条件的关系模式就属于</a:t>
            </a:r>
            <a:r>
              <a:rPr lang="zh-CN" altLang="en-US" dirty="0">
                <a:solidFill>
                  <a:srgbClr val="C00000"/>
                </a:solidFill>
              </a:rPr>
              <a:t>第一范式（</a:t>
            </a:r>
            <a:r>
              <a:rPr lang="en-US" altLang="zh-CN" dirty="0">
                <a:solidFill>
                  <a:srgbClr val="C00000"/>
                </a:solidFill>
              </a:rPr>
              <a:t>1NF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D97CBB4-FEFF-48C6-830D-07D374C5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xmlns="" id="{F947484C-97DF-4E6A-A29E-A02D52F1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二、什么是数据依赖</a:t>
            </a:r>
          </a:p>
        </p:txBody>
      </p:sp>
      <p:sp>
        <p:nvSpPr>
          <p:cNvPr id="21507" name="文本占位符 400386">
            <a:extLst>
              <a:ext uri="{FF2B5EF4-FFF2-40B4-BE49-F238E27FC236}">
                <a16:creationId xmlns:a16="http://schemas.microsoft.com/office/drawing/2014/main" xmlns="" id="{25321C5D-CAC7-4DB0-BA83-76FCA2DF04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数据依赖</a:t>
            </a:r>
          </a:p>
          <a:p>
            <a:pPr lvl="1"/>
            <a:r>
              <a:rPr lang="zh-CN" altLang="en-US" dirty="0"/>
              <a:t>是一个关系</a:t>
            </a:r>
            <a:r>
              <a:rPr lang="zh-CN" altLang="en-US" dirty="0">
                <a:solidFill>
                  <a:srgbClr val="C00000"/>
                </a:solidFill>
              </a:rPr>
              <a:t>内部属性与属性之间</a:t>
            </a:r>
            <a:r>
              <a:rPr lang="zh-CN" altLang="en-US" dirty="0"/>
              <a:t>的约束关系</a:t>
            </a:r>
            <a:endParaRPr lang="en-US" altLang="zh-CN" dirty="0"/>
          </a:p>
          <a:p>
            <a:pPr lvl="2"/>
            <a:r>
              <a:rPr lang="zh-CN" altLang="en-US" dirty="0"/>
              <a:t>通过</a:t>
            </a:r>
            <a:r>
              <a:rPr lang="zh-CN" altLang="en-US" dirty="0">
                <a:solidFill>
                  <a:srgbClr val="C00000"/>
                </a:solidFill>
              </a:rPr>
              <a:t>属性间值的相等与否</a:t>
            </a:r>
            <a:r>
              <a:rPr lang="zh-CN" altLang="en-US" dirty="0"/>
              <a:t>体现出来的数据间相互联系</a:t>
            </a:r>
          </a:p>
          <a:p>
            <a:pPr lvl="1"/>
            <a:r>
              <a:rPr lang="zh-CN" altLang="en-US" dirty="0"/>
              <a:t>是现实世界属性间相互联系的抽象</a:t>
            </a:r>
          </a:p>
          <a:p>
            <a:pPr lvl="1"/>
            <a:r>
              <a:rPr lang="zh-CN" altLang="en-US" dirty="0"/>
              <a:t>是数据内在的性质</a:t>
            </a:r>
          </a:p>
          <a:p>
            <a:pPr lvl="1"/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语义</a:t>
            </a:r>
            <a:r>
              <a:rPr lang="zh-CN" altLang="en-US" dirty="0"/>
              <a:t>的体现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数据依赖的类型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函数依赖</a:t>
            </a:r>
            <a:r>
              <a:rPr lang="zh-CN" altLang="en-US" dirty="0"/>
              <a:t>（</a:t>
            </a:r>
            <a:r>
              <a:rPr lang="en-US" altLang="zh-CN" dirty="0"/>
              <a:t>Functional Dependency</a:t>
            </a:r>
            <a:r>
              <a:rPr lang="zh-CN" altLang="en-US" dirty="0"/>
              <a:t>，简记为</a:t>
            </a:r>
            <a:r>
              <a:rPr lang="en-US" altLang="zh-CN" dirty="0">
                <a:solidFill>
                  <a:srgbClr val="C00000"/>
                </a:solidFill>
              </a:rPr>
              <a:t>FD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多值依赖</a:t>
            </a:r>
            <a:r>
              <a:rPr lang="zh-CN" altLang="en-US" dirty="0"/>
              <a:t>（</a:t>
            </a:r>
            <a:r>
              <a:rPr lang="en-US" altLang="zh-CN" dirty="0"/>
              <a:t>Multivalued Dependency</a:t>
            </a:r>
            <a:r>
              <a:rPr lang="zh-CN" altLang="en-US" dirty="0"/>
              <a:t>，简记为</a:t>
            </a:r>
            <a:r>
              <a:rPr lang="en-US" altLang="zh-CN" dirty="0">
                <a:solidFill>
                  <a:srgbClr val="C00000"/>
                </a:solidFill>
              </a:rPr>
              <a:t>MVD</a:t>
            </a:r>
            <a:r>
              <a:rPr lang="zh-CN" altLang="en-US" dirty="0"/>
              <a:t>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C75F909-CB88-4876-B9B7-A43627BB6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403457">
            <a:extLst>
              <a:ext uri="{FF2B5EF4-FFF2-40B4-BE49-F238E27FC236}">
                <a16:creationId xmlns:a16="http://schemas.microsoft.com/office/drawing/2014/main" xmlns="" id="{0C9F6171-15D0-4037-90AD-3CA325DB0A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三、数据依赖对关系模式的影响</a:t>
            </a:r>
          </a:p>
        </p:txBody>
      </p:sp>
      <p:sp>
        <p:nvSpPr>
          <p:cNvPr id="24579" name="文本占位符 403458">
            <a:extLst>
              <a:ext uri="{FF2B5EF4-FFF2-40B4-BE49-F238E27FC236}">
                <a16:creationId xmlns:a16="http://schemas.microsoft.com/office/drawing/2014/main" xmlns="" id="{2962BD71-7714-4187-BDDC-09BB1ECEC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函数依赖普遍存在于现实生活中</a:t>
            </a:r>
          </a:p>
          <a:p>
            <a:pPr lvl="1"/>
            <a:r>
              <a:rPr lang="zh-CN" altLang="en-US" dirty="0"/>
              <a:t>描述一个学生关系，可以有</a:t>
            </a:r>
            <a:r>
              <a:rPr lang="zh-CN" altLang="en-US" dirty="0">
                <a:solidFill>
                  <a:srgbClr val="0000FF"/>
                </a:solidFill>
              </a:rPr>
              <a:t>学号、姓名、系名</a:t>
            </a:r>
            <a:r>
              <a:rPr lang="zh-CN" altLang="en-US" dirty="0"/>
              <a:t>等属性。</a:t>
            </a:r>
          </a:p>
          <a:p>
            <a:pPr lvl="2"/>
            <a:r>
              <a:rPr lang="zh-CN" altLang="en-US" dirty="0"/>
              <a:t>一个学号只对应一个学生，一个学生只在一个系中学习</a:t>
            </a:r>
          </a:p>
          <a:p>
            <a:pPr lvl="2"/>
            <a:r>
              <a:rPr lang="zh-CN" altLang="en-US" dirty="0"/>
              <a:t>“学号” 值确定后，学生的姓名及所在系的值就被</a:t>
            </a:r>
            <a:r>
              <a:rPr lang="zh-CN" altLang="en-US" dirty="0">
                <a:solidFill>
                  <a:srgbClr val="C00000"/>
                </a:solidFill>
              </a:rPr>
              <a:t>唯一确定</a:t>
            </a:r>
            <a:r>
              <a:rPr lang="zh-CN" altLang="en-US" dirty="0"/>
              <a:t>。</a:t>
            </a:r>
            <a:endParaRPr lang="en-US" altLang="zh-CN" dirty="0"/>
          </a:p>
          <a:p>
            <a:pPr marL="342900" lvl="1" indent="0">
              <a:buNone/>
            </a:pP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 err="1"/>
              <a:t>Sname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)</a:t>
            </a:r>
            <a:r>
              <a:rPr lang="zh-CN" altLang="en-US" dirty="0"/>
              <a:t>， </a:t>
            </a:r>
            <a:r>
              <a:rPr lang="en-US" altLang="zh-CN" dirty="0" err="1"/>
              <a:t>Sdept</a:t>
            </a:r>
            <a:r>
              <a:rPr lang="en-US" altLang="zh-CN" dirty="0"/>
              <a:t>=</a:t>
            </a:r>
            <a:r>
              <a:rPr lang="en-US" altLang="zh-CN" i="1" dirty="0"/>
              <a:t>f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 err="1"/>
              <a:t>Sno</a:t>
            </a:r>
            <a:r>
              <a:rPr lang="zh-CN" altLang="en-US" dirty="0"/>
              <a:t>函数决定</a:t>
            </a:r>
            <a:r>
              <a:rPr lang="en-US" altLang="zh-CN" dirty="0" err="1"/>
              <a:t>Sname</a:t>
            </a:r>
            <a:r>
              <a:rPr lang="zh-CN" altLang="en-US" dirty="0"/>
              <a:t>，记作</a:t>
            </a:r>
            <a:r>
              <a:rPr lang="en-US" altLang="zh-CN" dirty="0" err="1">
                <a:solidFill>
                  <a:srgbClr val="C00000"/>
                </a:solidFill>
              </a:rPr>
              <a:t>Sno→Sname</a:t>
            </a:r>
            <a:endParaRPr lang="en-US" altLang="zh-CN" dirty="0">
              <a:solidFill>
                <a:srgbClr val="C00000"/>
              </a:solidFill>
            </a:endParaRPr>
          </a:p>
          <a:p>
            <a:pPr lvl="2"/>
            <a:r>
              <a:rPr lang="en-US" altLang="zh-CN" dirty="0" err="1"/>
              <a:t>Sno</a:t>
            </a:r>
            <a:r>
              <a:rPr lang="zh-CN" altLang="en-US" dirty="0"/>
              <a:t>函数决定</a:t>
            </a:r>
            <a:r>
              <a:rPr lang="en-US" altLang="zh-CN" dirty="0" err="1"/>
              <a:t>Sdept</a:t>
            </a:r>
            <a:r>
              <a:rPr lang="zh-CN" altLang="en-US" dirty="0"/>
              <a:t>，记作</a:t>
            </a:r>
            <a:r>
              <a:rPr lang="en-US" altLang="zh-CN" dirty="0" err="1">
                <a:solidFill>
                  <a:srgbClr val="C00000"/>
                </a:solidFill>
              </a:rPr>
              <a:t>Sno→Sdept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CEE41C00-160A-4FF1-9556-8834D4C0F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964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文本占位符 403458">
            <a:extLst>
              <a:ext uri="{FF2B5EF4-FFF2-40B4-BE49-F238E27FC236}">
                <a16:creationId xmlns:a16="http://schemas.microsoft.com/office/drawing/2014/main" xmlns="" id="{2962BD71-7714-4187-BDDC-09BB1ECECE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1] </a:t>
            </a:r>
            <a:r>
              <a:rPr lang="zh-CN" altLang="en-US" dirty="0"/>
              <a:t>建立一个描述学校教务的数据库，涉及的对象包括：</a:t>
            </a:r>
            <a:endParaRPr lang="en-US" altLang="zh-CN" dirty="0"/>
          </a:p>
          <a:p>
            <a:pPr lvl="1"/>
            <a:r>
              <a:rPr lang="zh-CN" altLang="en-US" dirty="0"/>
              <a:t>学生的学号（</a:t>
            </a:r>
            <a:r>
              <a:rPr lang="en-US" altLang="zh-CN" dirty="0" err="1"/>
              <a:t>Sno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所在系（</a:t>
            </a:r>
            <a:r>
              <a:rPr lang="en-US" altLang="zh-CN" dirty="0" err="1"/>
              <a:t>Sdept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系主任姓名（</a:t>
            </a:r>
            <a:r>
              <a:rPr lang="en-US" altLang="zh-CN" dirty="0" err="1"/>
              <a:t>Mname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课程号（</a:t>
            </a:r>
            <a:r>
              <a:rPr lang="en-US" altLang="zh-CN" dirty="0" err="1"/>
              <a:t>Cno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成绩（</a:t>
            </a:r>
            <a:r>
              <a:rPr lang="en-US" altLang="zh-CN" dirty="0"/>
              <a:t>Grade</a:t>
            </a:r>
            <a:r>
              <a:rPr lang="zh-CN" altLang="en-US" dirty="0"/>
              <a:t>）</a:t>
            </a:r>
          </a:p>
          <a:p>
            <a:pPr lvl="1"/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现实世界的已知事实（语义）：</a:t>
            </a:r>
          </a:p>
          <a:p>
            <a:pPr lvl="2"/>
            <a:r>
              <a:rPr lang="zh-CN" altLang="en-US" dirty="0"/>
              <a:t>一个系有若干学生， 但一个学生只属于一个系；</a:t>
            </a:r>
          </a:p>
          <a:p>
            <a:pPr lvl="2"/>
            <a:r>
              <a:rPr lang="zh-CN" altLang="en-US" dirty="0"/>
              <a:t>一个系只有一名（正职）负责人；</a:t>
            </a:r>
          </a:p>
          <a:p>
            <a:pPr lvl="2"/>
            <a:r>
              <a:rPr lang="zh-CN" altLang="en-US" dirty="0"/>
              <a:t>一个学生可以选修多门课程，每门课程有若干学生选修；</a:t>
            </a:r>
          </a:p>
          <a:p>
            <a:pPr lvl="2"/>
            <a:r>
              <a:rPr lang="zh-CN" altLang="en-US" dirty="0"/>
              <a:t>每个学生学习每一门课程有一个成绩。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CFDD61D-A9E6-4C93-95CC-1F753D0B9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B16BC7A6-CEA6-45B0-A34F-3423CE6BEDD8}"/>
              </a:ext>
            </a:extLst>
          </p:cNvPr>
          <p:cNvGrpSpPr/>
          <p:nvPr/>
        </p:nvGrpSpPr>
        <p:grpSpPr>
          <a:xfrm>
            <a:off x="4529477" y="1648763"/>
            <a:ext cx="5974278" cy="2027788"/>
            <a:chOff x="4529476" y="1648763"/>
            <a:chExt cx="7163496" cy="2027788"/>
          </a:xfrm>
        </p:grpSpPr>
        <p:sp>
          <p:nvSpPr>
            <p:cNvPr id="5" name="右大括号 4">
              <a:extLst>
                <a:ext uri="{FF2B5EF4-FFF2-40B4-BE49-F238E27FC236}">
                  <a16:creationId xmlns:a16="http://schemas.microsoft.com/office/drawing/2014/main" xmlns="" id="{AFF79D32-0C60-4646-8DEF-DD73EF4AA4A3}"/>
                </a:ext>
              </a:extLst>
            </p:cNvPr>
            <p:cNvSpPr/>
            <p:nvPr/>
          </p:nvSpPr>
          <p:spPr>
            <a:xfrm>
              <a:off x="4529476" y="1648763"/>
              <a:ext cx="457200" cy="202778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xmlns="" id="{345DC3EC-791E-4329-B036-E07A8A512D1C}"/>
                </a:ext>
              </a:extLst>
            </p:cNvPr>
            <p:cNvSpPr txBox="1"/>
            <p:nvPr/>
          </p:nvSpPr>
          <p:spPr>
            <a:xfrm>
              <a:off x="5077368" y="2461652"/>
              <a:ext cx="6615604" cy="4308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200" dirty="0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U={</a:t>
              </a:r>
              <a:r>
                <a:rPr lang="en-US" altLang="zh-CN" sz="2200" dirty="0" err="1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Sno</a:t>
              </a:r>
              <a:r>
                <a:rPr lang="en-US" altLang="zh-CN" sz="2200" dirty="0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, </a:t>
              </a:r>
              <a:r>
                <a:rPr lang="en-US" altLang="zh-CN" sz="2200" dirty="0" err="1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Sdept</a:t>
              </a:r>
              <a:r>
                <a:rPr lang="en-US" altLang="zh-CN" sz="2200" dirty="0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, </a:t>
              </a:r>
              <a:r>
                <a:rPr lang="en-US" altLang="zh-CN" sz="2200" dirty="0" err="1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Mname</a:t>
              </a:r>
              <a:r>
                <a:rPr lang="en-US" altLang="zh-CN" sz="2200" dirty="0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, </a:t>
              </a:r>
              <a:r>
                <a:rPr lang="en-US" altLang="zh-CN" sz="2200" dirty="0" err="1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Cno</a:t>
              </a:r>
              <a:r>
                <a:rPr lang="en-US" altLang="zh-CN" sz="2200" dirty="0">
                  <a:solidFill>
                    <a:srgbClr val="C00000"/>
                  </a:solidFill>
                  <a:latin typeface="+mj-ea"/>
                  <a:ea typeface="+mj-ea"/>
                  <a:cs typeface="Courier New" panose="02070309020205020404" pitchFamily="49" charset="0"/>
                </a:rPr>
                <a:t>, Grade}</a:t>
              </a:r>
              <a:endParaRPr lang="zh-CN" altLang="en-US" sz="2200" dirty="0">
                <a:solidFill>
                  <a:srgbClr val="C00000"/>
                </a:solidFill>
                <a:latin typeface="+mj-ea"/>
                <a:ea typeface="+mj-ea"/>
                <a:cs typeface="Courier New" panose="02070309020205020404" pitchFamily="49" charset="0"/>
              </a:endParaRPr>
            </a:p>
          </p:txBody>
        </p:sp>
      </p:grpSp>
      <p:sp>
        <p:nvSpPr>
          <p:cNvPr id="11" name="标题 405505">
            <a:extLst>
              <a:ext uri="{FF2B5EF4-FFF2-40B4-BE49-F238E27FC236}">
                <a16:creationId xmlns:a16="http://schemas.microsoft.com/office/drawing/2014/main" xmlns="" id="{3A76BE1B-20BB-4BDC-B09C-03134E7C7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238125"/>
            <a:ext cx="9553575" cy="512763"/>
          </a:xfrm>
        </p:spPr>
        <p:txBody>
          <a:bodyPr/>
          <a:lstStyle/>
          <a:p>
            <a:r>
              <a:rPr lang="zh-CN" altLang="en-US" dirty="0"/>
              <a:t>数据依赖对关系模式的影响（续）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405505">
            <a:extLst>
              <a:ext uri="{FF2B5EF4-FFF2-40B4-BE49-F238E27FC236}">
                <a16:creationId xmlns:a16="http://schemas.microsoft.com/office/drawing/2014/main" xmlns="" id="{9BD76C91-3A39-44F7-A861-5D5E2797B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数据依赖对关系模式的影响（续）</a:t>
            </a:r>
          </a:p>
        </p:txBody>
      </p:sp>
      <p:sp>
        <p:nvSpPr>
          <p:cNvPr id="25603" name="文本占位符 405506">
            <a:extLst>
              <a:ext uri="{FF2B5EF4-FFF2-40B4-BE49-F238E27FC236}">
                <a16:creationId xmlns:a16="http://schemas.microsoft.com/office/drawing/2014/main" xmlns="" id="{8666EB93-7D1D-4421-8129-A0C6691EA1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根据上下文给定的语义，检查不同属性之间</a:t>
            </a:r>
            <a:r>
              <a:rPr lang="zh-CN" altLang="en-US" dirty="0">
                <a:solidFill>
                  <a:srgbClr val="C00000"/>
                </a:solidFill>
              </a:rPr>
              <a:t>所有可能的函数依赖</a:t>
            </a:r>
            <a:r>
              <a:rPr lang="zh-CN" altLang="en-US" dirty="0"/>
              <a:t>！</a:t>
            </a:r>
            <a:endParaRPr lang="en-US" altLang="zh-CN" dirty="0"/>
          </a:p>
          <a:p>
            <a:r>
              <a:rPr lang="zh-CN" altLang="en-US" dirty="0"/>
              <a:t>可得到属性组</a:t>
            </a:r>
            <a:r>
              <a:rPr lang="en-US" altLang="zh-CN" dirty="0"/>
              <a:t>U</a:t>
            </a:r>
            <a:r>
              <a:rPr lang="zh-CN" altLang="en-US" dirty="0"/>
              <a:t>上的一组函数依赖</a:t>
            </a:r>
            <a:r>
              <a:rPr lang="en-US" altLang="zh-CN" dirty="0"/>
              <a:t>F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en-US" altLang="zh-CN" dirty="0"/>
              <a:t> </a:t>
            </a:r>
            <a:r>
              <a:rPr lang="zh-CN" altLang="en-US" dirty="0"/>
              <a:t>＝｛ 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r>
              <a:rPr lang="en-US" altLang="zh-CN" dirty="0"/>
              <a:t>,  </a:t>
            </a:r>
            <a:r>
              <a:rPr lang="en-US" altLang="zh-CN" dirty="0" err="1"/>
              <a:t>Sdept</a:t>
            </a:r>
            <a:r>
              <a:rPr lang="en-US" altLang="zh-CN" dirty="0"/>
              <a:t> → </a:t>
            </a:r>
            <a:r>
              <a:rPr lang="en-US" altLang="zh-CN" dirty="0" err="1"/>
              <a:t>Mname</a:t>
            </a:r>
            <a:r>
              <a:rPr lang="en-US" altLang="zh-CN" dirty="0"/>
              <a:t>, 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Grade </a:t>
            </a:r>
            <a:r>
              <a:rPr lang="zh-CN" altLang="en-US" dirty="0"/>
              <a:t>｝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047F6503-2AAD-4329-84FA-9EDFAE98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25604" name="组合 405507">
            <a:extLst>
              <a:ext uri="{FF2B5EF4-FFF2-40B4-BE49-F238E27FC236}">
                <a16:creationId xmlns:a16="http://schemas.microsoft.com/office/drawing/2014/main" xmlns="" id="{8E3085C9-42AD-4B1B-B4C2-36A0C9D4FE10}"/>
              </a:ext>
            </a:extLst>
          </p:cNvPr>
          <p:cNvGrpSpPr>
            <a:grpSpLocks/>
          </p:cNvGrpSpPr>
          <p:nvPr/>
        </p:nvGrpSpPr>
        <p:grpSpPr bwMode="auto">
          <a:xfrm>
            <a:off x="3181434" y="3286353"/>
            <a:ext cx="3947961" cy="1823185"/>
            <a:chOff x="3000" y="4872"/>
            <a:chExt cx="5580" cy="2028"/>
          </a:xfrm>
        </p:grpSpPr>
        <p:sp>
          <p:nvSpPr>
            <p:cNvPr id="25605" name="矩形 405508">
              <a:extLst>
                <a:ext uri="{FF2B5EF4-FFF2-40B4-BE49-F238E27FC236}">
                  <a16:creationId xmlns:a16="http://schemas.microsoft.com/office/drawing/2014/main" xmlns="" id="{F9223DD9-5474-426B-A148-D7C13B0A1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0" y="4872"/>
              <a:ext cx="3600" cy="1092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/>
              <a:endParaRPr lang="zh-CN" altLang="en-US" sz="1600"/>
            </a:p>
          </p:txBody>
        </p:sp>
        <p:sp>
          <p:nvSpPr>
            <p:cNvPr id="25606" name="文本框 405509">
              <a:extLst>
                <a:ext uri="{FF2B5EF4-FFF2-40B4-BE49-F238E27FC236}">
                  <a16:creationId xmlns:a16="http://schemas.microsoft.com/office/drawing/2014/main" xmlns="" id="{6325317A-BA63-493E-BAD4-41576E98A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5184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1600" b="1" dirty="0" err="1">
                  <a:latin typeface="Times New Roman" panose="02020603050405020304" pitchFamily="18" charset="0"/>
                </a:rPr>
                <a:t>Sno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  <p:sp>
          <p:nvSpPr>
            <p:cNvPr id="25607" name="文本框 405510">
              <a:extLst>
                <a:ext uri="{FF2B5EF4-FFF2-40B4-BE49-F238E27FC236}">
                  <a16:creationId xmlns:a16="http://schemas.microsoft.com/office/drawing/2014/main" xmlns="" id="{C6514F04-32F1-4213-8045-0B19F548F2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0" y="5184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 err="1">
                  <a:latin typeface="Times New Roman" panose="02020603050405020304" pitchFamily="18" charset="0"/>
                </a:rPr>
                <a:t>Cno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25608" name="文本框 405511">
              <a:extLst>
                <a:ext uri="{FF2B5EF4-FFF2-40B4-BE49-F238E27FC236}">
                  <a16:creationId xmlns:a16="http://schemas.microsoft.com/office/drawing/2014/main" xmlns="" id="{8C638889-7D23-4E3B-8507-B56C0F3D9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6432"/>
              <a:ext cx="108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Sdept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5609" name="文本框 405512">
              <a:extLst>
                <a:ext uri="{FF2B5EF4-FFF2-40B4-BE49-F238E27FC236}">
                  <a16:creationId xmlns:a16="http://schemas.microsoft.com/office/drawing/2014/main" xmlns="" id="{DE2B2876-EF7E-4DDC-BCDC-DA246DE8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0" y="6432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Mname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5610" name="直接连接符 405513">
              <a:extLst>
                <a:ext uri="{FF2B5EF4-FFF2-40B4-BE49-F238E27FC236}">
                  <a16:creationId xmlns:a16="http://schemas.microsoft.com/office/drawing/2014/main" xmlns="" id="{DC4056D3-6CFD-4B93-B4E2-E2097B68F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" y="5652"/>
              <a:ext cx="0" cy="7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5611" name="直接连接符 405514">
              <a:extLst>
                <a:ext uri="{FF2B5EF4-FFF2-40B4-BE49-F238E27FC236}">
                  <a16:creationId xmlns:a16="http://schemas.microsoft.com/office/drawing/2014/main" xmlns="" id="{79D40B59-5670-486B-B339-87BB93A1D0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7" y="6588"/>
              <a:ext cx="5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5612" name="文本框 405515">
              <a:extLst>
                <a:ext uri="{FF2B5EF4-FFF2-40B4-BE49-F238E27FC236}">
                  <a16:creationId xmlns:a16="http://schemas.microsoft.com/office/drawing/2014/main" xmlns="" id="{154C16D5-54FF-418D-8BB8-9025ACE63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0" y="5184"/>
              <a:ext cx="1260" cy="4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Grade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25613" name="直接连接符 405516">
              <a:extLst>
                <a:ext uri="{FF2B5EF4-FFF2-40B4-BE49-F238E27FC236}">
                  <a16:creationId xmlns:a16="http://schemas.microsoft.com/office/drawing/2014/main" xmlns="" id="{FE43B77F-4B3D-4725-BB5D-8FB04C0C4E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0" y="5340"/>
              <a:ext cx="7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对</a:t>
            </a:r>
            <a:r>
              <a:rPr lang="en-US" altLang="zh-CN" dirty="0"/>
              <a:t>R&lt;U, F&gt;</a:t>
            </a:r>
            <a:r>
              <a:rPr lang="zh-CN" altLang="en-US" dirty="0"/>
              <a:t>而言，</a:t>
            </a:r>
            <a:r>
              <a:rPr lang="en-US" altLang="zh-CN" dirty="0"/>
              <a:t>R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C00000"/>
                </a:solidFill>
              </a:rPr>
              <a:t>所有关系</a:t>
            </a:r>
            <a:r>
              <a:rPr lang="en-US" altLang="zh-CN" dirty="0">
                <a:solidFill>
                  <a:srgbClr val="C00000"/>
                </a:solidFill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实例</a:t>
            </a:r>
            <a:r>
              <a:rPr lang="en-US" altLang="zh-CN" dirty="0">
                <a:solidFill>
                  <a:srgbClr val="C00000"/>
                </a:solidFill>
              </a:rPr>
              <a:t>)</a:t>
            </a:r>
            <a:r>
              <a:rPr lang="zh-CN" altLang="en-US" dirty="0"/>
              <a:t>均满足</a:t>
            </a:r>
            <a:r>
              <a:rPr lang="en-US" altLang="zh-CN" dirty="0"/>
              <a:t>F</a:t>
            </a:r>
            <a:r>
              <a:rPr lang="zh-CN" altLang="en-US" dirty="0"/>
              <a:t>上的约束；</a:t>
            </a:r>
            <a:endParaRPr lang="en-US" altLang="zh-CN" dirty="0"/>
          </a:p>
          <a:p>
            <a:r>
              <a:rPr lang="zh-CN" altLang="en-US" dirty="0"/>
              <a:t>反之，如果</a:t>
            </a:r>
            <a:r>
              <a:rPr lang="en-US" altLang="zh-CN" dirty="0"/>
              <a:t>R</a:t>
            </a:r>
            <a:r>
              <a:rPr lang="zh-CN" altLang="en-US" dirty="0"/>
              <a:t>上给出的部分实例使得</a:t>
            </a:r>
            <a:r>
              <a:rPr lang="en-US" altLang="zh-CN" dirty="0"/>
              <a:t>U</a:t>
            </a:r>
            <a:r>
              <a:rPr lang="zh-CN" altLang="en-US" dirty="0"/>
              <a:t>上属性具有某种“依赖”关系，</a:t>
            </a:r>
            <a:r>
              <a:rPr lang="zh-CN" altLang="en-US" dirty="0">
                <a:solidFill>
                  <a:srgbClr val="0000FF"/>
                </a:solidFill>
              </a:rPr>
              <a:t>能否推断出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zh-CN" altLang="en-US" dirty="0">
                <a:solidFill>
                  <a:srgbClr val="0000FF"/>
                </a:solidFill>
              </a:rPr>
              <a:t>的所有关系均满足该“依赖”关系？</a:t>
            </a:r>
            <a:endParaRPr lang="en-US" altLang="zh-CN" dirty="0">
              <a:solidFill>
                <a:srgbClr val="0000FF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事实上，上例只能说明</a:t>
            </a:r>
            <a:r>
              <a:rPr lang="en-US" altLang="zh-CN" dirty="0"/>
              <a:t>FD</a:t>
            </a:r>
            <a:r>
              <a:rPr lang="zh-CN" altLang="en-US" dirty="0">
                <a:solidFill>
                  <a:srgbClr val="C00000"/>
                </a:solidFill>
              </a:rPr>
              <a:t>可能</a:t>
            </a:r>
            <a:r>
              <a:rPr lang="zh-CN" altLang="en-US" dirty="0"/>
              <a:t>成立，却</a:t>
            </a:r>
            <a:r>
              <a:rPr lang="zh-CN" altLang="en-US" dirty="0">
                <a:solidFill>
                  <a:srgbClr val="C00000"/>
                </a:solidFill>
              </a:rPr>
              <a:t>无法证明</a:t>
            </a:r>
            <a:r>
              <a:rPr lang="zh-CN" altLang="en-US" dirty="0"/>
              <a:t>一定成立！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295644"/>
              </p:ext>
            </p:extLst>
          </p:nvPr>
        </p:nvGraphicFramePr>
        <p:xfrm>
          <a:off x="1617572" y="3155392"/>
          <a:ext cx="3581400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621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998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053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36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Student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Course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Room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36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Mary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36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Joe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36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Sam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CS145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B01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3654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latin typeface="+mn-lt"/>
                        </a:rPr>
                        <a:t>..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右箭头 6"/>
          <p:cNvSpPr/>
          <p:nvPr/>
        </p:nvSpPr>
        <p:spPr>
          <a:xfrm>
            <a:off x="5317337" y="3694814"/>
            <a:ext cx="918935" cy="5834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50486" y="3645562"/>
            <a:ext cx="474864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FD {Course} </a:t>
            </a:r>
            <a:r>
              <a:rPr lang="en-US" altLang="zh-CN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{Room}</a:t>
            </a:r>
            <a:r>
              <a:rPr lang="zh-CN" altLang="en-US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？</a:t>
            </a:r>
            <a:r>
              <a:rPr lang="en-US" altLang="zh-CN" sz="2800" b="1" dirty="0">
                <a:solidFill>
                  <a:srgbClr val="C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endParaRPr lang="zh-CN" altLang="en-US" sz="2800" b="1" dirty="0">
              <a:solidFill>
                <a:srgbClr val="C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标题 405505">
            <a:extLst>
              <a:ext uri="{FF2B5EF4-FFF2-40B4-BE49-F238E27FC236}">
                <a16:creationId xmlns:a16="http://schemas.microsoft.com/office/drawing/2014/main" xmlns="" id="{1460633E-3C3C-4289-93C9-C97D3CCD4B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238125"/>
            <a:ext cx="9553575" cy="512763"/>
          </a:xfrm>
        </p:spPr>
        <p:txBody>
          <a:bodyPr/>
          <a:lstStyle/>
          <a:p>
            <a:r>
              <a:rPr lang="zh-CN" altLang="en-US" dirty="0"/>
              <a:t>数据依赖对关系模式的影响（续）</a:t>
            </a:r>
          </a:p>
        </p:txBody>
      </p:sp>
    </p:spTree>
    <p:extLst>
      <p:ext uri="{BB962C8B-B14F-4D97-AF65-F5344CB8AC3E}">
        <p14:creationId xmlns:p14="http://schemas.microsoft.com/office/powerpoint/2010/main" val="12165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xmlns="" id="{4E849877-964F-4524-B0EB-539C3464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在此关系模式中填入一部分具体的数据，则可得到</a:t>
            </a:r>
            <a:r>
              <a:rPr lang="en-US" altLang="zh-CN" dirty="0"/>
              <a:t>Student</a:t>
            </a:r>
            <a:r>
              <a:rPr lang="zh-CN" altLang="en-US" dirty="0"/>
              <a:t>关系模式的实例，即一个教学管理数据库，如下表所示。</a:t>
            </a:r>
          </a:p>
          <a:p>
            <a:endParaRPr lang="zh-CN" alt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xmlns="" id="{E49686C0-C291-40D6-B112-52F3061CA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91890"/>
              </p:ext>
            </p:extLst>
          </p:nvPr>
        </p:nvGraphicFramePr>
        <p:xfrm>
          <a:off x="2552008" y="2303351"/>
          <a:ext cx="6891686" cy="3688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9732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3849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384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384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3849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98799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n-lt"/>
                          <a:ea typeface="微软雅黑" panose="020B0503020204020204" pitchFamily="34" charset="-122"/>
                        </a:rPr>
                        <a:t>Sno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n-lt"/>
                          <a:ea typeface="微软雅黑" panose="020B0503020204020204" pitchFamily="34" charset="-122"/>
                        </a:rPr>
                        <a:t>Sname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n-lt"/>
                          <a:ea typeface="微软雅黑" panose="020B0503020204020204" pitchFamily="34" charset="-122"/>
                        </a:rPr>
                        <a:t>Sdept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n-lt"/>
                          <a:ea typeface="微软雅黑" panose="020B0503020204020204" pitchFamily="34" charset="-122"/>
                        </a:rPr>
                        <a:t>Mname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n-lt"/>
                          <a:ea typeface="微软雅黑" panose="020B0503020204020204" pitchFamily="34" charset="-122"/>
                        </a:rPr>
                        <a:t>Cno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Grade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赵亦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刘伟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C1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90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赵亦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刘伟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C5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57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C6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80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C7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70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C8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70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C1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C2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70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C4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85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315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李思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自动化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lt"/>
                          <a:ea typeface="微软雅黑" panose="020B0503020204020204" pitchFamily="34" charset="-122"/>
                        </a:rPr>
                        <a:t>刘伟</a:t>
                      </a: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C1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lt"/>
                          <a:ea typeface="微软雅黑" panose="020B0503020204020204" pitchFamily="34" charset="-122"/>
                        </a:rPr>
                        <a:t>93</a:t>
                      </a:r>
                      <a:endParaRPr lang="zh-CN" altLang="en-US" sz="16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43" marR="91443" marT="45727" marB="45727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4" name="标题 3">
            <a:extLst>
              <a:ext uri="{FF2B5EF4-FFF2-40B4-BE49-F238E27FC236}">
                <a16:creationId xmlns:a16="http://schemas.microsoft.com/office/drawing/2014/main" xmlns="" id="{8E65BCB9-ECB3-4796-A554-7060D2C0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Student</a:t>
            </a:r>
            <a:r>
              <a:rPr lang="zh-CN" altLang="en-US"/>
              <a:t>关系模式实例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C0470961-CECF-4A76-8B93-A4CE3C0F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文本占位符 406530">
            <a:extLst>
              <a:ext uri="{FF2B5EF4-FFF2-40B4-BE49-F238E27FC236}">
                <a16:creationId xmlns:a16="http://schemas.microsoft.com/office/drawing/2014/main" xmlns="" id="{0D48F1B7-49D4-4D50-B70D-C8E837E9B3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关系模式</a:t>
            </a:r>
            <a:r>
              <a:rPr lang="en-US" altLang="zh-CN" dirty="0"/>
              <a:t>Student&lt;U, F&gt;</a:t>
            </a:r>
            <a:r>
              <a:rPr lang="zh-CN" altLang="en-US" dirty="0"/>
              <a:t>中存在的问题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1. </a:t>
            </a:r>
            <a:r>
              <a:rPr lang="zh-CN" altLang="en-US" dirty="0">
                <a:solidFill>
                  <a:srgbClr val="0000FF"/>
                </a:solidFill>
              </a:rPr>
              <a:t>数据冗余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每一个系主任的姓名重复出现，重复次数与该系所有学生的所有课程成绩出现次数相同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2. </a:t>
            </a:r>
            <a:r>
              <a:rPr lang="zh-CN" altLang="en-US" dirty="0">
                <a:solidFill>
                  <a:srgbClr val="0000FF"/>
                </a:solidFill>
              </a:rPr>
              <a:t>更新异常（</a:t>
            </a:r>
            <a:r>
              <a:rPr lang="en-US" altLang="zh-CN" dirty="0">
                <a:solidFill>
                  <a:srgbClr val="0000FF"/>
                </a:solidFill>
              </a:rPr>
              <a:t>Update Anomalies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某系更换系主任后，必须修改与该系学生有关的每一个元组。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3. </a:t>
            </a:r>
            <a:r>
              <a:rPr lang="zh-CN" altLang="en-US" dirty="0">
                <a:solidFill>
                  <a:srgbClr val="0000FF"/>
                </a:solidFill>
              </a:rPr>
              <a:t>插入异常（</a:t>
            </a:r>
            <a:r>
              <a:rPr lang="en-US" altLang="zh-CN" dirty="0">
                <a:solidFill>
                  <a:srgbClr val="0000FF"/>
                </a:solidFill>
              </a:rPr>
              <a:t>Insertion Anomalies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如果一个系刚成立，尚无学生，则无法把这个系及其系主任的信息存入数据库</a:t>
            </a:r>
            <a:endParaRPr lang="en-US" altLang="zh-CN" dirty="0"/>
          </a:p>
          <a:p>
            <a:pPr lvl="2"/>
            <a:r>
              <a:rPr lang="zh-CN" altLang="en-US" sz="1600" dirty="0"/>
              <a:t>另外，当某个学生尚未选课，即</a:t>
            </a:r>
            <a:r>
              <a:rPr lang="en-US" altLang="zh-CN" sz="1600" dirty="0" err="1"/>
              <a:t>Cno</a:t>
            </a:r>
            <a:r>
              <a:rPr lang="zh-CN" altLang="en-US" sz="1600" dirty="0"/>
              <a:t>未知，实体完整性约束还规定，主键的值不能部分为空，同样不能进行插入操作。</a:t>
            </a:r>
            <a:endParaRPr lang="zh-CN" altLang="en-US" dirty="0"/>
          </a:p>
          <a:p>
            <a:pPr lvl="1"/>
            <a:r>
              <a:rPr lang="en-US" altLang="zh-CN" dirty="0">
                <a:solidFill>
                  <a:srgbClr val="0000FF"/>
                </a:solidFill>
              </a:rPr>
              <a:t>4. </a:t>
            </a:r>
            <a:r>
              <a:rPr lang="zh-CN" altLang="en-US" dirty="0">
                <a:solidFill>
                  <a:srgbClr val="0000FF"/>
                </a:solidFill>
              </a:rPr>
              <a:t>删除异常（</a:t>
            </a:r>
            <a:r>
              <a:rPr lang="en-US" altLang="zh-CN" dirty="0">
                <a:solidFill>
                  <a:srgbClr val="0000FF"/>
                </a:solidFill>
              </a:rPr>
              <a:t>Deletion Anomalies</a:t>
            </a:r>
            <a:r>
              <a:rPr lang="zh-CN" altLang="en-US" dirty="0">
                <a:solidFill>
                  <a:srgbClr val="0000FF"/>
                </a:solidFill>
              </a:rPr>
              <a:t>）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如果某个系的学生全部毕业了， 则在删除该系学生信息的同时，把这个系及其系主任的信息也丢掉了。</a:t>
            </a:r>
            <a:endParaRPr lang="en-US" altLang="zh-CN" dirty="0"/>
          </a:p>
          <a:p>
            <a:pPr lvl="2"/>
            <a:r>
              <a:rPr lang="zh-CN" altLang="en-US" sz="1600" dirty="0"/>
              <a:t>另外，如果某个学生不再选修</a:t>
            </a:r>
            <a:r>
              <a:rPr lang="en-US" altLang="zh-CN" sz="1600" dirty="0"/>
              <a:t>C1</a:t>
            </a:r>
            <a:r>
              <a:rPr lang="zh-CN" altLang="en-US" sz="1600" dirty="0"/>
              <a:t>课程，本应该只删去</a:t>
            </a:r>
            <a:r>
              <a:rPr lang="en-US" altLang="zh-CN" sz="1600" dirty="0"/>
              <a:t>C1</a:t>
            </a:r>
            <a:r>
              <a:rPr lang="zh-CN" altLang="en-US" sz="1600" dirty="0"/>
              <a:t>，但</a:t>
            </a:r>
            <a:r>
              <a:rPr lang="en-US" altLang="zh-CN" sz="1600" dirty="0"/>
              <a:t>C1</a:t>
            </a:r>
            <a:r>
              <a:rPr lang="zh-CN" altLang="en-US" sz="1600" dirty="0"/>
              <a:t>是主键的一部分，为保证实体完整性，必须将整个元组一起删掉，这样，有关该学生的其它信息也随之丢失。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FB92D4FF-526A-4908-A98B-D9B9AF20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sp>
        <p:nvSpPr>
          <p:cNvPr id="7" name="标题 408577">
            <a:extLst>
              <a:ext uri="{FF2B5EF4-FFF2-40B4-BE49-F238E27FC236}">
                <a16:creationId xmlns:a16="http://schemas.microsoft.com/office/drawing/2014/main" xmlns="" id="{D01733EF-3133-4D6E-B61A-1E6B1F43C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238125"/>
            <a:ext cx="9553575" cy="512763"/>
          </a:xfrm>
        </p:spPr>
        <p:txBody>
          <a:bodyPr/>
          <a:lstStyle/>
          <a:p>
            <a:r>
              <a:rPr lang="zh-CN" altLang="en-US" dirty="0"/>
              <a:t>数据依赖对关系模式的影响（续）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408577">
            <a:extLst>
              <a:ext uri="{FF2B5EF4-FFF2-40B4-BE49-F238E27FC236}">
                <a16:creationId xmlns:a16="http://schemas.microsoft.com/office/drawing/2014/main" xmlns="" id="{0AE38DBB-8460-42AC-9B57-D39F926BCD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数据依赖对关系模式的影响（续）</a:t>
            </a:r>
          </a:p>
        </p:txBody>
      </p:sp>
      <p:sp>
        <p:nvSpPr>
          <p:cNvPr id="27651" name="文本占位符 408578">
            <a:extLst>
              <a:ext uri="{FF2B5EF4-FFF2-40B4-BE49-F238E27FC236}">
                <a16:creationId xmlns:a16="http://schemas.microsoft.com/office/drawing/2014/main" xmlns="" id="{9FAC7E29-B63D-4471-949C-1F07AA62CB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结论：</a:t>
            </a:r>
          </a:p>
          <a:p>
            <a:pPr lvl="1"/>
            <a:r>
              <a:rPr lang="en-US" altLang="zh-CN" dirty="0"/>
              <a:t>Student</a:t>
            </a:r>
            <a:r>
              <a:rPr lang="zh-CN" altLang="en-US" dirty="0"/>
              <a:t>关系模式不是一个好的模式。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“好”的模式：</a:t>
            </a:r>
            <a:r>
              <a:rPr lang="zh-CN" altLang="en-US" dirty="0"/>
              <a:t>不会发生插入异常、删除异常、更新异常，数据冗余应尽可能少。</a:t>
            </a:r>
            <a:endParaRPr lang="en-US" altLang="zh-CN" dirty="0"/>
          </a:p>
          <a:p>
            <a:r>
              <a:rPr lang="zh-CN" altLang="en-US" dirty="0"/>
              <a:t>原因：</a:t>
            </a:r>
            <a:endParaRPr lang="en-US" altLang="zh-CN" dirty="0"/>
          </a:p>
          <a:p>
            <a:pPr lvl="1"/>
            <a:r>
              <a:rPr lang="zh-CN" altLang="en-US" dirty="0"/>
              <a:t>产生上述问题的原因，直观地说，是因为关系中“包罗万象”，内容太杂了。实际上是由存在于模式中的</a:t>
            </a:r>
            <a:r>
              <a:rPr lang="zh-CN" altLang="en-US" dirty="0">
                <a:solidFill>
                  <a:srgbClr val="C00000"/>
                </a:solidFill>
              </a:rPr>
              <a:t>某些数据依赖</a:t>
            </a:r>
            <a:r>
              <a:rPr lang="zh-CN" altLang="en-US" dirty="0"/>
              <a:t>引起的。</a:t>
            </a:r>
            <a:endParaRPr lang="en-US" altLang="zh-CN" dirty="0"/>
          </a:p>
          <a:p>
            <a:r>
              <a:rPr lang="zh-CN" altLang="en-US" dirty="0"/>
              <a:t>解决方法：</a:t>
            </a:r>
            <a:endParaRPr lang="en-US" altLang="zh-CN" dirty="0"/>
          </a:p>
          <a:p>
            <a:pPr lvl="1"/>
            <a:r>
              <a:rPr lang="zh-CN" altLang="en-US" dirty="0">
                <a:sym typeface="Calibri" pitchFamily="34" charset="0"/>
              </a:rPr>
              <a:t>用规范化理论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改造关系模式</a:t>
            </a:r>
            <a:r>
              <a:rPr lang="zh-CN" altLang="en-US" dirty="0">
                <a:sym typeface="Calibri" pitchFamily="34" charset="0"/>
              </a:rPr>
              <a:t>来消除其中不合适的数据依赖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11EA3E5E-7E3C-4E5A-A2AF-A5187495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543745">
            <a:extLst>
              <a:ext uri="{FF2B5EF4-FFF2-40B4-BE49-F238E27FC236}">
                <a16:creationId xmlns:a16="http://schemas.microsoft.com/office/drawing/2014/main" xmlns="" id="{822A916B-D9F5-4C2E-BF4C-BF789DE459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分解关系模式</a:t>
            </a:r>
          </a:p>
        </p:txBody>
      </p:sp>
      <p:sp>
        <p:nvSpPr>
          <p:cNvPr id="28675" name="文本占位符 543746">
            <a:extLst>
              <a:ext uri="{FF2B5EF4-FFF2-40B4-BE49-F238E27FC236}">
                <a16:creationId xmlns:a16="http://schemas.microsoft.com/office/drawing/2014/main" xmlns="" id="{77B57C3A-D8BC-499D-8B9A-6F5100B94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把关系模式</a:t>
            </a:r>
            <a:r>
              <a:rPr lang="en-US" altLang="zh-CN" dirty="0"/>
              <a:t>student</a:t>
            </a:r>
            <a:r>
              <a:rPr lang="zh-CN" altLang="en-US" dirty="0"/>
              <a:t>分解为下面三个结构简单的关系模式</a:t>
            </a:r>
          </a:p>
          <a:p>
            <a:pPr lvl="1"/>
            <a:r>
              <a:rPr lang="zh-CN" altLang="en-US" dirty="0"/>
              <a:t>学生关系</a:t>
            </a:r>
            <a:r>
              <a:rPr lang="en-US" altLang="zh-CN" dirty="0"/>
              <a:t>S(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 )</a:t>
            </a:r>
          </a:p>
          <a:p>
            <a:pPr lvl="1"/>
            <a:r>
              <a:rPr lang="zh-CN" altLang="en-US" dirty="0"/>
              <a:t>选课关系</a:t>
            </a:r>
            <a:r>
              <a:rPr lang="en-US" altLang="zh-CN" dirty="0"/>
              <a:t>SC(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 )</a:t>
            </a:r>
          </a:p>
          <a:p>
            <a:pPr lvl="1"/>
            <a:r>
              <a:rPr lang="zh-CN" altLang="en-US" dirty="0"/>
              <a:t>系关系</a:t>
            </a:r>
            <a:r>
              <a:rPr lang="en-US" altLang="zh-CN" dirty="0"/>
              <a:t>DEPT(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Mname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B18AFEC-188C-4B1E-9F94-A0B12596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8" name="Rectangle 275">
            <a:extLst>
              <a:ext uri="{FF2B5EF4-FFF2-40B4-BE49-F238E27FC236}">
                <a16:creationId xmlns:a16="http://schemas.microsoft.com/office/drawing/2014/main" xmlns="" id="{5270C92A-4165-4F3C-B8A0-71027EDE2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1815" y="2910837"/>
            <a:ext cx="649287" cy="420554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/>
          <a:p>
            <a:pPr algn="just" eaLnBrk="1" hangingPunct="1">
              <a:defRPr/>
            </a:pPr>
            <a:r>
              <a:rPr kumimoji="1" lang="en-US" altLang="zh-CN" sz="16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SC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xmlns="" id="{705DD59B-026A-42D3-86EC-0811E8E2B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994439"/>
              </p:ext>
            </p:extLst>
          </p:nvPr>
        </p:nvGraphicFramePr>
        <p:xfrm>
          <a:off x="808568" y="3457916"/>
          <a:ext cx="341788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2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392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92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Sno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Sname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Sdept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赵亦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李思</a:t>
                      </a:r>
                    </a:p>
                  </a:txBody>
                  <a:tcPr marL="91436" marR="9143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自动化</a:t>
                      </a:r>
                    </a:p>
                  </a:txBody>
                  <a:tcPr marL="91436" marR="91436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xmlns="" id="{0B723B7B-EFDC-40D4-8C68-112050F7F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761569"/>
              </p:ext>
            </p:extLst>
          </p:nvPr>
        </p:nvGraphicFramePr>
        <p:xfrm>
          <a:off x="5148896" y="3448939"/>
          <a:ext cx="2317750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8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588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Sdept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09" marR="9140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Mname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09" marR="91409" marT="45749" marB="45749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09" marR="9140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刘伟</a:t>
                      </a:r>
                    </a:p>
                  </a:txBody>
                  <a:tcPr marL="91409" marR="91409" marT="45749" marB="45749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09" marR="9140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王平</a:t>
                      </a:r>
                    </a:p>
                  </a:txBody>
                  <a:tcPr marL="91409" marR="91409" marT="45749" marB="45749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自动化</a:t>
                      </a:r>
                    </a:p>
                  </a:txBody>
                  <a:tcPr marL="91409" marR="91409" marT="45749" marB="4574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刘伟</a:t>
                      </a:r>
                    </a:p>
                  </a:txBody>
                  <a:tcPr marL="91409" marR="91409" marT="45749" marB="45749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xmlns="" id="{352D8E48-4491-40CE-9AB3-14ED252F7A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56066"/>
              </p:ext>
            </p:extLst>
          </p:nvPr>
        </p:nvGraphicFramePr>
        <p:xfrm>
          <a:off x="8116044" y="2868568"/>
          <a:ext cx="3417888" cy="3500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929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3929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13929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Sno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Cno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Grade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S1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C1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S1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85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C5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C6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C7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C8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S3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C1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S3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C2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70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S3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C4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85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1820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S4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C1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93</a:t>
                      </a:r>
                      <a:endParaRPr lang="zh-CN" altLang="en-US" sz="1400" dirty="0"/>
                    </a:p>
                  </a:txBody>
                  <a:tcPr marL="91436" marR="91436" marT="45727" marB="45727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2" name="Rectangle 272">
            <a:extLst>
              <a:ext uri="{FF2B5EF4-FFF2-40B4-BE49-F238E27FC236}">
                <a16:creationId xmlns:a16="http://schemas.microsoft.com/office/drawing/2014/main" xmlns="" id="{15530C5D-536E-4010-B6C3-9BA05D37C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697" y="3416063"/>
            <a:ext cx="481013" cy="4222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defRPr/>
            </a:pPr>
            <a:r>
              <a:rPr kumimoji="1" lang="en-US" altLang="zh-CN" sz="16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S</a:t>
            </a:r>
          </a:p>
        </p:txBody>
      </p:sp>
      <p:sp>
        <p:nvSpPr>
          <p:cNvPr id="13" name="Rectangle 150">
            <a:extLst>
              <a:ext uri="{FF2B5EF4-FFF2-40B4-BE49-F238E27FC236}">
                <a16:creationId xmlns:a16="http://schemas.microsoft.com/office/drawing/2014/main" xmlns="" id="{5F5BA903-A7AD-471F-969A-B30B5A226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253" y="3393032"/>
            <a:ext cx="782554" cy="43656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defRPr/>
            </a:pPr>
            <a:r>
              <a:rPr kumimoji="1" lang="en-US" altLang="zh-CN" sz="1600" b="1" dirty="0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DEPT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xmlns="" id="{B6298661-E85F-431A-9053-CCA619017C8D}"/>
              </a:ext>
            </a:extLst>
          </p:cNvPr>
          <p:cNvSpPr txBox="1"/>
          <p:nvPr/>
        </p:nvSpPr>
        <p:spPr>
          <a:xfrm>
            <a:off x="1546946" y="5656690"/>
            <a:ext cx="641259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不会发生插入异常、删除异常，冗余得到控制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409601">
            <a:extLst>
              <a:ext uri="{FF2B5EF4-FFF2-40B4-BE49-F238E27FC236}">
                <a16:creationId xmlns:a16="http://schemas.microsoft.com/office/drawing/2014/main" xmlns="" id="{C9B66F4F-BB92-45DE-9E47-9CD7CEBBC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  </a:t>
            </a:r>
            <a:r>
              <a:rPr lang="zh-CN" altLang="en-US"/>
              <a:t>规范化</a:t>
            </a:r>
          </a:p>
        </p:txBody>
      </p:sp>
      <p:sp>
        <p:nvSpPr>
          <p:cNvPr id="30723" name="文本占位符 409602">
            <a:extLst>
              <a:ext uri="{FF2B5EF4-FFF2-40B4-BE49-F238E27FC236}">
                <a16:creationId xmlns:a16="http://schemas.microsoft.com/office/drawing/2014/main" xmlns="" id="{C17308E4-17A5-41D9-AD59-6546B50912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C00000"/>
                </a:solidFill>
              </a:rPr>
              <a:t>规范化理论</a:t>
            </a:r>
            <a:r>
              <a:rPr lang="zh-CN" altLang="en-US" dirty="0"/>
              <a:t>正是用来改造关系模式，根据</a:t>
            </a:r>
            <a:r>
              <a:rPr lang="zh-CN" altLang="en-US" dirty="0">
                <a:solidFill>
                  <a:srgbClr val="0000FF"/>
                </a:solidFill>
              </a:rPr>
              <a:t>函数依赖</a:t>
            </a:r>
            <a:r>
              <a:rPr lang="zh-CN" altLang="en-US" dirty="0"/>
              <a:t>分解一个不好的关系模式以达到</a:t>
            </a:r>
            <a:r>
              <a:rPr lang="zh-CN" altLang="en-US" dirty="0">
                <a:solidFill>
                  <a:srgbClr val="0000FF"/>
                </a:solidFill>
              </a:rPr>
              <a:t>消除更新异常、减少冗余</a:t>
            </a:r>
            <a:r>
              <a:rPr lang="zh-CN" altLang="en-US" dirty="0"/>
              <a:t>的过程。</a:t>
            </a:r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en-US" altLang="zh-CN" dirty="0"/>
              <a:t>6.2.1  </a:t>
            </a:r>
            <a:r>
              <a:rPr lang="zh-CN" altLang="en-US" dirty="0"/>
              <a:t>函数依赖</a:t>
            </a:r>
          </a:p>
          <a:p>
            <a:r>
              <a:rPr lang="en-US" altLang="zh-CN" dirty="0"/>
              <a:t>6.2.2  </a:t>
            </a:r>
            <a:r>
              <a:rPr lang="zh-CN" altLang="en-US" dirty="0"/>
              <a:t>码</a:t>
            </a:r>
          </a:p>
          <a:p>
            <a:r>
              <a:rPr lang="en-US" altLang="zh-CN" dirty="0"/>
              <a:t>6.2.3  </a:t>
            </a:r>
            <a:r>
              <a:rPr lang="zh-CN" altLang="en-US" dirty="0"/>
              <a:t>范式</a:t>
            </a:r>
          </a:p>
          <a:p>
            <a:r>
              <a:rPr lang="en-US" altLang="zh-CN" dirty="0"/>
              <a:t>6.2.4  2NF</a:t>
            </a:r>
          </a:p>
          <a:p>
            <a:r>
              <a:rPr lang="en-US" altLang="zh-CN" dirty="0"/>
              <a:t>6.2.5  3NF</a:t>
            </a:r>
          </a:p>
          <a:p>
            <a:r>
              <a:rPr lang="en-US" altLang="zh-CN" dirty="0"/>
              <a:t>6.2.6  BCNF</a:t>
            </a:r>
          </a:p>
          <a:p>
            <a:r>
              <a:rPr lang="en-US" altLang="zh-CN" dirty="0"/>
              <a:t>6.2.7  </a:t>
            </a:r>
            <a:r>
              <a:rPr lang="zh-CN" altLang="en-US" dirty="0"/>
              <a:t>多值依赖</a:t>
            </a:r>
          </a:p>
          <a:p>
            <a:r>
              <a:rPr lang="en-US" altLang="zh-CN" dirty="0"/>
              <a:t>6.2.8  4NF</a:t>
            </a:r>
          </a:p>
          <a:p>
            <a:r>
              <a:rPr lang="en-US" altLang="zh-CN" dirty="0"/>
              <a:t>6.2.9  </a:t>
            </a:r>
            <a:r>
              <a:rPr lang="zh-CN" altLang="en-US" dirty="0"/>
              <a:t>规范化小结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38F35164-6240-4583-9076-629F0B4D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410625">
            <a:extLst>
              <a:ext uri="{FF2B5EF4-FFF2-40B4-BE49-F238E27FC236}">
                <a16:creationId xmlns:a16="http://schemas.microsoft.com/office/drawing/2014/main" xmlns="" id="{F78A24E4-53A7-4579-9C8D-D18D03584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6.2.1 </a:t>
            </a:r>
            <a:r>
              <a:rPr lang="zh-CN" altLang="en-US"/>
              <a:t>函数依赖</a:t>
            </a:r>
          </a:p>
        </p:txBody>
      </p:sp>
      <p:sp>
        <p:nvSpPr>
          <p:cNvPr id="32771" name="文本占位符 410626">
            <a:extLst>
              <a:ext uri="{FF2B5EF4-FFF2-40B4-BE49-F238E27FC236}">
                <a16:creationId xmlns:a16="http://schemas.microsoft.com/office/drawing/2014/main" xmlns="" id="{C94B6E91-B15D-4540-AA57-2D4B55CC1D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一、函数依赖</a:t>
            </a:r>
          </a:p>
          <a:p>
            <a:r>
              <a:rPr lang="zh-CN" altLang="en-US" dirty="0"/>
              <a:t>二、平凡函数依赖与非平凡函数依赖</a:t>
            </a:r>
          </a:p>
          <a:p>
            <a:r>
              <a:rPr lang="zh-CN" altLang="en-US" dirty="0"/>
              <a:t>三、完全函数依赖与部分函数依赖</a:t>
            </a:r>
          </a:p>
          <a:p>
            <a:r>
              <a:rPr lang="zh-CN" altLang="en-US" dirty="0"/>
              <a:t>四、传递函数依赖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66BA35DA-2C02-4F3B-8284-2873FE00B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411649">
            <a:extLst>
              <a:ext uri="{FF2B5EF4-FFF2-40B4-BE49-F238E27FC236}">
                <a16:creationId xmlns:a16="http://schemas.microsoft.com/office/drawing/2014/main" xmlns="" id="{B112DA2E-A8F0-4475-BFD7-1D306B671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一、函数依赖</a:t>
            </a:r>
          </a:p>
        </p:txBody>
      </p:sp>
      <p:sp>
        <p:nvSpPr>
          <p:cNvPr id="33795" name="文本占位符 411650">
            <a:extLst>
              <a:ext uri="{FF2B5EF4-FFF2-40B4-BE49-F238E27FC236}">
                <a16:creationId xmlns:a16="http://schemas.microsoft.com/office/drawing/2014/main" xmlns="" id="{03E602DD-0770-4EA9-948E-7A39250FB9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6.1   </a:t>
            </a:r>
            <a:r>
              <a:rPr lang="zh-CN" altLang="en-US" dirty="0"/>
              <a:t>设</a:t>
            </a:r>
            <a:r>
              <a:rPr lang="en-US" altLang="zh-CN" dirty="0"/>
              <a:t>R(U)</a:t>
            </a:r>
            <a:r>
              <a:rPr lang="zh-CN" altLang="en-US" dirty="0"/>
              <a:t>是一个属性集</a:t>
            </a:r>
            <a:r>
              <a:rPr lang="en-US" altLang="zh-CN" dirty="0"/>
              <a:t>U</a:t>
            </a:r>
            <a:r>
              <a:rPr lang="zh-CN" altLang="en-US" dirty="0"/>
              <a:t>上的</a:t>
            </a:r>
            <a:r>
              <a:rPr lang="zh-CN" altLang="en-US" dirty="0">
                <a:solidFill>
                  <a:srgbClr val="0000FF"/>
                </a:solidFill>
              </a:rPr>
              <a:t>关系模式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U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0000FF"/>
                </a:solidFill>
              </a:rPr>
              <a:t>子集</a:t>
            </a:r>
            <a:r>
              <a:rPr lang="zh-CN" altLang="en-US" dirty="0"/>
              <a:t>。若对于</a:t>
            </a:r>
            <a:r>
              <a:rPr lang="en-US" altLang="zh-CN" dirty="0"/>
              <a:t>R(U)</a:t>
            </a:r>
            <a:r>
              <a:rPr lang="zh-CN" altLang="en-US" dirty="0"/>
              <a:t>的任意一个可能的关系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r</a:t>
            </a:r>
            <a:r>
              <a:rPr lang="zh-CN" altLang="en-US" dirty="0"/>
              <a:t>中不可能存在两个元组在</a:t>
            </a:r>
            <a:r>
              <a:rPr lang="en-US" altLang="zh-CN" dirty="0"/>
              <a:t>X</a:t>
            </a:r>
            <a:r>
              <a:rPr lang="zh-CN" altLang="en-US" dirty="0"/>
              <a:t>上的属性值相等， 而在</a:t>
            </a:r>
            <a:r>
              <a:rPr lang="en-US" altLang="zh-CN" dirty="0"/>
              <a:t>Y</a:t>
            </a:r>
            <a:r>
              <a:rPr lang="zh-CN" altLang="en-US" dirty="0"/>
              <a:t>上的属性值不等， 则称 “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函数确定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en-US" altLang="zh-CN" dirty="0"/>
              <a:t>” </a:t>
            </a:r>
            <a:r>
              <a:rPr lang="zh-CN" altLang="en-US" dirty="0"/>
              <a:t>或  “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zh-CN" altLang="en-US" dirty="0">
                <a:solidFill>
                  <a:srgbClr val="C00000"/>
                </a:solidFill>
              </a:rPr>
              <a:t>函数依赖于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en-US" altLang="zh-CN" dirty="0"/>
              <a:t>”</a:t>
            </a:r>
            <a:r>
              <a:rPr lang="zh-CN" altLang="en-US" dirty="0"/>
              <a:t>，记作</a:t>
            </a:r>
            <a:r>
              <a:rPr lang="en-US" altLang="zh-CN" dirty="0">
                <a:solidFill>
                  <a:srgbClr val="C00000"/>
                </a:solidFill>
              </a:rPr>
              <a:t>X→Y</a:t>
            </a:r>
            <a:r>
              <a:rPr lang="zh-CN" altLang="en-US" dirty="0"/>
              <a:t>。  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称</a:t>
            </a:r>
            <a:r>
              <a:rPr lang="en-US" altLang="zh-CN" dirty="0"/>
              <a:t>X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CC0000"/>
                </a:solidFill>
              </a:rPr>
              <a:t>决定因素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CC0000"/>
                </a:solidFill>
              </a:rPr>
              <a:t>依赖因素</a:t>
            </a:r>
            <a:r>
              <a:rPr lang="zh-CN" altLang="en-US" dirty="0"/>
              <a:t>（</a:t>
            </a:r>
            <a:r>
              <a:rPr lang="en-US" altLang="zh-CN" dirty="0"/>
              <a:t>Y=f(X)</a:t>
            </a:r>
            <a:r>
              <a:rPr lang="zh-CN" altLang="en-US" dirty="0"/>
              <a:t>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9034A85-DA69-43A2-9187-44269A8EF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>
            <a:extLst>
              <a:ext uri="{FF2B5EF4-FFF2-40B4-BE49-F238E27FC236}">
                <a16:creationId xmlns:a16="http://schemas.microsoft.com/office/drawing/2014/main" xmlns="" id="{3A3D0DF5-7577-4905-B284-94E790197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函数依赖（续）</a:t>
            </a:r>
          </a:p>
        </p:txBody>
      </p:sp>
      <p:sp>
        <p:nvSpPr>
          <p:cNvPr id="34819" name="文本占位符 412674">
            <a:extLst>
              <a:ext uri="{FF2B5EF4-FFF2-40B4-BE49-F238E27FC236}">
                <a16:creationId xmlns:a16="http://schemas.microsoft.com/office/drawing/2014/main" xmlns="" id="{8A7669DA-7FC3-4ECD-8F3D-A52D7058A5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、函数依赖不是指关系模式</a:t>
            </a:r>
            <a:r>
              <a:rPr lang="en-US" altLang="zh-CN" dirty="0"/>
              <a:t>R</a:t>
            </a:r>
            <a:r>
              <a:rPr lang="zh-CN" altLang="en-US" dirty="0"/>
              <a:t>的某个或某些关系实例满足的约束条件，而是指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所有关系实例</a:t>
            </a:r>
            <a:r>
              <a:rPr lang="zh-CN" altLang="en-US" dirty="0"/>
              <a:t>均要满足的约束条件。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、函数依赖是</a:t>
            </a:r>
            <a:r>
              <a:rPr lang="zh-CN" altLang="en-US" dirty="0">
                <a:solidFill>
                  <a:srgbClr val="C00000"/>
                </a:solidFill>
              </a:rPr>
              <a:t>语义范畴</a:t>
            </a:r>
            <a:r>
              <a:rPr lang="zh-CN" altLang="en-US" dirty="0"/>
              <a:t>的概念，只能根据语义来确定一个函数依赖，而不能按照其形式化定义来证明一个函数依赖是否成立。</a:t>
            </a:r>
            <a:endParaRPr lang="en-US" altLang="zh-CN" dirty="0"/>
          </a:p>
          <a:p>
            <a:pPr lvl="2"/>
            <a:r>
              <a:rPr lang="zh-CN" altLang="en-US" dirty="0"/>
              <a:t>例如“姓名→年龄”这个函数依赖只有在不允许有同名人的条件下成立，如果允许有同名人，则年龄不再函数依赖于姓名</a:t>
            </a:r>
            <a:endParaRPr lang="en-US" altLang="zh-CN" dirty="0"/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、数据库设计者可以对现实世界作</a:t>
            </a:r>
            <a:r>
              <a:rPr lang="zh-CN" altLang="en-US" dirty="0">
                <a:solidFill>
                  <a:srgbClr val="C00000"/>
                </a:solidFill>
              </a:rPr>
              <a:t>强制的规定</a:t>
            </a:r>
            <a:r>
              <a:rPr lang="zh-CN" altLang="en-US" dirty="0"/>
              <a:t>。</a:t>
            </a:r>
          </a:p>
          <a:p>
            <a:pPr lvl="2"/>
            <a:r>
              <a:rPr lang="zh-CN" altLang="en-US" dirty="0"/>
              <a:t>例如规定不允许同名人出现，函数依赖“姓名→年龄”成立。所插入的元组必须满足规定的函数依赖，若发现有同名人存在， 则拒绝插入该元组。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0BC014B2-A322-45B6-8680-23547B82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idx="1"/>
          </p:nvPr>
        </p:nvSpPr>
        <p:spPr>
          <a:xfrm>
            <a:off x="838200" y="1147081"/>
            <a:ext cx="10515600" cy="527740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4</a:t>
            </a:r>
            <a:r>
              <a:rPr lang="zh-CN" altLang="en-US" dirty="0"/>
              <a:t>．函数依赖与属性之间的</a:t>
            </a:r>
            <a:r>
              <a:rPr lang="zh-CN" altLang="en-US" dirty="0">
                <a:solidFill>
                  <a:srgbClr val="C00000"/>
                </a:solidFill>
              </a:rPr>
              <a:t>联系类型有关</a:t>
            </a:r>
            <a:r>
              <a:rPr lang="zh-CN" altLang="en-US" dirty="0"/>
              <a:t>。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）在一个关系模式中，如果属性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有</a:t>
            </a:r>
            <a:r>
              <a:rPr lang="en-US" altLang="zh-CN" dirty="0"/>
              <a:t>1:1</a:t>
            </a:r>
            <a:r>
              <a:rPr lang="zh-CN" altLang="en-US" dirty="0"/>
              <a:t>联系时，则存在函数依赖</a:t>
            </a:r>
            <a:r>
              <a:rPr lang="en-US" altLang="zh-CN" dirty="0"/>
              <a:t>X→Y</a:t>
            </a:r>
            <a:r>
              <a:rPr lang="zh-CN" altLang="en-US" dirty="0"/>
              <a:t>，</a:t>
            </a:r>
            <a:r>
              <a:rPr lang="en-US" altLang="zh-CN" dirty="0"/>
              <a:t>Y→X</a:t>
            </a:r>
            <a:r>
              <a:rPr lang="zh-CN" altLang="en-US" dirty="0"/>
              <a:t>，即</a:t>
            </a:r>
            <a:r>
              <a:rPr lang="en-US" altLang="zh-CN" dirty="0"/>
              <a:t>X</a:t>
            </a:r>
            <a:r>
              <a:rPr lang="en-US" altLang="zh-CN" dirty="0">
                <a:sym typeface="Wingdings 3" pitchFamily="18" charset="2"/>
              </a:rPr>
              <a:t></a:t>
            </a:r>
            <a:r>
              <a:rPr lang="en-US" altLang="zh-CN" dirty="0"/>
              <a:t>Y</a:t>
            </a:r>
            <a:r>
              <a:rPr lang="zh-CN" altLang="en-US" dirty="0"/>
              <a:t>。可以从分析属性间的联系类型入手，确定属性间的函数依赖。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例如，当学生无重名时，</a:t>
            </a:r>
            <a:r>
              <a:rPr lang="en-US" altLang="zh-CN" dirty="0" err="1">
                <a:solidFill>
                  <a:srgbClr val="0000FF"/>
                </a:solidFill>
              </a:rPr>
              <a:t>Sno</a:t>
            </a:r>
            <a:r>
              <a:rPr lang="en-US" altLang="zh-CN" dirty="0" err="1">
                <a:solidFill>
                  <a:srgbClr val="0000FF"/>
                </a:solidFill>
                <a:sym typeface="Wingdings 3" pitchFamily="18" charset="2"/>
              </a:rPr>
              <a:t></a:t>
            </a:r>
            <a:r>
              <a:rPr lang="en-US" altLang="zh-CN" dirty="0" err="1">
                <a:solidFill>
                  <a:srgbClr val="0000FF"/>
                </a:solidFill>
              </a:rPr>
              <a:t>Sname</a:t>
            </a:r>
            <a:endParaRPr lang="zh-CN" altLang="en-US" dirty="0">
              <a:solidFill>
                <a:srgbClr val="0000FF"/>
              </a:solidFill>
            </a:endParaRPr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）如果属性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有</a:t>
            </a:r>
            <a:r>
              <a:rPr lang="en-US" altLang="zh-CN" dirty="0"/>
              <a:t>1:m</a:t>
            </a:r>
            <a:r>
              <a:rPr lang="zh-CN" altLang="en-US" dirty="0"/>
              <a:t>的联系时，则只存在函数依赖</a:t>
            </a:r>
            <a:r>
              <a:rPr lang="en-US" altLang="zh-CN" dirty="0"/>
              <a:t>Y→X</a:t>
            </a:r>
            <a:r>
              <a:rPr lang="zh-CN" altLang="en-US" dirty="0"/>
              <a:t>。</a:t>
            </a:r>
          </a:p>
          <a:p>
            <a:pPr lvl="2">
              <a:lnSpc>
                <a:spcPct val="120000"/>
              </a:lnSpc>
            </a:pPr>
            <a:r>
              <a:rPr lang="zh-CN" altLang="en-US" dirty="0">
                <a:solidFill>
                  <a:srgbClr val="0000FF"/>
                </a:solidFill>
              </a:rPr>
              <a:t>例如，</a:t>
            </a:r>
            <a:r>
              <a:rPr lang="en-US" altLang="zh-CN" dirty="0">
                <a:solidFill>
                  <a:srgbClr val="0000FF"/>
                </a:solidFill>
              </a:rPr>
              <a:t>Sage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Sdept</a:t>
            </a:r>
            <a:r>
              <a:rPr lang="zh-CN" altLang="en-US" dirty="0">
                <a:solidFill>
                  <a:srgbClr val="0000FF"/>
                </a:solidFill>
              </a:rPr>
              <a:t>与</a:t>
            </a:r>
            <a:r>
              <a:rPr lang="en-US" altLang="zh-CN" dirty="0" err="1">
                <a:solidFill>
                  <a:srgbClr val="0000FF"/>
                </a:solidFill>
              </a:rPr>
              <a:t>Sno</a:t>
            </a:r>
            <a:r>
              <a:rPr lang="zh-CN" altLang="en-US" dirty="0">
                <a:solidFill>
                  <a:srgbClr val="0000FF"/>
                </a:solidFill>
              </a:rPr>
              <a:t>之间均为</a:t>
            </a:r>
            <a:r>
              <a:rPr lang="en-US" altLang="zh-CN" dirty="0">
                <a:solidFill>
                  <a:srgbClr val="0000FF"/>
                </a:solidFill>
              </a:rPr>
              <a:t>1:m</a:t>
            </a:r>
            <a:r>
              <a:rPr lang="zh-CN" altLang="en-US" dirty="0">
                <a:solidFill>
                  <a:srgbClr val="0000FF"/>
                </a:solidFill>
              </a:rPr>
              <a:t>联系，所以有</a:t>
            </a:r>
            <a:r>
              <a:rPr lang="en-US" altLang="zh-CN" dirty="0" err="1">
                <a:solidFill>
                  <a:srgbClr val="0000FF"/>
                </a:solidFill>
              </a:rPr>
              <a:t>Sno→Sage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 err="1">
                <a:solidFill>
                  <a:srgbClr val="0000FF"/>
                </a:solidFill>
              </a:rPr>
              <a:t>Sno→Sdept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）如果属性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有</a:t>
            </a:r>
            <a:r>
              <a:rPr lang="en-US" altLang="zh-CN" dirty="0"/>
              <a:t>m: n</a:t>
            </a:r>
            <a:r>
              <a:rPr lang="zh-CN" altLang="en-US" dirty="0"/>
              <a:t>的联系时，则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之间不存在任何函数依赖关系。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例如，一个学生可以选修多门课程，一门课程又可以为多个学生选修，所以</a:t>
            </a:r>
            <a:r>
              <a:rPr lang="en-US" altLang="zh-CN" dirty="0" err="1">
                <a:solidFill>
                  <a:srgbClr val="0000FF"/>
                </a:solidFill>
              </a:rPr>
              <a:t>Sno</a:t>
            </a:r>
            <a:r>
              <a:rPr lang="zh-CN" altLang="en-US" dirty="0">
                <a:solidFill>
                  <a:srgbClr val="0000FF"/>
                </a:solidFill>
              </a:rPr>
              <a:t>与</a:t>
            </a:r>
            <a:r>
              <a:rPr lang="en-US" altLang="zh-CN" dirty="0" err="1">
                <a:solidFill>
                  <a:srgbClr val="0000FF"/>
                </a:solidFill>
              </a:rPr>
              <a:t>Cno</a:t>
            </a:r>
            <a:r>
              <a:rPr lang="zh-CN" altLang="en-US" dirty="0">
                <a:solidFill>
                  <a:srgbClr val="0000FF"/>
                </a:solidFill>
              </a:rPr>
              <a:t>之间不存在函数依赖关系</a:t>
            </a:r>
            <a:r>
              <a:rPr lang="zh-CN" altLang="en-US" dirty="0"/>
              <a:t>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5</a:t>
            </a:r>
            <a:r>
              <a:rPr lang="zh-CN" altLang="en-US" dirty="0"/>
              <a:t>．函数依赖关系的存在</a:t>
            </a:r>
            <a:r>
              <a:rPr lang="zh-CN" altLang="en-US" dirty="0">
                <a:solidFill>
                  <a:srgbClr val="C00000"/>
                </a:solidFill>
              </a:rPr>
              <a:t>与时间无关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当关系中的元组增加、删除或更新后都不能破坏这种函数依赖。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所以函数依赖关系的存在与时间无关，而</a:t>
            </a:r>
            <a:r>
              <a:rPr lang="zh-CN" altLang="en-US" dirty="0">
                <a:solidFill>
                  <a:srgbClr val="C00000"/>
                </a:solidFill>
              </a:rPr>
              <a:t>只与数据之间的语义规定有关</a:t>
            </a:r>
            <a:r>
              <a:rPr lang="zh-CN" altLang="en-US" dirty="0"/>
              <a:t>。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D9AE508-3180-4A22-A525-B170048B4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>
            <a:normAutofit/>
          </a:bodyPr>
          <a:lstStyle/>
          <a:p>
            <a:r>
              <a:rPr lang="zh-CN" altLang="en-US"/>
              <a:t>函数依赖（续）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437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788018B-2C64-4DE6-8868-5F522CCC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函数依赖（续）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15714F3B-9A2D-4C1A-9B41-ED7D320D5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083"/>
            <a:ext cx="10515600" cy="1809320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 Student(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, </a:t>
            </a:r>
            <a:r>
              <a:rPr lang="en-US" altLang="zh-CN" dirty="0" err="1"/>
              <a:t>Ssex</a:t>
            </a:r>
            <a:r>
              <a:rPr lang="en-US" altLang="zh-CN" dirty="0"/>
              <a:t>, Sage, </a:t>
            </a:r>
            <a:r>
              <a:rPr lang="en-US" altLang="zh-CN" dirty="0" err="1"/>
              <a:t>Sdept</a:t>
            </a:r>
            <a:r>
              <a:rPr lang="en-US" altLang="zh-CN" dirty="0"/>
              <a:t>)</a:t>
            </a:r>
            <a:r>
              <a:rPr lang="zh-CN" altLang="en-US" dirty="0"/>
              <a:t>，假设不允许重名，则有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Ssex</a:t>
            </a:r>
            <a:r>
              <a:rPr lang="zh-CN" altLang="en-US" dirty="0"/>
              <a:t>， </a:t>
            </a:r>
            <a:r>
              <a:rPr lang="en-US" altLang="zh-CN" dirty="0" err="1"/>
              <a:t>Sno</a:t>
            </a:r>
            <a:r>
              <a:rPr lang="en-US" altLang="zh-CN" dirty="0"/>
              <a:t> → Sage</a:t>
            </a:r>
            <a:r>
              <a:rPr lang="zh-CN" altLang="en-US" dirty="0"/>
              <a:t>，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r>
              <a:rPr lang="zh-CN" altLang="en-US" dirty="0"/>
              <a:t>， 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Sname</a:t>
            </a:r>
            <a:endParaRPr lang="en-US" altLang="zh-CN" dirty="0"/>
          </a:p>
          <a:p>
            <a:pPr lvl="1"/>
            <a:r>
              <a:rPr lang="en-US" altLang="zh-CN" dirty="0" err="1"/>
              <a:t>Sname</a:t>
            </a:r>
            <a:r>
              <a:rPr lang="en-US" altLang="zh-CN" dirty="0"/>
              <a:t> → </a:t>
            </a:r>
            <a:r>
              <a:rPr lang="en-US" altLang="zh-CN" dirty="0" err="1"/>
              <a:t>Ssex</a:t>
            </a:r>
            <a:r>
              <a:rPr lang="zh-CN" altLang="en-US" dirty="0"/>
              <a:t>， </a:t>
            </a:r>
            <a:r>
              <a:rPr lang="en-US" altLang="zh-CN" dirty="0" err="1"/>
              <a:t>Sname</a:t>
            </a:r>
            <a:r>
              <a:rPr lang="en-US" altLang="zh-CN" dirty="0"/>
              <a:t> → Sage</a:t>
            </a:r>
            <a:r>
              <a:rPr lang="zh-CN" altLang="en-US" dirty="0"/>
              <a:t>，</a:t>
            </a:r>
            <a:r>
              <a:rPr lang="en-US" altLang="zh-CN" dirty="0" err="1"/>
              <a:t>Sname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endParaRPr lang="en-US" altLang="zh-CN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88331C44-1771-4FC0-AB6F-C6B1D3611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50C86640-ABAB-4467-9737-5D5DED6A4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53467"/>
              </p:ext>
            </p:extLst>
          </p:nvPr>
        </p:nvGraphicFramePr>
        <p:xfrm>
          <a:off x="6144726" y="2919385"/>
          <a:ext cx="41363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72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72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7270">
                  <a:extLst>
                    <a:ext uri="{9D8B030D-6E8A-4147-A177-3AD203B41FA5}">
                      <a16:colId xmlns:a16="http://schemas.microsoft.com/office/drawing/2014/main" xmlns="" val="2264688918"/>
                    </a:ext>
                  </a:extLst>
                </a:gridCol>
                <a:gridCol w="827270">
                  <a:extLst>
                    <a:ext uri="{9D8B030D-6E8A-4147-A177-3AD203B41FA5}">
                      <a16:colId xmlns:a16="http://schemas.microsoft.com/office/drawing/2014/main" xmlns="" val="188565665"/>
                    </a:ext>
                  </a:extLst>
                </a:gridCol>
                <a:gridCol w="8272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SNO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SName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Ssex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Sage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SDEPT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赵亦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S2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李思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自动化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张明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71545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440443789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xmlns="" id="{434787E6-436D-4D77-9FF5-2595D394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2056287"/>
              </p:ext>
            </p:extLst>
          </p:nvPr>
        </p:nvGraphicFramePr>
        <p:xfrm>
          <a:off x="1752995" y="2929010"/>
          <a:ext cx="413185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3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2637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26370">
                  <a:extLst>
                    <a:ext uri="{9D8B030D-6E8A-4147-A177-3AD203B41FA5}">
                      <a16:colId xmlns:a16="http://schemas.microsoft.com/office/drawing/2014/main" xmlns="" val="2264688918"/>
                    </a:ext>
                  </a:extLst>
                </a:gridCol>
                <a:gridCol w="826370">
                  <a:extLst>
                    <a:ext uri="{9D8B030D-6E8A-4147-A177-3AD203B41FA5}">
                      <a16:colId xmlns:a16="http://schemas.microsoft.com/office/drawing/2014/main" xmlns="" val="188565665"/>
                    </a:ext>
                  </a:extLst>
                </a:gridCol>
                <a:gridCol w="82637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SNO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SName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+mn-lt"/>
                          <a:ea typeface="微软雅黑" panose="020B0503020204020204" pitchFamily="34" charset="-122"/>
                        </a:rPr>
                        <a:t>Ssex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Sage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SDEPT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赵亦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钱尔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S3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孙珊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信息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S4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李思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女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自动化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S5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张明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21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+mn-lt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715453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+mn-lt"/>
                          <a:ea typeface="微软雅黑" panose="020B0503020204020204" pitchFamily="34" charset="-122"/>
                        </a:rPr>
                        <a:t>…</a:t>
                      </a:r>
                      <a:endParaRPr lang="zh-CN" altLang="en-US" sz="1400" dirty="0">
                        <a:latin typeface="+mn-lt"/>
                        <a:ea typeface="微软雅黑" panose="020B0503020204020204" pitchFamily="34" charset="-122"/>
                      </a:endParaRPr>
                    </a:p>
                  </a:txBody>
                  <a:tcPr marL="91436" marR="91436" anchor="ctr"/>
                </a:tc>
                <a:extLst>
                  <a:ext uri="{0D108BD9-81ED-4DB2-BD59-A6C34878D82A}">
                    <a16:rowId xmlns:a16="http://schemas.microsoft.com/office/drawing/2014/main" xmlns="" val="1440443789"/>
                  </a:ext>
                </a:extLst>
              </a:tr>
            </a:tbl>
          </a:graphicData>
        </a:graphic>
      </p:graphicFrame>
      <p:sp>
        <p:nvSpPr>
          <p:cNvPr id="7" name="对话气泡: 矩形 6">
            <a:extLst>
              <a:ext uri="{FF2B5EF4-FFF2-40B4-BE49-F238E27FC236}">
                <a16:creationId xmlns:a16="http://schemas.microsoft.com/office/drawing/2014/main" xmlns="" id="{186CA5F3-78DF-46CE-BD03-BAF4D0065CB7}"/>
              </a:ext>
            </a:extLst>
          </p:cNvPr>
          <p:cNvSpPr/>
          <p:nvPr/>
        </p:nvSpPr>
        <p:spPr>
          <a:xfrm>
            <a:off x="3747232" y="2882114"/>
            <a:ext cx="1944303" cy="304480"/>
          </a:xfrm>
          <a:prstGeom prst="wedgeRectCallout">
            <a:avLst>
              <a:gd name="adj1" fmla="val -66947"/>
              <a:gd name="adj2" fmla="val 171685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违背了</a:t>
            </a:r>
            <a:r>
              <a:rPr lang="en-US" altLang="zh-CN" sz="1400" b="1" dirty="0" err="1"/>
              <a:t>Sno</a:t>
            </a:r>
            <a:r>
              <a:rPr lang="en-US" altLang="zh-CN" sz="1400" b="1" dirty="0"/>
              <a:t> → </a:t>
            </a:r>
            <a:r>
              <a:rPr lang="en-US" altLang="zh-CN" sz="1400" b="1" dirty="0" err="1"/>
              <a:t>Sname</a:t>
            </a:r>
            <a:endParaRPr lang="zh-CN" altLang="en-US" sz="14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72EB88AC-2EA2-4E02-9A9A-CA3C1524569C}"/>
              </a:ext>
            </a:extLst>
          </p:cNvPr>
          <p:cNvSpPr/>
          <p:nvPr/>
        </p:nvSpPr>
        <p:spPr>
          <a:xfrm>
            <a:off x="1950357" y="3353583"/>
            <a:ext cx="1366787" cy="67376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65AFB303-03AA-4205-A71B-97020F981B9D}"/>
              </a:ext>
            </a:extLst>
          </p:cNvPr>
          <p:cNvSpPr/>
          <p:nvPr/>
        </p:nvSpPr>
        <p:spPr>
          <a:xfrm>
            <a:off x="6326004" y="3308889"/>
            <a:ext cx="1366787" cy="673769"/>
          </a:xfrm>
          <a:prstGeom prst="rect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56CA9593-F980-47CF-99AC-74CF9A836B5F}"/>
              </a:ext>
            </a:extLst>
          </p:cNvPr>
          <p:cNvSpPr/>
          <p:nvPr/>
        </p:nvSpPr>
        <p:spPr>
          <a:xfrm>
            <a:off x="1167084" y="5563808"/>
            <a:ext cx="809062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7188" lvl="1" indent="0"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思考</a:t>
            </a:r>
            <a:r>
              <a:rPr lang="zh-CN" altLang="en-US" dirty="0">
                <a:sym typeface="Symbol" panose="05050102010706020507" pitchFamily="18" charset="2"/>
              </a:rPr>
              <a:t>：</a:t>
            </a:r>
            <a:endParaRPr lang="en-US" altLang="zh-CN" dirty="0">
              <a:sym typeface="Symbol" panose="05050102010706020507" pitchFamily="18" charset="2"/>
            </a:endParaRPr>
          </a:p>
          <a:p>
            <a:pPr marL="814388" lvl="1" indent="-457200">
              <a:buAutoNum type="arabicPeriod"/>
            </a:pPr>
            <a:r>
              <a:rPr lang="en-US" altLang="zh-CN" dirty="0" err="1">
                <a:solidFill>
                  <a:srgbClr val="0000CC"/>
                </a:solidFill>
              </a:rPr>
              <a:t>Ssex</a:t>
            </a:r>
            <a:r>
              <a:rPr lang="zh-CN" altLang="en-US" dirty="0">
                <a:solidFill>
                  <a:srgbClr val="0000CC"/>
                </a:solidFill>
              </a:rPr>
              <a:t>与</a:t>
            </a:r>
            <a:r>
              <a:rPr lang="en-US" altLang="zh-CN" dirty="0">
                <a:solidFill>
                  <a:srgbClr val="0000CC"/>
                </a:solidFill>
              </a:rPr>
              <a:t>Sage</a:t>
            </a:r>
            <a:r>
              <a:rPr lang="zh-CN" altLang="en-US" dirty="0">
                <a:solidFill>
                  <a:srgbClr val="0000CC"/>
                </a:solidFill>
              </a:rPr>
              <a:t>，</a:t>
            </a:r>
            <a:r>
              <a:rPr lang="en-US" altLang="zh-CN" dirty="0" err="1">
                <a:solidFill>
                  <a:srgbClr val="0000CC"/>
                </a:solidFill>
              </a:rPr>
              <a:t>Ssex</a:t>
            </a:r>
            <a:r>
              <a:rPr lang="zh-CN" altLang="en-US" dirty="0">
                <a:solidFill>
                  <a:srgbClr val="0000CC"/>
                </a:solidFill>
              </a:rPr>
              <a:t>与</a:t>
            </a:r>
            <a:r>
              <a:rPr lang="en-US" altLang="zh-CN" dirty="0" err="1">
                <a:solidFill>
                  <a:srgbClr val="0000CC"/>
                </a:solidFill>
              </a:rPr>
              <a:t>Sdept</a:t>
            </a:r>
            <a:r>
              <a:rPr lang="zh-CN" altLang="en-US" dirty="0">
                <a:solidFill>
                  <a:srgbClr val="0000CC"/>
                </a:solidFill>
              </a:rPr>
              <a:t>，</a:t>
            </a:r>
            <a:r>
              <a:rPr lang="en-US" altLang="zh-CN" dirty="0">
                <a:solidFill>
                  <a:srgbClr val="0000CC"/>
                </a:solidFill>
              </a:rPr>
              <a:t>Sage</a:t>
            </a:r>
            <a:r>
              <a:rPr lang="zh-CN" altLang="en-US" dirty="0">
                <a:solidFill>
                  <a:srgbClr val="0000CC"/>
                </a:solidFill>
              </a:rPr>
              <a:t>与</a:t>
            </a:r>
            <a:r>
              <a:rPr lang="en-US" altLang="zh-CN" dirty="0" err="1">
                <a:solidFill>
                  <a:srgbClr val="0000CC"/>
                </a:solidFill>
              </a:rPr>
              <a:t>Sdept</a:t>
            </a:r>
            <a:r>
              <a:rPr lang="zh-CN" altLang="en-US" dirty="0">
                <a:solidFill>
                  <a:srgbClr val="0000CC"/>
                </a:solidFill>
              </a:rPr>
              <a:t>之间是否存在函数依赖？</a:t>
            </a:r>
            <a:endParaRPr lang="en-US" altLang="zh-CN" dirty="0">
              <a:solidFill>
                <a:srgbClr val="0000CC"/>
              </a:solidFill>
            </a:endParaRPr>
          </a:p>
          <a:p>
            <a:pPr marL="814388" lvl="1" indent="-457200">
              <a:buAutoNum type="arabicPeriod"/>
            </a:pPr>
            <a:r>
              <a:rPr lang="zh-CN" altLang="en-US" dirty="0">
                <a:solidFill>
                  <a:srgbClr val="0000CC"/>
                </a:solidFill>
              </a:rPr>
              <a:t>假设允许重名，请列出</a:t>
            </a:r>
            <a:r>
              <a:rPr lang="en-US" altLang="zh-CN" dirty="0">
                <a:solidFill>
                  <a:srgbClr val="0000CC"/>
                </a:solidFill>
              </a:rPr>
              <a:t>Student</a:t>
            </a:r>
            <a:r>
              <a:rPr lang="zh-CN" altLang="en-US" dirty="0">
                <a:solidFill>
                  <a:srgbClr val="0000CC"/>
                </a:solidFill>
              </a:rPr>
              <a:t>上所有的函数依赖。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9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414721">
            <a:extLst>
              <a:ext uri="{FF2B5EF4-FFF2-40B4-BE49-F238E27FC236}">
                <a16:creationId xmlns:a16="http://schemas.microsoft.com/office/drawing/2014/main" xmlns="" id="{54B696D4-DC8F-4A57-9173-7EB5C952C5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二、平凡函数依赖与非平凡函数依赖</a:t>
            </a:r>
          </a:p>
        </p:txBody>
      </p:sp>
      <p:sp>
        <p:nvSpPr>
          <p:cNvPr id="35843" name="文本占位符 414722">
            <a:extLst>
              <a:ext uri="{FF2B5EF4-FFF2-40B4-BE49-F238E27FC236}">
                <a16:creationId xmlns:a16="http://schemas.microsoft.com/office/drawing/2014/main" xmlns="" id="{5E851C2C-7EB5-4A2F-ACDC-93F34F1149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在关系模式</a:t>
            </a:r>
            <a:r>
              <a:rPr lang="en-US" altLang="zh-CN" dirty="0"/>
              <a:t>R(U)</a:t>
            </a:r>
            <a:r>
              <a:rPr lang="zh-CN" altLang="en-US" dirty="0"/>
              <a:t>中，对于</a:t>
            </a:r>
            <a:r>
              <a:rPr lang="en-US" altLang="zh-CN" dirty="0"/>
              <a:t>U</a:t>
            </a:r>
            <a:r>
              <a:rPr lang="zh-CN" altLang="en-US" dirty="0"/>
              <a:t>的子集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X→Y</a:t>
            </a:r>
            <a:r>
              <a:rPr lang="zh-CN" altLang="en-US" dirty="0"/>
              <a:t>，但</a:t>
            </a:r>
            <a:r>
              <a:rPr lang="en-US" altLang="zh-CN" dirty="0"/>
              <a:t>Y ⊈X</a:t>
            </a:r>
            <a:r>
              <a:rPr lang="zh-CN" altLang="en-US" dirty="0"/>
              <a:t>，则称</a:t>
            </a:r>
            <a:r>
              <a:rPr lang="en-US" altLang="zh-CN" dirty="0"/>
              <a:t>X→Y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非平凡的函数依赖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，但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X,   </a:t>
            </a:r>
            <a:r>
              <a:rPr lang="zh-CN" altLang="en-US" dirty="0"/>
              <a:t>则称</a:t>
            </a:r>
            <a:r>
              <a:rPr lang="en-US" altLang="zh-CN" dirty="0"/>
              <a:t>X→Y</a:t>
            </a:r>
            <a:r>
              <a:rPr lang="zh-CN" altLang="en-US" dirty="0"/>
              <a:t>是</a:t>
            </a:r>
            <a:r>
              <a:rPr lang="zh-CN" altLang="en-US" dirty="0">
                <a:solidFill>
                  <a:srgbClr val="C00000"/>
                </a:solidFill>
              </a:rPr>
              <a:t>平凡的函数依赖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例：在关系</a:t>
            </a:r>
            <a:r>
              <a:rPr lang="en-US" altLang="zh-CN" dirty="0"/>
              <a:t>SC(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</a:t>
            </a:r>
            <a:r>
              <a:rPr lang="zh-CN" altLang="en-US" dirty="0"/>
              <a:t>中，</a:t>
            </a:r>
          </a:p>
          <a:p>
            <a:pPr marL="342900" lvl="1" indent="0">
              <a:buNone/>
            </a:pPr>
            <a:r>
              <a:rPr lang="zh-CN" altLang="en-US" dirty="0"/>
              <a:t>           非平凡函数依赖：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Grade</a:t>
            </a:r>
          </a:p>
          <a:p>
            <a:pPr marL="342900" lvl="1" indent="0">
              <a:buNone/>
            </a:pPr>
            <a:r>
              <a:rPr lang="en-US" altLang="zh-CN" dirty="0"/>
              <a:t>           </a:t>
            </a:r>
            <a:r>
              <a:rPr lang="zh-CN" altLang="en-US" dirty="0"/>
              <a:t>平凡函数依赖：    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</a:p>
          <a:p>
            <a:pPr marL="342900" lvl="1" indent="0">
              <a:buNone/>
            </a:pPr>
            <a:r>
              <a:rPr lang="en-US" altLang="zh-CN" dirty="0"/>
              <a:t>                                       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Cno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62C6F2CC-45AE-487E-85A0-61E73E277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xmlns="" id="{AD8B4D7A-FB3D-44E7-8811-DD6161984044}"/>
              </a:ext>
            </a:extLst>
          </p:cNvPr>
          <p:cNvSpPr/>
          <p:nvPr/>
        </p:nvSpPr>
        <p:spPr>
          <a:xfrm>
            <a:off x="1629019" y="5582994"/>
            <a:ext cx="8367789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+mn-ea"/>
              </a:rPr>
              <a:t>对于任一关系模式，平凡函数依赖都是必然成立的，它不反映新的语义。</a:t>
            </a:r>
            <a:endParaRPr lang="en-US" altLang="zh-CN" dirty="0">
              <a:solidFill>
                <a:srgbClr val="000000"/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latin typeface="+mn-ea"/>
              </a:rPr>
              <a:t>若不特别声明，我们总是讨论</a:t>
            </a:r>
            <a:r>
              <a:rPr lang="zh-CN" altLang="en-US" dirty="0">
                <a:solidFill>
                  <a:srgbClr val="0000FF"/>
                </a:solidFill>
                <a:latin typeface="+mn-ea"/>
              </a:rPr>
              <a:t>非平凡函数依赖</a:t>
            </a:r>
            <a:r>
              <a:rPr lang="zh-CN" altLang="en-US" dirty="0">
                <a:solidFill>
                  <a:srgbClr val="000000"/>
                </a:solidFill>
                <a:latin typeface="+mn-ea"/>
              </a:rPr>
              <a:t>。</a:t>
            </a:r>
            <a:r>
              <a:rPr lang="zh-CN" altLang="en-US" dirty="0">
                <a:latin typeface="+mn-ea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415745">
            <a:extLst>
              <a:ext uri="{FF2B5EF4-FFF2-40B4-BE49-F238E27FC236}">
                <a16:creationId xmlns:a16="http://schemas.microsoft.com/office/drawing/2014/main" xmlns="" id="{9A0BC6BD-7F19-4761-BA40-F900D1CF9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平凡函数依赖与非平凡函数依赖（续）</a:t>
            </a:r>
          </a:p>
        </p:txBody>
      </p:sp>
      <p:sp>
        <p:nvSpPr>
          <p:cNvPr id="36867" name="文本占位符 415746">
            <a:extLst>
              <a:ext uri="{FF2B5EF4-FFF2-40B4-BE49-F238E27FC236}">
                <a16:creationId xmlns:a16="http://schemas.microsoft.com/office/drawing/2014/main" xmlns="" id="{10512017-8EFB-40D3-9937-D797C100D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zh-CN" altLang="en-US" dirty="0"/>
              <a:t>称为这个函数依赖的决定属性组，也称为</a:t>
            </a:r>
            <a:r>
              <a:rPr lang="zh-CN" altLang="en-US" dirty="0">
                <a:solidFill>
                  <a:srgbClr val="C00000"/>
                </a:solidFill>
              </a:rPr>
              <a:t>决定因素</a:t>
            </a:r>
            <a:r>
              <a:rPr lang="zh-CN" altLang="en-US" dirty="0"/>
              <a:t>（</a:t>
            </a:r>
            <a:r>
              <a:rPr lang="en-US" altLang="zh-CN" dirty="0"/>
              <a:t>Determinant</a:t>
            </a:r>
            <a:r>
              <a:rPr lang="zh-CN" altLang="en-US" dirty="0"/>
              <a:t>）。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，</a:t>
            </a:r>
            <a:r>
              <a:rPr lang="en-US" altLang="zh-CN" dirty="0"/>
              <a:t>Y→X</a:t>
            </a:r>
            <a:r>
              <a:rPr lang="zh-CN" altLang="en-US" dirty="0"/>
              <a:t>，则记作</a:t>
            </a:r>
            <a:r>
              <a:rPr lang="en-US" altLang="zh-CN" dirty="0"/>
              <a:t>X←→Y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Y</a:t>
            </a:r>
            <a:r>
              <a:rPr lang="zh-CN" altLang="en-US" dirty="0"/>
              <a:t>不函数依赖于</a:t>
            </a:r>
            <a:r>
              <a:rPr lang="en-US" altLang="zh-CN" dirty="0"/>
              <a:t>X</a:t>
            </a:r>
            <a:r>
              <a:rPr lang="zh-CN" altLang="en-US" dirty="0"/>
              <a:t>，则记作</a:t>
            </a:r>
            <a:r>
              <a:rPr lang="en-US" altLang="zh-CN" dirty="0"/>
              <a:t>X↛ Y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 </a:t>
            </a:r>
            <a:r>
              <a:rPr lang="en-US" altLang="zh-CN" dirty="0" err="1"/>
              <a:t>Sno</a:t>
            </a:r>
            <a:r>
              <a:rPr lang="en-US" altLang="zh-CN" dirty="0"/>
              <a:t>→ </a:t>
            </a:r>
            <a:r>
              <a:rPr lang="en-US" altLang="zh-CN" dirty="0" err="1"/>
              <a:t>Sname</a:t>
            </a:r>
            <a:r>
              <a:rPr lang="zh-CN" altLang="en-US" dirty="0"/>
              <a:t>、 </a:t>
            </a:r>
            <a:r>
              <a:rPr lang="en-US" altLang="zh-CN" dirty="0"/>
              <a:t> </a:t>
            </a:r>
            <a:r>
              <a:rPr lang="en-US" altLang="zh-CN" dirty="0" err="1"/>
              <a:t>Sname→Sno</a:t>
            </a:r>
            <a:r>
              <a:rPr lang="en-US" altLang="zh-CN" dirty="0"/>
              <a:t> </a:t>
            </a:r>
            <a:r>
              <a:rPr lang="zh-CN" altLang="en-US" dirty="0"/>
              <a:t>，则</a:t>
            </a:r>
            <a:r>
              <a:rPr lang="en-US" altLang="zh-CN" dirty="0" err="1"/>
              <a:t>Sno</a:t>
            </a:r>
            <a:r>
              <a:rPr lang="en-US" altLang="zh-CN" dirty="0"/>
              <a:t> ←→ </a:t>
            </a:r>
            <a:r>
              <a:rPr lang="en-US" altLang="zh-CN" dirty="0" err="1"/>
              <a:t>Sname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       </a:t>
            </a:r>
            <a:r>
              <a:rPr lang="zh-CN" altLang="en-US" dirty="0"/>
              <a:t>但</a:t>
            </a:r>
            <a:r>
              <a:rPr lang="en-US" altLang="zh-CN" dirty="0" err="1"/>
              <a:t>Ssex</a:t>
            </a:r>
            <a:r>
              <a:rPr lang="en-US" altLang="zh-CN" dirty="0"/>
              <a:t> ↛Sage, </a:t>
            </a:r>
            <a:r>
              <a:rPr lang="en-US" altLang="zh-CN" dirty="0" err="1"/>
              <a:t>Ssex</a:t>
            </a:r>
            <a:r>
              <a:rPr lang="en-US" altLang="zh-CN" dirty="0"/>
              <a:t> ↛</a:t>
            </a:r>
            <a:r>
              <a:rPr lang="en-US" altLang="zh-CN" dirty="0" err="1"/>
              <a:t>Sdept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5F583E8-359F-4695-8E6B-4D705F35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416769">
            <a:extLst>
              <a:ext uri="{FF2B5EF4-FFF2-40B4-BE49-F238E27FC236}">
                <a16:creationId xmlns:a16="http://schemas.microsoft.com/office/drawing/2014/main" xmlns="" id="{1FB8641C-61BD-45CF-878B-CD81D3CD04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三、完全函数依赖与部分函数依赖</a:t>
            </a:r>
          </a:p>
        </p:txBody>
      </p:sp>
      <p:sp>
        <p:nvSpPr>
          <p:cNvPr id="37891" name="文本占位符 416770">
            <a:extLst>
              <a:ext uri="{FF2B5EF4-FFF2-40B4-BE49-F238E27FC236}">
                <a16:creationId xmlns:a16="http://schemas.microsoft.com/office/drawing/2014/main" xmlns="" id="{80C57C56-A2E5-4C36-86F3-B9B5BAA6A4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6.2  </a:t>
            </a:r>
            <a:r>
              <a:rPr lang="zh-CN" altLang="en-US" dirty="0"/>
              <a:t>在</a:t>
            </a:r>
            <a:r>
              <a:rPr lang="en-US" altLang="zh-CN" dirty="0"/>
              <a:t>R(U)</a:t>
            </a:r>
            <a:r>
              <a:rPr lang="zh-CN" altLang="en-US" dirty="0"/>
              <a:t>中，如果</a:t>
            </a:r>
            <a:r>
              <a:rPr lang="en-US" altLang="zh-CN" dirty="0"/>
              <a:t>X→Y</a:t>
            </a:r>
            <a:r>
              <a:rPr lang="zh-CN" altLang="en-US" dirty="0"/>
              <a:t>，并且对于</a:t>
            </a:r>
            <a:r>
              <a:rPr lang="en-US" altLang="zh-CN" dirty="0"/>
              <a:t>X</a:t>
            </a:r>
            <a:r>
              <a:rPr lang="zh-CN" altLang="en-US" dirty="0"/>
              <a:t>的任何一个真子集</a:t>
            </a:r>
            <a:r>
              <a:rPr lang="en-US" altLang="zh-CN" dirty="0"/>
              <a:t>X</a:t>
            </a:r>
            <a:r>
              <a:rPr lang="en-US" altLang="zh-CN" dirty="0">
                <a:sym typeface="Calibri" pitchFamily="34" charset="0"/>
              </a:rPr>
              <a:t> ′</a:t>
            </a:r>
            <a:r>
              <a:rPr lang="zh-CN" altLang="en-US" dirty="0"/>
              <a:t>，都有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X</a:t>
            </a:r>
            <a:r>
              <a:rPr lang="en-US" altLang="zh-CN" dirty="0">
                <a:sym typeface="Calibri" pitchFamily="34" charset="0"/>
              </a:rPr>
              <a:t> ′</a:t>
            </a:r>
            <a:r>
              <a:rPr lang="en-US" altLang="zh-CN" dirty="0"/>
              <a:t> ↛ Y, </a:t>
            </a:r>
            <a:r>
              <a:rPr lang="zh-CN" altLang="en-US" dirty="0"/>
              <a:t>则称</a:t>
            </a:r>
            <a:r>
              <a:rPr lang="en-US" altLang="zh-CN" dirty="0"/>
              <a:t>Y</a:t>
            </a:r>
            <a:r>
              <a:rPr lang="zh-CN" altLang="en-US" dirty="0"/>
              <a:t>对</a:t>
            </a:r>
            <a:r>
              <a:rPr lang="en-US" altLang="zh-CN" dirty="0"/>
              <a:t>X</a:t>
            </a:r>
            <a:r>
              <a:rPr lang="zh-CN" altLang="en-US" dirty="0">
                <a:solidFill>
                  <a:srgbClr val="C00000"/>
                </a:solidFill>
              </a:rPr>
              <a:t>完全函数依赖</a:t>
            </a:r>
            <a:r>
              <a:rPr lang="zh-CN" altLang="en-US" dirty="0"/>
              <a:t>，记作</a:t>
            </a:r>
            <a:r>
              <a:rPr lang="en-US" altLang="zh-CN" dirty="0">
                <a:solidFill>
                  <a:srgbClr val="C00000"/>
                </a:solidFill>
              </a:rPr>
              <a:t>X→Y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，但</a:t>
            </a:r>
            <a:r>
              <a:rPr lang="en-US" altLang="zh-CN" dirty="0"/>
              <a:t>Y</a:t>
            </a:r>
            <a:r>
              <a:rPr lang="zh-CN" altLang="en-US" dirty="0"/>
              <a:t>不完全函数依赖于</a:t>
            </a:r>
            <a:r>
              <a:rPr lang="en-US" altLang="zh-CN" dirty="0"/>
              <a:t>X</a:t>
            </a:r>
            <a:r>
              <a:rPr lang="zh-CN" altLang="en-US" dirty="0"/>
              <a:t>，则称</a:t>
            </a:r>
            <a:r>
              <a:rPr lang="en-US" altLang="zh-CN" dirty="0"/>
              <a:t>Y</a:t>
            </a:r>
            <a:r>
              <a:rPr lang="zh-CN" altLang="en-US" dirty="0"/>
              <a:t>对</a:t>
            </a:r>
            <a:r>
              <a:rPr lang="en-US" altLang="zh-CN" dirty="0"/>
              <a:t>X</a:t>
            </a:r>
            <a:r>
              <a:rPr lang="zh-CN" altLang="en-US" dirty="0">
                <a:solidFill>
                  <a:srgbClr val="C00000"/>
                </a:solidFill>
              </a:rPr>
              <a:t>部分函数依赖</a:t>
            </a:r>
            <a:r>
              <a:rPr lang="zh-CN" altLang="en-US" dirty="0"/>
              <a:t>，记作</a:t>
            </a:r>
            <a:r>
              <a:rPr lang="en-US" altLang="zh-CN" dirty="0">
                <a:solidFill>
                  <a:srgbClr val="C00000"/>
                </a:solidFill>
              </a:rPr>
              <a:t>X→Y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 </a:t>
            </a:r>
            <a:r>
              <a:rPr lang="zh-CN" altLang="en-US" dirty="0"/>
              <a:t>在关系</a:t>
            </a:r>
            <a:r>
              <a:rPr lang="en-US" altLang="zh-CN" dirty="0"/>
              <a:t>SC(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</a:t>
            </a:r>
            <a:r>
              <a:rPr lang="zh-CN" altLang="en-US" dirty="0"/>
              <a:t>中，</a:t>
            </a:r>
          </a:p>
          <a:p>
            <a:pPr lvl="1"/>
            <a:r>
              <a:rPr lang="zh-CN" altLang="en-US" dirty="0"/>
              <a:t>由于： </a:t>
            </a:r>
            <a:r>
              <a:rPr lang="en-US" altLang="zh-CN" dirty="0" err="1"/>
              <a:t>Sno</a:t>
            </a:r>
            <a:r>
              <a:rPr lang="en-US" altLang="zh-CN" dirty="0"/>
              <a:t> ↛Grade</a:t>
            </a:r>
            <a:r>
              <a:rPr lang="zh-CN" altLang="en-US" dirty="0"/>
              <a:t>， </a:t>
            </a:r>
            <a:r>
              <a:rPr lang="en-US" altLang="zh-CN" dirty="0" err="1"/>
              <a:t>Cno</a:t>
            </a:r>
            <a:r>
              <a:rPr lang="en-US" altLang="zh-CN" dirty="0"/>
              <a:t> ↛ Grade</a:t>
            </a:r>
            <a:r>
              <a:rPr lang="zh-CN" altLang="en-US" dirty="0"/>
              <a:t>，</a:t>
            </a:r>
          </a:p>
          <a:p>
            <a:pPr lvl="1"/>
            <a:r>
              <a:rPr lang="zh-CN" altLang="en-US" dirty="0"/>
              <a:t>因此： 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Grade</a:t>
            </a:r>
          </a:p>
          <a:p>
            <a:pPr marL="342900" lvl="1" indent="0">
              <a:buNone/>
            </a:pPr>
            <a:r>
              <a:rPr lang="en-US" altLang="zh-CN" dirty="0"/>
              <a:t>               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Sdept</a:t>
            </a:r>
            <a:endParaRPr lang="en-US" altLang="zh-CN" dirty="0"/>
          </a:p>
          <a:p>
            <a:pPr marL="342900" lvl="1" indent="0">
              <a:buNone/>
            </a:pPr>
            <a:r>
              <a:rPr lang="en-US" altLang="zh-CN" dirty="0"/>
              <a:t>                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只有当决定因素是</a:t>
            </a:r>
            <a:r>
              <a:rPr lang="zh-CN" altLang="en-US" dirty="0">
                <a:solidFill>
                  <a:srgbClr val="0000FF"/>
                </a:solidFill>
              </a:rPr>
              <a:t>组合属性</a:t>
            </a:r>
            <a:r>
              <a:rPr lang="zh-CN" altLang="en-US" dirty="0"/>
              <a:t>时，讨论部分函数依赖才有意义，当决定因素是单属性时，只能是完全函数依赖。</a:t>
            </a:r>
          </a:p>
          <a:p>
            <a:pPr lvl="2">
              <a:lnSpc>
                <a:spcPct val="120000"/>
              </a:lnSpc>
            </a:pPr>
            <a:r>
              <a:rPr lang="zh-CN" altLang="en-US" dirty="0"/>
              <a:t>例：关系模式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SName</a:t>
            </a:r>
            <a:r>
              <a:rPr lang="zh-CN" altLang="en-US" dirty="0"/>
              <a:t>，</a:t>
            </a:r>
            <a:r>
              <a:rPr lang="en-US" altLang="zh-CN" dirty="0"/>
              <a:t>Sage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zh-CN" altLang="en-US" dirty="0"/>
              <a:t>）  决定因素为单属性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SNo</a:t>
            </a:r>
            <a:r>
              <a:rPr lang="en-US" altLang="zh-CN" dirty="0"/>
              <a:t>→</a:t>
            </a:r>
            <a:r>
              <a:rPr lang="zh-CN" altLang="en-US" dirty="0"/>
              <a:t>（</a:t>
            </a:r>
            <a:r>
              <a:rPr lang="en-US" altLang="zh-CN" dirty="0" err="1"/>
              <a:t>SName</a:t>
            </a:r>
            <a:r>
              <a:rPr lang="zh-CN" altLang="en-US" dirty="0"/>
              <a:t>，</a:t>
            </a:r>
            <a:r>
              <a:rPr lang="en-US" altLang="zh-CN" dirty="0"/>
              <a:t>Sage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en-US" altLang="zh-CN" dirty="0"/>
              <a:t> </a:t>
            </a:r>
            <a:r>
              <a:rPr lang="zh-CN" altLang="en-US" dirty="0"/>
              <a:t>），则不存在部分函数依赖。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7A4B1A2-E8C8-4786-B582-61BBAB8F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6C4A028F-2550-45AB-AB73-8582111E32A2}"/>
              </a:ext>
            </a:extLst>
          </p:cNvPr>
          <p:cNvSpPr txBox="1"/>
          <p:nvPr/>
        </p:nvSpPr>
        <p:spPr>
          <a:xfrm>
            <a:off x="7677184" y="1484845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1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xmlns="" id="{5290CDEA-5AE1-40B9-82DD-E04FF2AEB08D}"/>
              </a:ext>
            </a:extLst>
          </p:cNvPr>
          <p:cNvSpPr txBox="1"/>
          <p:nvPr/>
        </p:nvSpPr>
        <p:spPr>
          <a:xfrm>
            <a:off x="10143709" y="1916112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1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1911B9D0-3BAF-420C-A0FF-68A67F97CFA1}"/>
              </a:ext>
            </a:extLst>
          </p:cNvPr>
          <p:cNvSpPr txBox="1"/>
          <p:nvPr/>
        </p:nvSpPr>
        <p:spPr>
          <a:xfrm>
            <a:off x="3786974" y="3618133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844D4D32-1C9F-4070-9166-F7F385C5935D}"/>
              </a:ext>
            </a:extLst>
          </p:cNvPr>
          <p:cNvSpPr txBox="1"/>
          <p:nvPr/>
        </p:nvSpPr>
        <p:spPr>
          <a:xfrm>
            <a:off x="3795719" y="4030967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418817">
            <a:extLst>
              <a:ext uri="{FF2B5EF4-FFF2-40B4-BE49-F238E27FC236}">
                <a16:creationId xmlns:a16="http://schemas.microsoft.com/office/drawing/2014/main" xmlns="" id="{64C3BF10-D81C-485C-8FF8-3FABD8109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四、传递函数依赖</a:t>
            </a:r>
          </a:p>
        </p:txBody>
      </p:sp>
      <p:sp>
        <p:nvSpPr>
          <p:cNvPr id="39939" name="文本占位符 418818">
            <a:extLst>
              <a:ext uri="{FF2B5EF4-FFF2-40B4-BE49-F238E27FC236}">
                <a16:creationId xmlns:a16="http://schemas.microsoft.com/office/drawing/2014/main" xmlns="" id="{54ECF1EE-592D-4417-8572-4891286E67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6.3 </a:t>
            </a:r>
            <a:r>
              <a:rPr lang="zh-CN" altLang="en-US" dirty="0"/>
              <a:t>在</a:t>
            </a:r>
            <a:r>
              <a:rPr lang="en-US" altLang="zh-CN" dirty="0"/>
              <a:t>R(U)</a:t>
            </a:r>
            <a:r>
              <a:rPr lang="zh-CN" altLang="en-US" dirty="0"/>
              <a:t>中，如果</a:t>
            </a:r>
            <a:r>
              <a:rPr lang="en-US" altLang="zh-CN" dirty="0"/>
              <a:t>X→Y(Y⊈X)</a:t>
            </a:r>
            <a:r>
              <a:rPr lang="zh-CN" altLang="en-US" dirty="0"/>
              <a:t>， </a:t>
            </a:r>
            <a:r>
              <a:rPr lang="en-US" altLang="zh-CN" dirty="0"/>
              <a:t>Y↛X</a:t>
            </a:r>
            <a:r>
              <a:rPr lang="zh-CN" altLang="en-US" dirty="0"/>
              <a:t>，</a:t>
            </a:r>
            <a:r>
              <a:rPr lang="en-US" altLang="zh-CN" dirty="0"/>
              <a:t>Y→Z(Z⊈Y), </a:t>
            </a:r>
            <a:r>
              <a:rPr lang="zh-CN" altLang="en-US" dirty="0"/>
              <a:t>则称</a:t>
            </a:r>
            <a:r>
              <a:rPr lang="en-US" altLang="zh-CN" dirty="0"/>
              <a:t>Z</a:t>
            </a:r>
            <a:r>
              <a:rPr lang="zh-CN" altLang="en-US" dirty="0"/>
              <a:t>对</a:t>
            </a:r>
            <a:r>
              <a:rPr lang="en-US" altLang="zh-CN" dirty="0"/>
              <a:t>X</a:t>
            </a:r>
            <a:r>
              <a:rPr lang="zh-CN" altLang="en-US" dirty="0">
                <a:solidFill>
                  <a:srgbClr val="C00000"/>
                </a:solidFill>
              </a:rPr>
              <a:t>传递函数依赖</a:t>
            </a:r>
            <a:r>
              <a:rPr lang="en-US" altLang="zh-CN" dirty="0"/>
              <a:t>(</a:t>
            </a:r>
            <a:r>
              <a:rPr lang="en-US" altLang="zh-CN" dirty="0" err="1"/>
              <a:t>transitivefunctional</a:t>
            </a:r>
            <a:r>
              <a:rPr lang="en-US" altLang="zh-CN" dirty="0"/>
              <a:t> dependency)</a:t>
            </a:r>
            <a:r>
              <a:rPr lang="zh-CN" altLang="en-US" dirty="0"/>
              <a:t>。记为：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C00000"/>
                </a:solidFill>
              </a:rPr>
              <a:t>X → Z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注</a:t>
            </a:r>
            <a:r>
              <a:rPr lang="en-US" altLang="zh-CN" dirty="0"/>
              <a:t>: </a:t>
            </a:r>
            <a:r>
              <a:rPr lang="zh-CN" altLang="en-US" dirty="0"/>
              <a:t>如果</a:t>
            </a:r>
            <a:r>
              <a:rPr lang="en-US" altLang="zh-CN" dirty="0"/>
              <a:t>Y→X</a:t>
            </a:r>
            <a:r>
              <a:rPr lang="zh-CN" altLang="en-US" dirty="0"/>
              <a:t>， 即</a:t>
            </a:r>
            <a:r>
              <a:rPr lang="en-US" altLang="zh-CN" dirty="0"/>
              <a:t>X←→Y</a:t>
            </a:r>
            <a:r>
              <a:rPr lang="zh-CN" altLang="en-US" dirty="0"/>
              <a:t>，则</a:t>
            </a:r>
            <a:r>
              <a:rPr lang="en-US" altLang="zh-CN" dirty="0"/>
              <a:t>Z</a:t>
            </a:r>
            <a:r>
              <a:rPr lang="zh-CN" altLang="en-US" dirty="0">
                <a:solidFill>
                  <a:srgbClr val="C00000"/>
                </a:solidFill>
              </a:rPr>
              <a:t>直接依赖于</a:t>
            </a:r>
            <a:r>
              <a:rPr lang="en-US" altLang="zh-CN" dirty="0"/>
              <a:t>X</a:t>
            </a:r>
            <a:r>
              <a:rPr lang="zh-CN" altLang="en-US" dirty="0"/>
              <a:t>。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例：在关系</a:t>
            </a:r>
            <a:r>
              <a:rPr lang="en-US" altLang="zh-CN" dirty="0"/>
              <a:t>Std(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Mname</a:t>
            </a:r>
            <a:r>
              <a:rPr lang="en-US" altLang="zh-CN" dirty="0"/>
              <a:t>)</a:t>
            </a:r>
            <a:r>
              <a:rPr lang="zh-CN" altLang="en-US" dirty="0"/>
              <a:t>中，</a:t>
            </a:r>
            <a:endParaRPr lang="en-US" altLang="zh-CN" dirty="0"/>
          </a:p>
          <a:p>
            <a:pPr lvl="1"/>
            <a:r>
              <a:rPr lang="zh-CN" altLang="en-US" dirty="0"/>
              <a:t>有：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en-US" altLang="zh-CN" dirty="0"/>
              <a:t> → </a:t>
            </a:r>
            <a:r>
              <a:rPr lang="en-US" altLang="zh-CN" dirty="0" err="1"/>
              <a:t>Mname</a:t>
            </a:r>
            <a:endParaRPr lang="en-US" altLang="zh-CN" dirty="0"/>
          </a:p>
          <a:p>
            <a:pPr lvl="1"/>
            <a:r>
              <a:rPr lang="zh-CN" altLang="en-US" dirty="0"/>
              <a:t>则：</a:t>
            </a:r>
            <a:r>
              <a:rPr lang="en-US" altLang="zh-CN" dirty="0" err="1"/>
              <a:t>Sno</a:t>
            </a:r>
            <a:r>
              <a:rPr lang="en-US" altLang="zh-CN" dirty="0"/>
              <a:t>  →  </a:t>
            </a:r>
            <a:r>
              <a:rPr lang="en-US" altLang="zh-CN" dirty="0" err="1"/>
              <a:t>Mname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BC8FA10-88B8-4120-9648-5240CD9FC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4DBD209C-984C-48DE-B12F-457ACB4FFB82}"/>
              </a:ext>
            </a:extLst>
          </p:cNvPr>
          <p:cNvSpPr txBox="1"/>
          <p:nvPr/>
        </p:nvSpPr>
        <p:spPr>
          <a:xfrm>
            <a:off x="3053381" y="2142730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传递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916B8C9-0481-459A-8013-306AD02540BA}"/>
              </a:ext>
            </a:extLst>
          </p:cNvPr>
          <p:cNvSpPr txBox="1"/>
          <p:nvPr/>
        </p:nvSpPr>
        <p:spPr>
          <a:xfrm>
            <a:off x="2867813" y="474758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传递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xmlns="" id="{515A1E1F-31B4-4A82-A1D8-01A0ECB9C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函数依赖（续）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85188046-01A0-459B-B2C4-305680E3E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</a:rPr>
              <a:t>综上所述，函数依赖分为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完全函数依赖</a:t>
            </a:r>
            <a:r>
              <a:rPr lang="zh-CN" altLang="en-US" dirty="0">
                <a:latin typeface="宋体" panose="02010600030101010101" pitchFamily="2" charset="-122"/>
              </a:rPr>
              <a:t>、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部分函数依赖</a:t>
            </a:r>
            <a:r>
              <a:rPr lang="zh-CN" altLang="en-US" dirty="0">
                <a:latin typeface="宋体" panose="02010600030101010101" pitchFamily="2" charset="-122"/>
              </a:rPr>
              <a:t>和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传递函数依赖</a:t>
            </a:r>
            <a:r>
              <a:rPr lang="zh-CN" altLang="en-US" dirty="0">
                <a:latin typeface="宋体" panose="02010600030101010101" pitchFamily="2" charset="-122"/>
              </a:rPr>
              <a:t>三类，它们是规范化理论的依据和规范化程度的准则，数据库的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规范设计</a:t>
            </a:r>
            <a:r>
              <a:rPr lang="zh-CN" altLang="en-US" dirty="0">
                <a:latin typeface="宋体" panose="02010600030101010101" pitchFamily="2" charset="-122"/>
              </a:rPr>
              <a:t>将以这些概念为基础来进行。 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90CA73F-22AB-48A3-8639-DA9AD3BF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6676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419841">
            <a:extLst>
              <a:ext uri="{FF2B5EF4-FFF2-40B4-BE49-F238E27FC236}">
                <a16:creationId xmlns:a16="http://schemas.microsoft.com/office/drawing/2014/main" xmlns="" id="{649951F4-083B-434E-AEF0-E9A10702A6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6.2.2 </a:t>
            </a:r>
            <a:r>
              <a:rPr lang="zh-CN" altLang="en-US"/>
              <a:t>码</a:t>
            </a:r>
          </a:p>
        </p:txBody>
      </p:sp>
      <p:sp>
        <p:nvSpPr>
          <p:cNvPr id="43011" name="文本占位符 419842">
            <a:extLst>
              <a:ext uri="{FF2B5EF4-FFF2-40B4-BE49-F238E27FC236}">
                <a16:creationId xmlns:a16="http://schemas.microsoft.com/office/drawing/2014/main" xmlns="" id="{150F1102-154F-4BD5-89FC-470594C7E12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6.4  </a:t>
            </a:r>
            <a:r>
              <a:rPr lang="zh-CN" altLang="en-US" dirty="0"/>
              <a:t>设</a:t>
            </a:r>
            <a:r>
              <a:rPr lang="en-US" altLang="zh-CN" dirty="0"/>
              <a:t>K</a:t>
            </a:r>
            <a:r>
              <a:rPr lang="zh-CN" altLang="en-US" dirty="0"/>
              <a:t>为</a:t>
            </a:r>
            <a:r>
              <a:rPr lang="en-US" altLang="zh-CN" dirty="0"/>
              <a:t>R&lt;U, F&gt;</a:t>
            </a:r>
            <a:r>
              <a:rPr lang="zh-CN" altLang="en-US" dirty="0"/>
              <a:t>中的属性或属性组合。若</a:t>
            </a:r>
            <a:r>
              <a:rPr lang="en-US" altLang="zh-CN" dirty="0"/>
              <a:t>K→U</a:t>
            </a:r>
            <a:r>
              <a:rPr lang="zh-CN" altLang="en-US" dirty="0"/>
              <a:t>，则</a:t>
            </a:r>
            <a:r>
              <a:rPr lang="en-US" altLang="zh-CN" dirty="0"/>
              <a:t>K</a:t>
            </a:r>
            <a:r>
              <a:rPr lang="zh-CN" altLang="en-US" dirty="0"/>
              <a:t>称为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侯选码（</a:t>
            </a:r>
            <a:r>
              <a:rPr lang="en-US" altLang="zh-CN" dirty="0">
                <a:solidFill>
                  <a:srgbClr val="C00000"/>
                </a:solidFill>
              </a:rPr>
              <a:t>Candidate Key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如果U部分函数依赖于K，即K→U，则K称为</a:t>
            </a:r>
            <a:r>
              <a:rPr lang="zh-CN" altLang="en-US" dirty="0">
                <a:solidFill>
                  <a:srgbClr val="C00000"/>
                </a:solidFill>
              </a:rPr>
              <a:t>超码(Surpkey)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 候选码是</a:t>
            </a:r>
            <a:r>
              <a:rPr lang="zh-CN" altLang="en-US" dirty="0">
                <a:solidFill>
                  <a:srgbClr val="C00000"/>
                </a:solidFill>
              </a:rPr>
              <a:t>最小的</a:t>
            </a:r>
            <a:r>
              <a:rPr lang="zh-CN" altLang="en-US" dirty="0"/>
              <a:t>超码，即K的任意一个真子集都不是候选码。</a:t>
            </a:r>
          </a:p>
          <a:p>
            <a:endParaRPr lang="en-US" altLang="zh-CN" dirty="0"/>
          </a:p>
          <a:p>
            <a:r>
              <a:rPr lang="zh-CN" altLang="en-US" dirty="0"/>
              <a:t>若候选码多于一个，则选定其中的一个做为</a:t>
            </a:r>
            <a:r>
              <a:rPr lang="zh-CN" altLang="en-US" dirty="0">
                <a:solidFill>
                  <a:srgbClr val="C00000"/>
                </a:solidFill>
              </a:rPr>
              <a:t>主码</a:t>
            </a:r>
            <a:r>
              <a:rPr lang="zh-CN" altLang="en-US" dirty="0"/>
              <a:t>（</a:t>
            </a:r>
            <a:r>
              <a:rPr lang="en-US" altLang="zh-CN" dirty="0"/>
              <a:t>Primary Key</a:t>
            </a:r>
            <a:r>
              <a:rPr lang="zh-CN" altLang="en-US" dirty="0"/>
              <a:t>）。</a:t>
            </a:r>
            <a:endParaRPr lang="en-US" altLang="zh-CN" dirty="0"/>
          </a:p>
          <a:p>
            <a:pPr lvl="1"/>
            <a:r>
              <a:rPr lang="zh-CN" altLang="en-US" dirty="0"/>
              <a:t>主属性与非主属性</a:t>
            </a:r>
          </a:p>
          <a:p>
            <a:pPr lvl="2"/>
            <a:r>
              <a:rPr lang="zh-CN" altLang="en-US" dirty="0"/>
              <a:t>包含在任何一个候选码中的属性，称为</a:t>
            </a:r>
            <a:r>
              <a:rPr lang="zh-CN" altLang="en-US" dirty="0">
                <a:solidFill>
                  <a:srgbClr val="C00000"/>
                </a:solidFill>
              </a:rPr>
              <a:t>主属性（</a:t>
            </a:r>
            <a:r>
              <a:rPr lang="en-US" altLang="zh-CN" dirty="0">
                <a:solidFill>
                  <a:srgbClr val="C00000"/>
                </a:solidFill>
              </a:rPr>
              <a:t>Prime attribute</a:t>
            </a:r>
            <a:r>
              <a:rPr lang="zh-CN" altLang="en-US" dirty="0">
                <a:solidFill>
                  <a:srgbClr val="C00000"/>
                </a:solidFill>
              </a:rPr>
              <a:t>） </a:t>
            </a:r>
          </a:p>
          <a:p>
            <a:pPr lvl="2"/>
            <a:r>
              <a:rPr lang="zh-CN" altLang="en-US" dirty="0"/>
              <a:t>不包含在任何码中的属性称为</a:t>
            </a:r>
            <a:r>
              <a:rPr lang="zh-CN" altLang="en-US" dirty="0">
                <a:solidFill>
                  <a:srgbClr val="C00000"/>
                </a:solidFill>
              </a:rPr>
              <a:t>非主属性（</a:t>
            </a:r>
            <a:r>
              <a:rPr lang="en-US" altLang="zh-CN" dirty="0">
                <a:solidFill>
                  <a:srgbClr val="C00000"/>
                </a:solidFill>
              </a:rPr>
              <a:t>Nonprime attribute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非码属性（</a:t>
            </a:r>
            <a:r>
              <a:rPr lang="en-US" altLang="zh-CN" dirty="0">
                <a:solidFill>
                  <a:srgbClr val="C00000"/>
                </a:solidFill>
              </a:rPr>
              <a:t>Non-key attribute</a:t>
            </a:r>
            <a:r>
              <a:rPr lang="zh-CN" altLang="en-US" dirty="0">
                <a:solidFill>
                  <a:srgbClr val="C00000"/>
                </a:solidFill>
              </a:rPr>
              <a:t>） </a:t>
            </a:r>
          </a:p>
          <a:p>
            <a:pPr lvl="1"/>
            <a:r>
              <a:rPr lang="zh-CN" altLang="en-US" dirty="0"/>
              <a:t>全码</a:t>
            </a:r>
          </a:p>
          <a:p>
            <a:pPr lvl="2"/>
            <a:r>
              <a:rPr lang="zh-CN" altLang="en-US" dirty="0"/>
              <a:t>整个属性组是码，称为</a:t>
            </a:r>
            <a:r>
              <a:rPr lang="zh-CN" altLang="en-US" dirty="0">
                <a:solidFill>
                  <a:srgbClr val="C00000"/>
                </a:solidFill>
              </a:rPr>
              <a:t>全码（</a:t>
            </a:r>
            <a:r>
              <a:rPr lang="en-US" altLang="zh-CN" dirty="0">
                <a:solidFill>
                  <a:srgbClr val="C00000"/>
                </a:solidFill>
              </a:rPr>
              <a:t>All-key</a:t>
            </a:r>
            <a:r>
              <a:rPr lang="zh-CN" altLang="en-US" dirty="0">
                <a:solidFill>
                  <a:srgbClr val="C00000"/>
                </a:solidFill>
              </a:rPr>
              <a:t>） </a:t>
            </a:r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A3D27D8F-F384-4134-B064-443756A4C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43014" name="文本框 2">
            <a:extLst>
              <a:ext uri="{FF2B5EF4-FFF2-40B4-BE49-F238E27FC236}">
                <a16:creationId xmlns:a16="http://schemas.microsoft.com/office/drawing/2014/main" xmlns="" id="{00C7A492-3A2E-41D7-84D1-9B5D85964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31809" y="1014650"/>
            <a:ext cx="3048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1400" b="1" i="1" dirty="0"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0" name="文本框 2">
            <a:extLst>
              <a:ext uri="{FF2B5EF4-FFF2-40B4-BE49-F238E27FC236}">
                <a16:creationId xmlns:a16="http://schemas.microsoft.com/office/drawing/2014/main" xmlns="" id="{33E4929C-0F86-4334-BD11-1270C1763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1349" y="1971582"/>
            <a:ext cx="26321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altLang="zh-CN" sz="1000" b="1" i="1" dirty="0">
                <a:latin typeface="Times New Roman" panose="02020603050405020304" pitchFamily="18" charset="0"/>
              </a:rPr>
              <a:t>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546817">
            <a:extLst>
              <a:ext uri="{FF2B5EF4-FFF2-40B4-BE49-F238E27FC236}">
                <a16:creationId xmlns:a16="http://schemas.microsoft.com/office/drawing/2014/main" xmlns="" id="{D8D64118-5E3F-4106-BE70-0E53F408E8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码（续）</a:t>
            </a:r>
          </a:p>
        </p:txBody>
      </p:sp>
      <p:sp>
        <p:nvSpPr>
          <p:cNvPr id="45059" name="文本占位符 546818">
            <a:extLst>
              <a:ext uri="{FF2B5EF4-FFF2-40B4-BE49-F238E27FC236}">
                <a16:creationId xmlns:a16="http://schemas.microsoft.com/office/drawing/2014/main" xmlns="" id="{0E6C148E-FDE0-4540-8A73-36EEDC728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2]</a:t>
            </a:r>
            <a:r>
              <a:rPr lang="zh-CN" altLang="en-US" dirty="0"/>
              <a:t>：关系模式</a:t>
            </a:r>
            <a:r>
              <a:rPr lang="en-US" altLang="zh-CN" dirty="0"/>
              <a:t>S(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Sage)</a:t>
            </a:r>
            <a:r>
              <a:rPr lang="zh-CN" altLang="en-US" dirty="0"/>
              <a:t>，单个属性</a:t>
            </a:r>
            <a:r>
              <a:rPr lang="en-US" altLang="zh-CN" dirty="0" err="1"/>
              <a:t>Sno</a:t>
            </a:r>
            <a:r>
              <a:rPr lang="zh-CN" altLang="en-US" dirty="0"/>
              <a:t>是码，</a:t>
            </a:r>
          </a:p>
          <a:p>
            <a:pPr marL="0" indent="0">
              <a:buNone/>
            </a:pPr>
            <a:r>
              <a:rPr lang="zh-CN" altLang="en-US" dirty="0"/>
              <a:t>             关系模式</a:t>
            </a:r>
            <a:r>
              <a:rPr lang="en-US" altLang="zh-CN" dirty="0"/>
              <a:t>SC(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</a:t>
            </a:r>
            <a:r>
              <a:rPr lang="zh-CN" altLang="en-US" dirty="0"/>
              <a:t>中，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</a:t>
            </a:r>
            <a:r>
              <a:rPr lang="zh-CN" altLang="en-US" dirty="0"/>
              <a:t>是码</a:t>
            </a:r>
          </a:p>
          <a:p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3]</a:t>
            </a:r>
            <a:r>
              <a:rPr lang="zh-CN" altLang="en-US" dirty="0"/>
              <a:t>：关系模式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P</a:t>
            </a:r>
            <a:r>
              <a:rPr lang="zh-CN" altLang="en-US" dirty="0"/>
              <a:t>，</a:t>
            </a:r>
            <a:r>
              <a:rPr lang="en-US" altLang="zh-CN" dirty="0"/>
              <a:t>W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）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：演奏者     </a:t>
            </a:r>
            <a:r>
              <a:rPr lang="en-US" altLang="zh-CN" dirty="0"/>
              <a:t>W</a:t>
            </a:r>
            <a:r>
              <a:rPr lang="zh-CN" altLang="en-US" dirty="0"/>
              <a:t>：作品    </a:t>
            </a:r>
            <a:r>
              <a:rPr lang="en-US" altLang="zh-CN" dirty="0"/>
              <a:t>A</a:t>
            </a:r>
            <a:r>
              <a:rPr lang="zh-CN" altLang="en-US" dirty="0"/>
              <a:t>：听众</a:t>
            </a:r>
          </a:p>
          <a:p>
            <a:pPr lvl="1"/>
            <a:r>
              <a:rPr lang="zh-CN" altLang="en-US" dirty="0"/>
              <a:t>一个演奏者可以演奏多个作品</a:t>
            </a:r>
          </a:p>
          <a:p>
            <a:pPr lvl="1"/>
            <a:r>
              <a:rPr lang="zh-CN" altLang="en-US" dirty="0"/>
              <a:t>某一作品可被多个演奏者演奏</a:t>
            </a:r>
          </a:p>
          <a:p>
            <a:pPr lvl="1"/>
            <a:r>
              <a:rPr lang="zh-CN" altLang="en-US" dirty="0"/>
              <a:t>听众可以欣赏不同演奏者的不同作品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则码为</a:t>
            </a:r>
            <a:r>
              <a:rPr lang="en-US" altLang="zh-CN" dirty="0">
                <a:solidFill>
                  <a:srgbClr val="0000FF"/>
                </a:solidFill>
              </a:rPr>
              <a:t>(P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W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A)</a:t>
            </a:r>
            <a:r>
              <a:rPr lang="zh-CN" altLang="en-US" dirty="0">
                <a:solidFill>
                  <a:srgbClr val="0000FF"/>
                </a:solidFill>
              </a:rPr>
              <a:t>，即</a:t>
            </a:r>
            <a:r>
              <a:rPr lang="en-US" altLang="zh-CN" dirty="0">
                <a:solidFill>
                  <a:srgbClr val="0000FF"/>
                </a:solidFill>
              </a:rPr>
              <a:t>All-Key 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C050999D-449A-4179-9F65-AB25F074F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420865">
            <a:extLst>
              <a:ext uri="{FF2B5EF4-FFF2-40B4-BE49-F238E27FC236}">
                <a16:creationId xmlns:a16="http://schemas.microsoft.com/office/drawing/2014/main" xmlns="" id="{0F48683A-1A3B-4C29-8722-A63234581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外部码</a:t>
            </a:r>
          </a:p>
        </p:txBody>
      </p:sp>
      <p:sp>
        <p:nvSpPr>
          <p:cNvPr id="46083" name="文本占位符 420866">
            <a:extLst>
              <a:ext uri="{FF2B5EF4-FFF2-40B4-BE49-F238E27FC236}">
                <a16:creationId xmlns:a16="http://schemas.microsoft.com/office/drawing/2014/main" xmlns="" id="{4573DEC8-0847-488B-B6D4-344A0F757A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6.5  </a:t>
            </a:r>
            <a:r>
              <a:rPr lang="zh-CN" altLang="en-US" dirty="0"/>
              <a:t>关系模式</a:t>
            </a:r>
            <a:r>
              <a:rPr lang="en-US" altLang="zh-CN" dirty="0"/>
              <a:t>R</a:t>
            </a:r>
            <a:r>
              <a:rPr lang="zh-CN" altLang="en-US" dirty="0"/>
              <a:t>中属性或属性组</a:t>
            </a:r>
            <a:r>
              <a:rPr lang="en-US" altLang="zh-CN" dirty="0"/>
              <a:t>X</a:t>
            </a:r>
            <a:r>
              <a:rPr lang="zh-CN" altLang="en-US" dirty="0"/>
              <a:t>并非</a:t>
            </a:r>
            <a:r>
              <a:rPr lang="en-US" altLang="zh-CN" dirty="0"/>
              <a:t>R</a:t>
            </a:r>
            <a:r>
              <a:rPr lang="zh-CN" altLang="en-US" dirty="0"/>
              <a:t>的码，但</a:t>
            </a:r>
            <a:r>
              <a:rPr lang="en-US" altLang="zh-CN" dirty="0"/>
              <a:t>X</a:t>
            </a:r>
            <a:r>
              <a:rPr lang="zh-CN" altLang="en-US" dirty="0"/>
              <a:t>是另一个关系模式的码，则称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外部码（</a:t>
            </a:r>
            <a:r>
              <a:rPr lang="en-US" altLang="zh-CN" dirty="0">
                <a:solidFill>
                  <a:srgbClr val="C00000"/>
                </a:solidFill>
              </a:rPr>
              <a:t>Foreign key</a:t>
            </a:r>
            <a:r>
              <a:rPr lang="zh-CN" altLang="en-US" dirty="0">
                <a:solidFill>
                  <a:srgbClr val="C00000"/>
                </a:solidFill>
              </a:rPr>
              <a:t>）也称外码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SC</a:t>
            </a:r>
            <a:r>
              <a:rPr lang="zh-CN" altLang="en-US" dirty="0"/>
              <a:t>（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Cno</a:t>
            </a:r>
            <a:r>
              <a:rPr lang="zh-CN" altLang="en-US" dirty="0"/>
              <a:t>，</a:t>
            </a:r>
            <a:r>
              <a:rPr lang="en-US" altLang="zh-CN" dirty="0"/>
              <a:t>Grade</a:t>
            </a:r>
            <a:r>
              <a:rPr lang="zh-CN" altLang="en-US" dirty="0"/>
              <a:t>）中，</a:t>
            </a:r>
            <a:r>
              <a:rPr lang="en-US" altLang="zh-CN" dirty="0" err="1"/>
              <a:t>Sno</a:t>
            </a:r>
            <a:r>
              <a:rPr lang="zh-CN" altLang="en-US" dirty="0"/>
              <a:t>不是码</a:t>
            </a:r>
            <a:endParaRPr lang="en-US" altLang="zh-CN" dirty="0"/>
          </a:p>
          <a:p>
            <a:pPr lvl="1"/>
            <a:r>
              <a:rPr lang="en-US" altLang="zh-CN" dirty="0" err="1"/>
              <a:t>Sno</a:t>
            </a:r>
            <a:r>
              <a:rPr lang="zh-CN" altLang="en-US" dirty="0"/>
              <a:t>是关系模式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zh-CN" altLang="en-US" dirty="0"/>
              <a:t>，</a:t>
            </a:r>
            <a:r>
              <a:rPr lang="en-US" altLang="zh-CN" dirty="0"/>
              <a:t>Sage</a:t>
            </a:r>
            <a:r>
              <a:rPr lang="zh-CN" altLang="en-US" dirty="0"/>
              <a:t>）的码，则</a:t>
            </a:r>
            <a:r>
              <a:rPr lang="en-US" altLang="zh-CN" dirty="0" err="1"/>
              <a:t>Sno</a:t>
            </a:r>
            <a:r>
              <a:rPr lang="zh-CN" altLang="en-US" dirty="0"/>
              <a:t>是关系模式</a:t>
            </a:r>
            <a:r>
              <a:rPr lang="en-US" altLang="zh-CN" dirty="0"/>
              <a:t>SC</a:t>
            </a:r>
            <a:r>
              <a:rPr lang="zh-CN" altLang="en-US" dirty="0"/>
              <a:t>的</a:t>
            </a:r>
            <a:r>
              <a:rPr lang="en-US" altLang="zh-CN" dirty="0" err="1"/>
              <a:t>外码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</a:p>
          <a:p>
            <a:pPr lvl="1"/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主码与外部码一起提供了表示关系间联系的手段。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如，</a:t>
            </a:r>
            <a:r>
              <a:rPr lang="en-US" altLang="zh-CN" dirty="0" err="1"/>
              <a:t>Sno</a:t>
            </a: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F58F3CD5-638A-4373-A8D9-22F837F94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421889">
            <a:extLst>
              <a:ext uri="{FF2B5EF4-FFF2-40B4-BE49-F238E27FC236}">
                <a16:creationId xmlns:a16="http://schemas.microsoft.com/office/drawing/2014/main" xmlns="" id="{7EE1A4D0-B7C9-4C40-924C-2401188E35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6.2.3 </a:t>
            </a:r>
            <a:r>
              <a:rPr lang="zh-CN" altLang="en-US"/>
              <a:t>范式</a:t>
            </a:r>
          </a:p>
        </p:txBody>
      </p:sp>
      <p:sp>
        <p:nvSpPr>
          <p:cNvPr id="48131" name="文本占位符 421890">
            <a:extLst>
              <a:ext uri="{FF2B5EF4-FFF2-40B4-BE49-F238E27FC236}">
                <a16:creationId xmlns:a16="http://schemas.microsoft.com/office/drawing/2014/main" xmlns="" id="{34381954-A61D-43DA-A371-DCECB6AEB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范式</a:t>
            </a:r>
            <a:r>
              <a:rPr lang="zh-CN" altLang="en-US" dirty="0"/>
              <a:t>是符合某一种级别的关系模式的集合。</a:t>
            </a:r>
          </a:p>
          <a:p>
            <a:r>
              <a:rPr lang="zh-CN" altLang="en-US" dirty="0"/>
              <a:t>关系数据库中的关系必须满足一定的要求。满足不同程度要求的为不同范式。</a:t>
            </a:r>
          </a:p>
          <a:p>
            <a:r>
              <a:rPr lang="zh-CN" altLang="en-US" dirty="0"/>
              <a:t>范式的种类及关系：</a:t>
            </a:r>
            <a:endParaRPr lang="en-US" altLang="zh-CN" dirty="0"/>
          </a:p>
          <a:p>
            <a:pPr lvl="1"/>
            <a:r>
              <a:rPr lang="zh-CN" altLang="en-US" dirty="0"/>
              <a:t>满足最基本规范化要求的关系模式叫</a:t>
            </a:r>
            <a:r>
              <a:rPr lang="zh-CN" altLang="en-US" dirty="0">
                <a:solidFill>
                  <a:srgbClr val="C00000"/>
                </a:solidFill>
              </a:rPr>
              <a:t>第一范式</a:t>
            </a:r>
            <a:endParaRPr lang="zh-CN" altLang="en-US" dirty="0"/>
          </a:p>
          <a:p>
            <a:pPr lvl="1"/>
            <a:r>
              <a:rPr lang="zh-CN" altLang="en-US" dirty="0"/>
              <a:t>在第一范式中进一步满足一些要求为</a:t>
            </a:r>
            <a:r>
              <a:rPr lang="zh-CN" altLang="en-US" dirty="0">
                <a:solidFill>
                  <a:srgbClr val="C00000"/>
                </a:solidFill>
              </a:rPr>
              <a:t>第二范式</a:t>
            </a:r>
            <a:endParaRPr lang="zh-CN" altLang="en-US" dirty="0"/>
          </a:p>
          <a:p>
            <a:pPr lvl="1"/>
            <a:r>
              <a:rPr lang="zh-CN" altLang="en-US" dirty="0"/>
              <a:t>依此类推就产生了</a:t>
            </a:r>
            <a:r>
              <a:rPr lang="zh-CN" altLang="en-US" dirty="0">
                <a:solidFill>
                  <a:srgbClr val="C00000"/>
                </a:solidFill>
              </a:rPr>
              <a:t>第三范式</a:t>
            </a:r>
            <a:r>
              <a:rPr lang="zh-CN" altLang="en-US" dirty="0"/>
              <a:t>、</a:t>
            </a:r>
            <a:r>
              <a:rPr lang="en-US" altLang="zh-CN" dirty="0">
                <a:solidFill>
                  <a:srgbClr val="C00000"/>
                </a:solidFill>
              </a:rPr>
              <a:t>BC</a:t>
            </a:r>
            <a:r>
              <a:rPr lang="zh-CN" altLang="en-US" dirty="0">
                <a:solidFill>
                  <a:srgbClr val="C00000"/>
                </a:solidFill>
              </a:rPr>
              <a:t>范式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rgbClr val="C00000"/>
                </a:solidFill>
              </a:rPr>
              <a:t>第四范式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C00000"/>
                </a:solidFill>
              </a:rPr>
              <a:t>   </a:t>
            </a:r>
            <a:r>
              <a:rPr lang="zh-CN" altLang="en-US" dirty="0"/>
              <a:t>以及</a:t>
            </a:r>
            <a:r>
              <a:rPr lang="zh-CN" altLang="en-US" dirty="0">
                <a:solidFill>
                  <a:srgbClr val="C00000"/>
                </a:solidFill>
              </a:rPr>
              <a:t>第五范式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69656E03-A39A-46AF-A565-47F18DCD3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graphicFrame>
        <p:nvGraphicFramePr>
          <p:cNvPr id="5" name="对象 422915">
            <a:extLst>
              <a:ext uri="{FF2B5EF4-FFF2-40B4-BE49-F238E27FC236}">
                <a16:creationId xmlns:a16="http://schemas.microsoft.com/office/drawing/2014/main" xmlns="" id="{C17275F5-6428-4F77-BAEE-13C5EE259C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4054905"/>
              </p:ext>
            </p:extLst>
          </p:nvPr>
        </p:nvGraphicFramePr>
        <p:xfrm>
          <a:off x="1548371" y="5491089"/>
          <a:ext cx="5804732" cy="386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54" r:id="rId3" imgW="2865226" imgH="177492" progId="">
                  <p:embed/>
                </p:oleObj>
              </mc:Choice>
              <mc:Fallback>
                <p:oleObj r:id="rId3" imgW="2865226" imgH="177492" progId="">
                  <p:embed/>
                  <p:pic>
                    <p:nvPicPr>
                      <p:cNvPr id="5" name="对象 422915">
                        <a:extLst>
                          <a:ext uri="{FF2B5EF4-FFF2-40B4-BE49-F238E27FC236}">
                            <a16:creationId xmlns:a16="http://schemas.microsoft.com/office/drawing/2014/main" xmlns="" id="{3E676D19-DBDC-4245-A374-4445AC75EC3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8371" y="5491089"/>
                        <a:ext cx="5804732" cy="386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2" descr="62">
            <a:extLst>
              <a:ext uri="{FF2B5EF4-FFF2-40B4-BE49-F238E27FC236}">
                <a16:creationId xmlns:a16="http://schemas.microsoft.com/office/drawing/2014/main" xmlns="" id="{DAE7AC7F-9230-4576-902E-534B2D1C9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482283" y="3435682"/>
            <a:ext cx="2438400" cy="2320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xmlns="" id="{B42C0A40-660C-4DA4-B6FB-F1A5E910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范式（续）</a:t>
            </a:r>
          </a:p>
        </p:txBody>
      </p:sp>
      <p:sp>
        <p:nvSpPr>
          <p:cNvPr id="49155" name="文本占位符 422914">
            <a:extLst>
              <a:ext uri="{FF2B5EF4-FFF2-40B4-BE49-F238E27FC236}">
                <a16:creationId xmlns:a16="http://schemas.microsoft.com/office/drawing/2014/main" xmlns="" id="{4FB88D14-C1B9-4717-9970-F2C9ECA963D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某一关系模式</a:t>
            </a:r>
            <a:r>
              <a:rPr lang="en-US" altLang="zh-CN" i="1" dirty="0"/>
              <a:t>R</a:t>
            </a:r>
            <a:r>
              <a:rPr lang="zh-CN" altLang="en-US" dirty="0"/>
              <a:t>为第</a:t>
            </a:r>
            <a:r>
              <a:rPr lang="en-US" altLang="zh-CN" i="1" dirty="0"/>
              <a:t>n</a:t>
            </a:r>
            <a:r>
              <a:rPr lang="zh-CN" altLang="en-US" dirty="0"/>
              <a:t>范式，可简记为</a:t>
            </a:r>
            <a:r>
              <a:rPr lang="en-US" altLang="zh-CN" dirty="0" err="1">
                <a:solidFill>
                  <a:srgbClr val="C00000"/>
                </a:solidFill>
              </a:rPr>
              <a:t>R∈nNF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一个低一级范式的关系模式，通过</a:t>
            </a:r>
            <a:r>
              <a:rPr lang="zh-CN" altLang="en-US" dirty="0">
                <a:solidFill>
                  <a:srgbClr val="C00000"/>
                </a:solidFill>
              </a:rPr>
              <a:t>模式分解（</a:t>
            </a:r>
            <a:r>
              <a:rPr lang="en-US" altLang="zh-CN" dirty="0">
                <a:solidFill>
                  <a:srgbClr val="C00000"/>
                </a:solidFill>
              </a:rPr>
              <a:t>schema decomposition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可以转换为若干个高一级范式的关系模式的集合，这种过程就叫</a:t>
            </a:r>
            <a:r>
              <a:rPr lang="zh-CN" altLang="en-US" dirty="0">
                <a:solidFill>
                  <a:srgbClr val="C00000"/>
                </a:solidFill>
              </a:rPr>
              <a:t>规范化（</a:t>
            </a:r>
            <a:r>
              <a:rPr lang="en-US" altLang="zh-CN" dirty="0">
                <a:solidFill>
                  <a:srgbClr val="C00000"/>
                </a:solidFill>
              </a:rPr>
              <a:t>normalization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6C06AAF1-4172-4D6E-A0C2-200C1235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文本占位符 423938">
            <a:extLst>
              <a:ext uri="{FF2B5EF4-FFF2-40B4-BE49-F238E27FC236}">
                <a16:creationId xmlns:a16="http://schemas.microsoft.com/office/drawing/2014/main" xmlns="" id="{1E03C342-35AD-4C71-BD58-47AAE0CABF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343737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1NF</a:t>
            </a:r>
            <a:r>
              <a:rPr lang="zh-CN" altLang="en-US" dirty="0">
                <a:solidFill>
                  <a:srgbClr val="C00000"/>
                </a:solidFill>
              </a:rPr>
              <a:t>的定义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如果一个关系模式</a:t>
            </a:r>
            <a:r>
              <a:rPr lang="en-US" altLang="zh-CN" dirty="0"/>
              <a:t>R</a:t>
            </a:r>
            <a:r>
              <a:rPr lang="zh-CN" altLang="en-US" dirty="0"/>
              <a:t>的所有属性都是不可分的基本数据项，</a:t>
            </a:r>
            <a:r>
              <a:rPr lang="zh-CN" altLang="en-US" dirty="0">
                <a:solidFill>
                  <a:srgbClr val="C00000"/>
                </a:solidFill>
              </a:rPr>
              <a:t>则</a:t>
            </a:r>
            <a:r>
              <a:rPr lang="en-US" altLang="zh-CN" i="1" dirty="0">
                <a:solidFill>
                  <a:srgbClr val="C00000"/>
                </a:solidFill>
              </a:rPr>
              <a:t>R</a:t>
            </a:r>
            <a:r>
              <a:rPr lang="en-US" altLang="zh-CN" dirty="0">
                <a:solidFill>
                  <a:srgbClr val="C00000"/>
                </a:solidFill>
              </a:rPr>
              <a:t>∈1NF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第一范式是对关系模式的最起码的要求。不满足第一范式的数据库模式不能称为关系数据库</a:t>
            </a:r>
            <a:endParaRPr lang="en-US" altLang="zh-CN" dirty="0"/>
          </a:p>
          <a:p>
            <a:pPr lvl="1"/>
            <a:r>
              <a:rPr lang="zh-CN" altLang="en-US" dirty="0"/>
              <a:t>但是满足第一范式的关系模式并不一定是一个好的关系模式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959994D2-3029-45AA-AF26-1E2BCDBEA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xmlns="" id="{79B69069-6E78-4663-A781-F1FBFCA9E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1NF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E936C340-4F64-4A21-8BEE-77960898589B}"/>
              </a:ext>
            </a:extLst>
          </p:cNvPr>
          <p:cNvGrpSpPr/>
          <p:nvPr/>
        </p:nvGrpSpPr>
        <p:grpSpPr>
          <a:xfrm>
            <a:off x="819643" y="2406651"/>
            <a:ext cx="3406494" cy="1895791"/>
            <a:chOff x="819643" y="2406651"/>
            <a:chExt cx="3406494" cy="1895791"/>
          </a:xfrm>
        </p:grpSpPr>
        <p:graphicFrame>
          <p:nvGraphicFramePr>
            <p:cNvPr id="13" name="Group 329">
              <a:extLst>
                <a:ext uri="{FF2B5EF4-FFF2-40B4-BE49-F238E27FC236}">
                  <a16:creationId xmlns:a16="http://schemas.microsoft.com/office/drawing/2014/main" xmlns="" id="{70B90BFD-7F4A-4744-9DC5-845D4E275CF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215713058"/>
                </p:ext>
              </p:extLst>
            </p:nvPr>
          </p:nvGraphicFramePr>
          <p:xfrm>
            <a:off x="819643" y="2406651"/>
            <a:ext cx="3406494" cy="1471680"/>
          </p:xfrm>
          <a:graphic>
            <a:graphicData uri="http://schemas.openxmlformats.org/drawingml/2006/table">
              <a:tbl>
                <a:tblPr/>
                <a:tblGrid>
                  <a:gridCol w="939991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05641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880431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880431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136254">
                  <a:tc rowSpan="2"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职工号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rowSpan="2"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姓名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gridSpan="2"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  </a:t>
                        </a:r>
                        <a:r>
                          <a:rPr kumimoji="0" lang="zh-CN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电话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endParaRPr lang="zh-CN" alt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136254">
                  <a:tc vMerge="1">
                    <a:txBody>
                      <a:bodyPr/>
                      <a:lstStyle/>
                      <a:p>
                        <a:endParaRPr lang="zh-CN" altLang="en-US"/>
                      </a:p>
                    </a:txBody>
                    <a:tcPr/>
                  </a:tc>
                  <a:tc vMerge="1">
                    <a:txBody>
                      <a:bodyPr/>
                      <a:lstStyle/>
                      <a:p>
                        <a:endParaRPr lang="zh-CN" altLang="en-US"/>
                      </a:p>
                    </a:txBody>
                    <a:tcPr/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办公 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家用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136254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001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张三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12345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45855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136254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002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李四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21222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22224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</a:tbl>
            </a:graphicData>
          </a:graphic>
        </p:graphicFrame>
        <p:sp>
          <p:nvSpPr>
            <p:cNvPr id="14" name="Text Box 318">
              <a:extLst>
                <a:ext uri="{FF2B5EF4-FFF2-40B4-BE49-F238E27FC236}">
                  <a16:creationId xmlns:a16="http://schemas.microsoft.com/office/drawing/2014/main" xmlns="" id="{AB93BF5F-4E51-480F-89BB-2B1C1AB92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8531" y="3933110"/>
              <a:ext cx="9366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+mn-ea"/>
                </a:rPr>
                <a:t>原表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F8B5F69F-39E9-4BD8-8B45-DC050484ABD5}"/>
              </a:ext>
            </a:extLst>
          </p:cNvPr>
          <p:cNvGrpSpPr/>
          <p:nvPr/>
        </p:nvGrpSpPr>
        <p:grpSpPr>
          <a:xfrm>
            <a:off x="4485887" y="2409562"/>
            <a:ext cx="3369424" cy="1917358"/>
            <a:chOff x="4485887" y="2409562"/>
            <a:chExt cx="3369424" cy="1917358"/>
          </a:xfrm>
        </p:grpSpPr>
        <p:graphicFrame>
          <p:nvGraphicFramePr>
            <p:cNvPr id="15" name="Group 328">
              <a:extLst>
                <a:ext uri="{FF2B5EF4-FFF2-40B4-BE49-F238E27FC236}">
                  <a16:creationId xmlns:a16="http://schemas.microsoft.com/office/drawing/2014/main" xmlns="" id="{F0616A6A-DE98-4945-B0C8-B2FF5799FE1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815347103"/>
                </p:ext>
              </p:extLst>
            </p:nvPr>
          </p:nvGraphicFramePr>
          <p:xfrm>
            <a:off x="4485887" y="2409562"/>
            <a:ext cx="3369424" cy="1432944"/>
          </p:xfrm>
          <a:graphic>
            <a:graphicData uri="http://schemas.openxmlformats.org/drawingml/2006/table">
              <a:tbl>
                <a:tblPr/>
                <a:tblGrid>
                  <a:gridCol w="882066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701198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876497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909663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</a:tblGrid>
                <a:tr h="189516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职工号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姓名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办公 电话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家用</a:t>
                        </a:r>
                        <a:endPara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楷体_GB2312" pitchFamily="49" charset="-122"/>
                        </a:endParaRPr>
                      </a:p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电话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001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张三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12345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45855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002</a:t>
                        </a:r>
                      </a:p>
                    </a:txBody>
                    <a:tcPr marL="90000" marR="90000" marT="46800" marB="46800" anchor="ctr" anchorCtr="1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李四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21222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22224</a:t>
                        </a:r>
                      </a:p>
                    </a:txBody>
                    <a:tcPr marL="90000" marR="90000" marT="46800" marB="46800" anchor="ctr" anchorCtr="1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</a:tbl>
            </a:graphicData>
          </a:graphic>
        </p:graphicFrame>
        <p:sp>
          <p:nvSpPr>
            <p:cNvPr id="17" name="Text Box 318">
              <a:extLst>
                <a:ext uri="{FF2B5EF4-FFF2-40B4-BE49-F238E27FC236}">
                  <a16:creationId xmlns:a16="http://schemas.microsoft.com/office/drawing/2014/main" xmlns="" id="{107930DC-C8C3-4026-9E66-CD1F17E7F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13231" y="3957588"/>
              <a:ext cx="9366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+mn-ea"/>
                </a:rPr>
                <a:t>表</a:t>
              </a:r>
              <a:r>
                <a:rPr lang="en-US" altLang="zh-CN" dirty="0">
                  <a:latin typeface="+mn-ea"/>
                </a:rPr>
                <a:t>1</a:t>
              </a:r>
              <a:endParaRPr lang="zh-CN" altLang="en-US" dirty="0">
                <a:latin typeface="+mn-ea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xmlns="" id="{F22ACF7B-6240-4FAB-8197-9F69A7A1DFD4}"/>
              </a:ext>
            </a:extLst>
          </p:cNvPr>
          <p:cNvGrpSpPr/>
          <p:nvPr/>
        </p:nvGrpSpPr>
        <p:grpSpPr>
          <a:xfrm>
            <a:off x="8382239" y="2401763"/>
            <a:ext cx="2453164" cy="2275757"/>
            <a:chOff x="8382239" y="2401763"/>
            <a:chExt cx="2453164" cy="2275757"/>
          </a:xfrm>
        </p:grpSpPr>
        <p:graphicFrame>
          <p:nvGraphicFramePr>
            <p:cNvPr id="16" name="Group 327">
              <a:extLst>
                <a:ext uri="{FF2B5EF4-FFF2-40B4-BE49-F238E27FC236}">
                  <a16:creationId xmlns:a16="http://schemas.microsoft.com/office/drawing/2014/main" xmlns="" id="{51A61E58-D95D-44B7-92C0-517E930311F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60240769"/>
                </p:ext>
              </p:extLst>
            </p:nvPr>
          </p:nvGraphicFramePr>
          <p:xfrm>
            <a:off x="8382239" y="2401763"/>
            <a:ext cx="2453164" cy="1828800"/>
          </p:xfrm>
          <a:graphic>
            <a:graphicData uri="http://schemas.openxmlformats.org/drawingml/2006/table">
              <a:tbl>
                <a:tblPr/>
                <a:tblGrid>
                  <a:gridCol w="887905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641382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923877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</a:tblGrid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职工号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姓名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  </a:t>
                        </a: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电话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001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张三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12345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001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张三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45855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002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李四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21222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  <a:tr h="0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002</a:t>
                        </a:r>
                      </a:p>
                    </a:txBody>
                    <a:tcPr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zh-CN" altLang="en-US" sz="18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李四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itchFamily="2" charset="2"/>
                          <a:buNone/>
                          <a:tabLst/>
                        </a:pPr>
                        <a:r>
                          <a:rPr kumimoji="0" lang="en-US" altLang="zh-CN" sz="18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楷体_GB2312" pitchFamily="49" charset="-122"/>
                          </a:rPr>
                          <a:t>22224</a:t>
                        </a:r>
                      </a:p>
                    </a:txBody>
                    <a:tcPr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4"/>
                    </a:ext>
                  </a:extLst>
                </a:tr>
              </a:tbl>
            </a:graphicData>
          </a:graphic>
        </p:graphicFrame>
        <p:sp>
          <p:nvSpPr>
            <p:cNvPr id="18" name="Text Box 318">
              <a:extLst>
                <a:ext uri="{FF2B5EF4-FFF2-40B4-BE49-F238E27FC236}">
                  <a16:creationId xmlns:a16="http://schemas.microsoft.com/office/drawing/2014/main" xmlns="" id="{6D3FE903-38CE-44D7-A56D-7F068E79FE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19221" y="4308188"/>
              <a:ext cx="9366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zh-CN" altLang="en-US" dirty="0">
                  <a:latin typeface="+mn-ea"/>
                </a:rPr>
                <a:t>表</a:t>
              </a:r>
              <a:r>
                <a:rPr lang="en-US" altLang="zh-CN" dirty="0">
                  <a:latin typeface="+mn-ea"/>
                </a:rPr>
                <a:t>2</a:t>
              </a:r>
              <a:endParaRPr lang="zh-CN" altLang="en-US" dirty="0">
                <a:latin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文本占位符 432130">
            <a:extLst>
              <a:ext uri="{FF2B5EF4-FFF2-40B4-BE49-F238E27FC236}">
                <a16:creationId xmlns:a16="http://schemas.microsoft.com/office/drawing/2014/main" xmlns="" id="{A2E8CCB5-82E6-4BED-8DE9-3797544C1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6.6  </a:t>
            </a:r>
            <a:r>
              <a:rPr lang="zh-CN" altLang="en-US" dirty="0"/>
              <a:t>若</a:t>
            </a:r>
            <a:r>
              <a:rPr lang="en-US" altLang="zh-CN" dirty="0"/>
              <a:t>R∈1NF</a:t>
            </a:r>
            <a:r>
              <a:rPr lang="zh-CN" altLang="en-US" dirty="0"/>
              <a:t>，且每一个非主属性</a:t>
            </a:r>
            <a:r>
              <a:rPr lang="zh-CN" altLang="en-US" dirty="0">
                <a:solidFill>
                  <a:srgbClr val="C00000"/>
                </a:solidFill>
              </a:rPr>
              <a:t>完全函数依赖于码</a:t>
            </a:r>
            <a:r>
              <a:rPr lang="zh-CN" altLang="en-US" dirty="0"/>
              <a:t>，则</a:t>
            </a:r>
            <a:r>
              <a:rPr lang="en-US" altLang="zh-CN" dirty="0">
                <a:solidFill>
                  <a:srgbClr val="C00000"/>
                </a:solidFill>
              </a:rPr>
              <a:t>R∈2NF</a:t>
            </a:r>
            <a:r>
              <a:rPr lang="zh-CN" altLang="en-US" dirty="0"/>
              <a:t>。</a:t>
            </a:r>
          </a:p>
          <a:p>
            <a:pPr marL="342900" lvl="1" indent="0">
              <a:buNone/>
            </a:pPr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4] </a:t>
            </a:r>
            <a:r>
              <a:rPr lang="zh-CN" altLang="en-US" dirty="0"/>
              <a:t>关系模式 </a:t>
            </a:r>
            <a:r>
              <a:rPr lang="en-US" altLang="zh-CN" dirty="0"/>
              <a:t>S-L-C(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</a:t>
            </a:r>
            <a:r>
              <a:rPr lang="zh-CN" altLang="en-US" dirty="0"/>
              <a:t>，</a:t>
            </a:r>
            <a:r>
              <a:rPr lang="en-US" altLang="zh-CN" dirty="0" err="1"/>
              <a:t>Sloc</a:t>
            </a:r>
            <a:r>
              <a:rPr lang="zh-CN" altLang="en-US" dirty="0"/>
              <a:t>为学生住处，假设每个系的学生住在同一个地方。</a:t>
            </a:r>
          </a:p>
          <a:p>
            <a:pPr lvl="1"/>
            <a:r>
              <a:rPr lang="en-US" altLang="zh-CN" dirty="0"/>
              <a:t>S-L-C</a:t>
            </a:r>
            <a:r>
              <a:rPr lang="zh-CN" altLang="en-US" dirty="0"/>
              <a:t>的码为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</a:t>
            </a:r>
            <a:r>
              <a:rPr lang="zh-CN" altLang="en-US" dirty="0"/>
              <a:t>，满足第一范式。</a:t>
            </a:r>
          </a:p>
          <a:p>
            <a:pPr lvl="1"/>
            <a:r>
              <a:rPr lang="zh-CN" altLang="en-US" dirty="0"/>
              <a:t>函数依赖包括：</a:t>
            </a:r>
            <a:endParaRPr lang="en-US" altLang="zh-CN" dirty="0"/>
          </a:p>
          <a:p>
            <a:pPr marL="800100" lvl="2" indent="0">
              <a:buNone/>
            </a:pP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Grade</a:t>
            </a:r>
          </a:p>
          <a:p>
            <a:pPr marL="800100" lvl="2" indent="0">
              <a:buNone/>
            </a:pP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Sdept</a:t>
            </a:r>
            <a:endParaRPr lang="en-US" altLang="zh-CN" dirty="0"/>
          </a:p>
          <a:p>
            <a:pPr marL="800100" lvl="2" indent="0">
              <a:buNone/>
            </a:pP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Sloc</a:t>
            </a:r>
            <a:r>
              <a:rPr lang="zh-CN" altLang="en-US" dirty="0"/>
              <a:t>，</a:t>
            </a:r>
            <a:r>
              <a:rPr lang="en-US" altLang="zh-CN" dirty="0"/>
              <a:t>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 → </a:t>
            </a:r>
            <a:r>
              <a:rPr lang="en-US" altLang="zh-CN" dirty="0" err="1"/>
              <a:t>Sloc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en-US" altLang="zh-CN" dirty="0"/>
              <a:t> → </a:t>
            </a:r>
            <a:r>
              <a:rPr lang="en-US" altLang="zh-CN" dirty="0" err="1"/>
              <a:t>Sloc</a:t>
            </a:r>
            <a:endParaRPr lang="en-US" altLang="zh-CN" dirty="0"/>
          </a:p>
          <a:p>
            <a:pPr lvl="1" indent="-342900"/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关系模式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S-L-C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∉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2NF</a:t>
            </a:r>
            <a:endParaRPr lang="en-US" altLang="zh-CN" dirty="0">
              <a:solidFill>
                <a:srgbClr val="00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7F329E3-1DB6-4E13-BEBA-4346C8A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8" name="标题 423937">
            <a:extLst>
              <a:ext uri="{FF2B5EF4-FFF2-40B4-BE49-F238E27FC236}">
                <a16:creationId xmlns:a16="http://schemas.microsoft.com/office/drawing/2014/main" xmlns="" id="{B9942F1F-59EF-41D9-BC15-55A254E01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6.2.4  2NF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770518E6-6C0B-46B3-973A-226CBE866D4F}"/>
              </a:ext>
            </a:extLst>
          </p:cNvPr>
          <p:cNvSpPr txBox="1"/>
          <p:nvPr/>
        </p:nvSpPr>
        <p:spPr>
          <a:xfrm>
            <a:off x="3033659" y="4357234"/>
            <a:ext cx="279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71F2B869-60EB-48EC-8F62-C878E14C5497}"/>
              </a:ext>
            </a:extLst>
          </p:cNvPr>
          <p:cNvSpPr txBox="1"/>
          <p:nvPr/>
        </p:nvSpPr>
        <p:spPr>
          <a:xfrm>
            <a:off x="4678474" y="5220308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4AA8B29D-D4E8-4F08-A54D-FD6E0D6603D4}"/>
              </a:ext>
            </a:extLst>
          </p:cNvPr>
          <p:cNvSpPr txBox="1"/>
          <p:nvPr/>
        </p:nvSpPr>
        <p:spPr>
          <a:xfrm>
            <a:off x="4854563" y="4766266"/>
            <a:ext cx="27122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1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4CCAA432-69CE-409B-8FBA-04F8473B45D5}"/>
              </a:ext>
            </a:extLst>
          </p:cNvPr>
          <p:cNvGrpSpPr/>
          <p:nvPr/>
        </p:nvGrpSpPr>
        <p:grpSpPr>
          <a:xfrm>
            <a:off x="7492766" y="3928896"/>
            <a:ext cx="3966162" cy="2238976"/>
            <a:chOff x="7559096" y="4047342"/>
            <a:chExt cx="3966162" cy="2238976"/>
          </a:xfrm>
        </p:grpSpPr>
        <p:sp>
          <p:nvSpPr>
            <p:cNvPr id="12" name="矩形 425988">
              <a:extLst>
                <a:ext uri="{FF2B5EF4-FFF2-40B4-BE49-F238E27FC236}">
                  <a16:creationId xmlns:a16="http://schemas.microsoft.com/office/drawing/2014/main" xmlns="" id="{8DA3058F-C0AB-4DF5-BA92-8D4CA1ACF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28404" y="4263501"/>
              <a:ext cx="1228755" cy="1356180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/>
              <a:endParaRPr lang="zh-CN" altLang="en-US" sz="1600"/>
            </a:p>
          </p:txBody>
        </p:sp>
        <p:sp>
          <p:nvSpPr>
            <p:cNvPr id="13" name="文本框 425989">
              <a:extLst>
                <a:ext uri="{FF2B5EF4-FFF2-40B4-BE49-F238E27FC236}">
                  <a16:creationId xmlns:a16="http://schemas.microsoft.com/office/drawing/2014/main" xmlns="" id="{09BE844F-E8EF-4EB5-AB87-572381730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0362" y="4442371"/>
              <a:ext cx="631648" cy="3911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Sno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4" name="文本框 425990">
              <a:extLst>
                <a:ext uri="{FF2B5EF4-FFF2-40B4-BE49-F238E27FC236}">
                  <a16:creationId xmlns:a16="http://schemas.microsoft.com/office/drawing/2014/main" xmlns="" id="{89602487-EF9B-4AA6-84FC-2A0F2C6EB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18160" y="5067230"/>
              <a:ext cx="631648" cy="3911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Cno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5" name="文本框 425991">
              <a:extLst>
                <a:ext uri="{FF2B5EF4-FFF2-40B4-BE49-F238E27FC236}">
                  <a16:creationId xmlns:a16="http://schemas.microsoft.com/office/drawing/2014/main" xmlns="" id="{333EA7BD-B3BA-4B79-8F8D-A67FA5ED48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9096" y="4638523"/>
              <a:ext cx="757388" cy="3911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16" name="文本框 425992">
              <a:extLst>
                <a:ext uri="{FF2B5EF4-FFF2-40B4-BE49-F238E27FC236}">
                  <a16:creationId xmlns:a16="http://schemas.microsoft.com/office/drawing/2014/main" xmlns="" id="{A5AC3805-0BDC-4D40-952D-E441843355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29209" y="4374454"/>
              <a:ext cx="757388" cy="3911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Sdept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7" name="文本框 425993">
              <a:extLst>
                <a:ext uri="{FF2B5EF4-FFF2-40B4-BE49-F238E27FC236}">
                  <a16:creationId xmlns:a16="http://schemas.microsoft.com/office/drawing/2014/main" xmlns="" id="{E37F5A3A-424F-4179-8F5C-A9C7DDF1E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07054" y="5133799"/>
              <a:ext cx="757388" cy="391141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Sloc</a:t>
              </a:r>
              <a:endParaRPr lang="en-US" altLang="zh-CN" sz="1600">
                <a:latin typeface="Times New Roman" panose="02020603050405020304" pitchFamily="18" charset="0"/>
              </a:endParaRPr>
            </a:p>
          </p:txBody>
        </p:sp>
        <p:sp>
          <p:nvSpPr>
            <p:cNvPr id="18" name="直接连接符 425994">
              <a:extLst>
                <a:ext uri="{FF2B5EF4-FFF2-40B4-BE49-F238E27FC236}">
                  <a16:creationId xmlns:a16="http://schemas.microsoft.com/office/drawing/2014/main" xmlns="" id="{4CAD9A58-8241-4BDD-BB4F-363F371FF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27565" y="4833511"/>
              <a:ext cx="50083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9" name="直接连接符 425995">
              <a:extLst>
                <a:ext uri="{FF2B5EF4-FFF2-40B4-BE49-F238E27FC236}">
                  <a16:creationId xmlns:a16="http://schemas.microsoft.com/office/drawing/2014/main" xmlns="" id="{F40182E5-599B-4F7B-B075-C756C3C8BF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723229" y="4637940"/>
              <a:ext cx="883826" cy="248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0" name="直接连接符 425996">
              <a:extLst>
                <a:ext uri="{FF2B5EF4-FFF2-40B4-BE49-F238E27FC236}">
                  <a16:creationId xmlns:a16="http://schemas.microsoft.com/office/drawing/2014/main" xmlns="" id="{171F407B-3EE3-41E3-A248-8D384B9C57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61731" y="4659674"/>
              <a:ext cx="845317" cy="64390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1" name="直接连接符 425997">
              <a:extLst>
                <a:ext uri="{FF2B5EF4-FFF2-40B4-BE49-F238E27FC236}">
                  <a16:creationId xmlns:a16="http://schemas.microsoft.com/office/drawing/2014/main" xmlns="" id="{8CFBDDDE-91F5-44EC-A0C0-66585EECFE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60114" y="4690719"/>
              <a:ext cx="498603" cy="594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2" name="直接连接符 425998">
              <a:extLst>
                <a:ext uri="{FF2B5EF4-FFF2-40B4-BE49-F238E27FC236}">
                  <a16:creationId xmlns:a16="http://schemas.microsoft.com/office/drawing/2014/main" xmlns="" id="{4539EB75-2247-4C65-9994-9CCD01FE88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40863" y="5303578"/>
              <a:ext cx="566187" cy="989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3" name="直接连接符 425999">
              <a:extLst>
                <a:ext uri="{FF2B5EF4-FFF2-40B4-BE49-F238E27FC236}">
                  <a16:creationId xmlns:a16="http://schemas.microsoft.com/office/drawing/2014/main" xmlns="" id="{4210204A-A9EE-4C79-A132-85DBD4A48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21736" y="4765595"/>
              <a:ext cx="4799" cy="39114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24" name="文本框 426000">
              <a:extLst>
                <a:ext uri="{FF2B5EF4-FFF2-40B4-BE49-F238E27FC236}">
                  <a16:creationId xmlns:a16="http://schemas.microsoft.com/office/drawing/2014/main" xmlns="" id="{97EC7944-F5BD-4012-BEA9-A0ABBED3DE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75" y="4047342"/>
              <a:ext cx="897864" cy="342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>
                  <a:latin typeface="Times New Roman" panose="02020603050405020304" pitchFamily="18" charset="0"/>
                </a:rPr>
                <a:t>S-L-C</a:t>
              </a:r>
            </a:p>
          </p:txBody>
        </p:sp>
        <p:sp>
          <p:nvSpPr>
            <p:cNvPr id="25" name="标注: 线形 24">
              <a:extLst>
                <a:ext uri="{FF2B5EF4-FFF2-40B4-BE49-F238E27FC236}">
                  <a16:creationId xmlns:a16="http://schemas.microsoft.com/office/drawing/2014/main" xmlns="" id="{57EAAC05-BA99-4B5F-84FA-B494C6EC12EF}"/>
                </a:ext>
              </a:extLst>
            </p:cNvPr>
            <p:cNvSpPr/>
            <p:nvPr/>
          </p:nvSpPr>
          <p:spPr>
            <a:xfrm>
              <a:off x="10557813" y="5824308"/>
              <a:ext cx="967445" cy="462010"/>
            </a:xfrm>
            <a:prstGeom prst="borderCallout1">
              <a:avLst>
                <a:gd name="adj1" fmla="val 18750"/>
                <a:gd name="adj2" fmla="val -8333"/>
                <a:gd name="adj3" fmla="val -104168"/>
                <a:gd name="adj4" fmla="val -63206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b="1" dirty="0"/>
                <a:t>虚线表示部分函数依赖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24961">
            <a:extLst>
              <a:ext uri="{FF2B5EF4-FFF2-40B4-BE49-F238E27FC236}">
                <a16:creationId xmlns:a16="http://schemas.microsoft.com/office/drawing/2014/main" xmlns="" id="{F2129688-BE2C-468C-92C7-A7CC518D0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2NF</a:t>
            </a:r>
            <a:r>
              <a:rPr lang="zh-CN" altLang="en-US" dirty="0"/>
              <a:t>（续）</a:t>
            </a:r>
          </a:p>
        </p:txBody>
      </p:sp>
      <p:sp>
        <p:nvSpPr>
          <p:cNvPr id="54275" name="文本占位符 427010">
            <a:extLst>
              <a:ext uri="{FF2B5EF4-FFF2-40B4-BE49-F238E27FC236}">
                <a16:creationId xmlns:a16="http://schemas.microsoft.com/office/drawing/2014/main" xmlns="" id="{64D3CB7C-7ECB-47A2-9D6D-7DE9C43F84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一个关系模式不属于</a:t>
            </a:r>
            <a:r>
              <a:rPr lang="en-US" altLang="zh-CN" dirty="0"/>
              <a:t>2NF</a:t>
            </a:r>
            <a:r>
              <a:rPr lang="zh-CN" altLang="en-US" dirty="0"/>
              <a:t>，会产生以下问题：</a:t>
            </a:r>
            <a:endParaRPr lang="en-US" altLang="zh-CN" dirty="0"/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(1)</a:t>
            </a:r>
            <a:r>
              <a:rPr lang="zh-CN" altLang="en-US" dirty="0">
                <a:solidFill>
                  <a:srgbClr val="0000FF"/>
                </a:solidFill>
              </a:rPr>
              <a:t>插入异常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如果插入一个新学生，但该生未选课，即该生无</a:t>
            </a:r>
            <a:r>
              <a:rPr lang="en-US" altLang="zh-CN" dirty="0" err="1"/>
              <a:t>Cno</a:t>
            </a:r>
            <a:r>
              <a:rPr lang="zh-CN" altLang="en-US" dirty="0"/>
              <a:t>，由于插入元组时，必须给定码值，因此插入失败。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(2) </a:t>
            </a:r>
            <a:r>
              <a:rPr lang="zh-CN" altLang="en-US" dirty="0">
                <a:solidFill>
                  <a:srgbClr val="0000FF"/>
                </a:solidFill>
              </a:rPr>
              <a:t>删除异常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S4</a:t>
            </a:r>
            <a:r>
              <a:rPr lang="zh-CN" altLang="en-US" dirty="0"/>
              <a:t>只选了一门课</a:t>
            </a:r>
            <a:r>
              <a:rPr lang="en-US" altLang="zh-CN" dirty="0"/>
              <a:t>C3</a:t>
            </a:r>
            <a:r>
              <a:rPr lang="zh-CN" altLang="en-US" dirty="0"/>
              <a:t>，现在他不再选这门课，则删除</a:t>
            </a:r>
            <a:r>
              <a:rPr lang="en-US" altLang="zh-CN" dirty="0"/>
              <a:t>C3</a:t>
            </a:r>
            <a:r>
              <a:rPr lang="zh-CN" altLang="en-US" dirty="0"/>
              <a:t>后，整个元组的其他信息也被删除了。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(3) </a:t>
            </a:r>
            <a:r>
              <a:rPr lang="zh-CN" altLang="en-US" dirty="0">
                <a:solidFill>
                  <a:srgbClr val="0000FF"/>
                </a:solidFill>
              </a:rPr>
              <a:t>数据冗余度大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如果一个学生选修了</a:t>
            </a:r>
            <a:r>
              <a:rPr lang="en-US" altLang="zh-CN" dirty="0"/>
              <a:t>10</a:t>
            </a:r>
            <a:r>
              <a:rPr lang="zh-CN" altLang="en-US" dirty="0"/>
              <a:t>门课程，那么他的</a:t>
            </a:r>
            <a:r>
              <a:rPr lang="en-US" altLang="zh-CN" dirty="0" err="1"/>
              <a:t>Sdept</a:t>
            </a:r>
            <a:r>
              <a:rPr lang="zh-CN" altLang="en-US" dirty="0"/>
              <a:t>和</a:t>
            </a:r>
            <a:r>
              <a:rPr lang="en-US" altLang="zh-CN" dirty="0" err="1"/>
              <a:t>Sloc</a:t>
            </a:r>
            <a:r>
              <a:rPr lang="zh-CN" altLang="en-US" dirty="0"/>
              <a:t>值就重复存储了</a:t>
            </a:r>
            <a:r>
              <a:rPr lang="en-US" altLang="zh-CN" dirty="0"/>
              <a:t>10</a:t>
            </a:r>
            <a:r>
              <a:rPr lang="zh-CN" altLang="en-US" dirty="0"/>
              <a:t>次。</a:t>
            </a:r>
          </a:p>
          <a:p>
            <a:pPr marL="342900" lvl="1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(4) </a:t>
            </a:r>
            <a:r>
              <a:rPr lang="zh-CN" altLang="en-US" dirty="0">
                <a:solidFill>
                  <a:srgbClr val="0000FF"/>
                </a:solidFill>
              </a:rPr>
              <a:t>修改复杂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r>
              <a:rPr lang="zh-CN" altLang="en-US" dirty="0"/>
              <a:t>如果一个学生选了多门课，则</a:t>
            </a:r>
            <a:r>
              <a:rPr lang="en-US" altLang="zh-CN" dirty="0" err="1"/>
              <a:t>Sdept</a:t>
            </a:r>
            <a:r>
              <a:rPr lang="zh-CN" altLang="en-US" dirty="0"/>
              <a:t>， </a:t>
            </a:r>
            <a:r>
              <a:rPr lang="en-US" altLang="zh-CN" dirty="0" err="1"/>
              <a:t>Sloc</a:t>
            </a:r>
            <a:r>
              <a:rPr lang="zh-CN" altLang="en-US" dirty="0"/>
              <a:t>被存储了多次。如果该生转系，则需要修改所有相关的</a:t>
            </a:r>
            <a:r>
              <a:rPr lang="en-US" altLang="zh-CN" dirty="0" err="1"/>
              <a:t>Sdept</a:t>
            </a:r>
            <a:r>
              <a:rPr lang="zh-CN" altLang="en-US" dirty="0"/>
              <a:t>和</a:t>
            </a:r>
            <a:r>
              <a:rPr lang="en-US" altLang="zh-CN" dirty="0" err="1"/>
              <a:t>Sloc</a:t>
            </a:r>
            <a:r>
              <a:rPr lang="zh-CN" altLang="en-US" dirty="0"/>
              <a:t>，造成修改的复杂化。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原因</a:t>
            </a:r>
          </a:p>
          <a:p>
            <a:pPr lvl="1"/>
            <a:r>
              <a:rPr lang="zh-CN" altLang="en-US" dirty="0"/>
              <a:t>例子中有两类非主属性，一类如</a:t>
            </a:r>
            <a:r>
              <a:rPr lang="en-US" altLang="zh-CN" dirty="0"/>
              <a:t>Grade</a:t>
            </a:r>
            <a:r>
              <a:rPr lang="zh-CN" altLang="en-US" dirty="0"/>
              <a:t>，它对码完全函数依赖；另一类如</a:t>
            </a:r>
            <a:r>
              <a:rPr lang="en-US" altLang="zh-CN" dirty="0" err="1"/>
              <a:t>Sdept</a:t>
            </a:r>
            <a:r>
              <a:rPr lang="zh-CN" altLang="en-US" dirty="0"/>
              <a:t>、 </a:t>
            </a:r>
            <a:r>
              <a:rPr lang="en-US" altLang="zh-CN" dirty="0" err="1"/>
              <a:t>Sloc</a:t>
            </a:r>
            <a:r>
              <a:rPr lang="zh-CN" altLang="en-US" dirty="0"/>
              <a:t>，它们对码不是完全函数依赖。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D6CA9121-5711-4E1E-B924-CBE4772F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424961">
            <a:extLst>
              <a:ext uri="{FF2B5EF4-FFF2-40B4-BE49-F238E27FC236}">
                <a16:creationId xmlns:a16="http://schemas.microsoft.com/office/drawing/2014/main" xmlns="" id="{4F866650-2E7B-407D-ABC2-F865B3C9A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2NF</a:t>
            </a:r>
            <a:r>
              <a:rPr lang="zh-CN" altLang="en-US"/>
              <a:t>（续）</a:t>
            </a:r>
            <a:endParaRPr lang="zh-CN" altLang="en-US" dirty="0"/>
          </a:p>
        </p:txBody>
      </p:sp>
      <p:sp>
        <p:nvSpPr>
          <p:cNvPr id="55299" name="文本占位符 429058">
            <a:extLst>
              <a:ext uri="{FF2B5EF4-FFF2-40B4-BE49-F238E27FC236}">
                <a16:creationId xmlns:a16="http://schemas.microsoft.com/office/drawing/2014/main" xmlns="" id="{B677012E-935D-4C74-9EA8-82B50BB728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解决方法： </a:t>
            </a:r>
            <a:r>
              <a:rPr lang="zh-CN" altLang="en-US" dirty="0">
                <a:solidFill>
                  <a:srgbClr val="C00000"/>
                </a:solidFill>
              </a:rPr>
              <a:t>投影分解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函数依赖图：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结论：</a:t>
            </a:r>
            <a:r>
              <a:rPr lang="en-US" altLang="zh-CN" dirty="0"/>
              <a:t>SC</a:t>
            </a:r>
            <a:r>
              <a:rPr lang="zh-CN" altLang="en-US" dirty="0"/>
              <a:t>和</a:t>
            </a:r>
            <a:r>
              <a:rPr lang="en-US" altLang="zh-CN" dirty="0"/>
              <a:t>S-L</a:t>
            </a:r>
            <a:r>
              <a:rPr lang="zh-CN" altLang="en-US" dirty="0"/>
              <a:t>均不存在部分函数依赖，都是</a:t>
            </a:r>
            <a:r>
              <a:rPr lang="zh-CN" altLang="en-US" dirty="0">
                <a:solidFill>
                  <a:srgbClr val="C00000"/>
                </a:solidFill>
              </a:rPr>
              <a:t>完全函数依赖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E80EB955-79A7-4E8D-989B-2887EA5C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grpSp>
        <p:nvGrpSpPr>
          <p:cNvPr id="10" name="组合 431107">
            <a:extLst>
              <a:ext uri="{FF2B5EF4-FFF2-40B4-BE49-F238E27FC236}">
                <a16:creationId xmlns:a16="http://schemas.microsoft.com/office/drawing/2014/main" xmlns="" id="{59585F75-A991-4A99-A5E0-9B759284686C}"/>
              </a:ext>
            </a:extLst>
          </p:cNvPr>
          <p:cNvGrpSpPr>
            <a:grpSpLocks/>
          </p:cNvGrpSpPr>
          <p:nvPr/>
        </p:nvGrpSpPr>
        <p:grpSpPr bwMode="auto">
          <a:xfrm>
            <a:off x="2341771" y="2974806"/>
            <a:ext cx="2809706" cy="1594234"/>
            <a:chOff x="794" y="2074"/>
            <a:chExt cx="1940" cy="1248"/>
          </a:xfrm>
        </p:grpSpPr>
        <p:sp>
          <p:nvSpPr>
            <p:cNvPr id="11" name="矩形 431108">
              <a:extLst>
                <a:ext uri="{FF2B5EF4-FFF2-40B4-BE49-F238E27FC236}">
                  <a16:creationId xmlns:a16="http://schemas.microsoft.com/office/drawing/2014/main" xmlns="" id="{54177F7D-30BE-40E3-805A-EAE108CAE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" y="2074"/>
              <a:ext cx="909" cy="124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/>
              <a:endParaRPr lang="zh-CN" altLang="en-US" sz="1600"/>
            </a:p>
          </p:txBody>
        </p:sp>
        <p:sp>
          <p:nvSpPr>
            <p:cNvPr id="12" name="文本框 431109">
              <a:extLst>
                <a:ext uri="{FF2B5EF4-FFF2-40B4-BE49-F238E27FC236}">
                  <a16:creationId xmlns:a16="http://schemas.microsoft.com/office/drawing/2014/main" xmlns="" id="{6567D065-F64E-4EA5-B385-E0CFE41F4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4" y="2290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 err="1">
                  <a:latin typeface="Times New Roman" panose="02020603050405020304" pitchFamily="18" charset="0"/>
                </a:rPr>
                <a:t>Sno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3" name="文本框 431110">
              <a:extLst>
                <a:ext uri="{FF2B5EF4-FFF2-40B4-BE49-F238E27FC236}">
                  <a16:creationId xmlns:a16="http://schemas.microsoft.com/office/drawing/2014/main" xmlns="" id="{067A039F-33D6-42D4-B77F-FEF4FD8E45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7" y="2891"/>
              <a:ext cx="556" cy="268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 err="1">
                  <a:latin typeface="Times New Roman" panose="02020603050405020304" pitchFamily="18" charset="0"/>
                </a:rPr>
                <a:t>Cno</a:t>
              </a:r>
              <a:endParaRPr lang="en-US" altLang="zh-CN" sz="16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14" name="文本框 431111">
              <a:extLst>
                <a:ext uri="{FF2B5EF4-FFF2-40B4-BE49-F238E27FC236}">
                  <a16:creationId xmlns:a16="http://schemas.microsoft.com/office/drawing/2014/main" xmlns="" id="{435882AA-9B81-4D81-B784-8D845F17A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8" y="2542"/>
              <a:ext cx="666" cy="37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>
                  <a:latin typeface="Times New Roman" panose="02020603050405020304" pitchFamily="18" charset="0"/>
                </a:rPr>
                <a:t>Grade</a:t>
              </a:r>
            </a:p>
          </p:txBody>
        </p:sp>
        <p:sp>
          <p:nvSpPr>
            <p:cNvPr id="15" name="直接连接符 431112">
              <a:extLst>
                <a:ext uri="{FF2B5EF4-FFF2-40B4-BE49-F238E27FC236}">
                  <a16:creationId xmlns:a16="http://schemas.microsoft.com/office/drawing/2014/main" xmlns="" id="{A1F96F03-D6AA-498F-8EC7-BCAE00D0D6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3" y="2720"/>
              <a:ext cx="38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  <p:sp>
          <p:nvSpPr>
            <p:cNvPr id="16" name="文本框 431113">
              <a:extLst>
                <a:ext uri="{FF2B5EF4-FFF2-40B4-BE49-F238E27FC236}">
                  <a16:creationId xmlns:a16="http://schemas.microsoft.com/office/drawing/2014/main" xmlns="" id="{1B917FC4-2521-4097-828A-3FBA4CE79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37" y="2112"/>
              <a:ext cx="556" cy="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6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SC</a:t>
              </a:r>
            </a:p>
          </p:txBody>
        </p:sp>
      </p:grpSp>
      <p:grpSp>
        <p:nvGrpSpPr>
          <p:cNvPr id="17" name="组合 431123">
            <a:extLst>
              <a:ext uri="{FF2B5EF4-FFF2-40B4-BE49-F238E27FC236}">
                <a16:creationId xmlns:a16="http://schemas.microsoft.com/office/drawing/2014/main" xmlns="" id="{B52C6E7E-A0D2-4767-AD0E-5C9B7DAAC3F4}"/>
              </a:ext>
            </a:extLst>
          </p:cNvPr>
          <p:cNvGrpSpPr>
            <a:grpSpLocks/>
          </p:cNvGrpSpPr>
          <p:nvPr/>
        </p:nvGrpSpPr>
        <p:grpSpPr bwMode="auto">
          <a:xfrm>
            <a:off x="5907416" y="3052222"/>
            <a:ext cx="2682254" cy="1584014"/>
            <a:chOff x="3404" y="2045"/>
            <a:chExt cx="1852" cy="1240"/>
          </a:xfrm>
        </p:grpSpPr>
        <p:grpSp>
          <p:nvGrpSpPr>
            <p:cNvPr id="18" name="组合 431114">
              <a:extLst>
                <a:ext uri="{FF2B5EF4-FFF2-40B4-BE49-F238E27FC236}">
                  <a16:creationId xmlns:a16="http://schemas.microsoft.com/office/drawing/2014/main" xmlns="" id="{60E2E3E5-8C72-42EE-AE7F-A115C2BDD2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4" y="2045"/>
              <a:ext cx="1852" cy="1240"/>
              <a:chOff x="3428" y="2168"/>
              <a:chExt cx="1852" cy="1240"/>
            </a:xfrm>
          </p:grpSpPr>
          <p:sp>
            <p:nvSpPr>
              <p:cNvPr id="20" name="文本框 431115">
                <a:extLst>
                  <a:ext uri="{FF2B5EF4-FFF2-40B4-BE49-F238E27FC236}">
                    <a16:creationId xmlns:a16="http://schemas.microsoft.com/office/drawing/2014/main" xmlns="" id="{5A75CA78-74DA-4EDE-BCA3-5EBCB3FD97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7" y="2183"/>
                <a:ext cx="695" cy="3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S-L</a:t>
                </a:r>
              </a:p>
            </p:txBody>
          </p:sp>
          <p:sp>
            <p:nvSpPr>
              <p:cNvPr id="21" name="文本框 431116">
                <a:extLst>
                  <a:ext uri="{FF2B5EF4-FFF2-40B4-BE49-F238E27FC236}">
                    <a16:creationId xmlns:a16="http://schemas.microsoft.com/office/drawing/2014/main" xmlns="" id="{CBB53234-6684-4F28-8D97-EE2F4D563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28" y="2540"/>
                <a:ext cx="579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Sno</a:t>
                </a:r>
              </a:p>
            </p:txBody>
          </p:sp>
          <p:sp>
            <p:nvSpPr>
              <p:cNvPr id="22" name="文本框 431117">
                <a:extLst>
                  <a:ext uri="{FF2B5EF4-FFF2-40B4-BE49-F238E27FC236}">
                    <a16:creationId xmlns:a16="http://schemas.microsoft.com/office/drawing/2014/main" xmlns="" id="{9D81CFCB-4F2B-4D1B-8A01-DF95F48DA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5" y="2168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 dirty="0" err="1">
                    <a:latin typeface="Times New Roman" panose="02020603050405020304" pitchFamily="18" charset="0"/>
                  </a:rPr>
                  <a:t>Sdept</a:t>
                </a:r>
                <a:endParaRPr lang="en-US" altLang="zh-CN" sz="16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3" name="文本框 431118">
                <a:extLst>
                  <a:ext uri="{FF2B5EF4-FFF2-40B4-BE49-F238E27FC236}">
                    <a16:creationId xmlns:a16="http://schemas.microsoft.com/office/drawing/2014/main" xmlns="" id="{76661FD8-2C5B-4E03-8390-AD648CC27F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85" y="3036"/>
                <a:ext cx="695" cy="37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600" b="1">
                    <a:latin typeface="Times New Roman" panose="02020603050405020304" pitchFamily="18" charset="0"/>
                  </a:rPr>
                  <a:t>Sloc</a:t>
                </a:r>
              </a:p>
            </p:txBody>
          </p:sp>
          <p:sp>
            <p:nvSpPr>
              <p:cNvPr id="24" name="直接连接符 431119">
                <a:extLst>
                  <a:ext uri="{FF2B5EF4-FFF2-40B4-BE49-F238E27FC236}">
                    <a16:creationId xmlns:a16="http://schemas.microsoft.com/office/drawing/2014/main" xmlns="" id="{13FAB881-1656-4B24-A19E-FB0BD6480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07" y="2292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  <p:sp>
            <p:nvSpPr>
              <p:cNvPr id="25" name="直接连接符 431120">
                <a:extLst>
                  <a:ext uri="{FF2B5EF4-FFF2-40B4-BE49-F238E27FC236}">
                    <a16:creationId xmlns:a16="http://schemas.microsoft.com/office/drawing/2014/main" xmlns="" id="{FAD5D3F4-1282-42E9-A089-794158D9A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07" y="2788"/>
                <a:ext cx="578" cy="3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600"/>
              </a:p>
            </p:txBody>
          </p:sp>
        </p:grpSp>
        <p:sp>
          <p:nvSpPr>
            <p:cNvPr id="19" name="直接连接符 431121">
              <a:extLst>
                <a:ext uri="{FF2B5EF4-FFF2-40B4-BE49-F238E27FC236}">
                  <a16:creationId xmlns:a16="http://schemas.microsoft.com/office/drawing/2014/main" xmlns="" id="{ED380C5C-66D0-48AD-A809-4942F756B2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0" y="2432"/>
              <a:ext cx="0" cy="49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FC1027D6-AE37-4375-8131-AB48DE66847B}"/>
              </a:ext>
            </a:extLst>
          </p:cNvPr>
          <p:cNvGrpSpPr/>
          <p:nvPr/>
        </p:nvGrpSpPr>
        <p:grpSpPr>
          <a:xfrm>
            <a:off x="4292469" y="1216545"/>
            <a:ext cx="5415332" cy="1186481"/>
            <a:chOff x="4017675" y="1339728"/>
            <a:chExt cx="5415332" cy="118648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xmlns="" id="{3C9D75F9-142C-4DBE-B387-A7A6377F02D4}"/>
                </a:ext>
              </a:extLst>
            </p:cNvPr>
            <p:cNvSpPr txBox="1"/>
            <p:nvPr/>
          </p:nvSpPr>
          <p:spPr>
            <a:xfrm>
              <a:off x="4017675" y="2126099"/>
              <a:ext cx="2563163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SC(</a:t>
              </a:r>
              <a:r>
                <a:rPr lang="en-US" altLang="zh-CN" sz="2000" dirty="0" err="1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Sno</a:t>
              </a:r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, </a:t>
              </a:r>
              <a:r>
                <a:rPr lang="en-US" altLang="zh-CN" sz="2000" dirty="0" err="1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Cno</a:t>
              </a:r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, Grade)</a:t>
              </a:r>
              <a:endParaRPr lang="zh-CN" altLang="en-US" sz="2000" dirty="0">
                <a:solidFill>
                  <a:srgbClr val="0000CC"/>
                </a:solidFill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xmlns="" id="{3B9042F0-788C-466B-9165-361C057A4471}"/>
                </a:ext>
              </a:extLst>
            </p:cNvPr>
            <p:cNvSpPr txBox="1"/>
            <p:nvPr/>
          </p:nvSpPr>
          <p:spPr>
            <a:xfrm>
              <a:off x="6689412" y="2126098"/>
              <a:ext cx="2743595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S-L(</a:t>
              </a:r>
              <a:r>
                <a:rPr lang="en-US" altLang="zh-CN" sz="2000" dirty="0" err="1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Sno</a:t>
              </a:r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, </a:t>
              </a:r>
              <a:r>
                <a:rPr lang="en-US" altLang="zh-CN" sz="2000" dirty="0" err="1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Sdept,Sloc</a:t>
              </a:r>
              <a:r>
                <a:rPr lang="en-US" altLang="zh-CN" sz="2000" dirty="0">
                  <a:solidFill>
                    <a:srgbClr val="0000CC"/>
                  </a:solidFill>
                  <a:latin typeface="+mj-lt"/>
                  <a:ea typeface="等线" panose="02010600030101010101" pitchFamily="2" charset="-122"/>
                </a:rPr>
                <a:t>)</a:t>
              </a:r>
              <a:endParaRPr lang="zh-CN" altLang="en-US" sz="2000" dirty="0">
                <a:solidFill>
                  <a:srgbClr val="0000CC"/>
                </a:solidFill>
                <a:latin typeface="+mj-lt"/>
                <a:ea typeface="等线" panose="02010600030101010101" pitchFamily="2" charset="-122"/>
              </a:endParaRPr>
            </a:p>
          </p:txBody>
        </p:sp>
        <p:sp>
          <p:nvSpPr>
            <p:cNvPr id="8" name="左箭头 7">
              <a:extLst>
                <a:ext uri="{FF2B5EF4-FFF2-40B4-BE49-F238E27FC236}">
                  <a16:creationId xmlns:a16="http://schemas.microsoft.com/office/drawing/2014/main" xmlns="" id="{0C6714F5-CD5D-477C-BC93-74F7C4C3308A}"/>
                </a:ext>
              </a:extLst>
            </p:cNvPr>
            <p:cNvSpPr/>
            <p:nvPr/>
          </p:nvSpPr>
          <p:spPr>
            <a:xfrm rot="19337006">
              <a:off x="5969232" y="1806584"/>
              <a:ext cx="533400" cy="15240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+mj-lt"/>
              </a:endParaRPr>
            </a:p>
          </p:txBody>
        </p:sp>
        <p:sp>
          <p:nvSpPr>
            <p:cNvPr id="9" name="左箭头 8">
              <a:extLst>
                <a:ext uri="{FF2B5EF4-FFF2-40B4-BE49-F238E27FC236}">
                  <a16:creationId xmlns:a16="http://schemas.microsoft.com/office/drawing/2014/main" xmlns="" id="{C017FC9A-BD37-4928-9B23-CD21F6557F97}"/>
                </a:ext>
              </a:extLst>
            </p:cNvPr>
            <p:cNvSpPr/>
            <p:nvPr/>
          </p:nvSpPr>
          <p:spPr>
            <a:xfrm rot="13348782">
              <a:off x="6523660" y="1828935"/>
              <a:ext cx="533400" cy="152400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latin typeface="+mj-lt"/>
              </a:endParaRPr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A59EAED4-0B99-403B-BB3D-E32474EA2FE3}"/>
                </a:ext>
              </a:extLst>
            </p:cNvPr>
            <p:cNvSpPr/>
            <p:nvPr/>
          </p:nvSpPr>
          <p:spPr>
            <a:xfrm>
              <a:off x="6108952" y="1339728"/>
              <a:ext cx="8746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dirty="0">
                  <a:solidFill>
                    <a:srgbClr val="0000CC"/>
                  </a:solidFill>
                </a:rPr>
                <a:t>S-L-C</a:t>
              </a:r>
              <a:endParaRPr lang="zh-CN" altLang="en-US" sz="2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xmlns="" id="{21492333-7241-4FE5-8368-5D55BD5E729F}"/>
                  </a:ext>
                </a:extLst>
              </p:cNvPr>
              <p:cNvSpPr/>
              <p:nvPr/>
            </p:nvSpPr>
            <p:spPr>
              <a:xfrm>
                <a:off x="2372168" y="4582245"/>
                <a:ext cx="2635786" cy="5120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(</a:t>
                </a:r>
                <a:r>
                  <a:rPr lang="en-US" altLang="zh-CN" sz="2000" dirty="0" err="1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Sno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, </a:t>
                </a:r>
                <a:r>
                  <a:rPr lang="en-US" altLang="zh-CN" sz="2000" dirty="0" err="1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Cno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) </a:t>
                </a:r>
                <a:r>
                  <a:rPr lang="zh-CN" altLang="en-US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solidFill>
                              <a:srgbClr val="0000CC"/>
                            </a:solidFill>
                            <a:latin typeface="Cambria Math"/>
                            <a:sym typeface="Calibri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Grade</a:t>
                </a:r>
                <a:endParaRPr lang="zh-CN" altLang="en-US" sz="2000" dirty="0">
                  <a:latin typeface="+mj-lt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21492333-7241-4FE5-8368-5D55BD5E72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168" y="4582245"/>
                <a:ext cx="2635786" cy="512063"/>
              </a:xfrm>
              <a:prstGeom prst="rect">
                <a:avLst/>
              </a:prstGeom>
              <a:blipFill>
                <a:blip r:embed="rId2"/>
                <a:stretch>
                  <a:fillRect l="-2309" r="-1617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xmlns="" id="{12B11123-2A55-4F55-9FBA-FD1435491A14}"/>
                  </a:ext>
                </a:extLst>
              </p:cNvPr>
              <p:cNvSpPr/>
              <p:nvPr/>
            </p:nvSpPr>
            <p:spPr>
              <a:xfrm>
                <a:off x="6395882" y="4628781"/>
                <a:ext cx="3485506" cy="5120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 err="1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Sno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</a:t>
                </a:r>
                <a:r>
                  <a:rPr lang="zh-CN" altLang="en-US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solidFill>
                              <a:srgbClr val="0000CC"/>
                            </a:solidFill>
                            <a:latin typeface="Cambria Math"/>
                            <a:sym typeface="Calibri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</a:t>
                </a:r>
                <a:r>
                  <a:rPr lang="en-US" altLang="zh-CN" sz="2000" dirty="0" err="1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Sdept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,  </a:t>
                </a:r>
                <a:r>
                  <a:rPr lang="en-US" altLang="zh-CN" sz="2000" dirty="0" err="1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Sno</a:t>
                </a:r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altLang="zh-CN" sz="2000" i="1">
                            <a:solidFill>
                              <a:srgbClr val="0000CC"/>
                            </a:solidFill>
                            <a:latin typeface="Cambria Math"/>
                            <a:sym typeface="Calibri" pitchFamily="34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0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Calibri" pitchFamily="34" charset="0"/>
                          </a:rPr>
                          <m:t>𝐹</m:t>
                        </m:r>
                      </m:e>
                    </m:groupChr>
                  </m:oMath>
                </a14:m>
                <a:r>
                  <a:rPr lang="en-US" altLang="zh-CN" sz="2000" dirty="0">
                    <a:solidFill>
                      <a:srgbClr val="0000CC"/>
                    </a:solidFill>
                    <a:latin typeface="+mj-lt"/>
                    <a:ea typeface="微软雅黑" panose="020B0503020204020204" pitchFamily="34" charset="-122"/>
                    <a:sym typeface="Calibri" pitchFamily="34" charset="0"/>
                  </a:rPr>
                  <a:t> Sloc</a:t>
                </a:r>
                <a:endParaRPr lang="zh-CN" altLang="en-US" sz="2000" dirty="0">
                  <a:latin typeface="+mj-lt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2B11123-2A55-4F55-9FBA-FD1435491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82" y="4628781"/>
                <a:ext cx="3485506" cy="512063"/>
              </a:xfrm>
              <a:prstGeom prst="rect">
                <a:avLst/>
              </a:prstGeom>
              <a:blipFill>
                <a:blip r:embed="rId3"/>
                <a:stretch>
                  <a:fillRect l="-1748" b="-190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7" name="文本占位符 432130">
            <a:extLst>
              <a:ext uri="{FF2B5EF4-FFF2-40B4-BE49-F238E27FC236}">
                <a16:creationId xmlns:a16="http://schemas.microsoft.com/office/drawing/2014/main" xmlns="" id="{A2E8CCB5-82E6-4BED-8DE9-3797544C1B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dirty="0"/>
              <a:t>S-L-C(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 ∈1NF</a:t>
            </a:r>
          </a:p>
          <a:p>
            <a:pPr lvl="1"/>
            <a:r>
              <a:rPr lang="en-US" altLang="zh-CN" dirty="0"/>
              <a:t>S-L-C(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 </a:t>
            </a:r>
            <a:r>
              <a:rPr lang="en-US" altLang="zh-CN" dirty="0">
                <a:sym typeface="Symbol" panose="05050102010706020507" pitchFamily="18" charset="2"/>
              </a:rPr>
              <a:t> </a:t>
            </a:r>
            <a:r>
              <a:rPr lang="en-US" altLang="zh-CN" dirty="0"/>
              <a:t>2NF 	</a:t>
            </a:r>
          </a:p>
          <a:p>
            <a:pPr lvl="1"/>
            <a:r>
              <a:rPr lang="en-US" altLang="zh-CN" dirty="0"/>
              <a:t>SC ( </a:t>
            </a:r>
            <a:r>
              <a:rPr lang="en-US" altLang="zh-CN" dirty="0" err="1"/>
              <a:t>Sno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 err="1"/>
              <a:t>Cno</a:t>
            </a:r>
            <a:r>
              <a:rPr lang="en-US" altLang="zh-CN" dirty="0"/>
              <a:t>, Grade )∈ 2NF</a:t>
            </a:r>
          </a:p>
          <a:p>
            <a:pPr lvl="1"/>
            <a:r>
              <a:rPr lang="en-US" altLang="zh-CN" dirty="0"/>
              <a:t>S-L ( 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 )∈ 2NF</a:t>
            </a:r>
          </a:p>
          <a:p>
            <a:pPr marL="342900" lvl="1" indent="0">
              <a:buNone/>
            </a:pPr>
            <a:endParaRPr lang="en-US" altLang="zh-CN" dirty="0"/>
          </a:p>
          <a:p>
            <a:r>
              <a:rPr lang="zh-CN" altLang="en-US" dirty="0"/>
              <a:t>采用投影分解法将一个</a:t>
            </a:r>
            <a:r>
              <a:rPr lang="en-US" altLang="zh-CN" dirty="0"/>
              <a:t>1NF</a:t>
            </a:r>
            <a:r>
              <a:rPr lang="zh-CN" altLang="en-US" dirty="0"/>
              <a:t>的关系分解为多个</a:t>
            </a:r>
            <a:r>
              <a:rPr lang="en-US" altLang="zh-CN" dirty="0"/>
              <a:t>2NF</a:t>
            </a:r>
            <a:r>
              <a:rPr lang="zh-CN" altLang="en-US" dirty="0"/>
              <a:t>的关系，可以在</a:t>
            </a:r>
            <a:r>
              <a:rPr lang="zh-CN" altLang="en-US" dirty="0">
                <a:solidFill>
                  <a:srgbClr val="C00000"/>
                </a:solidFill>
              </a:rPr>
              <a:t>一定程度上</a:t>
            </a:r>
            <a:r>
              <a:rPr lang="zh-CN" altLang="en-US" dirty="0"/>
              <a:t>减轻原</a:t>
            </a:r>
            <a:r>
              <a:rPr lang="en-US" altLang="zh-CN" dirty="0"/>
              <a:t>1NF</a:t>
            </a:r>
            <a:r>
              <a:rPr lang="zh-CN" altLang="en-US" dirty="0"/>
              <a:t>关系中存在的插入异常、删除异常、数据冗余度大、修改复杂等问题。</a:t>
            </a:r>
          </a:p>
          <a:p>
            <a:r>
              <a:rPr lang="zh-CN" altLang="en-US" dirty="0"/>
              <a:t>将一个</a:t>
            </a:r>
            <a:r>
              <a:rPr lang="en-US" altLang="zh-CN" dirty="0"/>
              <a:t>1NF</a:t>
            </a:r>
            <a:r>
              <a:rPr lang="zh-CN" altLang="en-US" dirty="0"/>
              <a:t>关系分解为多个</a:t>
            </a:r>
            <a:r>
              <a:rPr lang="en-US" altLang="zh-CN" dirty="0"/>
              <a:t>2NF</a:t>
            </a:r>
            <a:r>
              <a:rPr lang="zh-CN" altLang="en-US" dirty="0"/>
              <a:t>的关系，并</a:t>
            </a:r>
            <a:r>
              <a:rPr lang="zh-CN" altLang="en-US" dirty="0">
                <a:solidFill>
                  <a:srgbClr val="C00000"/>
                </a:solidFill>
              </a:rPr>
              <a:t>不能完全消除</a:t>
            </a:r>
            <a:r>
              <a:rPr lang="zh-CN" altLang="en-US" dirty="0"/>
              <a:t>关系模式中的各种异常情况和数据冗余。</a:t>
            </a:r>
          </a:p>
          <a:p>
            <a:pPr marL="342900" lvl="1" indent="0">
              <a:buNone/>
            </a:pPr>
            <a:endParaRPr lang="en-US" altLang="zh-CN" dirty="0"/>
          </a:p>
          <a:p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7F329E3-1DB6-4E13-BEBA-4346C8A84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7" name="标题 424961">
            <a:extLst>
              <a:ext uri="{FF2B5EF4-FFF2-40B4-BE49-F238E27FC236}">
                <a16:creationId xmlns:a16="http://schemas.microsoft.com/office/drawing/2014/main" xmlns="" id="{F75432AC-ED34-4B93-A65C-FBDFC4DE5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/>
              <a:t>2NF</a:t>
            </a:r>
            <a:r>
              <a:rPr lang="zh-CN" altLang="en-US"/>
              <a:t>（续）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0156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434177">
            <a:extLst>
              <a:ext uri="{FF2B5EF4-FFF2-40B4-BE49-F238E27FC236}">
                <a16:creationId xmlns:a16="http://schemas.microsoft.com/office/drawing/2014/main" xmlns="" id="{34E2D214-A9EF-4058-878D-3716B1A563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6.2.5  3NF</a:t>
            </a:r>
          </a:p>
        </p:txBody>
      </p:sp>
      <p:sp>
        <p:nvSpPr>
          <p:cNvPr id="60419" name="文本占位符 434178">
            <a:extLst>
              <a:ext uri="{FF2B5EF4-FFF2-40B4-BE49-F238E27FC236}">
                <a16:creationId xmlns:a16="http://schemas.microsoft.com/office/drawing/2014/main" xmlns="" id="{AA38EA76-70D8-4975-BB87-162983153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6.7  </a:t>
            </a:r>
            <a:r>
              <a:rPr lang="zh-CN" altLang="en-US" dirty="0"/>
              <a:t>关系模式</a:t>
            </a:r>
            <a:r>
              <a:rPr lang="en-US" altLang="zh-CN" dirty="0"/>
              <a:t>R&lt;U, F&gt;</a:t>
            </a:r>
            <a:r>
              <a:rPr lang="zh-CN" altLang="en-US" dirty="0"/>
              <a:t>中若不存在这样的码</a:t>
            </a:r>
            <a:r>
              <a:rPr lang="en-US" altLang="zh-CN" dirty="0"/>
              <a:t>X</a:t>
            </a:r>
            <a:r>
              <a:rPr lang="zh-CN" altLang="en-US" dirty="0"/>
              <a:t>、属性组</a:t>
            </a:r>
            <a:r>
              <a:rPr lang="en-US" altLang="zh-CN" dirty="0"/>
              <a:t>Y</a:t>
            </a:r>
            <a:r>
              <a:rPr lang="zh-CN" altLang="en-US" dirty="0"/>
              <a:t>及非主属性</a:t>
            </a:r>
            <a:r>
              <a:rPr lang="en-US" altLang="zh-CN" dirty="0"/>
              <a:t>Z</a:t>
            </a:r>
            <a:r>
              <a:rPr lang="zh-CN" altLang="en-US" dirty="0"/>
              <a:t>（</a:t>
            </a:r>
            <a:r>
              <a:rPr lang="en-US" altLang="zh-CN" dirty="0"/>
              <a:t>Z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sym typeface="宋体" pitchFamily="2" charset="-122"/>
              </a:rPr>
              <a:t>⊉</a:t>
            </a:r>
            <a:r>
              <a:rPr lang="en-US" altLang="zh-CN" dirty="0"/>
              <a:t>Y</a:t>
            </a:r>
            <a:r>
              <a:rPr lang="zh-CN" altLang="en-US" dirty="0"/>
              <a:t>）</a:t>
            </a:r>
            <a:r>
              <a:rPr lang="en-US" altLang="zh-CN" dirty="0"/>
              <a:t>, </a:t>
            </a:r>
            <a:r>
              <a:rPr lang="zh-CN" altLang="en-US" dirty="0"/>
              <a:t>使得</a:t>
            </a:r>
            <a:r>
              <a:rPr lang="en-US" altLang="zh-CN" dirty="0"/>
              <a:t>X→Y</a:t>
            </a:r>
            <a:r>
              <a:rPr lang="zh-CN" altLang="en-US" dirty="0"/>
              <a:t>，</a:t>
            </a:r>
            <a:r>
              <a:rPr lang="en-US" altLang="zh-CN" dirty="0"/>
              <a:t>Y→Z</a:t>
            </a:r>
            <a:r>
              <a:rPr lang="zh-CN" altLang="en-US" dirty="0"/>
              <a:t>成立，</a:t>
            </a:r>
            <a:r>
              <a:rPr lang="en-US" altLang="zh-CN" dirty="0"/>
              <a:t>Y ↛X</a:t>
            </a:r>
            <a:r>
              <a:rPr lang="zh-CN" altLang="en-US" dirty="0"/>
              <a:t>，则称</a:t>
            </a:r>
            <a:r>
              <a:rPr lang="en-US" altLang="zh-CN" dirty="0">
                <a:solidFill>
                  <a:srgbClr val="C00000"/>
                </a:solidFill>
              </a:rPr>
              <a:t>R∈ 3NF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也即：如果关系模式</a:t>
            </a:r>
            <a:r>
              <a:rPr lang="en-US" altLang="zh-CN" dirty="0"/>
              <a:t>R</a:t>
            </a:r>
            <a:r>
              <a:rPr lang="zh-CN" altLang="en-US" dirty="0"/>
              <a:t>是</a:t>
            </a:r>
            <a:r>
              <a:rPr lang="en-US" altLang="zh-CN" dirty="0"/>
              <a:t>1NF</a:t>
            </a:r>
            <a:r>
              <a:rPr lang="zh-CN" altLang="en-US" dirty="0"/>
              <a:t>，且每个非主属性都</a:t>
            </a:r>
            <a:r>
              <a:rPr lang="zh-CN" altLang="en-US" dirty="0">
                <a:solidFill>
                  <a:srgbClr val="0000FF"/>
                </a:solidFill>
              </a:rPr>
              <a:t>不传递依赖于码</a:t>
            </a:r>
            <a:r>
              <a:rPr lang="zh-CN" altLang="en-US" dirty="0"/>
              <a:t>，那么称</a:t>
            </a:r>
            <a:r>
              <a:rPr lang="en-US" altLang="zh-CN" dirty="0"/>
              <a:t>R∈3NF</a:t>
            </a:r>
            <a:r>
              <a:rPr lang="zh-CN" altLang="en-US" dirty="0"/>
              <a:t>。如果数据库模式中每个关系模式都是</a:t>
            </a:r>
            <a:r>
              <a:rPr lang="en-US" altLang="zh-CN" dirty="0"/>
              <a:t>3NF</a:t>
            </a:r>
            <a:r>
              <a:rPr lang="zh-CN" altLang="en-US" dirty="0"/>
              <a:t>，则称其为</a:t>
            </a:r>
            <a:r>
              <a:rPr lang="en-US" altLang="zh-CN" dirty="0"/>
              <a:t>3NF</a:t>
            </a:r>
            <a:r>
              <a:rPr lang="zh-CN" altLang="en-US" dirty="0"/>
              <a:t>的数据库模式。</a:t>
            </a:r>
            <a:endParaRPr lang="en-US" altLang="zh-CN" dirty="0"/>
          </a:p>
          <a:p>
            <a:pPr lvl="1"/>
            <a:r>
              <a:rPr lang="zh-CN" altLang="en-US" dirty="0"/>
              <a:t>可以证明，如果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en-US" altLang="zh-CN" dirty="0">
                <a:solidFill>
                  <a:srgbClr val="0000FF"/>
                </a:solidFill>
                <a:sym typeface="宋体" pitchFamily="2" charset="-122"/>
              </a:rPr>
              <a:t>∈3NF</a:t>
            </a:r>
            <a:r>
              <a:rPr lang="zh-CN" altLang="en-US" dirty="0">
                <a:solidFill>
                  <a:srgbClr val="0000FF"/>
                </a:solidFill>
                <a:sym typeface="宋体" pitchFamily="2" charset="-122"/>
              </a:rPr>
              <a:t>，</a:t>
            </a:r>
            <a:r>
              <a:rPr lang="zh-CN" altLang="en-US" dirty="0">
                <a:sym typeface="宋体" pitchFamily="2" charset="-122"/>
              </a:rPr>
              <a:t>则</a:t>
            </a:r>
            <a:r>
              <a:rPr lang="en-US" altLang="zh-CN" dirty="0">
                <a:solidFill>
                  <a:srgbClr val="0000FF"/>
                </a:solidFill>
                <a:sym typeface="宋体" pitchFamily="2" charset="-122"/>
              </a:rPr>
              <a:t>R∈2NF</a:t>
            </a:r>
            <a:r>
              <a:rPr lang="zh-CN" altLang="en-US" dirty="0">
                <a:solidFill>
                  <a:srgbClr val="0000FF"/>
                </a:solidFill>
                <a:sym typeface="宋体" pitchFamily="2" charset="-122"/>
              </a:rPr>
              <a:t>。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D48F2269-FF20-479D-9354-AF53BA8A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35201">
            <a:extLst>
              <a:ext uri="{FF2B5EF4-FFF2-40B4-BE49-F238E27FC236}">
                <a16:creationId xmlns:a16="http://schemas.microsoft.com/office/drawing/2014/main" xmlns="" id="{36B2044F-D491-4183-9430-46298920AE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3NF</a:t>
            </a:r>
            <a:r>
              <a:rPr lang="zh-CN" altLang="en-US" dirty="0"/>
              <a:t>（续）</a:t>
            </a:r>
          </a:p>
        </p:txBody>
      </p:sp>
      <p:sp>
        <p:nvSpPr>
          <p:cNvPr id="60419" name="文本占位符 434178">
            <a:extLst>
              <a:ext uri="{FF2B5EF4-FFF2-40B4-BE49-F238E27FC236}">
                <a16:creationId xmlns:a16="http://schemas.microsoft.com/office/drawing/2014/main" xmlns="" id="{AA38EA76-70D8-4975-BB87-1629831531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思考题：请指出关系模式</a:t>
            </a:r>
            <a:r>
              <a:rPr lang="en-US" altLang="zh-CN" dirty="0"/>
              <a:t>SC(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, Grade)</a:t>
            </a:r>
            <a:r>
              <a:rPr lang="zh-CN" altLang="en-US" dirty="0"/>
              <a:t>和</a:t>
            </a:r>
            <a:r>
              <a:rPr lang="en-US" altLang="zh-CN" dirty="0"/>
              <a:t>S-L(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)</a:t>
            </a:r>
            <a:r>
              <a:rPr lang="zh-CN" altLang="en-US" dirty="0"/>
              <a:t>是否属于</a:t>
            </a:r>
            <a:r>
              <a:rPr lang="en-US" altLang="zh-CN" dirty="0"/>
              <a:t>3NF?</a:t>
            </a:r>
            <a:r>
              <a:rPr lang="zh-CN" altLang="en-US" dirty="0"/>
              <a:t>根据是什么？如果不是</a:t>
            </a:r>
            <a:r>
              <a:rPr lang="en-US" altLang="zh-CN" dirty="0"/>
              <a:t>3NF</a:t>
            </a:r>
            <a:r>
              <a:rPr lang="zh-CN" altLang="en-US" dirty="0"/>
              <a:t>，请将其分解到</a:t>
            </a:r>
            <a:r>
              <a:rPr lang="en-US" altLang="zh-CN" dirty="0"/>
              <a:t>3NF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解答：</a:t>
            </a:r>
            <a:endParaRPr lang="en-US" altLang="zh-CN" dirty="0"/>
          </a:p>
          <a:p>
            <a:pPr lvl="1"/>
            <a:r>
              <a:rPr lang="en-US" altLang="zh-CN" dirty="0"/>
              <a:t>SC</a:t>
            </a:r>
            <a:r>
              <a:rPr lang="zh-CN" altLang="en-US" dirty="0"/>
              <a:t>没有传递依赖，因此</a:t>
            </a:r>
            <a:r>
              <a:rPr lang="en-US" altLang="zh-CN" dirty="0"/>
              <a:t>SC∈3NF</a:t>
            </a:r>
          </a:p>
          <a:p>
            <a:pPr lvl="1"/>
            <a:r>
              <a:rPr lang="en-US" altLang="zh-CN" dirty="0"/>
              <a:t>S-L</a:t>
            </a:r>
            <a:r>
              <a:rPr lang="zh-CN" altLang="en-US" dirty="0"/>
              <a:t>中：</a:t>
            </a:r>
            <a:r>
              <a:rPr lang="en-US" altLang="zh-CN" dirty="0" err="1"/>
              <a:t>Sno</a:t>
            </a:r>
            <a:r>
              <a:rPr lang="en-US" altLang="zh-CN" dirty="0"/>
              <a:t> →</a:t>
            </a:r>
            <a:r>
              <a:rPr lang="en-US" altLang="zh-CN" dirty="0" err="1"/>
              <a:t>Sdept</a:t>
            </a:r>
            <a:r>
              <a:rPr lang="en-US" altLang="zh-CN" dirty="0"/>
              <a:t>( </a:t>
            </a:r>
            <a:r>
              <a:rPr lang="en-US" altLang="zh-CN" dirty="0" err="1"/>
              <a:t>Sdept</a:t>
            </a:r>
            <a:r>
              <a:rPr lang="en-US" altLang="zh-CN" dirty="0"/>
              <a:t> ↛ </a:t>
            </a:r>
            <a:r>
              <a:rPr lang="en-US" altLang="zh-CN" dirty="0" err="1"/>
              <a:t>Sno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S-L∈ 2NF</a:t>
            </a:r>
            <a:r>
              <a:rPr lang="zh-CN" altLang="en-US" dirty="0"/>
              <a:t>，</a:t>
            </a:r>
            <a:r>
              <a:rPr lang="en-US" altLang="zh-CN" dirty="0"/>
              <a:t>S-L ∉ 3NF</a:t>
            </a:r>
          </a:p>
          <a:p>
            <a:pPr lvl="1"/>
            <a:r>
              <a:rPr lang="zh-CN" altLang="en-US" dirty="0"/>
              <a:t>解决办法：</a:t>
            </a:r>
            <a:endParaRPr lang="en-US" altLang="zh-CN" dirty="0"/>
          </a:p>
          <a:p>
            <a:pPr lvl="2"/>
            <a:r>
              <a:rPr lang="zh-CN" altLang="en-US" dirty="0"/>
              <a:t>采用投影分解法，</a:t>
            </a:r>
            <a:r>
              <a:rPr lang="zh-CN" altLang="en-US" dirty="0">
                <a:solidFill>
                  <a:srgbClr val="0000FF"/>
                </a:solidFill>
              </a:rPr>
              <a:t>把</a:t>
            </a:r>
            <a:r>
              <a:rPr lang="en-US" altLang="zh-CN" dirty="0">
                <a:solidFill>
                  <a:srgbClr val="0000FF"/>
                </a:solidFill>
              </a:rPr>
              <a:t>S-L</a:t>
            </a:r>
            <a:r>
              <a:rPr lang="zh-CN" altLang="en-US" dirty="0">
                <a:solidFill>
                  <a:srgbClr val="0000FF"/>
                </a:solidFill>
              </a:rPr>
              <a:t>分解为两个关系模式</a:t>
            </a:r>
            <a:r>
              <a:rPr lang="zh-CN" altLang="en-US" dirty="0"/>
              <a:t>，以消除传递函数依赖：</a:t>
            </a:r>
          </a:p>
          <a:p>
            <a:pPr marL="800100" lvl="2" indent="0">
              <a:buNone/>
            </a:pPr>
            <a:r>
              <a:rPr lang="en-US" altLang="zh-CN" dirty="0"/>
              <a:t>    S-D(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)∈ 3NF</a:t>
            </a:r>
            <a:r>
              <a:rPr lang="zh-CN" altLang="en-US" dirty="0"/>
              <a:t>，码为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marL="800100" lvl="2" indent="0">
              <a:buNone/>
            </a:pPr>
            <a:r>
              <a:rPr lang="en-US" altLang="zh-CN" dirty="0"/>
              <a:t>    D-L(</a:t>
            </a:r>
            <a:r>
              <a:rPr lang="en-US" altLang="zh-CN" dirty="0" err="1"/>
              <a:t>Sdept</a:t>
            </a:r>
            <a:r>
              <a:rPr lang="en-US" altLang="zh-CN" dirty="0"/>
              <a:t>, </a:t>
            </a:r>
            <a:r>
              <a:rPr lang="en-US" altLang="zh-CN" dirty="0" err="1"/>
              <a:t>Sloc</a:t>
            </a:r>
            <a:r>
              <a:rPr lang="en-US" altLang="zh-CN" dirty="0"/>
              <a:t>)∈ 3NF</a:t>
            </a:r>
            <a:r>
              <a:rPr lang="zh-CN" altLang="en-US" dirty="0"/>
              <a:t>，码为</a:t>
            </a:r>
            <a:r>
              <a:rPr lang="en-US" altLang="zh-CN" dirty="0" err="1"/>
              <a:t>Sdept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962CC1F6-1B20-435E-9CA3-02F34871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xmlns="" id="{EFF6ED86-0E46-48A9-95D8-B1D69C090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3602" y="3636396"/>
            <a:ext cx="44114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1000" b="1" dirty="0">
                <a:latin typeface="Times New Roman" panose="02020603050405020304" pitchFamily="18" charset="0"/>
              </a:rPr>
              <a:t>传递</a:t>
            </a:r>
            <a:endParaRPr lang="en-US" altLang="zh-CN" sz="10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80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439297">
            <a:extLst>
              <a:ext uri="{FF2B5EF4-FFF2-40B4-BE49-F238E27FC236}">
                <a16:creationId xmlns:a16="http://schemas.microsoft.com/office/drawing/2014/main" xmlns="" id="{2FE11171-AEDD-4E99-B7DA-AC041A564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3NF</a:t>
            </a:r>
            <a:r>
              <a:rPr lang="zh-CN" altLang="en-US" dirty="0"/>
              <a:t>（续）</a:t>
            </a:r>
          </a:p>
        </p:txBody>
      </p:sp>
      <p:sp>
        <p:nvSpPr>
          <p:cNvPr id="65539" name="文本占位符 439298">
            <a:extLst>
              <a:ext uri="{FF2B5EF4-FFF2-40B4-BE49-F238E27FC236}">
                <a16:creationId xmlns:a16="http://schemas.microsoft.com/office/drawing/2014/main" xmlns="" id="{5C15268C-65D8-4DF5-BEE2-212A3C0CED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若</a:t>
            </a:r>
            <a:r>
              <a:rPr lang="en-US" altLang="zh-CN" dirty="0"/>
              <a:t>R∈3NF</a:t>
            </a:r>
            <a:r>
              <a:rPr lang="zh-CN" altLang="en-US" dirty="0"/>
              <a:t>，则</a:t>
            </a:r>
            <a:r>
              <a:rPr lang="en-US" altLang="zh-CN" dirty="0"/>
              <a:t>R</a:t>
            </a:r>
            <a:r>
              <a:rPr lang="zh-CN" altLang="en-US" dirty="0"/>
              <a:t>的每一个</a:t>
            </a:r>
            <a:r>
              <a:rPr lang="zh-CN" altLang="en-US" dirty="0">
                <a:solidFill>
                  <a:srgbClr val="0000FF"/>
                </a:solidFill>
              </a:rPr>
              <a:t>非主属性</a:t>
            </a:r>
            <a:r>
              <a:rPr lang="zh-CN" altLang="en-US" dirty="0"/>
              <a:t>既不部分函数依赖于码也不传递函数依赖于码。</a:t>
            </a:r>
          </a:p>
          <a:p>
            <a:endParaRPr lang="zh-CN" altLang="en-US" dirty="0"/>
          </a:p>
          <a:p>
            <a:r>
              <a:rPr lang="zh-CN" altLang="en-US" dirty="0"/>
              <a:t>采用</a:t>
            </a:r>
            <a:r>
              <a:rPr lang="zh-CN" altLang="en-US" dirty="0">
                <a:solidFill>
                  <a:srgbClr val="0000FF"/>
                </a:solidFill>
              </a:rPr>
              <a:t>投影分解法</a:t>
            </a:r>
            <a:r>
              <a:rPr lang="zh-CN" altLang="en-US" dirty="0"/>
              <a:t>将一个</a:t>
            </a:r>
            <a:r>
              <a:rPr lang="en-US" altLang="zh-CN" dirty="0"/>
              <a:t>2NF</a:t>
            </a:r>
            <a:r>
              <a:rPr lang="zh-CN" altLang="en-US" dirty="0"/>
              <a:t>的关系分解为多个</a:t>
            </a:r>
            <a:r>
              <a:rPr lang="en-US" altLang="zh-CN" dirty="0"/>
              <a:t>3NF</a:t>
            </a:r>
            <a:r>
              <a:rPr lang="zh-CN" altLang="en-US" dirty="0"/>
              <a:t>的关系，可以在一定程度上解决原</a:t>
            </a:r>
            <a:r>
              <a:rPr lang="en-US" altLang="zh-CN" dirty="0"/>
              <a:t>2NF</a:t>
            </a:r>
            <a:r>
              <a:rPr lang="zh-CN" altLang="en-US" dirty="0"/>
              <a:t>关系中存在的插入异常、删除异常、数据冗余度大、修改复杂等问题。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将一个</a:t>
            </a:r>
            <a:r>
              <a:rPr lang="en-US" altLang="zh-CN" dirty="0"/>
              <a:t>2NF</a:t>
            </a:r>
            <a:r>
              <a:rPr lang="zh-CN" altLang="en-US" dirty="0"/>
              <a:t>关系分解为多个</a:t>
            </a:r>
            <a:r>
              <a:rPr lang="en-US" altLang="zh-CN" dirty="0"/>
              <a:t>3NF</a:t>
            </a:r>
            <a:r>
              <a:rPr lang="zh-CN" altLang="en-US" dirty="0"/>
              <a:t>的关系后，仍然</a:t>
            </a:r>
            <a:r>
              <a:rPr lang="zh-CN" altLang="en-US" dirty="0">
                <a:solidFill>
                  <a:srgbClr val="0000FF"/>
                </a:solidFill>
              </a:rPr>
              <a:t>不能完全消除</a:t>
            </a:r>
            <a:r>
              <a:rPr lang="zh-CN" altLang="en-US" dirty="0"/>
              <a:t>关系模式中的各种异常情况和数据冗余（原因在于可能存在</a:t>
            </a:r>
            <a:r>
              <a:rPr lang="zh-CN" altLang="en-US" dirty="0">
                <a:solidFill>
                  <a:srgbClr val="0000FF"/>
                </a:solidFill>
              </a:rPr>
              <a:t>主属性对码的部分依赖和传递依赖</a:t>
            </a:r>
            <a:r>
              <a:rPr lang="zh-CN" altLang="en-US" dirty="0"/>
              <a:t>）。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D5BF09CB-A074-4F64-986C-411274AD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440321">
            <a:extLst>
              <a:ext uri="{FF2B5EF4-FFF2-40B4-BE49-F238E27FC236}">
                <a16:creationId xmlns:a16="http://schemas.microsoft.com/office/drawing/2014/main" xmlns="" id="{8B75328A-E125-4573-957C-CCDA3EA377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6.2.6  BC</a:t>
            </a:r>
            <a:r>
              <a:rPr lang="zh-CN" altLang="en-US"/>
              <a:t>范式（</a:t>
            </a:r>
            <a:r>
              <a:rPr lang="en-US" altLang="zh-CN"/>
              <a:t>BCNF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7587" name="文本占位符 440322">
            <a:extLst>
              <a:ext uri="{FF2B5EF4-FFF2-40B4-BE49-F238E27FC236}">
                <a16:creationId xmlns:a16="http://schemas.microsoft.com/office/drawing/2014/main" xmlns="" id="{0C8E62E4-79F5-4F7A-83D2-F55A871829C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400591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BCNF(Boyce Codd Normal Form)</a:t>
            </a:r>
          </a:p>
          <a:p>
            <a:pPr lvl="1"/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dirty="0">
                <a:sym typeface="Calibri" pitchFamily="34" charset="0"/>
              </a:rPr>
              <a:t>Boyce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dirty="0">
                <a:sym typeface="Calibri" pitchFamily="34" charset="0"/>
              </a:rPr>
              <a:t>Codd</a:t>
            </a:r>
            <a:r>
              <a:rPr lang="zh-CN" altLang="en-US" dirty="0">
                <a:sym typeface="Calibri" pitchFamily="34" charset="0"/>
              </a:rPr>
              <a:t>提出，比</a:t>
            </a:r>
            <a:r>
              <a:rPr lang="en-US" altLang="zh-CN" dirty="0">
                <a:sym typeface="Calibri" pitchFamily="34" charset="0"/>
              </a:rPr>
              <a:t>3NF</a:t>
            </a:r>
            <a:r>
              <a:rPr lang="zh-CN" altLang="en-US" dirty="0">
                <a:sym typeface="Calibri" pitchFamily="34" charset="0"/>
              </a:rPr>
              <a:t>更进了一步。通常认为</a:t>
            </a:r>
            <a:r>
              <a:rPr lang="en-US" altLang="zh-CN" dirty="0">
                <a:sym typeface="Calibri" pitchFamily="34" charset="0"/>
              </a:rPr>
              <a:t>BCNF</a:t>
            </a:r>
            <a:r>
              <a:rPr lang="zh-CN" altLang="en-US" dirty="0">
                <a:sym typeface="Calibri" pitchFamily="34" charset="0"/>
              </a:rPr>
              <a:t>是修正的第三范式，有时也称为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扩充的第三范式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6.8   </a:t>
            </a:r>
            <a:r>
              <a:rPr lang="zh-CN" altLang="en-US" dirty="0"/>
              <a:t>关系模式</a:t>
            </a:r>
            <a:r>
              <a:rPr lang="en-US" altLang="zh-CN" dirty="0"/>
              <a:t>R&lt;U, F&gt;∈1NF</a:t>
            </a:r>
            <a:r>
              <a:rPr lang="zh-CN" altLang="en-US" dirty="0"/>
              <a:t>，若</a:t>
            </a:r>
            <a:r>
              <a:rPr lang="en-US" altLang="zh-CN" dirty="0"/>
              <a:t>X→Y</a:t>
            </a:r>
            <a:r>
              <a:rPr lang="zh-CN" altLang="en-US" dirty="0"/>
              <a:t>且</a:t>
            </a:r>
            <a:r>
              <a:rPr lang="en-US" altLang="zh-CN" dirty="0"/>
              <a:t>Y ⊈ X</a:t>
            </a:r>
            <a:r>
              <a:rPr lang="zh-CN" altLang="en-US" dirty="0"/>
              <a:t>时</a:t>
            </a:r>
            <a:r>
              <a:rPr lang="en-US" altLang="zh-CN" dirty="0"/>
              <a:t>X</a:t>
            </a:r>
            <a:r>
              <a:rPr lang="zh-CN" altLang="en-US" dirty="0"/>
              <a:t>必含有码，则</a:t>
            </a:r>
            <a:r>
              <a:rPr lang="en-US" altLang="zh-CN" dirty="0"/>
              <a:t>R∈BCNF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等价于：在关系模式</a:t>
            </a:r>
            <a:r>
              <a:rPr lang="en-US" altLang="zh-CN" dirty="0"/>
              <a:t>R&lt;U, F&gt;</a:t>
            </a:r>
            <a:r>
              <a:rPr lang="zh-CN" altLang="en-US" dirty="0"/>
              <a:t>中，如果</a:t>
            </a:r>
            <a:r>
              <a:rPr lang="zh-CN" altLang="en-US" dirty="0">
                <a:solidFill>
                  <a:srgbClr val="C00000"/>
                </a:solidFill>
              </a:rPr>
              <a:t>每一个决定属性集都包含候选码</a:t>
            </a:r>
            <a:r>
              <a:rPr lang="zh-CN" altLang="en-US" dirty="0"/>
              <a:t>，则</a:t>
            </a:r>
            <a:r>
              <a:rPr lang="en-US" altLang="zh-CN" dirty="0"/>
              <a:t>R∈BCNF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en-US" altLang="zh-CN" dirty="0">
                <a:sym typeface="Calibri" pitchFamily="34" charset="0"/>
              </a:rPr>
              <a:t>BCNF</a:t>
            </a:r>
            <a:r>
              <a:rPr lang="zh-CN" altLang="en-US" dirty="0">
                <a:sym typeface="Calibri" pitchFamily="34" charset="0"/>
              </a:rPr>
              <a:t>关系模式的性质：</a:t>
            </a:r>
          </a:p>
          <a:p>
            <a:pPr lvl="2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所有非主属性都完全函数依赖于每个候选码；</a:t>
            </a:r>
          </a:p>
          <a:p>
            <a:pPr lvl="2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所有主属性都完全函数依赖于每个不包含它的候选码；</a:t>
            </a:r>
          </a:p>
          <a:p>
            <a:pPr lvl="2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没有任何属性完全函数依赖于非码的任何一组属性。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1F9C7E3-A179-454E-892D-D8F8DDA9F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445441">
            <a:extLst>
              <a:ext uri="{FF2B5EF4-FFF2-40B4-BE49-F238E27FC236}">
                <a16:creationId xmlns:a16="http://schemas.microsoft.com/office/drawing/2014/main" xmlns="" id="{B59D6AFE-AD84-4BCE-AB34-164BF4128C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BCNF</a:t>
            </a:r>
            <a:r>
              <a:rPr lang="zh-CN" altLang="en-US"/>
              <a:t>与</a:t>
            </a:r>
            <a:r>
              <a:rPr lang="en-US" altLang="zh-CN"/>
              <a:t>3NF</a:t>
            </a:r>
            <a:r>
              <a:rPr lang="zh-CN" altLang="en-US"/>
              <a:t>的关系</a:t>
            </a:r>
            <a:endParaRPr lang="zh-CN" altLang="en-US" dirty="0"/>
          </a:p>
        </p:txBody>
      </p:sp>
      <p:sp>
        <p:nvSpPr>
          <p:cNvPr id="75779" name="文本占位符 445442">
            <a:extLst>
              <a:ext uri="{FF2B5EF4-FFF2-40B4-BE49-F238E27FC236}">
                <a16:creationId xmlns:a16="http://schemas.microsoft.com/office/drawing/2014/main" xmlns="" id="{2AEB0EBC-0557-469D-915B-C03AA3354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BCNF</a:t>
            </a:r>
            <a:r>
              <a:rPr lang="zh-CN" altLang="en-US" dirty="0"/>
              <a:t>与</a:t>
            </a:r>
            <a:r>
              <a:rPr lang="en-US" altLang="zh-CN" dirty="0"/>
              <a:t>3NF</a:t>
            </a:r>
            <a:r>
              <a:rPr lang="zh-CN" altLang="en-US" dirty="0"/>
              <a:t>之间的关系：</a:t>
            </a:r>
            <a:endParaRPr lang="en-US" altLang="zh-CN" dirty="0"/>
          </a:p>
          <a:p>
            <a:pPr lvl="1"/>
            <a:r>
              <a:rPr lang="en-US" altLang="zh-CN" dirty="0"/>
              <a:t>R∈BCNF ⇒ R∈3NF(</a:t>
            </a:r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章习题</a:t>
            </a:r>
            <a:r>
              <a:rPr lang="en-US" altLang="zh-CN" dirty="0"/>
              <a:t>8) </a:t>
            </a:r>
          </a:p>
          <a:p>
            <a:pPr lvl="1"/>
            <a:r>
              <a:rPr lang="en-US" altLang="zh-CN" dirty="0"/>
              <a:t>R∈BCNF ⇍ R∈3NF</a:t>
            </a:r>
          </a:p>
          <a:p>
            <a:r>
              <a:rPr lang="zh-CN" altLang="en-US" dirty="0"/>
              <a:t>如果</a:t>
            </a:r>
            <a:r>
              <a:rPr lang="en-US" altLang="zh-CN" dirty="0"/>
              <a:t>R∈3NF</a:t>
            </a:r>
            <a:r>
              <a:rPr lang="zh-CN" altLang="en-US" dirty="0"/>
              <a:t>，且</a:t>
            </a:r>
            <a:r>
              <a:rPr lang="en-US" altLang="zh-CN" dirty="0"/>
              <a:t>R</a:t>
            </a:r>
            <a:r>
              <a:rPr lang="zh-CN" altLang="en-US" dirty="0"/>
              <a:t>只有一个候选码，则：</a:t>
            </a:r>
          </a:p>
          <a:p>
            <a:pPr lvl="1"/>
            <a:r>
              <a:rPr lang="en-US" altLang="zh-CN" dirty="0"/>
              <a:t>R∈BCNF </a:t>
            </a:r>
            <a:r>
              <a:rPr lang="en-US" altLang="zh-CN" dirty="0">
                <a:sym typeface="Symbol" panose="05050102010706020507" pitchFamily="18" charset="2"/>
              </a:rPr>
              <a:t> </a:t>
            </a:r>
            <a:r>
              <a:rPr lang="en-US" altLang="zh-CN" dirty="0"/>
              <a:t>R∈3NF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F07D4F2-BCB4-4B3A-9D66-C540AD6B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084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547841">
            <a:extLst>
              <a:ext uri="{FF2B5EF4-FFF2-40B4-BE49-F238E27FC236}">
                <a16:creationId xmlns:a16="http://schemas.microsoft.com/office/drawing/2014/main" xmlns="" id="{753B0EF7-0766-40D7-B5F4-CC4B2EC3E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BCNF</a:t>
            </a:r>
            <a:r>
              <a:rPr lang="zh-CN" altLang="en-US"/>
              <a:t>（续）</a:t>
            </a:r>
          </a:p>
        </p:txBody>
      </p:sp>
      <p:sp>
        <p:nvSpPr>
          <p:cNvPr id="69635" name="文本占位符 547842">
            <a:extLst>
              <a:ext uri="{FF2B5EF4-FFF2-40B4-BE49-F238E27FC236}">
                <a16:creationId xmlns:a16="http://schemas.microsoft.com/office/drawing/2014/main" xmlns="" id="{00FD1EEE-D14F-47E2-B1AB-F1BE81A00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zh-CN" altLang="en-US" dirty="0"/>
              <a:t>如果</a:t>
            </a:r>
            <a:r>
              <a:rPr lang="en-US" altLang="zh-CN" dirty="0"/>
              <a:t>R∈3NF</a:t>
            </a:r>
            <a:r>
              <a:rPr lang="zh-CN" altLang="en-US" dirty="0"/>
              <a:t>并且</a:t>
            </a:r>
            <a:r>
              <a:rPr lang="zh-CN" altLang="en-US" dirty="0">
                <a:solidFill>
                  <a:srgbClr val="C00000"/>
                </a:solidFill>
              </a:rPr>
              <a:t>只有一个候选码</a:t>
            </a:r>
            <a:r>
              <a:rPr lang="zh-CN" altLang="en-US" dirty="0"/>
              <a:t>，则</a:t>
            </a:r>
            <a:r>
              <a:rPr lang="en-US" altLang="zh-CN" dirty="0"/>
              <a:t>R</a:t>
            </a:r>
            <a:r>
              <a:rPr lang="zh-CN" altLang="en-US" dirty="0"/>
              <a:t>必属于</a:t>
            </a:r>
            <a:r>
              <a:rPr lang="en-US" altLang="zh-CN" dirty="0"/>
              <a:t>BCNF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5] </a:t>
            </a:r>
            <a:r>
              <a:rPr lang="zh-CN" altLang="en-US" dirty="0"/>
              <a:t>关系模式</a:t>
            </a:r>
            <a:r>
              <a:rPr lang="en-US" altLang="zh-CN" dirty="0"/>
              <a:t>C</a:t>
            </a:r>
            <a:r>
              <a:rPr lang="zh-CN" altLang="en-US" dirty="0"/>
              <a:t>（</a:t>
            </a:r>
            <a:r>
              <a:rPr lang="en-US" altLang="zh-CN" dirty="0" err="1"/>
              <a:t>Cno</a:t>
            </a:r>
            <a:r>
              <a:rPr lang="zh-CN" altLang="en-US" dirty="0"/>
              <a:t>，</a:t>
            </a:r>
            <a:r>
              <a:rPr lang="en-US" altLang="zh-CN" dirty="0" err="1"/>
              <a:t>Cname</a:t>
            </a:r>
            <a:r>
              <a:rPr lang="zh-CN" altLang="en-US" dirty="0"/>
              <a:t>，</a:t>
            </a:r>
            <a:r>
              <a:rPr lang="en-US" altLang="zh-CN" dirty="0" err="1"/>
              <a:t>Pcno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只有唯一的码：</a:t>
            </a:r>
            <a:r>
              <a:rPr lang="en-US" altLang="zh-CN" dirty="0" err="1"/>
              <a:t>Cno</a:t>
            </a:r>
            <a:endParaRPr lang="en-US" altLang="zh-CN" dirty="0"/>
          </a:p>
          <a:p>
            <a:pPr lvl="1"/>
            <a:r>
              <a:rPr lang="zh-CN" altLang="en-US" dirty="0"/>
              <a:t>没有任何属性对</a:t>
            </a:r>
            <a:r>
              <a:rPr lang="en-US" altLang="zh-CN" dirty="0" err="1"/>
              <a:t>Cno</a:t>
            </a:r>
            <a:r>
              <a:rPr lang="zh-CN" altLang="en-US" dirty="0"/>
              <a:t>部分依赖或传递依赖，所以</a:t>
            </a:r>
            <a:r>
              <a:rPr lang="en-US" altLang="zh-CN" dirty="0"/>
              <a:t>C∈3NF</a:t>
            </a:r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中</a:t>
            </a:r>
            <a:r>
              <a:rPr lang="en-US" altLang="zh-CN" dirty="0" err="1"/>
              <a:t>Cno</a:t>
            </a:r>
            <a:r>
              <a:rPr lang="zh-CN" altLang="en-US" dirty="0"/>
              <a:t>是唯一的决定因素，所以</a:t>
            </a:r>
            <a:r>
              <a:rPr lang="en-US" altLang="zh-CN" dirty="0"/>
              <a:t>C∈BCNF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如果</a:t>
            </a:r>
            <a:r>
              <a:rPr lang="en-US" altLang="zh-CN" dirty="0"/>
              <a:t>R</a:t>
            </a:r>
            <a:r>
              <a:rPr lang="zh-CN" altLang="en-US" dirty="0"/>
              <a:t>的候选码多于一个，但每个候选码</a:t>
            </a:r>
            <a:r>
              <a:rPr lang="zh-CN" altLang="en-US" dirty="0">
                <a:solidFill>
                  <a:srgbClr val="C00000"/>
                </a:solidFill>
              </a:rPr>
              <a:t>只包含一个属性</a:t>
            </a:r>
            <a:r>
              <a:rPr lang="zh-CN" altLang="en-US" dirty="0"/>
              <a:t>，彼此不相交，则</a:t>
            </a:r>
            <a:r>
              <a:rPr lang="en-US" altLang="zh-CN" dirty="0"/>
              <a:t>R</a:t>
            </a:r>
            <a:r>
              <a:rPr lang="zh-CN" altLang="en-US" dirty="0"/>
              <a:t>必属于</a:t>
            </a:r>
            <a:r>
              <a:rPr lang="en-US" altLang="zh-CN" dirty="0"/>
              <a:t>BCNF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6]  </a:t>
            </a:r>
            <a:r>
              <a:rPr lang="zh-CN" altLang="en-US" dirty="0"/>
              <a:t>关系模式</a:t>
            </a:r>
            <a:r>
              <a:rPr lang="en-US" altLang="zh-CN" dirty="0"/>
              <a:t>S</a:t>
            </a:r>
            <a:r>
              <a:rPr lang="zh-CN" altLang="en-US" dirty="0"/>
              <a:t>（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Sname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zh-CN" altLang="en-US" dirty="0"/>
              <a:t>，</a:t>
            </a:r>
            <a:r>
              <a:rPr lang="en-US" altLang="zh-CN" dirty="0"/>
              <a:t>Sage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假定姓名唯一，</a:t>
            </a:r>
            <a:r>
              <a:rPr lang="en-US" altLang="zh-CN" dirty="0"/>
              <a:t>S</a:t>
            </a:r>
            <a:r>
              <a:rPr lang="zh-CN" altLang="en-US" dirty="0"/>
              <a:t>有两个码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Sname</a:t>
            </a:r>
            <a:r>
              <a:rPr lang="zh-CN" altLang="en-US" dirty="0"/>
              <a:t>，</a:t>
            </a:r>
            <a:r>
              <a:rPr lang="en-US" altLang="zh-CN" dirty="0"/>
              <a:t> </a:t>
            </a:r>
            <a:r>
              <a:rPr lang="en-US" altLang="zh-CN" dirty="0" err="1"/>
              <a:t>Sno</a:t>
            </a:r>
            <a:r>
              <a:rPr lang="en-US" altLang="zh-CN" dirty="0" err="1">
                <a:sym typeface="Symbol" panose="05050102010706020507" pitchFamily="18" charset="2"/>
              </a:rPr>
              <a:t></a:t>
            </a:r>
            <a:r>
              <a:rPr lang="en-US" altLang="zh-CN" dirty="0" err="1"/>
              <a:t>Sname</a:t>
            </a:r>
            <a:endParaRPr lang="en-US" altLang="zh-CN" dirty="0"/>
          </a:p>
          <a:p>
            <a:pPr lvl="1"/>
            <a:r>
              <a:rPr lang="zh-CN" altLang="en-US" dirty="0"/>
              <a:t>非主属性不存在对码的部分依赖或传递依赖， 所以</a:t>
            </a:r>
            <a:r>
              <a:rPr lang="en-US" altLang="zh-CN" dirty="0"/>
              <a:t>S∈3NF</a:t>
            </a:r>
            <a:endParaRPr lang="zh-CN" altLang="en-US" dirty="0"/>
          </a:p>
          <a:p>
            <a:pPr lvl="1"/>
            <a:r>
              <a:rPr lang="zh-CN" altLang="en-US" dirty="0"/>
              <a:t>除</a:t>
            </a:r>
            <a:r>
              <a:rPr lang="en-US" altLang="zh-CN" dirty="0" err="1"/>
              <a:t>Sno</a:t>
            </a:r>
            <a:r>
              <a:rPr lang="zh-CN" altLang="en-US" dirty="0"/>
              <a:t>，</a:t>
            </a:r>
            <a:r>
              <a:rPr lang="en-US" altLang="zh-CN" dirty="0" err="1"/>
              <a:t>Sname</a:t>
            </a:r>
            <a:r>
              <a:rPr lang="zh-CN" altLang="en-US" dirty="0"/>
              <a:t>外没有其他决定因素，所以</a:t>
            </a:r>
            <a:r>
              <a:rPr lang="en-US" altLang="zh-CN" dirty="0"/>
              <a:t>S∈BCNF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264F7E0F-A49A-4EDD-8A20-B657DB99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7815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547841">
            <a:extLst>
              <a:ext uri="{FF2B5EF4-FFF2-40B4-BE49-F238E27FC236}">
                <a16:creationId xmlns:a16="http://schemas.microsoft.com/office/drawing/2014/main" xmlns="" id="{753B0EF7-0766-40D7-B5F4-CC4B2EC3E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BCNF</a:t>
            </a:r>
            <a:r>
              <a:rPr lang="zh-CN" altLang="en-US" dirty="0"/>
              <a:t>（续）</a:t>
            </a:r>
          </a:p>
        </p:txBody>
      </p:sp>
      <p:sp>
        <p:nvSpPr>
          <p:cNvPr id="69635" name="文本占位符 547842">
            <a:extLst>
              <a:ext uri="{FF2B5EF4-FFF2-40B4-BE49-F238E27FC236}">
                <a16:creationId xmlns:a16="http://schemas.microsoft.com/office/drawing/2014/main" xmlns="" id="{00FD1EEE-D14F-47E2-B1AB-F1BE81A00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7</a:t>
            </a:r>
            <a:r>
              <a:rPr lang="zh-CN" altLang="en-US" dirty="0"/>
              <a:t>］关系模式</a:t>
            </a:r>
            <a:r>
              <a:rPr lang="en-US" altLang="zh-CN" dirty="0"/>
              <a:t>SJP</a:t>
            </a:r>
            <a:r>
              <a:rPr lang="zh-CN" altLang="en-US" dirty="0"/>
              <a:t>（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）中，</a:t>
            </a:r>
            <a:r>
              <a:rPr lang="en-US" altLang="zh-CN" dirty="0"/>
              <a:t>S</a:t>
            </a:r>
            <a:r>
              <a:rPr lang="zh-CN" altLang="en-US" dirty="0"/>
              <a:t>是学生，</a:t>
            </a:r>
            <a:r>
              <a:rPr lang="en-US" altLang="zh-CN" dirty="0"/>
              <a:t>J</a:t>
            </a:r>
            <a:r>
              <a:rPr lang="zh-CN" altLang="en-US" dirty="0"/>
              <a:t>是课程，</a:t>
            </a:r>
            <a:r>
              <a:rPr lang="en-US" altLang="zh-CN" dirty="0"/>
              <a:t>P</a:t>
            </a:r>
            <a:r>
              <a:rPr lang="zh-CN" altLang="en-US" dirty="0"/>
              <a:t>是名次。每个学生选修每门课程成绩有一个名次，每门课程中每个名次只有一个学生（没有并列名次）。</a:t>
            </a:r>
          </a:p>
          <a:p>
            <a:pPr lvl="1"/>
            <a:r>
              <a:rPr lang="zh-CN" altLang="en-US" dirty="0"/>
              <a:t>函数依赖：</a:t>
            </a:r>
            <a:r>
              <a:rPr lang="zh-CN" altLang="en-US" dirty="0">
                <a:solidFill>
                  <a:srgbClr val="C00000"/>
                </a:solidFill>
              </a:rPr>
              <a:t>（</a:t>
            </a:r>
            <a:r>
              <a:rPr lang="en-US" altLang="zh-CN" dirty="0">
                <a:solidFill>
                  <a:srgbClr val="C00000"/>
                </a:solidFill>
              </a:rPr>
              <a:t>S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J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en-US" altLang="zh-CN" dirty="0">
                <a:solidFill>
                  <a:srgbClr val="C00000"/>
                </a:solidFill>
              </a:rPr>
              <a:t>→P</a:t>
            </a:r>
            <a:r>
              <a:rPr lang="zh-CN" altLang="en-US" dirty="0">
                <a:solidFill>
                  <a:srgbClr val="C00000"/>
                </a:solidFill>
              </a:rPr>
              <a:t>；</a:t>
            </a:r>
            <a:r>
              <a:rPr lang="en-US" altLang="zh-CN" dirty="0">
                <a:solidFill>
                  <a:srgbClr val="C00000"/>
                </a:solidFill>
              </a:rPr>
              <a:t>(J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P</a:t>
            </a:r>
            <a:r>
              <a:rPr lang="zh-CN" altLang="en-US" dirty="0">
                <a:solidFill>
                  <a:srgbClr val="C00000"/>
                </a:solidFill>
              </a:rPr>
              <a:t>）</a:t>
            </a:r>
            <a:r>
              <a:rPr lang="en-US" altLang="zh-CN" dirty="0">
                <a:solidFill>
                  <a:srgbClr val="C00000"/>
                </a:solidFill>
              </a:rPr>
              <a:t>→S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）与（</a:t>
            </a:r>
            <a:r>
              <a:rPr lang="en-US" altLang="zh-CN" dirty="0"/>
              <a:t>J</a:t>
            </a:r>
            <a:r>
              <a:rPr lang="zh-CN" altLang="en-US" dirty="0"/>
              <a:t>，</a:t>
            </a:r>
            <a:r>
              <a:rPr lang="en-US" altLang="zh-CN" dirty="0"/>
              <a:t>P</a:t>
            </a:r>
            <a:r>
              <a:rPr lang="zh-CN" altLang="en-US" dirty="0"/>
              <a:t>）都可以作为候选码，属性相交</a:t>
            </a:r>
          </a:p>
          <a:p>
            <a:pPr lvl="1"/>
            <a:r>
              <a:rPr lang="zh-CN" altLang="en-US" dirty="0"/>
              <a:t>关系模式中没有属性对码传递依赖或部分依赖，所以</a:t>
            </a:r>
            <a:r>
              <a:rPr lang="en-US" altLang="zh-CN" dirty="0"/>
              <a:t>SJP∈3NF</a:t>
            </a:r>
          </a:p>
          <a:p>
            <a:pPr lvl="1"/>
            <a:r>
              <a:rPr lang="zh-CN" altLang="en-US" dirty="0"/>
              <a:t>除</a:t>
            </a:r>
            <a:r>
              <a:rPr lang="en-US" altLang="zh-CN" dirty="0"/>
              <a:t>(S,J)</a:t>
            </a:r>
            <a:r>
              <a:rPr lang="zh-CN" altLang="en-US" dirty="0"/>
              <a:t>与</a:t>
            </a:r>
            <a:r>
              <a:rPr lang="en-US" altLang="zh-CN" dirty="0"/>
              <a:t>(J,P)</a:t>
            </a:r>
            <a:r>
              <a:rPr lang="zh-CN" altLang="en-US" dirty="0"/>
              <a:t>以外没有其他决定因素，所以</a:t>
            </a:r>
            <a:r>
              <a:rPr lang="en-US" altLang="zh-CN" dirty="0"/>
              <a:t>SJP∈BCNF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264F7E0F-A49A-4EDD-8A20-B657DB99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68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文本占位符 441346">
            <a:extLst>
              <a:ext uri="{FF2B5EF4-FFF2-40B4-BE49-F238E27FC236}">
                <a16:creationId xmlns:a16="http://schemas.microsoft.com/office/drawing/2014/main" xmlns="" id="{5A84896C-F3C1-4C85-8E87-241336D0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8] </a:t>
            </a:r>
            <a:r>
              <a:rPr lang="zh-CN" altLang="en-US" dirty="0"/>
              <a:t>在关系模式</a:t>
            </a:r>
            <a:r>
              <a:rPr lang="en-US" altLang="zh-CN" dirty="0"/>
              <a:t>STJ</a:t>
            </a:r>
            <a:r>
              <a:rPr lang="zh-CN" altLang="en-US" dirty="0"/>
              <a:t>（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J</a:t>
            </a:r>
            <a:r>
              <a:rPr lang="zh-CN" altLang="en-US" dirty="0"/>
              <a:t>）中，</a:t>
            </a:r>
            <a:r>
              <a:rPr lang="en-US" altLang="zh-CN" dirty="0"/>
              <a:t>S</a:t>
            </a:r>
            <a:r>
              <a:rPr lang="zh-CN" altLang="en-US" dirty="0"/>
              <a:t>表示学生，</a:t>
            </a:r>
            <a:r>
              <a:rPr lang="en-US" altLang="zh-CN" dirty="0"/>
              <a:t>T</a:t>
            </a:r>
            <a:r>
              <a:rPr lang="zh-CN" altLang="en-US" dirty="0"/>
              <a:t>表示教师，</a:t>
            </a:r>
            <a:r>
              <a:rPr lang="en-US" altLang="zh-CN" dirty="0"/>
              <a:t>J</a:t>
            </a:r>
            <a:r>
              <a:rPr lang="zh-CN" altLang="en-US" dirty="0"/>
              <a:t>表示课程。每一教师只教一门课，每门课有若干教师，某一学生选定某门课，就对应一个固定的教师。</a:t>
            </a:r>
          </a:p>
          <a:p>
            <a:pPr lvl="1"/>
            <a:r>
              <a:rPr lang="zh-CN" altLang="en-US" dirty="0"/>
              <a:t>函数依赖：</a:t>
            </a:r>
            <a:r>
              <a:rPr lang="en-US" altLang="zh-CN" dirty="0">
                <a:solidFill>
                  <a:srgbClr val="C00000"/>
                </a:solidFill>
              </a:rPr>
              <a:t>(S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J)→T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(S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T)→J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T→J</a:t>
            </a:r>
          </a:p>
          <a:p>
            <a:pPr lvl="1"/>
            <a:r>
              <a:rPr lang="en-US" altLang="zh-CN" dirty="0"/>
              <a:t>(S</a:t>
            </a:r>
            <a:r>
              <a:rPr lang="zh-CN" altLang="en-US" dirty="0"/>
              <a:t>，</a:t>
            </a:r>
            <a:r>
              <a:rPr lang="en-US" altLang="zh-CN" dirty="0"/>
              <a:t>J)</a:t>
            </a:r>
            <a:r>
              <a:rPr lang="zh-CN" altLang="en-US" dirty="0"/>
              <a:t>和</a:t>
            </a:r>
            <a:r>
              <a:rPr lang="en-US" altLang="zh-CN" dirty="0"/>
              <a:t>(S</a:t>
            </a:r>
            <a:r>
              <a:rPr lang="zh-CN" altLang="en-US" dirty="0"/>
              <a:t>，</a:t>
            </a:r>
            <a:r>
              <a:rPr lang="en-US" altLang="zh-CN" dirty="0"/>
              <a:t>T)</a:t>
            </a:r>
            <a:r>
              <a:rPr lang="zh-CN" altLang="en-US" dirty="0"/>
              <a:t>都是候选码</a:t>
            </a:r>
            <a:endParaRPr lang="en-US" altLang="zh-CN" dirty="0"/>
          </a:p>
          <a:p>
            <a:pPr lvl="1"/>
            <a:r>
              <a:rPr lang="zh-CN" altLang="en-US" dirty="0"/>
              <a:t>没有任何非主属性对码传递依赖或部分依赖，所以</a:t>
            </a:r>
            <a:r>
              <a:rPr lang="en-US" altLang="zh-CN" dirty="0"/>
              <a:t>STJ∈3NF </a:t>
            </a:r>
            <a:r>
              <a:rPr lang="zh-CN" altLang="en-US" dirty="0"/>
              <a:t> </a:t>
            </a:r>
          </a:p>
          <a:p>
            <a:pPr lvl="1"/>
            <a:r>
              <a:rPr lang="en-US" altLang="zh-CN" dirty="0"/>
              <a:t>STJ</a:t>
            </a:r>
            <a:r>
              <a:rPr lang="en-US" altLang="zh-CN" dirty="0">
                <a:sym typeface="Symbol" panose="05050102010706020507" pitchFamily="18" charset="2"/>
              </a:rPr>
              <a:t>  </a:t>
            </a:r>
            <a:r>
              <a:rPr lang="en-US" altLang="zh-CN" dirty="0"/>
              <a:t>BCNF</a:t>
            </a:r>
            <a:r>
              <a:rPr lang="zh-CN" altLang="en-US" dirty="0"/>
              <a:t>，因为</a:t>
            </a:r>
            <a:r>
              <a:rPr lang="en-US" altLang="zh-CN" dirty="0"/>
              <a:t>T→J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是决定属性集，</a:t>
            </a:r>
            <a:r>
              <a:rPr lang="en-US" altLang="zh-CN" dirty="0"/>
              <a:t>T</a:t>
            </a:r>
            <a:r>
              <a:rPr lang="zh-CN" altLang="en-US" dirty="0"/>
              <a:t>不是候选码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97B8270B-6D21-4276-8B9B-673AF2A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662EA76-711E-43E0-A136-71EB16EAEDB0}"/>
              </a:ext>
            </a:extLst>
          </p:cNvPr>
          <p:cNvGrpSpPr/>
          <p:nvPr/>
        </p:nvGrpSpPr>
        <p:grpSpPr>
          <a:xfrm>
            <a:off x="3919117" y="4749930"/>
            <a:ext cx="3339099" cy="1726771"/>
            <a:chOff x="2051050" y="3301952"/>
            <a:chExt cx="3339099" cy="1726771"/>
          </a:xfrm>
        </p:grpSpPr>
        <p:grpSp>
          <p:nvGrpSpPr>
            <p:cNvPr id="4" name="组合 442385">
              <a:extLst>
                <a:ext uri="{FF2B5EF4-FFF2-40B4-BE49-F238E27FC236}">
                  <a16:creationId xmlns:a16="http://schemas.microsoft.com/office/drawing/2014/main" xmlns="" id="{DD645283-F742-458F-A3EC-4DA736F61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050" y="3301952"/>
              <a:ext cx="2944599" cy="1726771"/>
              <a:chOff x="1292" y="1406"/>
              <a:chExt cx="2240" cy="1670"/>
            </a:xfrm>
          </p:grpSpPr>
          <p:sp>
            <p:nvSpPr>
              <p:cNvPr id="5" name="矩形 442372">
                <a:extLst>
                  <a:ext uri="{FF2B5EF4-FFF2-40B4-BE49-F238E27FC236}">
                    <a16:creationId xmlns:a16="http://schemas.microsoft.com/office/drawing/2014/main" xmlns="" id="{34310E34-E209-4BDF-A755-5407824B8A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1480"/>
                <a:ext cx="567" cy="126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/>
                <a:endParaRPr lang="zh-CN" altLang="en-US" sz="1400"/>
              </a:p>
            </p:txBody>
          </p:sp>
          <p:sp>
            <p:nvSpPr>
              <p:cNvPr id="6" name="文本框 442373">
                <a:extLst>
                  <a:ext uri="{FF2B5EF4-FFF2-40B4-BE49-F238E27FC236}">
                    <a16:creationId xmlns:a16="http://schemas.microsoft.com/office/drawing/2014/main" xmlns="" id="{AD481981-6F58-4BA3-8AE3-E421140B29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5" y="1691"/>
                <a:ext cx="340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7" name="文本框 442374">
                <a:extLst>
                  <a:ext uri="{FF2B5EF4-FFF2-40B4-BE49-F238E27FC236}">
                    <a16:creationId xmlns:a16="http://schemas.microsoft.com/office/drawing/2014/main" xmlns="" id="{9592B8D5-33B2-4FB4-A650-8128EEA39D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5" y="2221"/>
                <a:ext cx="340" cy="31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8" name="文本框 442375">
                <a:extLst>
                  <a:ext uri="{FF2B5EF4-FFF2-40B4-BE49-F238E27FC236}">
                    <a16:creationId xmlns:a16="http://schemas.microsoft.com/office/drawing/2014/main" xmlns="" id="{6151E0BA-8330-4EF8-B240-2D90C5976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85" y="1903"/>
                <a:ext cx="340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9" name="直接连接符 442376">
                <a:extLst>
                  <a:ext uri="{FF2B5EF4-FFF2-40B4-BE49-F238E27FC236}">
                    <a16:creationId xmlns:a16="http://schemas.microsoft.com/office/drawing/2014/main" xmlns="" id="{3DC0A786-50D6-41AC-92EF-32CBAF113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9" y="2009"/>
                <a:ext cx="22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0" name="直接连接符 442377">
                <a:extLst>
                  <a:ext uri="{FF2B5EF4-FFF2-40B4-BE49-F238E27FC236}">
                    <a16:creationId xmlns:a16="http://schemas.microsoft.com/office/drawing/2014/main" xmlns="" id="{BF0A6253-D545-4BE4-836C-11BF80DC2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45" y="2115"/>
                <a:ext cx="340" cy="3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1" name="矩形 442378">
                <a:extLst>
                  <a:ext uri="{FF2B5EF4-FFF2-40B4-BE49-F238E27FC236}">
                    <a16:creationId xmlns:a16="http://schemas.microsoft.com/office/drawing/2014/main" xmlns="" id="{6F0764D6-66DA-423F-9257-DAD12DC39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4" y="1406"/>
                <a:ext cx="566" cy="126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just"/>
                <a:endParaRPr lang="zh-CN" altLang="en-US" sz="1400"/>
              </a:p>
            </p:txBody>
          </p:sp>
          <p:sp>
            <p:nvSpPr>
              <p:cNvPr id="12" name="文本框 442379">
                <a:extLst>
                  <a:ext uri="{FF2B5EF4-FFF2-40B4-BE49-F238E27FC236}">
                    <a16:creationId xmlns:a16="http://schemas.microsoft.com/office/drawing/2014/main" xmlns="" id="{0D5CD41F-CCB5-47E6-BE51-0B8B60B71C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08" y="1617"/>
                <a:ext cx="339" cy="318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S</a:t>
                </a:r>
              </a:p>
            </p:txBody>
          </p:sp>
          <p:sp>
            <p:nvSpPr>
              <p:cNvPr id="13" name="文本框 442380">
                <a:extLst>
                  <a:ext uri="{FF2B5EF4-FFF2-40B4-BE49-F238E27FC236}">
                    <a16:creationId xmlns:a16="http://schemas.microsoft.com/office/drawing/2014/main" xmlns="" id="{1B6B9647-F4F1-4595-9F07-BD90FDC75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5" y="2109"/>
                <a:ext cx="339" cy="316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>
                    <a:latin typeface="Times New Roman" panose="02020603050405020304" pitchFamily="18" charset="0"/>
                  </a:rPr>
                  <a:t>T</a:t>
                </a:r>
              </a:p>
            </p:txBody>
          </p:sp>
          <p:sp>
            <p:nvSpPr>
              <p:cNvPr id="14" name="直接连接符 442382">
                <a:extLst>
                  <a:ext uri="{FF2B5EF4-FFF2-40B4-BE49-F238E27FC236}">
                    <a16:creationId xmlns:a16="http://schemas.microsoft.com/office/drawing/2014/main" xmlns="" id="{E8D81183-AFAD-4D45-A1A0-700015BE82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3" y="1945"/>
                <a:ext cx="234" cy="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5" name="直接连接符 442383">
                <a:extLst>
                  <a:ext uri="{FF2B5EF4-FFF2-40B4-BE49-F238E27FC236}">
                    <a16:creationId xmlns:a16="http://schemas.microsoft.com/office/drawing/2014/main" xmlns="" id="{FD6258A3-78C2-4FEE-BB17-5B9567CE6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91" y="2031"/>
                <a:ext cx="341" cy="3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 sz="1400"/>
              </a:p>
            </p:txBody>
          </p:sp>
          <p:sp>
            <p:nvSpPr>
              <p:cNvPr id="16" name="文本框 442384">
                <a:extLst>
                  <a:ext uri="{FF2B5EF4-FFF2-40B4-BE49-F238E27FC236}">
                    <a16:creationId xmlns:a16="http://schemas.microsoft.com/office/drawing/2014/main" xmlns="" id="{82F10D17-1D22-4D86-BAA7-DA09E86506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68" y="2759"/>
                <a:ext cx="1315" cy="3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ctr" eaLnBrk="0" hangingPunct="0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1400" b="1" dirty="0">
                    <a:latin typeface="Times New Roman" panose="02020603050405020304" pitchFamily="18" charset="0"/>
                  </a:rPr>
                  <a:t>STJ</a:t>
                </a:r>
                <a:r>
                  <a:rPr lang="zh-CN" altLang="en-US" sz="1400" b="1" dirty="0">
                    <a:latin typeface="Times New Roman" panose="02020603050405020304" pitchFamily="18" charset="0"/>
                  </a:rPr>
                  <a:t>中的函数依赖</a:t>
                </a:r>
              </a:p>
            </p:txBody>
          </p:sp>
        </p:grpSp>
        <p:sp>
          <p:nvSpPr>
            <p:cNvPr id="17" name="文本框 442381">
              <a:extLst>
                <a:ext uri="{FF2B5EF4-FFF2-40B4-BE49-F238E27FC236}">
                  <a16:creationId xmlns:a16="http://schemas.microsoft.com/office/drawing/2014/main" xmlns="" id="{5CCA6374-E2EE-44D6-B21D-A5FCDAE79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3419" y="3744228"/>
              <a:ext cx="366730" cy="356134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J</a:t>
              </a:r>
            </a:p>
          </p:txBody>
        </p:sp>
      </p:grpSp>
      <p:sp>
        <p:nvSpPr>
          <p:cNvPr id="23" name="标题 547841">
            <a:extLst>
              <a:ext uri="{FF2B5EF4-FFF2-40B4-BE49-F238E27FC236}">
                <a16:creationId xmlns:a16="http://schemas.microsoft.com/office/drawing/2014/main" xmlns="" id="{D58FDCF3-EBE8-4180-BF28-921EC5A8D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BCNF</a:t>
            </a:r>
            <a:r>
              <a:rPr lang="zh-CN" altLang="en-US" dirty="0"/>
              <a:t>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BDD851C-727C-4ECB-A198-5D0C2E082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082"/>
            <a:ext cx="8021531" cy="5233307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但从</a:t>
            </a:r>
            <a:r>
              <a:rPr lang="en-US" altLang="zh-CN" dirty="0"/>
              <a:t>STJ</a:t>
            </a:r>
            <a:r>
              <a:rPr lang="zh-CN" altLang="en-US" dirty="0"/>
              <a:t>的一个关系实例分析，仍存在一些问题。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数据冗余</a:t>
            </a:r>
          </a:p>
          <a:p>
            <a:pPr lvl="2"/>
            <a:r>
              <a:rPr lang="zh-CN" altLang="en-US" dirty="0"/>
              <a:t>虽然每个教师只开一门课，但每个选修该教师所开课程的学生元组都要记录这一信息。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插入异常</a:t>
            </a:r>
          </a:p>
          <a:p>
            <a:pPr lvl="2"/>
            <a:r>
              <a:rPr lang="zh-CN" altLang="en-US" dirty="0"/>
              <a:t>当某门课程本学期不开，自然就没有学生选修。没有学生选修，因为主属性不能为空，教师上该门课程的信息就无法插入。同样原因，学生刚入校，尚未选课，有关信息也不能输入。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删除异常</a:t>
            </a:r>
          </a:p>
          <a:p>
            <a:pPr lvl="2"/>
            <a:r>
              <a:rPr lang="zh-CN" altLang="en-US" dirty="0"/>
              <a:t>如果选修某门课程的学生全部毕业，删除学生记录的同时，随之也删除了教师开设该门课程的信息。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更新异常</a:t>
            </a:r>
          </a:p>
          <a:p>
            <a:pPr lvl="2"/>
            <a:r>
              <a:rPr lang="zh-CN" altLang="en-US" dirty="0"/>
              <a:t>当某个教师开设的某门课程改名后，所有选修该教师该门课程的学生元组都要进行修改，如果漏改某个数据，则破坏了数据的完整性。 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xmlns="" id="{F2E33B9A-31D9-486C-A8FE-EDE741A6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AB9EE406-C014-4595-B2F9-7CE40D639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608673"/>
              </p:ext>
            </p:extLst>
          </p:nvPr>
        </p:nvGraphicFramePr>
        <p:xfrm>
          <a:off x="9293432" y="2062000"/>
          <a:ext cx="1943652" cy="3049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88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478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4788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S3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S4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T3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T4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S1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11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T4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J2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S3</a:t>
                      </a:r>
                      <a:endParaRPr lang="zh-CN" altLang="en-US" sz="1800" b="1" dirty="0"/>
                    </a:p>
                  </a:txBody>
                  <a:tcPr marL="91421" marR="91421" marT="45731" marB="45731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12" name="标题 547841">
            <a:extLst>
              <a:ext uri="{FF2B5EF4-FFF2-40B4-BE49-F238E27FC236}">
                <a16:creationId xmlns:a16="http://schemas.microsoft.com/office/drawing/2014/main" xmlns="" id="{A01B4D52-5194-44EF-A66C-8B2F56CF55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BCNF</a:t>
            </a:r>
            <a:r>
              <a:rPr lang="zh-CN" altLang="en-US" dirty="0"/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10281789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文本占位符 444418">
            <a:extLst>
              <a:ext uri="{FF2B5EF4-FFF2-40B4-BE49-F238E27FC236}">
                <a16:creationId xmlns:a16="http://schemas.microsoft.com/office/drawing/2014/main" xmlns="" id="{A0BA3FCB-4B1A-4B97-8B86-DE0D0BEB90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解决方法：将</a:t>
            </a:r>
            <a:r>
              <a:rPr lang="en-US" altLang="zh-CN" dirty="0"/>
              <a:t>STJ</a:t>
            </a:r>
            <a:r>
              <a:rPr lang="zh-CN" altLang="en-US" dirty="0"/>
              <a:t>分解为二个关系模式：</a:t>
            </a:r>
            <a:r>
              <a:rPr lang="en-US" altLang="zh-CN" dirty="0"/>
              <a:t>ST(S,T)</a:t>
            </a:r>
            <a:r>
              <a:rPr lang="zh-CN" altLang="en-US" dirty="0"/>
              <a:t>与</a:t>
            </a:r>
            <a:r>
              <a:rPr lang="en-US" altLang="zh-CN" dirty="0"/>
              <a:t>TJ(T,J)</a:t>
            </a:r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</a:t>
            </a:r>
          </a:p>
          <a:p>
            <a:pPr lvl="1"/>
            <a:r>
              <a:rPr lang="zh-CN" altLang="en-US" dirty="0"/>
              <a:t>没有</a:t>
            </a:r>
            <a:r>
              <a:rPr lang="zh-CN" altLang="en-US" dirty="0">
                <a:solidFill>
                  <a:srgbClr val="0000FF"/>
                </a:solidFill>
              </a:rPr>
              <a:t>任何属性</a:t>
            </a:r>
            <a:r>
              <a:rPr lang="zh-CN" altLang="en-US" dirty="0"/>
              <a:t>对码的部分函数依赖和传递函数依赖，它们都是</a:t>
            </a:r>
            <a:r>
              <a:rPr lang="en-US" altLang="zh-CN" dirty="0"/>
              <a:t>BCNF</a:t>
            </a:r>
            <a:r>
              <a:rPr lang="zh-CN" altLang="en-US" dirty="0"/>
              <a:t>。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0ED9B39F-62FE-44E7-971C-B5C3A3111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grpSp>
        <p:nvGrpSpPr>
          <p:cNvPr id="74756" name="组合 444419">
            <a:extLst>
              <a:ext uri="{FF2B5EF4-FFF2-40B4-BE49-F238E27FC236}">
                <a16:creationId xmlns:a16="http://schemas.microsoft.com/office/drawing/2014/main" xmlns="" id="{303FFBF7-3A9F-44AF-B481-1DCE977044E0}"/>
              </a:ext>
            </a:extLst>
          </p:cNvPr>
          <p:cNvGrpSpPr>
            <a:grpSpLocks/>
          </p:cNvGrpSpPr>
          <p:nvPr/>
        </p:nvGrpSpPr>
        <p:grpSpPr bwMode="auto">
          <a:xfrm>
            <a:off x="3144754" y="1973178"/>
            <a:ext cx="3307381" cy="1257166"/>
            <a:chOff x="1008" y="1728"/>
            <a:chExt cx="3984" cy="1411"/>
          </a:xfrm>
        </p:grpSpPr>
        <p:sp>
          <p:nvSpPr>
            <p:cNvPr id="74757" name="文本框 444420">
              <a:extLst>
                <a:ext uri="{FF2B5EF4-FFF2-40B4-BE49-F238E27FC236}">
                  <a16:creationId xmlns:a16="http://schemas.microsoft.com/office/drawing/2014/main" xmlns="" id="{02C87F19-CC6E-4997-A6F9-988B57DB48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74758" name="文本框 444421">
              <a:extLst>
                <a:ext uri="{FF2B5EF4-FFF2-40B4-BE49-F238E27FC236}">
                  <a16:creationId xmlns:a16="http://schemas.microsoft.com/office/drawing/2014/main" xmlns="" id="{3E605379-573E-4B25-A8D3-C216732624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1968"/>
              <a:ext cx="426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4759" name="文本框 444422">
              <a:extLst>
                <a:ext uri="{FF2B5EF4-FFF2-40B4-BE49-F238E27FC236}">
                  <a16:creationId xmlns:a16="http://schemas.microsoft.com/office/drawing/2014/main" xmlns="" id="{090E6461-9939-4043-994F-F2F00F4FC2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3" y="2700"/>
              <a:ext cx="56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S-T</a:t>
              </a:r>
            </a:p>
          </p:txBody>
        </p:sp>
        <p:sp>
          <p:nvSpPr>
            <p:cNvPr id="74760" name="文本框 444423">
              <a:extLst>
                <a:ext uri="{FF2B5EF4-FFF2-40B4-BE49-F238E27FC236}">
                  <a16:creationId xmlns:a16="http://schemas.microsoft.com/office/drawing/2014/main" xmlns="" id="{38518334-B4B3-4538-B1A4-895C5B255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" y="1968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74761" name="文本框 444424">
              <a:extLst>
                <a:ext uri="{FF2B5EF4-FFF2-40B4-BE49-F238E27FC236}">
                  <a16:creationId xmlns:a16="http://schemas.microsoft.com/office/drawing/2014/main" xmlns="" id="{9D865145-26E9-4B36-8B30-4EEE96D24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1952"/>
              <a:ext cx="427" cy="439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J</a:t>
              </a:r>
            </a:p>
          </p:txBody>
        </p:sp>
        <p:sp>
          <p:nvSpPr>
            <p:cNvPr id="74762" name="直接连接符 444425">
              <a:extLst>
                <a:ext uri="{FF2B5EF4-FFF2-40B4-BE49-F238E27FC236}">
                  <a16:creationId xmlns:a16="http://schemas.microsoft.com/office/drawing/2014/main" xmlns="" id="{5F83F140-D335-4E82-BA49-B85C58E035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5" y="2114"/>
              <a:ext cx="710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74763" name="文本框 444426">
              <a:extLst>
                <a:ext uri="{FF2B5EF4-FFF2-40B4-BE49-F238E27FC236}">
                  <a16:creationId xmlns:a16="http://schemas.microsoft.com/office/drawing/2014/main" xmlns="" id="{661D55C3-5187-44D5-BCDC-6D86B090E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7" y="2700"/>
              <a:ext cx="568" cy="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Times New Roman" panose="02020603050405020304" pitchFamily="18" charset="0"/>
                </a:rPr>
                <a:t>T-J</a:t>
              </a:r>
            </a:p>
          </p:txBody>
        </p:sp>
        <p:sp>
          <p:nvSpPr>
            <p:cNvPr id="74764" name="矩形 444427">
              <a:extLst>
                <a:ext uri="{FF2B5EF4-FFF2-40B4-BE49-F238E27FC236}">
                  <a16:creationId xmlns:a16="http://schemas.microsoft.com/office/drawing/2014/main" xmlns="" id="{BE6E42DA-F62B-4184-AA5E-A560F69FA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1728"/>
              <a:ext cx="1872" cy="86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/>
              <a:endParaRPr lang="zh-CN" altLang="en-US" sz="1400"/>
            </a:p>
          </p:txBody>
        </p:sp>
      </p:grpSp>
      <p:sp>
        <p:nvSpPr>
          <p:cNvPr id="17" name="标题 547841">
            <a:extLst>
              <a:ext uri="{FF2B5EF4-FFF2-40B4-BE49-F238E27FC236}">
                <a16:creationId xmlns:a16="http://schemas.microsoft.com/office/drawing/2014/main" xmlns="" id="{D35BAF0F-3CCE-4208-B356-89E9349CE6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BCNF</a:t>
            </a:r>
            <a:r>
              <a:rPr lang="zh-CN" altLang="en-US" dirty="0"/>
              <a:t>（续）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文本占位符 445442">
            <a:extLst>
              <a:ext uri="{FF2B5EF4-FFF2-40B4-BE49-F238E27FC236}">
                <a16:creationId xmlns:a16="http://schemas.microsoft.com/office/drawing/2014/main" xmlns="" id="{2AEB0EBC-0557-469D-915B-C03AA33546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3NF</a:t>
            </a:r>
            <a:r>
              <a:rPr lang="zh-CN" altLang="en-US" dirty="0"/>
              <a:t>和</a:t>
            </a:r>
            <a:r>
              <a:rPr lang="en-US" altLang="zh-CN" dirty="0"/>
              <a:t>BCNF</a:t>
            </a:r>
            <a:r>
              <a:rPr lang="zh-CN" altLang="en-US" dirty="0"/>
              <a:t>是在</a:t>
            </a:r>
            <a:r>
              <a:rPr lang="zh-CN" altLang="en-US" dirty="0">
                <a:solidFill>
                  <a:srgbClr val="C00000"/>
                </a:solidFill>
              </a:rPr>
              <a:t>函数依赖的条件下</a:t>
            </a:r>
            <a:r>
              <a:rPr lang="zh-CN" altLang="en-US" dirty="0"/>
              <a:t>对模式分解所能达到的分离程度的测度。</a:t>
            </a:r>
            <a:endParaRPr lang="en-US" altLang="zh-CN" dirty="0"/>
          </a:p>
          <a:p>
            <a:r>
              <a:rPr lang="en-US" altLang="zh-CN" dirty="0"/>
              <a:t>3NF</a:t>
            </a:r>
            <a:r>
              <a:rPr lang="zh-CN" altLang="en-US" dirty="0"/>
              <a:t>的“不彻底”性表现在可能存在</a:t>
            </a:r>
            <a:r>
              <a:rPr lang="zh-CN" altLang="en-US" dirty="0">
                <a:solidFill>
                  <a:srgbClr val="C00000"/>
                </a:solidFill>
              </a:rPr>
              <a:t>主属性</a:t>
            </a:r>
            <a:r>
              <a:rPr lang="zh-CN" altLang="en-US" dirty="0"/>
              <a:t>对码的</a:t>
            </a:r>
            <a:r>
              <a:rPr lang="zh-CN" altLang="en-US" dirty="0">
                <a:solidFill>
                  <a:srgbClr val="C00000"/>
                </a:solidFill>
              </a:rPr>
              <a:t>部分依赖和传递依赖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如果一个关系数据库中的所有关系模式都属于</a:t>
            </a:r>
            <a:r>
              <a:rPr lang="en-US" altLang="zh-CN" dirty="0">
                <a:solidFill>
                  <a:srgbClr val="C00000"/>
                </a:solidFill>
              </a:rPr>
              <a:t>BCNF</a:t>
            </a:r>
            <a:r>
              <a:rPr lang="zh-CN" altLang="en-US" dirty="0"/>
              <a:t>，那么在</a:t>
            </a:r>
            <a:r>
              <a:rPr lang="zh-CN" altLang="en-US" dirty="0">
                <a:solidFill>
                  <a:srgbClr val="C00000"/>
                </a:solidFill>
              </a:rPr>
              <a:t>函数依赖范畴内</a:t>
            </a:r>
            <a:r>
              <a:rPr lang="zh-CN" altLang="en-US" dirty="0"/>
              <a:t>，它已实现了模式的</a:t>
            </a:r>
            <a:r>
              <a:rPr lang="zh-CN" altLang="en-US" dirty="0">
                <a:solidFill>
                  <a:srgbClr val="C00000"/>
                </a:solidFill>
              </a:rPr>
              <a:t>彻底分解</a:t>
            </a:r>
            <a:r>
              <a:rPr lang="zh-CN" altLang="en-US" dirty="0"/>
              <a:t>，达到了</a:t>
            </a:r>
            <a:r>
              <a:rPr lang="zh-CN" altLang="en-US" dirty="0">
                <a:solidFill>
                  <a:srgbClr val="C00000"/>
                </a:solidFill>
              </a:rPr>
              <a:t>最高的规范化程度，消除了插入异常和删除异常</a:t>
            </a:r>
            <a:r>
              <a:rPr lang="zh-CN" altLang="en-US" dirty="0"/>
              <a:t>。</a:t>
            </a:r>
          </a:p>
          <a:p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F07D4F2-BCB4-4B3A-9D66-C540AD6B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sp>
        <p:nvSpPr>
          <p:cNvPr id="7" name="标题 547841">
            <a:extLst>
              <a:ext uri="{FF2B5EF4-FFF2-40B4-BE49-F238E27FC236}">
                <a16:creationId xmlns:a16="http://schemas.microsoft.com/office/drawing/2014/main" xmlns="" id="{988816B9-1F0E-49E3-AD39-09E7B5967D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BCNF</a:t>
            </a:r>
            <a:r>
              <a:rPr lang="zh-CN" altLang="en-US" dirty="0"/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7978823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函数依赖范畴内关系模式范式的确定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传统方法</a:t>
            </a:r>
            <a:r>
              <a:rPr lang="en-US" altLang="zh-CN" dirty="0">
                <a:solidFill>
                  <a:srgbClr val="C00000"/>
                </a:solidFill>
              </a:rPr>
              <a:t>(Bottom-top)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找出</a:t>
            </a:r>
            <a:r>
              <a:rPr lang="en-US" altLang="zh-CN" dirty="0"/>
              <a:t>F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2NF</a:t>
            </a:r>
            <a:r>
              <a:rPr lang="zh-CN" altLang="en-US" dirty="0"/>
              <a:t>定义。若否，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1NF</a:t>
            </a:r>
            <a:r>
              <a:rPr lang="zh-CN" altLang="en-US" dirty="0"/>
              <a:t>；若是，执行步骤</a:t>
            </a:r>
            <a:r>
              <a:rPr lang="en-US" altLang="zh-CN" dirty="0"/>
              <a:t>3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3NF</a:t>
            </a:r>
            <a:r>
              <a:rPr lang="zh-CN" altLang="en-US" dirty="0"/>
              <a:t>定义。若否，</a:t>
            </a:r>
            <a:r>
              <a:rPr lang="en-US" altLang="zh-CN" dirty="0"/>
              <a:t> R</a:t>
            </a:r>
            <a:r>
              <a:rPr lang="en-US" altLang="zh-CN" dirty="0">
                <a:sym typeface="Symbol" panose="05050102010706020507" pitchFamily="18" charset="2"/>
              </a:rPr>
              <a:t>2</a:t>
            </a:r>
            <a:r>
              <a:rPr lang="en-US" altLang="zh-CN" dirty="0"/>
              <a:t>NF </a:t>
            </a:r>
            <a:r>
              <a:rPr lang="zh-CN" altLang="en-US" dirty="0"/>
              <a:t>；若是，转向执行步骤</a:t>
            </a:r>
            <a:r>
              <a:rPr lang="en-US" altLang="zh-CN" dirty="0"/>
              <a:t>4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14400" lvl="1" indent="-457200">
              <a:buFont typeface="+mj-lt"/>
              <a:buAutoNum type="arabicPeriod"/>
            </a:pPr>
            <a:r>
              <a:rPr lang="zh-CN" altLang="en-US" dirty="0"/>
              <a:t>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BCNF</a:t>
            </a:r>
            <a:r>
              <a:rPr lang="zh-CN" altLang="en-US" dirty="0"/>
              <a:t>定义。若否，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3</a:t>
            </a:r>
            <a:r>
              <a:rPr lang="en-US" altLang="zh-CN" dirty="0"/>
              <a:t>NF</a:t>
            </a:r>
            <a:r>
              <a:rPr lang="zh-CN" altLang="en-US" dirty="0"/>
              <a:t>；若是，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BC</a:t>
            </a:r>
            <a:r>
              <a:rPr lang="en-US" altLang="zh-CN" dirty="0"/>
              <a:t>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新方法</a:t>
            </a:r>
            <a:r>
              <a:rPr lang="en-US" altLang="zh-CN" dirty="0">
                <a:solidFill>
                  <a:srgbClr val="C00000"/>
                </a:solidFill>
              </a:rPr>
              <a:t>(Top-bottom)</a:t>
            </a:r>
          </a:p>
          <a:p>
            <a:pPr lvl="1"/>
            <a:r>
              <a:rPr lang="zh-CN" altLang="en-US" dirty="0"/>
              <a:t>依据： </a:t>
            </a:r>
            <a:r>
              <a:rPr lang="en-US" altLang="zh-CN" dirty="0"/>
              <a:t>1NF ⊃ 2NF ⊃ 3NF ⊃ BCNF</a:t>
            </a:r>
          </a:p>
          <a:p>
            <a:pPr lvl="1"/>
            <a:r>
              <a:rPr lang="zh-CN" altLang="en-US" dirty="0"/>
              <a:t>找出</a:t>
            </a:r>
            <a:r>
              <a:rPr lang="en-US" altLang="zh-CN" dirty="0"/>
              <a:t>F</a:t>
            </a:r>
            <a:r>
              <a:rPr lang="zh-CN" altLang="en-US" dirty="0"/>
              <a:t>；先验证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BCNF</a:t>
            </a:r>
            <a:r>
              <a:rPr lang="zh-CN" altLang="en-US" dirty="0"/>
              <a:t>定义。若是，则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BC</a:t>
            </a:r>
            <a:r>
              <a:rPr lang="en-US" altLang="zh-CN" dirty="0"/>
              <a:t>NF</a:t>
            </a:r>
            <a:r>
              <a:rPr lang="zh-CN" altLang="en-US" dirty="0"/>
              <a:t>；若否，再验证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3NF</a:t>
            </a:r>
            <a:r>
              <a:rPr lang="zh-CN" altLang="en-US" dirty="0"/>
              <a:t>定义，若是，则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3</a:t>
            </a:r>
            <a:r>
              <a:rPr lang="en-US" altLang="zh-CN" dirty="0"/>
              <a:t>NF</a:t>
            </a:r>
            <a:r>
              <a:rPr lang="zh-CN" altLang="en-US" dirty="0"/>
              <a:t>；若否，则验证</a:t>
            </a:r>
            <a:r>
              <a:rPr lang="en-US" altLang="zh-CN" dirty="0"/>
              <a:t>R</a:t>
            </a:r>
            <a:r>
              <a:rPr lang="zh-CN" altLang="en-US" dirty="0"/>
              <a:t>是否符合</a:t>
            </a:r>
            <a:r>
              <a:rPr lang="en-US" altLang="zh-CN" dirty="0"/>
              <a:t>2NF</a:t>
            </a:r>
            <a:r>
              <a:rPr lang="zh-CN" altLang="en-US" dirty="0"/>
              <a:t>定义，若是，则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2</a:t>
            </a:r>
            <a:r>
              <a:rPr lang="en-US" altLang="zh-CN" dirty="0"/>
              <a:t>NF</a:t>
            </a:r>
            <a:r>
              <a:rPr lang="zh-CN" altLang="en-US" dirty="0"/>
              <a:t>；若否，则</a:t>
            </a:r>
            <a:r>
              <a:rPr lang="en-US" altLang="zh-CN" dirty="0"/>
              <a:t>R</a:t>
            </a:r>
            <a:r>
              <a:rPr lang="en-US" altLang="zh-CN" dirty="0">
                <a:sym typeface="Symbol" panose="05050102010706020507" pitchFamily="18" charset="2"/>
              </a:rPr>
              <a:t>1</a:t>
            </a:r>
            <a:r>
              <a:rPr lang="en-US" altLang="zh-CN" dirty="0"/>
              <a:t>NF</a:t>
            </a:r>
            <a:r>
              <a:rPr lang="zh-CN" altLang="en-US" dirty="0"/>
              <a:t>。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82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两种方法的前提是需要先确定</a:t>
            </a:r>
            <a:r>
              <a:rPr lang="en-US" altLang="zh-CN" dirty="0"/>
              <a:t>R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候选码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求出</a:t>
            </a:r>
            <a:r>
              <a:rPr lang="en-US" altLang="zh-CN" dirty="0"/>
              <a:t>R</a:t>
            </a:r>
            <a:r>
              <a:rPr lang="zh-CN" altLang="en-US" dirty="0"/>
              <a:t>的所有候选码方法：</a:t>
            </a:r>
            <a:r>
              <a:rPr lang="en-US" altLang="zh-CN" dirty="0">
                <a:solidFill>
                  <a:srgbClr val="0000FF"/>
                </a:solidFill>
              </a:rPr>
              <a:t>Armstrong</a:t>
            </a:r>
            <a:r>
              <a:rPr lang="zh-CN" altLang="en-US" dirty="0">
                <a:solidFill>
                  <a:srgbClr val="0000FF"/>
                </a:solidFill>
              </a:rPr>
              <a:t>公理</a:t>
            </a:r>
            <a:r>
              <a:rPr lang="en-US" altLang="zh-CN" dirty="0"/>
              <a:t>(</a:t>
            </a:r>
            <a:r>
              <a:rPr lang="zh-CN" altLang="en-US" dirty="0"/>
              <a:t>后续章节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原因：只单纯从语义出发得出的</a:t>
            </a:r>
            <a:r>
              <a:rPr lang="en-US" altLang="zh-CN" dirty="0"/>
              <a:t>F</a:t>
            </a:r>
            <a:r>
              <a:rPr lang="zh-CN" altLang="en-US" dirty="0"/>
              <a:t>未必是完全没有遗漏</a:t>
            </a:r>
            <a:endParaRPr lang="en-US" altLang="zh-CN" dirty="0"/>
          </a:p>
          <a:p>
            <a:r>
              <a:rPr lang="en-US" altLang="zh-CN" dirty="0"/>
              <a:t>BCNF</a:t>
            </a:r>
            <a:r>
              <a:rPr lang="zh-CN" altLang="en-US" dirty="0"/>
              <a:t>的确定：</a:t>
            </a:r>
            <a:endParaRPr lang="en-US" altLang="zh-CN" dirty="0"/>
          </a:p>
          <a:p>
            <a:pPr lvl="1"/>
            <a:r>
              <a:rPr lang="zh-CN" altLang="en-US" dirty="0"/>
              <a:t>求出</a:t>
            </a:r>
            <a:r>
              <a:rPr lang="en-US" altLang="zh-CN" dirty="0"/>
              <a:t>R</a:t>
            </a:r>
            <a:r>
              <a:rPr lang="zh-CN" altLang="en-US" dirty="0"/>
              <a:t>的所有候选码；</a:t>
            </a:r>
            <a:endParaRPr lang="en-US" altLang="zh-CN" dirty="0"/>
          </a:p>
          <a:p>
            <a:pPr lvl="1"/>
            <a:r>
              <a:rPr lang="zh-CN" altLang="en-US" dirty="0"/>
              <a:t>列出</a:t>
            </a:r>
            <a:r>
              <a:rPr lang="en-US" altLang="zh-CN" dirty="0"/>
              <a:t>F</a:t>
            </a:r>
            <a:r>
              <a:rPr lang="zh-CN" altLang="en-US" dirty="0"/>
              <a:t>的所有函数依赖；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如果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中所有的函数依赖中的决定因素都包含码，则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BC</a:t>
            </a:r>
            <a:r>
              <a:rPr lang="en-US" altLang="zh-CN" dirty="0">
                <a:solidFill>
                  <a:srgbClr val="C00000"/>
                </a:solidFill>
              </a:rPr>
              <a:t>NF</a:t>
            </a:r>
            <a:r>
              <a:rPr lang="zh-CN" altLang="en-US" dirty="0">
                <a:solidFill>
                  <a:srgbClr val="C00000"/>
                </a:solidFill>
              </a:rPr>
              <a:t>；否则，</a:t>
            </a:r>
            <a:r>
              <a:rPr lang="en-US" altLang="zh-CN" dirty="0">
                <a:solidFill>
                  <a:srgbClr val="C00000"/>
                </a:solidFill>
              </a:rPr>
              <a:t>R∉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BC</a:t>
            </a:r>
            <a:r>
              <a:rPr lang="en-US" altLang="zh-CN" dirty="0">
                <a:solidFill>
                  <a:srgbClr val="C00000"/>
                </a:solidFill>
              </a:rPr>
              <a:t>NF</a:t>
            </a:r>
            <a:r>
              <a:rPr lang="zh-CN" altLang="en-US" dirty="0">
                <a:solidFill>
                  <a:srgbClr val="C00000"/>
                </a:solidFill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R</a:t>
            </a:r>
            <a:r>
              <a:rPr lang="zh-CN" altLang="en-US" dirty="0">
                <a:solidFill>
                  <a:srgbClr val="C00000"/>
                </a:solidFill>
              </a:rPr>
              <a:t>最高只能是</a:t>
            </a:r>
            <a:r>
              <a:rPr lang="en-US" altLang="zh-CN" dirty="0">
                <a:solidFill>
                  <a:srgbClr val="C00000"/>
                </a:solidFill>
              </a:rPr>
              <a:t>3NF</a:t>
            </a:r>
            <a:r>
              <a:rPr lang="zh-CN" altLang="en-US" dirty="0">
                <a:solidFill>
                  <a:srgbClr val="C00000"/>
                </a:solidFill>
              </a:rPr>
              <a:t>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</a:t>
            </a:r>
            <a:r>
              <a:rPr lang="zh-CN" altLang="en-US" dirty="0"/>
              <a:t> </a:t>
            </a:r>
            <a:r>
              <a:rPr lang="en-US" altLang="en-US" dirty="0"/>
              <a:t>TEACH(STUDENT,COURSE,INSTRUCTOR)</a:t>
            </a:r>
          </a:p>
          <a:p>
            <a:pPr lvl="1"/>
            <a:r>
              <a:rPr lang="en-US" altLang="zh-CN" dirty="0"/>
              <a:t>F={(STUDENT, COURSE)→INSTRUCTOR, INSTRUCTOR→ COURSE}</a:t>
            </a:r>
          </a:p>
          <a:p>
            <a:pPr lvl="1"/>
            <a:r>
              <a:rPr lang="en-US" altLang="zh-CN" dirty="0"/>
              <a:t>TEACH</a:t>
            </a:r>
            <a:r>
              <a:rPr lang="en-US" altLang="zh-CN" dirty="0">
                <a:sym typeface="Symbol" panose="05050102010706020507" pitchFamily="18" charset="2"/>
              </a:rPr>
              <a:t>3</a:t>
            </a:r>
            <a:r>
              <a:rPr lang="en-US" altLang="zh-CN" dirty="0"/>
              <a:t>NF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xmlns="" id="{95AFCF7C-0516-402C-A3D1-7E851E102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函数依赖范畴内关系模式范式的确定</a:t>
            </a:r>
          </a:p>
        </p:txBody>
      </p:sp>
    </p:spTree>
    <p:extLst>
      <p:ext uri="{BB962C8B-B14F-4D97-AF65-F5344CB8AC3E}">
        <p14:creationId xmlns:p14="http://schemas.microsoft.com/office/powerpoint/2010/main" val="228246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设有关系模式：订购</a:t>
            </a:r>
            <a:r>
              <a:rPr lang="en-US" altLang="zh-CN" dirty="0"/>
              <a:t>(</a:t>
            </a:r>
            <a:r>
              <a:rPr lang="zh-CN" altLang="en-US" dirty="0"/>
              <a:t>客户名，住址，联系电话，书号，书名，作者，出版社，社址</a:t>
            </a:r>
            <a:r>
              <a:rPr lang="en-US" altLang="zh-CN" dirty="0"/>
              <a:t>)</a:t>
            </a:r>
            <a:r>
              <a:rPr lang="zh-CN" altLang="en-US" dirty="0"/>
              <a:t>，其中</a:t>
            </a:r>
            <a:r>
              <a:rPr lang="en-US" altLang="zh-CN" dirty="0"/>
              <a:t>F={</a:t>
            </a:r>
            <a:r>
              <a:rPr lang="zh-CN" altLang="en-US" dirty="0"/>
              <a:t>客户名→住址，客户名→联系电话，书号→书名，书号→作者，书号→出版社，出版社→社址</a:t>
            </a:r>
            <a:r>
              <a:rPr lang="en-US" altLang="zh-CN" dirty="0"/>
              <a:t>}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求本关系模式的主码，判断其为第几范式，如何将它规范化为符合</a:t>
            </a:r>
            <a:r>
              <a:rPr lang="en-US" altLang="zh-CN" dirty="0"/>
              <a:t>BCNF</a:t>
            </a:r>
            <a:r>
              <a:rPr lang="zh-CN" altLang="en-US" dirty="0"/>
              <a:t>的关系？</a:t>
            </a:r>
          </a:p>
        </p:txBody>
      </p:sp>
    </p:spTree>
    <p:extLst>
      <p:ext uri="{BB962C8B-B14F-4D97-AF65-F5344CB8AC3E}">
        <p14:creationId xmlns:p14="http://schemas.microsoft.com/office/powerpoint/2010/main" val="7448912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447489">
            <a:extLst>
              <a:ext uri="{FF2B5EF4-FFF2-40B4-BE49-F238E27FC236}">
                <a16:creationId xmlns:a16="http://schemas.microsoft.com/office/drawing/2014/main" xmlns="" id="{DF7EAEB9-612A-4897-AEFD-7F81043E2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6.2.7 </a:t>
            </a:r>
            <a:r>
              <a:rPr lang="zh-CN" altLang="en-US"/>
              <a:t>多值依赖</a:t>
            </a:r>
          </a:p>
        </p:txBody>
      </p:sp>
      <p:sp>
        <p:nvSpPr>
          <p:cNvPr id="77827" name="文本占位符 447490">
            <a:extLst>
              <a:ext uri="{FF2B5EF4-FFF2-40B4-BE49-F238E27FC236}">
                <a16:creationId xmlns:a16="http://schemas.microsoft.com/office/drawing/2014/main" xmlns="" id="{F82D136D-E456-4DF7-AC96-F85F77675E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9] </a:t>
            </a:r>
            <a:r>
              <a:rPr lang="zh-CN" altLang="en-US" dirty="0"/>
              <a:t>学校中某一门课程由多个教师讲授，他们使用相同的一套参考书。每个教员可以讲授多门课程，每种参考书可以供多门课程使用。</a:t>
            </a:r>
            <a:endParaRPr lang="en-US" altLang="zh-CN" dirty="0"/>
          </a:p>
          <a:p>
            <a:pPr lvl="1"/>
            <a:r>
              <a:rPr lang="zh-CN" altLang="en-US" dirty="0"/>
              <a:t>用关系模式</a:t>
            </a:r>
            <a:r>
              <a:rPr lang="en-US" altLang="zh-CN" dirty="0"/>
              <a:t>Teaching(C,T,B)</a:t>
            </a:r>
            <a:r>
              <a:rPr lang="zh-CN" altLang="en-US" dirty="0"/>
              <a:t>来表示课程</a:t>
            </a:r>
            <a:r>
              <a:rPr lang="en-US" altLang="zh-CN" dirty="0"/>
              <a:t>C</a:t>
            </a:r>
            <a:r>
              <a:rPr lang="zh-CN" altLang="en-US" dirty="0"/>
              <a:t>、教师</a:t>
            </a:r>
            <a:r>
              <a:rPr lang="en-US" altLang="zh-CN" dirty="0"/>
              <a:t>T</a:t>
            </a:r>
            <a:r>
              <a:rPr lang="zh-CN" altLang="en-US" dirty="0"/>
              <a:t>和参考书</a:t>
            </a:r>
            <a:r>
              <a:rPr lang="en-US" altLang="zh-CN" dirty="0"/>
              <a:t>B</a:t>
            </a:r>
            <a:r>
              <a:rPr lang="zh-CN" altLang="en-US" dirty="0"/>
              <a:t>之间的关系。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BCEC842B-8082-43A9-8999-08253844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B487759D-5566-49D4-A723-4D0FC3C9F99A}"/>
              </a:ext>
            </a:extLst>
          </p:cNvPr>
          <p:cNvGrpSpPr/>
          <p:nvPr/>
        </p:nvGrpSpPr>
        <p:grpSpPr>
          <a:xfrm>
            <a:off x="1432818" y="3225953"/>
            <a:ext cx="3475237" cy="3297022"/>
            <a:chOff x="711753" y="3469927"/>
            <a:chExt cx="3475237" cy="3297022"/>
          </a:xfrm>
        </p:grpSpPr>
        <p:graphicFrame>
          <p:nvGraphicFramePr>
            <p:cNvPr id="4" name="Group 80">
              <a:extLst>
                <a:ext uri="{FF2B5EF4-FFF2-40B4-BE49-F238E27FC236}">
                  <a16:creationId xmlns:a16="http://schemas.microsoft.com/office/drawing/2014/main" xmlns="" id="{371278B6-DF05-4271-8F47-CEB200DBA53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11753" y="3469927"/>
            <a:ext cx="3475237" cy="2922949"/>
          </p:xfrm>
          <a:graphic>
            <a:graphicData uri="http://schemas.openxmlformats.org/drawingml/2006/table">
              <a:tbl>
                <a:tblPr/>
                <a:tblGrid>
                  <a:gridCol w="1158918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1146024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1170295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</a:tblGrid>
                <a:tr h="296589"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课程Ｃ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lang="zh-CN" altLang="en-US" sz="1400" dirty="0"/>
                          <a:t>教师</a:t>
                        </a:r>
                        <a:r>
                          <a:rPr kumimoji="0" lang="zh-CN" alt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Ｔ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参考书Ｂ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  <a:tr h="771131"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endPara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endParaRP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物理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李勇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王军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普通物理学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光学原理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物理习题集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1"/>
                    </a:ext>
                  </a:extLst>
                </a:tr>
                <a:tr h="771131"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endPara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endParaRP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数学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李勇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张平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数学分析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微分方程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高等代数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2"/>
                    </a:ext>
                  </a:extLst>
                </a:tr>
                <a:tr h="771131"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endPara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endParaRP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计算数学</a:t>
                        </a: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张平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周峰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algn="l">
                          <a:spcBef>
                            <a:spcPct val="20000"/>
                          </a:spcBef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1pPr>
                        <a:lvl2pPr algn="l">
                          <a:spcBef>
                            <a:spcPct val="20000"/>
                          </a:spcBef>
                          <a:buClr>
                            <a:srgbClr val="CC00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2pPr>
                        <a:lvl3pPr algn="l">
                          <a:spcBef>
                            <a:spcPct val="20000"/>
                          </a:spcBef>
                          <a:buClr>
                            <a:srgbClr val="FF9900"/>
                          </a:buClr>
                          <a:buSzPct val="75000"/>
                          <a:buFont typeface="Wingdings" panose="05000000000000000000" pitchFamily="2" charset="2"/>
                          <a:defRPr sz="2400"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3pPr>
                        <a:lvl4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4pPr>
                        <a:lvl5pPr algn="l">
                          <a:spcBef>
                            <a:spcPct val="20000"/>
                          </a:spcBef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5pPr>
                        <a:lvl6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6pPr>
                        <a:lvl7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7pPr>
                        <a:lvl8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8pPr>
                        <a:lvl9pPr fontAlgn="base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defRPr b="1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楷体_GB2312" pitchFamily="49" charset="-122"/>
                          </a:defRPr>
                        </a:lvl9pPr>
                      </a:lstStyle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zh-CN" altLang="en-US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数学分析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….</a:t>
                        </a:r>
                      </a:p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…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3"/>
                    </a:ext>
                  </a:extLst>
                </a:tr>
                <a:tr h="293452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…</a:t>
                        </a:r>
                        <a:endPara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endParaRPr>
                      </a:p>
                    </a:txBody>
                    <a:tcPr marT="45709" marB="45709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…</a:t>
                        </a:r>
                        <a:endPara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微软雅黑" panose="020B0503020204020204" pitchFamily="34" charset="-122"/>
                        </a:endParaRP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>
                            <a:srgbClr val="3333FF"/>
                          </a:buClr>
                          <a:buSzPct val="75000"/>
                          <a:buFont typeface="Wingdings" panose="05000000000000000000" pitchFamily="2" charset="2"/>
                          <a:buNone/>
                          <a:tabLst/>
                        </a:pPr>
                        <a:r>
                          <a:rPr kumimoji="0" lang="en-US" altLang="zh-CN" sz="1400" b="0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微软雅黑" panose="020B0503020204020204" pitchFamily="34" charset="-122"/>
                          </a:rPr>
                          <a:t>…</a:t>
                        </a:r>
                      </a:p>
                    </a:txBody>
                    <a:tcPr marT="45709" marB="45709" anchor="ctr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3352442092"/>
                    </a:ext>
                  </a:extLst>
                </a:tr>
              </a:tbl>
            </a:graphicData>
          </a:graphic>
        </p:graphicFrame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652434B5-BA08-4DDB-AB82-1E8C4B8E8C48}"/>
                </a:ext>
              </a:extLst>
            </p:cNvPr>
            <p:cNvSpPr/>
            <p:nvPr/>
          </p:nvSpPr>
          <p:spPr>
            <a:xfrm>
              <a:off x="1698489" y="6459172"/>
              <a:ext cx="126188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400" dirty="0"/>
                <a:t>非规范化关系</a:t>
              </a:r>
            </a:p>
          </p:txBody>
        </p:sp>
        <p:sp>
          <p:nvSpPr>
            <p:cNvPr id="7" name="AutoShape 37">
              <a:extLst>
                <a:ext uri="{FF2B5EF4-FFF2-40B4-BE49-F238E27FC236}">
                  <a16:creationId xmlns:a16="http://schemas.microsoft.com/office/drawing/2014/main" xmlns="" id="{270C19B8-84D8-45FB-90FD-0F7E8B854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7392" y="3955983"/>
              <a:ext cx="616184" cy="416377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  <p:sp>
          <p:nvSpPr>
            <p:cNvPr id="8" name="AutoShape 37">
              <a:extLst>
                <a:ext uri="{FF2B5EF4-FFF2-40B4-BE49-F238E27FC236}">
                  <a16:creationId xmlns:a16="http://schemas.microsoft.com/office/drawing/2014/main" xmlns="" id="{334F6677-08D1-41AD-8027-51F2A1624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25413" y="4734025"/>
              <a:ext cx="616184" cy="416377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  <p:sp>
          <p:nvSpPr>
            <p:cNvPr id="9" name="AutoShape 37">
              <a:extLst>
                <a:ext uri="{FF2B5EF4-FFF2-40B4-BE49-F238E27FC236}">
                  <a16:creationId xmlns:a16="http://schemas.microsoft.com/office/drawing/2014/main" xmlns="" id="{E4174DAA-3780-4D56-B3B8-3A6B5A2B5E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5038" y="5494421"/>
              <a:ext cx="616184" cy="416377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  <p:sp>
          <p:nvSpPr>
            <p:cNvPr id="10" name="AutoShape 37">
              <a:extLst>
                <a:ext uri="{FF2B5EF4-FFF2-40B4-BE49-F238E27FC236}">
                  <a16:creationId xmlns:a16="http://schemas.microsoft.com/office/drawing/2014/main" xmlns="" id="{DC16F027-8D7E-4B95-A33B-688EE1870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1311" y="3848501"/>
              <a:ext cx="1185677" cy="636872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  <p:sp>
          <p:nvSpPr>
            <p:cNvPr id="11" name="AutoShape 37">
              <a:extLst>
                <a:ext uri="{FF2B5EF4-FFF2-40B4-BE49-F238E27FC236}">
                  <a16:creationId xmlns:a16="http://schemas.microsoft.com/office/drawing/2014/main" xmlns="" id="{0366FFF9-08D4-4028-8A59-2F4D237B8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708" y="4616918"/>
              <a:ext cx="1033279" cy="636872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  <p:sp>
          <p:nvSpPr>
            <p:cNvPr id="12" name="AutoShape 37">
              <a:extLst>
                <a:ext uri="{FF2B5EF4-FFF2-40B4-BE49-F238E27FC236}">
                  <a16:creationId xmlns:a16="http://schemas.microsoft.com/office/drawing/2014/main" xmlns="" id="{4AB661C5-ADB0-4A42-A134-21ACC7405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6710" y="5348438"/>
              <a:ext cx="1042904" cy="636872"/>
            </a:xfrm>
            <a:prstGeom prst="bracePair">
              <a:avLst>
                <a:gd name="adj" fmla="val 8333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1400"/>
            </a:p>
          </p:txBody>
        </p:sp>
      </p:grpSp>
      <p:grpSp>
        <p:nvGrpSpPr>
          <p:cNvPr id="14" name="组合 449537">
            <a:extLst>
              <a:ext uri="{FF2B5EF4-FFF2-40B4-BE49-F238E27FC236}">
                <a16:creationId xmlns:a16="http://schemas.microsoft.com/office/drawing/2014/main" xmlns="" id="{EC88A7B2-66AB-4F38-BB4C-4C113D84DE27}"/>
              </a:ext>
            </a:extLst>
          </p:cNvPr>
          <p:cNvGrpSpPr>
            <a:grpSpLocks/>
          </p:cNvGrpSpPr>
          <p:nvPr/>
        </p:nvGrpSpPr>
        <p:grpSpPr bwMode="auto">
          <a:xfrm>
            <a:off x="6260738" y="3130804"/>
            <a:ext cx="4021154" cy="3185962"/>
            <a:chOff x="1344" y="1296"/>
            <a:chExt cx="3888" cy="2881"/>
          </a:xfrm>
        </p:grpSpPr>
        <p:sp>
          <p:nvSpPr>
            <p:cNvPr id="15" name="矩形 449538">
              <a:extLst>
                <a:ext uri="{FF2B5EF4-FFF2-40B4-BE49-F238E27FC236}">
                  <a16:creationId xmlns:a16="http://schemas.microsoft.com/office/drawing/2014/main" xmlns="" id="{A9CCF657-6B10-47EF-9C1E-F727AE164B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/>
                <a:t>…</a:t>
              </a:r>
            </a:p>
          </p:txBody>
        </p:sp>
        <p:sp>
          <p:nvSpPr>
            <p:cNvPr id="16" name="矩形 449539">
              <a:extLst>
                <a:ext uri="{FF2B5EF4-FFF2-40B4-BE49-F238E27FC236}">
                  <a16:creationId xmlns:a16="http://schemas.microsoft.com/office/drawing/2014/main" xmlns="" id="{64972018-63F9-49B4-B851-2EDEBBB14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 </a:t>
              </a:r>
              <a:r>
                <a:rPr lang="en-US" altLang="zh-CN" sz="1400" dirty="0"/>
                <a:t>…</a:t>
              </a:r>
            </a:p>
          </p:txBody>
        </p:sp>
        <p:sp>
          <p:nvSpPr>
            <p:cNvPr id="17" name="矩形 449540">
              <a:extLst>
                <a:ext uri="{FF2B5EF4-FFF2-40B4-BE49-F238E27FC236}">
                  <a16:creationId xmlns:a16="http://schemas.microsoft.com/office/drawing/2014/main" xmlns="" id="{07F1C116-499C-4056-A1BE-25B72213C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/>
                <a:t>… </a:t>
              </a:r>
            </a:p>
          </p:txBody>
        </p:sp>
        <p:sp>
          <p:nvSpPr>
            <p:cNvPr id="18" name="矩形 449541">
              <a:extLst>
                <a:ext uri="{FF2B5EF4-FFF2-40B4-BE49-F238E27FC236}">
                  <a16:creationId xmlns:a16="http://schemas.microsoft.com/office/drawing/2014/main" xmlns="" id="{CF736077-7DFC-4FD6-846C-A6FB0E619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参考书</a:t>
              </a:r>
              <a:r>
                <a:rPr lang="en-US" altLang="zh-CN" sz="1400" b="1" dirty="0"/>
                <a:t>B</a:t>
              </a:r>
            </a:p>
          </p:txBody>
        </p:sp>
        <p:sp>
          <p:nvSpPr>
            <p:cNvPr id="19" name="矩形 449542">
              <a:extLst>
                <a:ext uri="{FF2B5EF4-FFF2-40B4-BE49-F238E27FC236}">
                  <a16:creationId xmlns:a16="http://schemas.microsoft.com/office/drawing/2014/main" xmlns="" id="{2DCD2E47-1183-4518-8E85-ACC550EEE2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教师</a:t>
              </a:r>
              <a:r>
                <a:rPr lang="en-US" altLang="zh-CN" sz="1400" b="1" dirty="0"/>
                <a:t>T</a:t>
              </a:r>
            </a:p>
          </p:txBody>
        </p:sp>
        <p:sp>
          <p:nvSpPr>
            <p:cNvPr id="20" name="矩形 449543">
              <a:extLst>
                <a:ext uri="{FF2B5EF4-FFF2-40B4-BE49-F238E27FC236}">
                  <a16:creationId xmlns:a16="http://schemas.microsoft.com/office/drawing/2014/main" xmlns="" id="{6BD5AC76-A231-42BE-AF16-FBDD34F482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课程</a:t>
              </a:r>
              <a:r>
                <a:rPr lang="en-US" altLang="zh-CN" sz="1400" b="1" dirty="0"/>
                <a:t>C</a:t>
              </a:r>
            </a:p>
          </p:txBody>
        </p:sp>
        <p:sp>
          <p:nvSpPr>
            <p:cNvPr id="21" name="直接连接符 449544">
              <a:extLst>
                <a:ext uri="{FF2B5EF4-FFF2-40B4-BE49-F238E27FC236}">
                  <a16:creationId xmlns:a16="http://schemas.microsoft.com/office/drawing/2014/main" xmlns="" id="{BFE40D80-E0B7-45B3-9596-D4957B9E0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38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直接连接符 449545">
              <a:extLst>
                <a:ext uri="{FF2B5EF4-FFF2-40B4-BE49-F238E27FC236}">
                  <a16:creationId xmlns:a16="http://schemas.microsoft.com/office/drawing/2014/main" xmlns="" id="{4BC587B1-3A73-4E3A-B9F4-859B77C298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3" name="直接连接符 449546">
              <a:extLst>
                <a:ext uri="{FF2B5EF4-FFF2-40B4-BE49-F238E27FC236}">
                  <a16:creationId xmlns:a16="http://schemas.microsoft.com/office/drawing/2014/main" xmlns="" id="{2610EBBE-685A-4AFC-A798-DF26C0AEE0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4177"/>
              <a:ext cx="38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4" name="直接连接符 449547">
              <a:extLst>
                <a:ext uri="{FF2B5EF4-FFF2-40B4-BE49-F238E27FC236}">
                  <a16:creationId xmlns:a16="http://schemas.microsoft.com/office/drawing/2014/main" xmlns="" id="{66B5CF86-F184-4040-A62D-F331D1B9B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5" name="直接连接符 449548">
              <a:extLst>
                <a:ext uri="{FF2B5EF4-FFF2-40B4-BE49-F238E27FC236}">
                  <a16:creationId xmlns:a16="http://schemas.microsoft.com/office/drawing/2014/main" xmlns="" id="{8C596E41-BDEE-4DCF-99F2-79FD7A9DD5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6" name="直接连接符 449549">
              <a:extLst>
                <a:ext uri="{FF2B5EF4-FFF2-40B4-BE49-F238E27FC236}">
                  <a16:creationId xmlns:a16="http://schemas.microsoft.com/office/drawing/2014/main" xmlns="" id="{7FBE824F-732B-471E-AB71-50DC09B6E2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96"/>
              <a:ext cx="0" cy="28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7" name="直接连接符 449550">
              <a:extLst>
                <a:ext uri="{FF2B5EF4-FFF2-40B4-BE49-F238E27FC236}">
                  <a16:creationId xmlns:a16="http://schemas.microsoft.com/office/drawing/2014/main" xmlns="" id="{25FD8929-B8E4-4EC2-829B-54917328D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0" cy="25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8" name="直接连接符 449551">
              <a:extLst>
                <a:ext uri="{FF2B5EF4-FFF2-40B4-BE49-F238E27FC236}">
                  <a16:creationId xmlns:a16="http://schemas.microsoft.com/office/drawing/2014/main" xmlns="" id="{43E42133-57E3-4A5E-B8C7-33B43ECF81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0" cy="32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xmlns="" id="{D7C35730-D1BD-4A23-8387-F49E927F8E28}"/>
              </a:ext>
            </a:extLst>
          </p:cNvPr>
          <p:cNvSpPr/>
          <p:nvPr/>
        </p:nvSpPr>
        <p:spPr>
          <a:xfrm>
            <a:off x="7516335" y="6303324"/>
            <a:ext cx="14414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规范化的二维表</a:t>
            </a:r>
          </a:p>
        </p:txBody>
      </p:sp>
      <p:sp>
        <p:nvSpPr>
          <p:cNvPr id="30" name="右箭头 52">
            <a:extLst>
              <a:ext uri="{FF2B5EF4-FFF2-40B4-BE49-F238E27FC236}">
                <a16:creationId xmlns:a16="http://schemas.microsoft.com/office/drawing/2014/main" xmlns="" id="{A0B00538-8B92-44CF-AC52-1E8D124C768B}"/>
              </a:ext>
            </a:extLst>
          </p:cNvPr>
          <p:cNvSpPr/>
          <p:nvPr/>
        </p:nvSpPr>
        <p:spPr>
          <a:xfrm>
            <a:off x="5313837" y="4136349"/>
            <a:ext cx="685800" cy="4616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文本占位符 451586">
            <a:extLst>
              <a:ext uri="{FF2B5EF4-FFF2-40B4-BE49-F238E27FC236}">
                <a16:creationId xmlns:a16="http://schemas.microsoft.com/office/drawing/2014/main" xmlns="" id="{E49D6465-FDC2-4536-8356-ECC733A58E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Teaching</a:t>
            </a:r>
            <a:r>
              <a:rPr lang="zh-CN" altLang="en-US" dirty="0"/>
              <a:t>具有唯一候选码</a:t>
            </a:r>
            <a:r>
              <a:rPr lang="en-US" altLang="zh-CN" dirty="0"/>
              <a:t>(C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B)</a:t>
            </a:r>
            <a:r>
              <a:rPr lang="zh-CN" altLang="en-US" dirty="0"/>
              <a:t>， 即全码</a:t>
            </a:r>
          </a:p>
          <a:p>
            <a:r>
              <a:rPr lang="en-US" altLang="zh-CN" dirty="0" err="1"/>
              <a:t>Teaching∈BCNF</a:t>
            </a:r>
            <a:endParaRPr lang="en-US" altLang="zh-CN" dirty="0"/>
          </a:p>
          <a:p>
            <a:r>
              <a:rPr lang="zh-CN" altLang="en-US" dirty="0"/>
              <a:t>但</a:t>
            </a:r>
            <a:r>
              <a:rPr lang="en-US" altLang="zh-CN" dirty="0"/>
              <a:t>Teaching</a:t>
            </a:r>
            <a:r>
              <a:rPr lang="zh-CN" altLang="en-US" dirty="0"/>
              <a:t>仍然存在冗余度大，更新异常的问题。</a:t>
            </a:r>
          </a:p>
          <a:p>
            <a:pPr marL="342900" lvl="1" indent="0">
              <a:buNone/>
            </a:pPr>
            <a:r>
              <a:rPr lang="zh-CN" altLang="en-US" dirty="0"/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11C12D11-FB73-4995-8122-ADAE8D3C4A94}"/>
              </a:ext>
            </a:extLst>
          </p:cNvPr>
          <p:cNvSpPr txBox="1"/>
          <p:nvPr/>
        </p:nvSpPr>
        <p:spPr>
          <a:xfrm>
            <a:off x="5396685" y="3228016"/>
            <a:ext cx="5917237" cy="3015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冗余度大：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有多少名任课教师，参考书就要存储多少次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插入操作复杂：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当某一课程增加一名任课教师时，该课程有多少本参照书，就必须插入多少个元组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删除操作复杂：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某一门课要去掉一本参考书，该课程有多少名教师，就必须删除多少个元组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修改操作复杂：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某一门课要修改一本参考书，该课程有多少名教师，就必须修改多少个元组</a:t>
            </a:r>
          </a:p>
        </p:txBody>
      </p:sp>
      <p:sp>
        <p:nvSpPr>
          <p:cNvPr id="81922" name="标题 451585">
            <a:extLst>
              <a:ext uri="{FF2B5EF4-FFF2-40B4-BE49-F238E27FC236}">
                <a16:creationId xmlns:a16="http://schemas.microsoft.com/office/drawing/2014/main" xmlns="" id="{5EAE4306-3848-41C6-BA7E-E9E3B40C2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2EE38690-D7D3-4817-BFAB-29FC4461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sp>
        <p:nvSpPr>
          <p:cNvPr id="451588" name="云形标注 451587">
            <a:extLst>
              <a:ext uri="{FF2B5EF4-FFF2-40B4-BE49-F238E27FC236}">
                <a16:creationId xmlns:a16="http://schemas.microsoft.com/office/drawing/2014/main" xmlns="" id="{21D4A0A3-24CC-4B51-AC5C-14B508C5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82002" y="1375216"/>
            <a:ext cx="2269725" cy="1000759"/>
          </a:xfrm>
          <a:prstGeom prst="cloudCallout">
            <a:avLst>
              <a:gd name="adj1" fmla="val -62710"/>
              <a:gd name="adj2" fmla="val 108726"/>
            </a:avLst>
          </a:prstGeom>
          <a:ln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>
            <a:lvl1pPr marL="342900" indent="-3429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000" b="1" dirty="0"/>
              <a:t>原因：存在</a:t>
            </a:r>
          </a:p>
          <a:p>
            <a:pPr algn="ctr"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000" b="1" dirty="0"/>
              <a:t>多值依赖</a:t>
            </a:r>
          </a:p>
        </p:txBody>
      </p:sp>
      <p:grpSp>
        <p:nvGrpSpPr>
          <p:cNvPr id="8" name="组合 449537">
            <a:extLst>
              <a:ext uri="{FF2B5EF4-FFF2-40B4-BE49-F238E27FC236}">
                <a16:creationId xmlns:a16="http://schemas.microsoft.com/office/drawing/2014/main" xmlns="" id="{EC3D1311-97AD-4E1A-81C2-7A6DF3A7EACC}"/>
              </a:ext>
            </a:extLst>
          </p:cNvPr>
          <p:cNvGrpSpPr>
            <a:grpSpLocks/>
          </p:cNvGrpSpPr>
          <p:nvPr/>
        </p:nvGrpSpPr>
        <p:grpSpPr bwMode="auto">
          <a:xfrm>
            <a:off x="1224431" y="3059736"/>
            <a:ext cx="4021154" cy="3185962"/>
            <a:chOff x="1344" y="1296"/>
            <a:chExt cx="3888" cy="2881"/>
          </a:xfrm>
        </p:grpSpPr>
        <p:sp>
          <p:nvSpPr>
            <p:cNvPr id="9" name="矩形 449538">
              <a:extLst>
                <a:ext uri="{FF2B5EF4-FFF2-40B4-BE49-F238E27FC236}">
                  <a16:creationId xmlns:a16="http://schemas.microsoft.com/office/drawing/2014/main" xmlns="" id="{383350A8-2D24-433F-9CE1-E8C9F430FA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数学分析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微分方程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高等代数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/>
                <a:t>…</a:t>
              </a:r>
            </a:p>
          </p:txBody>
        </p:sp>
        <p:sp>
          <p:nvSpPr>
            <p:cNvPr id="10" name="矩形 449539">
              <a:extLst>
                <a:ext uri="{FF2B5EF4-FFF2-40B4-BE49-F238E27FC236}">
                  <a16:creationId xmlns:a16="http://schemas.microsoft.com/office/drawing/2014/main" xmlns="" id="{0EDE454D-3E25-417E-8242-510AE1CAE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张 平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 </a:t>
              </a:r>
              <a:r>
                <a:rPr lang="en-US" altLang="zh-CN" sz="1400" dirty="0"/>
                <a:t>…</a:t>
              </a:r>
            </a:p>
          </p:txBody>
        </p:sp>
        <p:sp>
          <p:nvSpPr>
            <p:cNvPr id="11" name="矩形 449540">
              <a:extLst>
                <a:ext uri="{FF2B5EF4-FFF2-40B4-BE49-F238E27FC236}">
                  <a16:creationId xmlns:a16="http://schemas.microsoft.com/office/drawing/2014/main" xmlns="" id="{84F490F9-3C46-4834-BC4C-5AE872A1E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数 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1400" dirty="0"/>
                <a:t>… </a:t>
              </a:r>
            </a:p>
          </p:txBody>
        </p:sp>
        <p:sp>
          <p:nvSpPr>
            <p:cNvPr id="12" name="矩形 449541">
              <a:extLst>
                <a:ext uri="{FF2B5EF4-FFF2-40B4-BE49-F238E27FC236}">
                  <a16:creationId xmlns:a16="http://schemas.microsoft.com/office/drawing/2014/main" xmlns="" id="{7B3C1B4B-8F0A-4359-BCD8-7252B6F43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参考书</a:t>
              </a:r>
              <a:r>
                <a:rPr lang="en-US" altLang="zh-CN" sz="1400" b="1" dirty="0"/>
                <a:t>B</a:t>
              </a:r>
            </a:p>
          </p:txBody>
        </p:sp>
        <p:sp>
          <p:nvSpPr>
            <p:cNvPr id="13" name="矩形 449542">
              <a:extLst>
                <a:ext uri="{FF2B5EF4-FFF2-40B4-BE49-F238E27FC236}">
                  <a16:creationId xmlns:a16="http://schemas.microsoft.com/office/drawing/2014/main" xmlns="" id="{D05231A9-2EA0-4C53-A964-89164F43F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教师</a:t>
              </a:r>
              <a:r>
                <a:rPr lang="en-US" altLang="zh-CN" sz="1400" b="1" dirty="0"/>
                <a:t>T</a:t>
              </a:r>
            </a:p>
          </p:txBody>
        </p:sp>
        <p:sp>
          <p:nvSpPr>
            <p:cNvPr id="14" name="矩形 449543">
              <a:extLst>
                <a:ext uri="{FF2B5EF4-FFF2-40B4-BE49-F238E27FC236}">
                  <a16:creationId xmlns:a16="http://schemas.microsoft.com/office/drawing/2014/main" xmlns="" id="{EF58649E-57E5-403A-9CDB-E2EDDFD65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296"/>
              <a:ext cx="1296" cy="327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课程</a:t>
              </a:r>
              <a:r>
                <a:rPr lang="en-US" altLang="zh-CN" sz="1400" b="1" dirty="0"/>
                <a:t>C</a:t>
              </a:r>
            </a:p>
          </p:txBody>
        </p:sp>
        <p:sp>
          <p:nvSpPr>
            <p:cNvPr id="15" name="直接连接符 449544">
              <a:extLst>
                <a:ext uri="{FF2B5EF4-FFF2-40B4-BE49-F238E27FC236}">
                  <a16:creationId xmlns:a16="http://schemas.microsoft.com/office/drawing/2014/main" xmlns="" id="{BE571E43-664A-4AEB-94AC-E89B049D5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38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6" name="直接连接符 449545">
              <a:extLst>
                <a:ext uri="{FF2B5EF4-FFF2-40B4-BE49-F238E27FC236}">
                  <a16:creationId xmlns:a16="http://schemas.microsoft.com/office/drawing/2014/main" xmlns="" id="{697A7B63-07E4-48F8-A1CD-95F878014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7" name="直接连接符 449546">
              <a:extLst>
                <a:ext uri="{FF2B5EF4-FFF2-40B4-BE49-F238E27FC236}">
                  <a16:creationId xmlns:a16="http://schemas.microsoft.com/office/drawing/2014/main" xmlns="" id="{9559BE5B-1211-45B4-9AF1-904A7C24B2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4177"/>
              <a:ext cx="38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8" name="直接连接符 449547">
              <a:extLst>
                <a:ext uri="{FF2B5EF4-FFF2-40B4-BE49-F238E27FC236}">
                  <a16:creationId xmlns:a16="http://schemas.microsoft.com/office/drawing/2014/main" xmlns="" id="{AB51953A-CFA8-4597-8BD1-480FB07A2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19" name="直接连接符 449548">
              <a:extLst>
                <a:ext uri="{FF2B5EF4-FFF2-40B4-BE49-F238E27FC236}">
                  <a16:creationId xmlns:a16="http://schemas.microsoft.com/office/drawing/2014/main" xmlns="" id="{580E38C3-90A3-4306-BE18-2740C1A0C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0" name="直接连接符 449549">
              <a:extLst>
                <a:ext uri="{FF2B5EF4-FFF2-40B4-BE49-F238E27FC236}">
                  <a16:creationId xmlns:a16="http://schemas.microsoft.com/office/drawing/2014/main" xmlns="" id="{6FA9CACF-9C21-4150-9A90-653CAC8E72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96"/>
              <a:ext cx="0" cy="28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1" name="直接连接符 449550">
              <a:extLst>
                <a:ext uri="{FF2B5EF4-FFF2-40B4-BE49-F238E27FC236}">
                  <a16:creationId xmlns:a16="http://schemas.microsoft.com/office/drawing/2014/main" xmlns="" id="{2793015E-8542-447E-BB7A-50CE8357E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0" cy="25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22" name="直接连接符 449551">
              <a:extLst>
                <a:ext uri="{FF2B5EF4-FFF2-40B4-BE49-F238E27FC236}">
                  <a16:creationId xmlns:a16="http://schemas.microsoft.com/office/drawing/2014/main" xmlns="" id="{163129F9-5E95-41B6-B5E0-C47E2D10F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0" cy="32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5158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453633">
            <a:extLst>
              <a:ext uri="{FF2B5EF4-FFF2-40B4-BE49-F238E27FC236}">
                <a16:creationId xmlns:a16="http://schemas.microsoft.com/office/drawing/2014/main" xmlns="" id="{9621D316-BEC6-4FCA-A951-28122E38C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82947" name="文本占位符 453634">
            <a:extLst>
              <a:ext uri="{FF2B5EF4-FFF2-40B4-BE49-F238E27FC236}">
                <a16:creationId xmlns:a16="http://schemas.microsoft.com/office/drawing/2014/main" xmlns="" id="{905512CD-C927-4BE8-B990-46E78BE9FA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6.9 </a:t>
            </a:r>
            <a:r>
              <a:rPr lang="zh-CN" altLang="en-US" dirty="0"/>
              <a:t>设</a:t>
            </a:r>
            <a:r>
              <a:rPr lang="en-US" altLang="zh-CN" dirty="0"/>
              <a:t>R(U)</a:t>
            </a:r>
            <a:r>
              <a:rPr lang="zh-CN" altLang="en-US" dirty="0"/>
              <a:t>是一个属性集</a:t>
            </a:r>
            <a:r>
              <a:rPr lang="en-US" altLang="zh-CN" dirty="0"/>
              <a:t>U</a:t>
            </a:r>
            <a:r>
              <a:rPr lang="zh-CN" altLang="en-US" dirty="0"/>
              <a:t>上的一个关系模式， </a:t>
            </a:r>
            <a:r>
              <a:rPr lang="en-US" altLang="zh-CN" dirty="0"/>
              <a:t>X</a:t>
            </a:r>
            <a:r>
              <a:rPr lang="zh-CN" altLang="en-US" dirty="0"/>
              <a:t>、 </a:t>
            </a:r>
            <a:r>
              <a:rPr lang="en-US" altLang="zh-CN" dirty="0"/>
              <a:t>Y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  <a:r>
              <a:rPr lang="zh-CN" altLang="en-US" dirty="0"/>
              <a:t>是</a:t>
            </a:r>
            <a:r>
              <a:rPr lang="en-US" altLang="zh-CN" dirty="0"/>
              <a:t>U</a:t>
            </a:r>
            <a:r>
              <a:rPr lang="zh-CN" altLang="en-US" dirty="0"/>
              <a:t>的子集，并且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U</a:t>
            </a:r>
            <a:r>
              <a:rPr lang="zh-CN" altLang="en-US" dirty="0"/>
              <a:t>－</a:t>
            </a:r>
            <a:r>
              <a:rPr lang="en-US" altLang="zh-CN" dirty="0"/>
              <a:t>X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  <a:r>
              <a:rPr lang="zh-CN" altLang="en-US" dirty="0"/>
              <a:t>。关系模式</a:t>
            </a:r>
            <a:r>
              <a:rPr lang="en-US" altLang="zh-CN" dirty="0"/>
              <a:t>R(U)</a:t>
            </a:r>
            <a:r>
              <a:rPr lang="zh-CN" altLang="en-US" dirty="0"/>
              <a:t>中</a:t>
            </a:r>
            <a:r>
              <a:rPr lang="zh-CN" altLang="en-US" dirty="0">
                <a:solidFill>
                  <a:srgbClr val="C00000"/>
                </a:solidFill>
              </a:rPr>
              <a:t>多值依赖（</a:t>
            </a:r>
            <a:r>
              <a:rPr lang="en-US" altLang="zh-CN" dirty="0">
                <a:solidFill>
                  <a:srgbClr val="C00000"/>
                </a:solidFill>
              </a:rPr>
              <a:t>MVD</a:t>
            </a:r>
            <a:r>
              <a:rPr lang="zh-CN" altLang="en-US" dirty="0">
                <a:solidFill>
                  <a:srgbClr val="C00000"/>
                </a:solidFill>
              </a:rPr>
              <a:t>） </a:t>
            </a:r>
            <a:r>
              <a:rPr lang="en-US" altLang="zh-CN" dirty="0">
                <a:solidFill>
                  <a:srgbClr val="C00000"/>
                </a:solidFill>
              </a:rPr>
              <a:t>X→→Y</a:t>
            </a:r>
            <a:r>
              <a:rPr lang="zh-CN" altLang="en-US" dirty="0"/>
              <a:t>成立，当且仅当对</a:t>
            </a:r>
            <a:r>
              <a:rPr lang="en-US" altLang="zh-CN" dirty="0"/>
              <a:t>R(U)</a:t>
            </a:r>
            <a:r>
              <a:rPr lang="zh-CN" altLang="en-US" dirty="0"/>
              <a:t>的任一关系</a:t>
            </a:r>
            <a:r>
              <a:rPr lang="en-US" altLang="zh-CN" dirty="0"/>
              <a:t>r</a:t>
            </a:r>
            <a:r>
              <a:rPr lang="zh-CN" altLang="en-US" dirty="0"/>
              <a:t>，给定的一对（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z</a:t>
            </a:r>
            <a:r>
              <a:rPr lang="zh-CN" altLang="en-US" dirty="0"/>
              <a:t>）值，有一组</a:t>
            </a:r>
            <a:r>
              <a:rPr lang="en-US" altLang="zh-CN" dirty="0"/>
              <a:t>Y</a:t>
            </a:r>
            <a:r>
              <a:rPr lang="zh-CN" altLang="en-US" dirty="0"/>
              <a:t>的值，这组值仅仅决定于</a:t>
            </a:r>
            <a:r>
              <a:rPr lang="en-US" altLang="zh-CN" dirty="0"/>
              <a:t>x</a:t>
            </a:r>
            <a:r>
              <a:rPr lang="zh-CN" altLang="en-US" dirty="0"/>
              <a:t>值而与</a:t>
            </a:r>
            <a:r>
              <a:rPr lang="en-US" altLang="zh-CN" dirty="0"/>
              <a:t>z</a:t>
            </a:r>
            <a:r>
              <a:rPr lang="zh-CN" altLang="en-US" dirty="0"/>
              <a:t>值无关</a:t>
            </a:r>
          </a:p>
          <a:p>
            <a:endParaRPr lang="zh-CN" altLang="en-US" dirty="0"/>
          </a:p>
          <a:p>
            <a:r>
              <a:rPr lang="zh-CN" altLang="en-US" dirty="0"/>
              <a:t>例  </a:t>
            </a:r>
            <a:r>
              <a:rPr lang="en-US" altLang="zh-CN" dirty="0"/>
              <a:t>Teaching</a:t>
            </a:r>
            <a:r>
              <a:rPr lang="zh-CN" altLang="en-US" dirty="0"/>
              <a:t>（</a:t>
            </a:r>
            <a:r>
              <a:rPr lang="en-US" altLang="zh-CN" dirty="0"/>
              <a:t>C, T, B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对于</a:t>
            </a:r>
            <a:r>
              <a:rPr lang="en-US" altLang="zh-CN" dirty="0"/>
              <a:t>C</a:t>
            </a:r>
            <a:r>
              <a:rPr lang="zh-CN" altLang="en-US" dirty="0"/>
              <a:t>的每一个值，</a:t>
            </a:r>
            <a:r>
              <a:rPr lang="en-US" altLang="zh-CN" dirty="0"/>
              <a:t>T</a:t>
            </a:r>
            <a:r>
              <a:rPr lang="zh-CN" altLang="en-US" dirty="0"/>
              <a:t>有一组值与之对应，而不论</a:t>
            </a:r>
            <a:r>
              <a:rPr lang="en-US" altLang="zh-CN" dirty="0"/>
              <a:t>B</a:t>
            </a:r>
            <a:r>
              <a:rPr lang="zh-CN" altLang="en-US" dirty="0"/>
              <a:t>取何值</a:t>
            </a:r>
            <a:endParaRPr lang="en-US" altLang="zh-CN" dirty="0"/>
          </a:p>
          <a:p>
            <a:pPr lvl="1"/>
            <a:r>
              <a:rPr lang="zh-CN" altLang="en-US" dirty="0"/>
              <a:t>即：</a:t>
            </a:r>
            <a:r>
              <a:rPr lang="en-US" altLang="zh-CN" dirty="0">
                <a:solidFill>
                  <a:srgbClr val="C00000"/>
                </a:solidFill>
              </a:rPr>
              <a:t>C→→T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946B5CB-E152-4145-BB40-D738225EC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xmlns="" id="{AAF7E680-20D1-4C15-A41F-DE0ECFCBC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2281" y="3294384"/>
            <a:ext cx="297130" cy="265096"/>
          </a:xfrm>
          <a:prstGeom prst="wedgeRoundRectCallout">
            <a:avLst>
              <a:gd name="adj1" fmla="val 12690"/>
              <a:gd name="adj2" fmla="val 96690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FF33CC"/>
                </a:solidFill>
              </a:rPr>
              <a:t>X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xmlns="" id="{B491063B-DB8F-42C4-A64B-A48AC2736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731" y="3294384"/>
            <a:ext cx="297130" cy="265096"/>
          </a:xfrm>
          <a:prstGeom prst="wedgeRoundRectCallout">
            <a:avLst>
              <a:gd name="adj1" fmla="val 2593"/>
              <a:gd name="adj2" fmla="val 100106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FF33CC"/>
                </a:solidFill>
              </a:rPr>
              <a:t>Y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xmlns="" id="{6E31CB5B-5EDE-4A6F-962C-A126224E9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470" y="3304009"/>
            <a:ext cx="297129" cy="265096"/>
          </a:xfrm>
          <a:prstGeom prst="wedgeRoundRectCallout">
            <a:avLst>
              <a:gd name="adj1" fmla="val -44296"/>
              <a:gd name="adj2" fmla="val 100000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dirty="0">
                <a:solidFill>
                  <a:srgbClr val="FF33CC"/>
                </a:solidFill>
              </a:rPr>
              <a:t>Z</a:t>
            </a:r>
          </a:p>
        </p:txBody>
      </p:sp>
      <p:grpSp>
        <p:nvGrpSpPr>
          <p:cNvPr id="24" name="组合 449537">
            <a:extLst>
              <a:ext uri="{FF2B5EF4-FFF2-40B4-BE49-F238E27FC236}">
                <a16:creationId xmlns:a16="http://schemas.microsoft.com/office/drawing/2014/main" xmlns="" id="{5B72307B-D458-4E86-A3A9-57044583DE2D}"/>
              </a:ext>
            </a:extLst>
          </p:cNvPr>
          <p:cNvGrpSpPr>
            <a:grpSpLocks/>
          </p:cNvGrpSpPr>
          <p:nvPr/>
        </p:nvGrpSpPr>
        <p:grpSpPr bwMode="auto">
          <a:xfrm>
            <a:off x="4015657" y="4652541"/>
            <a:ext cx="4021154" cy="1850539"/>
            <a:chOff x="1344" y="943"/>
            <a:chExt cx="3888" cy="3234"/>
          </a:xfrm>
        </p:grpSpPr>
        <p:sp>
          <p:nvSpPr>
            <p:cNvPr id="25" name="矩形 449538">
              <a:extLst>
                <a:ext uri="{FF2B5EF4-FFF2-40B4-BE49-F238E27FC236}">
                  <a16:creationId xmlns:a16="http://schemas.microsoft.com/office/drawing/2014/main" xmlns="" id="{F3BD901B-940F-4223-83C3-A7FEF00D8A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普通物理学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光学原理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物理习题集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endParaRPr lang="en-US" altLang="zh-CN" sz="1400" dirty="0"/>
            </a:p>
          </p:txBody>
        </p:sp>
        <p:sp>
          <p:nvSpPr>
            <p:cNvPr id="26" name="矩形 449539">
              <a:extLst>
                <a:ext uri="{FF2B5EF4-FFF2-40B4-BE49-F238E27FC236}">
                  <a16:creationId xmlns:a16="http://schemas.microsoft.com/office/drawing/2014/main" xmlns="" id="{5B16C014-7B86-4D4D-8086-75CB77DD33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>
                  <a:solidFill>
                    <a:srgbClr val="6600FF"/>
                  </a:solidFill>
                </a:rPr>
                <a:t>李 勇</a:t>
              </a:r>
              <a:endParaRPr lang="zh-CN" altLang="en-US" sz="1400" dirty="0"/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李 勇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>
                  <a:solidFill>
                    <a:srgbClr val="6600FF"/>
                  </a:solidFill>
                </a:rPr>
                <a:t>王 军</a:t>
              </a:r>
              <a:endParaRPr lang="zh-CN" altLang="en-US" sz="1400" dirty="0"/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王 军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endParaRPr lang="en-US" altLang="zh-CN" sz="1400" dirty="0"/>
            </a:p>
          </p:txBody>
        </p:sp>
        <p:sp>
          <p:nvSpPr>
            <p:cNvPr id="27" name="矩形 449540">
              <a:extLst>
                <a:ext uri="{FF2B5EF4-FFF2-40B4-BE49-F238E27FC236}">
                  <a16:creationId xmlns:a16="http://schemas.microsoft.com/office/drawing/2014/main" xmlns="" id="{25E654E1-1246-4294-9746-D21C2EE7E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623"/>
              <a:ext cx="1296" cy="2554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  <a:buClr>
                  <a:schemeClr val="hlink"/>
                </a:buClr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r>
                <a:rPr lang="zh-CN" altLang="en-US" sz="1400" dirty="0"/>
                <a:t>物 理</a:t>
              </a:r>
            </a:p>
            <a:p>
              <a:pPr algn="ctr" eaLnBrk="0" hangingPunct="0">
                <a:lnSpc>
                  <a:spcPct val="100000"/>
                </a:lnSpc>
                <a:spcBef>
                  <a:spcPct val="0"/>
                </a:spcBef>
              </a:pPr>
              <a:endParaRPr lang="en-US" altLang="zh-CN" sz="1400" dirty="0"/>
            </a:p>
          </p:txBody>
        </p:sp>
        <p:sp>
          <p:nvSpPr>
            <p:cNvPr id="28" name="矩形 449541">
              <a:extLst>
                <a:ext uri="{FF2B5EF4-FFF2-40B4-BE49-F238E27FC236}">
                  <a16:creationId xmlns:a16="http://schemas.microsoft.com/office/drawing/2014/main" xmlns="" id="{0F92E59E-C8CC-4432-94B7-903CDA8CC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1065"/>
              <a:ext cx="1296" cy="5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参考书</a:t>
              </a:r>
              <a:r>
                <a:rPr lang="en-US" altLang="zh-CN" sz="1400" b="1" dirty="0"/>
                <a:t>B</a:t>
              </a:r>
            </a:p>
          </p:txBody>
        </p:sp>
        <p:sp>
          <p:nvSpPr>
            <p:cNvPr id="29" name="矩形 449542">
              <a:extLst>
                <a:ext uri="{FF2B5EF4-FFF2-40B4-BE49-F238E27FC236}">
                  <a16:creationId xmlns:a16="http://schemas.microsoft.com/office/drawing/2014/main" xmlns="" id="{1B42FEC1-5D81-48F2-A7A5-8C59565AD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065"/>
              <a:ext cx="1296" cy="5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教师</a:t>
              </a:r>
              <a:r>
                <a:rPr lang="en-US" altLang="zh-CN" sz="1400" b="1" dirty="0"/>
                <a:t>T</a:t>
              </a:r>
            </a:p>
          </p:txBody>
        </p:sp>
        <p:sp>
          <p:nvSpPr>
            <p:cNvPr id="30" name="矩形 449543">
              <a:extLst>
                <a:ext uri="{FF2B5EF4-FFF2-40B4-BE49-F238E27FC236}">
                  <a16:creationId xmlns:a16="http://schemas.microsoft.com/office/drawing/2014/main" xmlns="" id="{B56EE8BF-8452-4B77-A8BC-8D922B1437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065"/>
              <a:ext cx="1296" cy="55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0000" tIns="46800" rIns="90000" bIns="46800"/>
            <a:lstStyle/>
            <a:p>
              <a:pPr algn="ctr">
                <a:lnSpc>
                  <a:spcPct val="100000"/>
                </a:lnSpc>
                <a:buClr>
                  <a:schemeClr val="hlink"/>
                </a:buClr>
              </a:pPr>
              <a:r>
                <a:rPr lang="zh-CN" altLang="en-US" sz="1400" b="1" dirty="0"/>
                <a:t>课程</a:t>
              </a:r>
              <a:r>
                <a:rPr lang="en-US" altLang="zh-CN" sz="1400" b="1" dirty="0"/>
                <a:t>C</a:t>
              </a:r>
            </a:p>
          </p:txBody>
        </p:sp>
        <p:sp>
          <p:nvSpPr>
            <p:cNvPr id="31" name="直接连接符 449544">
              <a:extLst>
                <a:ext uri="{FF2B5EF4-FFF2-40B4-BE49-F238E27FC236}">
                  <a16:creationId xmlns:a16="http://schemas.microsoft.com/office/drawing/2014/main" xmlns="" id="{C7010727-7275-4A50-8071-E92FF73C7F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943"/>
              <a:ext cx="3888" cy="0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2" name="直接连接符 449545">
              <a:extLst>
                <a:ext uri="{FF2B5EF4-FFF2-40B4-BE49-F238E27FC236}">
                  <a16:creationId xmlns:a16="http://schemas.microsoft.com/office/drawing/2014/main" xmlns="" id="{D4C9A44F-1163-4C9E-BB28-C958A1CC49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38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3" name="直接连接符 449546">
              <a:extLst>
                <a:ext uri="{FF2B5EF4-FFF2-40B4-BE49-F238E27FC236}">
                  <a16:creationId xmlns:a16="http://schemas.microsoft.com/office/drawing/2014/main" xmlns="" id="{2039CA61-F669-4559-A9A2-1A41F2F3C4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4177"/>
              <a:ext cx="3888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4" name="直接连接符 449547">
              <a:extLst>
                <a:ext uri="{FF2B5EF4-FFF2-40B4-BE49-F238E27FC236}">
                  <a16:creationId xmlns:a16="http://schemas.microsoft.com/office/drawing/2014/main" xmlns="" id="{1386C31A-6376-447E-8CC9-1519C9F5A8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5" name="直接连接符 449548">
              <a:extLst>
                <a:ext uri="{FF2B5EF4-FFF2-40B4-BE49-F238E27FC236}">
                  <a16:creationId xmlns:a16="http://schemas.microsoft.com/office/drawing/2014/main" xmlns="" id="{DA29E55F-949C-452A-B43B-575259274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296"/>
              <a:ext cx="0" cy="28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6" name="直接连接符 449549">
              <a:extLst>
                <a:ext uri="{FF2B5EF4-FFF2-40B4-BE49-F238E27FC236}">
                  <a16:creationId xmlns:a16="http://schemas.microsoft.com/office/drawing/2014/main" xmlns="" id="{93338549-675D-4358-8768-95BE763BD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296"/>
              <a:ext cx="0" cy="2881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7" name="直接连接符 449550">
              <a:extLst>
                <a:ext uri="{FF2B5EF4-FFF2-40B4-BE49-F238E27FC236}">
                  <a16:creationId xmlns:a16="http://schemas.microsoft.com/office/drawing/2014/main" xmlns="" id="{36DFEC8B-30BE-4DCC-A5DF-AFA0FAF981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23"/>
              <a:ext cx="0" cy="255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  <p:sp>
          <p:nvSpPr>
            <p:cNvPr id="38" name="直接连接符 449551">
              <a:extLst>
                <a:ext uri="{FF2B5EF4-FFF2-40B4-BE49-F238E27FC236}">
                  <a16:creationId xmlns:a16="http://schemas.microsoft.com/office/drawing/2014/main" xmlns="" id="{DB26EF08-5233-44CD-B0E6-D44FA2519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296"/>
              <a:ext cx="0" cy="32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454657">
            <a:extLst>
              <a:ext uri="{FF2B5EF4-FFF2-40B4-BE49-F238E27FC236}">
                <a16:creationId xmlns:a16="http://schemas.microsoft.com/office/drawing/2014/main" xmlns="" id="{81F37ACD-E160-40A5-BAC8-2A6F6AEC38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</a:p>
        </p:txBody>
      </p:sp>
      <p:sp>
        <p:nvSpPr>
          <p:cNvPr id="83971" name="文本占位符 454658">
            <a:extLst>
              <a:ext uri="{FF2B5EF4-FFF2-40B4-BE49-F238E27FC236}">
                <a16:creationId xmlns:a16="http://schemas.microsoft.com/office/drawing/2014/main" xmlns="" id="{D09533D0-058A-4B9E-8CA7-C709CCF4DE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27740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多值依赖的另一个等价的形式化的定义： </a:t>
            </a:r>
          </a:p>
          <a:p>
            <a:pPr lvl="1">
              <a:lnSpc>
                <a:spcPct val="12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R(U)</a:t>
            </a:r>
            <a:r>
              <a:rPr lang="zh-CN" altLang="en-US" dirty="0"/>
              <a:t>的任一关系</a:t>
            </a:r>
            <a:r>
              <a:rPr lang="en-US" altLang="zh-CN" dirty="0"/>
              <a:t>r</a:t>
            </a:r>
            <a:r>
              <a:rPr lang="zh-CN" altLang="en-US" dirty="0"/>
              <a:t>中，如果存在元组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s </a:t>
            </a:r>
            <a:r>
              <a:rPr lang="zh-CN" altLang="en-US" dirty="0"/>
              <a:t>使得</a:t>
            </a:r>
            <a:r>
              <a:rPr lang="en-US" altLang="zh-CN" dirty="0"/>
              <a:t>t[X]=s[X]</a:t>
            </a:r>
            <a:r>
              <a:rPr lang="zh-CN" altLang="en-US" dirty="0"/>
              <a:t>，那么就必然存在元组 </a:t>
            </a:r>
            <a:r>
              <a:rPr lang="en-US" altLang="zh-CN" dirty="0"/>
              <a:t>w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en-US" altLang="zh-CN" dirty="0">
                <a:sym typeface="Symbol" panose="05050102010706020507" pitchFamily="18" charset="2"/>
              </a:rPr>
              <a:t> </a:t>
            </a:r>
            <a:r>
              <a:rPr lang="en-US" altLang="zh-CN" dirty="0"/>
              <a:t>r</a:t>
            </a:r>
            <a:r>
              <a:rPr lang="zh-CN" altLang="en-US" dirty="0"/>
              <a:t>，（</a:t>
            </a:r>
            <a:r>
              <a:rPr lang="en-US" altLang="zh-CN" dirty="0"/>
              <a:t>w</a:t>
            </a:r>
            <a:r>
              <a:rPr lang="zh-CN" altLang="en-US" dirty="0"/>
              <a:t>，</a:t>
            </a:r>
            <a:r>
              <a:rPr lang="en-US" altLang="zh-CN" dirty="0"/>
              <a:t>v</a:t>
            </a:r>
            <a:r>
              <a:rPr lang="zh-CN" altLang="en-US" dirty="0"/>
              <a:t>可以与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相同），使得</a:t>
            </a:r>
            <a:r>
              <a:rPr lang="en-US" altLang="zh-CN" dirty="0"/>
              <a:t>w[X]=v[X]=t[X]</a:t>
            </a:r>
            <a:r>
              <a:rPr lang="zh-CN" altLang="en-US" dirty="0"/>
              <a:t>，而</a:t>
            </a:r>
            <a:r>
              <a:rPr lang="en-US" altLang="zh-CN" dirty="0"/>
              <a:t>w[Y]=t[Y]</a:t>
            </a:r>
            <a:r>
              <a:rPr lang="zh-CN" altLang="en-US" dirty="0"/>
              <a:t>，</a:t>
            </a:r>
            <a:r>
              <a:rPr lang="en-US" altLang="zh-CN" dirty="0"/>
              <a:t>w[Z]=s[Z]</a:t>
            </a:r>
            <a:r>
              <a:rPr lang="zh-CN" altLang="en-US" dirty="0"/>
              <a:t>，</a:t>
            </a:r>
            <a:r>
              <a:rPr lang="en-US" altLang="zh-CN" dirty="0"/>
              <a:t>v[Y]=s[Y]</a:t>
            </a:r>
            <a:r>
              <a:rPr lang="zh-CN" altLang="en-US" dirty="0"/>
              <a:t>，</a:t>
            </a:r>
            <a:r>
              <a:rPr lang="en-US" altLang="zh-CN" dirty="0"/>
              <a:t>v[Z]=t[Z]</a:t>
            </a:r>
            <a:r>
              <a:rPr lang="zh-CN" altLang="en-US" dirty="0"/>
              <a:t>（即交换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t</a:t>
            </a:r>
            <a:r>
              <a:rPr lang="zh-CN" altLang="en-US" dirty="0"/>
              <a:t>元组的</a:t>
            </a:r>
            <a:r>
              <a:rPr lang="en-US" altLang="zh-CN" dirty="0"/>
              <a:t>Y</a:t>
            </a:r>
            <a:r>
              <a:rPr lang="zh-CN" altLang="en-US" dirty="0"/>
              <a:t>值所得的两个新元组必在</a:t>
            </a:r>
            <a:r>
              <a:rPr lang="en-US" altLang="zh-CN" dirty="0"/>
              <a:t>r</a:t>
            </a:r>
            <a:r>
              <a:rPr lang="zh-CN" altLang="en-US" dirty="0"/>
              <a:t>中），则</a:t>
            </a:r>
            <a:r>
              <a:rPr lang="en-US" altLang="zh-CN" dirty="0">
                <a:solidFill>
                  <a:srgbClr val="C00000"/>
                </a:solidFill>
              </a:rPr>
              <a:t>Y</a:t>
            </a:r>
            <a:r>
              <a:rPr lang="zh-CN" altLang="en-US" dirty="0">
                <a:solidFill>
                  <a:srgbClr val="C00000"/>
                </a:solidFill>
              </a:rPr>
              <a:t>多值依赖于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zh-CN" altLang="en-US" dirty="0">
                <a:solidFill>
                  <a:srgbClr val="C00000"/>
                </a:solidFill>
              </a:rPr>
              <a:t>，记为</a:t>
            </a:r>
            <a:r>
              <a:rPr lang="en-US" altLang="zh-CN" dirty="0">
                <a:solidFill>
                  <a:srgbClr val="C00000"/>
                </a:solidFill>
              </a:rPr>
              <a:t>X→→Y</a:t>
            </a:r>
            <a:r>
              <a:rPr lang="zh-CN" altLang="en-US" dirty="0"/>
              <a:t>。 这里，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U</a:t>
            </a:r>
            <a:r>
              <a:rPr lang="zh-CN" altLang="en-US" dirty="0"/>
              <a:t>的子集，</a:t>
            </a:r>
            <a:r>
              <a:rPr lang="en-US" altLang="zh-CN" dirty="0"/>
              <a:t>Z=U-X-Y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平凡多值依赖和非平凡的多值依赖</a:t>
            </a:r>
          </a:p>
          <a:p>
            <a:pPr lvl="1"/>
            <a:r>
              <a:rPr lang="zh-CN" altLang="en-US" dirty="0"/>
              <a:t>	若</a:t>
            </a:r>
            <a:r>
              <a:rPr lang="en-US" altLang="zh-CN" dirty="0"/>
              <a:t>X→→Y</a:t>
            </a:r>
            <a:r>
              <a:rPr lang="zh-CN" altLang="en-US" dirty="0"/>
              <a:t>，而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φ(</a:t>
            </a:r>
            <a:r>
              <a:rPr lang="zh-CN" altLang="en-US" dirty="0"/>
              <a:t>空集</a:t>
            </a:r>
            <a:r>
              <a:rPr lang="en-US" altLang="zh-CN" dirty="0"/>
              <a:t>)</a:t>
            </a:r>
            <a:r>
              <a:rPr lang="zh-CN" altLang="en-US" dirty="0"/>
              <a:t>，则称</a:t>
            </a:r>
            <a:r>
              <a:rPr lang="en-US" altLang="zh-CN" dirty="0"/>
              <a:t>X→→Y</a:t>
            </a:r>
            <a:r>
              <a:rPr lang="zh-CN" altLang="en-US" dirty="0"/>
              <a:t>为</a:t>
            </a:r>
            <a:r>
              <a:rPr lang="zh-CN" altLang="en-US" dirty="0">
                <a:solidFill>
                  <a:srgbClr val="C00000"/>
                </a:solidFill>
              </a:rPr>
              <a:t>平凡的多值依赖</a:t>
            </a:r>
          </a:p>
          <a:p>
            <a:pPr lvl="1"/>
            <a:r>
              <a:rPr lang="zh-CN" altLang="en-US" dirty="0"/>
              <a:t>	否则称</a:t>
            </a:r>
            <a:r>
              <a:rPr lang="en-US" altLang="zh-CN" dirty="0"/>
              <a:t>X→→Y</a:t>
            </a:r>
            <a:r>
              <a:rPr lang="zh-CN" altLang="en-US" dirty="0"/>
              <a:t>为</a:t>
            </a:r>
            <a:r>
              <a:rPr lang="zh-CN" altLang="en-US" u="sng" dirty="0">
                <a:solidFill>
                  <a:srgbClr val="C00000"/>
                </a:solidFill>
              </a:rPr>
              <a:t>非平凡的多值依赖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91B3B974-A03A-4CB2-9933-E7638EAF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F2AE11D1-0A7A-4C87-A95F-40CCCFDA47B0}"/>
              </a:ext>
            </a:extLst>
          </p:cNvPr>
          <p:cNvGrpSpPr/>
          <p:nvPr/>
        </p:nvGrpSpPr>
        <p:grpSpPr>
          <a:xfrm>
            <a:off x="4368715" y="3271161"/>
            <a:ext cx="2603634" cy="1333857"/>
            <a:chOff x="3123399" y="3729031"/>
            <a:chExt cx="2603634" cy="1333857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xmlns="" id="{65791958-AFE3-4B02-B688-ED67DFC0EF6E}"/>
                </a:ext>
              </a:extLst>
            </p:cNvPr>
            <p:cNvGrpSpPr/>
            <p:nvPr/>
          </p:nvGrpSpPr>
          <p:grpSpPr>
            <a:xfrm>
              <a:off x="3123399" y="3729031"/>
              <a:ext cx="2603634" cy="1323439"/>
              <a:chOff x="2122370" y="3526899"/>
              <a:chExt cx="2603634" cy="1323439"/>
            </a:xfrm>
          </p:grpSpPr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xmlns="" id="{95DD033F-2CB8-4D9A-9A89-CAA7EC09B28D}"/>
                  </a:ext>
                </a:extLst>
              </p:cNvPr>
              <p:cNvSpPr/>
              <p:nvPr/>
            </p:nvSpPr>
            <p:spPr>
              <a:xfrm>
                <a:off x="2122370" y="3526899"/>
                <a:ext cx="260363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zh-CN" altLang="en-US" sz="1600" b="1" i="1" dirty="0">
                    <a:solidFill>
                      <a:srgbClr val="0000FF"/>
                    </a:solidFill>
                  </a:rPr>
                  <a:t>          </a:t>
                </a:r>
                <a:r>
                  <a:rPr lang="en-US" altLang="zh-CN" sz="1600" b="1" dirty="0">
                    <a:solidFill>
                      <a:srgbClr val="0000FF"/>
                    </a:solidFill>
                  </a:rPr>
                  <a:t>X	     Y	Z</a:t>
                </a:r>
              </a:p>
              <a:p>
                <a:pPr>
                  <a:defRPr/>
                </a:pPr>
                <a:r>
                  <a:rPr lang="en-US" altLang="zh-CN" sz="1600" b="1" dirty="0">
                    <a:solidFill>
                      <a:srgbClr val="0000FF"/>
                    </a:solidFill>
                  </a:rPr>
                  <a:t>t         x        y1      z2</a:t>
                </a:r>
              </a:p>
              <a:p>
                <a:pPr>
                  <a:defRPr/>
                </a:pPr>
                <a:r>
                  <a:rPr lang="en-US" altLang="zh-CN" sz="1600" b="1" dirty="0">
                    <a:solidFill>
                      <a:srgbClr val="0000FF"/>
                    </a:solidFill>
                  </a:rPr>
                  <a:t>s         x        y2      z1</a:t>
                </a:r>
              </a:p>
              <a:p>
                <a:pPr>
                  <a:defRPr/>
                </a:pPr>
                <a:r>
                  <a:rPr lang="en-US" altLang="zh-CN" sz="1600" b="1" dirty="0">
                    <a:solidFill>
                      <a:srgbClr val="0000FF"/>
                    </a:solidFill>
                  </a:rPr>
                  <a:t>w        x        y1      z1</a:t>
                </a:r>
              </a:p>
              <a:p>
                <a:pPr>
                  <a:defRPr/>
                </a:pPr>
                <a:r>
                  <a:rPr lang="en-US" altLang="zh-CN" sz="1600" b="1" dirty="0">
                    <a:solidFill>
                      <a:srgbClr val="0000FF"/>
                    </a:solidFill>
                  </a:rPr>
                  <a:t>v         x        y2      z2</a:t>
                </a:r>
                <a:endParaRPr lang="zh-CN" altLang="en-US" sz="1600" b="1" dirty="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4" name="直接连接符 3">
                <a:extLst>
                  <a:ext uri="{FF2B5EF4-FFF2-40B4-BE49-F238E27FC236}">
                    <a16:creationId xmlns:a16="http://schemas.microsoft.com/office/drawing/2014/main" xmlns="" id="{28AD7D41-F310-4513-85B6-2A7E01871EA5}"/>
                  </a:ext>
                </a:extLst>
              </p:cNvPr>
              <p:cNvCxnSpPr/>
              <p:nvPr/>
            </p:nvCxnSpPr>
            <p:spPr>
              <a:xfrm>
                <a:off x="2213811" y="3811604"/>
                <a:ext cx="2059806" cy="0"/>
              </a:xfrm>
              <a:prstGeom prst="line">
                <a:avLst/>
              </a:prstGeom>
              <a:ln w="190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xmlns="" id="{96E0EFBF-93C2-45E6-9720-1CBC5D7DBD48}"/>
                </a:ext>
              </a:extLst>
            </p:cNvPr>
            <p:cNvCxnSpPr>
              <a:cxnSpLocks/>
            </p:cNvCxnSpPr>
            <p:nvPr/>
          </p:nvCxnSpPr>
          <p:spPr>
            <a:xfrm>
              <a:off x="3588620" y="3781124"/>
              <a:ext cx="0" cy="1281764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550913">
            <a:extLst>
              <a:ext uri="{FF2B5EF4-FFF2-40B4-BE49-F238E27FC236}">
                <a16:creationId xmlns:a16="http://schemas.microsoft.com/office/drawing/2014/main" xmlns="" id="{C2624CF4-3A1A-4750-B469-58C54ED7C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  <a:endParaRPr lang="zh-CN" altLang="en-US" dirty="0"/>
          </a:p>
        </p:txBody>
      </p:sp>
      <p:sp>
        <p:nvSpPr>
          <p:cNvPr id="86019" name="文本占位符 550914">
            <a:extLst>
              <a:ext uri="{FF2B5EF4-FFF2-40B4-BE49-F238E27FC236}">
                <a16:creationId xmlns:a16="http://schemas.microsoft.com/office/drawing/2014/main" xmlns="" id="{87176E49-46AA-443E-B483-D2B126DA1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10] </a:t>
            </a:r>
            <a:r>
              <a:rPr lang="zh-CN" altLang="en-US" dirty="0"/>
              <a:t>关系模式</a:t>
            </a:r>
            <a:r>
              <a:rPr lang="en-US" altLang="zh-CN" dirty="0"/>
              <a:t>WSC</a:t>
            </a:r>
            <a:r>
              <a:rPr lang="zh-CN" altLang="en-US" dirty="0"/>
              <a:t>（</a:t>
            </a:r>
            <a:r>
              <a:rPr lang="en-US" altLang="zh-CN" dirty="0"/>
              <a:t>W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），</a:t>
            </a:r>
            <a:r>
              <a:rPr lang="en-US" altLang="zh-CN" dirty="0"/>
              <a:t>W</a:t>
            </a:r>
            <a:r>
              <a:rPr lang="zh-CN" altLang="en-US" dirty="0"/>
              <a:t>表示仓库，</a:t>
            </a:r>
            <a:r>
              <a:rPr lang="en-US" altLang="zh-CN" dirty="0"/>
              <a:t>S</a:t>
            </a:r>
            <a:r>
              <a:rPr lang="zh-CN" altLang="en-US" dirty="0"/>
              <a:t>表示保管员，</a:t>
            </a:r>
            <a:r>
              <a:rPr lang="en-US" altLang="zh-CN" dirty="0"/>
              <a:t>C</a:t>
            </a:r>
            <a:r>
              <a:rPr lang="zh-CN" altLang="en-US" dirty="0"/>
              <a:t>表示商品</a:t>
            </a:r>
          </a:p>
          <a:p>
            <a:pPr lvl="1"/>
            <a:r>
              <a:rPr lang="zh-CN" altLang="en-US" dirty="0"/>
              <a:t>假设每个仓库有若干个保管员，有若干种商品 </a:t>
            </a:r>
          </a:p>
          <a:p>
            <a:pPr lvl="1"/>
            <a:r>
              <a:rPr lang="zh-CN" altLang="en-US" dirty="0"/>
              <a:t>每个保管员保管所在的仓库的所有商品</a:t>
            </a:r>
          </a:p>
          <a:p>
            <a:pPr lvl="1"/>
            <a:r>
              <a:rPr lang="zh-CN" altLang="en-US" dirty="0"/>
              <a:t>每种商品被所有保管员保管       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9A02B388-D481-405C-B083-9270E7AB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xmlns="" id="{258DE346-97D7-4EBB-A41E-982798EA5D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666614"/>
              </p:ext>
            </p:extLst>
          </p:nvPr>
        </p:nvGraphicFramePr>
        <p:xfrm>
          <a:off x="8080058" y="2329791"/>
          <a:ext cx="2600760" cy="3352646"/>
        </p:xfrm>
        <a:graphic>
          <a:graphicData uri="http://schemas.openxmlformats.org/drawingml/2006/table">
            <a:tbl>
              <a:tblPr/>
              <a:tblGrid>
                <a:gridCol w="866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 defTabSz="914400">
                        <a:spcBef>
                          <a:spcPct val="0"/>
                        </a:spcBef>
                        <a:buClrTx/>
                        <a:buFontTx/>
                        <a:buNone/>
                        <a:tabLst>
                          <a:tab pos="269875" algn="r"/>
                          <a:tab pos="2637155" algn="ctr"/>
                          <a:tab pos="5273675" algn="r"/>
                        </a:tabLst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W1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C5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sp>
        <p:nvSpPr>
          <p:cNvPr id="14" name="矩形 553989">
            <a:extLst>
              <a:ext uri="{FF2B5EF4-FFF2-40B4-BE49-F238E27FC236}">
                <a16:creationId xmlns:a16="http://schemas.microsoft.com/office/drawing/2014/main" xmlns="" id="{E2A75F7B-AFD6-4082-854E-968222CA9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708" y="5791445"/>
            <a:ext cx="112723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sz="1600" b="1" dirty="0">
                <a:latin typeface="Times New Roman" panose="02020603050405020304" pitchFamily="18" charset="0"/>
              </a:rPr>
              <a:t>WSC</a:t>
            </a:r>
            <a:r>
              <a:rPr lang="zh-CN" altLang="en-US" sz="1600" b="1" dirty="0">
                <a:latin typeface="Times New Roman" panose="02020603050405020304" pitchFamily="18" charset="0"/>
              </a:rPr>
              <a:t>表</a:t>
            </a:r>
            <a:endParaRPr lang="en-US" altLang="zh-CN" sz="16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550913">
            <a:extLst>
              <a:ext uri="{FF2B5EF4-FFF2-40B4-BE49-F238E27FC236}">
                <a16:creationId xmlns:a16="http://schemas.microsoft.com/office/drawing/2014/main" xmlns="" id="{C2624CF4-3A1A-4750-B469-58C54ED7C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多值依赖（续）</a:t>
            </a:r>
            <a:endParaRPr lang="zh-CN" altLang="en-US" dirty="0"/>
          </a:p>
        </p:txBody>
      </p:sp>
      <p:sp>
        <p:nvSpPr>
          <p:cNvPr id="86019" name="文本占位符 550914">
            <a:extLst>
              <a:ext uri="{FF2B5EF4-FFF2-40B4-BE49-F238E27FC236}">
                <a16:creationId xmlns:a16="http://schemas.microsoft.com/office/drawing/2014/main" xmlns="" id="{87176E49-46AA-443E-B483-D2B126DA1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10] </a:t>
            </a:r>
            <a:r>
              <a:rPr lang="zh-CN" altLang="en-US" dirty="0"/>
              <a:t>关系模式</a:t>
            </a:r>
            <a:r>
              <a:rPr lang="en-US" altLang="zh-CN" dirty="0"/>
              <a:t>WSC</a:t>
            </a:r>
            <a:r>
              <a:rPr lang="zh-CN" altLang="en-US" dirty="0"/>
              <a:t>（</a:t>
            </a:r>
            <a:r>
              <a:rPr lang="en-US" altLang="zh-CN" dirty="0"/>
              <a:t>W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根据语义，对</a:t>
            </a:r>
            <a:r>
              <a:rPr lang="en-US" altLang="zh-CN" dirty="0"/>
              <a:t>W</a:t>
            </a:r>
            <a:r>
              <a:rPr lang="zh-CN" altLang="en-US" dirty="0"/>
              <a:t>的每一个值</a:t>
            </a:r>
            <a:r>
              <a:rPr lang="en-US" altLang="zh-CN" dirty="0"/>
              <a:t>Wi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有一个完整的集合与</a:t>
            </a:r>
            <a:r>
              <a:rPr lang="en-US" altLang="zh-CN" dirty="0"/>
              <a:t>Wi</a:t>
            </a:r>
            <a:r>
              <a:rPr lang="zh-CN" altLang="en-US" dirty="0"/>
              <a:t>对应而无论</a:t>
            </a:r>
            <a:r>
              <a:rPr lang="en-US" altLang="zh-CN" dirty="0"/>
              <a:t>C</a:t>
            </a:r>
            <a:r>
              <a:rPr lang="zh-CN" altLang="en-US" dirty="0"/>
              <a:t>取何值，则</a:t>
            </a:r>
            <a:r>
              <a:rPr lang="en-US" altLang="zh-CN" dirty="0"/>
              <a:t>W→→S</a:t>
            </a:r>
            <a:r>
              <a:rPr lang="zh-CN" altLang="en-US" dirty="0"/>
              <a:t>；同理，</a:t>
            </a:r>
            <a:r>
              <a:rPr lang="en-US" altLang="zh-CN" dirty="0"/>
              <a:t>C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zh-CN" altLang="en-US" dirty="0"/>
              <a:t>的完全对称，</a:t>
            </a:r>
            <a:r>
              <a:rPr lang="en-US" altLang="zh-CN" dirty="0"/>
              <a:t>W→→C</a:t>
            </a:r>
            <a:r>
              <a:rPr lang="zh-CN" altLang="en-US" dirty="0"/>
              <a:t>成立。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xmlns="" id="{9A02B388-D481-405C-B083-9270E7AB1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pic>
        <p:nvPicPr>
          <p:cNvPr id="5" name="图片 553987" descr="67">
            <a:extLst>
              <a:ext uri="{FF2B5EF4-FFF2-40B4-BE49-F238E27FC236}">
                <a16:creationId xmlns:a16="http://schemas.microsoft.com/office/drawing/2014/main" xmlns="" id="{F247C447-4468-4A57-860A-B840E7F8E2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114" y="3337424"/>
            <a:ext cx="4677878" cy="185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53989">
            <a:extLst>
              <a:ext uri="{FF2B5EF4-FFF2-40B4-BE49-F238E27FC236}">
                <a16:creationId xmlns:a16="http://schemas.microsoft.com/office/drawing/2014/main" xmlns="" id="{EF2FE349-4989-497E-BA87-4E0E5DD1E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3960" y="5369777"/>
            <a:ext cx="33938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266700"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just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1600" dirty="0">
                <a:latin typeface="+mn-ea"/>
                <a:ea typeface="+mn-ea"/>
              </a:rPr>
              <a:t>完全二分图，</a:t>
            </a:r>
            <a:r>
              <a:rPr lang="en-US" altLang="zh-CN" sz="1600" dirty="0">
                <a:latin typeface="+mn-ea"/>
                <a:ea typeface="+mn-ea"/>
              </a:rPr>
              <a:t>W→→S</a:t>
            </a:r>
            <a:r>
              <a:rPr lang="zh-CN" altLang="en-US" sz="1600" dirty="0">
                <a:latin typeface="+mn-ea"/>
                <a:ea typeface="+mn-ea"/>
              </a:rPr>
              <a:t>且</a:t>
            </a:r>
            <a:r>
              <a:rPr lang="en-US" altLang="zh-CN" sz="1600" dirty="0">
                <a:latin typeface="+mn-ea"/>
                <a:ea typeface="+mn-ea"/>
              </a:rPr>
              <a:t>W→→C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74F6D114-5303-4508-BC71-D4E97419CC1D}"/>
              </a:ext>
            </a:extLst>
          </p:cNvPr>
          <p:cNvSpPr txBox="1"/>
          <p:nvPr/>
        </p:nvSpPr>
        <p:spPr>
          <a:xfrm>
            <a:off x="5763342" y="3454621"/>
            <a:ext cx="62280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{S}</a:t>
            </a:r>
            <a:r>
              <a:rPr lang="en-US" altLang="zh-CN" sz="2000" dirty="0" err="1">
                <a:latin typeface="+mn-ea"/>
              </a:rPr>
              <a:t>w</a:t>
            </a:r>
            <a:r>
              <a:rPr lang="en-US" altLang="zh-CN" sz="2000" baseline="-25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：对应</a:t>
            </a:r>
            <a:r>
              <a:rPr lang="en-US" altLang="zh-CN" sz="2000" dirty="0">
                <a:latin typeface="+mn-ea"/>
              </a:rPr>
              <a:t>Wi</a:t>
            </a:r>
            <a:r>
              <a:rPr lang="zh-CN" altLang="en-US" sz="2000" dirty="0">
                <a:latin typeface="+mn-ea"/>
              </a:rPr>
              <a:t>的所有</a:t>
            </a:r>
            <a:r>
              <a:rPr lang="en-US" altLang="zh-CN" sz="2000" dirty="0">
                <a:latin typeface="+mn-ea"/>
              </a:rPr>
              <a:t>S</a:t>
            </a:r>
            <a:r>
              <a:rPr lang="zh-CN" altLang="en-US" sz="2000" dirty="0">
                <a:latin typeface="+mn-ea"/>
              </a:rPr>
              <a:t>值，在</a:t>
            </a:r>
            <a:r>
              <a:rPr lang="en-US" altLang="zh-CN" sz="2000" dirty="0">
                <a:latin typeface="+mn-ea"/>
              </a:rPr>
              <a:t>Wi</a:t>
            </a:r>
            <a:r>
              <a:rPr lang="zh-CN" altLang="en-US" sz="2000" dirty="0">
                <a:latin typeface="+mn-ea"/>
              </a:rPr>
              <a:t>工作的全部保管员</a:t>
            </a: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+mn-ea"/>
              </a:rPr>
              <a:t>{C}</a:t>
            </a:r>
            <a:r>
              <a:rPr lang="en-US" altLang="zh-CN" sz="2000" dirty="0" err="1">
                <a:latin typeface="+mn-ea"/>
              </a:rPr>
              <a:t>w</a:t>
            </a:r>
            <a:r>
              <a:rPr lang="en-US" altLang="zh-CN" sz="2000" baseline="-25000" dirty="0" err="1">
                <a:latin typeface="+mn-ea"/>
              </a:rPr>
              <a:t>i</a:t>
            </a:r>
            <a:r>
              <a:rPr lang="zh-CN" altLang="en-US" sz="2000" dirty="0">
                <a:latin typeface="+mn-ea"/>
              </a:rPr>
              <a:t>：对应</a:t>
            </a:r>
            <a:r>
              <a:rPr lang="en-US" altLang="zh-CN" sz="2000" dirty="0">
                <a:latin typeface="+mn-ea"/>
              </a:rPr>
              <a:t>Wi</a:t>
            </a:r>
            <a:r>
              <a:rPr lang="zh-CN" altLang="en-US" sz="2000" dirty="0">
                <a:latin typeface="+mn-ea"/>
              </a:rPr>
              <a:t>的所有</a:t>
            </a:r>
            <a:r>
              <a:rPr lang="en-US" altLang="zh-CN" sz="2000" dirty="0">
                <a:latin typeface="+mn-ea"/>
              </a:rPr>
              <a:t>C</a:t>
            </a:r>
            <a:r>
              <a:rPr lang="zh-CN" altLang="en-US" sz="2000" dirty="0">
                <a:latin typeface="+mn-ea"/>
              </a:rPr>
              <a:t>值，存放在</a:t>
            </a:r>
            <a:r>
              <a:rPr lang="en-US" altLang="zh-CN" sz="2000" dirty="0">
                <a:latin typeface="+mn-ea"/>
              </a:rPr>
              <a:t>Wi</a:t>
            </a:r>
            <a:r>
              <a:rPr lang="zh-CN" altLang="en-US" sz="2000" dirty="0">
                <a:latin typeface="+mn-ea"/>
              </a:rPr>
              <a:t>的所有商品</a:t>
            </a:r>
            <a:endParaRPr lang="en-US" altLang="zh-CN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69791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多值依赖（续）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/>
          </a:bodyPr>
          <a:lstStyle/>
          <a:p>
            <a:r>
              <a:rPr lang="zh-CN" altLang="en-US" dirty="0"/>
              <a:t>例：</a:t>
            </a:r>
            <a:r>
              <a:rPr lang="en-US" altLang="zh-CN" dirty="0"/>
              <a:t>MSC(M,S,C)</a:t>
            </a:r>
            <a:r>
              <a:rPr lang="zh-CN" altLang="en-US" dirty="0"/>
              <a:t>中，</a:t>
            </a:r>
            <a:r>
              <a:rPr lang="en-US" altLang="zh-CN" dirty="0"/>
              <a:t>M</a:t>
            </a:r>
            <a:r>
              <a:rPr lang="zh-CN" altLang="en-US" dirty="0"/>
              <a:t>表示专业，</a:t>
            </a:r>
            <a:r>
              <a:rPr lang="en-US" altLang="zh-CN" dirty="0"/>
              <a:t>S</a:t>
            </a:r>
            <a:r>
              <a:rPr lang="zh-CN" altLang="en-US" dirty="0"/>
              <a:t>表示学生，</a:t>
            </a:r>
            <a:r>
              <a:rPr lang="en-US" altLang="zh-CN" dirty="0"/>
              <a:t>C</a:t>
            </a:r>
            <a:r>
              <a:rPr lang="zh-CN" altLang="en-US" dirty="0"/>
              <a:t>表示该专业必修课，假设每个专业有多个学生，有一组必修课，</a:t>
            </a:r>
            <a:r>
              <a:rPr lang="zh-CN" altLang="en-US" dirty="0">
                <a:solidFill>
                  <a:srgbClr val="C00000"/>
                </a:solidFill>
              </a:rPr>
              <a:t>设同专业内所有学生选修的必修课相同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实例如下，按照语义对于</a:t>
            </a:r>
            <a:r>
              <a:rPr lang="en-US" altLang="zh-CN" dirty="0"/>
              <a:t>M</a:t>
            </a:r>
            <a:r>
              <a:rPr lang="zh-CN" altLang="en-US" dirty="0"/>
              <a:t>的每一个值</a:t>
            </a:r>
            <a:r>
              <a:rPr lang="en-US" altLang="zh-CN" dirty="0"/>
              <a:t>M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有一个完整的集合对应，而不问</a:t>
            </a:r>
            <a:r>
              <a:rPr lang="en-US" altLang="zh-CN" dirty="0"/>
              <a:t>C</a:t>
            </a:r>
            <a:r>
              <a:rPr lang="zh-CN" altLang="en-US" dirty="0"/>
              <a:t>取何值，所以</a:t>
            </a:r>
            <a:r>
              <a:rPr lang="en-US" altLang="zh-CN" dirty="0"/>
              <a:t>M→→S</a:t>
            </a:r>
            <a:r>
              <a:rPr lang="zh-CN" altLang="en-US" dirty="0"/>
              <a:t>，由于</a:t>
            </a:r>
            <a:r>
              <a:rPr lang="en-US" altLang="zh-CN" dirty="0"/>
              <a:t>C</a:t>
            </a:r>
            <a:r>
              <a:rPr lang="zh-CN" altLang="en-US" dirty="0"/>
              <a:t>与</a:t>
            </a:r>
            <a:r>
              <a:rPr lang="en-US" altLang="zh-CN" dirty="0"/>
              <a:t>S</a:t>
            </a:r>
            <a:r>
              <a:rPr lang="zh-CN" altLang="en-US" dirty="0"/>
              <a:t>的完全对称性，必然有</a:t>
            </a:r>
            <a:r>
              <a:rPr lang="en-US" altLang="zh-CN" dirty="0"/>
              <a:t>M→→C</a:t>
            </a:r>
            <a:r>
              <a:rPr lang="zh-CN" altLang="en-US" dirty="0"/>
              <a:t>成立。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E5E9ED3C-44A8-4CA1-A447-476C88A09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5554839"/>
              </p:ext>
            </p:extLst>
          </p:nvPr>
        </p:nvGraphicFramePr>
        <p:xfrm>
          <a:off x="3934462" y="3784304"/>
          <a:ext cx="2600760" cy="2133502"/>
        </p:xfrm>
        <a:graphic>
          <a:graphicData uri="http://schemas.openxmlformats.org/drawingml/2006/table">
            <a:tbl>
              <a:tblPr/>
              <a:tblGrid>
                <a:gridCol w="866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 defTabSz="914400">
                        <a:spcBef>
                          <a:spcPct val="0"/>
                        </a:spcBef>
                        <a:buClrTx/>
                        <a:buFontTx/>
                        <a:buNone/>
                        <a:tabLst>
                          <a:tab pos="269875" algn="r"/>
                          <a:tab pos="2637155" algn="ctr"/>
                          <a:tab pos="5273675" algn="r"/>
                        </a:tabLst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45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多值依赖（续）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例：关系模式</a:t>
            </a:r>
            <a:r>
              <a:rPr lang="en-US" altLang="zh-CN" dirty="0"/>
              <a:t>ISA</a:t>
            </a:r>
            <a:r>
              <a:rPr lang="zh-CN" altLang="en-US" dirty="0"/>
              <a:t>（</a:t>
            </a:r>
            <a:r>
              <a:rPr lang="en-US" altLang="zh-CN" dirty="0"/>
              <a:t>I,S,A</a:t>
            </a:r>
            <a:r>
              <a:rPr lang="zh-CN" altLang="en-US" dirty="0"/>
              <a:t>）中，</a:t>
            </a:r>
            <a:r>
              <a:rPr lang="en-US" altLang="zh-CN" dirty="0"/>
              <a:t>I</a:t>
            </a:r>
            <a:r>
              <a:rPr lang="zh-CN" altLang="en-US" dirty="0"/>
              <a:t>表示学生兴趣小组，</a:t>
            </a:r>
            <a:r>
              <a:rPr lang="en-US" altLang="zh-CN" dirty="0"/>
              <a:t>S</a:t>
            </a:r>
            <a:r>
              <a:rPr lang="zh-CN" altLang="en-US" dirty="0"/>
              <a:t>表示学生，</a:t>
            </a:r>
            <a:r>
              <a:rPr lang="en-US" altLang="zh-CN" dirty="0"/>
              <a:t>A</a:t>
            </a:r>
            <a:r>
              <a:rPr lang="zh-CN" altLang="en-US" dirty="0"/>
              <a:t>表示某兴趣小组的活动项目。假设每个兴趣小组有多个学生，有若干活动项目，</a:t>
            </a:r>
            <a:r>
              <a:rPr lang="zh-CN" altLang="en-US" dirty="0">
                <a:solidFill>
                  <a:srgbClr val="C00000"/>
                </a:solidFill>
              </a:rPr>
              <a:t>每个学生必须参加所在兴趣小组的所有活动项目，每个活动项目要求该兴趣小组的所有学生参加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实例关系如下，按照语义对于</a:t>
            </a:r>
            <a:r>
              <a:rPr lang="en-US" altLang="zh-CN" dirty="0"/>
              <a:t>I</a:t>
            </a:r>
            <a:r>
              <a:rPr lang="zh-CN" altLang="en-US" dirty="0"/>
              <a:t>的每一个值</a:t>
            </a:r>
            <a:r>
              <a:rPr lang="en-US" altLang="zh-CN" dirty="0"/>
              <a:t>I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有一个完整的集合对应，而不问</a:t>
            </a:r>
            <a:r>
              <a:rPr lang="en-US" altLang="zh-CN" dirty="0"/>
              <a:t>A</a:t>
            </a:r>
            <a:r>
              <a:rPr lang="zh-CN" altLang="en-US" dirty="0"/>
              <a:t>取值如何，所以</a:t>
            </a:r>
            <a:r>
              <a:rPr lang="en-US" altLang="zh-CN" dirty="0"/>
              <a:t>I→→S,</a:t>
            </a:r>
            <a:r>
              <a:rPr lang="zh-CN" altLang="en-US" dirty="0"/>
              <a:t>由于</a:t>
            </a:r>
            <a:r>
              <a:rPr lang="en-US" altLang="zh-CN" dirty="0"/>
              <a:t>S</a:t>
            </a:r>
            <a:r>
              <a:rPr lang="zh-CN" altLang="en-US" dirty="0"/>
              <a:t>与</a:t>
            </a:r>
            <a:r>
              <a:rPr lang="en-US" altLang="zh-CN" dirty="0"/>
              <a:t>A</a:t>
            </a:r>
            <a:r>
              <a:rPr lang="zh-CN" altLang="en-US" dirty="0"/>
              <a:t>的完全对称性，必然有</a:t>
            </a:r>
            <a:r>
              <a:rPr lang="en-US" altLang="zh-CN" dirty="0"/>
              <a:t>I→→A</a:t>
            </a:r>
            <a:r>
              <a:rPr lang="zh-CN" altLang="en-US" dirty="0"/>
              <a:t>成立。</a:t>
            </a:r>
          </a:p>
          <a:p>
            <a:pPr marL="457200" lvl="1" indent="0">
              <a:buNone/>
            </a:pPr>
            <a:r>
              <a:rPr lang="zh-CN" altLang="en-US" dirty="0"/>
              <a:t>　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DBF0E46E-6BBF-4B01-87AD-A54C993873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1975680"/>
              </p:ext>
            </p:extLst>
          </p:nvPr>
        </p:nvGraphicFramePr>
        <p:xfrm>
          <a:off x="3702308" y="3969079"/>
          <a:ext cx="2600760" cy="2133502"/>
        </p:xfrm>
        <a:graphic>
          <a:graphicData uri="http://schemas.openxmlformats.org/drawingml/2006/table">
            <a:tbl>
              <a:tblPr/>
              <a:tblGrid>
                <a:gridCol w="866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I1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I1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I1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 defTabSz="914400">
                        <a:spcBef>
                          <a:spcPct val="0"/>
                        </a:spcBef>
                        <a:buClrTx/>
                        <a:buFontTx/>
                        <a:buNone/>
                        <a:tabLst>
                          <a:tab pos="269875" algn="r"/>
                          <a:tab pos="2637155" algn="ctr"/>
                          <a:tab pos="5273675" algn="r"/>
                        </a:tabLst>
                      </a:pPr>
                      <a:r>
                        <a:rPr lang="en-US" altLang="zh-CN" sz="1400" b="1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lang="zh-CN" altLang="en-US" sz="1400" b="1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38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多值依赖（续）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例：关系模式</a:t>
            </a:r>
            <a:r>
              <a:rPr lang="en-US" altLang="zh-CN" dirty="0"/>
              <a:t>RDP</a:t>
            </a:r>
            <a:r>
              <a:rPr lang="zh-CN" altLang="en-US" dirty="0"/>
              <a:t>（</a:t>
            </a:r>
            <a:r>
              <a:rPr lang="en-US" altLang="zh-CN" dirty="0"/>
              <a:t>R,D,P</a:t>
            </a:r>
            <a:r>
              <a:rPr lang="zh-CN" altLang="en-US" dirty="0"/>
              <a:t>）中，</a:t>
            </a:r>
            <a:r>
              <a:rPr lang="en-US" altLang="zh-CN" dirty="0"/>
              <a:t>R</a:t>
            </a:r>
            <a:r>
              <a:rPr lang="zh-CN" altLang="en-US" dirty="0"/>
              <a:t>表示医院的病房，</a:t>
            </a:r>
            <a:r>
              <a:rPr lang="en-US" altLang="zh-CN" dirty="0"/>
              <a:t>D</a:t>
            </a:r>
            <a:r>
              <a:rPr lang="zh-CN" altLang="en-US" dirty="0"/>
              <a:t>表示护士，</a:t>
            </a:r>
            <a:r>
              <a:rPr lang="en-US" altLang="zh-CN" dirty="0"/>
              <a:t>P</a:t>
            </a:r>
            <a:r>
              <a:rPr lang="zh-CN" altLang="en-US" dirty="0"/>
              <a:t>表示病人。假设每个病房有若干护士看管，有若干病人，</a:t>
            </a:r>
            <a:r>
              <a:rPr lang="zh-CN" altLang="en-US" dirty="0">
                <a:solidFill>
                  <a:srgbClr val="C00000"/>
                </a:solidFill>
              </a:rPr>
              <a:t>每个护士必须看管所在病房的所有病人，每个病人要求是要被所在病房的所有护士看管的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实例关系如下，按照语义对于</a:t>
            </a:r>
            <a:r>
              <a:rPr lang="en-US" altLang="zh-CN" dirty="0"/>
              <a:t>R</a:t>
            </a:r>
            <a:r>
              <a:rPr lang="zh-CN" altLang="en-US" dirty="0"/>
              <a:t>的每一个值</a:t>
            </a:r>
            <a:r>
              <a:rPr lang="en-US" altLang="zh-CN" dirty="0"/>
              <a:t>R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有一个完整的集合对应，而不问</a:t>
            </a:r>
            <a:r>
              <a:rPr lang="en-US" altLang="zh-CN" dirty="0"/>
              <a:t>P</a:t>
            </a:r>
            <a:r>
              <a:rPr lang="zh-CN" altLang="en-US" dirty="0"/>
              <a:t>取值如何，所以</a:t>
            </a:r>
            <a:r>
              <a:rPr lang="en-US" altLang="zh-CN" dirty="0"/>
              <a:t>R→→D,</a:t>
            </a:r>
            <a:r>
              <a:rPr lang="zh-CN" altLang="en-US" dirty="0"/>
              <a:t>由于</a:t>
            </a:r>
            <a:r>
              <a:rPr lang="en-US" altLang="zh-CN" dirty="0"/>
              <a:t>D</a:t>
            </a:r>
            <a:r>
              <a:rPr lang="zh-CN" altLang="en-US" dirty="0"/>
              <a:t>与</a:t>
            </a:r>
            <a:r>
              <a:rPr lang="en-US" altLang="zh-CN" dirty="0"/>
              <a:t>P</a:t>
            </a:r>
            <a:r>
              <a:rPr lang="zh-CN" altLang="en-US" dirty="0"/>
              <a:t>的完全对称性，必然有</a:t>
            </a:r>
            <a:r>
              <a:rPr lang="en-US" altLang="zh-CN" dirty="0"/>
              <a:t>R→→P</a:t>
            </a:r>
            <a:r>
              <a:rPr lang="zh-CN" altLang="en-US" dirty="0"/>
              <a:t>成立。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9B558261-1EE9-4B38-B9F4-90B2962AE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951719"/>
              </p:ext>
            </p:extLst>
          </p:nvPr>
        </p:nvGraphicFramePr>
        <p:xfrm>
          <a:off x="4123975" y="4063835"/>
          <a:ext cx="2600760" cy="2133502"/>
        </p:xfrm>
        <a:graphic>
          <a:graphicData uri="http://schemas.openxmlformats.org/drawingml/2006/table">
            <a:tbl>
              <a:tblPr/>
              <a:tblGrid>
                <a:gridCol w="8669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86692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P1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rPr>
                        <a:t>R1</a:t>
                      </a:r>
                      <a:endParaRPr kumimoji="0" lang="zh-CN" alt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 defTabSz="914400">
                        <a:spcBef>
                          <a:spcPct val="0"/>
                        </a:spcBef>
                        <a:buClrTx/>
                        <a:buFontTx/>
                        <a:buNone/>
                        <a:tabLst>
                          <a:tab pos="269875" algn="r"/>
                          <a:tab pos="2637155" algn="ctr"/>
                          <a:tab pos="5273675" algn="r"/>
                        </a:tabLst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P2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r>
                        <a:rPr lang="en-US" altLang="zh-CN" sz="1400" b="1" dirty="0"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7820"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cap="flat"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40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lvl="1" indent="-2857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§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 algn="ctr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1400" b="1" dirty="0"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3" marB="45713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91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456705">
            <a:extLst>
              <a:ext uri="{FF2B5EF4-FFF2-40B4-BE49-F238E27FC236}">
                <a16:creationId xmlns:a16="http://schemas.microsoft.com/office/drawing/2014/main" xmlns="" id="{7917B882-D15D-4FF6-AA07-D7B854F5B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多值依赖的性质</a:t>
            </a:r>
          </a:p>
        </p:txBody>
      </p:sp>
      <p:sp>
        <p:nvSpPr>
          <p:cNvPr id="89091" name="文本占位符 456706">
            <a:extLst>
              <a:ext uri="{FF2B5EF4-FFF2-40B4-BE49-F238E27FC236}">
                <a16:creationId xmlns:a16="http://schemas.microsoft.com/office/drawing/2014/main" xmlns="" id="{964D74EA-5C99-4F4C-82DF-F34A6E393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）多值依赖具有</a:t>
            </a:r>
            <a:r>
              <a:rPr lang="zh-CN" altLang="en-US" dirty="0">
                <a:solidFill>
                  <a:srgbClr val="C00000"/>
                </a:solidFill>
              </a:rPr>
              <a:t>对称性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，则</a:t>
            </a:r>
            <a:r>
              <a:rPr lang="en-US" altLang="zh-CN" dirty="0"/>
              <a:t>X→→Z</a:t>
            </a:r>
            <a:r>
              <a:rPr lang="zh-CN" altLang="en-US" dirty="0"/>
              <a:t>，其中</a:t>
            </a:r>
            <a:r>
              <a:rPr lang="en-US" altLang="zh-CN" dirty="0"/>
              <a:t>Z</a:t>
            </a:r>
            <a:r>
              <a:rPr lang="zh-CN" altLang="en-US" dirty="0"/>
              <a:t>＝</a:t>
            </a:r>
            <a:r>
              <a:rPr lang="en-US" altLang="zh-CN" dirty="0"/>
              <a:t>U</a:t>
            </a:r>
            <a:r>
              <a:rPr lang="zh-CN" altLang="en-US" dirty="0"/>
              <a:t>－</a:t>
            </a:r>
            <a:r>
              <a:rPr lang="en-US" altLang="zh-CN" dirty="0"/>
              <a:t>X</a:t>
            </a:r>
            <a:r>
              <a:rPr lang="zh-CN" altLang="en-US" dirty="0"/>
              <a:t>－</a:t>
            </a:r>
            <a:r>
              <a:rPr lang="en-US" altLang="zh-CN" dirty="0"/>
              <a:t>Y</a:t>
            </a:r>
          </a:p>
          <a:p>
            <a:pPr lvl="1"/>
            <a:r>
              <a:rPr lang="zh-CN" altLang="en-US" dirty="0"/>
              <a:t>多值依赖的对称性可以用</a:t>
            </a:r>
            <a:r>
              <a:rPr lang="zh-CN" altLang="en-US" dirty="0">
                <a:solidFill>
                  <a:srgbClr val="0000FF"/>
                </a:solidFill>
              </a:rPr>
              <a:t>完全二分图</a:t>
            </a:r>
            <a:r>
              <a:rPr lang="zh-CN" altLang="en-US" dirty="0"/>
              <a:t>直观地表示出来。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）多值依赖具有</a:t>
            </a:r>
            <a:r>
              <a:rPr lang="zh-CN" altLang="en-US" dirty="0">
                <a:solidFill>
                  <a:srgbClr val="C00000"/>
                </a:solidFill>
              </a:rPr>
              <a:t>传递性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Y→→Z</a:t>
            </a:r>
            <a:r>
              <a:rPr lang="zh-CN" altLang="en-US" dirty="0"/>
              <a:t>， 则</a:t>
            </a:r>
            <a:r>
              <a:rPr lang="en-US" altLang="zh-CN" dirty="0"/>
              <a:t>X→→Z –Y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C00000"/>
                </a:solidFill>
              </a:rPr>
              <a:t>函数依赖是多值依赖的特殊情况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，则</a:t>
            </a:r>
            <a:r>
              <a:rPr lang="en-US" altLang="zh-CN" dirty="0"/>
              <a:t>X→→Y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X→→Y∪Z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X→→Y∩Z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）若</a:t>
            </a:r>
            <a:r>
              <a:rPr lang="en-US" altLang="zh-CN" dirty="0"/>
              <a:t>X→→Y</a:t>
            </a:r>
            <a:r>
              <a:rPr lang="zh-CN" altLang="en-US" dirty="0"/>
              <a:t>，</a:t>
            </a:r>
            <a:r>
              <a:rPr lang="en-US" altLang="zh-CN" dirty="0"/>
              <a:t>X→→Z</a:t>
            </a:r>
            <a:r>
              <a:rPr lang="zh-CN" altLang="en-US" dirty="0"/>
              <a:t>，则</a:t>
            </a:r>
            <a:r>
              <a:rPr lang="en-US" altLang="zh-CN" dirty="0"/>
              <a:t>X→→Y-Z</a:t>
            </a:r>
            <a:r>
              <a:rPr lang="zh-CN" altLang="en-US" dirty="0"/>
              <a:t>，</a:t>
            </a:r>
            <a:r>
              <a:rPr lang="en-US" altLang="zh-CN" dirty="0"/>
              <a:t>X→→Z-Y</a:t>
            </a:r>
            <a:r>
              <a:rPr lang="zh-CN" altLang="en-US" dirty="0"/>
              <a:t>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58A8CCFC-C6F7-47A7-8915-B9DA26AD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59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21ECA9B-1B96-4DA1-8967-FB39889B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多值依赖（续）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35E599E-88A2-4E7B-AF7E-9110CEAEF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多值依赖与函数依赖的区别</a:t>
            </a:r>
          </a:p>
          <a:p>
            <a:pPr marL="3429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）多值依赖的有效性与属性集的范围有关</a:t>
            </a:r>
          </a:p>
          <a:p>
            <a:pPr lvl="2"/>
            <a:r>
              <a:rPr lang="zh-CN" altLang="en-US" dirty="0"/>
              <a:t>若</a:t>
            </a:r>
            <a:r>
              <a:rPr lang="en-US" altLang="zh-CN" dirty="0"/>
              <a:t>X→→Y</a:t>
            </a:r>
            <a:r>
              <a:rPr lang="zh-CN" altLang="en-US" dirty="0"/>
              <a:t>在</a:t>
            </a:r>
            <a:r>
              <a:rPr lang="en-US" altLang="zh-CN" dirty="0"/>
              <a:t>U</a:t>
            </a:r>
            <a:r>
              <a:rPr lang="zh-CN" altLang="en-US" dirty="0"/>
              <a:t>上成立，则在</a:t>
            </a:r>
            <a:r>
              <a:rPr lang="en-US" altLang="zh-CN" dirty="0"/>
              <a:t>W</a:t>
            </a:r>
            <a:r>
              <a:rPr lang="zh-CN" altLang="en-US" dirty="0"/>
              <a:t>（</a:t>
            </a:r>
            <a:r>
              <a:rPr lang="en-US" altLang="zh-CN" dirty="0"/>
              <a:t>XY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W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dirty="0"/>
              <a:t>U</a:t>
            </a:r>
            <a:r>
              <a:rPr lang="zh-CN" altLang="en-US" dirty="0"/>
              <a:t>）上一定成立；反之则不然，即</a:t>
            </a:r>
            <a:r>
              <a:rPr lang="en-US" altLang="zh-CN" dirty="0"/>
              <a:t>X→→Y</a:t>
            </a:r>
            <a:r>
              <a:rPr lang="zh-CN" altLang="en-US" dirty="0"/>
              <a:t>在</a:t>
            </a:r>
            <a:r>
              <a:rPr lang="en-US" altLang="zh-CN" dirty="0"/>
              <a:t>W</a:t>
            </a:r>
            <a:r>
              <a:rPr lang="zh-CN" altLang="en-US" dirty="0"/>
              <a:t>（</a:t>
            </a:r>
            <a:r>
              <a:rPr lang="en-US" altLang="zh-CN" dirty="0"/>
              <a:t>W 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U</a:t>
            </a:r>
            <a:r>
              <a:rPr lang="zh-CN" altLang="en-US" dirty="0"/>
              <a:t>）上成立，在</a:t>
            </a:r>
            <a:r>
              <a:rPr lang="en-US" altLang="zh-CN" dirty="0"/>
              <a:t>U</a:t>
            </a:r>
            <a:r>
              <a:rPr lang="zh-CN" altLang="en-US" dirty="0"/>
              <a:t>上并不一定成立。</a:t>
            </a:r>
          </a:p>
          <a:p>
            <a:pPr lvl="2"/>
            <a:r>
              <a:rPr lang="zh-CN" altLang="en-US" dirty="0"/>
              <a:t>原因：多值依赖的定义中不仅涉及属性组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，而且涉及</a:t>
            </a:r>
            <a:r>
              <a:rPr lang="en-US" altLang="zh-CN" dirty="0"/>
              <a:t>U</a:t>
            </a:r>
            <a:r>
              <a:rPr lang="zh-CN" altLang="en-US" dirty="0"/>
              <a:t>中其余属性</a:t>
            </a:r>
            <a:r>
              <a:rPr lang="en-US" altLang="zh-CN" dirty="0"/>
              <a:t>Z</a:t>
            </a:r>
          </a:p>
          <a:p>
            <a:pPr lvl="1"/>
            <a:r>
              <a:rPr lang="zh-CN" altLang="en-US" dirty="0"/>
              <a:t>一般地，在</a:t>
            </a:r>
            <a:r>
              <a:rPr lang="en-US" altLang="zh-CN" dirty="0"/>
              <a:t>R(U)</a:t>
            </a:r>
            <a:r>
              <a:rPr lang="zh-CN" altLang="en-US" dirty="0"/>
              <a:t>上若有</a:t>
            </a:r>
            <a:r>
              <a:rPr lang="en-US" altLang="zh-CN" dirty="0"/>
              <a:t>X →→Y </a:t>
            </a:r>
            <a:r>
              <a:rPr lang="zh-CN" altLang="en-US" dirty="0"/>
              <a:t>在</a:t>
            </a:r>
            <a:r>
              <a:rPr lang="en-US" altLang="zh-CN" dirty="0"/>
              <a:t>W(W</a:t>
            </a:r>
            <a:r>
              <a:rPr lang="en-US" altLang="zh-CN" dirty="0">
                <a:sym typeface="Symbol" panose="05050102010706020507" pitchFamily="18" charset="2"/>
              </a:rPr>
              <a:t>  </a:t>
            </a:r>
            <a:r>
              <a:rPr lang="en-US" altLang="zh-CN" dirty="0"/>
              <a:t>U)</a:t>
            </a:r>
            <a:r>
              <a:rPr lang="zh-CN" altLang="en-US" dirty="0"/>
              <a:t>上成立，则称</a:t>
            </a:r>
            <a:r>
              <a:rPr lang="en-US" altLang="zh-CN" dirty="0"/>
              <a:t>X→→Y </a:t>
            </a:r>
            <a:r>
              <a:rPr lang="zh-CN" altLang="en-US" dirty="0"/>
              <a:t>为</a:t>
            </a:r>
            <a:r>
              <a:rPr lang="en-US" altLang="zh-CN" dirty="0"/>
              <a:t>R(U)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嵌入型多值依赖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/>
              <a:t>函数依赖</a:t>
            </a:r>
            <a:r>
              <a:rPr lang="en-US" altLang="zh-CN" dirty="0"/>
              <a:t>X→Y </a:t>
            </a:r>
            <a:r>
              <a:rPr lang="zh-CN" altLang="en-US" dirty="0"/>
              <a:t>的有效性仅决定于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 </a:t>
            </a:r>
            <a:r>
              <a:rPr lang="zh-CN" altLang="en-US" dirty="0"/>
              <a:t>这两个属性集的值。</a:t>
            </a:r>
          </a:p>
          <a:p>
            <a:pPr lvl="2"/>
            <a:r>
              <a:rPr lang="zh-CN" altLang="en-US" dirty="0"/>
              <a:t>只要在</a:t>
            </a:r>
            <a:r>
              <a:rPr lang="en-US" altLang="zh-CN" dirty="0"/>
              <a:t>R(U)</a:t>
            </a:r>
            <a:r>
              <a:rPr lang="zh-CN" altLang="en-US" dirty="0"/>
              <a:t>的任何一个关系</a:t>
            </a:r>
            <a:r>
              <a:rPr lang="en-US" altLang="zh-CN" dirty="0"/>
              <a:t>r</a:t>
            </a:r>
            <a:r>
              <a:rPr lang="zh-CN" altLang="en-US" dirty="0"/>
              <a:t>中，元组在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上的值满足定义</a:t>
            </a:r>
            <a:r>
              <a:rPr lang="en-US" altLang="zh-CN" dirty="0"/>
              <a:t>6.1</a:t>
            </a:r>
            <a:r>
              <a:rPr lang="zh-CN" altLang="en-US" dirty="0"/>
              <a:t>，则函数依赖  </a:t>
            </a:r>
            <a:r>
              <a:rPr lang="en-US" altLang="zh-CN" dirty="0"/>
              <a:t>X →Y</a:t>
            </a:r>
            <a:r>
              <a:rPr lang="zh-CN" altLang="en-US" dirty="0"/>
              <a:t>在任何属性集</a:t>
            </a:r>
            <a:r>
              <a:rPr lang="en-US" altLang="zh-CN" dirty="0"/>
              <a:t>W (XY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W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dirty="0"/>
              <a:t>U)</a:t>
            </a:r>
            <a:r>
              <a:rPr lang="zh-CN" altLang="en-US" dirty="0"/>
              <a:t>上成立。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C2C2BD4-6AF0-4A67-A035-DE3D5651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60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553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21ECA9B-1B96-4DA1-8967-FB39889B6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多值依赖（续）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35E599E-88A2-4E7B-AF7E-9110CEAEF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多值依赖与函数依赖的区别</a:t>
            </a:r>
          </a:p>
          <a:p>
            <a:pPr marL="3429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）若函数依赖</a:t>
            </a:r>
            <a:r>
              <a:rPr lang="en-US" altLang="zh-CN" dirty="0"/>
              <a:t>X→Y</a:t>
            </a:r>
            <a:r>
              <a:rPr lang="zh-CN" altLang="en-US" dirty="0"/>
              <a:t>在</a:t>
            </a:r>
            <a:r>
              <a:rPr lang="en-US" altLang="zh-CN" dirty="0"/>
              <a:t>R (U)</a:t>
            </a:r>
            <a:r>
              <a:rPr lang="zh-CN" altLang="en-US" dirty="0"/>
              <a:t>上成立，则对于任何</a:t>
            </a:r>
            <a:r>
              <a:rPr lang="en-US" altLang="zh-CN" dirty="0"/>
              <a:t>Y</a:t>
            </a:r>
            <a:r>
              <a:rPr lang="en-US" altLang="zh-CN" dirty="0">
                <a:latin typeface="Agency FB" panose="020B0503020202020204" pitchFamily="34" charset="0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Y</a:t>
            </a:r>
            <a:r>
              <a:rPr lang="zh-CN" altLang="en-US" dirty="0"/>
              <a:t>均有</a:t>
            </a:r>
            <a:r>
              <a:rPr lang="en-US" altLang="zh-CN" dirty="0"/>
              <a:t>X→Y</a:t>
            </a:r>
            <a:r>
              <a:rPr lang="en-US" altLang="zh-CN" dirty="0">
                <a:latin typeface="Agency FB" panose="020B0503020202020204" pitchFamily="34" charset="0"/>
              </a:rPr>
              <a:t>’</a:t>
            </a:r>
            <a:r>
              <a:rPr lang="zh-CN" altLang="en-US" dirty="0"/>
              <a:t>成立。多值依赖</a:t>
            </a:r>
            <a:r>
              <a:rPr lang="en-US" altLang="zh-CN" dirty="0"/>
              <a:t>X→→Y</a:t>
            </a:r>
            <a:r>
              <a:rPr lang="zh-CN" altLang="en-US" dirty="0"/>
              <a:t>若在</a:t>
            </a:r>
            <a:r>
              <a:rPr lang="en-US" altLang="zh-CN" dirty="0"/>
              <a:t>R(U)</a:t>
            </a:r>
            <a:r>
              <a:rPr lang="zh-CN" altLang="en-US" dirty="0"/>
              <a:t>上成立，不能断言对于任何</a:t>
            </a:r>
            <a:r>
              <a:rPr lang="en-US" altLang="zh-CN" dirty="0"/>
              <a:t>Y</a:t>
            </a:r>
            <a:r>
              <a:rPr lang="en-US" altLang="zh-CN" dirty="0">
                <a:latin typeface="Agency FB" panose="020B0503020202020204" pitchFamily="34" charset="0"/>
              </a:rPr>
              <a:t>’</a:t>
            </a:r>
            <a:r>
              <a:rPr lang="en-US" altLang="zh-CN" dirty="0">
                <a:sym typeface="Symbol" panose="05050102010706020507" pitchFamily="18" charset="2"/>
              </a:rPr>
              <a:t></a:t>
            </a:r>
            <a:r>
              <a:rPr lang="en-US" altLang="zh-CN" dirty="0"/>
              <a:t> Y</a:t>
            </a:r>
            <a:r>
              <a:rPr lang="zh-CN" altLang="en-US" dirty="0"/>
              <a:t>有</a:t>
            </a:r>
            <a:r>
              <a:rPr lang="en-US" altLang="zh-CN" dirty="0"/>
              <a:t>X→→Y</a:t>
            </a:r>
            <a:r>
              <a:rPr lang="en-US" altLang="zh-CN" dirty="0">
                <a:latin typeface="Agency FB" panose="020B0503020202020204" pitchFamily="34" charset="0"/>
              </a:rPr>
              <a:t>’</a:t>
            </a:r>
            <a:r>
              <a:rPr lang="zh-CN" altLang="en-US" dirty="0"/>
              <a:t>成立。</a:t>
            </a:r>
            <a:endParaRPr lang="en-US" altLang="zh-CN" dirty="0"/>
          </a:p>
          <a:p>
            <a:pPr lvl="2"/>
            <a:r>
              <a:rPr lang="zh-CN" altLang="en-US" dirty="0"/>
              <a:t>例如，关系</a:t>
            </a:r>
            <a:r>
              <a:rPr lang="en-US" altLang="zh-CN" dirty="0"/>
              <a:t>R(A,B,C,D)</a:t>
            </a:r>
            <a:r>
              <a:rPr lang="zh-CN" altLang="en-US" dirty="0"/>
              <a:t>， </a:t>
            </a:r>
            <a:r>
              <a:rPr lang="en-US" altLang="zh-CN" dirty="0"/>
              <a:t>A→→BC</a:t>
            </a:r>
            <a:r>
              <a:rPr lang="zh-CN" altLang="en-US" dirty="0"/>
              <a:t>成立，当然也有</a:t>
            </a:r>
            <a:r>
              <a:rPr lang="en-US" altLang="zh-CN" dirty="0"/>
              <a:t>A→→D</a:t>
            </a:r>
            <a:r>
              <a:rPr lang="zh-CN" altLang="en-US" dirty="0"/>
              <a:t>成立。但是，在此实例上</a:t>
            </a:r>
            <a:r>
              <a:rPr lang="en-US" altLang="zh-CN" dirty="0"/>
              <a:t>A→→B</a:t>
            </a:r>
            <a:r>
              <a:rPr lang="zh-CN" altLang="en-US" dirty="0"/>
              <a:t>是不成立的。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C2C2BD4-6AF0-4A67-A035-DE3D5651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61</a:t>
            </a:fld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xmlns="" id="{517178E3-870B-41FB-81BD-BFA0704318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672830"/>
              </p:ext>
            </p:extLst>
          </p:nvPr>
        </p:nvGraphicFramePr>
        <p:xfrm>
          <a:off x="3351303" y="3490132"/>
          <a:ext cx="3845452" cy="198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1363">
                  <a:extLst>
                    <a:ext uri="{9D8B030D-6E8A-4147-A177-3AD203B41FA5}">
                      <a16:colId xmlns:a16="http://schemas.microsoft.com/office/drawing/2014/main" xmlns="" val="208851715"/>
                    </a:ext>
                  </a:extLst>
                </a:gridCol>
                <a:gridCol w="961363">
                  <a:extLst>
                    <a:ext uri="{9D8B030D-6E8A-4147-A177-3AD203B41FA5}">
                      <a16:colId xmlns:a16="http://schemas.microsoft.com/office/drawing/2014/main" xmlns="" val="1856370523"/>
                    </a:ext>
                  </a:extLst>
                </a:gridCol>
                <a:gridCol w="961363">
                  <a:extLst>
                    <a:ext uri="{9D8B030D-6E8A-4147-A177-3AD203B41FA5}">
                      <a16:colId xmlns:a16="http://schemas.microsoft.com/office/drawing/2014/main" xmlns="" val="1818660992"/>
                    </a:ext>
                  </a:extLst>
                </a:gridCol>
                <a:gridCol w="961363">
                  <a:extLst>
                    <a:ext uri="{9D8B030D-6E8A-4147-A177-3AD203B41FA5}">
                      <a16:colId xmlns:a16="http://schemas.microsoft.com/office/drawing/2014/main" xmlns="" val="3551195998"/>
                    </a:ext>
                  </a:extLst>
                </a:gridCol>
              </a:tblGrid>
              <a:tr h="3604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405551"/>
                  </a:ext>
                </a:extLst>
              </a:tr>
              <a:tr h="36040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6814841"/>
                  </a:ext>
                </a:extLst>
              </a:tr>
              <a:tr h="36040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1044006"/>
                  </a:ext>
                </a:extLst>
              </a:tr>
              <a:tr h="3604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6247569"/>
                  </a:ext>
                </a:extLst>
              </a:tr>
              <a:tr h="36040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1415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203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CN" dirty="0"/>
          </a:p>
          <a:p>
            <a:r>
              <a:rPr lang="en-US" altLang="zh-CN" dirty="0"/>
              <a:t>1. A</a:t>
            </a:r>
            <a:r>
              <a:rPr lang="zh-CN" altLang="en-US" dirty="0"/>
              <a:t>→→</a:t>
            </a:r>
            <a:r>
              <a:rPr lang="en-US" altLang="zh-CN" dirty="0"/>
              <a:t>BC</a:t>
            </a:r>
            <a:r>
              <a:rPr lang="zh-CN" altLang="en-US" dirty="0"/>
              <a:t>成立：</a:t>
            </a:r>
            <a:endParaRPr lang="en-US" altLang="zh-CN" dirty="0"/>
          </a:p>
          <a:p>
            <a:pPr lvl="1"/>
            <a:r>
              <a:rPr lang="zh-CN" altLang="en-US" dirty="0"/>
              <a:t>先选取第一条元组</a:t>
            </a:r>
            <a:r>
              <a:rPr lang="en-US" altLang="zh-CN" dirty="0"/>
              <a:t>r</a:t>
            </a:r>
            <a:r>
              <a:rPr lang="zh-CN" altLang="en-US" dirty="0"/>
              <a:t>，得出</a:t>
            </a:r>
            <a:r>
              <a:rPr lang="en-US" altLang="zh-CN" dirty="0"/>
              <a:t>r(A)</a:t>
            </a:r>
            <a:r>
              <a:rPr lang="zh-CN" altLang="en-US" dirty="0"/>
              <a:t>的值，再往下从第二条元组开始，依次检查后续元组</a:t>
            </a:r>
            <a:r>
              <a:rPr lang="en-US" altLang="zh-CN" dirty="0"/>
              <a:t>r</a:t>
            </a:r>
            <a:r>
              <a:rPr lang="en-US" altLang="zh-CN" dirty="0">
                <a:latin typeface="Agency FB" panose="020B0503020202020204" pitchFamily="34" charset="0"/>
              </a:rPr>
              <a:t> ’</a:t>
            </a:r>
            <a:r>
              <a:rPr lang="zh-CN" altLang="en-US" dirty="0"/>
              <a:t>在</a:t>
            </a:r>
            <a:r>
              <a:rPr lang="en-US" altLang="zh-CN" dirty="0"/>
              <a:t>A</a:t>
            </a:r>
            <a:r>
              <a:rPr lang="zh-CN" altLang="en-US" dirty="0"/>
              <a:t>上的分量是否等于</a:t>
            </a:r>
            <a:r>
              <a:rPr lang="en-US" altLang="zh-CN" dirty="0"/>
              <a:t>r(A)</a:t>
            </a:r>
            <a:r>
              <a:rPr lang="zh-CN" altLang="en-US" dirty="0"/>
              <a:t>。若相等，则调换两条元组在</a:t>
            </a:r>
            <a:r>
              <a:rPr lang="en-US" altLang="zh-CN" dirty="0"/>
              <a:t>BC</a:t>
            </a:r>
            <a:r>
              <a:rPr lang="zh-CN" altLang="en-US" dirty="0"/>
              <a:t>分量并检查调换后得到新的两个元组是否还是</a:t>
            </a:r>
            <a:r>
              <a:rPr lang="en-US" altLang="zh-CN" dirty="0"/>
              <a:t>R</a:t>
            </a:r>
            <a:r>
              <a:rPr lang="zh-CN" altLang="en-US" dirty="0"/>
              <a:t>中，若在，则继续上述比较过程，若不在，则表明</a:t>
            </a:r>
            <a:r>
              <a:rPr lang="en-US" altLang="zh-CN" dirty="0"/>
              <a:t>A↛↛BC</a:t>
            </a:r>
            <a:r>
              <a:rPr lang="zh-CN" altLang="en-US" dirty="0"/>
              <a:t>，即不满足多值依赖。</a:t>
            </a:r>
            <a:endParaRPr lang="en-US" altLang="zh-CN" dirty="0"/>
          </a:p>
          <a:p>
            <a:pPr lvl="1"/>
            <a:r>
              <a:rPr lang="zh-CN" altLang="en-US" dirty="0"/>
              <a:t>例如：因为第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条元组在属性</a:t>
            </a:r>
            <a:r>
              <a:rPr lang="en-US" altLang="zh-CN" dirty="0"/>
              <a:t>A</a:t>
            </a:r>
            <a:r>
              <a:rPr lang="zh-CN" altLang="en-US" dirty="0"/>
              <a:t>上的值相同，交换</a:t>
            </a:r>
            <a:r>
              <a:rPr lang="en-US" altLang="zh-CN" dirty="0"/>
              <a:t>(a1,b1,c1,d1)</a:t>
            </a:r>
            <a:r>
              <a:rPr lang="zh-CN" altLang="en-US" dirty="0"/>
              <a:t>与</a:t>
            </a:r>
            <a:r>
              <a:rPr lang="en-US" altLang="zh-CN" dirty="0"/>
              <a:t>(a1,b1,c1,d2)</a:t>
            </a:r>
            <a:r>
              <a:rPr lang="zh-CN" altLang="en-US" dirty="0"/>
              <a:t>在</a:t>
            </a:r>
            <a:r>
              <a:rPr lang="en-US" altLang="zh-CN" dirty="0"/>
              <a:t>BC</a:t>
            </a:r>
            <a:r>
              <a:rPr lang="zh-CN" altLang="en-US" dirty="0"/>
              <a:t>上的值后仍然在</a:t>
            </a:r>
            <a:r>
              <a:rPr lang="en-US" altLang="zh-CN" dirty="0"/>
              <a:t>R</a:t>
            </a:r>
            <a:r>
              <a:rPr lang="zh-CN" altLang="en-US" dirty="0"/>
              <a:t>中。穷尽实例上的所有元组，可得最后结果。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r>
              <a:rPr lang="en-US" altLang="zh-CN" dirty="0"/>
              <a:t>2. A</a:t>
            </a:r>
            <a:r>
              <a:rPr lang="zh-CN" altLang="en-US" dirty="0"/>
              <a:t>→→</a:t>
            </a:r>
            <a:r>
              <a:rPr lang="en-US" altLang="zh-CN" dirty="0"/>
              <a:t>B</a:t>
            </a:r>
            <a:r>
              <a:rPr lang="zh-CN" altLang="en-US" dirty="0"/>
              <a:t>不成立</a:t>
            </a:r>
            <a:endParaRPr lang="en-US" altLang="zh-CN" dirty="0"/>
          </a:p>
          <a:p>
            <a:pPr lvl="1"/>
            <a:r>
              <a:rPr lang="zh-CN" altLang="en-US" dirty="0"/>
              <a:t>因为交换</a:t>
            </a:r>
            <a:r>
              <a:rPr lang="en-US" altLang="zh-CN" dirty="0"/>
              <a:t>(a1,</a:t>
            </a:r>
            <a:r>
              <a:rPr lang="en-US" altLang="zh-CN" dirty="0">
                <a:solidFill>
                  <a:srgbClr val="C00000"/>
                </a:solidFill>
              </a:rPr>
              <a:t>b1</a:t>
            </a:r>
            <a:r>
              <a:rPr lang="en-US" altLang="zh-CN" dirty="0"/>
              <a:t>,c1,d1)</a:t>
            </a:r>
            <a:r>
              <a:rPr lang="zh-CN" altLang="en-US" dirty="0"/>
              <a:t>与</a:t>
            </a:r>
            <a:r>
              <a:rPr lang="en-US" altLang="zh-CN" dirty="0"/>
              <a:t>(a1,</a:t>
            </a:r>
            <a:r>
              <a:rPr lang="en-US" altLang="zh-CN" dirty="0">
                <a:solidFill>
                  <a:srgbClr val="C00000"/>
                </a:solidFill>
              </a:rPr>
              <a:t>b2</a:t>
            </a:r>
            <a:r>
              <a:rPr lang="en-US" altLang="zh-CN" dirty="0"/>
              <a:t>,c2,d1)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上的分量后变为：</a:t>
            </a:r>
            <a:r>
              <a:rPr lang="en-US" altLang="zh-CN" dirty="0"/>
              <a:t> (a1,</a:t>
            </a:r>
            <a:r>
              <a:rPr lang="en-US" altLang="zh-CN" dirty="0">
                <a:solidFill>
                  <a:srgbClr val="C00000"/>
                </a:solidFill>
              </a:rPr>
              <a:t>b2</a:t>
            </a:r>
            <a:r>
              <a:rPr lang="en-US" altLang="zh-CN" dirty="0"/>
              <a:t>,c1,d1)</a:t>
            </a:r>
            <a:r>
              <a:rPr lang="zh-CN" altLang="en-US" dirty="0"/>
              <a:t>和</a:t>
            </a:r>
            <a:r>
              <a:rPr lang="en-US" altLang="zh-CN" dirty="0"/>
              <a:t>(a1,</a:t>
            </a:r>
            <a:r>
              <a:rPr lang="en-US" altLang="zh-CN" dirty="0">
                <a:solidFill>
                  <a:srgbClr val="C00000"/>
                </a:solidFill>
              </a:rPr>
              <a:t>b1</a:t>
            </a:r>
            <a:r>
              <a:rPr lang="en-US" altLang="zh-CN" dirty="0"/>
              <a:t>,c2,d1)</a:t>
            </a:r>
            <a:r>
              <a:rPr lang="zh-CN" altLang="en-US" dirty="0"/>
              <a:t>，这两条新元组都不在</a:t>
            </a:r>
            <a:r>
              <a:rPr lang="en-US" altLang="zh-CN" dirty="0"/>
              <a:t>R</a:t>
            </a:r>
            <a:r>
              <a:rPr lang="zh-CN" altLang="en-US" dirty="0"/>
              <a:t>中，所以</a:t>
            </a:r>
            <a:r>
              <a:rPr lang="en-US" altLang="zh-CN" dirty="0"/>
              <a:t>A↛↛B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xmlns="" id="{3ABB3304-0803-4936-B567-B7E3A4F099C0}"/>
              </a:ext>
            </a:extLst>
          </p:cNvPr>
          <p:cNvGrpSpPr/>
          <p:nvPr/>
        </p:nvGrpSpPr>
        <p:grpSpPr>
          <a:xfrm>
            <a:off x="3625983" y="4239957"/>
            <a:ext cx="4345550" cy="468015"/>
            <a:chOff x="3829709" y="4457897"/>
            <a:chExt cx="4345550" cy="468015"/>
          </a:xfrm>
        </p:grpSpPr>
        <p:grpSp>
          <p:nvGrpSpPr>
            <p:cNvPr id="8" name="组合 7"/>
            <p:cNvGrpSpPr/>
            <p:nvPr/>
          </p:nvGrpSpPr>
          <p:grpSpPr>
            <a:xfrm>
              <a:off x="3829709" y="4508500"/>
              <a:ext cx="4345550" cy="400111"/>
              <a:chOff x="4274100" y="4114800"/>
              <a:chExt cx="4345550" cy="400111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4274100" y="4114800"/>
                <a:ext cx="17411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000" dirty="0">
                    <a:solidFill>
                      <a:srgbClr val="0000CC"/>
                    </a:solidFill>
                  </a:rPr>
                  <a:t>(a1,b1,c1,d1)</a:t>
                </a:r>
                <a:endParaRPr lang="zh-CN" altLang="en-US" sz="2000" dirty="0">
                  <a:solidFill>
                    <a:srgbClr val="0000CC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6788700" y="4114801"/>
                <a:ext cx="183095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88900" lvl="2"/>
                <a:r>
                  <a:rPr lang="en-US" altLang="zh-CN" sz="2000" dirty="0">
                    <a:solidFill>
                      <a:srgbClr val="0000CC"/>
                    </a:solidFill>
                  </a:rPr>
                  <a:t>(a1,b1,c1,d2)</a:t>
                </a:r>
                <a:endParaRPr lang="zh-CN" altLang="en-US" sz="2000" dirty="0">
                  <a:solidFill>
                    <a:srgbClr val="0000CC"/>
                  </a:solidFill>
                </a:endParaRPr>
              </a:p>
            </p:txBody>
          </p:sp>
        </p:grpSp>
        <p:sp>
          <p:nvSpPr>
            <p:cNvPr id="9" name="椭圆 8"/>
            <p:cNvSpPr/>
            <p:nvPr/>
          </p:nvSpPr>
          <p:spPr>
            <a:xfrm>
              <a:off x="4280009" y="4457897"/>
              <a:ext cx="838200" cy="461665"/>
            </a:xfrm>
            <a:prstGeom prst="ellipse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sp>
          <p:nvSpPr>
            <p:cNvPr id="10" name="椭圆 9"/>
            <p:cNvSpPr/>
            <p:nvPr/>
          </p:nvSpPr>
          <p:spPr>
            <a:xfrm>
              <a:off x="6863410" y="4464247"/>
              <a:ext cx="838200" cy="461665"/>
            </a:xfrm>
            <a:prstGeom prst="ellipse">
              <a:avLst/>
            </a:prstGeom>
            <a:noFill/>
            <a:ln w="31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/>
            </a:p>
          </p:txBody>
        </p:sp>
        <p:cxnSp>
          <p:nvCxnSpPr>
            <p:cNvPr id="12" name="曲线连接符 11"/>
            <p:cNvCxnSpPr>
              <a:stCxn id="9" idx="4"/>
              <a:endCxn id="10" idx="4"/>
            </p:cNvCxnSpPr>
            <p:nvPr/>
          </p:nvCxnSpPr>
          <p:spPr>
            <a:xfrm rot="16200000" flipH="1">
              <a:off x="5987634" y="3631036"/>
              <a:ext cx="6350" cy="2583401"/>
            </a:xfrm>
            <a:prstGeom prst="curvedConnector3">
              <a:avLst>
                <a:gd name="adj1" fmla="val 3700000"/>
              </a:avLst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>
              <a:cxnSpLocks/>
              <a:stCxn id="10" idx="0"/>
            </p:cNvCxnSpPr>
            <p:nvPr/>
          </p:nvCxnSpPr>
          <p:spPr>
            <a:xfrm rot="16200000" flipH="1" flipV="1">
              <a:off x="5949438" y="3144057"/>
              <a:ext cx="12882" cy="2653262"/>
            </a:xfrm>
            <a:prstGeom prst="bentConnector4">
              <a:avLst>
                <a:gd name="adj1" fmla="val -1774569"/>
                <a:gd name="adj2" fmla="val 100020"/>
              </a:avLst>
            </a:prstGeom>
            <a:ln w="19050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xmlns="" id="{B7E7BD84-C53B-4B03-B265-7E62086CB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多值依赖的判定方法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xmlns="" id="{4EA140F5-8C2B-45F4-9606-B4935E4C92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741096"/>
              </p:ext>
            </p:extLst>
          </p:nvPr>
        </p:nvGraphicFramePr>
        <p:xfrm>
          <a:off x="6634613" y="277889"/>
          <a:ext cx="2201428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357">
                  <a:extLst>
                    <a:ext uri="{9D8B030D-6E8A-4147-A177-3AD203B41FA5}">
                      <a16:colId xmlns:a16="http://schemas.microsoft.com/office/drawing/2014/main" xmlns="" val="208851715"/>
                    </a:ext>
                  </a:extLst>
                </a:gridCol>
                <a:gridCol w="550357">
                  <a:extLst>
                    <a:ext uri="{9D8B030D-6E8A-4147-A177-3AD203B41FA5}">
                      <a16:colId xmlns:a16="http://schemas.microsoft.com/office/drawing/2014/main" xmlns="" val="1856370523"/>
                    </a:ext>
                  </a:extLst>
                </a:gridCol>
                <a:gridCol w="550357">
                  <a:extLst>
                    <a:ext uri="{9D8B030D-6E8A-4147-A177-3AD203B41FA5}">
                      <a16:colId xmlns:a16="http://schemas.microsoft.com/office/drawing/2014/main" xmlns="" val="1818660992"/>
                    </a:ext>
                  </a:extLst>
                </a:gridCol>
                <a:gridCol w="550357">
                  <a:extLst>
                    <a:ext uri="{9D8B030D-6E8A-4147-A177-3AD203B41FA5}">
                      <a16:colId xmlns:a16="http://schemas.microsoft.com/office/drawing/2014/main" xmlns="" val="3551195998"/>
                    </a:ext>
                  </a:extLst>
                </a:gridCol>
              </a:tblGrid>
              <a:tr h="2335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2405551"/>
                  </a:ext>
                </a:extLst>
              </a:tr>
              <a:tr h="233562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96814841"/>
                  </a:ext>
                </a:extLst>
              </a:tr>
              <a:tr h="23356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1044006"/>
                  </a:ext>
                </a:extLst>
              </a:tr>
              <a:tr h="2335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6247569"/>
                  </a:ext>
                </a:extLst>
              </a:tr>
              <a:tr h="233562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zh-CN" altLang="en-US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41415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64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92D01C6F-6754-4C29-9937-3A9E6EB97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C9D9E21-7359-4D63-BA52-7298E0F216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右边为关系模式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的一个实例，问：该实例满足以下哪个多值依赖？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B18C0DA3-1C3D-4695-A677-01C4BC82537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A→→BC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688A9E91-D5CC-4370-9191-E2E974AD867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A→→CD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6356B261-EE0C-493A-82A6-BAF73B21274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A→→BD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D33A8A59-F984-4031-A3A0-AA9523FC64A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D→→BC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1AF8CF09-AE76-4948-A2CF-5A973755A98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A1FD5201-343D-4D67-A578-AC687C2B944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E59A43D2-AE27-4115-BB26-8EE894B6A52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xmlns="" id="{9CC29679-A3A9-4D6E-85DC-2922336899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BDC12BBF-EBC6-4150-849D-EEFF9D64CDF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xmlns="" id="{90A66502-939C-4C91-B636-2CAD5E3C04A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45118" y="2078774"/>
            <a:ext cx="1807480" cy="4228159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CA2C00C8-B2DF-4049-BA89-EC408E36B2B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xmlns="" id="{0E6981F5-F0FA-4077-A003-BFE8E971923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xmlns="" id="{8092283B-23AD-4555-BD7F-6390122B646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xmlns="" id="{91991558-2EDF-4EAE-8F1D-244EC60BBA9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xmlns="" id="{ED31DB66-7A85-4FBB-A4E0-C003CF2A8F60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F644BDB0-DD68-48C7-802B-86FA99E81011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86467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463873">
            <a:extLst>
              <a:ext uri="{FF2B5EF4-FFF2-40B4-BE49-F238E27FC236}">
                <a16:creationId xmlns:a16="http://schemas.microsoft.com/office/drawing/2014/main" xmlns="" id="{F0E14F30-6397-4414-8C70-5A2E481C63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6.2.8  4NF</a:t>
            </a:r>
          </a:p>
        </p:txBody>
      </p:sp>
      <p:sp>
        <p:nvSpPr>
          <p:cNvPr id="92163" name="文本占位符 463874">
            <a:extLst>
              <a:ext uri="{FF2B5EF4-FFF2-40B4-BE49-F238E27FC236}">
                <a16:creationId xmlns:a16="http://schemas.microsoft.com/office/drawing/2014/main" xmlns="" id="{704DE69F-04E2-4C91-B1CB-BBDB043E8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 fontScale="925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6.10   </a:t>
            </a:r>
            <a:r>
              <a:rPr lang="zh-CN" altLang="en-US" dirty="0"/>
              <a:t>关系模式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F&gt;∈1NF</a:t>
            </a:r>
            <a:r>
              <a:rPr lang="zh-CN" altLang="en-US" dirty="0"/>
              <a:t>，如果对于</a:t>
            </a:r>
            <a:r>
              <a:rPr lang="en-US" altLang="zh-CN" dirty="0"/>
              <a:t>R</a:t>
            </a:r>
            <a:r>
              <a:rPr lang="zh-CN" altLang="en-US" dirty="0"/>
              <a:t>的每个非平凡多值依赖</a:t>
            </a:r>
            <a:r>
              <a:rPr lang="en-US" altLang="zh-CN" dirty="0"/>
              <a:t>X→→Y</a:t>
            </a:r>
            <a:r>
              <a:rPr lang="zh-CN" altLang="en-US" dirty="0"/>
              <a:t>（</a:t>
            </a:r>
            <a:r>
              <a:rPr lang="en-US" altLang="zh-CN" dirty="0"/>
              <a:t>Y </a:t>
            </a:r>
            <a:r>
              <a:rPr lang="zh-CN" altLang="en-US" b="0" dirty="0"/>
              <a:t>⊈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），</a:t>
            </a:r>
            <a:r>
              <a:rPr lang="en-US" altLang="zh-CN" dirty="0"/>
              <a:t>X</a:t>
            </a:r>
            <a:r>
              <a:rPr lang="zh-CN" altLang="en-US" dirty="0"/>
              <a:t>都含有码，则</a:t>
            </a:r>
            <a:r>
              <a:rPr lang="en-US" altLang="zh-CN" dirty="0"/>
              <a:t>R∈4NF</a:t>
            </a:r>
            <a:r>
              <a:rPr lang="zh-CN" altLang="en-US" dirty="0"/>
              <a:t>。</a:t>
            </a:r>
          </a:p>
          <a:p>
            <a:pPr lvl="1"/>
            <a:r>
              <a:rPr lang="en-US" altLang="zh-CN" dirty="0"/>
              <a:t>4NF</a:t>
            </a:r>
            <a:r>
              <a:rPr lang="zh-CN" altLang="en-US" dirty="0"/>
              <a:t>就是限制关系模式的属性之间</a:t>
            </a:r>
            <a:r>
              <a:rPr lang="zh-CN" altLang="en-US" dirty="0">
                <a:solidFill>
                  <a:srgbClr val="C00000"/>
                </a:solidFill>
              </a:rPr>
              <a:t>不允许有非平凡且非函数依赖的多值依赖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dirty="0">
                <a:sym typeface="Calibri" pitchFamily="34" charset="0"/>
              </a:rPr>
              <a:t>对于每一个非平凡的多值依赖</a:t>
            </a:r>
            <a:r>
              <a:rPr lang="en-US" altLang="zh-CN" dirty="0">
                <a:sym typeface="Calibri" pitchFamily="34" charset="0"/>
              </a:rPr>
              <a:t>X→→Y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都含有候选码，于是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，所以</a:t>
            </a:r>
            <a:r>
              <a:rPr lang="en-US" altLang="zh-CN" dirty="0">
                <a:sym typeface="Calibri" pitchFamily="34" charset="0"/>
              </a:rPr>
              <a:t> 4NF</a:t>
            </a:r>
            <a:r>
              <a:rPr lang="zh-CN" altLang="en-US" dirty="0">
                <a:sym typeface="Calibri" pitchFamily="34" charset="0"/>
              </a:rPr>
              <a:t>所允许的非平凡多值依赖实际上是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函数依赖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R ∈ 4NF</a:t>
            </a:r>
            <a:r>
              <a:rPr lang="zh-CN" altLang="en-US" dirty="0"/>
              <a:t>， 则</a:t>
            </a:r>
            <a:r>
              <a:rPr lang="en-US" altLang="zh-CN" dirty="0"/>
              <a:t>R ∈ BCNF 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C00000"/>
                </a:solidFill>
              </a:rPr>
              <a:t>BCNF</a:t>
            </a:r>
            <a:r>
              <a:rPr lang="zh-CN" altLang="en-US" dirty="0">
                <a:solidFill>
                  <a:srgbClr val="C00000"/>
                </a:solidFill>
              </a:rPr>
              <a:t>即关系模式中每一个决定因素都包含码</a:t>
            </a:r>
            <a:r>
              <a:rPr lang="zh-CN" altLang="en-US" dirty="0"/>
              <a:t>）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10]</a:t>
            </a:r>
            <a:r>
              <a:rPr lang="zh-CN" altLang="en-US" dirty="0"/>
              <a:t>的</a:t>
            </a:r>
            <a:r>
              <a:rPr lang="en-US" altLang="zh-CN" dirty="0"/>
              <a:t>WSC</a:t>
            </a:r>
            <a:r>
              <a:rPr lang="zh-CN" altLang="en-US" dirty="0"/>
              <a:t>中， </a:t>
            </a:r>
            <a:r>
              <a:rPr lang="en-US" altLang="zh-CN" dirty="0"/>
              <a:t>W →→S, W→→C</a:t>
            </a:r>
            <a:r>
              <a:rPr lang="zh-CN" altLang="en-US" dirty="0"/>
              <a:t>，他们都是非平凡多值依赖。而</a:t>
            </a:r>
            <a:r>
              <a:rPr lang="en-US" altLang="zh-CN" dirty="0"/>
              <a:t>W</a:t>
            </a:r>
            <a:r>
              <a:rPr lang="zh-CN" altLang="en-US" dirty="0"/>
              <a:t>不是码，关系模式</a:t>
            </a:r>
            <a:r>
              <a:rPr lang="en-US" altLang="zh-CN" dirty="0"/>
              <a:t>WSC</a:t>
            </a:r>
            <a:r>
              <a:rPr lang="zh-CN" altLang="en-US" dirty="0"/>
              <a:t>的码是</a:t>
            </a:r>
            <a:r>
              <a:rPr lang="en-US" altLang="zh-CN" dirty="0"/>
              <a:t>(W, S, C)</a:t>
            </a:r>
            <a:r>
              <a:rPr lang="zh-CN" altLang="en-US" dirty="0"/>
              <a:t>，即</a:t>
            </a:r>
            <a:r>
              <a:rPr lang="en-US" altLang="zh-CN" dirty="0"/>
              <a:t>All-key</a:t>
            </a:r>
            <a:r>
              <a:rPr lang="zh-CN" altLang="en-US" dirty="0"/>
              <a:t>，因此</a:t>
            </a:r>
            <a:r>
              <a:rPr lang="en-US" altLang="zh-CN" dirty="0"/>
              <a:t>WSC </a:t>
            </a:r>
            <a:r>
              <a:rPr lang="en-US" altLang="zh-CN" dirty="0">
                <a:sym typeface="Symbol" panose="05050102010706020507" pitchFamily="18" charset="2"/>
              </a:rPr>
              <a:t></a:t>
            </a:r>
            <a:r>
              <a:rPr lang="en-US" altLang="zh-CN" dirty="0"/>
              <a:t> 4NF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可以把</a:t>
            </a:r>
            <a:r>
              <a:rPr lang="en-US" altLang="zh-CN" dirty="0"/>
              <a:t>WSC</a:t>
            </a:r>
            <a:r>
              <a:rPr lang="zh-CN" altLang="en-US" dirty="0"/>
              <a:t>分解成</a:t>
            </a:r>
            <a:r>
              <a:rPr lang="en-US" altLang="zh-CN" dirty="0"/>
              <a:t>WS(W,S), WC(W,C)</a:t>
            </a:r>
            <a:r>
              <a:rPr lang="zh-CN" altLang="en-US" dirty="0"/>
              <a:t>，</a:t>
            </a:r>
            <a:r>
              <a:rPr lang="en-US" altLang="zh-CN" dirty="0"/>
              <a:t>WS∈4NF</a:t>
            </a:r>
            <a:r>
              <a:rPr lang="zh-CN" altLang="en-US" dirty="0"/>
              <a:t>， </a:t>
            </a:r>
            <a:r>
              <a:rPr lang="en-US" altLang="zh-CN" dirty="0"/>
              <a:t>WC∈4NF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1B153A70-4D2E-468D-9508-48A7959EA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5BFD8C1B-65CE-4A0B-A560-29F6F48F8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4NF</a:t>
            </a:r>
            <a:r>
              <a:rPr lang="zh-CN" altLang="en-US" dirty="0"/>
              <a:t>（续）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/>
              <a:t>BCNF</a:t>
            </a:r>
            <a:r>
              <a:rPr lang="zh-CN" altLang="en-US" dirty="0"/>
              <a:t>的</a:t>
            </a:r>
            <a:r>
              <a:rPr lang="en-US" altLang="zh-CN" dirty="0"/>
              <a:t>R</a:t>
            </a:r>
            <a:r>
              <a:rPr lang="zh-CN" altLang="en-US" dirty="0"/>
              <a:t>分解成</a:t>
            </a:r>
            <a:r>
              <a:rPr lang="en-US" altLang="zh-CN" dirty="0"/>
              <a:t>4NF</a:t>
            </a:r>
            <a:r>
              <a:rPr lang="zh-CN" altLang="en-US" dirty="0"/>
              <a:t>的方法</a:t>
            </a:r>
            <a:endParaRPr lang="en-US" altLang="zh-CN" dirty="0"/>
          </a:p>
          <a:p>
            <a:pPr lvl="1"/>
            <a:r>
              <a:rPr lang="zh-CN" altLang="en-US" dirty="0"/>
              <a:t>假设</a:t>
            </a:r>
            <a:r>
              <a:rPr lang="en-US" altLang="zh-CN" dirty="0"/>
              <a:t>R(A,B,C)∈BCNF</a:t>
            </a:r>
            <a:r>
              <a:rPr lang="zh-CN" altLang="en-US" dirty="0"/>
              <a:t>满足</a:t>
            </a:r>
            <a:r>
              <a:rPr lang="en-US" altLang="zh-CN" dirty="0"/>
              <a:t>A</a:t>
            </a:r>
            <a:r>
              <a:rPr lang="en-US" altLang="zh-CN" dirty="0">
                <a:sym typeface="Calibri" pitchFamily="34" charset="0"/>
              </a:rPr>
              <a:t>→→B, A→→C</a:t>
            </a:r>
            <a:r>
              <a:rPr lang="zh-CN" altLang="en-US" dirty="0">
                <a:sym typeface="Calibri" pitchFamily="34" charset="0"/>
              </a:rPr>
              <a:t>，则分解</a:t>
            </a:r>
            <a:r>
              <a:rPr lang="en-US" altLang="zh-CN" dirty="0">
                <a:sym typeface="Calibri" pitchFamily="34" charset="0"/>
              </a:rPr>
              <a:t>R</a:t>
            </a:r>
            <a:r>
              <a:rPr lang="zh-CN" altLang="en-US" dirty="0">
                <a:sym typeface="Calibri" pitchFamily="34" charset="0"/>
              </a:rPr>
              <a:t>可分解为</a:t>
            </a:r>
            <a:r>
              <a:rPr lang="en-US" altLang="zh-CN" dirty="0">
                <a:sym typeface="Calibri" pitchFamily="34" charset="0"/>
              </a:rPr>
              <a:t>R1(A, B)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dirty="0">
                <a:sym typeface="Calibri" pitchFamily="34" charset="0"/>
              </a:rPr>
              <a:t>R2(A, C)</a:t>
            </a:r>
            <a:r>
              <a:rPr lang="zh-CN" altLang="en-US" dirty="0">
                <a:sym typeface="Calibri" pitchFamily="34" charset="0"/>
              </a:rPr>
              <a:t>，要求</a:t>
            </a:r>
            <a:r>
              <a:rPr lang="en-US" altLang="zh-CN" dirty="0">
                <a:sym typeface="Calibri" pitchFamily="34" charset="0"/>
              </a:rPr>
              <a:t>R1(A, B)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dirty="0">
                <a:sym typeface="Calibri" pitchFamily="34" charset="0"/>
              </a:rPr>
              <a:t>R2(A, C) </a:t>
            </a:r>
            <a:r>
              <a:rPr lang="zh-CN" altLang="en-US" dirty="0">
                <a:sym typeface="Calibri" pitchFamily="34" charset="0"/>
              </a:rPr>
              <a:t>都是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平凡的多值依赖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>
                <a:sym typeface="Calibri" pitchFamily="34" charset="0"/>
              </a:rPr>
              <a:t>其它形式的分解类似，原则是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分解后的所有关系模式必须都是平凡的多值依赖（即函数依赖）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/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/>
              <a:t>可以把</a:t>
            </a:r>
            <a:r>
              <a:rPr lang="en-US" altLang="zh-CN" dirty="0"/>
              <a:t>WSC</a:t>
            </a:r>
            <a:r>
              <a:rPr lang="zh-CN" altLang="en-US" dirty="0"/>
              <a:t>分解成</a:t>
            </a:r>
            <a:r>
              <a:rPr lang="en-US" altLang="zh-CN" dirty="0"/>
              <a:t>WS(W,S), WC(W,C)</a:t>
            </a:r>
            <a:r>
              <a:rPr lang="zh-CN" altLang="en-US" dirty="0"/>
              <a:t>，</a:t>
            </a:r>
            <a:r>
              <a:rPr lang="en-US" altLang="zh-CN" dirty="0"/>
              <a:t>WS∈4NF</a:t>
            </a:r>
            <a:r>
              <a:rPr lang="zh-CN" altLang="en-US" dirty="0"/>
              <a:t>， </a:t>
            </a:r>
            <a:r>
              <a:rPr lang="en-US" altLang="zh-CN" dirty="0"/>
              <a:t>WC∈4NF</a:t>
            </a:r>
            <a:r>
              <a:rPr lang="zh-CN" altLang="en-US" dirty="0"/>
              <a:t>。</a:t>
            </a:r>
          </a:p>
          <a:p>
            <a:pPr lvl="1"/>
            <a:endParaRPr lang="en-US" altLang="zh-CN" dirty="0">
              <a:sym typeface="Calibri" pitchFamily="34" charset="0"/>
            </a:endParaRPr>
          </a:p>
          <a:p>
            <a:pPr marL="457200" lvl="1" indent="0">
              <a:buNone/>
            </a:pPr>
            <a:endParaRPr lang="en-US" altLang="zh-CN" dirty="0">
              <a:sym typeface="Calibri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3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函数依赖和多值依赖</a:t>
            </a:r>
            <a:r>
              <a:rPr lang="zh-CN" altLang="en-US" dirty="0"/>
              <a:t>是两种最重要的数据依赖。</a:t>
            </a:r>
            <a:endParaRPr lang="en-US" altLang="zh-CN" dirty="0"/>
          </a:p>
          <a:p>
            <a:pPr lvl="1"/>
            <a:r>
              <a:rPr lang="en-US" altLang="zh-CN" dirty="0"/>
              <a:t>BCNF</a:t>
            </a:r>
            <a:r>
              <a:rPr lang="zh-CN" altLang="en-US" dirty="0"/>
              <a:t>为规范化程度最高的函数依赖</a:t>
            </a:r>
            <a:endParaRPr lang="en-US" altLang="zh-CN" dirty="0"/>
          </a:p>
          <a:p>
            <a:pPr lvl="1"/>
            <a:r>
              <a:rPr lang="en-US" altLang="zh-CN" dirty="0"/>
              <a:t>4NF</a:t>
            </a:r>
            <a:r>
              <a:rPr lang="zh-CN" altLang="en-US" dirty="0"/>
              <a:t>为规范化程度最高的多值依赖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连接依赖：</a:t>
            </a:r>
            <a:r>
              <a:rPr lang="zh-CN" altLang="en-US" dirty="0"/>
              <a:t>一种除函数依赖和多值依赖外的数据依赖。</a:t>
            </a:r>
            <a:endParaRPr lang="en-US" altLang="zh-CN" dirty="0"/>
          </a:p>
          <a:p>
            <a:pPr lvl="1"/>
            <a:r>
              <a:rPr lang="en-US" altLang="zh-CN" dirty="0"/>
              <a:t>5NF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函数依赖是多值依赖的一种特殊情况，多值依赖又是连接依赖的一种特殊情况。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xmlns="" id="{0E6F3E2C-9E05-4895-BAC4-6F043323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4NF</a:t>
            </a:r>
            <a:r>
              <a:rPr lang="zh-CN" altLang="en-US" dirty="0"/>
              <a:t>（续）</a:t>
            </a:r>
          </a:p>
        </p:txBody>
      </p:sp>
    </p:spTree>
    <p:extLst>
      <p:ext uri="{BB962C8B-B14F-4D97-AF65-F5344CB8AC3E}">
        <p14:creationId xmlns:p14="http://schemas.microsoft.com/office/powerpoint/2010/main" val="3824742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5F14CDC1-96AF-4D9E-9BE6-631F3F0C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67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63798696-1CD4-4523-B1AD-E4374E06F38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、关系数据库规范化是为解决关系数据库中（    ）问题而引入的。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0323F9D-A536-4861-A6DE-776FDFE5B40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插入异常、删除异常和数据冗余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1631FC7C-DE8D-4419-B904-0C785393C0E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提高查询速度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xmlns="" id="{B3417E39-1FEA-4C93-B1CA-3A6564B526F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减少数据操作的复杂性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A991B924-D0B4-4132-A745-0F83E0802F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保证数据的安全性和完整性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C9075EC2-575F-402E-9248-331A685AFE75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FBEB26AF-A402-462C-BA56-35BADE402DAE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xmlns="" id="{D0EC8796-AE77-49FB-9C79-BA5796CE8099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xmlns="" id="{C17A8E43-C8E0-43CE-87CB-E83DD0561E7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C2A65D08-AD7D-49B4-A21F-F5F565BC695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E1A13D49-265B-4374-8348-F42D2397406C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7" name="TitleBackground">
              <a:extLst>
                <a:ext uri="{FF2B5EF4-FFF2-40B4-BE49-F238E27FC236}">
                  <a16:creationId xmlns:a16="http://schemas.microsoft.com/office/drawing/2014/main" xmlns="" id="{BF129619-FEE3-410A-8ED3-1CF1A32FE10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ColorBlock">
              <a:extLst>
                <a:ext uri="{FF2B5EF4-FFF2-40B4-BE49-F238E27FC236}">
                  <a16:creationId xmlns:a16="http://schemas.microsoft.com/office/drawing/2014/main" xmlns="" id="{58108C88-1E15-4E4C-8060-C14E9DDA81F2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TypeText">
              <a:extLst>
                <a:ext uri="{FF2B5EF4-FFF2-40B4-BE49-F238E27FC236}">
                  <a16:creationId xmlns:a16="http://schemas.microsoft.com/office/drawing/2014/main" xmlns="" id="{F6172AF8-E4D8-49B6-A32E-54ADA90D25C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20" name="TipText">
              <a:extLst>
                <a:ext uri="{FF2B5EF4-FFF2-40B4-BE49-F238E27FC236}">
                  <a16:creationId xmlns:a16="http://schemas.microsoft.com/office/drawing/2014/main" xmlns="" id="{45F176F4-C788-4364-A572-01EE22F3D97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1C416A78-3A73-463B-80CB-99EC3094834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7870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999CD3EA-7E50-4F76-9189-14E6D45CA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B7A3D9AE-3181-4353-9CD3-9B98709E4E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、规范化理论是关系数据库进行逻辑设计的理论依据，根据这个理论，关系数据库中的关系必须满足：每 一个属性都是（ 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0F318511-C069-451F-A495-2426CA1A43A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长度不变的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2CC94405-41AF-43EC-BAFB-5023F3DBE1B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不可分解的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B0E6EAF8-EE2F-409B-B9D3-11FB20F8A79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互相关联的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575A24F2-EDBA-4D2E-B86A-F657B5D23BF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互不相关的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A1911B2-BA77-4F16-B925-67783FA4763A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2BA1CC2F-ABDF-4410-B504-577CB88E3F6A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43A78787-5DC2-4E02-8DB1-72A2F31EBDE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B71CBE0D-FB93-4F01-B8BA-BA930DAD30A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C34982F9-0A24-4C1F-8376-4939EC3B1747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3145F6A4-42D4-4227-B704-C7B868C46E76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xmlns="" id="{6B2A24BA-5E41-4F8D-90A3-0AE24031C468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xmlns="" id="{FACDB859-933A-4E5E-84C7-EEFF691319ED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xmlns="" id="{5DBA8829-97A8-4F61-B1D5-FE6D3CE49F5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xmlns="" id="{43299BEE-6CE4-4260-937B-2D99368FE05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8AC3ACA0-3A6E-4332-9509-4CA18A92847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64973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91E62E89-24CB-439A-8FB1-D6E7FAD5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F99492D-3E28-44D8-9F69-CBDB7384E6D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、已知关系模式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）及其上的函数依赖集合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＝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{A→D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B→C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E→A 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，该关系模式的候选码是（）。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9C93111-7896-4B82-8A34-B767B686C63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0B767318-24EE-48DA-A903-F7633063698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70C1D1D1-FCE7-4589-97E8-2187E01FEEF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9C05E58F-4835-4CFB-A976-78BF539C5BDE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B74BF157-178E-4190-91D7-352E233A242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47D74CC8-F5C8-495F-BD72-69285B4577E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4F225365-5C0E-4A62-A6C0-B85B9FEF0F24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0890E2E5-3CD3-441D-9F00-075B66040E0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5B6C9319-1131-4261-B5FC-7E9C159A672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988B75F6-4C6C-4DD0-88A4-AC9CF633DB6B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xmlns="" id="{B5AC6B7D-0E37-417F-AFDD-CE621B3FD76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xmlns="" id="{17DA0625-B99D-40AD-BBFD-F61567817DE6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xmlns="" id="{B359519E-6F3C-49F4-8FE2-3FA80BC2D14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xmlns="" id="{2FCA1888-8833-4C1D-9530-1A1A9E9E587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7227EAB6-6F07-450F-BB2D-9B2F8CDA606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22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7E9F8B51-5CF1-441C-B1C4-1F5519BB3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A9F0DAA2-050D-4D93-A579-8B2DDA94C30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、在关系数据库中，任何二元关系模式的最高范式必定是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     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75AB72AF-21F3-4530-9838-2A62411B488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55EB88DB-F644-4BC6-97E4-3AA5B77231E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261F8A8C-BE67-4F3B-BE1F-73421AAED41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14B58AB5-163B-4585-A95E-64FD351E015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4DFAE1EE-1173-45CA-9D85-D299F10A1AA9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5477E6EB-19EE-4695-897B-B710EDC36243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B29C458B-6279-48C0-8480-FFC9AFA5C18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F9B6EED6-AF86-411B-9CEC-8576D095CB7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413768B7-E952-406D-8D69-0641C7FA73B5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A588DB98-8C5E-4EE8-A53B-75702B768B1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xmlns="" id="{D3C38776-C8F3-4D1D-B32E-B10D2F4496C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xmlns="" id="{6E6755DA-7C1D-402A-AE31-190EEB6CE29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xmlns="" id="{76E45AF2-5AD2-44DF-AC51-52DA1C730045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xmlns="" id="{244909EE-E46B-4C77-A70C-9B2804F2B7F3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5FE9AEDF-4CF5-44F7-AEB9-F3D5BF9DB0C0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0693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02365DF2-82CF-4F43-B926-9C132736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25ECBE77-4543-4254-97E1-3068EC6683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、关系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A464C63B-6A45-4E75-BB56-458728715B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3NF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C3539F2-5605-4931-BB06-BBDA5EA6C58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3NF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但不是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xmlns="" id="{CC3BAE5E-4699-4CF4-915D-6FE9A309DFB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3NF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但不是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BCNF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903D9D46-7AC8-4B46-92B6-C0F7D3AC9C4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BCNF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872AFC64-B650-410D-AB61-47F3C0E4986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xmlns="" id="{BE9BB109-0E5D-4249-B9D2-A814042AEEF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xmlns="" id="{37C23FB0-1357-4336-A1BA-CD4A28A967A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xmlns="" id="{5C719FAC-9B8D-4EFE-8C04-19DADC51467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A5BC7970-8B52-4AB2-9217-5D68BD0F5AB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xmlns="" id="{8A239D3F-D38B-4789-AD1C-D4373EA93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832447"/>
              </p:ext>
            </p:extLst>
          </p:nvPr>
        </p:nvGraphicFramePr>
        <p:xfrm>
          <a:off x="7141127" y="2676151"/>
          <a:ext cx="221558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2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313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solidFill>
                            <a:schemeClr val="bg1"/>
                          </a:solidFill>
                        </a:rPr>
                        <a:t>零件号</a:t>
                      </a:r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zh-CN" altLang="en-US" b="1" baseline="0" dirty="0">
                          <a:solidFill>
                            <a:schemeClr val="bg1"/>
                          </a:solidFill>
                        </a:rPr>
                        <a:t>单价</a:t>
                      </a:r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P1</a:t>
                      </a:r>
                      <a:endParaRPr lang="zh-CN" altLang="en-US" b="1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25</a:t>
                      </a:r>
                      <a:endParaRPr lang="zh-CN" altLang="en-US" b="1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P2</a:t>
                      </a:r>
                      <a:endParaRPr lang="zh-CN" altLang="en-US" b="1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8</a:t>
                      </a:r>
                      <a:endParaRPr lang="zh-CN" altLang="en-US" b="1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P3</a:t>
                      </a:r>
                      <a:endParaRPr lang="zh-CN" altLang="en-US" b="1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25</a:t>
                      </a:r>
                      <a:endParaRPr lang="zh-CN" altLang="en-US" b="1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P4</a:t>
                      </a:r>
                      <a:endParaRPr lang="zh-CN" altLang="en-US" b="1" dirty="0"/>
                    </a:p>
                  </a:txBody>
                  <a:tcPr marL="91445" marR="91445"/>
                </a:tc>
                <a:tc>
                  <a:txBody>
                    <a:bodyPr/>
                    <a:lstStyle/>
                    <a:p>
                      <a:r>
                        <a:rPr lang="en-US" altLang="zh-CN" b="1" dirty="0"/>
                        <a:t>9</a:t>
                      </a:r>
                      <a:endParaRPr lang="zh-CN" altLang="en-US" b="1" dirty="0"/>
                    </a:p>
                  </a:txBody>
                  <a:tcPr marL="91445" marR="91445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36B558CA-B2E8-47D4-9FC0-A6878EEA651B}"/>
              </a:ext>
            </a:extLst>
          </p:cNvPr>
          <p:cNvSpPr/>
          <p:nvPr/>
        </p:nvSpPr>
        <p:spPr>
          <a:xfrm>
            <a:off x="8054108" y="2301058"/>
            <a:ext cx="328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R</a:t>
            </a:r>
            <a:endParaRPr lang="zh-CN" altLang="en-US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A89C3D89-14F4-48BE-8F2B-B254C70C0078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>
              <a:extLst>
                <a:ext uri="{FF2B5EF4-FFF2-40B4-BE49-F238E27FC236}">
                  <a16:creationId xmlns:a16="http://schemas.microsoft.com/office/drawing/2014/main" xmlns="" id="{4DEB58C8-CCB1-454D-BFD0-E691C2E7F000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>
              <a:extLst>
                <a:ext uri="{FF2B5EF4-FFF2-40B4-BE49-F238E27FC236}">
                  <a16:creationId xmlns:a16="http://schemas.microsoft.com/office/drawing/2014/main" xmlns="" id="{77836F04-FA8C-49D8-88F6-05DD415C452A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>
              <a:extLst>
                <a:ext uri="{FF2B5EF4-FFF2-40B4-BE49-F238E27FC236}">
                  <a16:creationId xmlns:a16="http://schemas.microsoft.com/office/drawing/2014/main" xmlns="" id="{940C1A1C-71BF-4A5E-B14B-C2859F1E349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8" name="TipText">
              <a:extLst>
                <a:ext uri="{FF2B5EF4-FFF2-40B4-BE49-F238E27FC236}">
                  <a16:creationId xmlns:a16="http://schemas.microsoft.com/office/drawing/2014/main" xmlns="" id="{5444831C-D812-4539-8373-C03ECB6B608E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xmlns="" id="{030A3088-18C0-4649-9ABA-284D9CEB112A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43385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466945">
            <a:extLst>
              <a:ext uri="{FF2B5EF4-FFF2-40B4-BE49-F238E27FC236}">
                <a16:creationId xmlns:a16="http://schemas.microsoft.com/office/drawing/2014/main" xmlns="" id="{DD7C1C71-B76A-494E-BCF8-0B5FE31F2F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6.2.9 </a:t>
            </a:r>
            <a:r>
              <a:rPr lang="zh-CN" altLang="en-US"/>
              <a:t>规范化小结</a:t>
            </a:r>
          </a:p>
        </p:txBody>
      </p:sp>
      <p:sp>
        <p:nvSpPr>
          <p:cNvPr id="95235" name="文本占位符 466946">
            <a:extLst>
              <a:ext uri="{FF2B5EF4-FFF2-40B4-BE49-F238E27FC236}">
                <a16:creationId xmlns:a16="http://schemas.microsoft.com/office/drawing/2014/main" xmlns="" id="{3BCD0BC9-9034-475A-9748-E81B6E2AC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一个低一级范式的关系模式，通过模式分解可以转换为若干个高一级范式的关系模式集合，这种过程就叫</a:t>
            </a:r>
            <a:r>
              <a:rPr lang="zh-CN" altLang="en-US" dirty="0">
                <a:solidFill>
                  <a:srgbClr val="C00000"/>
                </a:solidFill>
              </a:rPr>
              <a:t>关系模式的规范化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规范化的基本思想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逐步消除数据依赖中不合适的部分，使模式中的各关系模式达到某种程度的“分离”。</a:t>
            </a:r>
          </a:p>
          <a:p>
            <a:pPr lvl="1"/>
            <a:r>
              <a:rPr lang="zh-CN" altLang="en-US" dirty="0"/>
              <a:t>即采用“</a:t>
            </a:r>
            <a:r>
              <a:rPr lang="zh-CN" altLang="en-US" dirty="0">
                <a:solidFill>
                  <a:srgbClr val="C00000"/>
                </a:solidFill>
              </a:rPr>
              <a:t>一事一地”</a:t>
            </a:r>
            <a:r>
              <a:rPr lang="zh-CN" altLang="en-US" dirty="0"/>
              <a:t>的模式设计原则</a:t>
            </a:r>
          </a:p>
          <a:p>
            <a:pPr lvl="2"/>
            <a:r>
              <a:rPr lang="zh-CN" altLang="en-US" dirty="0"/>
              <a:t>让一个关系描述一个概念、一个实体或者实体间的一种联系。</a:t>
            </a:r>
          </a:p>
          <a:p>
            <a:pPr lvl="2"/>
            <a:r>
              <a:rPr lang="zh-CN" altLang="en-US" dirty="0"/>
              <a:t>若多于一个概念就把它“分离”出去。</a:t>
            </a:r>
            <a:endParaRPr lang="en-US" altLang="zh-CN" dirty="0"/>
          </a:p>
          <a:p>
            <a:pPr lvl="1"/>
            <a:r>
              <a:rPr lang="zh-CN" altLang="en-US" dirty="0"/>
              <a:t>因此规范化实质上是概念的单一化。</a:t>
            </a:r>
            <a:endParaRPr lang="en-US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EDAA5820-CF6F-49DC-805A-2E82A5D0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72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6609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文本占位符 466946">
            <a:extLst>
              <a:ext uri="{FF2B5EF4-FFF2-40B4-BE49-F238E27FC236}">
                <a16:creationId xmlns:a16="http://schemas.microsoft.com/office/drawing/2014/main" xmlns="" id="{3BCD0BC9-9034-475A-9748-E81B6E2AC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关系模式规范化的</a:t>
            </a:r>
            <a:r>
              <a:rPr lang="zh-CN" altLang="en-US" dirty="0">
                <a:solidFill>
                  <a:srgbClr val="C00000"/>
                </a:solidFill>
              </a:rPr>
              <a:t>基本步骤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不能说规范化程度越高的关系模式就越好。</a:t>
            </a:r>
            <a:endParaRPr lang="en-US" altLang="zh-CN" dirty="0"/>
          </a:p>
          <a:p>
            <a:pPr lvl="1"/>
            <a:r>
              <a:rPr lang="zh-CN" altLang="en-US" dirty="0"/>
              <a:t>过度分解需要更多的多表连接操作，这有可能得不偿失。</a:t>
            </a:r>
          </a:p>
          <a:p>
            <a:r>
              <a:rPr lang="zh-CN" altLang="en-US" dirty="0">
                <a:solidFill>
                  <a:srgbClr val="0000FF"/>
                </a:solidFill>
              </a:rPr>
              <a:t>上面的规范化步骤可以在其中任何一步终止。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xmlns="" id="{EDAA5820-CF6F-49DC-805A-2E82A5D0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73</a:t>
            </a:fld>
            <a:endParaRPr lang="zh-CN" altLang="en-US" dirty="0"/>
          </a:p>
        </p:txBody>
      </p:sp>
      <p:sp>
        <p:nvSpPr>
          <p:cNvPr id="7" name="标题 471041">
            <a:extLst>
              <a:ext uri="{FF2B5EF4-FFF2-40B4-BE49-F238E27FC236}">
                <a16:creationId xmlns:a16="http://schemas.microsoft.com/office/drawing/2014/main" xmlns="" id="{4E46A544-866B-496A-9705-81EF5AA91C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规范化小结（续）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A158C905-0F22-4A7C-9FB7-1DB448A8D2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6"/>
          <a:stretch/>
        </p:blipFill>
        <p:spPr>
          <a:xfrm>
            <a:off x="2743224" y="1680199"/>
            <a:ext cx="5268436" cy="2863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6.3 </a:t>
            </a:r>
            <a:r>
              <a:rPr lang="zh-CN" altLang="en-US"/>
              <a:t>数据依赖的公理系统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定义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6.11  </a:t>
            </a:r>
            <a:r>
              <a:rPr lang="zh-CN" altLang="en-US" dirty="0">
                <a:sym typeface="Calibri" pitchFamily="34" charset="0"/>
              </a:rPr>
              <a:t>对于满足一组函数依赖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的关系模式</a:t>
            </a:r>
            <a:r>
              <a:rPr lang="en-US" altLang="zh-CN" dirty="0">
                <a:sym typeface="Calibri" pitchFamily="34" charset="0"/>
              </a:rPr>
              <a:t>R&lt;U,F&gt;</a:t>
            </a:r>
            <a:r>
              <a:rPr lang="zh-CN" altLang="en-US" dirty="0">
                <a:sym typeface="Calibri" pitchFamily="34" charset="0"/>
              </a:rPr>
              <a:t>，其任何一个关系</a:t>
            </a:r>
            <a:r>
              <a:rPr lang="en-US" altLang="zh-CN" dirty="0">
                <a:sym typeface="Calibri" pitchFamily="34" charset="0"/>
              </a:rPr>
              <a:t>r</a:t>
            </a:r>
            <a:r>
              <a:rPr lang="zh-CN" altLang="en-US" dirty="0">
                <a:sym typeface="Calibri" pitchFamily="34" charset="0"/>
              </a:rPr>
              <a:t>，若函数依赖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都成立</a:t>
            </a:r>
            <a:r>
              <a:rPr lang="en-US" altLang="zh-CN" dirty="0">
                <a:sym typeface="Calibri" pitchFamily="34" charset="0"/>
              </a:rPr>
              <a:t>(</a:t>
            </a:r>
            <a:r>
              <a:rPr lang="zh-CN" altLang="en-US" dirty="0">
                <a:sym typeface="Calibri" pitchFamily="34" charset="0"/>
              </a:rPr>
              <a:t>即</a:t>
            </a:r>
            <a:r>
              <a:rPr lang="en-US" altLang="zh-CN" dirty="0">
                <a:sym typeface="Calibri" pitchFamily="34" charset="0"/>
              </a:rPr>
              <a:t>r </a:t>
            </a:r>
            <a:r>
              <a:rPr lang="zh-CN" altLang="en-US" dirty="0">
                <a:sym typeface="Calibri" pitchFamily="34" charset="0"/>
              </a:rPr>
              <a:t>中任意两元组</a:t>
            </a:r>
            <a:r>
              <a:rPr lang="en-US" altLang="zh-CN" dirty="0">
                <a:sym typeface="Calibri" pitchFamily="34" charset="0"/>
              </a:rPr>
              <a:t>t</a:t>
            </a:r>
            <a:r>
              <a:rPr lang="zh-CN" altLang="en-US" dirty="0">
                <a:sym typeface="Calibri" pitchFamily="34" charset="0"/>
              </a:rPr>
              <a:t>、</a:t>
            </a:r>
            <a:r>
              <a:rPr lang="en-US" altLang="zh-CN" dirty="0">
                <a:sym typeface="Calibri" pitchFamily="34" charset="0"/>
              </a:rPr>
              <a:t>s</a:t>
            </a:r>
            <a:r>
              <a:rPr lang="zh-CN" altLang="en-US" dirty="0">
                <a:sym typeface="Calibri" pitchFamily="34" charset="0"/>
              </a:rPr>
              <a:t>，若</a:t>
            </a:r>
            <a:r>
              <a:rPr lang="en-US" altLang="zh-CN" dirty="0">
                <a:sym typeface="Calibri" pitchFamily="34" charset="0"/>
              </a:rPr>
              <a:t>t[X]=s[X]</a:t>
            </a:r>
            <a:r>
              <a:rPr lang="zh-CN" altLang="en-US" dirty="0">
                <a:sym typeface="Calibri" pitchFamily="34" charset="0"/>
              </a:rPr>
              <a:t>，则 </a:t>
            </a:r>
            <a:r>
              <a:rPr lang="en-US" altLang="zh-CN" dirty="0">
                <a:sym typeface="Calibri" pitchFamily="34" charset="0"/>
              </a:rPr>
              <a:t>t[Y]=s[Y]</a:t>
            </a:r>
            <a:r>
              <a:rPr lang="zh-CN" altLang="en-US" dirty="0">
                <a:sym typeface="Calibri" pitchFamily="34" charset="0"/>
              </a:rPr>
              <a:t>），则称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逻辑蕴涵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ym typeface="Calibri" pitchFamily="34" charset="0"/>
              </a:rPr>
              <a:t>例：已知关系模式 </a:t>
            </a:r>
            <a:r>
              <a:rPr lang="en-US" altLang="zh-CN" dirty="0">
                <a:sym typeface="Calibri" pitchFamily="34" charset="0"/>
              </a:rPr>
              <a:t>R &lt;U, F&gt;</a:t>
            </a:r>
            <a:r>
              <a:rPr lang="zh-CN" altLang="en-US" dirty="0">
                <a:sym typeface="Calibri" pitchFamily="34" charset="0"/>
              </a:rPr>
              <a:t>，其中</a:t>
            </a:r>
            <a:r>
              <a:rPr lang="en-US" altLang="zh-CN" dirty="0">
                <a:sym typeface="Calibri" pitchFamily="34" charset="0"/>
              </a:rPr>
              <a:t>U={A, B, C, D, E}, F={AB→C, B→D, C→E, EC→B, AC→B}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ym typeface="Calibri" pitchFamily="34" charset="0"/>
              </a:rPr>
              <a:t>则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逻辑蕴涵</a:t>
            </a:r>
            <a:r>
              <a:rPr lang="en-US" altLang="zh-CN" dirty="0">
                <a:sym typeface="Calibri" pitchFamily="34" charset="0"/>
              </a:rPr>
              <a:t>AB→C, B→D...</a:t>
            </a:r>
          </a:p>
          <a:p>
            <a:endParaRPr lang="en-US" altLang="zh-CN" dirty="0">
              <a:solidFill>
                <a:srgbClr val="0000FF"/>
              </a:solidFill>
              <a:sym typeface="Calibri" pitchFamily="34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思考：还有其他函数依赖关系吗？</a:t>
            </a:r>
            <a:endParaRPr lang="en-US" altLang="zh-CN" dirty="0">
              <a:solidFill>
                <a:srgbClr val="0000FF"/>
              </a:solidFill>
              <a:sym typeface="Calibri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4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/>
              <a:t>数据依赖的公理系统是</a:t>
            </a:r>
            <a:r>
              <a:rPr lang="zh-CN" altLang="en-US" dirty="0">
                <a:solidFill>
                  <a:srgbClr val="CC0000"/>
                </a:solidFill>
                <a:latin typeface="宋体" panose="02010600030101010101" pitchFamily="2" charset="-122"/>
              </a:rPr>
              <a:t>模式分解算法</a:t>
            </a:r>
            <a:r>
              <a:rPr lang="zh-CN" altLang="en-US" dirty="0"/>
              <a:t>的理论基础，</a:t>
            </a:r>
            <a:r>
              <a:rPr lang="en-US" altLang="zh-CN" dirty="0"/>
              <a:t>1974</a:t>
            </a:r>
            <a:r>
              <a:rPr lang="zh-CN" altLang="en-US" dirty="0"/>
              <a:t>年由数据库专家</a:t>
            </a:r>
            <a:r>
              <a:rPr lang="en-US" altLang="zh-CN" dirty="0" err="1"/>
              <a:t>W.W.Armstrong</a:t>
            </a:r>
            <a:r>
              <a:rPr lang="zh-CN" altLang="en-US" dirty="0"/>
              <a:t>提出。</a:t>
            </a:r>
          </a:p>
          <a:p>
            <a:pPr lvl="1"/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用途：</a:t>
            </a:r>
            <a:endParaRPr lang="en-US" altLang="zh-CN" dirty="0">
              <a:solidFill>
                <a:srgbClr val="C00000"/>
              </a:solidFill>
              <a:sym typeface="Calibri" pitchFamily="34" charset="0"/>
            </a:endParaRPr>
          </a:p>
          <a:p>
            <a:pPr lvl="1"/>
            <a:r>
              <a:rPr lang="zh-CN" altLang="en-US" dirty="0">
                <a:sym typeface="Calibri" pitchFamily="34" charset="0"/>
              </a:rPr>
              <a:t>求给定关系模式的码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>
                <a:sym typeface="Calibri" pitchFamily="34" charset="0"/>
              </a:rPr>
              <a:t>从一组函数依赖求得蕴含的函数依赖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xmlns="" id="{F11D025B-CDB3-4C6D-AD68-784D5F1A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en-US" altLang="zh-CN" dirty="0"/>
              <a:t>Armstrong</a:t>
            </a:r>
            <a:r>
              <a:rPr lang="zh-CN" altLang="en-US" dirty="0"/>
              <a:t>公理系统</a:t>
            </a:r>
          </a:p>
        </p:txBody>
      </p:sp>
    </p:spTree>
    <p:extLst>
      <p:ext uri="{BB962C8B-B14F-4D97-AF65-F5344CB8AC3E}">
        <p14:creationId xmlns:p14="http://schemas.microsoft.com/office/powerpoint/2010/main" val="139642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4435C9A-4964-4F3C-BFBC-C093BC4D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Armstrong</a:t>
            </a:r>
            <a:r>
              <a:rPr lang="zh-CN" altLang="en-US" dirty="0"/>
              <a:t>公理系统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5A5BD94-3DCE-46CB-8CBE-F1FEDE361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Calibri" pitchFamily="34" charset="0"/>
              </a:rPr>
              <a:t>设</a:t>
            </a:r>
            <a:r>
              <a:rPr lang="en-US" altLang="zh-CN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为属性集总体，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上的一组函数依赖， 于是有关系模式</a:t>
            </a:r>
            <a:r>
              <a:rPr lang="en-US" altLang="zh-CN" dirty="0">
                <a:sym typeface="Calibri" pitchFamily="34" charset="0"/>
              </a:rPr>
              <a:t>R&lt;U, F&gt;</a:t>
            </a:r>
            <a:r>
              <a:rPr lang="zh-CN" altLang="en-US" dirty="0">
                <a:sym typeface="Calibri" pitchFamily="34" charset="0"/>
              </a:rPr>
              <a:t>。对</a:t>
            </a:r>
            <a:r>
              <a:rPr lang="en-US" altLang="zh-CN" dirty="0">
                <a:sym typeface="Calibri" pitchFamily="34" charset="0"/>
              </a:rPr>
              <a:t>R&lt;U, F&gt;</a:t>
            </a:r>
            <a:r>
              <a:rPr lang="zh-CN" altLang="en-US" dirty="0">
                <a:sym typeface="Calibri" pitchFamily="34" charset="0"/>
              </a:rPr>
              <a:t>来说有以下的推理规则：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A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1 自反律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(reflexivity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rule)</a:t>
            </a:r>
          </a:p>
          <a:p>
            <a:pPr lvl="2"/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dirty="0">
                <a:sym typeface="Calibri" pitchFamily="34" charset="0"/>
              </a:rPr>
              <a:t>Y⊆ X ⊆ 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dirty="0">
                <a:sym typeface="Calibri" pitchFamily="34" charset="0"/>
              </a:rPr>
              <a:t>X →Y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r>
              <a:rPr lang="en-US" altLang="zh-CN" dirty="0">
                <a:sym typeface="Calibri" pitchFamily="34" charset="0"/>
              </a:rPr>
              <a:t>.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A2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增广律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(augmentation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rule)</a:t>
            </a:r>
          </a:p>
          <a:p>
            <a:pPr lvl="2"/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dirty="0">
                <a:sym typeface="Calibri" pitchFamily="34" charset="0"/>
              </a:rPr>
              <a:t>X→Y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所蕴涵，且</a:t>
            </a:r>
            <a:r>
              <a:rPr lang="en-US" altLang="zh-CN" dirty="0">
                <a:sym typeface="Calibri" pitchFamily="34" charset="0"/>
              </a:rPr>
              <a:t>Z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dirty="0">
                <a:sym typeface="Calibri" pitchFamily="34" charset="0"/>
              </a:rPr>
              <a:t>XZ →YZ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r>
              <a:rPr lang="en-US" altLang="zh-CN" dirty="0">
                <a:sym typeface="Calibri" pitchFamily="34" charset="0"/>
              </a:rPr>
              <a:t>.</a:t>
            </a:r>
          </a:p>
          <a:p>
            <a:pPr lvl="1"/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A3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传递律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(transitivity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rule)</a:t>
            </a:r>
          </a:p>
          <a:p>
            <a:pPr lvl="2"/>
            <a:r>
              <a:rPr lang="zh-CN" altLang="en-US" dirty="0">
                <a:sym typeface="Calibri" pitchFamily="34" charset="0"/>
              </a:rPr>
              <a:t>若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dirty="0">
                <a:sym typeface="Calibri" pitchFamily="34" charset="0"/>
              </a:rPr>
              <a:t>Y→Z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所蕴涵，则</a:t>
            </a:r>
            <a:r>
              <a:rPr lang="en-US" altLang="zh-CN" dirty="0">
                <a:sym typeface="Calibri" pitchFamily="34" charset="0"/>
              </a:rPr>
              <a:t>X→Z 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所蕴涵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/>
              <a:t>自反律、增广律和传递律统称为</a:t>
            </a:r>
            <a:r>
              <a:rPr lang="en-US" altLang="zh-CN" dirty="0">
                <a:solidFill>
                  <a:srgbClr val="C00000"/>
                </a:solidFill>
              </a:rPr>
              <a:t>Armstrong</a:t>
            </a:r>
            <a:r>
              <a:rPr lang="zh-CN" altLang="en-US" dirty="0">
                <a:solidFill>
                  <a:srgbClr val="C00000"/>
                </a:solidFill>
              </a:rPr>
              <a:t>公理系统。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zh-CN" altLang="en-US" dirty="0">
                <a:solidFill>
                  <a:srgbClr val="0000FF"/>
                </a:solidFill>
              </a:rPr>
              <a:t>定理</a:t>
            </a:r>
            <a:r>
              <a:rPr lang="en-US" altLang="zh-CN" dirty="0">
                <a:solidFill>
                  <a:srgbClr val="0000FF"/>
                </a:solidFill>
              </a:rPr>
              <a:t>6.1  </a:t>
            </a:r>
            <a:r>
              <a:rPr lang="en-US" altLang="zh-CN" dirty="0"/>
              <a:t>Armstrong</a:t>
            </a:r>
            <a:r>
              <a:rPr lang="zh-CN" altLang="en-US" dirty="0"/>
              <a:t>推理规则是正确的。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DC5A056-E5A2-43C2-AE3D-7D1E91775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06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xmlns="" id="{99DE70D2-7DD4-432B-9F9B-3142A1FE7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 </a:t>
            </a:r>
            <a:r>
              <a:rPr lang="en-US" altLang="zh-CN" dirty="0"/>
              <a:t>6.1 Armstrong</a:t>
            </a:r>
            <a:r>
              <a:rPr lang="zh-CN" altLang="en-US" dirty="0"/>
              <a:t>推理规则是正确的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xmlns="" id="{BFF27E67-4B50-40D8-9826-F1C2B26CF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(1) </a:t>
            </a:r>
            <a:r>
              <a:rPr lang="zh-CN" altLang="en-US" dirty="0">
                <a:solidFill>
                  <a:srgbClr val="0000FF"/>
                </a:solidFill>
              </a:rPr>
              <a:t>自反律：</a:t>
            </a:r>
            <a:r>
              <a:rPr lang="zh-CN" altLang="en-US" dirty="0"/>
              <a:t>若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U</a:t>
            </a:r>
            <a:r>
              <a:rPr lang="zh-CN" altLang="en-US" dirty="0"/>
              <a:t>，则</a:t>
            </a:r>
            <a:r>
              <a:rPr lang="en-US" altLang="zh-CN" dirty="0"/>
              <a:t>X→Y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</a:t>
            </a:r>
          </a:p>
          <a:p>
            <a:pPr lvl="1"/>
            <a:r>
              <a:rPr lang="zh-CN" altLang="en-US" dirty="0"/>
              <a:t>证： 设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U </a:t>
            </a:r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R &lt;U</a:t>
            </a:r>
            <a:r>
              <a:rPr lang="zh-CN" altLang="en-US" dirty="0"/>
              <a:t>，</a:t>
            </a:r>
            <a:r>
              <a:rPr lang="en-US" altLang="zh-CN" dirty="0"/>
              <a:t>F&gt; </a:t>
            </a:r>
            <a:r>
              <a:rPr lang="zh-CN" altLang="en-US" dirty="0"/>
              <a:t>的任一关系</a:t>
            </a:r>
            <a:r>
              <a:rPr lang="en-US" altLang="zh-CN" dirty="0"/>
              <a:t>r</a:t>
            </a:r>
            <a:r>
              <a:rPr lang="zh-CN" altLang="en-US" dirty="0"/>
              <a:t>中的任意两个元组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：若</a:t>
            </a:r>
            <a:r>
              <a:rPr lang="en-US" altLang="zh-CN" dirty="0"/>
              <a:t>t[X]=s[X]</a:t>
            </a:r>
            <a:r>
              <a:rPr lang="zh-CN" altLang="en-US" dirty="0"/>
              <a:t>，由于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zh-CN" altLang="en-US" dirty="0"/>
              <a:t>，有</a:t>
            </a:r>
            <a:r>
              <a:rPr lang="en-US" altLang="zh-CN" dirty="0"/>
              <a:t>t[Y]=s[Y]</a:t>
            </a:r>
            <a:r>
              <a:rPr lang="zh-CN" altLang="en-US" dirty="0"/>
              <a:t>，所以</a:t>
            </a:r>
            <a:r>
              <a:rPr lang="en-US" altLang="zh-CN" dirty="0"/>
              <a:t>X→Y</a:t>
            </a:r>
            <a:r>
              <a:rPr lang="zh-CN" altLang="en-US" dirty="0"/>
              <a:t>成立。自反律得证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例：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 → </a:t>
            </a:r>
            <a:r>
              <a:rPr lang="en-US" altLang="zh-CN" dirty="0" err="1"/>
              <a:t>Sno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Sname</a:t>
            </a:r>
            <a:r>
              <a:rPr lang="en-US" altLang="zh-CN" dirty="0"/>
              <a:t> → </a:t>
            </a:r>
            <a:r>
              <a:rPr lang="en-US" altLang="zh-CN" dirty="0" err="1"/>
              <a:t>Sname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注： 由自反律所得到的函数依赖均是</a:t>
            </a:r>
            <a:r>
              <a:rPr lang="zh-CN" altLang="en-US" dirty="0">
                <a:solidFill>
                  <a:srgbClr val="C00000"/>
                </a:solidFill>
              </a:rPr>
              <a:t>平凡的函数依赖</a:t>
            </a:r>
            <a:r>
              <a:rPr lang="zh-CN" altLang="en-US" dirty="0"/>
              <a:t>，自反律的使用并不依赖于</a:t>
            </a:r>
            <a:r>
              <a:rPr lang="en-US" altLang="zh-CN" dirty="0"/>
              <a:t>F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690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xmlns="" id="{99DE70D2-7DD4-432B-9F9B-3142A1FE7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定理 </a:t>
            </a:r>
            <a:r>
              <a:rPr lang="en-US" altLang="zh-CN"/>
              <a:t>6.1 Armstrong</a:t>
            </a:r>
            <a:r>
              <a:rPr lang="zh-CN" altLang="en-US"/>
              <a:t>推理规则是正确的</a:t>
            </a:r>
            <a:endParaRPr lang="zh-CN" altLang="en-US" dirty="0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xmlns="" id="{BFF27E67-4B50-40D8-9826-F1C2B26CF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rgbClr val="0000FF"/>
                </a:solidFill>
              </a:rPr>
              <a:t>(2) </a:t>
            </a:r>
            <a:r>
              <a:rPr lang="zh-CN" altLang="en-US" dirty="0">
                <a:solidFill>
                  <a:srgbClr val="0000FF"/>
                </a:solidFill>
              </a:rPr>
              <a:t>增广律</a:t>
            </a:r>
            <a:r>
              <a:rPr lang="en-US" altLang="zh-CN" dirty="0">
                <a:solidFill>
                  <a:srgbClr val="0000FF"/>
                </a:solidFill>
              </a:rPr>
              <a:t>:   </a:t>
            </a:r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所蕴含，且</a:t>
            </a:r>
            <a:r>
              <a:rPr lang="en-US" altLang="zh-CN" dirty="0"/>
              <a:t>Z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U</a:t>
            </a:r>
            <a:r>
              <a:rPr lang="zh-CN" altLang="en-US" dirty="0"/>
              <a:t>，则</a:t>
            </a:r>
            <a:r>
              <a:rPr lang="en-US" altLang="zh-CN" dirty="0"/>
              <a:t>XZ→YZ 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所蕴含。</a:t>
            </a:r>
          </a:p>
          <a:p>
            <a:pPr lvl="1"/>
            <a:r>
              <a:rPr lang="zh-CN" altLang="en-US" dirty="0"/>
              <a:t>证：设</a:t>
            </a:r>
            <a:r>
              <a:rPr lang="en-US" altLang="zh-CN" dirty="0"/>
              <a:t>X→Y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所蕴含，且</a:t>
            </a:r>
            <a:r>
              <a:rPr lang="en-US" altLang="zh-CN" dirty="0"/>
              <a:t>Z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U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 </a:t>
            </a:r>
            <a:r>
              <a:rPr lang="zh-CN" altLang="en-US" dirty="0"/>
              <a:t>的任一关系</a:t>
            </a:r>
            <a:r>
              <a:rPr lang="en-US" altLang="zh-CN" dirty="0"/>
              <a:t>r</a:t>
            </a:r>
            <a:r>
              <a:rPr lang="zh-CN" altLang="en-US" dirty="0"/>
              <a:t>中任意的两个元组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；若</a:t>
            </a:r>
            <a:r>
              <a:rPr lang="en-US" altLang="zh-CN" dirty="0"/>
              <a:t>t[XZ]=s[XZ]</a:t>
            </a:r>
            <a:r>
              <a:rPr lang="zh-CN" altLang="en-US" dirty="0"/>
              <a:t>，则有</a:t>
            </a:r>
            <a:r>
              <a:rPr lang="en-US" altLang="zh-CN" dirty="0"/>
              <a:t>t[X]=s[X]</a:t>
            </a:r>
            <a:r>
              <a:rPr lang="zh-CN" altLang="en-US" dirty="0"/>
              <a:t>和</a:t>
            </a:r>
            <a:r>
              <a:rPr lang="en-US" altLang="zh-CN" dirty="0"/>
              <a:t>t[Z]=s[Z]</a:t>
            </a:r>
            <a:r>
              <a:rPr lang="zh-CN" altLang="en-US" dirty="0"/>
              <a:t>；由</a:t>
            </a:r>
            <a:r>
              <a:rPr lang="en-US" altLang="zh-CN" dirty="0"/>
              <a:t>X→Y</a:t>
            </a:r>
            <a:r>
              <a:rPr lang="zh-CN" altLang="en-US" dirty="0"/>
              <a:t>，于是有</a:t>
            </a:r>
            <a:r>
              <a:rPr lang="en-US" altLang="zh-CN" dirty="0"/>
              <a:t>t[Y]=s[Y]</a:t>
            </a:r>
            <a:r>
              <a:rPr lang="zh-CN" altLang="en-US" dirty="0"/>
              <a:t>，所以</a:t>
            </a:r>
            <a:r>
              <a:rPr lang="en-US" altLang="zh-CN" dirty="0"/>
              <a:t>t[YZ]=s[YZ]</a:t>
            </a:r>
            <a:r>
              <a:rPr lang="zh-CN" altLang="en-US" dirty="0"/>
              <a:t>，所以</a:t>
            </a:r>
            <a:r>
              <a:rPr lang="en-US" altLang="zh-CN" dirty="0"/>
              <a:t>XZ→YZ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所蕴含。增广律得证。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例：若：</a:t>
            </a:r>
            <a:r>
              <a:rPr lang="en-US" altLang="zh-CN" dirty="0" err="1"/>
              <a:t>Sno</a:t>
            </a:r>
            <a:r>
              <a:rPr lang="en-US" altLang="zh-CN" dirty="0"/>
              <a:t> → Sage</a:t>
            </a:r>
          </a:p>
          <a:p>
            <a:pPr marL="457200" lvl="1" indent="0"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则：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0000FF"/>
                </a:solidFill>
              </a:rPr>
              <a:t>Sname</a:t>
            </a:r>
            <a:r>
              <a:rPr lang="en-US" altLang="zh-CN" dirty="0"/>
              <a:t> → Sag, </a:t>
            </a:r>
            <a:r>
              <a:rPr lang="en-US" altLang="zh-CN" dirty="0" err="1">
                <a:solidFill>
                  <a:srgbClr val="0000FF"/>
                </a:solidFill>
              </a:rPr>
              <a:t>Sname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xmlns="" id="{46AC1661-6733-4664-9F40-BE6381656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定理 </a:t>
            </a:r>
            <a:r>
              <a:rPr lang="en-US" altLang="zh-CN" dirty="0"/>
              <a:t>6.1 Armstrong</a:t>
            </a:r>
            <a:r>
              <a:rPr lang="zh-CN" altLang="en-US" dirty="0"/>
              <a:t>推理规则是正确的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xmlns="" id="{CEE25BD9-1DEA-4F4E-AEB8-3EDB4A0D2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>
                <a:solidFill>
                  <a:srgbClr val="0000FF"/>
                </a:solidFill>
              </a:rPr>
              <a:t>(3) </a:t>
            </a:r>
            <a:r>
              <a:rPr lang="zh-CN" altLang="en-US" dirty="0">
                <a:solidFill>
                  <a:srgbClr val="0000FF"/>
                </a:solidFill>
              </a:rPr>
              <a:t>传递律：</a:t>
            </a:r>
            <a:r>
              <a:rPr lang="zh-CN" altLang="en-US" dirty="0"/>
              <a:t>若</a:t>
            </a:r>
            <a:r>
              <a:rPr lang="en-US" altLang="zh-CN" dirty="0"/>
              <a:t>X→Y</a:t>
            </a:r>
            <a:r>
              <a:rPr lang="zh-CN" altLang="en-US" dirty="0"/>
              <a:t>及</a:t>
            </a:r>
            <a:r>
              <a:rPr lang="en-US" altLang="zh-CN" dirty="0"/>
              <a:t>Y→Z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所蕴含，则</a:t>
            </a:r>
            <a:r>
              <a:rPr lang="en-US" altLang="zh-CN" dirty="0"/>
              <a:t>X→Z</a:t>
            </a:r>
            <a:r>
              <a:rPr lang="zh-CN" altLang="en-US" dirty="0"/>
              <a:t>为 </a:t>
            </a:r>
            <a:r>
              <a:rPr lang="en-US" altLang="zh-CN" dirty="0"/>
              <a:t>F</a:t>
            </a:r>
            <a:r>
              <a:rPr lang="zh-CN" altLang="en-US" dirty="0"/>
              <a:t>所蕴含。</a:t>
            </a:r>
          </a:p>
          <a:p>
            <a:pPr lvl="1"/>
            <a:r>
              <a:rPr lang="zh-CN" altLang="en-US" dirty="0"/>
              <a:t>证：设</a:t>
            </a:r>
            <a:r>
              <a:rPr lang="en-US" altLang="zh-CN" dirty="0"/>
              <a:t>X→Y</a:t>
            </a:r>
            <a:r>
              <a:rPr lang="zh-CN" altLang="en-US" dirty="0"/>
              <a:t>及</a:t>
            </a:r>
            <a:r>
              <a:rPr lang="en-US" altLang="zh-CN" dirty="0"/>
              <a:t>Y→Z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所蕴含。</a:t>
            </a:r>
            <a:endParaRPr lang="en-US" altLang="zh-CN" dirty="0"/>
          </a:p>
          <a:p>
            <a:pPr lvl="1"/>
            <a:r>
              <a:rPr lang="zh-CN" altLang="en-US" dirty="0"/>
              <a:t>对</a:t>
            </a:r>
            <a:r>
              <a:rPr lang="en-US" altLang="zh-CN" dirty="0"/>
              <a:t>R&lt;U</a:t>
            </a:r>
            <a:r>
              <a:rPr lang="zh-CN" altLang="en-US" dirty="0"/>
              <a:t>，</a:t>
            </a:r>
            <a:r>
              <a:rPr lang="en-US" altLang="zh-CN" dirty="0"/>
              <a:t>F&gt; </a:t>
            </a:r>
            <a:r>
              <a:rPr lang="zh-CN" altLang="en-US" dirty="0"/>
              <a:t>的任一关系 </a:t>
            </a:r>
            <a:r>
              <a:rPr lang="en-US" altLang="zh-CN" dirty="0"/>
              <a:t>r</a:t>
            </a:r>
            <a:r>
              <a:rPr lang="zh-CN" altLang="en-US" dirty="0"/>
              <a:t>中的任意两个元组 </a:t>
            </a:r>
            <a:r>
              <a:rPr lang="en-US" altLang="zh-CN" dirty="0"/>
              <a:t>t</a:t>
            </a:r>
            <a:r>
              <a:rPr lang="zh-CN" altLang="en-US" dirty="0"/>
              <a:t>，</a:t>
            </a:r>
            <a:r>
              <a:rPr lang="en-US" altLang="zh-CN" dirty="0"/>
              <a:t>s</a:t>
            </a:r>
            <a:r>
              <a:rPr lang="zh-CN" altLang="en-US" dirty="0"/>
              <a:t>，若</a:t>
            </a:r>
            <a:r>
              <a:rPr lang="en-US" altLang="zh-CN" dirty="0"/>
              <a:t>t[X]=s[X]</a:t>
            </a:r>
            <a:r>
              <a:rPr lang="zh-CN" altLang="en-US" dirty="0"/>
              <a:t>，由于</a:t>
            </a:r>
            <a:r>
              <a:rPr lang="en-US" altLang="zh-CN" dirty="0"/>
              <a:t>X→Y</a:t>
            </a:r>
            <a:r>
              <a:rPr lang="zh-CN" altLang="en-US" dirty="0"/>
              <a:t>，有 </a:t>
            </a:r>
            <a:r>
              <a:rPr lang="en-US" altLang="zh-CN" dirty="0"/>
              <a:t>t[Y]=s[Y]</a:t>
            </a:r>
            <a:r>
              <a:rPr lang="zh-CN" altLang="en-US" dirty="0"/>
              <a:t>；再由</a:t>
            </a:r>
            <a:r>
              <a:rPr lang="en-US" altLang="zh-CN" dirty="0"/>
              <a:t>Y→Z</a:t>
            </a:r>
            <a:r>
              <a:rPr lang="zh-CN" altLang="en-US" dirty="0"/>
              <a:t>，有</a:t>
            </a:r>
            <a:r>
              <a:rPr lang="en-US" altLang="zh-CN" dirty="0"/>
              <a:t>t[Z]=s[Z]</a:t>
            </a:r>
            <a:r>
              <a:rPr lang="zh-CN" altLang="en-US" dirty="0"/>
              <a:t>，所以</a:t>
            </a:r>
            <a:r>
              <a:rPr lang="en-US" altLang="zh-CN" dirty="0"/>
              <a:t>X→Z</a:t>
            </a:r>
            <a:r>
              <a:rPr lang="zh-CN" altLang="en-US" dirty="0"/>
              <a:t>为</a:t>
            </a:r>
            <a:r>
              <a:rPr lang="en-US" altLang="zh-CN" dirty="0"/>
              <a:t>F</a:t>
            </a:r>
            <a:r>
              <a:rPr lang="zh-CN" altLang="en-US" dirty="0"/>
              <a:t>所蕴含。传递律得证。</a:t>
            </a:r>
            <a:endParaRPr lang="en-US" altLang="zh-CN" dirty="0"/>
          </a:p>
          <a:p>
            <a:pPr lvl="1"/>
            <a:r>
              <a:rPr lang="zh-CN" altLang="en-US" dirty="0"/>
              <a:t>例：若：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Sdept</a:t>
            </a:r>
            <a:r>
              <a:rPr lang="zh-CN" altLang="en-US" dirty="0"/>
              <a:t>，</a:t>
            </a:r>
            <a:r>
              <a:rPr lang="en-US" altLang="zh-CN" dirty="0" err="1"/>
              <a:t>Sdept</a:t>
            </a:r>
            <a:r>
              <a:rPr lang="en-US" altLang="zh-CN" dirty="0"/>
              <a:t> → </a:t>
            </a:r>
            <a:r>
              <a:rPr lang="en-US" altLang="zh-CN" dirty="0" err="1"/>
              <a:t>Sloc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则：</a:t>
            </a:r>
            <a:r>
              <a:rPr lang="en-US" altLang="zh-CN" dirty="0" err="1"/>
              <a:t>Sno</a:t>
            </a:r>
            <a:r>
              <a:rPr lang="en-US" altLang="zh-CN" dirty="0"/>
              <a:t> → </a:t>
            </a:r>
            <a:r>
              <a:rPr lang="en-US" altLang="zh-CN" dirty="0" err="1"/>
              <a:t>Sloc</a:t>
            </a:r>
            <a:endParaRPr lang="en-US" altLang="zh-CN" dirty="0">
              <a:solidFill>
                <a:srgbClr val="0000FF"/>
              </a:solidFill>
            </a:endParaRPr>
          </a:p>
          <a:p>
            <a:pPr lvl="1"/>
            <a:endParaRPr lang="en-US" altLang="zh-CN" dirty="0"/>
          </a:p>
          <a:p>
            <a:r>
              <a:rPr lang="zh-CN" altLang="en-US" dirty="0">
                <a:sym typeface="Calibri" pitchFamily="34" charset="0"/>
              </a:rPr>
              <a:t>例：已知关系模式 </a:t>
            </a:r>
            <a:r>
              <a:rPr lang="en-US" altLang="zh-CN" dirty="0">
                <a:sym typeface="Calibri" pitchFamily="34" charset="0"/>
              </a:rPr>
              <a:t>R &lt;U, F&gt;</a:t>
            </a:r>
            <a:r>
              <a:rPr lang="zh-CN" altLang="en-US" dirty="0">
                <a:sym typeface="Calibri" pitchFamily="34" charset="0"/>
              </a:rPr>
              <a:t>，其中</a:t>
            </a:r>
            <a:r>
              <a:rPr lang="en-US" altLang="zh-CN" dirty="0">
                <a:sym typeface="Calibri" pitchFamily="34" charset="0"/>
              </a:rPr>
              <a:t>U={A, B, C, D, E}, F={AB→C, B→D, C→E, EC→B, AC→B}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则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逻辑蕴涵：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AB→A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（自反律）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, AB→AD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（增广律）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, AC→D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（传递律）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...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2180946D-AAE6-4F37-9BA7-E64E70583483}"/>
              </a:ext>
            </a:extLst>
          </p:cNvPr>
          <p:cNvSpPr/>
          <p:nvPr/>
        </p:nvSpPr>
        <p:spPr>
          <a:xfrm>
            <a:off x="1355018" y="6029073"/>
            <a:ext cx="87223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参考博客：</a:t>
            </a:r>
            <a:r>
              <a:rPr lang="zh-CN" altLang="en-US" dirty="0">
                <a:hlinkClick r:id="rId2"/>
              </a:rPr>
              <a:t>https://blog.csdn.net/weixin_44611096/article/details/105792748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A1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A2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A3</a:t>
            </a:r>
            <a:r>
              <a:rPr lang="zh-CN" altLang="en-US" dirty="0">
                <a:sym typeface="Calibri" pitchFamily="34" charset="0"/>
              </a:rPr>
              <a:t>这三条推理规则可以得到下面三条推理规则：</a:t>
            </a:r>
            <a:endParaRPr lang="en-US" altLang="zh-CN" dirty="0">
              <a:sym typeface="Calibri" pitchFamily="34" charset="0"/>
            </a:endParaRPr>
          </a:p>
          <a:p>
            <a:pPr lvl="1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合并规则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(union rule)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：</a:t>
            </a: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X→Z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dirty="0">
                <a:sym typeface="Calibri" pitchFamily="34" charset="0"/>
              </a:rPr>
              <a:t>X→YZ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伪传递规则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(pseudo transitivity rule)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：</a:t>
            </a: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WY→Z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dirty="0">
                <a:sym typeface="Calibri" pitchFamily="34" charset="0"/>
              </a:rPr>
              <a:t>XW→Z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分解规则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(decomposition rule)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：</a:t>
            </a:r>
            <a:r>
              <a:rPr lang="zh-CN" altLang="en-US" dirty="0">
                <a:sym typeface="Calibri" pitchFamily="34" charset="0"/>
              </a:rPr>
              <a:t>由</a:t>
            </a:r>
            <a:r>
              <a:rPr lang="en-US" altLang="zh-CN" dirty="0">
                <a:sym typeface="Calibri" pitchFamily="34" charset="0"/>
              </a:rPr>
              <a:t>X→Y 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dirty="0">
                <a:sym typeface="Calibri" pitchFamily="34" charset="0"/>
              </a:rPr>
              <a:t>Z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，有</a:t>
            </a:r>
            <a:r>
              <a:rPr lang="en-US" altLang="zh-CN" dirty="0">
                <a:sym typeface="Calibri" pitchFamily="34" charset="0"/>
              </a:rPr>
              <a:t>X→Z</a:t>
            </a:r>
          </a:p>
          <a:p>
            <a:pPr lvl="1"/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引理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6.1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：</a:t>
            </a:r>
            <a:endParaRPr lang="en-US" altLang="zh-CN" dirty="0">
              <a:solidFill>
                <a:srgbClr val="0000FF"/>
              </a:solidFill>
              <a:sym typeface="Calibri" pitchFamily="34" charset="0"/>
            </a:endParaRPr>
          </a:p>
          <a:p>
            <a:pPr marL="0" indent="0">
              <a:buNone/>
            </a:pPr>
            <a:r>
              <a:rPr lang="en-US" altLang="zh-CN" dirty="0">
                <a:sym typeface="Calibri" pitchFamily="34" charset="0"/>
              </a:rPr>
              <a:t>  X→A</a:t>
            </a:r>
            <a:r>
              <a:rPr lang="en-US" altLang="zh-CN" sz="2000" dirty="0">
                <a:sym typeface="Calibri" pitchFamily="34" charset="0"/>
              </a:rPr>
              <a:t>1</a:t>
            </a:r>
            <a:r>
              <a:rPr lang="en-US" altLang="zh-CN" dirty="0">
                <a:sym typeface="Calibri" pitchFamily="34" charset="0"/>
              </a:rPr>
              <a:t>A</a:t>
            </a:r>
            <a:r>
              <a:rPr lang="en-US" altLang="zh-CN" sz="2000" dirty="0">
                <a:sym typeface="Calibri" pitchFamily="34" charset="0"/>
              </a:rPr>
              <a:t>2</a:t>
            </a:r>
            <a:r>
              <a:rPr lang="en-US" altLang="zh-CN" dirty="0">
                <a:sym typeface="Calibri" pitchFamily="34" charset="0"/>
              </a:rPr>
              <a:t>…A</a:t>
            </a:r>
            <a:r>
              <a:rPr lang="en-US" altLang="zh-CN" sz="2000" dirty="0">
                <a:sym typeface="Calibri" pitchFamily="34" charset="0"/>
              </a:rPr>
              <a:t>k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成立的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充分必要条件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dirty="0" err="1">
                <a:sym typeface="Calibri" pitchFamily="34" charset="0"/>
              </a:rPr>
              <a:t>X→A</a:t>
            </a:r>
            <a:r>
              <a:rPr lang="en-US" altLang="zh-CN" sz="2000" dirty="0" err="1"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成立</a:t>
            </a:r>
            <a:r>
              <a:rPr lang="en-US" altLang="zh-CN" dirty="0">
                <a:sym typeface="Calibri" pitchFamily="34" charset="0"/>
              </a:rPr>
              <a:t>(</a:t>
            </a:r>
            <a:r>
              <a:rPr lang="en-US" altLang="zh-CN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zh-CN" altLang="en-US" dirty="0">
                <a:sym typeface="Calibri" pitchFamily="34" charset="0"/>
              </a:rPr>
              <a:t>1</a:t>
            </a:r>
            <a:r>
              <a:rPr lang="en-US" altLang="zh-CN" dirty="0">
                <a:sym typeface="Calibri" pitchFamily="34" charset="0"/>
              </a:rPr>
              <a:t>,2,…,k )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xmlns="" id="{B325C57C-2106-48B3-8C74-241F5692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导出规则</a:t>
            </a:r>
          </a:p>
        </p:txBody>
      </p:sp>
    </p:spTree>
    <p:extLst>
      <p:ext uri="{BB962C8B-B14F-4D97-AF65-F5344CB8AC3E}">
        <p14:creationId xmlns:p14="http://schemas.microsoft.com/office/powerpoint/2010/main" val="159425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4912D2A7-BCCE-49A1-A2A9-794068F0D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函数依赖闭包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定义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1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2  </a:t>
            </a:r>
            <a:r>
              <a:rPr lang="zh-CN" altLang="en-US" dirty="0">
                <a:sym typeface="Calibri" pitchFamily="34" charset="0"/>
              </a:rPr>
              <a:t>在关系模式</a:t>
            </a:r>
            <a:r>
              <a:rPr lang="en-US" altLang="zh-CN" dirty="0">
                <a:sym typeface="Calibri" pitchFamily="34" charset="0"/>
              </a:rPr>
              <a:t>R&lt;U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F&gt;</a:t>
            </a:r>
            <a:r>
              <a:rPr lang="zh-CN" altLang="en-US" dirty="0">
                <a:sym typeface="Calibri" pitchFamily="34" charset="0"/>
              </a:rPr>
              <a:t>中为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所逻辑蕴涵的函数依赖的全体叫作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闭包</a:t>
            </a:r>
            <a:r>
              <a:rPr lang="zh-CN" altLang="en-US" dirty="0">
                <a:sym typeface="Calibri" pitchFamily="34" charset="0"/>
              </a:rPr>
              <a:t>，记为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F</a:t>
            </a:r>
            <a:r>
              <a:rPr lang="en-US" altLang="zh-CN" baseline="30000" dirty="0">
                <a:solidFill>
                  <a:srgbClr val="C00000"/>
                </a:solidFill>
                <a:sym typeface="Calibri" pitchFamily="34" charset="0"/>
              </a:rPr>
              <a:t>+</a:t>
            </a:r>
            <a:r>
              <a:rPr lang="zh-CN" altLang="en-US" dirty="0" smtClean="0">
                <a:sym typeface="Calibri" pitchFamily="34" charset="0"/>
              </a:rPr>
              <a:t>。</a:t>
            </a:r>
            <a:endParaRPr lang="en-US" altLang="zh-CN" dirty="0" smtClean="0">
              <a:sym typeface="Calibri" pitchFamily="34" charset="0"/>
            </a:endParaRPr>
          </a:p>
          <a:p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定义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6.13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  </a:t>
            </a:r>
            <a:r>
              <a:rPr lang="zh-CN" altLang="en-US" dirty="0">
                <a:sym typeface="Calibri" pitchFamily="34" charset="0"/>
              </a:rPr>
              <a:t>设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为属性集</a:t>
            </a:r>
            <a:r>
              <a:rPr lang="en-US" altLang="zh-CN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上的一组函数依赖，</a:t>
            </a:r>
            <a:r>
              <a:rPr lang="en-US" altLang="zh-CN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、</a:t>
            </a:r>
            <a:r>
              <a:rPr lang="en-US" altLang="zh-CN" dirty="0">
                <a:sym typeface="Calibri" pitchFamily="34" charset="0"/>
              </a:rPr>
              <a:t>Y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i="1" dirty="0"/>
              <a:t> 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</a:rPr>
              <a:t>F</a:t>
            </a:r>
            <a:r>
              <a:rPr lang="en-US" altLang="zh-CN" baseline="30000" dirty="0">
                <a:solidFill>
                  <a:srgbClr val="C00000"/>
                </a:solidFill>
              </a:rPr>
              <a:t>+</a:t>
            </a:r>
            <a:r>
              <a:rPr lang="en-US" altLang="zh-CN" dirty="0">
                <a:sym typeface="Calibri" pitchFamily="34" charset="0"/>
              </a:rPr>
              <a:t>={ A|X→A </a:t>
            </a:r>
            <a:r>
              <a:rPr lang="zh-CN" altLang="en-US" dirty="0">
                <a:sym typeface="Calibri" pitchFamily="34" charset="0"/>
              </a:rPr>
              <a:t>能由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公理导出</a:t>
            </a:r>
            <a:r>
              <a:rPr lang="en-US" altLang="zh-CN" dirty="0">
                <a:sym typeface="Calibri" pitchFamily="34" charset="0"/>
              </a:rPr>
              <a:t>}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olidFill>
                  <a:srgbClr val="C00000"/>
                </a:solidFill>
              </a:rPr>
              <a:t>X</a:t>
            </a:r>
            <a:r>
              <a:rPr lang="en-US" altLang="zh-CN" baseline="-25000" dirty="0">
                <a:solidFill>
                  <a:srgbClr val="C00000"/>
                </a:solidFill>
              </a:rPr>
              <a:t>F</a:t>
            </a:r>
            <a:r>
              <a:rPr lang="en-US" altLang="zh-CN" baseline="30000" dirty="0">
                <a:solidFill>
                  <a:srgbClr val="C00000"/>
                </a:solidFill>
              </a:rPr>
              <a:t>+</a:t>
            </a:r>
            <a:r>
              <a:rPr lang="zh-CN" altLang="en-US" dirty="0">
                <a:sym typeface="Calibri" pitchFamily="34" charset="0"/>
              </a:rPr>
              <a:t>称为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属性集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关于函数依赖集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的闭包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pPr marL="0" indent="0">
              <a:buNone/>
            </a:pPr>
            <a:endParaRPr lang="en-US" altLang="zh-CN" dirty="0">
              <a:sym typeface="Calibri" pitchFamily="34" charset="0"/>
            </a:endParaRPr>
          </a:p>
          <a:p>
            <a:pPr marL="0" indent="0">
              <a:buNone/>
            </a:pPr>
            <a:endParaRPr lang="en-US" altLang="zh-CN" dirty="0">
              <a:sym typeface="Calibri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555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0000FF"/>
                </a:solidFill>
                <a:sym typeface="Calibri" pitchFamily="34" charset="0"/>
              </a:rPr>
              <a:t>引理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6.2  </a:t>
            </a:r>
            <a:r>
              <a:rPr lang="zh-CN" altLang="en-US" dirty="0">
                <a:sym typeface="Calibri" pitchFamily="34" charset="0"/>
              </a:rPr>
              <a:t>设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为属性集</a:t>
            </a:r>
            <a:r>
              <a:rPr lang="en-US" altLang="zh-CN" dirty="0">
                <a:sym typeface="Calibri" pitchFamily="34" charset="0"/>
              </a:rPr>
              <a:t>U</a:t>
            </a:r>
            <a:r>
              <a:rPr lang="zh-CN" altLang="en-US" dirty="0">
                <a:sym typeface="Calibri" pitchFamily="34" charset="0"/>
              </a:rPr>
              <a:t>上的一组函数依赖，</a:t>
            </a:r>
            <a:r>
              <a:rPr lang="en-US" altLang="zh-CN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、</a:t>
            </a:r>
            <a:r>
              <a:rPr lang="en-US" altLang="zh-CN" dirty="0">
                <a:sym typeface="Calibri" pitchFamily="34" charset="0"/>
              </a:rPr>
              <a:t>Y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U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X→Y </a:t>
            </a:r>
            <a:r>
              <a:rPr lang="zh-CN" altLang="en-US" dirty="0">
                <a:sym typeface="Calibri" pitchFamily="34" charset="0"/>
              </a:rPr>
              <a:t>能由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公理导出的充分必要条件是</a:t>
            </a:r>
            <a:r>
              <a:rPr lang="en-US" altLang="zh-CN" dirty="0">
                <a:sym typeface="Calibri" pitchFamily="34" charset="0"/>
              </a:rPr>
              <a:t>Y</a:t>
            </a:r>
            <a:r>
              <a:rPr lang="en-US" altLang="zh-CN" dirty="0">
                <a:sym typeface="Symbol" pitchFamily="18" charset="2"/>
              </a:rPr>
              <a:t> </a:t>
            </a:r>
            <a:r>
              <a:rPr lang="en-US" altLang="zh-CN" dirty="0"/>
              <a:t>X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sz="1600" baseline="30000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。</a:t>
            </a:r>
            <a:endParaRPr lang="en-US" altLang="zh-CN" dirty="0">
              <a:sym typeface="Calibri" pitchFamily="34" charset="0"/>
            </a:endParaRPr>
          </a:p>
          <a:p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引理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6.2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的用途</a:t>
            </a:r>
          </a:p>
          <a:p>
            <a:pPr lvl="1"/>
            <a:r>
              <a:rPr lang="zh-CN" altLang="en-US" dirty="0">
                <a:sym typeface="Calibri" pitchFamily="34" charset="0"/>
              </a:rPr>
              <a:t>判定</a:t>
            </a:r>
            <a:r>
              <a:rPr lang="en-US" altLang="zh-CN" dirty="0">
                <a:sym typeface="Calibri" pitchFamily="34" charset="0"/>
              </a:rPr>
              <a:t>X→Y</a:t>
            </a:r>
            <a:r>
              <a:rPr lang="zh-CN" altLang="en-US" dirty="0">
                <a:sym typeface="Calibri" pitchFamily="34" charset="0"/>
              </a:rPr>
              <a:t>是否能由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根据</a:t>
            </a:r>
            <a:r>
              <a:rPr lang="en-US" altLang="zh-CN" dirty="0">
                <a:sym typeface="Calibri" pitchFamily="34" charset="0"/>
              </a:rPr>
              <a:t>Armstrong</a:t>
            </a:r>
            <a:r>
              <a:rPr lang="zh-CN" altLang="en-US" dirty="0">
                <a:sym typeface="Calibri" pitchFamily="34" charset="0"/>
              </a:rPr>
              <a:t>公理导出的问题，就转化为求出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F</a:t>
            </a:r>
            <a:r>
              <a:rPr lang="en-US" altLang="zh-CN" sz="2800" baseline="30000" dirty="0"/>
              <a:t>+</a:t>
            </a:r>
            <a:r>
              <a:rPr lang="en-US" altLang="zh-CN" sz="1600" baseline="30000" dirty="0">
                <a:solidFill>
                  <a:prstClr val="black"/>
                </a:solidFill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，判定</a:t>
            </a:r>
            <a:r>
              <a:rPr lang="en-US" altLang="zh-CN" dirty="0">
                <a:sym typeface="Calibri" pitchFamily="34" charset="0"/>
              </a:rPr>
              <a:t>Y</a:t>
            </a:r>
            <a:r>
              <a:rPr lang="zh-CN" altLang="en-US" dirty="0">
                <a:sym typeface="Calibri" pitchFamily="34" charset="0"/>
              </a:rPr>
              <a:t>是否为</a:t>
            </a:r>
            <a:r>
              <a:rPr lang="en-US" altLang="zh-CN" sz="2800" dirty="0"/>
              <a:t>X</a:t>
            </a:r>
            <a:r>
              <a:rPr lang="en-US" altLang="zh-CN" sz="2800" baseline="-25000" dirty="0"/>
              <a:t>F</a:t>
            </a:r>
            <a:r>
              <a:rPr lang="en-US" altLang="zh-CN" sz="2800" baseline="30000" dirty="0"/>
              <a:t>+</a:t>
            </a:r>
            <a:r>
              <a:rPr lang="zh-CN" altLang="en-US" dirty="0">
                <a:sym typeface="Calibri" pitchFamily="34" charset="0"/>
              </a:rPr>
              <a:t>的子集问题。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7" name="标题 5">
            <a:extLst>
              <a:ext uri="{FF2B5EF4-FFF2-40B4-BE49-F238E27FC236}">
                <a16:creationId xmlns:a16="http://schemas.microsoft.com/office/drawing/2014/main" xmlns="" id="{CDBBBE8F-8374-4DB9-897D-0E5F2E525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函数依赖闭包</a:t>
            </a:r>
          </a:p>
        </p:txBody>
      </p:sp>
    </p:spTree>
    <p:extLst>
      <p:ext uri="{BB962C8B-B14F-4D97-AF65-F5344CB8AC3E}">
        <p14:creationId xmlns:p14="http://schemas.microsoft.com/office/powerpoint/2010/main" val="305213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xmlns="" id="{3F01773E-A6D3-4478-8246-C7C579BEEC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求闭包的算法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xmlns="" id="{88DF1354-4F61-4438-AB14-F33CE92932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算法</a:t>
            </a:r>
            <a:r>
              <a:rPr lang="en-US" altLang="zh-CN" dirty="0">
                <a:solidFill>
                  <a:srgbClr val="0000FF"/>
                </a:solidFill>
              </a:rPr>
              <a:t>6.1  </a:t>
            </a:r>
            <a:r>
              <a:rPr lang="zh-CN" altLang="en-US" dirty="0"/>
              <a:t>求属性集</a:t>
            </a:r>
            <a:r>
              <a:rPr lang="en-US" altLang="zh-CN" dirty="0"/>
              <a:t>X</a:t>
            </a:r>
            <a:r>
              <a:rPr lang="zh-CN" altLang="en-US" dirty="0"/>
              <a:t>（</a:t>
            </a:r>
            <a:r>
              <a:rPr lang="en-US" altLang="zh-CN" dirty="0"/>
              <a:t>X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U</a:t>
            </a:r>
            <a:r>
              <a:rPr lang="zh-CN" altLang="en-US" dirty="0"/>
              <a:t>）关于</a:t>
            </a:r>
            <a:r>
              <a:rPr lang="en-US" altLang="zh-CN" dirty="0"/>
              <a:t>U</a:t>
            </a:r>
            <a:r>
              <a:rPr lang="zh-CN" altLang="en-US" dirty="0"/>
              <a:t>上的函数依赖集</a:t>
            </a:r>
            <a:r>
              <a:rPr lang="en-US" altLang="zh-CN" dirty="0"/>
              <a:t>F </a:t>
            </a:r>
            <a:r>
              <a:rPr lang="zh-CN" altLang="en-US" dirty="0"/>
              <a:t>的闭包</a:t>
            </a:r>
            <a:r>
              <a:rPr lang="en-US" altLang="zh-CN" dirty="0"/>
              <a:t>X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输入：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</a:p>
          <a:p>
            <a:pPr lvl="1"/>
            <a:r>
              <a:rPr lang="zh-CN" altLang="en-US" dirty="0"/>
              <a:t>输出：</a:t>
            </a:r>
            <a:r>
              <a:rPr lang="en-US" altLang="zh-CN" dirty="0"/>
              <a:t> X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endParaRPr lang="en-US" altLang="zh-CN" dirty="0"/>
          </a:p>
          <a:p>
            <a:pPr lvl="1"/>
            <a:r>
              <a:rPr lang="zh-CN" altLang="en-US" dirty="0"/>
              <a:t>步骤：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）令</a:t>
            </a:r>
            <a:r>
              <a:rPr lang="en-US" altLang="zh-CN" dirty="0"/>
              <a:t>X</a:t>
            </a:r>
            <a:r>
              <a:rPr lang="en-US" altLang="zh-CN" baseline="30000" dirty="0"/>
              <a:t>(0)</a:t>
            </a:r>
            <a:r>
              <a:rPr lang="en-US" altLang="zh-CN" dirty="0"/>
              <a:t>=X</a:t>
            </a:r>
            <a:r>
              <a:rPr lang="zh-CN" altLang="en-US" dirty="0"/>
              <a:t>，</a:t>
            </a:r>
            <a:r>
              <a:rPr lang="en-US" altLang="zh-CN" dirty="0" err="1"/>
              <a:t>i</a:t>
            </a:r>
            <a:r>
              <a:rPr lang="en-US" altLang="zh-CN" dirty="0"/>
              <a:t>=0</a:t>
            </a:r>
          </a:p>
          <a:p>
            <a:pPr marL="457200" lvl="1" indent="0">
              <a:buNone/>
            </a:pPr>
            <a:r>
              <a:rPr lang="zh-CN" altLang="en-US" dirty="0">
                <a:solidFill>
                  <a:srgbClr val="0000FF"/>
                </a:solidFill>
              </a:rPr>
              <a:t>（</a:t>
            </a:r>
            <a:r>
              <a:rPr lang="en-US" altLang="zh-CN" dirty="0">
                <a:solidFill>
                  <a:srgbClr val="0000FF"/>
                </a:solidFill>
              </a:rPr>
              <a:t>2</a:t>
            </a:r>
            <a:r>
              <a:rPr lang="zh-CN" altLang="en-US" dirty="0">
                <a:solidFill>
                  <a:srgbClr val="0000FF"/>
                </a:solidFill>
              </a:rPr>
              <a:t>）求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，这里</a:t>
            </a:r>
            <a:r>
              <a:rPr lang="en-US" altLang="zh-CN" dirty="0">
                <a:solidFill>
                  <a:srgbClr val="0000FF"/>
                </a:solidFill>
              </a:rPr>
              <a:t>B = { A |(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FF"/>
                </a:solidFill>
              </a:rPr>
              <a:t>V)(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</a:t>
            </a:r>
            <a:r>
              <a:rPr lang="en-US" altLang="zh-CN" dirty="0">
                <a:solidFill>
                  <a:srgbClr val="0000FF"/>
                </a:solidFill>
              </a:rPr>
              <a:t>W)(V→W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00FF"/>
                </a:solidFill>
              </a:rPr>
              <a:t>F ∧ V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en-US" altLang="zh-CN" baseline="30000" dirty="0">
                <a:solidFill>
                  <a:srgbClr val="0000FF"/>
                </a:solidFill>
              </a:rPr>
              <a:t>(</a:t>
            </a:r>
            <a:r>
              <a:rPr lang="en-US" altLang="zh-CN" baseline="30000" dirty="0" err="1">
                <a:solidFill>
                  <a:srgbClr val="0000FF"/>
                </a:solidFill>
              </a:rPr>
              <a:t>i</a:t>
            </a:r>
            <a:r>
              <a:rPr lang="en-US" altLang="zh-CN" baseline="30000" dirty="0">
                <a:solidFill>
                  <a:srgbClr val="0000FF"/>
                </a:solidFill>
              </a:rPr>
              <a:t>) </a:t>
            </a:r>
            <a:r>
              <a:rPr lang="zh-CN" altLang="en-US" dirty="0">
                <a:solidFill>
                  <a:srgbClr val="0000FF"/>
                </a:solidFill>
              </a:rPr>
              <a:t>∧ 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</a:t>
            </a:r>
            <a:r>
              <a:rPr lang="en-US" altLang="zh-CN" dirty="0">
                <a:solidFill>
                  <a:srgbClr val="0000FF"/>
                </a:solidFill>
              </a:rPr>
              <a:t>W)}</a:t>
            </a:r>
            <a:r>
              <a:rPr lang="zh-CN" altLang="en-US" dirty="0">
                <a:solidFill>
                  <a:srgbClr val="0000FF"/>
                </a:solidFill>
              </a:rPr>
              <a:t>；</a:t>
            </a:r>
            <a:endParaRPr lang="en-US" altLang="zh-CN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X</a:t>
            </a:r>
            <a:r>
              <a:rPr lang="en-US" altLang="zh-CN" baseline="30000" dirty="0"/>
              <a:t>(i+1)</a:t>
            </a:r>
            <a:r>
              <a:rPr lang="en-US" altLang="zh-CN" dirty="0"/>
              <a:t>=B∪X</a:t>
            </a:r>
            <a:r>
              <a:rPr lang="en-US" altLang="zh-CN" baseline="30000" dirty="0"/>
              <a:t>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)</a:t>
            </a:r>
            <a:r>
              <a:rPr lang="zh-CN" altLang="en-US" dirty="0"/>
              <a:t> 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）判断</a:t>
            </a:r>
            <a:r>
              <a:rPr lang="en-US" altLang="zh-CN" dirty="0"/>
              <a:t>X</a:t>
            </a:r>
            <a:r>
              <a:rPr lang="en-US" altLang="zh-CN" baseline="30000" dirty="0"/>
              <a:t>(i+1)</a:t>
            </a:r>
            <a:r>
              <a:rPr lang="en-US" altLang="zh-CN" dirty="0"/>
              <a:t>= X</a:t>
            </a:r>
            <a:r>
              <a:rPr lang="en-US" altLang="zh-CN" baseline="30000" dirty="0"/>
              <a:t>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)</a:t>
            </a:r>
            <a:r>
              <a:rPr lang="zh-CN" altLang="en-US" dirty="0"/>
              <a:t>吗</a:t>
            </a:r>
            <a:r>
              <a:rPr lang="en-US" altLang="zh-CN" dirty="0"/>
              <a:t>?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）若相等或</a:t>
            </a:r>
            <a:r>
              <a:rPr lang="en-US" altLang="zh-CN" dirty="0"/>
              <a:t>X</a:t>
            </a:r>
            <a:r>
              <a:rPr lang="en-US" altLang="zh-CN" baseline="30000" dirty="0"/>
              <a:t>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)</a:t>
            </a:r>
            <a:r>
              <a:rPr lang="en-US" altLang="zh-CN" dirty="0"/>
              <a:t>=U , </a:t>
            </a:r>
            <a:r>
              <a:rPr lang="zh-CN" altLang="en-US" dirty="0"/>
              <a:t>则</a:t>
            </a:r>
            <a:r>
              <a:rPr lang="en-US" altLang="zh-CN" dirty="0"/>
              <a:t>X</a:t>
            </a:r>
            <a:r>
              <a:rPr lang="en-US" altLang="zh-CN" baseline="30000" dirty="0"/>
              <a:t>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)</a:t>
            </a:r>
            <a:r>
              <a:rPr lang="zh-CN" altLang="en-US" dirty="0"/>
              <a:t>就是</a:t>
            </a:r>
            <a:r>
              <a:rPr lang="en-US" altLang="zh-CN" dirty="0"/>
              <a:t>X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/>
              <a:t>, </a:t>
            </a:r>
            <a:r>
              <a:rPr lang="zh-CN" altLang="en-US" dirty="0"/>
              <a:t>算法终止。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）若否，则 </a:t>
            </a:r>
            <a:r>
              <a:rPr lang="en-US" altLang="zh-CN" dirty="0" err="1"/>
              <a:t>i</a:t>
            </a:r>
            <a:r>
              <a:rPr lang="en-US" altLang="zh-CN" dirty="0"/>
              <a:t>=i+1</a:t>
            </a:r>
            <a:r>
              <a:rPr lang="zh-CN" altLang="en-US" dirty="0"/>
              <a:t>，返回第（</a:t>
            </a:r>
            <a:r>
              <a:rPr lang="en-US" altLang="zh-CN" dirty="0"/>
              <a:t>2</a:t>
            </a:r>
            <a:r>
              <a:rPr lang="zh-CN" altLang="en-US" dirty="0"/>
              <a:t>）步。</a:t>
            </a:r>
          </a:p>
          <a:p>
            <a:pPr lvl="2"/>
            <a:r>
              <a:rPr lang="zh-CN" altLang="en-US" dirty="0"/>
              <a:t>对于算法</a:t>
            </a:r>
            <a:r>
              <a:rPr lang="en-US" altLang="zh-CN" dirty="0"/>
              <a:t>6.1</a:t>
            </a:r>
            <a:r>
              <a:rPr lang="zh-CN" altLang="en-US" dirty="0"/>
              <a:t>，令</a:t>
            </a:r>
            <a:r>
              <a:rPr lang="en-US" altLang="zh-CN" dirty="0"/>
              <a:t>a</a:t>
            </a:r>
            <a:r>
              <a:rPr lang="en-US" altLang="zh-CN" baseline="-25000" dirty="0"/>
              <a:t>i </a:t>
            </a:r>
            <a:r>
              <a:rPr lang="en-US" altLang="zh-CN" dirty="0"/>
              <a:t>=|X</a:t>
            </a:r>
            <a:r>
              <a:rPr lang="en-US" altLang="zh-CN" baseline="30000" dirty="0"/>
              <a:t>(</a:t>
            </a:r>
            <a:r>
              <a:rPr lang="en-US" altLang="zh-CN" baseline="30000" dirty="0" err="1"/>
              <a:t>i</a:t>
            </a:r>
            <a:r>
              <a:rPr lang="en-US" altLang="zh-CN" baseline="30000" dirty="0"/>
              <a:t>)</a:t>
            </a:r>
            <a:r>
              <a:rPr lang="en-US" altLang="zh-CN" dirty="0"/>
              <a:t>|</a:t>
            </a:r>
            <a:r>
              <a:rPr lang="zh-CN" altLang="en-US" dirty="0"/>
              <a:t>，</a:t>
            </a:r>
            <a:r>
              <a:rPr lang="en-US" altLang="zh-CN" dirty="0"/>
              <a:t>{a</a:t>
            </a:r>
            <a:r>
              <a:rPr lang="en-US" altLang="zh-CN" baseline="-25000" dirty="0"/>
              <a:t>i </a:t>
            </a:r>
            <a:r>
              <a:rPr lang="en-US" altLang="zh-CN" dirty="0"/>
              <a:t>}</a:t>
            </a:r>
            <a:r>
              <a:rPr lang="zh-CN" altLang="en-US" dirty="0"/>
              <a:t>形成一个步长大于</a:t>
            </a:r>
            <a:r>
              <a:rPr lang="en-US" altLang="zh-CN" dirty="0"/>
              <a:t>1</a:t>
            </a:r>
            <a:r>
              <a:rPr lang="zh-CN" altLang="en-US" dirty="0"/>
              <a:t>的严格递增的序列，序列的上界是 </a:t>
            </a:r>
            <a:r>
              <a:rPr lang="en-US" altLang="zh-CN" dirty="0"/>
              <a:t>|U|</a:t>
            </a:r>
            <a:r>
              <a:rPr lang="zh-CN" altLang="en-US" dirty="0"/>
              <a:t>，因此该算法最多 </a:t>
            </a:r>
            <a:r>
              <a:rPr lang="en-US" altLang="zh-CN" dirty="0"/>
              <a:t>|U| - |X|</a:t>
            </a:r>
            <a:r>
              <a:rPr lang="zh-CN" altLang="en-US" dirty="0"/>
              <a:t>次循环就会终止。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>
            <a:extLst>
              <a:ext uri="{FF2B5EF4-FFF2-40B4-BE49-F238E27FC236}">
                <a16:creationId xmlns:a16="http://schemas.microsoft.com/office/drawing/2014/main" xmlns="" id="{DDFBEC23-2E1F-4D8F-B738-C67514460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函数依赖闭包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06D7922-D0F9-4F3F-954F-1D9C8DC10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11]  </a:t>
            </a:r>
            <a:r>
              <a:rPr lang="zh-CN" altLang="en-US" dirty="0">
                <a:sym typeface="Calibri" pitchFamily="34" charset="0"/>
              </a:rPr>
              <a:t>已知关系模式</a:t>
            </a:r>
            <a:r>
              <a:rPr lang="en-US" altLang="zh-CN" dirty="0">
                <a:sym typeface="Calibri" pitchFamily="34" charset="0"/>
              </a:rPr>
              <a:t>R&lt;U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F&gt;</a:t>
            </a:r>
            <a:r>
              <a:rPr lang="zh-CN" altLang="en-US" dirty="0">
                <a:sym typeface="Calibri" pitchFamily="34" charset="0"/>
              </a:rPr>
              <a:t>，其中</a:t>
            </a:r>
            <a:r>
              <a:rPr lang="en-US" altLang="zh-CN" dirty="0">
                <a:sym typeface="Calibri" pitchFamily="34" charset="0"/>
              </a:rPr>
              <a:t>U={A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B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D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E }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F={AB→C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B→D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C→E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EC→B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AC→B}</a:t>
            </a:r>
            <a:r>
              <a:rPr lang="zh-CN" altLang="en-US" dirty="0">
                <a:sym typeface="Calibri" pitchFamily="34" charset="0"/>
              </a:rPr>
              <a:t>，求(</a:t>
            </a:r>
            <a:r>
              <a:rPr lang="en-US" altLang="zh-CN" dirty="0">
                <a:sym typeface="Calibri" pitchFamily="34" charset="0"/>
              </a:rPr>
              <a:t>AB</a:t>
            </a:r>
            <a:r>
              <a:rPr lang="zh-CN" altLang="en-US" dirty="0">
                <a:sym typeface="Calibri" pitchFamily="34" charset="0"/>
              </a:rPr>
              <a:t>)</a:t>
            </a:r>
            <a:r>
              <a:rPr lang="en-US" altLang="zh-CN" baseline="-25000" dirty="0">
                <a:sym typeface="Calibri" pitchFamily="34" charset="0"/>
              </a:rPr>
              <a:t>F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pPr lvl="1"/>
            <a:r>
              <a:rPr lang="zh-CN" altLang="en-US" dirty="0"/>
              <a:t>解：设</a:t>
            </a:r>
            <a:r>
              <a:rPr lang="en-US" altLang="zh-CN" dirty="0"/>
              <a:t>X</a:t>
            </a:r>
            <a:r>
              <a:rPr lang="en-US" altLang="zh-CN" baseline="30000" dirty="0"/>
              <a:t>(0)</a:t>
            </a:r>
            <a:r>
              <a:rPr lang="en-US" altLang="zh-CN" dirty="0"/>
              <a:t>=AB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en-US" altLang="zh-CN" dirty="0"/>
              <a:t>(1) </a:t>
            </a:r>
            <a:r>
              <a:rPr lang="zh-CN" altLang="en-US" dirty="0"/>
              <a:t>计算</a:t>
            </a:r>
            <a:r>
              <a:rPr lang="en-US" altLang="zh-CN" dirty="0"/>
              <a:t>X</a:t>
            </a:r>
            <a:r>
              <a:rPr lang="en-US" altLang="zh-CN" baseline="30000" dirty="0"/>
              <a:t>(1)</a:t>
            </a:r>
            <a:r>
              <a:rPr lang="zh-CN" altLang="en-US" dirty="0"/>
              <a:t>： 逐一扫描</a:t>
            </a:r>
            <a:r>
              <a:rPr lang="en-US" altLang="zh-CN" dirty="0"/>
              <a:t>F</a:t>
            </a:r>
            <a:r>
              <a:rPr lang="zh-CN" altLang="en-US" dirty="0"/>
              <a:t>集合中各个函数依赖，找</a:t>
            </a:r>
            <a:r>
              <a:rPr lang="zh-CN" altLang="en-US" dirty="0">
                <a:solidFill>
                  <a:srgbClr val="0000FF"/>
                </a:solidFill>
              </a:rPr>
              <a:t>左部为</a:t>
            </a:r>
            <a:r>
              <a:rPr lang="en-US" altLang="zh-CN" dirty="0">
                <a:solidFill>
                  <a:srgbClr val="0000FF"/>
                </a:solidFill>
              </a:rPr>
              <a:t>A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B</a:t>
            </a:r>
            <a:r>
              <a:rPr lang="zh-CN" altLang="en-US" dirty="0">
                <a:solidFill>
                  <a:srgbClr val="0000FF"/>
                </a:solidFill>
              </a:rPr>
              <a:t>或</a:t>
            </a:r>
            <a:r>
              <a:rPr lang="en-US" altLang="zh-CN" dirty="0">
                <a:solidFill>
                  <a:srgbClr val="0000FF"/>
                </a:solidFill>
              </a:rPr>
              <a:t>AB</a:t>
            </a:r>
            <a:r>
              <a:rPr lang="zh-CN" altLang="en-US" dirty="0">
                <a:solidFill>
                  <a:srgbClr val="0000FF"/>
                </a:solidFill>
              </a:rPr>
              <a:t>的函数依赖</a:t>
            </a:r>
            <a:r>
              <a:rPr lang="zh-CN" altLang="en-US" dirty="0"/>
              <a:t>。得到两个：</a:t>
            </a:r>
            <a:r>
              <a:rPr lang="en-US" altLang="zh-CN" dirty="0"/>
              <a:t>AB→C</a:t>
            </a:r>
            <a:r>
              <a:rPr lang="zh-CN" altLang="en-US" dirty="0"/>
              <a:t>，</a:t>
            </a:r>
            <a:r>
              <a:rPr lang="en-US" altLang="zh-CN" dirty="0"/>
              <a:t>B→D</a:t>
            </a:r>
            <a:r>
              <a:rPr lang="zh-CN" altLang="en-US" dirty="0"/>
              <a:t>，于是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en-US" altLang="zh-CN" baseline="30000" dirty="0">
                <a:solidFill>
                  <a:srgbClr val="0000FF"/>
                </a:solidFill>
              </a:rPr>
              <a:t>(1) </a:t>
            </a:r>
            <a:r>
              <a:rPr lang="en-US" altLang="zh-CN" dirty="0">
                <a:solidFill>
                  <a:srgbClr val="0000FF"/>
                </a:solidFill>
              </a:rPr>
              <a:t>=AB∪CD=ABCD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(2) </a:t>
            </a:r>
            <a:r>
              <a:rPr lang="zh-CN" altLang="en-US" dirty="0"/>
              <a:t>因为</a:t>
            </a:r>
            <a:r>
              <a:rPr lang="en-US" altLang="zh-CN" dirty="0"/>
              <a:t>X</a:t>
            </a:r>
            <a:r>
              <a:rPr lang="en-US" altLang="zh-CN" baseline="30000" dirty="0"/>
              <a:t>(0)</a:t>
            </a:r>
            <a:r>
              <a:rPr lang="zh-CN" altLang="en-US" dirty="0"/>
              <a:t>≠</a:t>
            </a:r>
            <a:r>
              <a:rPr lang="en-US" altLang="zh-CN" dirty="0"/>
              <a:t>X</a:t>
            </a:r>
            <a:r>
              <a:rPr lang="en-US" altLang="zh-CN" baseline="30000" dirty="0"/>
              <a:t>(1)</a:t>
            </a:r>
            <a:r>
              <a:rPr lang="zh-CN" altLang="en-US" dirty="0"/>
              <a:t>，所以再找出</a:t>
            </a:r>
            <a:r>
              <a:rPr lang="zh-CN" altLang="en-US" dirty="0">
                <a:solidFill>
                  <a:srgbClr val="0000FF"/>
                </a:solidFill>
              </a:rPr>
              <a:t>左部为</a:t>
            </a:r>
            <a:r>
              <a:rPr lang="en-US" altLang="zh-CN" dirty="0">
                <a:solidFill>
                  <a:srgbClr val="0000FF"/>
                </a:solidFill>
              </a:rPr>
              <a:t>ABCD</a:t>
            </a:r>
            <a:r>
              <a:rPr lang="zh-CN" altLang="en-US" dirty="0">
                <a:solidFill>
                  <a:srgbClr val="0000FF"/>
                </a:solidFill>
              </a:rPr>
              <a:t>子集的那些函数依赖</a:t>
            </a:r>
            <a:r>
              <a:rPr lang="zh-CN" altLang="en-US" dirty="0"/>
              <a:t>，又得到</a:t>
            </a:r>
            <a:r>
              <a:rPr lang="en-US" altLang="zh-CN" dirty="0"/>
              <a:t>AB→C</a:t>
            </a:r>
            <a:r>
              <a:rPr lang="zh-CN" altLang="en-US" dirty="0"/>
              <a:t>，</a:t>
            </a:r>
            <a:r>
              <a:rPr lang="en-US" altLang="zh-CN" dirty="0"/>
              <a:t>B→D</a:t>
            </a:r>
            <a:r>
              <a:rPr lang="zh-CN" altLang="en-US" dirty="0"/>
              <a:t>， </a:t>
            </a:r>
            <a:r>
              <a:rPr lang="en-US" altLang="zh-CN" dirty="0"/>
              <a:t>C→E</a:t>
            </a:r>
            <a:r>
              <a:rPr lang="zh-CN" altLang="en-US" dirty="0"/>
              <a:t>，</a:t>
            </a:r>
            <a:r>
              <a:rPr lang="en-US" altLang="zh-CN" dirty="0"/>
              <a:t>AC→B</a:t>
            </a:r>
            <a:r>
              <a:rPr lang="zh-CN" altLang="en-US" dirty="0"/>
              <a:t>，于是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en-US" altLang="zh-CN" baseline="30000" dirty="0">
                <a:solidFill>
                  <a:srgbClr val="0000FF"/>
                </a:solidFill>
              </a:rPr>
              <a:t>(2)</a:t>
            </a:r>
            <a:r>
              <a:rPr lang="en-US" altLang="zh-CN" dirty="0">
                <a:solidFill>
                  <a:srgbClr val="0000FF"/>
                </a:solidFill>
              </a:rPr>
              <a:t>=X</a:t>
            </a:r>
            <a:r>
              <a:rPr lang="en-US" altLang="zh-CN" baseline="30000" dirty="0">
                <a:solidFill>
                  <a:srgbClr val="0000FF"/>
                </a:solidFill>
              </a:rPr>
              <a:t>(1)</a:t>
            </a:r>
            <a:r>
              <a:rPr lang="zh-CN" altLang="en-US" dirty="0">
                <a:solidFill>
                  <a:srgbClr val="0000FF"/>
                </a:solidFill>
              </a:rPr>
              <a:t>∪</a:t>
            </a:r>
            <a:r>
              <a:rPr lang="en-US" altLang="zh-CN" dirty="0">
                <a:solidFill>
                  <a:srgbClr val="0000FF"/>
                </a:solidFill>
              </a:rPr>
              <a:t>BCDE=ABCDE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en-US" altLang="zh-CN" dirty="0"/>
              <a:t>(3) </a:t>
            </a:r>
            <a:r>
              <a:rPr lang="zh-CN" altLang="en-US" dirty="0"/>
              <a:t>因为</a:t>
            </a:r>
            <a:r>
              <a:rPr lang="en-US" altLang="zh-CN" dirty="0"/>
              <a:t>X</a:t>
            </a:r>
            <a:r>
              <a:rPr lang="en-US" altLang="zh-CN" baseline="30000" dirty="0"/>
              <a:t>(2)</a:t>
            </a:r>
            <a:r>
              <a:rPr lang="en-US" altLang="zh-CN" dirty="0"/>
              <a:t>=U</a:t>
            </a:r>
            <a:r>
              <a:rPr lang="zh-CN" altLang="en-US" dirty="0"/>
              <a:t>，算法终止。</a:t>
            </a:r>
            <a:endParaRPr lang="en-US" altLang="zh-CN" dirty="0"/>
          </a:p>
          <a:p>
            <a:pPr lvl="1"/>
            <a:r>
              <a:rPr lang="zh-CN" altLang="en-US" dirty="0"/>
              <a:t>所以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AB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)</a:t>
            </a:r>
            <a:r>
              <a:rPr lang="en-US" altLang="zh-CN" baseline="-25000" dirty="0">
                <a:solidFill>
                  <a:srgbClr val="0000FF"/>
                </a:solidFill>
                <a:sym typeface="Calibri" pitchFamily="34" charset="0"/>
              </a:rPr>
              <a:t>F</a:t>
            </a:r>
            <a:r>
              <a:rPr lang="en-US" altLang="zh-CN" baseline="50000" dirty="0">
                <a:solidFill>
                  <a:srgbClr val="0000FF"/>
                </a:solidFill>
                <a:sym typeface="Calibri" pitchFamily="34" charset="0"/>
              </a:rPr>
              <a:t>+</a:t>
            </a:r>
            <a:r>
              <a:rPr lang="en-US" altLang="zh-CN" dirty="0">
                <a:solidFill>
                  <a:srgbClr val="0000FF"/>
                </a:solidFill>
              </a:rPr>
              <a:t>=ABCDE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BBAD684B-5002-48EE-AC4A-CA8FCB4B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84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543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93E8C035-E95A-4FA4-91C1-2139AD33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85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89B943B-4B5B-4D7E-9450-3CDA9287642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20717" y="1525711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设有关系模式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R(A, B, C, D)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及其函数依赖集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F={D→B, B→D, AD→B, AC→D }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(AC)</a:t>
            </a:r>
            <a:r>
              <a:rPr lang="en-US" altLang="zh-CN" sz="2400" baseline="-25000" dirty="0"/>
              <a:t> F</a:t>
            </a:r>
            <a:r>
              <a:rPr lang="en-US" altLang="zh-CN" sz="2400" baseline="30000" dirty="0"/>
              <a:t>+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=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(AB)</a:t>
            </a:r>
            <a:r>
              <a:rPr lang="en-US" altLang="zh-CN" sz="2400" baseline="-25000" dirty="0"/>
              <a:t> F</a:t>
            </a:r>
            <a:r>
              <a:rPr lang="en-US" altLang="zh-CN" sz="2400" baseline="30000" dirty="0"/>
              <a:t>+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= 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 dirty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65CF9192-C03E-4754-B457-E9BED2AA56D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E90936F8-C2CD-4307-982F-200C7D1A47F2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9" name="TitleBackground">
              <a:extLst>
                <a:ext uri="{FF2B5EF4-FFF2-40B4-BE49-F238E27FC236}">
                  <a16:creationId xmlns:a16="http://schemas.microsoft.com/office/drawing/2014/main" xmlns="" id="{8608BC21-E10D-417A-9F67-FCC25D1FD05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ColorBlock">
              <a:extLst>
                <a:ext uri="{FF2B5EF4-FFF2-40B4-BE49-F238E27FC236}">
                  <a16:creationId xmlns:a16="http://schemas.microsoft.com/office/drawing/2014/main" xmlns="" id="{B0056DE2-AE8C-4FE0-ACBE-A338E1864AF5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ypeText">
              <a:extLst>
                <a:ext uri="{FF2B5EF4-FFF2-40B4-BE49-F238E27FC236}">
                  <a16:creationId xmlns:a16="http://schemas.microsoft.com/office/drawing/2014/main" xmlns="" id="{48C540A7-90FE-49A3-81BE-667420ABA77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2" name="TipText">
              <a:extLst>
                <a:ext uri="{FF2B5EF4-FFF2-40B4-BE49-F238E27FC236}">
                  <a16:creationId xmlns:a16="http://schemas.microsoft.com/office/drawing/2014/main" xmlns="" id="{9F2D67BD-6B8F-46E7-97B0-B36A28983D29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9C433796-2088-4ACE-AD71-68A4FDB5106F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5266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1C5ED337-58BC-4E0B-909F-04C30D3B9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Armstrong</a:t>
            </a:r>
            <a:r>
              <a:rPr lang="zh-CN" altLang="en-US"/>
              <a:t>公理系统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68C1B017-A5B6-43A9-B9EA-39D8A7E81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FF"/>
                </a:solidFill>
              </a:rPr>
              <a:t>定理</a:t>
            </a:r>
            <a:r>
              <a:rPr lang="en-US" altLang="zh-CN" dirty="0">
                <a:solidFill>
                  <a:srgbClr val="0000FF"/>
                </a:solidFill>
              </a:rPr>
              <a:t>6.2 </a:t>
            </a:r>
            <a:r>
              <a:rPr lang="en-US" altLang="zh-CN" dirty="0"/>
              <a:t>Armstrong</a:t>
            </a:r>
            <a:r>
              <a:rPr lang="zh-CN" altLang="en-US" dirty="0"/>
              <a:t>公理系统是有效的、完备的。</a:t>
            </a:r>
            <a:endParaRPr lang="en-US" altLang="zh-CN" dirty="0"/>
          </a:p>
          <a:p>
            <a:pPr lvl="1"/>
            <a:r>
              <a:rPr lang="zh-CN" altLang="en-US" dirty="0"/>
              <a:t>建立公理系统体系目的：从已知的</a:t>
            </a:r>
            <a:r>
              <a:rPr lang="en-US" altLang="zh-CN" dirty="0"/>
              <a:t>f</a:t>
            </a:r>
            <a:r>
              <a:rPr lang="zh-CN" altLang="en-US" dirty="0"/>
              <a:t>推导出未知的</a:t>
            </a:r>
            <a:r>
              <a:rPr lang="en-US" altLang="zh-CN" dirty="0"/>
              <a:t>f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有效性：</a:t>
            </a:r>
            <a:r>
              <a:rPr lang="zh-CN" altLang="en-US" dirty="0"/>
              <a:t>由</a:t>
            </a:r>
            <a:r>
              <a:rPr lang="en-US" altLang="zh-CN" dirty="0"/>
              <a:t>F</a:t>
            </a:r>
            <a:r>
              <a:rPr lang="zh-CN" altLang="en-US" dirty="0"/>
              <a:t>出发根据</a:t>
            </a:r>
            <a:r>
              <a:rPr lang="en-US" altLang="zh-CN" dirty="0"/>
              <a:t>Armstrong</a:t>
            </a:r>
            <a:r>
              <a:rPr lang="zh-CN" altLang="en-US" dirty="0"/>
              <a:t>公理推导出来的每一个函数依赖一定在</a:t>
            </a:r>
            <a:r>
              <a:rPr lang="en-US" altLang="zh-CN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中。	                        </a:t>
            </a:r>
            <a:r>
              <a:rPr lang="en-US" altLang="zh-CN" dirty="0">
                <a:highlight>
                  <a:srgbClr val="FFFF00"/>
                </a:highlight>
              </a:rPr>
              <a:t>/*Armstrong</a:t>
            </a:r>
            <a:r>
              <a:rPr lang="zh-CN" altLang="en-US" dirty="0">
                <a:highlight>
                  <a:srgbClr val="FFFF00"/>
                </a:highlight>
              </a:rPr>
              <a:t>正确的</a:t>
            </a:r>
            <a:r>
              <a:rPr lang="en-US" altLang="zh-CN" dirty="0">
                <a:highlight>
                  <a:srgbClr val="FFFF00"/>
                </a:highlight>
              </a:rPr>
              <a:t>*/</a:t>
            </a:r>
            <a:endParaRPr lang="zh-CN" altLang="en-US" dirty="0">
              <a:highlight>
                <a:srgbClr val="FFFF00"/>
              </a:highlight>
            </a:endParaRPr>
          </a:p>
          <a:p>
            <a:r>
              <a:rPr lang="zh-CN" altLang="en-US" dirty="0">
                <a:solidFill>
                  <a:srgbClr val="C00000"/>
                </a:solidFill>
              </a:rPr>
              <a:t>完备性：</a:t>
            </a:r>
            <a:r>
              <a:rPr lang="en-US" altLang="zh-CN" dirty="0"/>
              <a:t>F</a:t>
            </a:r>
            <a:r>
              <a:rPr lang="en-US" altLang="zh-CN" baseline="30000" dirty="0"/>
              <a:t>+</a:t>
            </a:r>
            <a:r>
              <a:rPr lang="zh-CN" altLang="en-US" dirty="0"/>
              <a:t>中的每一个函数依赖，必定可以由</a:t>
            </a:r>
            <a:r>
              <a:rPr lang="en-US" altLang="zh-CN" dirty="0"/>
              <a:t>F</a:t>
            </a:r>
            <a:r>
              <a:rPr lang="zh-CN" altLang="en-US" dirty="0"/>
              <a:t>出发根据</a:t>
            </a:r>
            <a:r>
              <a:rPr lang="en-US" altLang="zh-CN" dirty="0"/>
              <a:t>Armstrong</a:t>
            </a:r>
            <a:r>
              <a:rPr lang="zh-CN" altLang="en-US" dirty="0"/>
              <a:t>公理推导出来。       </a:t>
            </a:r>
            <a:r>
              <a:rPr lang="en-US" altLang="zh-CN" dirty="0">
                <a:highlight>
                  <a:srgbClr val="FFFF00"/>
                </a:highlight>
              </a:rPr>
              <a:t>/*Armstrong</a:t>
            </a:r>
            <a:r>
              <a:rPr lang="zh-CN" altLang="en-US" dirty="0">
                <a:highlight>
                  <a:srgbClr val="FFFF00"/>
                </a:highlight>
              </a:rPr>
              <a:t>公理够用，完全</a:t>
            </a:r>
            <a:r>
              <a:rPr lang="en-US" altLang="zh-CN" dirty="0">
                <a:highlight>
                  <a:srgbClr val="FFFF00"/>
                </a:highlight>
              </a:rPr>
              <a:t>*/</a:t>
            </a:r>
            <a:endParaRPr lang="zh-CN" altLang="en-US" dirty="0">
              <a:highlight>
                <a:srgbClr val="FFFF00"/>
              </a:highlight>
            </a:endParaRPr>
          </a:p>
          <a:p>
            <a:r>
              <a:rPr lang="zh-CN" altLang="en-US" dirty="0"/>
              <a:t>或者，</a:t>
            </a:r>
            <a:r>
              <a:rPr lang="zh-CN" altLang="en-US" dirty="0">
                <a:solidFill>
                  <a:srgbClr val="C00000"/>
                </a:solidFill>
              </a:rPr>
              <a:t>完备性：</a:t>
            </a:r>
            <a:r>
              <a:rPr lang="zh-CN" altLang="en-US" dirty="0"/>
              <a:t>所有不能用</a:t>
            </a:r>
            <a:r>
              <a:rPr lang="en-US" altLang="zh-CN" dirty="0"/>
              <a:t>Armstrong</a:t>
            </a:r>
            <a:r>
              <a:rPr lang="zh-CN" altLang="en-US" dirty="0"/>
              <a:t>公理推导出来</a:t>
            </a:r>
            <a:r>
              <a:rPr lang="en-US" altLang="zh-CN" dirty="0"/>
              <a:t>f, </a:t>
            </a:r>
            <a:r>
              <a:rPr lang="zh-CN" altLang="en-US" dirty="0"/>
              <a:t>都不为真；若</a:t>
            </a:r>
            <a:r>
              <a:rPr lang="en-US" altLang="zh-CN" dirty="0"/>
              <a:t>f</a:t>
            </a:r>
            <a:r>
              <a:rPr lang="zh-CN" altLang="en-US" dirty="0"/>
              <a:t>不能用</a:t>
            </a:r>
            <a:r>
              <a:rPr lang="en-US" altLang="zh-CN" dirty="0"/>
              <a:t>Armstrong</a:t>
            </a:r>
            <a:r>
              <a:rPr lang="zh-CN" altLang="en-US" dirty="0"/>
              <a:t>公理推导出来，则</a:t>
            </a:r>
            <a:r>
              <a:rPr lang="en-US" altLang="zh-CN" dirty="0" err="1"/>
              <a:t>f∉F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证明略。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7DAF7DCC-59BF-4CA5-9E33-57770691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86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654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EF9BE739-05FF-42F7-8F41-BDDB22C3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求关系模式的码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</a:t>
            </a:r>
            <a:r>
              <a:rPr lang="zh-CN" altLang="en-US" dirty="0">
                <a:sym typeface="Calibri" pitchFamily="34" charset="0"/>
              </a:rPr>
              <a:t>关系模式</a:t>
            </a:r>
            <a:r>
              <a:rPr lang="en-US" altLang="zh-CN" dirty="0">
                <a:sym typeface="Calibri" pitchFamily="34" charset="0"/>
              </a:rPr>
              <a:t>R&lt;U</a:t>
            </a:r>
            <a:r>
              <a:rPr lang="zh-CN" altLang="en-US" dirty="0">
                <a:sym typeface="Calibri" pitchFamily="34" charset="0"/>
              </a:rPr>
              <a:t>, </a:t>
            </a:r>
            <a:r>
              <a:rPr lang="en-US" altLang="zh-CN" dirty="0">
                <a:sym typeface="Calibri" pitchFamily="34" charset="0"/>
              </a:rPr>
              <a:t>F&gt;</a:t>
            </a:r>
            <a:r>
              <a:rPr lang="zh-CN" altLang="en-US" dirty="0">
                <a:sym typeface="Calibri" pitchFamily="34" charset="0"/>
              </a:rPr>
              <a:t>中，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若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A</a:t>
            </a:r>
            <a:r>
              <a:rPr lang="en-US" altLang="zh-CN" baseline="-25000" dirty="0">
                <a:solidFill>
                  <a:srgbClr val="C00000"/>
                </a:solidFill>
                <a:sym typeface="Calibri" pitchFamily="34" charset="0"/>
              </a:rPr>
              <a:t>F</a:t>
            </a:r>
            <a:r>
              <a:rPr lang="en-US" altLang="zh-CN" baseline="50000" dirty="0">
                <a:solidFill>
                  <a:srgbClr val="C00000"/>
                </a:solidFill>
                <a:sym typeface="Calibri" pitchFamily="34" charset="0"/>
              </a:rPr>
              <a:t>+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=U</a:t>
            </a:r>
            <a:r>
              <a:rPr lang="zh-CN" altLang="en-US" dirty="0">
                <a:sym typeface="Calibri" pitchFamily="34" charset="0"/>
              </a:rPr>
              <a:t>，则</a:t>
            </a:r>
            <a:r>
              <a:rPr lang="en-US" altLang="zh-CN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为</a:t>
            </a:r>
            <a:r>
              <a:rPr lang="en-US" altLang="zh-CN" dirty="0">
                <a:sym typeface="Calibri" pitchFamily="34" charset="0"/>
              </a:rPr>
              <a:t>R</a:t>
            </a:r>
            <a:r>
              <a:rPr lang="zh-CN" altLang="en-US" dirty="0">
                <a:sym typeface="Calibri" pitchFamily="34" charset="0"/>
              </a:rPr>
              <a:t>的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候选码</a:t>
            </a:r>
            <a:endParaRPr lang="en-US" altLang="zh-CN" dirty="0">
              <a:solidFill>
                <a:srgbClr val="C00000"/>
              </a:solidFill>
              <a:sym typeface="Calibri" pitchFamily="34" charset="0"/>
            </a:endParaRPr>
          </a:p>
          <a:p>
            <a:endParaRPr lang="en-US" altLang="zh-CN" dirty="0"/>
          </a:p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] </a:t>
            </a:r>
            <a:r>
              <a:rPr lang="zh-CN" altLang="en-US" dirty="0"/>
              <a:t>设</a:t>
            </a:r>
            <a:r>
              <a:rPr lang="en-US" altLang="zh-CN" dirty="0"/>
              <a:t>U= {A, B, C, D}, F={A→B, C→D}</a:t>
            </a:r>
            <a:r>
              <a:rPr lang="zh-CN" altLang="en-US" dirty="0"/>
              <a:t>，试求此关系的候选码。</a:t>
            </a:r>
          </a:p>
          <a:p>
            <a:pPr lvl="1"/>
            <a:r>
              <a:rPr lang="zh-CN" altLang="en-US" dirty="0">
                <a:solidFill>
                  <a:srgbClr val="0000FF"/>
                </a:solidFill>
              </a:rPr>
              <a:t>解给定关系模式的候选码的一般思路：</a:t>
            </a:r>
            <a:endParaRPr lang="en-US" altLang="zh-CN" dirty="0">
              <a:solidFill>
                <a:srgbClr val="0000FF"/>
              </a:solidFill>
            </a:endParaRPr>
          </a:p>
          <a:p>
            <a:pPr lvl="2"/>
            <a:r>
              <a:rPr lang="zh-CN" altLang="en-US" dirty="0"/>
              <a:t>只出现在箭头右侧的属性</a:t>
            </a:r>
            <a:r>
              <a:rPr lang="zh-CN" altLang="en-US" dirty="0">
                <a:solidFill>
                  <a:srgbClr val="0000FF"/>
                </a:solidFill>
              </a:rPr>
              <a:t>一定不会是码的组成部分</a:t>
            </a:r>
            <a:r>
              <a:rPr lang="zh-CN" altLang="en-US" dirty="0"/>
              <a:t>，因为它不可能是决定因素；</a:t>
            </a:r>
            <a:endParaRPr lang="en-US" altLang="zh-CN" dirty="0"/>
          </a:p>
          <a:p>
            <a:pPr lvl="2"/>
            <a:r>
              <a:rPr lang="zh-CN" altLang="en-US" dirty="0"/>
              <a:t>只出现在箭头左侧的属性</a:t>
            </a:r>
            <a:r>
              <a:rPr lang="zh-CN" altLang="en-US" dirty="0">
                <a:solidFill>
                  <a:srgbClr val="0000FF"/>
                </a:solidFill>
              </a:rPr>
              <a:t>一定是码的组成部分</a:t>
            </a:r>
            <a:r>
              <a:rPr lang="zh-CN" altLang="en-US" dirty="0"/>
              <a:t>，因为它只能是决定因素；</a:t>
            </a:r>
            <a:endParaRPr lang="en-US" altLang="zh-CN" dirty="0"/>
          </a:p>
          <a:p>
            <a:pPr lvl="2"/>
            <a:r>
              <a:rPr lang="zh-CN" altLang="en-US" dirty="0"/>
              <a:t>既出现在箭头左侧又出现在箭头右侧的属性</a:t>
            </a:r>
            <a:r>
              <a:rPr lang="zh-CN" altLang="en-US" dirty="0">
                <a:solidFill>
                  <a:srgbClr val="0000FF"/>
                </a:solidFill>
              </a:rPr>
              <a:t>需要进行验证</a:t>
            </a:r>
            <a:r>
              <a:rPr lang="zh-CN" altLang="en-US" dirty="0"/>
              <a:t>是否为码的组成部分。</a:t>
            </a:r>
            <a:endParaRPr lang="en-US" altLang="zh-CN" dirty="0"/>
          </a:p>
          <a:p>
            <a:r>
              <a:rPr lang="zh-CN" altLang="en-US" dirty="0"/>
              <a:t>本题分析</a:t>
            </a:r>
            <a:endParaRPr lang="en-US" altLang="zh-CN" dirty="0"/>
          </a:p>
          <a:p>
            <a:pPr lvl="1"/>
            <a:r>
              <a:rPr lang="en-US" altLang="zh-CN" dirty="0"/>
              <a:t>A, C</a:t>
            </a:r>
            <a:r>
              <a:rPr lang="zh-CN" altLang="en-US" dirty="0"/>
              <a:t>一定是码的组成部分；</a:t>
            </a:r>
            <a:r>
              <a:rPr lang="en-US" altLang="zh-CN" dirty="0"/>
              <a:t>B, D</a:t>
            </a:r>
            <a:r>
              <a:rPr lang="zh-CN" altLang="en-US" dirty="0"/>
              <a:t>一定不是码的组成部分。因为</a:t>
            </a:r>
            <a:r>
              <a:rPr lang="en-US" altLang="zh-CN" dirty="0"/>
              <a:t>(AC)</a:t>
            </a:r>
            <a:r>
              <a:rPr lang="en-US" altLang="zh-CN" baseline="-25000" dirty="0"/>
              <a:t>F</a:t>
            </a:r>
            <a:r>
              <a:rPr lang="en-US" altLang="zh-CN" baseline="50000" dirty="0"/>
              <a:t>+</a:t>
            </a:r>
            <a:r>
              <a:rPr lang="en-US" altLang="zh-CN" dirty="0"/>
              <a:t>=U</a:t>
            </a:r>
            <a:r>
              <a:rPr lang="zh-CN" altLang="en-US" dirty="0"/>
              <a:t>，所以</a:t>
            </a:r>
            <a:r>
              <a:rPr lang="en-US" altLang="zh-CN" dirty="0"/>
              <a:t>R</a:t>
            </a:r>
            <a:r>
              <a:rPr lang="zh-CN" altLang="en-US" dirty="0"/>
              <a:t>只有一个候选码</a:t>
            </a:r>
            <a:r>
              <a:rPr lang="en-US" altLang="zh-CN" dirty="0"/>
              <a:t>AC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85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例：设有关系模式</a:t>
            </a:r>
            <a:r>
              <a:rPr lang="en-US" altLang="zh-CN" dirty="0"/>
              <a:t>R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E</a:t>
            </a:r>
            <a:r>
              <a:rPr lang="zh-CN" altLang="en-US" dirty="0"/>
              <a:t>）其上的函数依赖集</a:t>
            </a:r>
            <a:r>
              <a:rPr lang="en-US" altLang="zh-CN" dirty="0"/>
              <a:t>F={A</a:t>
            </a:r>
            <a:r>
              <a:rPr lang="zh-CN" altLang="en-US" dirty="0"/>
              <a:t>→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BC</a:t>
            </a:r>
            <a:r>
              <a:rPr lang="zh-CN" altLang="en-US" dirty="0"/>
              <a:t>→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DE</a:t>
            </a:r>
            <a:r>
              <a:rPr lang="zh-CN" altLang="en-US" dirty="0"/>
              <a:t>→</a:t>
            </a:r>
            <a:r>
              <a:rPr lang="en-US" altLang="zh-CN" dirty="0"/>
              <a:t>A}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）计算</a:t>
            </a:r>
            <a:r>
              <a:rPr lang="en-US" altLang="zh-CN" dirty="0"/>
              <a:t>A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）求出</a:t>
            </a:r>
            <a:r>
              <a:rPr lang="en-US" altLang="zh-CN" dirty="0"/>
              <a:t>R</a:t>
            </a:r>
            <a:r>
              <a:rPr lang="zh-CN" altLang="en-US" dirty="0"/>
              <a:t>的候选码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解：（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A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/>
              <a:t>=AB</a:t>
            </a:r>
          </a:p>
          <a:p>
            <a:pPr marL="0" indent="0">
              <a:buNone/>
            </a:pPr>
            <a:r>
              <a:rPr lang="en-US" altLang="zh-CN" dirty="0"/>
              <a:t>        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）左边：</a:t>
            </a:r>
            <a:r>
              <a:rPr lang="en-US" altLang="zh-CN" dirty="0"/>
              <a:t>CE</a:t>
            </a:r>
            <a:r>
              <a:rPr lang="zh-CN" altLang="en-US" dirty="0"/>
              <a:t>    右边：</a:t>
            </a:r>
            <a:r>
              <a:rPr lang="en-US" altLang="zh-CN" dirty="0"/>
              <a:t>none     </a:t>
            </a:r>
            <a:r>
              <a:rPr lang="zh-CN" altLang="en-US" dirty="0"/>
              <a:t>左右：</a:t>
            </a:r>
            <a:r>
              <a:rPr lang="en-US" altLang="zh-CN" dirty="0"/>
              <a:t>ABD</a:t>
            </a:r>
          </a:p>
          <a:p>
            <a:pPr marL="0" indent="0">
              <a:buNone/>
            </a:pPr>
            <a:r>
              <a:rPr lang="en-US" altLang="zh-CN" dirty="0"/>
              <a:t>                  </a:t>
            </a:r>
            <a:r>
              <a:rPr lang="en-US" altLang="zh-CN" dirty="0">
                <a:solidFill>
                  <a:srgbClr val="0000FF"/>
                </a:solidFill>
              </a:rPr>
              <a:t>R</a:t>
            </a:r>
            <a:r>
              <a:rPr lang="zh-CN" altLang="en-US" dirty="0">
                <a:solidFill>
                  <a:srgbClr val="0000FF"/>
                </a:solidFill>
              </a:rPr>
              <a:t>的候选码为：</a:t>
            </a:r>
            <a:r>
              <a:rPr lang="en-US" altLang="zh-CN" dirty="0">
                <a:solidFill>
                  <a:srgbClr val="0000FF"/>
                </a:solidFill>
              </a:rPr>
              <a:t>ACE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BCE</a:t>
            </a:r>
            <a:r>
              <a:rPr lang="zh-CN" altLang="en-US" dirty="0">
                <a:solidFill>
                  <a:srgbClr val="0000FF"/>
                </a:solidFill>
              </a:rPr>
              <a:t>，</a:t>
            </a:r>
            <a:r>
              <a:rPr lang="en-US" altLang="zh-CN" dirty="0">
                <a:solidFill>
                  <a:srgbClr val="0000FF"/>
                </a:solidFill>
              </a:rPr>
              <a:t>CDE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xmlns="" id="{E7E6D965-C763-4F19-A8B0-81D6D75E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/>
              <a:t>求关系模式的码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2963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5">
            <a:extLst>
              <a:ext uri="{FF2B5EF4-FFF2-40B4-BE49-F238E27FC236}">
                <a16:creationId xmlns:a16="http://schemas.microsoft.com/office/drawing/2014/main" xmlns="" id="{E7E6D965-C763-4F19-A8B0-81D6D75E2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793" y="93890"/>
            <a:ext cx="10501175" cy="824592"/>
          </a:xfrm>
        </p:spPr>
        <p:txBody>
          <a:bodyPr/>
          <a:lstStyle/>
          <a:p>
            <a:r>
              <a:rPr lang="zh-CN" altLang="en-US" sz="3600" dirty="0"/>
              <a:t>练习：指出下列关系模式是第几范式，并说明理由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R(X,Y,Z)</a:t>
            </a:r>
            <a:r>
              <a:rPr lang="zh-CN" altLang="en-US" dirty="0"/>
              <a:t>，</a:t>
            </a:r>
            <a:r>
              <a:rPr lang="en-US" altLang="zh-CN" dirty="0"/>
              <a:t>F={XY</a:t>
            </a:r>
            <a:r>
              <a:rPr lang="en-US" altLang="zh-CN" dirty="0">
                <a:sym typeface="Wingdings" panose="05000000000000000000" pitchFamily="2" charset="2"/>
              </a:rPr>
              <a:t>Z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候选码：</a:t>
            </a:r>
            <a:r>
              <a:rPr lang="en-US" altLang="zh-CN" dirty="0"/>
              <a:t> XY</a:t>
            </a:r>
            <a:r>
              <a:rPr lang="zh-CN" altLang="en-US" dirty="0"/>
              <a:t>，仅一个函数依赖，</a:t>
            </a:r>
            <a:r>
              <a:rPr lang="en-US" altLang="zh-CN" dirty="0">
                <a:solidFill>
                  <a:srgbClr val="0000FF"/>
                </a:solidFill>
              </a:rPr>
              <a:t>R∈BCNF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R(X,Y,Z)</a:t>
            </a:r>
            <a:r>
              <a:rPr lang="zh-CN" altLang="en-US" dirty="0"/>
              <a:t>，</a:t>
            </a:r>
            <a:r>
              <a:rPr lang="en-US" altLang="zh-CN" dirty="0"/>
              <a:t>F={Y</a:t>
            </a:r>
            <a:r>
              <a:rPr lang="en-US" altLang="zh-CN" dirty="0">
                <a:sym typeface="Wingdings" panose="05000000000000000000" pitchFamily="2" charset="2"/>
              </a:rPr>
              <a:t>Z, XZY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候选码：</a:t>
            </a:r>
            <a:r>
              <a:rPr lang="en-US" altLang="zh-CN" dirty="0"/>
              <a:t> XY</a:t>
            </a:r>
            <a:r>
              <a:rPr lang="zh-CN" altLang="en-US" dirty="0"/>
              <a:t>、</a:t>
            </a:r>
            <a:r>
              <a:rPr lang="en-US" altLang="zh-CN" dirty="0"/>
              <a:t>XZ</a:t>
            </a:r>
            <a:r>
              <a:rPr lang="zh-CN" altLang="en-US" dirty="0"/>
              <a:t>，</a:t>
            </a:r>
            <a:r>
              <a:rPr lang="en-US" altLang="zh-CN" dirty="0"/>
              <a:t> R</a:t>
            </a:r>
            <a:r>
              <a:rPr lang="zh-CN" altLang="en-US" dirty="0"/>
              <a:t>中所有属性都是主属性，不存在非主属性对码的部分依赖或传递依赖，</a:t>
            </a:r>
            <a:r>
              <a:rPr lang="en-US" altLang="zh-CN" dirty="0">
                <a:solidFill>
                  <a:srgbClr val="0000FF"/>
                </a:solidFill>
              </a:rPr>
              <a:t>R∈3NF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R(X,Y,Z)</a:t>
            </a:r>
            <a:r>
              <a:rPr lang="zh-CN" altLang="en-US" dirty="0"/>
              <a:t>，</a:t>
            </a:r>
            <a:r>
              <a:rPr lang="en-US" altLang="zh-CN" dirty="0"/>
              <a:t>F={Y</a:t>
            </a:r>
            <a:r>
              <a:rPr lang="en-US" altLang="zh-CN" dirty="0">
                <a:sym typeface="Wingdings" panose="05000000000000000000" pitchFamily="2" charset="2"/>
              </a:rPr>
              <a:t>Z, YX, XYZ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候选码：</a:t>
            </a:r>
            <a:r>
              <a:rPr lang="en-US" altLang="zh-CN" dirty="0"/>
              <a:t> 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，每一个决定因素都包含码，</a:t>
            </a:r>
            <a:r>
              <a:rPr lang="en-US" altLang="zh-CN" dirty="0">
                <a:solidFill>
                  <a:srgbClr val="0000FF"/>
                </a:solidFill>
              </a:rPr>
              <a:t>R∈BCNF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R(X,Y,Z)</a:t>
            </a:r>
            <a:r>
              <a:rPr lang="zh-CN" altLang="en-US" dirty="0"/>
              <a:t>，</a:t>
            </a:r>
            <a:r>
              <a:rPr lang="en-US" altLang="zh-CN" dirty="0"/>
              <a:t>F={X</a:t>
            </a:r>
            <a:r>
              <a:rPr lang="en-US" altLang="zh-CN" dirty="0">
                <a:sym typeface="Wingdings" panose="05000000000000000000" pitchFamily="2" charset="2"/>
              </a:rPr>
              <a:t>Y, XZ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候选码：</a:t>
            </a:r>
            <a:r>
              <a:rPr lang="en-US" altLang="zh-CN" dirty="0"/>
              <a:t> X</a:t>
            </a:r>
            <a:r>
              <a:rPr lang="zh-CN" altLang="en-US" dirty="0"/>
              <a:t>，</a:t>
            </a:r>
            <a:r>
              <a:rPr lang="en-US" altLang="zh-CN" dirty="0">
                <a:solidFill>
                  <a:srgbClr val="0000FF"/>
                </a:solidFill>
              </a:rPr>
              <a:t>R∈BCNF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R(W,X,Y,Z)</a:t>
            </a:r>
            <a:r>
              <a:rPr lang="zh-CN" altLang="en-US" dirty="0"/>
              <a:t>，</a:t>
            </a:r>
            <a:r>
              <a:rPr lang="en-US" altLang="zh-CN" dirty="0"/>
              <a:t>F={X</a:t>
            </a:r>
            <a:r>
              <a:rPr lang="en-US" altLang="zh-CN" dirty="0">
                <a:sym typeface="Wingdings" panose="05000000000000000000" pitchFamily="2" charset="2"/>
              </a:rPr>
              <a:t>Z, WXY</a:t>
            </a:r>
            <a:r>
              <a:rPr lang="en-US" altLang="zh-CN" dirty="0"/>
              <a:t>}</a:t>
            </a:r>
          </a:p>
          <a:p>
            <a:pPr lvl="1"/>
            <a:r>
              <a:rPr lang="zh-CN" altLang="en-US" dirty="0"/>
              <a:t>候选码：</a:t>
            </a:r>
            <a:r>
              <a:rPr lang="en-US" altLang="zh-CN" dirty="0"/>
              <a:t> XW</a:t>
            </a:r>
            <a:r>
              <a:rPr lang="zh-CN" altLang="en-US" dirty="0"/>
              <a:t>，存在非主属性</a:t>
            </a:r>
            <a:r>
              <a:rPr lang="en-US" altLang="zh-CN" dirty="0"/>
              <a:t>Z</a:t>
            </a:r>
            <a:r>
              <a:rPr lang="zh-CN" altLang="en-US" dirty="0"/>
              <a:t>对码的部分函数依赖，则</a:t>
            </a:r>
            <a:r>
              <a:rPr lang="en-US" altLang="zh-CN" dirty="0">
                <a:solidFill>
                  <a:srgbClr val="0000FF"/>
                </a:solidFill>
              </a:rPr>
              <a:t>R∈1NF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99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90B16AAE-1690-4748-A0C4-483CE30F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函数依赖集等价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定义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6.14 </a:t>
            </a:r>
            <a:r>
              <a:rPr lang="zh-CN" altLang="en-US" dirty="0">
                <a:sym typeface="Calibri" pitchFamily="34" charset="0"/>
              </a:rPr>
              <a:t>如果</a:t>
            </a:r>
            <a:r>
              <a:rPr lang="en-US" altLang="zh-CN" dirty="0"/>
              <a:t>G</a:t>
            </a:r>
            <a:r>
              <a:rPr lang="en-US" altLang="zh-CN" baseline="30000" dirty="0"/>
              <a:t>+ 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dirty="0"/>
              <a:t> F</a:t>
            </a:r>
            <a:r>
              <a:rPr lang="en-US" altLang="zh-CN" baseline="30000" dirty="0"/>
              <a:t>+</a:t>
            </a:r>
            <a:r>
              <a:rPr lang="zh-CN" altLang="en-US" dirty="0">
                <a:sym typeface="Calibri" pitchFamily="34" charset="0"/>
              </a:rPr>
              <a:t>，就说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函数依赖集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覆盖</a:t>
            </a:r>
            <a:r>
              <a:rPr lang="en-US" altLang="zh-CN" dirty="0">
                <a:solidFill>
                  <a:srgbClr val="C00000"/>
                </a:solidFill>
                <a:sym typeface="Calibri" pitchFamily="34" charset="0"/>
              </a:rPr>
              <a:t>G </a:t>
            </a:r>
            <a:r>
              <a:rPr lang="en-US" altLang="zh-CN" dirty="0">
                <a:sym typeface="Calibri" pitchFamily="34" charset="0"/>
              </a:rPr>
              <a:t>(F 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的覆盖，或</a:t>
            </a:r>
            <a:r>
              <a:rPr lang="en-US" altLang="zh-CN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的覆盖</a:t>
            </a:r>
            <a:r>
              <a:rPr lang="en-US" altLang="zh-CN" dirty="0">
                <a:sym typeface="Calibri" pitchFamily="34" charset="0"/>
              </a:rPr>
              <a:t>)</a:t>
            </a:r>
            <a:r>
              <a:rPr lang="zh-CN" altLang="en-US" dirty="0">
                <a:sym typeface="Calibri" pitchFamily="34" charset="0"/>
              </a:rPr>
              <a:t>，或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等价。</a:t>
            </a:r>
            <a:endParaRPr lang="en-US" altLang="zh-CN" dirty="0">
              <a:sym typeface="Calibri" pitchFamily="34" charset="0"/>
            </a:endParaRPr>
          </a:p>
          <a:p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引理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6.3  </a:t>
            </a:r>
            <a:r>
              <a:rPr lang="en-US" altLang="zh-CN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>
                <a:sym typeface="Calibri" pitchFamily="34" charset="0"/>
              </a:rPr>
              <a:t>=</a:t>
            </a:r>
            <a:r>
              <a:rPr lang="en-US" altLang="zh-CN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>
                <a:sym typeface="Calibri" pitchFamily="34" charset="0"/>
              </a:rPr>
              <a:t>的充分必要条件是</a:t>
            </a:r>
            <a:r>
              <a:rPr lang="en-US" altLang="zh-CN" dirty="0">
                <a:sym typeface="Calibri" pitchFamily="34" charset="0"/>
              </a:rPr>
              <a:t>F </a:t>
            </a:r>
            <a:r>
              <a:rPr lang="en-US" altLang="zh-CN" dirty="0">
                <a:sym typeface="Symbol" pitchFamily="18" charset="2"/>
              </a:rPr>
              <a:t> </a:t>
            </a:r>
            <a:r>
              <a:rPr lang="en-US" altLang="zh-CN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dirty="0">
                <a:sym typeface="Calibri" pitchFamily="34" charset="0"/>
              </a:rPr>
              <a:t>G 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>
                <a:sym typeface="Calibri" pitchFamily="34" charset="0"/>
              </a:rPr>
              <a:t> </a:t>
            </a:r>
            <a:r>
              <a:rPr lang="en-US" altLang="zh-CN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证</a:t>
            </a:r>
            <a:r>
              <a:rPr lang="en-US" altLang="zh-CN" dirty="0">
                <a:ea typeface="黑体" panose="02010609060101010101" pitchFamily="49" charset="-122"/>
              </a:rPr>
              <a:t>:  </a:t>
            </a:r>
            <a:r>
              <a:rPr lang="zh-CN" altLang="en-US" dirty="0"/>
              <a:t>必要性显然，只证充分性。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）若</a:t>
            </a:r>
            <a:r>
              <a:rPr lang="en-US" altLang="zh-CN" dirty="0"/>
              <a:t>F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G</a:t>
            </a:r>
            <a:r>
              <a:rPr lang="en-US" altLang="zh-CN" baseline="30000" dirty="0"/>
              <a:t>+ </a:t>
            </a:r>
            <a:r>
              <a:rPr lang="zh-CN" altLang="en-US" dirty="0"/>
              <a:t>，则</a:t>
            </a:r>
            <a:r>
              <a:rPr lang="en-US" altLang="zh-CN" dirty="0"/>
              <a:t>X</a:t>
            </a:r>
            <a:r>
              <a:rPr lang="en-US" altLang="zh-CN" baseline="-30000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en-US" altLang="zh-CN" baseline="-30000" dirty="0"/>
              <a:t>G+</a:t>
            </a:r>
            <a:r>
              <a:rPr lang="en-US" altLang="zh-CN" baseline="30000" dirty="0"/>
              <a:t>+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）任取</a:t>
            </a:r>
            <a:r>
              <a:rPr lang="en-US" altLang="zh-CN" dirty="0"/>
              <a:t>X→Y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F</a:t>
            </a:r>
            <a:r>
              <a:rPr lang="en-US" altLang="zh-CN" baseline="30000" dirty="0"/>
              <a:t>+  </a:t>
            </a:r>
            <a:r>
              <a:rPr lang="zh-CN" altLang="en-US" dirty="0"/>
              <a:t>则有 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X</a:t>
            </a:r>
            <a:r>
              <a:rPr lang="en-US" altLang="zh-CN" baseline="-30000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dirty="0"/>
              <a:t>X</a:t>
            </a:r>
            <a:r>
              <a:rPr lang="en-US" altLang="zh-CN" baseline="-30000" dirty="0"/>
              <a:t>G+</a:t>
            </a:r>
            <a:r>
              <a:rPr lang="en-US" altLang="zh-CN" baseline="30000" dirty="0"/>
              <a:t>+ 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    </a:t>
            </a:r>
            <a:r>
              <a:rPr lang="zh-CN" altLang="en-US" dirty="0"/>
              <a:t>所以</a:t>
            </a:r>
            <a:r>
              <a:rPr lang="en-US" altLang="zh-CN" dirty="0"/>
              <a:t>X→Y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(G</a:t>
            </a:r>
            <a:r>
              <a:rPr lang="en-US" altLang="zh-CN" baseline="30000" dirty="0"/>
              <a:t>+</a:t>
            </a:r>
            <a:r>
              <a:rPr lang="en-US" altLang="zh-CN" dirty="0"/>
              <a:t>)</a:t>
            </a:r>
            <a:r>
              <a:rPr lang="en-US" altLang="zh-CN" baseline="30000" dirty="0"/>
              <a:t>+</a:t>
            </a:r>
            <a:r>
              <a:rPr lang="en-US" altLang="zh-CN" dirty="0"/>
              <a:t>= G</a:t>
            </a:r>
            <a:r>
              <a:rPr lang="en-US" altLang="zh-CN" baseline="30000" dirty="0"/>
              <a:t>+</a:t>
            </a:r>
            <a:r>
              <a:rPr lang="zh-CN" altLang="en-US" dirty="0"/>
              <a:t>。即</a:t>
            </a:r>
            <a:r>
              <a:rPr lang="en-US" altLang="zh-CN" dirty="0"/>
              <a:t>F</a:t>
            </a:r>
            <a:r>
              <a:rPr lang="en-US" altLang="zh-CN" baseline="30000" dirty="0" smtClean="0"/>
              <a:t>+</a:t>
            </a:r>
            <a:r>
              <a:rPr lang="en-US" altLang="zh-CN" dirty="0" smtClean="0">
                <a:sym typeface="Symbol" panose="05050102010706020507" pitchFamily="18" charset="2"/>
              </a:rPr>
              <a:t>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 smtClean="0"/>
              <a:t>G</a:t>
            </a:r>
            <a:r>
              <a:rPr lang="en-US" altLang="zh-CN" baseline="30000" dirty="0"/>
              <a:t>+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）同理可证</a:t>
            </a:r>
            <a:r>
              <a:rPr lang="en-US" altLang="zh-CN" dirty="0" smtClean="0"/>
              <a:t>G</a:t>
            </a:r>
            <a:r>
              <a:rPr lang="en-US" altLang="zh-CN" baseline="50000" dirty="0">
                <a:sym typeface="Calibri" pitchFamily="34" charset="0"/>
              </a:rPr>
              <a:t> </a:t>
            </a:r>
            <a:r>
              <a:rPr lang="en-US" altLang="zh-CN" baseline="50000" dirty="0" smtClean="0">
                <a:sym typeface="Calibri" pitchFamily="34" charset="0"/>
              </a:rPr>
              <a:t>+</a:t>
            </a:r>
            <a:r>
              <a:rPr lang="en-US" altLang="zh-CN" dirty="0" smtClean="0">
                <a:sym typeface="Symbol" panose="05050102010706020507" pitchFamily="18" charset="2"/>
              </a:rPr>
              <a:t></a:t>
            </a:r>
            <a:r>
              <a:rPr lang="en-US" altLang="zh-CN" dirty="0" smtClean="0"/>
              <a:t> </a:t>
            </a:r>
            <a:r>
              <a:rPr lang="en-US" altLang="zh-CN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，所以</a:t>
            </a:r>
            <a:r>
              <a:rPr lang="en-US" altLang="zh-CN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/>
              <a:t>= G</a:t>
            </a:r>
            <a:r>
              <a:rPr lang="en-US" altLang="zh-CN" baseline="30000" dirty="0"/>
              <a:t>+</a:t>
            </a:r>
            <a:r>
              <a:rPr lang="zh-CN" altLang="en-US" dirty="0"/>
              <a:t>。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63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90B16AAE-1690-4748-A0C4-483CE30F4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函数依赖集等价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47082"/>
            <a:ext cx="10515600" cy="1818795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>
                <a:sym typeface="Times New Roman" pitchFamily="18" charset="0"/>
              </a:rPr>
              <a:t>例题：</a:t>
            </a:r>
            <a:r>
              <a:rPr lang="zh-CN" altLang="en-US" dirty="0"/>
              <a:t>已知</a:t>
            </a:r>
            <a:r>
              <a:rPr lang="it-IT" altLang="zh-CN" dirty="0"/>
              <a:t>F={AB→C, C→DE, A→BD, D→E}</a:t>
            </a:r>
            <a:r>
              <a:rPr lang="zh-CN" altLang="en-US" dirty="0"/>
              <a:t>和</a:t>
            </a:r>
            <a:r>
              <a:rPr lang="it-IT" altLang="zh-CN" dirty="0"/>
              <a:t>G={A→C, C→D, A→B, D→E},</a:t>
            </a:r>
            <a:r>
              <a:rPr lang="zh-CN" altLang="en-US" dirty="0"/>
              <a:t>请判断</a:t>
            </a:r>
            <a:r>
              <a:rPr lang="it-IT" altLang="zh-CN" dirty="0"/>
              <a:t>F</a:t>
            </a:r>
            <a:r>
              <a:rPr lang="zh-CN" altLang="en-US" dirty="0"/>
              <a:t>与</a:t>
            </a:r>
            <a:r>
              <a:rPr lang="it-IT" altLang="zh-CN" dirty="0"/>
              <a:t>G</a:t>
            </a:r>
            <a:r>
              <a:rPr lang="zh-CN" altLang="en-US" dirty="0"/>
              <a:t>是否等价</a:t>
            </a:r>
            <a:r>
              <a:rPr lang="en-US" altLang="zh-CN" dirty="0"/>
              <a:t>?</a:t>
            </a:r>
            <a:endParaRPr lang="en-US" altLang="zh-CN" dirty="0">
              <a:sym typeface="Times New Roman" pitchFamily="18" charset="0"/>
            </a:endParaRPr>
          </a:p>
          <a:p>
            <a:pPr lvl="1"/>
            <a:r>
              <a:rPr lang="zh-CN" altLang="en-US" dirty="0">
                <a:sym typeface="Calibri" pitchFamily="34" charset="0"/>
              </a:rPr>
              <a:t>根据引理</a:t>
            </a:r>
            <a:r>
              <a:rPr lang="en-US" altLang="zh-CN" dirty="0">
                <a:sym typeface="Calibri" pitchFamily="34" charset="0"/>
              </a:rPr>
              <a:t>6.3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zh-CN" altLang="en-US" dirty="0"/>
              <a:t>要判定</a:t>
            </a:r>
            <a:r>
              <a:rPr lang="en-US" altLang="zh-CN" dirty="0"/>
              <a:t>F</a:t>
            </a:r>
            <a:r>
              <a:rPr lang="en-US" altLang="zh-CN" baseline="30000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G</a:t>
            </a:r>
            <a:r>
              <a:rPr lang="en-US" altLang="zh-CN" baseline="30000" dirty="0"/>
              <a:t>+</a:t>
            </a:r>
            <a:r>
              <a:rPr lang="zh-CN" altLang="en-US" dirty="0"/>
              <a:t>只须</a:t>
            </a:r>
            <a:r>
              <a:rPr lang="zh-CN" altLang="en-US" dirty="0">
                <a:solidFill>
                  <a:srgbClr val="0000FF"/>
                </a:solidFill>
              </a:rPr>
              <a:t>逐一对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zh-CN" altLang="en-US" dirty="0">
                <a:solidFill>
                  <a:srgbClr val="0000FF"/>
                </a:solidFill>
              </a:rPr>
              <a:t>中的函数依赖</a:t>
            </a:r>
            <a:r>
              <a:rPr lang="en-US" altLang="zh-CN" dirty="0">
                <a:solidFill>
                  <a:srgbClr val="0000FF"/>
                </a:solidFill>
              </a:rPr>
              <a:t>X→Y</a:t>
            </a:r>
            <a:r>
              <a:rPr lang="zh-CN" altLang="en-US" dirty="0">
                <a:solidFill>
                  <a:srgbClr val="0000FF"/>
                </a:solidFill>
              </a:rPr>
              <a:t>，考察</a:t>
            </a:r>
            <a:r>
              <a:rPr lang="en-US" altLang="zh-CN" dirty="0">
                <a:solidFill>
                  <a:srgbClr val="0000FF"/>
                </a:solidFill>
              </a:rPr>
              <a:t>Y</a:t>
            </a:r>
            <a:r>
              <a:rPr lang="zh-CN" altLang="en-US" dirty="0">
                <a:solidFill>
                  <a:srgbClr val="0000FF"/>
                </a:solidFill>
              </a:rPr>
              <a:t>是否属于</a:t>
            </a:r>
            <a:r>
              <a:rPr lang="en-US" altLang="zh-CN" dirty="0">
                <a:solidFill>
                  <a:srgbClr val="0000FF"/>
                </a:solidFill>
              </a:rPr>
              <a:t>X</a:t>
            </a:r>
            <a:r>
              <a:rPr lang="en-US" altLang="zh-CN" baseline="-30000" dirty="0">
                <a:solidFill>
                  <a:srgbClr val="0000FF"/>
                </a:solidFill>
              </a:rPr>
              <a:t>G+</a:t>
            </a:r>
            <a:r>
              <a:rPr lang="en-US" altLang="zh-CN" baseline="30000" dirty="0">
                <a:solidFill>
                  <a:srgbClr val="0000FF"/>
                </a:solidFill>
              </a:rPr>
              <a:t>+ 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en-US" altLang="zh-CN" dirty="0">
              <a:solidFill>
                <a:srgbClr val="0000FF"/>
              </a:solidFill>
              <a:sym typeface="Times New Roman" pitchFamily="18" charset="0"/>
            </a:endParaRPr>
          </a:p>
          <a:p>
            <a:r>
              <a:rPr lang="zh-CN" altLang="en-US" dirty="0"/>
              <a:t>解</a:t>
            </a:r>
            <a:r>
              <a:rPr lang="en-US" altLang="zh-CN" dirty="0"/>
              <a:t>: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xmlns="" id="{6D85DD31-ACC7-4614-8B4A-C30DCBAB2F96}"/>
              </a:ext>
            </a:extLst>
          </p:cNvPr>
          <p:cNvSpPr/>
          <p:nvPr/>
        </p:nvSpPr>
        <p:spPr>
          <a:xfrm>
            <a:off x="6246031" y="3036198"/>
            <a:ext cx="494944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（</a:t>
            </a:r>
            <a:r>
              <a:rPr lang="en-US" altLang="zh-CN" sz="2000" dirty="0"/>
              <a:t>2)</a:t>
            </a:r>
            <a:r>
              <a:rPr lang="zh-CN" altLang="en-US" sz="2000" dirty="0"/>
              <a:t>判定</a:t>
            </a:r>
            <a:r>
              <a:rPr lang="en-US" altLang="zh-CN" sz="2000" dirty="0"/>
              <a:t>G⊆F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 ：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A</a:t>
            </a:r>
            <a:r>
              <a:rPr lang="en-US" altLang="zh-CN" sz="2000" baseline="-30000" dirty="0"/>
              <a:t>F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=ABCDE,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A→C∈F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, A→B∈F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C</a:t>
            </a:r>
            <a:r>
              <a:rPr lang="en-US" altLang="zh-CN" sz="2000" baseline="-30000" dirty="0"/>
              <a:t>F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=CDE,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C→D∈F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D</a:t>
            </a:r>
            <a:r>
              <a:rPr lang="en-US" altLang="zh-CN" sz="2000" baseline="-30000" dirty="0"/>
              <a:t>F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D→E∈F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∴G⊆F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成立</a:t>
            </a:r>
            <a:endParaRPr lang="en-US" altLang="zh-CN" sz="20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xmlns="" id="{62980A8F-5C1E-4F57-ACFC-56D008A8A2C6}"/>
              </a:ext>
            </a:extLst>
          </p:cNvPr>
          <p:cNvSpPr/>
          <p:nvPr/>
        </p:nvSpPr>
        <p:spPr>
          <a:xfrm>
            <a:off x="792796" y="2959289"/>
            <a:ext cx="533321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（</a:t>
            </a:r>
            <a:r>
              <a:rPr lang="en-US" altLang="zh-CN" sz="2000" dirty="0"/>
              <a:t>1)</a:t>
            </a:r>
            <a:r>
              <a:rPr lang="zh-CN" altLang="en-US" sz="2000" dirty="0"/>
              <a:t>判定</a:t>
            </a:r>
            <a:r>
              <a:rPr lang="en-US" altLang="zh-CN" sz="2000" dirty="0"/>
              <a:t>F⊆G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：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(AB)</a:t>
            </a:r>
            <a:r>
              <a:rPr lang="en-US" altLang="zh-CN" sz="2000" baseline="-30000" dirty="0"/>
              <a:t> G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=ABCDE,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AB→C∈G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,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C</a:t>
            </a:r>
            <a:r>
              <a:rPr lang="en-US" altLang="zh-CN" sz="2000" baseline="-30000" dirty="0"/>
              <a:t> G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=CDE,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C→DE∈G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D</a:t>
            </a:r>
            <a:r>
              <a:rPr lang="en-US" altLang="zh-CN" sz="2000" baseline="-30000" dirty="0"/>
              <a:t> G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D→E∈G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zh-CN" altLang="en-US" sz="2000" dirty="0"/>
              <a:t>因为</a:t>
            </a:r>
            <a:r>
              <a:rPr lang="en-US" altLang="zh-CN" sz="2000" dirty="0"/>
              <a:t>A</a:t>
            </a:r>
            <a:r>
              <a:rPr lang="en-US" altLang="zh-CN" sz="2000" baseline="-30000" dirty="0"/>
              <a:t> G</a:t>
            </a:r>
            <a:r>
              <a:rPr lang="en-US" altLang="zh-CN" sz="2000" baseline="30000" dirty="0"/>
              <a:t>+ </a:t>
            </a:r>
            <a:r>
              <a:rPr lang="en-US" altLang="zh-CN" sz="2000" dirty="0"/>
              <a:t>=ACBDE, </a:t>
            </a:r>
            <a:r>
              <a:rPr lang="zh-CN" altLang="en-US" sz="2000" dirty="0"/>
              <a:t>所以</a:t>
            </a:r>
            <a:r>
              <a:rPr lang="en-US" altLang="zh-CN" sz="2000" dirty="0"/>
              <a:t>A→D∈G</a:t>
            </a:r>
            <a:r>
              <a:rPr lang="en-US" altLang="zh-CN" sz="2000" baseline="30000" dirty="0"/>
              <a:t>+</a:t>
            </a:r>
            <a:r>
              <a:rPr lang="en-US" altLang="zh-CN" sz="2000" dirty="0"/>
              <a:t>, A→B∈G</a:t>
            </a:r>
            <a:r>
              <a:rPr lang="en-US" altLang="zh-CN" sz="2000" baseline="30000" dirty="0"/>
              <a:t>+</a:t>
            </a:r>
            <a:endParaRPr lang="en-US" altLang="zh-CN" sz="2000" dirty="0"/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altLang="zh-CN" sz="2000" dirty="0"/>
              <a:t>∴F⊆G</a:t>
            </a:r>
            <a:r>
              <a:rPr lang="en-US" altLang="zh-CN" sz="2000" baseline="30000" dirty="0"/>
              <a:t>+</a:t>
            </a:r>
            <a:r>
              <a:rPr lang="zh-CN" altLang="en-US" sz="2000" dirty="0"/>
              <a:t>成立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4529737F-D5B4-4F0A-9704-F32846F8E77C}"/>
              </a:ext>
            </a:extLst>
          </p:cNvPr>
          <p:cNvSpPr/>
          <p:nvPr/>
        </p:nvSpPr>
        <p:spPr>
          <a:xfrm>
            <a:off x="3697253" y="5925942"/>
            <a:ext cx="3869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∴</a:t>
            </a:r>
            <a:r>
              <a:rPr lang="en-US" altLang="zh-CN" sz="2400" dirty="0"/>
              <a:t> F</a:t>
            </a:r>
            <a:r>
              <a:rPr lang="en-US" altLang="zh-CN" sz="2400" baseline="30000" dirty="0"/>
              <a:t>+ </a:t>
            </a:r>
            <a:r>
              <a:rPr lang="en-US" altLang="zh-CN" sz="2400" dirty="0"/>
              <a:t>= G</a:t>
            </a:r>
            <a:r>
              <a:rPr lang="en-US" altLang="zh-CN" sz="2400" baseline="30000" dirty="0"/>
              <a:t>+ </a:t>
            </a:r>
            <a:r>
              <a:rPr lang="zh-CN" altLang="en-US" sz="2400" dirty="0"/>
              <a:t>，即</a:t>
            </a:r>
            <a:r>
              <a:rPr lang="en-US" altLang="zh-CN" sz="2400" dirty="0"/>
              <a:t>F</a:t>
            </a:r>
            <a:r>
              <a:rPr lang="zh-CN" altLang="en-US" sz="2400" dirty="0"/>
              <a:t>与</a:t>
            </a:r>
            <a:r>
              <a:rPr lang="en-US" altLang="zh-CN" sz="2400" dirty="0"/>
              <a:t>G</a:t>
            </a:r>
            <a:r>
              <a:rPr lang="zh-CN" altLang="en-US" sz="2400" dirty="0"/>
              <a:t>等价。</a:t>
            </a:r>
            <a:endParaRPr lang="en-US" altLang="zh-CN" sz="2400" dirty="0">
              <a:sym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28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034AC568-E67E-480E-9EE6-842AADBE3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最小依赖集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FD5B294-E970-4EC7-96A6-6921683DF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定义</a:t>
            </a:r>
            <a:r>
              <a:rPr lang="en-US" altLang="zh-CN" dirty="0">
                <a:solidFill>
                  <a:srgbClr val="0000FF"/>
                </a:solidFill>
              </a:rPr>
              <a:t>6.15</a:t>
            </a:r>
            <a:r>
              <a:rPr lang="en-US" altLang="zh-CN" dirty="0"/>
              <a:t>  </a:t>
            </a:r>
            <a:r>
              <a:rPr lang="zh-CN" altLang="en-US" dirty="0"/>
              <a:t>如果函数依赖集</a:t>
            </a:r>
            <a:r>
              <a:rPr lang="en-US" altLang="zh-CN" dirty="0"/>
              <a:t>F</a:t>
            </a:r>
            <a:r>
              <a:rPr lang="zh-CN" altLang="en-US" dirty="0"/>
              <a:t>满足下列条件，则称</a:t>
            </a:r>
            <a:r>
              <a:rPr lang="en-US" altLang="zh-CN" dirty="0"/>
              <a:t>F</a:t>
            </a:r>
            <a:r>
              <a:rPr lang="zh-CN" altLang="en-US" dirty="0"/>
              <a:t>为一个极小函数依赖集，或称</a:t>
            </a:r>
            <a:r>
              <a:rPr lang="zh-CN" altLang="en-US" dirty="0">
                <a:solidFill>
                  <a:srgbClr val="C00000"/>
                </a:solidFill>
              </a:rPr>
              <a:t>最小依赖集、最小覆盖</a:t>
            </a:r>
            <a:r>
              <a:rPr lang="en-US" altLang="zh-CN" dirty="0">
                <a:solidFill>
                  <a:srgbClr val="C00000"/>
                </a:solidFill>
              </a:rPr>
              <a:t>(minimal cover)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F</a:t>
            </a:r>
            <a:r>
              <a:rPr lang="zh-CN" altLang="en-US" dirty="0"/>
              <a:t>中任一函数依赖的右部仅含有一个属性</a:t>
            </a:r>
            <a:r>
              <a:rPr lang="en-US" altLang="zh-CN" dirty="0"/>
              <a:t>;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F</a:t>
            </a:r>
            <a:r>
              <a:rPr lang="zh-CN" altLang="en-US" dirty="0"/>
              <a:t>中不存在这样的函数依赖</a:t>
            </a:r>
            <a:r>
              <a:rPr lang="en-US" altLang="zh-CN" dirty="0"/>
              <a:t>X→A</a:t>
            </a:r>
            <a:r>
              <a:rPr lang="zh-CN" altLang="en-US" dirty="0"/>
              <a:t>，使得</a:t>
            </a:r>
            <a:r>
              <a:rPr lang="en-US" altLang="zh-CN" dirty="0"/>
              <a:t>F</a:t>
            </a:r>
            <a:r>
              <a:rPr lang="zh-CN" altLang="en-US" dirty="0"/>
              <a:t>与</a:t>
            </a:r>
            <a:r>
              <a:rPr lang="en-US" altLang="zh-CN" dirty="0"/>
              <a:t>F−{X→A}</a:t>
            </a:r>
            <a:r>
              <a:rPr lang="zh-CN" altLang="en-US" dirty="0"/>
              <a:t>等价</a:t>
            </a:r>
            <a:r>
              <a:rPr lang="en-US" altLang="zh-CN" dirty="0"/>
              <a:t>;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F</a:t>
            </a:r>
            <a:r>
              <a:rPr lang="zh-CN" altLang="en-US" dirty="0"/>
              <a:t>中不存在这样的函数依赖</a:t>
            </a:r>
            <a:r>
              <a:rPr lang="en-US" altLang="zh-CN" dirty="0"/>
              <a:t>X→A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有真子集</a:t>
            </a:r>
            <a:r>
              <a:rPr lang="en-US" altLang="zh-CN" dirty="0"/>
              <a:t>Z</a:t>
            </a:r>
            <a:r>
              <a:rPr lang="zh-CN" altLang="en-US" dirty="0"/>
              <a:t>使得</a:t>
            </a:r>
            <a:r>
              <a:rPr lang="en-US" altLang="zh-CN" dirty="0"/>
              <a:t>F−{X→A }∪{Z→A}</a:t>
            </a:r>
            <a:r>
              <a:rPr lang="zh-CN" altLang="en-US" dirty="0"/>
              <a:t>与</a:t>
            </a:r>
            <a:r>
              <a:rPr lang="en-US" altLang="zh-CN" dirty="0"/>
              <a:t>F</a:t>
            </a:r>
            <a:r>
              <a:rPr lang="zh-CN" altLang="en-US" dirty="0"/>
              <a:t>等价。</a:t>
            </a:r>
            <a:endParaRPr lang="en-US" altLang="zh-CN" dirty="0"/>
          </a:p>
          <a:p>
            <a:pPr lvl="2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）即，对于</a:t>
            </a:r>
            <a:r>
              <a:rPr lang="en-US" altLang="zh-CN" dirty="0"/>
              <a:t>F</a:t>
            </a:r>
            <a:r>
              <a:rPr lang="zh-CN" altLang="en-US" dirty="0"/>
              <a:t>中的每个函数依赖，它的左部要尽量简化。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96E204B-0DC1-40F1-B1E6-0531EBA8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23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FD5B294-E970-4EC7-96A6-6921683DF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[</a:t>
            </a:r>
            <a:r>
              <a:rPr lang="zh-CN" altLang="en-US" dirty="0"/>
              <a:t>例</a:t>
            </a:r>
            <a:r>
              <a:rPr lang="en-US" altLang="zh-CN" dirty="0"/>
              <a:t>12] </a:t>
            </a:r>
            <a:r>
              <a:rPr lang="zh-CN" altLang="en-US" dirty="0"/>
              <a:t>考察</a:t>
            </a:r>
            <a:r>
              <a:rPr lang="en-US" altLang="zh-CN" dirty="0"/>
              <a:t>6.1</a:t>
            </a:r>
            <a:r>
              <a:rPr lang="zh-CN" altLang="en-US" dirty="0"/>
              <a:t>节中的关系模式</a:t>
            </a:r>
            <a:r>
              <a:rPr lang="en-US" altLang="zh-CN" dirty="0"/>
              <a:t>S&lt;U,F&gt;</a:t>
            </a:r>
            <a:r>
              <a:rPr lang="zh-CN" altLang="en-US" dirty="0"/>
              <a:t>，其中</a:t>
            </a:r>
            <a:endParaRPr lang="en-US" altLang="zh-CN" dirty="0"/>
          </a:p>
          <a:p>
            <a:pPr lvl="1"/>
            <a:r>
              <a:rPr lang="en-US" altLang="zh-CN" dirty="0">
                <a:sym typeface="Calibri" pitchFamily="34" charset="0"/>
              </a:rPr>
              <a:t>U = { S</a:t>
            </a:r>
            <a:r>
              <a:rPr lang="zh-CN" altLang="en-US" dirty="0">
                <a:sym typeface="Calibri" pitchFamily="34" charset="0"/>
              </a:rPr>
              <a:t>no, </a:t>
            </a:r>
            <a:r>
              <a:rPr lang="en-US" altLang="zh-CN" dirty="0">
                <a:sym typeface="Calibri" pitchFamily="34" charset="0"/>
              </a:rPr>
              <a:t>S</a:t>
            </a:r>
            <a:r>
              <a:rPr lang="zh-CN" altLang="en-US" dirty="0">
                <a:sym typeface="Calibri" pitchFamily="34" charset="0"/>
              </a:rPr>
              <a:t>dept, </a:t>
            </a:r>
            <a:r>
              <a:rPr lang="en-US" altLang="zh-CN" dirty="0">
                <a:sym typeface="Calibri" pitchFamily="34" charset="0"/>
              </a:rPr>
              <a:t>M</a:t>
            </a:r>
            <a:r>
              <a:rPr lang="zh-CN" altLang="en-US" dirty="0">
                <a:sym typeface="Calibri" pitchFamily="34" charset="0"/>
              </a:rPr>
              <a:t>name, </a:t>
            </a:r>
            <a:r>
              <a:rPr lang="en-US" altLang="zh-CN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no, </a:t>
            </a:r>
            <a:r>
              <a:rPr lang="en-US" altLang="zh-CN" dirty="0">
                <a:sym typeface="Calibri" pitchFamily="34" charset="0"/>
              </a:rPr>
              <a:t>G</a:t>
            </a:r>
            <a:r>
              <a:rPr lang="zh-CN" altLang="en-US" dirty="0">
                <a:sym typeface="Calibri" pitchFamily="34" charset="0"/>
              </a:rPr>
              <a:t>rade </a:t>
            </a:r>
            <a:r>
              <a:rPr lang="en-US" altLang="zh-CN" dirty="0">
                <a:sym typeface="Calibri" pitchFamily="34" charset="0"/>
              </a:rPr>
              <a:t>}</a:t>
            </a:r>
            <a:r>
              <a:rPr lang="zh-CN" altLang="en-US" dirty="0">
                <a:sym typeface="Calibri" pitchFamily="34" charset="0"/>
              </a:rPr>
              <a:t>，</a:t>
            </a:r>
          </a:p>
          <a:p>
            <a:pPr lvl="1"/>
            <a:r>
              <a:rPr lang="en-US" altLang="zh-CN" dirty="0">
                <a:sym typeface="Calibri" pitchFamily="34" charset="0"/>
              </a:rPr>
              <a:t>F = { S</a:t>
            </a:r>
            <a:r>
              <a:rPr lang="zh-CN" altLang="en-US" dirty="0">
                <a:sym typeface="Calibri" pitchFamily="34" charset="0"/>
              </a:rPr>
              <a:t>no </a:t>
            </a:r>
            <a:r>
              <a:rPr lang="en-US" altLang="zh-CN" dirty="0">
                <a:sym typeface="Calibri" pitchFamily="34" charset="0"/>
              </a:rPr>
              <a:t>→ S</a:t>
            </a:r>
            <a:r>
              <a:rPr lang="zh-CN" altLang="en-US" dirty="0">
                <a:sym typeface="Calibri" pitchFamily="34" charset="0"/>
              </a:rPr>
              <a:t>dept, </a:t>
            </a:r>
            <a:r>
              <a:rPr lang="en-US" altLang="zh-CN" dirty="0">
                <a:sym typeface="Calibri" pitchFamily="34" charset="0"/>
              </a:rPr>
              <a:t>S</a:t>
            </a:r>
            <a:r>
              <a:rPr lang="zh-CN" altLang="en-US" dirty="0">
                <a:sym typeface="Calibri" pitchFamily="34" charset="0"/>
              </a:rPr>
              <a:t>dept </a:t>
            </a:r>
            <a:r>
              <a:rPr lang="en-US" altLang="zh-CN" dirty="0">
                <a:sym typeface="Calibri" pitchFamily="34" charset="0"/>
              </a:rPr>
              <a:t>→ M</a:t>
            </a:r>
            <a:r>
              <a:rPr lang="zh-CN" altLang="en-US" dirty="0">
                <a:sym typeface="Calibri" pitchFamily="34" charset="0"/>
              </a:rPr>
              <a:t>name, </a:t>
            </a:r>
            <a:r>
              <a:rPr lang="en-US" altLang="zh-CN" dirty="0">
                <a:sym typeface="Calibri" pitchFamily="34" charset="0"/>
              </a:rPr>
              <a:t>(S</a:t>
            </a:r>
            <a:r>
              <a:rPr lang="zh-CN" altLang="en-US" dirty="0">
                <a:sym typeface="Calibri" pitchFamily="34" charset="0"/>
              </a:rPr>
              <a:t>no,</a:t>
            </a:r>
            <a:r>
              <a:rPr lang="en-US" altLang="zh-CN" dirty="0">
                <a:sym typeface="Calibri" pitchFamily="34" charset="0"/>
              </a:rPr>
              <a:t>C</a:t>
            </a:r>
            <a:r>
              <a:rPr lang="zh-CN" altLang="en-US" dirty="0">
                <a:sym typeface="Calibri" pitchFamily="34" charset="0"/>
              </a:rPr>
              <a:t>no</a:t>
            </a:r>
            <a:r>
              <a:rPr lang="en-US" altLang="zh-CN" dirty="0">
                <a:sym typeface="Calibri" pitchFamily="34" charset="0"/>
              </a:rPr>
              <a:t>) </a:t>
            </a:r>
            <a:r>
              <a:rPr lang="zh-CN" altLang="en-US" dirty="0">
                <a:sym typeface="Calibri" pitchFamily="34" charset="0"/>
              </a:rPr>
              <a:t>→ </a:t>
            </a:r>
            <a:r>
              <a:rPr lang="en-US" altLang="zh-CN" dirty="0">
                <a:sym typeface="Calibri" pitchFamily="34" charset="0"/>
              </a:rPr>
              <a:t>Gr</a:t>
            </a:r>
            <a:r>
              <a:rPr lang="zh-CN" altLang="en-US" dirty="0">
                <a:sym typeface="Calibri" pitchFamily="34" charset="0"/>
              </a:rPr>
              <a:t>ade </a:t>
            </a:r>
            <a:r>
              <a:rPr lang="en-US" altLang="zh-CN" dirty="0">
                <a:sym typeface="Calibri" pitchFamily="34" charset="0"/>
              </a:rPr>
              <a:t>}</a:t>
            </a:r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F'={</a:t>
            </a:r>
            <a:r>
              <a:rPr lang="en-US" altLang="zh-CN" dirty="0" err="1"/>
              <a:t>Sno→Sdept</a:t>
            </a:r>
            <a:r>
              <a:rPr lang="en-US" altLang="zh-CN" dirty="0"/>
              <a:t>, </a:t>
            </a:r>
            <a:r>
              <a:rPr lang="en-US" altLang="zh-CN" dirty="0" err="1"/>
              <a:t>Sno→Mname</a:t>
            </a:r>
            <a:r>
              <a:rPr lang="en-US" altLang="zh-CN" dirty="0"/>
              <a:t>, </a:t>
            </a:r>
            <a:r>
              <a:rPr lang="en-US" altLang="zh-CN" dirty="0" err="1"/>
              <a:t>Sdept→Mname</a:t>
            </a:r>
            <a:r>
              <a:rPr lang="en-US" altLang="zh-CN" dirty="0"/>
              <a:t>,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Cno</a:t>
            </a:r>
            <a:r>
              <a:rPr lang="en-US" altLang="zh-CN" dirty="0"/>
              <a:t>)→Grade, (</a:t>
            </a:r>
            <a:r>
              <a:rPr lang="en-US" altLang="zh-CN" dirty="0" err="1"/>
              <a:t>Sno</a:t>
            </a:r>
            <a:r>
              <a:rPr lang="en-US" altLang="zh-CN" dirty="0"/>
              <a:t>, </a:t>
            </a:r>
            <a:r>
              <a:rPr lang="en-US" altLang="zh-CN" dirty="0" err="1"/>
              <a:t>Sdept</a:t>
            </a:r>
            <a:r>
              <a:rPr lang="en-US" altLang="zh-CN" dirty="0"/>
              <a:t>)→</a:t>
            </a:r>
            <a:r>
              <a:rPr lang="en-US" altLang="zh-CN" dirty="0" err="1"/>
              <a:t>Sdept</a:t>
            </a:r>
            <a:r>
              <a:rPr lang="en-US" altLang="zh-CN" dirty="0"/>
              <a:t> }</a:t>
            </a:r>
          </a:p>
          <a:p>
            <a:pPr lvl="1"/>
            <a:r>
              <a:rPr lang="zh-CN" altLang="en-US" dirty="0">
                <a:sym typeface="Calibri" pitchFamily="34" charset="0"/>
              </a:rPr>
              <a:t>可以验证，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为最小覆盖；但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en-US" altLang="zh-CN" dirty="0">
                <a:latin typeface="Agency FB" panose="020B0503020202020204" pitchFamily="34" charset="0"/>
                <a:sym typeface="Calibri" pitchFamily="34" charset="0"/>
              </a:rPr>
              <a:t>’</a:t>
            </a:r>
            <a:r>
              <a:rPr lang="zh-CN" altLang="en-US" dirty="0">
                <a:sym typeface="Calibri" pitchFamily="34" charset="0"/>
              </a:rPr>
              <a:t>不是，因为</a:t>
            </a:r>
            <a:r>
              <a:rPr lang="en-US" altLang="zh-CN" dirty="0"/>
              <a:t>F</a:t>
            </a:r>
            <a:r>
              <a:rPr lang="en-US" altLang="zh-CN" dirty="0">
                <a:latin typeface="Agency FB" panose="020B0503020202020204" pitchFamily="34" charset="0"/>
                <a:sym typeface="Calibri" pitchFamily="34" charset="0"/>
              </a:rPr>
              <a:t>’</a:t>
            </a:r>
            <a:r>
              <a:rPr lang="en-US" altLang="zh-CN" dirty="0"/>
              <a:t>−{</a:t>
            </a:r>
            <a:r>
              <a:rPr lang="en-US" altLang="zh-CN" dirty="0" err="1">
                <a:sym typeface="Calibri" pitchFamily="34" charset="0"/>
              </a:rPr>
              <a:t>Sno→Mname</a:t>
            </a:r>
            <a:r>
              <a:rPr lang="en-US" altLang="zh-CN" dirty="0"/>
              <a:t>} </a:t>
            </a:r>
            <a:r>
              <a:rPr lang="zh-CN" altLang="en-US" dirty="0"/>
              <a:t>与</a:t>
            </a:r>
            <a:r>
              <a:rPr lang="en-US" altLang="zh-CN" dirty="0"/>
              <a:t>F</a:t>
            </a:r>
            <a:r>
              <a:rPr lang="en-US" altLang="zh-CN" dirty="0">
                <a:latin typeface="Agency FB" panose="020B0503020202020204" pitchFamily="34" charset="0"/>
                <a:sym typeface="Calibri" pitchFamily="34" charset="0"/>
              </a:rPr>
              <a:t> ’</a:t>
            </a:r>
            <a:r>
              <a:rPr lang="zh-CN" altLang="en-US" dirty="0"/>
              <a:t>等价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96E204B-0DC1-40F1-B1E6-0531EBA8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xmlns="" id="{5BFA5021-8D90-4D1F-966E-FD9FB9F43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最小依赖集</a:t>
            </a:r>
          </a:p>
        </p:txBody>
      </p:sp>
    </p:spTree>
    <p:extLst>
      <p:ext uri="{BB962C8B-B14F-4D97-AF65-F5344CB8AC3E}">
        <p14:creationId xmlns:p14="http://schemas.microsoft.com/office/powerpoint/2010/main" val="190928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xmlns="" id="{B554D98D-1207-4C5E-844F-DAC523DE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极小化过程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FD5B294-E970-4EC7-96A6-6921683DF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082"/>
            <a:ext cx="10515600" cy="5233307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</a:rPr>
              <a:t>定理</a:t>
            </a:r>
            <a:r>
              <a:rPr lang="en-US" altLang="zh-CN" dirty="0">
                <a:solidFill>
                  <a:srgbClr val="0000FF"/>
                </a:solidFill>
              </a:rPr>
              <a:t>6.3 </a:t>
            </a:r>
            <a:r>
              <a:rPr lang="zh-CN" altLang="en-US" dirty="0"/>
              <a:t>每一个函数依赖集</a:t>
            </a:r>
            <a:r>
              <a:rPr lang="en-US" altLang="zh-CN" dirty="0"/>
              <a:t>F</a:t>
            </a:r>
            <a:r>
              <a:rPr lang="zh-CN" altLang="en-US" dirty="0"/>
              <a:t>均等价于一个极小函数依赖集</a:t>
            </a:r>
            <a:r>
              <a:rPr lang="en-US" altLang="zh-CN" dirty="0" err="1"/>
              <a:t>F</a:t>
            </a:r>
            <a:r>
              <a:rPr lang="en-US" altLang="zh-CN" sz="1800" dirty="0" err="1"/>
              <a:t>m</a:t>
            </a:r>
            <a:r>
              <a:rPr lang="zh-CN" altLang="en-US" dirty="0"/>
              <a:t>。此</a:t>
            </a:r>
            <a:r>
              <a:rPr lang="en-US" altLang="zh-CN" dirty="0" err="1"/>
              <a:t>F</a:t>
            </a:r>
            <a:r>
              <a:rPr lang="en-US" altLang="zh-CN" sz="1800" dirty="0" err="1"/>
              <a:t>m</a:t>
            </a:r>
            <a:r>
              <a:rPr lang="zh-CN" altLang="en-US" dirty="0"/>
              <a:t>称为</a:t>
            </a:r>
            <a:r>
              <a:rPr lang="en-US" altLang="zh-CN" dirty="0"/>
              <a:t>F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最小依赖集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构造性证明：</a:t>
            </a:r>
            <a:r>
              <a:rPr lang="zh-CN" altLang="en-US" dirty="0">
                <a:solidFill>
                  <a:srgbClr val="0000FF"/>
                </a:solidFill>
              </a:rPr>
              <a:t>分三步对</a:t>
            </a:r>
            <a:r>
              <a:rPr lang="en-US" altLang="zh-CN" dirty="0">
                <a:solidFill>
                  <a:srgbClr val="0000FF"/>
                </a:solidFill>
              </a:rPr>
              <a:t>F</a:t>
            </a:r>
            <a:r>
              <a:rPr lang="zh-CN" altLang="en-US" dirty="0">
                <a:solidFill>
                  <a:srgbClr val="0000FF"/>
                </a:solidFill>
              </a:rPr>
              <a:t>进行“极小化处理”，</a:t>
            </a:r>
            <a:r>
              <a:rPr lang="zh-CN" altLang="en-US" dirty="0"/>
              <a:t>找出</a:t>
            </a:r>
            <a:r>
              <a:rPr lang="en-US" altLang="zh-CN" dirty="0"/>
              <a:t>F</a:t>
            </a:r>
            <a:r>
              <a:rPr lang="zh-CN" altLang="en-US" dirty="0"/>
              <a:t>的一个最小依赖集。</a:t>
            </a:r>
            <a:endParaRPr lang="en-US" altLang="zh-CN" dirty="0"/>
          </a:p>
          <a:p>
            <a:pPr lvl="2"/>
            <a:r>
              <a:rPr lang="zh-CN" altLang="en-US" dirty="0">
                <a:sym typeface="Calibri" pitchFamily="34" charset="0"/>
              </a:rPr>
              <a:t>逐一检查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dirty="0" err="1"/>
              <a:t>FD</a:t>
            </a:r>
            <a:r>
              <a:rPr lang="en-US" altLang="zh-CN" baseline="-30000" dirty="0" err="1"/>
              <a:t>i</a:t>
            </a:r>
            <a:r>
              <a:rPr lang="zh-CN" altLang="en-US" dirty="0"/>
              <a:t>：</a:t>
            </a:r>
            <a:r>
              <a:rPr lang="en-US" altLang="zh-CN" dirty="0"/>
              <a:t>X→Y</a:t>
            </a:r>
            <a:r>
              <a:rPr lang="zh-CN" altLang="en-US" dirty="0"/>
              <a:t>，若</a:t>
            </a:r>
            <a:r>
              <a:rPr lang="en-US" altLang="zh-CN" dirty="0"/>
              <a:t>Y=A</a:t>
            </a:r>
            <a:r>
              <a:rPr lang="en-US" altLang="zh-CN" baseline="-30000" dirty="0"/>
              <a:t>1</a:t>
            </a:r>
            <a:r>
              <a:rPr lang="en-US" altLang="zh-CN" dirty="0"/>
              <a:t>A</a:t>
            </a:r>
            <a:r>
              <a:rPr lang="en-US" altLang="zh-CN" baseline="-30000" dirty="0"/>
              <a:t>2</a:t>
            </a:r>
            <a:r>
              <a:rPr lang="en-US" altLang="zh-CN" dirty="0"/>
              <a:t> …A</a:t>
            </a:r>
            <a:r>
              <a:rPr lang="en-US" altLang="zh-CN" baseline="-30000" dirty="0"/>
              <a:t>k</a:t>
            </a:r>
            <a:r>
              <a:rPr lang="zh-CN" altLang="en-US" dirty="0"/>
              <a:t>，</a:t>
            </a:r>
            <a:r>
              <a:rPr lang="en-US" altLang="zh-CN" dirty="0"/>
              <a:t>k&gt;2</a:t>
            </a:r>
            <a:r>
              <a:rPr lang="zh-CN" altLang="en-US" dirty="0"/>
              <a:t>，则用 </a:t>
            </a:r>
            <a:r>
              <a:rPr lang="en-US" altLang="zh-CN" dirty="0"/>
              <a:t>{ </a:t>
            </a:r>
            <a:r>
              <a:rPr lang="en-US" altLang="zh-CN" dirty="0" err="1">
                <a:solidFill>
                  <a:srgbClr val="0000FF"/>
                </a:solidFill>
              </a:rPr>
              <a:t>X→A</a:t>
            </a:r>
            <a:r>
              <a:rPr lang="en-US" altLang="zh-CN" baseline="-30000" dirty="0" err="1">
                <a:solidFill>
                  <a:srgbClr val="0000FF"/>
                </a:solidFill>
              </a:rPr>
              <a:t>j</a:t>
            </a:r>
            <a:r>
              <a:rPr lang="en-US" altLang="zh-CN" baseline="-30000" dirty="0">
                <a:solidFill>
                  <a:srgbClr val="0000FF"/>
                </a:solidFill>
              </a:rPr>
              <a:t> </a:t>
            </a:r>
            <a:r>
              <a:rPr lang="en-US" altLang="zh-CN" dirty="0"/>
              <a:t>|j=1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…</a:t>
            </a:r>
            <a:r>
              <a:rPr lang="zh-CN" altLang="en-US" dirty="0"/>
              <a:t>， </a:t>
            </a:r>
            <a:r>
              <a:rPr lang="en-US" altLang="zh-CN" dirty="0"/>
              <a:t>k} </a:t>
            </a:r>
            <a:r>
              <a:rPr lang="zh-CN" altLang="en-US" dirty="0"/>
              <a:t>来取代</a:t>
            </a:r>
            <a:r>
              <a:rPr lang="en-US" altLang="zh-CN" dirty="0"/>
              <a:t>X→Y</a:t>
            </a:r>
            <a:r>
              <a:rPr lang="zh-CN" altLang="en-US" dirty="0"/>
              <a:t>（</a:t>
            </a:r>
            <a:r>
              <a:rPr lang="zh-CN" altLang="en-US" dirty="0">
                <a:solidFill>
                  <a:srgbClr val="C00000"/>
                </a:solidFill>
              </a:rPr>
              <a:t>将</a:t>
            </a:r>
            <a:r>
              <a:rPr lang="en-US" altLang="zh-CN" dirty="0">
                <a:solidFill>
                  <a:srgbClr val="C00000"/>
                </a:solidFill>
              </a:rPr>
              <a:t>F</a:t>
            </a:r>
            <a:r>
              <a:rPr lang="zh-CN" altLang="en-US" dirty="0">
                <a:solidFill>
                  <a:srgbClr val="C00000"/>
                </a:solidFill>
              </a:rPr>
              <a:t>中右部属性单一化，</a:t>
            </a:r>
            <a:r>
              <a:rPr lang="zh-CN" altLang="en-US" dirty="0">
                <a:sym typeface="Calibri" pitchFamily="34" charset="0"/>
              </a:rPr>
              <a:t>引理</a:t>
            </a:r>
            <a:r>
              <a:rPr lang="en-US" altLang="zh-CN" dirty="0">
                <a:sym typeface="Calibri" pitchFamily="34" charset="0"/>
              </a:rPr>
              <a:t>6.1</a:t>
            </a:r>
            <a:r>
              <a:rPr lang="zh-CN" altLang="en-US" dirty="0">
                <a:sym typeface="Calibri" pitchFamily="34" charset="0"/>
              </a:rPr>
              <a:t>保证了变换的等价性）。</a:t>
            </a:r>
            <a:endParaRPr lang="en-US" altLang="zh-CN" dirty="0">
              <a:sym typeface="Calibri" pitchFamily="34" charset="0"/>
            </a:endParaRPr>
          </a:p>
          <a:p>
            <a:pPr lvl="2"/>
            <a:r>
              <a:rPr lang="zh-CN" altLang="en-US" dirty="0">
                <a:sym typeface="Calibri" pitchFamily="34" charset="0"/>
              </a:rPr>
              <a:t>逐一检查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dirty="0" err="1"/>
              <a:t>FD</a:t>
            </a:r>
            <a:r>
              <a:rPr lang="en-US" altLang="zh-CN" baseline="-30000" dirty="0" err="1"/>
              <a:t>i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dirty="0">
                <a:sym typeface="Calibri" pitchFamily="34" charset="0"/>
              </a:rPr>
              <a:t>X→A</a:t>
            </a:r>
            <a:r>
              <a:rPr lang="zh-CN" altLang="en-US" dirty="0">
                <a:sym typeface="Calibri" pitchFamily="34" charset="0"/>
              </a:rPr>
              <a:t>，令</a:t>
            </a:r>
            <a:r>
              <a:rPr lang="en-US" altLang="zh-CN" dirty="0">
                <a:sym typeface="Calibri" pitchFamily="34" charset="0"/>
              </a:rPr>
              <a:t>G=F−{X→A}</a:t>
            </a:r>
            <a:r>
              <a:rPr lang="zh-CN" altLang="en-US" dirty="0">
                <a:sym typeface="Calibri" pitchFamily="34" charset="0"/>
              </a:rPr>
              <a:t>，若 </a:t>
            </a:r>
            <a:r>
              <a:rPr lang="en-US" altLang="zh-CN" dirty="0">
                <a:sym typeface="Calibri" pitchFamily="34" charset="0"/>
              </a:rPr>
              <a:t>A∈X</a:t>
            </a:r>
            <a:r>
              <a:rPr lang="en-US" altLang="zh-CN" baseline="-25000" dirty="0">
                <a:sym typeface="Calibri" pitchFamily="34" charset="0"/>
              </a:rPr>
              <a:t>G</a:t>
            </a:r>
            <a:r>
              <a:rPr lang="en-US" altLang="zh-CN" baseline="50000" dirty="0">
                <a:sym typeface="Calibri" pitchFamily="34" charset="0"/>
              </a:rPr>
              <a:t>+ </a:t>
            </a:r>
            <a:r>
              <a:rPr lang="zh-CN" altLang="en-US" dirty="0">
                <a:sym typeface="Calibri" pitchFamily="34" charset="0"/>
              </a:rPr>
              <a:t>，则从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中去掉此函数依赖（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去掉多余的函数依赖</a:t>
            </a:r>
            <a:r>
              <a:rPr lang="zh-CN" altLang="en-US" dirty="0">
                <a:sym typeface="Calibri" pitchFamily="34" charset="0"/>
              </a:rPr>
              <a:t>，因为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dirty="0">
                <a:sym typeface="Calibri" pitchFamily="34" charset="0"/>
              </a:rPr>
              <a:t>G </a:t>
            </a:r>
            <a:r>
              <a:rPr lang="zh-CN" altLang="en-US" dirty="0">
                <a:sym typeface="Calibri" pitchFamily="34" charset="0"/>
              </a:rPr>
              <a:t>等价的充要条件是</a:t>
            </a:r>
            <a:r>
              <a:rPr lang="en-US" altLang="zh-CN" dirty="0">
                <a:sym typeface="Calibri" pitchFamily="34" charset="0"/>
              </a:rPr>
              <a:t>A∈X</a:t>
            </a:r>
            <a:r>
              <a:rPr lang="en-US" altLang="zh-CN" baseline="-25000" dirty="0">
                <a:sym typeface="Calibri" pitchFamily="34" charset="0"/>
              </a:rPr>
              <a:t>G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，保证了变换的等价性）。</a:t>
            </a:r>
            <a:endParaRPr lang="en-US" altLang="zh-CN" dirty="0">
              <a:sym typeface="Calibri" pitchFamily="34" charset="0"/>
            </a:endParaRPr>
          </a:p>
          <a:p>
            <a:pPr lvl="2"/>
            <a:r>
              <a:rPr lang="zh-CN" altLang="en-US" dirty="0">
                <a:sym typeface="Calibri" pitchFamily="34" charset="0"/>
              </a:rPr>
              <a:t>逐一取出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中各函数依赖</a:t>
            </a:r>
            <a:r>
              <a:rPr lang="en-US" altLang="zh-CN" dirty="0" err="1">
                <a:sym typeface="Calibri" pitchFamily="34" charset="0"/>
              </a:rPr>
              <a:t>FD</a:t>
            </a:r>
            <a:r>
              <a:rPr lang="en-US" altLang="zh-CN" baseline="-25000" dirty="0" err="1"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：</a:t>
            </a:r>
            <a:r>
              <a:rPr lang="en-US" altLang="zh-CN" dirty="0">
                <a:sym typeface="Calibri" pitchFamily="34" charset="0"/>
              </a:rPr>
              <a:t>X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sym typeface="Calibri" pitchFamily="34" charset="0"/>
              </a:rPr>
              <a:t>→</a:t>
            </a:r>
            <a:r>
              <a:rPr lang="en-US" altLang="zh-CN" dirty="0">
                <a:sym typeface="Calibri" pitchFamily="34" charset="0"/>
              </a:rPr>
              <a:t>A</a:t>
            </a:r>
            <a:r>
              <a:rPr lang="zh-CN" altLang="en-US" dirty="0">
                <a:sym typeface="Calibri" pitchFamily="34" charset="0"/>
              </a:rPr>
              <a:t>，设</a:t>
            </a:r>
            <a:r>
              <a:rPr lang="en-US" altLang="zh-CN" dirty="0">
                <a:sym typeface="Calibri" pitchFamily="34" charset="0"/>
              </a:rPr>
              <a:t>X=B</a:t>
            </a:r>
            <a:r>
              <a:rPr lang="en-US" altLang="zh-CN" baseline="-25000" dirty="0">
                <a:sym typeface="Calibri" pitchFamily="34" charset="0"/>
              </a:rPr>
              <a:t>1</a:t>
            </a:r>
            <a:r>
              <a:rPr lang="en-US" altLang="zh-CN" dirty="0">
                <a:sym typeface="Calibri" pitchFamily="34" charset="0"/>
              </a:rPr>
              <a:t>B</a:t>
            </a:r>
            <a:r>
              <a:rPr lang="en-US" altLang="zh-CN" baseline="-25000" dirty="0">
                <a:sym typeface="Calibri" pitchFamily="34" charset="0"/>
              </a:rPr>
              <a:t>2</a:t>
            </a:r>
            <a:r>
              <a:rPr lang="en-US" altLang="zh-CN" dirty="0">
                <a:sym typeface="Calibri" pitchFamily="34" charset="0"/>
              </a:rPr>
              <a:t>…</a:t>
            </a:r>
            <a:r>
              <a:rPr lang="en-US" altLang="zh-CN" dirty="0" err="1">
                <a:sym typeface="Calibri" pitchFamily="34" charset="0"/>
              </a:rPr>
              <a:t>B</a:t>
            </a:r>
            <a:r>
              <a:rPr lang="en-US" altLang="zh-CN" baseline="-25000" dirty="0" err="1">
                <a:sym typeface="Calibri" pitchFamily="34" charset="0"/>
              </a:rPr>
              <a:t>m</a:t>
            </a:r>
            <a:r>
              <a:rPr lang="en-US" altLang="zh-CN" dirty="0">
                <a:sym typeface="Calibri" pitchFamily="34" charset="0"/>
              </a:rPr>
              <a:t>, m</a:t>
            </a:r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sym typeface="Calibri" pitchFamily="34" charset="0"/>
              </a:rPr>
              <a:t> ≥ </a:t>
            </a:r>
            <a:r>
              <a:rPr lang="en-US" altLang="zh-CN" dirty="0">
                <a:sym typeface="Calibri" pitchFamily="34" charset="0"/>
              </a:rPr>
              <a:t>2, </a:t>
            </a:r>
            <a:r>
              <a:rPr lang="zh-CN" altLang="en-US" dirty="0">
                <a:sym typeface="Calibri" pitchFamily="34" charset="0"/>
              </a:rPr>
              <a:t>逐一考查</a:t>
            </a:r>
            <a:r>
              <a:rPr lang="en-US" altLang="zh-CN" dirty="0">
                <a:sym typeface="Calibri" pitchFamily="34" charset="0"/>
              </a:rPr>
              <a:t>B</a:t>
            </a:r>
            <a:r>
              <a:rPr lang="en-US" altLang="zh-CN" baseline="-25000" dirty="0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 (</a:t>
            </a:r>
            <a:r>
              <a:rPr lang="en-US" altLang="zh-CN" dirty="0" err="1">
                <a:sym typeface="Calibri" pitchFamily="34" charset="0"/>
              </a:rPr>
              <a:t>i</a:t>
            </a:r>
            <a:r>
              <a:rPr lang="en-US" altLang="zh-CN" dirty="0">
                <a:sym typeface="Calibri" pitchFamily="34" charset="0"/>
              </a:rPr>
              <a:t>=1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2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…</a:t>
            </a:r>
            <a:r>
              <a:rPr lang="zh-CN" altLang="en-US" dirty="0">
                <a:sym typeface="Calibri" pitchFamily="34" charset="0"/>
              </a:rPr>
              <a:t>，</a:t>
            </a:r>
            <a:r>
              <a:rPr lang="en-US" altLang="zh-CN" dirty="0">
                <a:sym typeface="Calibri" pitchFamily="34" charset="0"/>
              </a:rPr>
              <a:t>m)</a:t>
            </a:r>
            <a:r>
              <a:rPr lang="zh-CN" altLang="en-US" dirty="0">
                <a:sym typeface="Calibri" pitchFamily="34" charset="0"/>
              </a:rPr>
              <a:t>，若</a:t>
            </a:r>
            <a:r>
              <a:rPr lang="en-US" altLang="zh-CN" dirty="0">
                <a:sym typeface="Calibri" pitchFamily="34" charset="0"/>
              </a:rPr>
              <a:t>A</a:t>
            </a:r>
            <a:r>
              <a:rPr lang="en-US" altLang="zh-CN" dirty="0">
                <a:sym typeface="Symbol" pitchFamily="18" charset="2"/>
              </a:rPr>
              <a:t></a:t>
            </a:r>
            <a:r>
              <a:rPr lang="zh-CN" altLang="en-US" dirty="0">
                <a:sym typeface="Calibri" pitchFamily="34" charset="0"/>
              </a:rPr>
              <a:t>(</a:t>
            </a:r>
            <a:r>
              <a:rPr lang="en-US" altLang="zh-CN" dirty="0">
                <a:sym typeface="Calibri" pitchFamily="34" charset="0"/>
              </a:rPr>
              <a:t>X-B</a:t>
            </a:r>
            <a:r>
              <a:rPr lang="en-US" altLang="zh-CN" baseline="-25000" dirty="0">
                <a:sym typeface="Calibri" pitchFamily="34" charset="0"/>
              </a:rPr>
              <a:t>i </a:t>
            </a:r>
            <a:r>
              <a:rPr lang="zh-CN" altLang="en-US" dirty="0">
                <a:sym typeface="Calibri" pitchFamily="34" charset="0"/>
              </a:rPr>
              <a:t>)</a:t>
            </a:r>
            <a:r>
              <a:rPr lang="en-US" altLang="zh-CN" baseline="-25000" dirty="0">
                <a:sym typeface="Calibri" pitchFamily="34" charset="0"/>
              </a:rPr>
              <a:t>F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，则以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X-B</a:t>
            </a:r>
            <a:r>
              <a:rPr lang="en-US" altLang="zh-CN" baseline="-25000" dirty="0">
                <a:solidFill>
                  <a:srgbClr val="0000FF"/>
                </a:solidFill>
                <a:sym typeface="Calibri" pitchFamily="34" charset="0"/>
              </a:rPr>
              <a:t>i</a:t>
            </a:r>
            <a:r>
              <a:rPr lang="zh-CN" altLang="en-US" dirty="0">
                <a:sym typeface="Calibri" pitchFamily="34" charset="0"/>
              </a:rPr>
              <a:t>取代</a:t>
            </a:r>
            <a:r>
              <a:rPr lang="en-US" altLang="zh-CN" dirty="0">
                <a:sym typeface="Calibri" pitchFamily="34" charset="0"/>
              </a:rPr>
              <a:t>X </a:t>
            </a:r>
            <a:r>
              <a:rPr lang="zh-CN" altLang="en-US" dirty="0">
                <a:sym typeface="Calibri" pitchFamily="34" charset="0"/>
              </a:rPr>
              <a:t>（</a:t>
            </a:r>
            <a:r>
              <a:rPr lang="zh-CN" altLang="en-US" dirty="0">
                <a:solidFill>
                  <a:srgbClr val="C00000"/>
                </a:solidFill>
                <a:sym typeface="Calibri" pitchFamily="34" charset="0"/>
              </a:rPr>
              <a:t>去掉函数依赖左部的多余属性</a:t>
            </a:r>
            <a:r>
              <a:rPr lang="zh-CN" altLang="en-US" dirty="0">
                <a:sym typeface="Calibri" pitchFamily="34" charset="0"/>
              </a:rPr>
              <a:t>，因为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与</a:t>
            </a:r>
            <a:r>
              <a:rPr lang="en-US" altLang="zh-CN" dirty="0">
                <a:sym typeface="Calibri" pitchFamily="34" charset="0"/>
              </a:rPr>
              <a:t>F−{X→A}∪ {Z→A}</a:t>
            </a:r>
            <a:r>
              <a:rPr lang="zh-CN" altLang="en-US" dirty="0">
                <a:sym typeface="Calibri" pitchFamily="34" charset="0"/>
              </a:rPr>
              <a:t>等价的充要条件是</a:t>
            </a:r>
            <a:r>
              <a:rPr lang="en-US" altLang="zh-CN" dirty="0">
                <a:sym typeface="Calibri" pitchFamily="34" charset="0"/>
              </a:rPr>
              <a:t>A∈Z</a:t>
            </a:r>
            <a:r>
              <a:rPr lang="en-US" altLang="zh-CN" baseline="-25000" dirty="0">
                <a:sym typeface="Calibri" pitchFamily="34" charset="0"/>
              </a:rPr>
              <a:t>F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zh-CN" altLang="en-US" dirty="0">
                <a:sym typeface="Calibri" pitchFamily="34" charset="0"/>
              </a:rPr>
              <a:t> ，其中</a:t>
            </a:r>
            <a:r>
              <a:rPr lang="en-US" altLang="zh-CN" dirty="0">
                <a:sym typeface="Calibri" pitchFamily="34" charset="0"/>
              </a:rPr>
              <a:t>Z=X−B</a:t>
            </a:r>
            <a:r>
              <a:rPr lang="zh-CN" altLang="en-US" dirty="0">
                <a:sym typeface="Calibri" pitchFamily="34" charset="0"/>
              </a:rPr>
              <a:t>，这保证了变换的等价性）。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196E204B-0DC1-40F1-B1E6-0531EBA8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9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zh-CN" altLang="en-US" dirty="0">
                <a:sym typeface="Calibri" pitchFamily="34" charset="0"/>
              </a:rPr>
              <a:t>定理</a:t>
            </a:r>
            <a:r>
              <a:rPr lang="en-US" altLang="zh-CN" dirty="0">
                <a:sym typeface="Calibri" pitchFamily="34" charset="0"/>
              </a:rPr>
              <a:t>6.3</a:t>
            </a:r>
            <a:r>
              <a:rPr lang="zh-CN" altLang="en-US" dirty="0">
                <a:sym typeface="Calibri" pitchFamily="34" charset="0"/>
              </a:rPr>
              <a:t>的证明过程就是求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极小依赖集的过程，也是检验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是否为极小依赖集的一个算法。</a:t>
            </a:r>
            <a:r>
              <a:rPr lang="zh-CN" altLang="en-US" dirty="0"/>
              <a:t>由定义，最后剩下的</a:t>
            </a:r>
            <a:r>
              <a:rPr lang="en-US" altLang="zh-CN" dirty="0"/>
              <a:t>F</a:t>
            </a:r>
            <a:r>
              <a:rPr lang="zh-CN" altLang="en-US" dirty="0"/>
              <a:t>就一定是极小依赖集，因为对</a:t>
            </a:r>
            <a:r>
              <a:rPr lang="en-US" altLang="zh-CN" dirty="0"/>
              <a:t>F</a:t>
            </a:r>
            <a:r>
              <a:rPr lang="zh-CN" altLang="en-US" dirty="0"/>
              <a:t>的每一次“改造”都保证了改造前后的两个函数依赖集等价，因此剩下的</a:t>
            </a:r>
            <a:r>
              <a:rPr lang="en-US" altLang="zh-CN" dirty="0"/>
              <a:t>F</a:t>
            </a:r>
            <a:r>
              <a:rPr lang="zh-CN" altLang="en-US" dirty="0"/>
              <a:t>与原来的</a:t>
            </a:r>
            <a:r>
              <a:rPr lang="en-US" altLang="zh-CN" dirty="0"/>
              <a:t>F</a:t>
            </a:r>
            <a:r>
              <a:rPr lang="zh-CN" altLang="en-US" dirty="0"/>
              <a:t>等价。</a:t>
            </a:r>
            <a:r>
              <a:rPr lang="zh-CN" altLang="en-US" dirty="0">
                <a:sym typeface="Calibri" pitchFamily="34" charset="0"/>
              </a:rPr>
              <a:t>若改造后的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与原来的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相同，说明</a:t>
            </a:r>
            <a:r>
              <a:rPr lang="en-US" altLang="zh-CN" dirty="0">
                <a:solidFill>
                  <a:srgbClr val="0000FF"/>
                </a:solidFill>
                <a:sym typeface="Calibri" pitchFamily="34" charset="0"/>
              </a:rPr>
              <a:t>F</a:t>
            </a:r>
            <a:r>
              <a:rPr lang="zh-CN" altLang="en-US" dirty="0">
                <a:solidFill>
                  <a:srgbClr val="0000FF"/>
                </a:solidFill>
                <a:sym typeface="Calibri" pitchFamily="34" charset="0"/>
              </a:rPr>
              <a:t>本身就是一个最小依赖集</a:t>
            </a:r>
            <a:r>
              <a:rPr lang="zh-CN" altLang="en-US" dirty="0">
                <a:sym typeface="Calibri" pitchFamily="34" charset="0"/>
              </a:rPr>
              <a:t>。</a:t>
            </a:r>
          </a:p>
          <a:p>
            <a:endParaRPr lang="en-US" altLang="zh-CN" dirty="0">
              <a:sym typeface="Calibri" pitchFamily="34" charset="0"/>
            </a:endParaRPr>
          </a:p>
          <a:p>
            <a:r>
              <a:rPr lang="zh-CN" altLang="en-US" dirty="0">
                <a:sym typeface="Calibri" pitchFamily="34" charset="0"/>
              </a:rPr>
              <a:t>但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的最小依赖集</a:t>
            </a:r>
            <a:r>
              <a:rPr lang="en-US" altLang="zh-CN" dirty="0" err="1"/>
              <a:t>F</a:t>
            </a:r>
            <a:r>
              <a:rPr lang="en-US" altLang="zh-CN" sz="1800" dirty="0" err="1"/>
              <a:t>m</a:t>
            </a:r>
            <a:r>
              <a:rPr lang="zh-CN" altLang="en-US" dirty="0">
                <a:sym typeface="Calibri" pitchFamily="34" charset="0"/>
              </a:rPr>
              <a:t>不一定是唯一的，它与对各函数依赖</a:t>
            </a:r>
            <a:r>
              <a:rPr lang="en-US" altLang="zh-CN" dirty="0" err="1"/>
              <a:t>FD</a:t>
            </a:r>
            <a:r>
              <a:rPr lang="en-US" altLang="zh-CN" baseline="-30000" dirty="0" err="1"/>
              <a:t>i</a:t>
            </a:r>
            <a:r>
              <a:rPr lang="zh-CN" altLang="en-US" dirty="0">
                <a:sym typeface="Calibri" pitchFamily="34" charset="0"/>
              </a:rPr>
              <a:t>及</a:t>
            </a:r>
            <a:r>
              <a:rPr lang="en-US" altLang="zh-CN" dirty="0">
                <a:sym typeface="Calibri" pitchFamily="34" charset="0"/>
              </a:rPr>
              <a:t>X→A</a:t>
            </a:r>
            <a:r>
              <a:rPr lang="zh-CN" altLang="en-US" dirty="0">
                <a:sym typeface="Calibri" pitchFamily="34" charset="0"/>
              </a:rPr>
              <a:t>中</a:t>
            </a:r>
            <a:r>
              <a:rPr lang="en-US" altLang="zh-CN" dirty="0">
                <a:sym typeface="Calibri" pitchFamily="34" charset="0"/>
              </a:rPr>
              <a:t>X</a:t>
            </a:r>
            <a:r>
              <a:rPr lang="zh-CN" altLang="en-US" dirty="0">
                <a:sym typeface="Calibri" pitchFamily="34" charset="0"/>
              </a:rPr>
              <a:t>各属性的处置顺序有关。</a:t>
            </a:r>
          </a:p>
          <a:p>
            <a:endParaRPr lang="en-US" altLang="zh-CN" dirty="0">
              <a:sym typeface="Calibri" pitchFamily="34" charset="0"/>
            </a:endParaRPr>
          </a:p>
          <a:p>
            <a:r>
              <a:rPr lang="en-US" altLang="zh-CN" dirty="0">
                <a:sym typeface="Calibri" pitchFamily="34" charset="0"/>
              </a:rPr>
              <a:t>[</a:t>
            </a:r>
            <a:r>
              <a:rPr lang="zh-CN" altLang="en-US" dirty="0">
                <a:sym typeface="Calibri" pitchFamily="34" charset="0"/>
              </a:rPr>
              <a:t>例</a:t>
            </a:r>
            <a:r>
              <a:rPr lang="en-US" altLang="zh-CN" dirty="0">
                <a:sym typeface="Calibri" pitchFamily="34" charset="0"/>
              </a:rPr>
              <a:t>13]  F= {A→B, B→A, B→C, A→C, C→A }</a:t>
            </a:r>
          </a:p>
          <a:p>
            <a:pPr marL="0" indent="0">
              <a:buNone/>
            </a:pPr>
            <a:r>
              <a:rPr lang="en-US" altLang="zh-CN" dirty="0">
                <a:sym typeface="Calibri" pitchFamily="34" charset="0"/>
              </a:rPr>
              <a:t>              </a:t>
            </a:r>
            <a:r>
              <a:rPr lang="en-US" altLang="zh-CN" dirty="0"/>
              <a:t>F</a:t>
            </a:r>
            <a:r>
              <a:rPr lang="en-US" altLang="zh-CN" baseline="-30000" dirty="0"/>
              <a:t>m1 </a:t>
            </a:r>
            <a:r>
              <a:rPr lang="en-US" altLang="zh-CN" dirty="0">
                <a:sym typeface="Calibri" pitchFamily="34" charset="0"/>
              </a:rPr>
              <a:t>= {A→B, B→C, C→A}</a:t>
            </a:r>
          </a:p>
          <a:p>
            <a:pPr marL="0" indent="0">
              <a:buNone/>
            </a:pPr>
            <a:r>
              <a:rPr lang="en-US" altLang="zh-CN" dirty="0">
                <a:sym typeface="Calibri" pitchFamily="34" charset="0"/>
              </a:rPr>
              <a:t>              </a:t>
            </a:r>
            <a:r>
              <a:rPr lang="en-US" altLang="zh-CN" dirty="0"/>
              <a:t>F</a:t>
            </a:r>
            <a:r>
              <a:rPr lang="en-US" altLang="zh-CN" baseline="-30000" dirty="0"/>
              <a:t>m2 </a:t>
            </a:r>
            <a:r>
              <a:rPr lang="en-US" altLang="zh-CN" dirty="0">
                <a:sym typeface="Calibri" pitchFamily="34" charset="0"/>
              </a:rPr>
              <a:t>= {A→B, B→A, A→C, C→A}</a:t>
            </a:r>
          </a:p>
          <a:p>
            <a:pPr lvl="1"/>
            <a:r>
              <a:rPr lang="zh-CN" altLang="en-US" dirty="0">
                <a:sym typeface="Calibri" pitchFamily="34" charset="0"/>
              </a:rPr>
              <a:t>可以验证，</a:t>
            </a:r>
            <a:r>
              <a:rPr lang="en-US" altLang="zh-CN" dirty="0"/>
              <a:t> F</a:t>
            </a:r>
            <a:r>
              <a:rPr lang="en-US" altLang="zh-CN" baseline="-30000" dirty="0"/>
              <a:t>m1</a:t>
            </a:r>
            <a:r>
              <a:rPr lang="zh-CN" altLang="en-US" dirty="0">
                <a:sym typeface="Calibri" pitchFamily="34" charset="0"/>
              </a:rPr>
              <a:t>和</a:t>
            </a:r>
            <a:r>
              <a:rPr lang="en-US" altLang="zh-CN" dirty="0"/>
              <a:t>F</a:t>
            </a:r>
            <a:r>
              <a:rPr lang="en-US" altLang="zh-CN" baseline="-30000" dirty="0"/>
              <a:t>m2</a:t>
            </a:r>
            <a:r>
              <a:rPr lang="zh-CN" altLang="en-US" dirty="0">
                <a:sym typeface="Calibri" pitchFamily="34" charset="0"/>
              </a:rPr>
              <a:t>是</a:t>
            </a:r>
            <a:r>
              <a:rPr lang="en-US" altLang="zh-CN" dirty="0">
                <a:sym typeface="Calibri" pitchFamily="34" charset="0"/>
              </a:rPr>
              <a:t>F</a:t>
            </a:r>
            <a:r>
              <a:rPr lang="zh-CN" altLang="en-US" dirty="0">
                <a:sym typeface="Calibri" pitchFamily="34" charset="0"/>
              </a:rPr>
              <a:t>的两个不同的最小依赖集。</a:t>
            </a:r>
            <a:endParaRPr lang="en-US" altLang="zh-CN" dirty="0">
              <a:sym typeface="Calibri" pitchFamily="34" charset="0"/>
            </a:endParaRPr>
          </a:p>
          <a:p>
            <a:endParaRPr lang="zh-CN" altLang="en-US" dirty="0">
              <a:sym typeface="Calibri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标题 5">
            <a:extLst>
              <a:ext uri="{FF2B5EF4-FFF2-40B4-BE49-F238E27FC236}">
                <a16:creationId xmlns:a16="http://schemas.microsoft.com/office/drawing/2014/main" xmlns="" id="{7A3A98B0-5614-4B47-8384-B72B3488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极小化过程</a:t>
            </a:r>
          </a:p>
        </p:txBody>
      </p:sp>
    </p:spTree>
    <p:extLst>
      <p:ext uri="{BB962C8B-B14F-4D97-AF65-F5344CB8AC3E}">
        <p14:creationId xmlns:p14="http://schemas.microsoft.com/office/powerpoint/2010/main" val="4250643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EECAE48-7D51-40B9-9ADB-5780C0E42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773" y="929141"/>
            <a:ext cx="10826322" cy="545270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设关系模式</a:t>
            </a:r>
            <a:r>
              <a:rPr lang="en-US" altLang="zh-CN" sz="2000" dirty="0"/>
              <a:t>R(U</a:t>
            </a:r>
            <a:r>
              <a:rPr lang="zh-CN" altLang="en-US" sz="2000" dirty="0"/>
              <a:t>，</a:t>
            </a:r>
            <a:r>
              <a:rPr lang="en-US" altLang="zh-CN" sz="2000" dirty="0"/>
              <a:t>F)</a:t>
            </a:r>
            <a:r>
              <a:rPr lang="zh-CN" altLang="en-US" sz="2000" dirty="0"/>
              <a:t>中，</a:t>
            </a:r>
            <a:r>
              <a:rPr lang="en-US" altLang="zh-CN" sz="2000" dirty="0"/>
              <a:t>U={A,</a:t>
            </a:r>
            <a:r>
              <a:rPr lang="zh-CN" altLang="en-US" sz="2000" dirty="0"/>
              <a:t> </a:t>
            </a:r>
            <a:r>
              <a:rPr lang="en-US" altLang="zh-CN" sz="2000" dirty="0"/>
              <a:t>B, C, D, E, G}</a:t>
            </a:r>
            <a:r>
              <a:rPr lang="zh-CN" altLang="en-US" sz="2000" dirty="0"/>
              <a:t>，</a:t>
            </a:r>
            <a:r>
              <a:rPr lang="en-US" altLang="zh-CN" sz="2000" dirty="0"/>
              <a:t>F={B→D,</a:t>
            </a:r>
            <a:r>
              <a:rPr lang="zh-CN" altLang="en-US" sz="2000" dirty="0"/>
              <a:t> </a:t>
            </a:r>
            <a:r>
              <a:rPr lang="en-US" altLang="zh-CN" sz="2000" dirty="0"/>
              <a:t>DG→C, BD→E, AG→B, ADG→BC}</a:t>
            </a:r>
            <a:r>
              <a:rPr lang="zh-CN" altLang="en-US" sz="2000" dirty="0"/>
              <a:t>，求</a:t>
            </a:r>
            <a:r>
              <a:rPr lang="en-US" altLang="zh-CN" sz="2000" dirty="0"/>
              <a:t>F</a:t>
            </a:r>
            <a:r>
              <a:rPr lang="zh-CN" altLang="en-US" sz="2000" dirty="0"/>
              <a:t>的最小函数依赖集。</a:t>
            </a:r>
            <a:endParaRPr lang="en-US" altLang="zh-CN" sz="20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/>
              <a:t>解：</a:t>
            </a:r>
            <a:endParaRPr lang="en-US" altLang="zh-CN" sz="2000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</a:rPr>
              <a:t>1</a:t>
            </a:r>
            <a:r>
              <a:rPr lang="zh-CN" altLang="en-US" sz="2000" dirty="0">
                <a:solidFill>
                  <a:srgbClr val="C00000"/>
                </a:solidFill>
              </a:rPr>
              <a:t>）将</a:t>
            </a:r>
            <a:r>
              <a:rPr lang="en-US" altLang="zh-CN" sz="2000" dirty="0">
                <a:solidFill>
                  <a:srgbClr val="C00000"/>
                </a:solidFill>
              </a:rPr>
              <a:t>F</a:t>
            </a:r>
            <a:r>
              <a:rPr lang="zh-CN" altLang="en-US" sz="2000" dirty="0">
                <a:solidFill>
                  <a:srgbClr val="C00000"/>
                </a:solidFill>
              </a:rPr>
              <a:t>中右部属性单一化：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/>
              <a:t>F1={B→D,</a:t>
            </a:r>
            <a:r>
              <a:rPr lang="zh-CN" altLang="en-US" sz="1800" dirty="0"/>
              <a:t> </a:t>
            </a:r>
            <a:r>
              <a:rPr lang="en-US" altLang="zh-CN" sz="1800" dirty="0"/>
              <a:t>DG→C, BD→E, AG→B, ADG→B, ADG→C}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>
                <a:solidFill>
                  <a:srgbClr val="C00000"/>
                </a:solidFill>
              </a:rPr>
              <a:t>（</a:t>
            </a:r>
            <a:r>
              <a:rPr lang="en-US" altLang="zh-CN" sz="2000" dirty="0">
                <a:solidFill>
                  <a:srgbClr val="C00000"/>
                </a:solidFill>
              </a:rPr>
              <a:t>2</a:t>
            </a:r>
            <a:r>
              <a:rPr lang="zh-CN" altLang="en-US" sz="2000" dirty="0">
                <a:solidFill>
                  <a:srgbClr val="C00000"/>
                </a:solidFill>
              </a:rPr>
              <a:t>）去掉</a:t>
            </a:r>
            <a:r>
              <a:rPr lang="en-US" altLang="zh-CN" sz="2000" dirty="0">
                <a:solidFill>
                  <a:srgbClr val="C00000"/>
                </a:solidFill>
              </a:rPr>
              <a:t>F1</a:t>
            </a:r>
            <a:r>
              <a:rPr lang="zh-CN" altLang="en-US" sz="2000" dirty="0">
                <a:solidFill>
                  <a:srgbClr val="C00000"/>
                </a:solidFill>
              </a:rPr>
              <a:t>中多余的函数依赖：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B→D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:G={DG→C, BD→E, AG→B, ADG→B, ADG→C}</a:t>
            </a:r>
            <a:r>
              <a:rPr lang="zh-CN" altLang="en-US" sz="1800" dirty="0"/>
              <a:t>，</a:t>
            </a:r>
            <a:r>
              <a:rPr lang="en-US" altLang="zh-CN" sz="1800" dirty="0"/>
              <a:t>B</a:t>
            </a:r>
            <a:r>
              <a:rPr lang="en-US" altLang="zh-CN" sz="1800" baseline="-25000" dirty="0">
                <a:sym typeface="Calibri" pitchFamily="34" charset="0"/>
              </a:rPr>
              <a:t>G</a:t>
            </a:r>
            <a:r>
              <a:rPr lang="en-US" altLang="zh-CN" sz="1800" baseline="50000" dirty="0">
                <a:sym typeface="Calibri" pitchFamily="34" charset="0"/>
              </a:rPr>
              <a:t>+</a:t>
            </a:r>
            <a:r>
              <a:rPr lang="en-US" altLang="zh-CN" sz="1800" dirty="0"/>
              <a:t>=B </a:t>
            </a:r>
            <a:r>
              <a:rPr lang="zh-CN" altLang="en-US" sz="1800" dirty="0"/>
              <a:t>不包含</a:t>
            </a:r>
            <a:r>
              <a:rPr lang="en-US" altLang="zh-CN" sz="1800" dirty="0"/>
              <a:t>D</a:t>
            </a:r>
            <a:r>
              <a:rPr lang="zh-CN" altLang="en-US" sz="1800" dirty="0"/>
              <a:t>，所以不冗余，不能去掉。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DG→C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:G={B→D, BD→E, AG→B, ADG→B, ADG→C} </a:t>
            </a:r>
            <a:r>
              <a:rPr lang="zh-CN" altLang="en-US" sz="1800" dirty="0"/>
              <a:t>，</a:t>
            </a:r>
            <a:r>
              <a:rPr lang="en-US" altLang="zh-CN" sz="1800" dirty="0"/>
              <a:t>(DG)</a:t>
            </a:r>
            <a:r>
              <a:rPr lang="en-US" altLang="zh-CN" sz="1800" baseline="-25000" dirty="0">
                <a:sym typeface="Calibri" pitchFamily="34" charset="0"/>
              </a:rPr>
              <a:t> G</a:t>
            </a:r>
            <a:r>
              <a:rPr lang="en-US" altLang="zh-CN" sz="1800" baseline="50000" dirty="0">
                <a:sym typeface="Calibri" pitchFamily="34" charset="0"/>
              </a:rPr>
              <a:t>+ </a:t>
            </a:r>
            <a:r>
              <a:rPr lang="en-US" altLang="zh-CN" sz="1800" dirty="0"/>
              <a:t>=DG</a:t>
            </a:r>
            <a:r>
              <a:rPr lang="zh-CN" altLang="en-US" sz="1800" dirty="0"/>
              <a:t>不包含</a:t>
            </a:r>
            <a:r>
              <a:rPr lang="en-US" altLang="zh-CN" sz="1800" dirty="0"/>
              <a:t>C</a:t>
            </a:r>
            <a:r>
              <a:rPr lang="zh-CN" altLang="en-US" sz="1800" dirty="0"/>
              <a:t>，所以不冗余，不能去掉。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BD→E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:G={B→D,</a:t>
            </a:r>
            <a:r>
              <a:rPr lang="zh-CN" altLang="en-US" sz="1800" dirty="0"/>
              <a:t> </a:t>
            </a:r>
            <a:r>
              <a:rPr lang="en-US" altLang="zh-CN" sz="1800" dirty="0"/>
              <a:t>DG→C, AG→B, ADG→B, ADG→C} </a:t>
            </a:r>
            <a:r>
              <a:rPr lang="zh-CN" altLang="en-US" sz="1800" dirty="0"/>
              <a:t>，</a:t>
            </a:r>
            <a:r>
              <a:rPr lang="en-US" altLang="zh-CN" sz="1800" dirty="0"/>
              <a:t>(BD)</a:t>
            </a:r>
            <a:r>
              <a:rPr lang="en-US" altLang="zh-CN" sz="1800" baseline="-25000" dirty="0">
                <a:sym typeface="Calibri" pitchFamily="34" charset="0"/>
              </a:rPr>
              <a:t> G</a:t>
            </a:r>
            <a:r>
              <a:rPr lang="en-US" altLang="zh-CN" sz="1800" baseline="50000" dirty="0">
                <a:sym typeface="Calibri" pitchFamily="34" charset="0"/>
              </a:rPr>
              <a:t>+ </a:t>
            </a:r>
            <a:r>
              <a:rPr lang="en-US" altLang="zh-CN" sz="1800" dirty="0"/>
              <a:t>=BD</a:t>
            </a:r>
            <a:r>
              <a:rPr lang="zh-CN" altLang="en-US" sz="1800" dirty="0"/>
              <a:t>不包含</a:t>
            </a:r>
            <a:r>
              <a:rPr lang="en-US" altLang="zh-CN" sz="1800" dirty="0"/>
              <a:t>E</a:t>
            </a:r>
            <a:r>
              <a:rPr lang="zh-CN" altLang="en-US" sz="1800" dirty="0"/>
              <a:t>，所以不冗余，不能去掉。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AG→B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:G={B→D, DG→C, BD→E, ADG→B, ADG→C} </a:t>
            </a:r>
            <a:r>
              <a:rPr lang="zh-CN" altLang="en-US" sz="1800" dirty="0"/>
              <a:t>，</a:t>
            </a:r>
            <a:r>
              <a:rPr lang="en-US" altLang="zh-CN" sz="1800" dirty="0"/>
              <a:t>(AG)</a:t>
            </a:r>
            <a:r>
              <a:rPr lang="en-US" altLang="zh-CN" sz="1800" baseline="-25000" dirty="0">
                <a:sym typeface="Calibri" pitchFamily="34" charset="0"/>
              </a:rPr>
              <a:t> G</a:t>
            </a:r>
            <a:r>
              <a:rPr lang="en-US" altLang="zh-CN" sz="1800" baseline="50000" dirty="0">
                <a:sym typeface="Calibri" pitchFamily="34" charset="0"/>
              </a:rPr>
              <a:t>+ </a:t>
            </a:r>
            <a:r>
              <a:rPr lang="en-US" altLang="zh-CN" sz="1800" dirty="0"/>
              <a:t>=AG</a:t>
            </a:r>
            <a:r>
              <a:rPr lang="zh-CN" altLang="en-US" sz="1800" dirty="0"/>
              <a:t>不包含</a:t>
            </a:r>
            <a:r>
              <a:rPr lang="en-US" altLang="zh-CN" sz="1800" dirty="0"/>
              <a:t>B</a:t>
            </a:r>
            <a:r>
              <a:rPr lang="zh-CN" altLang="en-US" sz="1800" dirty="0"/>
              <a:t>，所以不冗余，不能去掉。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ADG→B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:G={B→D, DG→C, BD→E, AG→B, ADG→C} 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0000FF"/>
                </a:solidFill>
              </a:rPr>
              <a:t>(ADG)</a:t>
            </a:r>
            <a:r>
              <a:rPr lang="en-US" altLang="zh-CN" sz="1800" baseline="-25000" dirty="0">
                <a:sym typeface="Calibri" pitchFamily="34" charset="0"/>
              </a:rPr>
              <a:t> </a:t>
            </a:r>
            <a:r>
              <a:rPr lang="en-US" altLang="zh-CN" sz="1800" baseline="-25000" dirty="0">
                <a:solidFill>
                  <a:srgbClr val="0000FF"/>
                </a:solidFill>
                <a:sym typeface="Calibri" pitchFamily="34" charset="0"/>
              </a:rPr>
              <a:t>G</a:t>
            </a:r>
            <a:r>
              <a:rPr lang="en-US" altLang="zh-CN" sz="1800" baseline="50000" dirty="0">
                <a:solidFill>
                  <a:srgbClr val="0000FF"/>
                </a:solidFill>
                <a:sym typeface="Calibri" pitchFamily="34" charset="0"/>
              </a:rPr>
              <a:t>+</a:t>
            </a:r>
            <a:r>
              <a:rPr lang="en-US" altLang="zh-CN" sz="1800" baseline="50000" dirty="0">
                <a:sym typeface="Calibri" pitchFamily="34" charset="0"/>
              </a:rPr>
              <a:t> </a:t>
            </a:r>
            <a:r>
              <a:rPr lang="en-US" altLang="zh-CN" sz="1800" dirty="0">
                <a:solidFill>
                  <a:srgbClr val="0000FF"/>
                </a:solidFill>
              </a:rPr>
              <a:t>=ABCDEG</a:t>
            </a:r>
            <a:r>
              <a:rPr lang="zh-CN" altLang="en-US" sz="1800" dirty="0">
                <a:solidFill>
                  <a:srgbClr val="0000FF"/>
                </a:solidFill>
              </a:rPr>
              <a:t>包含</a:t>
            </a:r>
            <a:r>
              <a:rPr lang="en-US" altLang="zh-CN" sz="1800" dirty="0">
                <a:solidFill>
                  <a:srgbClr val="0000FF"/>
                </a:solidFill>
              </a:rPr>
              <a:t>B</a:t>
            </a:r>
            <a:r>
              <a:rPr lang="zh-CN" altLang="en-US" sz="1800" dirty="0">
                <a:solidFill>
                  <a:srgbClr val="0000FF"/>
                </a:solidFill>
              </a:rPr>
              <a:t>，所以冗余，去掉。</a:t>
            </a:r>
          </a:p>
          <a:p>
            <a:pPr lvl="1">
              <a:spcBef>
                <a:spcPts val="0"/>
              </a:spcBef>
              <a:spcAft>
                <a:spcPts val="0"/>
              </a:spcAft>
            </a:pPr>
            <a:r>
              <a:rPr lang="zh-CN" altLang="en-US" sz="1800" dirty="0"/>
              <a:t>去掉</a:t>
            </a:r>
            <a:r>
              <a:rPr lang="en-US" altLang="zh-CN" sz="1800" dirty="0"/>
              <a:t>ADG→C</a:t>
            </a:r>
            <a:r>
              <a:rPr lang="zh-CN" altLang="en-US" sz="1800" dirty="0"/>
              <a:t>，得</a:t>
            </a:r>
            <a:r>
              <a:rPr lang="en-US" altLang="zh-CN" sz="1800" dirty="0"/>
              <a:t>:G={B→D, DG→C, BD→E, AG→B} </a:t>
            </a:r>
            <a:r>
              <a:rPr lang="zh-CN" altLang="en-US" sz="1800" dirty="0"/>
              <a:t>，</a:t>
            </a:r>
            <a:r>
              <a:rPr lang="en-US" altLang="zh-CN" sz="1800" dirty="0">
                <a:solidFill>
                  <a:srgbClr val="0000FF"/>
                </a:solidFill>
              </a:rPr>
              <a:t>(ADG)</a:t>
            </a:r>
            <a:r>
              <a:rPr lang="en-US" altLang="zh-CN" sz="1800" baseline="-25000" dirty="0">
                <a:solidFill>
                  <a:srgbClr val="0000FF"/>
                </a:solidFill>
                <a:sym typeface="Calibri" pitchFamily="34" charset="0"/>
              </a:rPr>
              <a:t> G</a:t>
            </a:r>
            <a:r>
              <a:rPr lang="en-US" altLang="zh-CN" sz="1800" baseline="50000" dirty="0">
                <a:solidFill>
                  <a:srgbClr val="0000FF"/>
                </a:solidFill>
                <a:sym typeface="Calibri" pitchFamily="34" charset="0"/>
              </a:rPr>
              <a:t>+ </a:t>
            </a:r>
            <a:r>
              <a:rPr lang="en-US" altLang="zh-CN" sz="1800" dirty="0">
                <a:solidFill>
                  <a:srgbClr val="0000FF"/>
                </a:solidFill>
              </a:rPr>
              <a:t>=ABCDEG</a:t>
            </a:r>
            <a:r>
              <a:rPr lang="zh-CN" altLang="en-US" sz="1800" dirty="0">
                <a:solidFill>
                  <a:srgbClr val="0000FF"/>
                </a:solidFill>
              </a:rPr>
              <a:t>包含</a:t>
            </a:r>
            <a:r>
              <a:rPr lang="en-US" altLang="zh-CN" sz="1800" dirty="0">
                <a:solidFill>
                  <a:srgbClr val="0000FF"/>
                </a:solidFill>
              </a:rPr>
              <a:t>C</a:t>
            </a:r>
            <a:r>
              <a:rPr lang="zh-CN" altLang="en-US" sz="1800" dirty="0">
                <a:solidFill>
                  <a:srgbClr val="0000FF"/>
                </a:solidFill>
              </a:rPr>
              <a:t>，所以冗余，去掉。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C00000"/>
                </a:solidFill>
              </a:rPr>
              <a:t>综上：</a:t>
            </a:r>
            <a:r>
              <a:rPr lang="en-US" altLang="zh-CN" sz="2000" dirty="0">
                <a:solidFill>
                  <a:srgbClr val="C00000"/>
                </a:solidFill>
              </a:rPr>
              <a:t>F2={B→D, DG→C, BD→E, AG→B}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6AC6DBC-98EF-4520-ACB1-82CA0895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96</a:t>
            </a:fld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483CD6FA-0060-4C96-B00B-54C0DD74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最小依赖集的求法示例</a:t>
            </a:r>
          </a:p>
        </p:txBody>
      </p:sp>
    </p:spTree>
    <p:extLst>
      <p:ext uri="{BB962C8B-B14F-4D97-AF65-F5344CB8AC3E}">
        <p14:creationId xmlns:p14="http://schemas.microsoft.com/office/powerpoint/2010/main" val="2471235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4D38C74-9434-4F06-831E-C2E71204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>
                <a:solidFill>
                  <a:srgbClr val="0000FF"/>
                </a:solidFill>
              </a:rPr>
              <a:t>F2={B→D, DG→C, BD→E, AG→B}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C00000"/>
                </a:solidFill>
              </a:rPr>
              <a:t>去掉</a:t>
            </a:r>
            <a:r>
              <a:rPr lang="en-US" altLang="zh-CN" dirty="0">
                <a:solidFill>
                  <a:srgbClr val="C00000"/>
                </a:solidFill>
              </a:rPr>
              <a:t>F2</a:t>
            </a:r>
            <a:r>
              <a:rPr lang="zh-CN" altLang="en-US" dirty="0">
                <a:solidFill>
                  <a:srgbClr val="C00000"/>
                </a:solidFill>
              </a:rPr>
              <a:t>中函数依赖左边多余的属性：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 smtClean="0"/>
              <a:t>G</a:t>
            </a:r>
            <a:r>
              <a:rPr lang="zh-CN" altLang="en-US" dirty="0" smtClean="0"/>
              <a:t>冗余，对</a:t>
            </a:r>
            <a:r>
              <a:rPr lang="en-US" altLang="zh-CN" dirty="0"/>
              <a:t>D→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=D</a:t>
            </a:r>
            <a:r>
              <a:rPr lang="zh-CN" altLang="en-US" dirty="0"/>
              <a:t>不包含</a:t>
            </a:r>
            <a:r>
              <a:rPr lang="en-US" altLang="zh-CN" dirty="0"/>
              <a:t>C</a:t>
            </a:r>
            <a:r>
              <a:rPr lang="zh-CN" altLang="en-US" dirty="0"/>
              <a:t>，所以</a:t>
            </a:r>
            <a:r>
              <a:rPr lang="en-US" altLang="zh-CN" dirty="0"/>
              <a:t>G</a:t>
            </a:r>
            <a:r>
              <a:rPr lang="zh-CN" altLang="en-US" dirty="0"/>
              <a:t>不能去掉。</a:t>
            </a: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/>
              <a:t>D</a:t>
            </a:r>
            <a:r>
              <a:rPr lang="zh-CN" altLang="en-US" dirty="0" smtClean="0"/>
              <a:t>冗余，对</a:t>
            </a:r>
            <a:r>
              <a:rPr lang="en-US" altLang="zh-CN" dirty="0"/>
              <a:t>G→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=G</a:t>
            </a:r>
            <a:r>
              <a:rPr lang="zh-CN" altLang="en-US" dirty="0"/>
              <a:t>不包含</a:t>
            </a:r>
            <a:r>
              <a:rPr lang="en-US" altLang="zh-CN" dirty="0"/>
              <a:t>C</a:t>
            </a:r>
            <a:r>
              <a:rPr lang="zh-CN" altLang="en-US" dirty="0"/>
              <a:t>，所以</a:t>
            </a:r>
            <a:r>
              <a:rPr lang="en-US" altLang="zh-CN" dirty="0"/>
              <a:t>D</a:t>
            </a:r>
            <a:r>
              <a:rPr lang="zh-CN" altLang="en-US" dirty="0"/>
              <a:t>不能去掉。</a:t>
            </a: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 smtClean="0"/>
              <a:t>D</a:t>
            </a:r>
            <a:r>
              <a:rPr lang="zh-CN" altLang="en-US" dirty="0" smtClean="0"/>
              <a:t>冗余</a:t>
            </a:r>
            <a:r>
              <a:rPr lang="zh-CN" altLang="en-US" dirty="0"/>
              <a:t>，</a:t>
            </a:r>
            <a:r>
              <a:rPr lang="zh-CN" altLang="en-US" dirty="0" smtClean="0"/>
              <a:t>对</a:t>
            </a:r>
            <a:r>
              <a:rPr lang="en-US" altLang="zh-CN" dirty="0"/>
              <a:t>B→E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=BD</a:t>
            </a:r>
            <a:r>
              <a:rPr lang="zh-CN" altLang="en-US" dirty="0"/>
              <a:t>不包含</a:t>
            </a:r>
            <a:r>
              <a:rPr lang="en-US" altLang="zh-CN" dirty="0"/>
              <a:t>E</a:t>
            </a:r>
            <a:r>
              <a:rPr lang="zh-CN" altLang="en-US" dirty="0"/>
              <a:t>，所以</a:t>
            </a:r>
            <a:r>
              <a:rPr lang="en-US" altLang="zh-CN" dirty="0"/>
              <a:t>D</a:t>
            </a:r>
            <a:r>
              <a:rPr lang="zh-CN" altLang="en-US" dirty="0"/>
              <a:t>不能去掉。</a:t>
            </a: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 smtClean="0"/>
              <a:t>B</a:t>
            </a:r>
            <a:r>
              <a:rPr lang="zh-CN" altLang="en-US" dirty="0" smtClean="0"/>
              <a:t>冗余</a:t>
            </a:r>
            <a:r>
              <a:rPr lang="zh-CN" altLang="en-US" dirty="0"/>
              <a:t>，</a:t>
            </a:r>
            <a:r>
              <a:rPr lang="zh-CN" altLang="en-US" dirty="0" smtClean="0"/>
              <a:t>对</a:t>
            </a:r>
            <a:r>
              <a:rPr lang="en-US" altLang="zh-CN" dirty="0"/>
              <a:t>D→E</a:t>
            </a:r>
            <a:r>
              <a:rPr lang="zh-CN" altLang="en-US" dirty="0" smtClean="0"/>
              <a:t>，</a:t>
            </a:r>
            <a:r>
              <a:rPr lang="en-US" altLang="zh-CN" dirty="0" smtClean="0"/>
              <a:t>D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=D</a:t>
            </a:r>
            <a:r>
              <a:rPr lang="zh-CN" altLang="en-US" dirty="0"/>
              <a:t>不包含</a:t>
            </a:r>
            <a:r>
              <a:rPr lang="en-US" altLang="zh-CN" dirty="0"/>
              <a:t>E</a:t>
            </a:r>
            <a:r>
              <a:rPr lang="zh-CN" altLang="en-US" dirty="0"/>
              <a:t>，所以</a:t>
            </a:r>
            <a:r>
              <a:rPr lang="en-US" altLang="zh-CN" dirty="0"/>
              <a:t>B</a:t>
            </a:r>
            <a:r>
              <a:rPr lang="zh-CN" altLang="en-US" dirty="0"/>
              <a:t>不能去掉。</a:t>
            </a: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 smtClean="0"/>
              <a:t>G</a:t>
            </a:r>
            <a:r>
              <a:rPr lang="zh-CN" altLang="en-US" dirty="0" smtClean="0"/>
              <a:t>冗余</a:t>
            </a:r>
            <a:r>
              <a:rPr lang="zh-CN" altLang="en-US" dirty="0"/>
              <a:t>，</a:t>
            </a:r>
            <a:r>
              <a:rPr lang="zh-CN" altLang="en-US" dirty="0" smtClean="0"/>
              <a:t>对</a:t>
            </a:r>
            <a:r>
              <a:rPr lang="en-US" altLang="zh-CN" dirty="0"/>
              <a:t>A→B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=A</a:t>
            </a:r>
            <a:r>
              <a:rPr lang="zh-CN" altLang="en-US" dirty="0"/>
              <a:t>不包含</a:t>
            </a:r>
            <a:r>
              <a:rPr lang="en-US" altLang="zh-CN" dirty="0"/>
              <a:t>B</a:t>
            </a:r>
            <a:r>
              <a:rPr lang="zh-CN" altLang="en-US" dirty="0"/>
              <a:t>，所以</a:t>
            </a:r>
            <a:r>
              <a:rPr lang="en-US" altLang="zh-CN" dirty="0"/>
              <a:t>G</a:t>
            </a:r>
            <a:r>
              <a:rPr lang="zh-CN" altLang="en-US" dirty="0"/>
              <a:t>不能去掉。</a:t>
            </a:r>
          </a:p>
          <a:p>
            <a:pPr lvl="1"/>
            <a:r>
              <a:rPr lang="zh-CN" altLang="en-US" dirty="0" smtClean="0"/>
              <a:t>假设</a:t>
            </a:r>
            <a:r>
              <a:rPr lang="en-US" altLang="zh-CN" dirty="0" smtClean="0"/>
              <a:t>A</a:t>
            </a:r>
            <a:r>
              <a:rPr lang="zh-CN" altLang="en-US" dirty="0" smtClean="0"/>
              <a:t>冗余</a:t>
            </a:r>
            <a:r>
              <a:rPr lang="zh-CN" altLang="en-US" dirty="0"/>
              <a:t>，</a:t>
            </a:r>
            <a:r>
              <a:rPr lang="zh-CN" altLang="en-US" dirty="0" smtClean="0"/>
              <a:t>对</a:t>
            </a:r>
            <a:r>
              <a:rPr lang="en-US" altLang="zh-CN" dirty="0"/>
              <a:t>G→B</a:t>
            </a:r>
            <a:r>
              <a:rPr lang="zh-CN" altLang="en-US" dirty="0" smtClean="0"/>
              <a:t>，</a:t>
            </a:r>
            <a:r>
              <a:rPr lang="en-US" altLang="zh-CN" dirty="0" smtClean="0"/>
              <a:t>G</a:t>
            </a:r>
            <a:r>
              <a:rPr lang="en-US" altLang="zh-CN" baseline="-25000" dirty="0" smtClean="0">
                <a:sym typeface="Calibri" pitchFamily="34" charset="0"/>
              </a:rPr>
              <a:t>F2</a:t>
            </a:r>
            <a:r>
              <a:rPr lang="en-US" altLang="zh-CN" baseline="50000" dirty="0">
                <a:sym typeface="Calibri" pitchFamily="34" charset="0"/>
              </a:rPr>
              <a:t>+</a:t>
            </a:r>
            <a:r>
              <a:rPr lang="en-US" altLang="zh-CN" dirty="0"/>
              <a:t>=G</a:t>
            </a:r>
            <a:r>
              <a:rPr lang="zh-CN" altLang="en-US" dirty="0"/>
              <a:t>不包含</a:t>
            </a:r>
            <a:r>
              <a:rPr lang="en-US" altLang="zh-CN" dirty="0"/>
              <a:t>B</a:t>
            </a:r>
            <a:r>
              <a:rPr lang="zh-CN" altLang="en-US" dirty="0"/>
              <a:t>，所以</a:t>
            </a:r>
            <a:r>
              <a:rPr lang="en-US" altLang="zh-CN" dirty="0"/>
              <a:t>A</a:t>
            </a:r>
            <a:r>
              <a:rPr lang="zh-CN" altLang="en-US" dirty="0"/>
              <a:t>不能去掉。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所以，</a:t>
            </a:r>
            <a:r>
              <a:rPr lang="en-US" altLang="zh-CN" dirty="0" err="1">
                <a:solidFill>
                  <a:srgbClr val="0000FF"/>
                </a:solidFill>
              </a:rPr>
              <a:t>F</a:t>
            </a:r>
            <a:r>
              <a:rPr lang="en-US" altLang="zh-CN" sz="2000" dirty="0" err="1">
                <a:solidFill>
                  <a:srgbClr val="0000FF"/>
                </a:solidFill>
              </a:rPr>
              <a:t>m</a:t>
            </a:r>
            <a:r>
              <a:rPr lang="en-US" altLang="zh-CN" dirty="0">
                <a:solidFill>
                  <a:srgbClr val="0000FF"/>
                </a:solidFill>
              </a:rPr>
              <a:t>={B→D, DG→C, BD→E, AG→B}</a:t>
            </a:r>
            <a:r>
              <a:rPr lang="zh-CN" altLang="en-US" dirty="0">
                <a:solidFill>
                  <a:srgbClr val="0000FF"/>
                </a:solidFill>
              </a:rPr>
              <a:t>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C1FB40E3-3996-4EED-B6A6-DA0885D46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9E101-E51D-431E-84FA-C029B8655B60}" type="slidenum">
              <a:rPr lang="zh-CN" altLang="en-US" smtClean="0"/>
              <a:pPr/>
              <a:t>97</a:t>
            </a:fld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85105864-0477-4D76-B628-22BA11921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最小依赖集的求法示例</a:t>
            </a:r>
          </a:p>
        </p:txBody>
      </p:sp>
    </p:spTree>
    <p:extLst>
      <p:ext uri="{BB962C8B-B14F-4D97-AF65-F5344CB8AC3E}">
        <p14:creationId xmlns:p14="http://schemas.microsoft.com/office/powerpoint/2010/main" val="4069941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>
            <a:extLst>
              <a:ext uri="{FF2B5EF4-FFF2-40B4-BE49-F238E27FC236}">
                <a16:creationId xmlns:a16="http://schemas.microsoft.com/office/drawing/2014/main" xmlns="" id="{1FD0705B-1712-4799-BC33-97F75A0C7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练习</a:t>
            </a:r>
            <a:r>
              <a:rPr lang="zh-CN" altLang="en-US" dirty="0" smtClean="0"/>
              <a:t>：</a:t>
            </a:r>
            <a:r>
              <a:rPr lang="zh-CN" altLang="en-US" dirty="0"/>
              <a:t>设关系模式</a:t>
            </a:r>
            <a:r>
              <a:rPr lang="en-US" altLang="zh-CN" dirty="0"/>
              <a:t>R(U</a:t>
            </a:r>
            <a:r>
              <a:rPr lang="zh-CN" altLang="en-US" dirty="0"/>
              <a:t>，</a:t>
            </a:r>
            <a:r>
              <a:rPr lang="en-US" altLang="zh-CN" dirty="0"/>
              <a:t>F)</a:t>
            </a:r>
            <a:r>
              <a:rPr lang="zh-CN" altLang="en-US" dirty="0"/>
              <a:t>中，</a:t>
            </a:r>
            <a:r>
              <a:rPr lang="en-US" altLang="zh-CN" dirty="0"/>
              <a:t>U={A,</a:t>
            </a:r>
            <a:r>
              <a:rPr lang="zh-CN" altLang="en-US" dirty="0"/>
              <a:t> </a:t>
            </a:r>
            <a:r>
              <a:rPr lang="en-US" altLang="zh-CN" dirty="0"/>
              <a:t>B, C, D, E, G}</a:t>
            </a:r>
            <a:r>
              <a:rPr lang="zh-CN" altLang="en-US" dirty="0"/>
              <a:t>，</a:t>
            </a:r>
            <a:r>
              <a:rPr lang="zh-CN" altLang="en-US" dirty="0" smtClean="0"/>
              <a:t>设有</a:t>
            </a:r>
            <a:r>
              <a:rPr lang="zh-CN" altLang="en-US" dirty="0"/>
              <a:t>依赖集：</a:t>
            </a:r>
            <a:r>
              <a:rPr lang="en-US" altLang="zh-CN" dirty="0"/>
              <a:t>F={AB→C,C→A,BC→D,ACD→B,D→EG,BE→C,CG→BD, CE→AG}</a:t>
            </a:r>
            <a:r>
              <a:rPr lang="zh-CN" altLang="en-US" dirty="0"/>
              <a:t>，计算与其等价的最小依赖集。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xmlns="" id="{726EDEC5-E35B-4CAA-B368-E3703A17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最小依赖集的求法示例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1" name="Rectangle 3">
            <a:extLst>
              <a:ext uri="{FF2B5EF4-FFF2-40B4-BE49-F238E27FC236}">
                <a16:creationId xmlns:a16="http://schemas.microsoft.com/office/drawing/2014/main" xmlns="" id="{1FD0705B-1712-4799-BC33-97F75A0C7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设有依赖集：</a:t>
            </a:r>
            <a:r>
              <a:rPr lang="en-US" altLang="zh-CN" dirty="0"/>
              <a:t>F={AB→C,C→A,BC→D,ACD→B,D→EG,BE→C,CG→BD, CE→AG}</a:t>
            </a:r>
            <a:r>
              <a:rPr lang="zh-CN" altLang="en-US" dirty="0"/>
              <a:t>，计算与其等价的最小依赖集。</a:t>
            </a:r>
          </a:p>
          <a:p>
            <a:pPr lvl="1"/>
            <a:r>
              <a:rPr lang="zh-CN" altLang="en-US" dirty="0"/>
              <a:t>解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）将</a:t>
            </a:r>
            <a:r>
              <a:rPr lang="en-US" altLang="zh-CN" dirty="0"/>
              <a:t>F</a:t>
            </a:r>
            <a:r>
              <a:rPr lang="zh-CN" altLang="en-US" dirty="0"/>
              <a:t>中右部属性</a:t>
            </a:r>
            <a:r>
              <a:rPr lang="zh-CN" altLang="en-US" dirty="0">
                <a:solidFill>
                  <a:srgbClr val="C00000"/>
                </a:solidFill>
              </a:rPr>
              <a:t>单一化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lvl="1" indent="0" algn="ctr">
              <a:lnSpc>
                <a:spcPct val="120000"/>
              </a:lnSpc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F1={ABC,CA, BCD, ACDB,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DE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DG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,BEC,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CGB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 CGD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CEA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CEG</a:t>
            </a:r>
            <a:r>
              <a:rPr lang="en-US" altLang="zh-CN" dirty="0">
                <a:sym typeface="Symbol"/>
              </a:rPr>
              <a:t>}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）在</a:t>
            </a:r>
            <a:r>
              <a:rPr lang="en-US" altLang="zh-CN" dirty="0"/>
              <a:t>F1</a:t>
            </a:r>
            <a:r>
              <a:rPr lang="zh-CN" altLang="en-US" dirty="0"/>
              <a:t>中去掉</a:t>
            </a:r>
            <a:r>
              <a:rPr lang="zh-CN" altLang="en-US" dirty="0">
                <a:solidFill>
                  <a:srgbClr val="C00000"/>
                </a:solidFill>
              </a:rPr>
              <a:t>左部冗余</a:t>
            </a:r>
            <a:r>
              <a:rPr lang="zh-CN" altLang="en-US" dirty="0"/>
              <a:t>的属性：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ym typeface="Symbol"/>
              </a:rPr>
              <a:t>  对于</a:t>
            </a:r>
            <a:r>
              <a:rPr lang="en-US" altLang="zh-CN" dirty="0">
                <a:sym typeface="Symbol"/>
              </a:rPr>
              <a:t>CEA</a:t>
            </a:r>
            <a:r>
              <a:rPr lang="zh-CN" altLang="en-US" dirty="0">
                <a:sym typeface="Symbol"/>
              </a:rPr>
              <a:t>，由于</a:t>
            </a:r>
            <a:r>
              <a:rPr lang="en-US" altLang="zh-CN" dirty="0">
                <a:sym typeface="Symbol"/>
              </a:rPr>
              <a:t>CA</a:t>
            </a:r>
            <a:r>
              <a:rPr lang="zh-CN" altLang="en-US" dirty="0">
                <a:sym typeface="Symbol"/>
              </a:rPr>
              <a:t>，故</a:t>
            </a:r>
            <a:r>
              <a:rPr lang="en-US" altLang="zh-CN" dirty="0">
                <a:sym typeface="Symbol"/>
              </a:rPr>
              <a:t>E</a:t>
            </a:r>
            <a:r>
              <a:rPr lang="zh-CN" altLang="en-US" dirty="0">
                <a:sym typeface="Symbol"/>
              </a:rPr>
              <a:t>是多余的；</a:t>
            </a:r>
            <a:endParaRPr lang="en-US" altLang="zh-CN" dirty="0">
              <a:sym typeface="Symbol"/>
            </a:endParaRPr>
          </a:p>
          <a:p>
            <a:pPr marL="457200" lvl="1" indent="0">
              <a:buNone/>
            </a:pPr>
            <a:r>
              <a:rPr lang="zh-CN" altLang="en-US" dirty="0">
                <a:sym typeface="Symbol"/>
              </a:rPr>
              <a:t>  对于</a:t>
            </a:r>
            <a:r>
              <a:rPr lang="en-US" altLang="zh-CN" dirty="0">
                <a:sym typeface="Symbol"/>
              </a:rPr>
              <a:t>ACDB</a:t>
            </a:r>
            <a:r>
              <a:rPr lang="zh-CN" altLang="en-US" dirty="0">
                <a:sym typeface="Symbol"/>
              </a:rPr>
              <a:t>，由于</a:t>
            </a:r>
            <a:r>
              <a:rPr lang="en-US" altLang="zh-CN" dirty="0">
                <a:sym typeface="Symbol"/>
              </a:rPr>
              <a:t>(CD)</a:t>
            </a:r>
            <a:r>
              <a:rPr lang="en-US" altLang="zh-CN" baseline="30000" dirty="0">
                <a:sym typeface="Symbol"/>
              </a:rPr>
              <a:t>+</a:t>
            </a:r>
            <a:r>
              <a:rPr lang="en-US" altLang="zh-CN" dirty="0">
                <a:sym typeface="Symbol"/>
              </a:rPr>
              <a:t>=ABCDEG</a:t>
            </a:r>
            <a:r>
              <a:rPr lang="zh-CN" altLang="en-US" dirty="0">
                <a:sym typeface="Symbol"/>
              </a:rPr>
              <a:t>，故</a:t>
            </a:r>
            <a:r>
              <a:rPr lang="en-US" altLang="zh-CN" dirty="0">
                <a:sym typeface="Symbol"/>
              </a:rPr>
              <a:t>A</a:t>
            </a:r>
            <a:r>
              <a:rPr lang="zh-CN" altLang="en-US" dirty="0">
                <a:sym typeface="Symbol"/>
              </a:rPr>
              <a:t>多余。</a:t>
            </a:r>
            <a:endParaRPr lang="en-US" altLang="zh-CN" dirty="0">
              <a:sym typeface="Symbol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FF"/>
                </a:solidFill>
                <a:sym typeface="Symbol"/>
              </a:rPr>
              <a:t>  F2={ABC, CA, BCD,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CDB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DE, DG, BE C, CGB, CGD, CEG</a:t>
            </a:r>
            <a:r>
              <a:rPr lang="en-US" altLang="zh-CN" dirty="0">
                <a:sym typeface="Symbol"/>
              </a:rPr>
              <a:t>}</a:t>
            </a:r>
          </a:p>
          <a:p>
            <a:pPr marL="457200" lvl="1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）在</a:t>
            </a:r>
            <a:r>
              <a:rPr lang="en-US" altLang="zh-CN" dirty="0"/>
              <a:t>F2</a:t>
            </a:r>
            <a:r>
              <a:rPr lang="zh-CN" altLang="en-US" dirty="0"/>
              <a:t>中去掉</a:t>
            </a:r>
            <a:r>
              <a:rPr lang="zh-CN" altLang="en-US" dirty="0">
                <a:solidFill>
                  <a:srgbClr val="C00000"/>
                </a:solidFill>
              </a:rPr>
              <a:t>冗余的函数依赖</a:t>
            </a:r>
            <a:r>
              <a:rPr lang="zh-CN" altLang="en-US" dirty="0"/>
              <a:t>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>
                <a:sym typeface="Symbol"/>
              </a:rPr>
              <a:t>  对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CGB</a:t>
            </a:r>
            <a:r>
              <a:rPr lang="zh-CN" altLang="en-US" dirty="0">
                <a:sym typeface="Symbol"/>
              </a:rPr>
              <a:t>，由于</a:t>
            </a:r>
            <a:r>
              <a:rPr lang="en-US" altLang="zh-CN" dirty="0">
                <a:sym typeface="Symbol"/>
              </a:rPr>
              <a:t>(CG)</a:t>
            </a:r>
            <a:r>
              <a:rPr lang="en-US" altLang="zh-CN" baseline="30000" dirty="0">
                <a:sym typeface="Symbol"/>
              </a:rPr>
              <a:t>+</a:t>
            </a:r>
            <a:r>
              <a:rPr lang="en-US" altLang="zh-CN" dirty="0">
                <a:sym typeface="Symbol"/>
              </a:rPr>
              <a:t>=ABCDEG</a:t>
            </a:r>
            <a:r>
              <a:rPr lang="zh-CN" altLang="en-US" dirty="0">
                <a:sym typeface="Symbol"/>
              </a:rPr>
              <a:t>，故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CGB</a:t>
            </a:r>
            <a:r>
              <a:rPr lang="zh-CN" altLang="en-US" dirty="0">
                <a:sym typeface="Symbol"/>
              </a:rPr>
              <a:t>是多余的。</a:t>
            </a:r>
            <a:endParaRPr lang="en-US" altLang="zh-CN" dirty="0">
              <a:sym typeface="Symbol"/>
            </a:endParaRPr>
          </a:p>
          <a:p>
            <a:pPr marL="457200" lvl="1" indent="0">
              <a:buNone/>
            </a:pPr>
            <a:r>
              <a:rPr lang="en-US" altLang="zh-CN" dirty="0">
                <a:solidFill>
                  <a:srgbClr val="0000FF"/>
                </a:solidFill>
                <a:sym typeface="Symbol"/>
              </a:rPr>
              <a:t>  F3={ABC, CA, BCD, CDB,</a:t>
            </a:r>
            <a:r>
              <a:rPr lang="zh-CN" altLang="en-US" dirty="0">
                <a:solidFill>
                  <a:srgbClr val="0000FF"/>
                </a:solidFill>
                <a:sym typeface="Symbol"/>
              </a:rPr>
              <a:t> 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DE, DG, BEC, 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CGD</a:t>
            </a:r>
            <a:r>
              <a:rPr lang="en-US" altLang="zh-CN" dirty="0">
                <a:solidFill>
                  <a:srgbClr val="0000FF"/>
                </a:solidFill>
                <a:sym typeface="Symbol"/>
              </a:rPr>
              <a:t>, CEG</a:t>
            </a:r>
            <a:r>
              <a:rPr lang="en-US" altLang="zh-CN" dirty="0">
                <a:sym typeface="Symbol"/>
              </a:rPr>
              <a:t>}</a:t>
            </a:r>
          </a:p>
          <a:p>
            <a:pPr lvl="1"/>
            <a:r>
              <a:rPr lang="en-US" altLang="zh-CN" dirty="0">
                <a:solidFill>
                  <a:srgbClr val="C00000"/>
                </a:solidFill>
                <a:sym typeface="Symbol"/>
              </a:rPr>
              <a:t>CGB</a:t>
            </a:r>
            <a:r>
              <a:rPr lang="zh-CN" altLang="en-US" dirty="0">
                <a:sym typeface="Symbol"/>
              </a:rPr>
              <a:t>与</a:t>
            </a:r>
            <a:r>
              <a:rPr lang="en-US" altLang="zh-CN" dirty="0">
                <a:solidFill>
                  <a:srgbClr val="C00000"/>
                </a:solidFill>
                <a:sym typeface="Symbol"/>
              </a:rPr>
              <a:t>CDB</a:t>
            </a:r>
            <a:r>
              <a:rPr lang="zh-CN" altLang="en-US" dirty="0">
                <a:sym typeface="Symbol"/>
              </a:rPr>
              <a:t>不能同时存在，但去掉任何一个都可以，说明最小依赖集</a:t>
            </a:r>
            <a:r>
              <a:rPr lang="zh-CN" altLang="en-US" dirty="0">
                <a:solidFill>
                  <a:srgbClr val="C00000"/>
                </a:solidFill>
                <a:sym typeface="Symbol"/>
              </a:rPr>
              <a:t>不唯一</a:t>
            </a:r>
            <a:r>
              <a:rPr lang="zh-CN" altLang="en-US" dirty="0">
                <a:sym typeface="Symbol"/>
              </a:rPr>
              <a:t>。</a:t>
            </a:r>
            <a:endParaRPr lang="en-US" altLang="zh-CN" dirty="0">
              <a:sym typeface="Symbol"/>
            </a:endParaRPr>
          </a:p>
          <a:p>
            <a:pPr marL="457200" lvl="1" indent="0">
              <a:buNone/>
            </a:pPr>
            <a:endParaRPr lang="en-US" altLang="zh-CN" dirty="0"/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xmlns="" id="{726EDEC5-E35B-4CAA-B368-E3703A17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最小依赖集的求法示例</a:t>
            </a:r>
          </a:p>
        </p:txBody>
      </p:sp>
    </p:spTree>
    <p:extLst>
      <p:ext uri="{BB962C8B-B14F-4D97-AF65-F5344CB8AC3E}">
        <p14:creationId xmlns:p14="http://schemas.microsoft.com/office/powerpoint/2010/main" val="377100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defRPr/>
            </a:pPr>
            <a:r>
              <a:rPr lang="zh-CN" altLang="en-US" dirty="0"/>
              <a:t>关系模式的规范化，其基本思想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100</a:t>
            </a:fld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6104" y="2018452"/>
            <a:ext cx="7220838" cy="4184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826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规范化理论为数据库设计提供理论的指南和工具</a:t>
            </a:r>
          </a:p>
          <a:p>
            <a:pPr lvl="1"/>
            <a:r>
              <a:rPr lang="zh-CN" altLang="zh-CN" dirty="0"/>
              <a:t>仅仅是指南和工具</a:t>
            </a:r>
            <a:r>
              <a:rPr lang="zh-CN" altLang="en-US" dirty="0"/>
              <a:t>。</a:t>
            </a:r>
            <a:endParaRPr lang="zh-CN" altLang="zh-CN" dirty="0"/>
          </a:p>
          <a:p>
            <a:r>
              <a:rPr lang="zh-CN" altLang="zh-CN" dirty="0"/>
              <a:t>并不是规范化程度越高，模式就越好</a:t>
            </a:r>
          </a:p>
          <a:p>
            <a:pPr lvl="1"/>
            <a:r>
              <a:rPr lang="zh-CN" altLang="zh-CN" dirty="0"/>
              <a:t>必须结合应用环境和现实世界的具体情况合理地选择数据库模式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要求：</a:t>
            </a:r>
            <a:endParaRPr lang="en-US" altLang="zh-CN" dirty="0"/>
          </a:p>
          <a:p>
            <a:pPr lvl="1"/>
            <a:r>
              <a:rPr lang="zh-CN" altLang="en-US" dirty="0"/>
              <a:t>能根据数据依赖分析一个关系模式属于第几范式</a:t>
            </a:r>
          </a:p>
          <a:p>
            <a:pPr lvl="1"/>
            <a:r>
              <a:rPr lang="zh-CN" altLang="en-US" dirty="0"/>
              <a:t>会求</a:t>
            </a:r>
            <a:r>
              <a:rPr lang="en-US" altLang="zh-CN" dirty="0"/>
              <a:t>X</a:t>
            </a:r>
            <a:r>
              <a:rPr lang="zh-CN" altLang="en-US" dirty="0"/>
              <a:t>关于</a:t>
            </a:r>
            <a:r>
              <a:rPr lang="en-US" altLang="zh-CN" dirty="0"/>
              <a:t>F</a:t>
            </a:r>
            <a:r>
              <a:rPr lang="zh-CN" altLang="en-US" dirty="0"/>
              <a:t>的闭包</a:t>
            </a:r>
            <a:r>
              <a:rPr lang="en-US" altLang="zh-CN" dirty="0"/>
              <a:t>X</a:t>
            </a:r>
            <a:r>
              <a:rPr lang="en-US" altLang="zh-CN" baseline="-25000" dirty="0">
                <a:sym typeface="Calibri" pitchFamily="34" charset="0"/>
              </a:rPr>
              <a:t>F</a:t>
            </a:r>
            <a:r>
              <a:rPr lang="en-US" altLang="zh-CN" baseline="50000" dirty="0">
                <a:sym typeface="Calibri" pitchFamily="34" charset="0"/>
              </a:rPr>
              <a:t>+</a:t>
            </a:r>
            <a:endParaRPr lang="en-US" altLang="zh-CN" dirty="0"/>
          </a:p>
          <a:p>
            <a:pPr lvl="1"/>
            <a:r>
              <a:rPr lang="zh-CN" altLang="en-US" dirty="0"/>
              <a:t>会求</a:t>
            </a:r>
            <a:r>
              <a:rPr lang="en-US" altLang="zh-CN" dirty="0"/>
              <a:t>F</a:t>
            </a:r>
            <a:r>
              <a:rPr lang="zh-CN" altLang="en-US" dirty="0"/>
              <a:t>的最小依赖集</a:t>
            </a:r>
            <a:r>
              <a:rPr lang="en-US" altLang="zh-CN" dirty="0" err="1"/>
              <a:t>F</a:t>
            </a:r>
            <a:r>
              <a:rPr lang="en-US" altLang="zh-CN" sz="1800" dirty="0" err="1"/>
              <a:t>m</a:t>
            </a:r>
            <a:r>
              <a:rPr lang="en-US" altLang="zh-CN" dirty="0"/>
              <a:t>   </a:t>
            </a:r>
          </a:p>
          <a:p>
            <a:pPr lvl="1"/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F6D5D-9733-4D44-9C56-AEFEDD5A4BA7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xmlns="" id="{2C3F2B5F-79CD-4643-B906-CB27B4926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1113" y="93663"/>
            <a:ext cx="9553575" cy="825500"/>
          </a:xfrm>
        </p:spPr>
        <p:txBody>
          <a:bodyPr/>
          <a:lstStyle/>
          <a:p>
            <a:r>
              <a:rPr lang="zh-CN" altLang="en-US" dirty="0"/>
              <a:t>本章小结</a:t>
            </a:r>
          </a:p>
        </p:txBody>
      </p:sp>
    </p:spTree>
    <p:extLst>
      <p:ext uri="{BB962C8B-B14F-4D97-AF65-F5344CB8AC3E}">
        <p14:creationId xmlns:p14="http://schemas.microsoft.com/office/powerpoint/2010/main" val="2574546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ABCD&quot;],&quot;CaseSensitive&quot;:false,&quot;FuzzyMatch&quot;:false},{&quot;Num&quot;:2,&quot;Score&quot;:1.0,&quot;Answers&quot;:[&quot;ABD&quot;],&quot;CaseSensitive&quot;:false,&quot;FuzzyMatch&quot;:false}]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70C0"/>
      </a:accent1>
      <a:accent2>
        <a:srgbClr val="07C1CC"/>
      </a:accent2>
      <a:accent3>
        <a:srgbClr val="839192"/>
      </a:accent3>
      <a:accent4>
        <a:srgbClr val="156595"/>
      </a:accent4>
      <a:accent5>
        <a:srgbClr val="FBD78D"/>
      </a:accent5>
      <a:accent6>
        <a:srgbClr val="F2523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DB.potx" id="{71FE36DE-E8EE-4572-B7AD-2FD59B46D774}" vid="{27F9D4F0-F007-4654-8CDF-2D6BB615FE11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3048</TotalTime>
  <Words>12172</Words>
  <Application>Microsoft Office PowerPoint</Application>
  <PresentationFormat>自定义</PresentationFormat>
  <Paragraphs>1533</Paragraphs>
  <Slides>101</Slides>
  <Notes>9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101</vt:i4>
      </vt:variant>
    </vt:vector>
  </HeadingPairs>
  <TitlesOfParts>
    <vt:vector size="102" baseType="lpstr">
      <vt:lpstr>Office 主题</vt:lpstr>
      <vt:lpstr> 第六章  关系数据理论</vt:lpstr>
      <vt:lpstr>第二篇 设计与应用开发篇</vt:lpstr>
      <vt:lpstr>第六章 关系数据理论</vt:lpstr>
      <vt:lpstr>6.1 问题的提出</vt:lpstr>
      <vt:lpstr>一、概念回顾</vt:lpstr>
      <vt:lpstr>二、什么是数据依赖</vt:lpstr>
      <vt:lpstr>三、数据依赖对关系模式的影响</vt:lpstr>
      <vt:lpstr>数据依赖对关系模式的影响（续）</vt:lpstr>
      <vt:lpstr>数据依赖对关系模式的影响（续）</vt:lpstr>
      <vt:lpstr>数据依赖对关系模式的影响（续）</vt:lpstr>
      <vt:lpstr>Student关系模式实例</vt:lpstr>
      <vt:lpstr>数据依赖对关系模式的影响（续）</vt:lpstr>
      <vt:lpstr>数据依赖对关系模式的影响（续）</vt:lpstr>
      <vt:lpstr>分解关系模式</vt:lpstr>
      <vt:lpstr>6.2  规范化</vt:lpstr>
      <vt:lpstr>6.2.1 函数依赖</vt:lpstr>
      <vt:lpstr>一、函数依赖</vt:lpstr>
      <vt:lpstr>函数依赖（续）</vt:lpstr>
      <vt:lpstr>函数依赖（续）</vt:lpstr>
      <vt:lpstr>函数依赖（续）</vt:lpstr>
      <vt:lpstr>二、平凡函数依赖与非平凡函数依赖</vt:lpstr>
      <vt:lpstr>平凡函数依赖与非平凡函数依赖（续）</vt:lpstr>
      <vt:lpstr>三、完全函数依赖与部分函数依赖</vt:lpstr>
      <vt:lpstr>四、传递函数依赖</vt:lpstr>
      <vt:lpstr>函数依赖（续）</vt:lpstr>
      <vt:lpstr>6.2.2 码</vt:lpstr>
      <vt:lpstr>码（续）</vt:lpstr>
      <vt:lpstr>外部码</vt:lpstr>
      <vt:lpstr>6.2.3 范式</vt:lpstr>
      <vt:lpstr>范式（续）</vt:lpstr>
      <vt:lpstr>1NF</vt:lpstr>
      <vt:lpstr>6.2.4  2NF</vt:lpstr>
      <vt:lpstr>2NF（续）</vt:lpstr>
      <vt:lpstr>2NF（续）</vt:lpstr>
      <vt:lpstr>2NF（续）</vt:lpstr>
      <vt:lpstr> 6.2.5  3NF</vt:lpstr>
      <vt:lpstr>3NF（续）</vt:lpstr>
      <vt:lpstr>3NF（续）</vt:lpstr>
      <vt:lpstr>6.2.6  BC范式（BCNF）</vt:lpstr>
      <vt:lpstr>BCNF与3NF的关系</vt:lpstr>
      <vt:lpstr>BCNF（续）</vt:lpstr>
      <vt:lpstr>BCNF（续）</vt:lpstr>
      <vt:lpstr>BCNF（续）</vt:lpstr>
      <vt:lpstr>BCNF（续）</vt:lpstr>
      <vt:lpstr>BCNF（续）</vt:lpstr>
      <vt:lpstr>BCNF（续）</vt:lpstr>
      <vt:lpstr>函数依赖范畴内关系模式范式的确定</vt:lpstr>
      <vt:lpstr>函数依赖范畴内关系模式范式的确定</vt:lpstr>
      <vt:lpstr>练习</vt:lpstr>
      <vt:lpstr>6.2.7 多值依赖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多值依赖（续）</vt:lpstr>
      <vt:lpstr>多值依赖的性质</vt:lpstr>
      <vt:lpstr>多值依赖（续）</vt:lpstr>
      <vt:lpstr>多值依赖（续）</vt:lpstr>
      <vt:lpstr>多值依赖的判定方法</vt:lpstr>
      <vt:lpstr>PowerPoint 演示文稿</vt:lpstr>
      <vt:lpstr>6.2.8  4NF</vt:lpstr>
      <vt:lpstr>4NF（续）</vt:lpstr>
      <vt:lpstr>4NF（续）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6.2.9 规范化小结</vt:lpstr>
      <vt:lpstr>规范化小结（续）</vt:lpstr>
      <vt:lpstr>6.3 数据依赖的公理系统</vt:lpstr>
      <vt:lpstr>Armstrong公理系统</vt:lpstr>
      <vt:lpstr>Armstrong公理系统</vt:lpstr>
      <vt:lpstr>定理 6.1 Armstrong推理规则是正确的</vt:lpstr>
      <vt:lpstr>定理 6.1 Armstrong推理规则是正确的</vt:lpstr>
      <vt:lpstr>定理 6.1 Armstrong推理规则是正确的</vt:lpstr>
      <vt:lpstr>导出规则</vt:lpstr>
      <vt:lpstr>函数依赖闭包</vt:lpstr>
      <vt:lpstr>函数依赖闭包</vt:lpstr>
      <vt:lpstr>求闭包的算法</vt:lpstr>
      <vt:lpstr>函数依赖闭包</vt:lpstr>
      <vt:lpstr>PowerPoint 演示文稿</vt:lpstr>
      <vt:lpstr>Armstrong公理系统</vt:lpstr>
      <vt:lpstr>求关系模式的码</vt:lpstr>
      <vt:lpstr>求关系模式的码</vt:lpstr>
      <vt:lpstr>练习：指出下列关系模式是第几范式，并说明理由</vt:lpstr>
      <vt:lpstr>函数依赖集等价</vt:lpstr>
      <vt:lpstr>函数依赖集等价</vt:lpstr>
      <vt:lpstr>最小依赖集</vt:lpstr>
      <vt:lpstr>最小依赖集</vt:lpstr>
      <vt:lpstr>极小化过程</vt:lpstr>
      <vt:lpstr>极小化过程</vt:lpstr>
      <vt:lpstr>最小依赖集的求法示例</vt:lpstr>
      <vt:lpstr>最小依赖集的求法示例</vt:lpstr>
      <vt:lpstr>最小依赖集的求法示例</vt:lpstr>
      <vt:lpstr>最小依赖集的求法示例</vt:lpstr>
      <vt:lpstr>本章小结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数据库原理及应用</dc:title>
  <dc:creator>Miao</dc:creator>
  <cp:lastModifiedBy>Windows User</cp:lastModifiedBy>
  <cp:revision>342</cp:revision>
  <dcterms:created xsi:type="dcterms:W3CDTF">2021-08-17T08:04:31Z</dcterms:created>
  <dcterms:modified xsi:type="dcterms:W3CDTF">2023-12-05T02:16:48Z</dcterms:modified>
</cp:coreProperties>
</file>