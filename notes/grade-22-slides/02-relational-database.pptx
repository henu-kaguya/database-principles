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4.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8" r:id="rId1"/>
  </p:sldMasterIdLst>
  <p:notesMasterIdLst>
    <p:notesMasterId r:id="rId91"/>
  </p:notesMasterIdLst>
  <p:sldIdLst>
    <p:sldId id="256" r:id="rId2"/>
    <p:sldId id="974" r:id="rId3"/>
    <p:sldId id="1041" r:id="rId4"/>
    <p:sldId id="443" r:id="rId5"/>
    <p:sldId id="442" r:id="rId6"/>
    <p:sldId id="543" r:id="rId7"/>
    <p:sldId id="587" r:id="rId8"/>
    <p:sldId id="545" r:id="rId9"/>
    <p:sldId id="546" r:id="rId10"/>
    <p:sldId id="593" r:id="rId11"/>
    <p:sldId id="549" r:id="rId12"/>
    <p:sldId id="592" r:id="rId13"/>
    <p:sldId id="555" r:id="rId14"/>
    <p:sldId id="553" r:id="rId15"/>
    <p:sldId id="558" r:id="rId16"/>
    <p:sldId id="329" r:id="rId17"/>
    <p:sldId id="561" r:id="rId18"/>
    <p:sldId id="1049" r:id="rId19"/>
    <p:sldId id="569" r:id="rId20"/>
    <p:sldId id="596" r:id="rId21"/>
    <p:sldId id="574" r:id="rId22"/>
    <p:sldId id="576" r:id="rId23"/>
    <p:sldId id="1056" r:id="rId24"/>
    <p:sldId id="1061" r:id="rId25"/>
    <p:sldId id="1062" r:id="rId26"/>
    <p:sldId id="1063" r:id="rId27"/>
    <p:sldId id="542" r:id="rId28"/>
    <p:sldId id="456" r:id="rId29"/>
    <p:sldId id="449" r:id="rId30"/>
    <p:sldId id="586" r:id="rId31"/>
    <p:sldId id="508" r:id="rId32"/>
    <p:sldId id="510" r:id="rId33"/>
    <p:sldId id="513" r:id="rId34"/>
    <p:sldId id="511" r:id="rId35"/>
    <p:sldId id="516" r:id="rId36"/>
    <p:sldId id="594" r:id="rId37"/>
    <p:sldId id="517" r:id="rId38"/>
    <p:sldId id="534" r:id="rId39"/>
    <p:sldId id="518" r:id="rId40"/>
    <p:sldId id="519" r:id="rId41"/>
    <p:sldId id="512" r:id="rId42"/>
    <p:sldId id="521" r:id="rId43"/>
    <p:sldId id="520" r:id="rId44"/>
    <p:sldId id="1060" r:id="rId45"/>
    <p:sldId id="1064" r:id="rId46"/>
    <p:sldId id="1065" r:id="rId47"/>
    <p:sldId id="527" r:id="rId48"/>
    <p:sldId id="714" r:id="rId49"/>
    <p:sldId id="533" r:id="rId50"/>
    <p:sldId id="715" r:id="rId51"/>
    <p:sldId id="1050" r:id="rId52"/>
    <p:sldId id="581" r:id="rId53"/>
    <p:sldId id="552" r:id="rId54"/>
    <p:sldId id="583" r:id="rId55"/>
    <p:sldId id="1051" r:id="rId56"/>
    <p:sldId id="585" r:id="rId57"/>
    <p:sldId id="556" r:id="rId58"/>
    <p:sldId id="1052" r:id="rId59"/>
    <p:sldId id="696" r:id="rId60"/>
    <p:sldId id="716" r:id="rId61"/>
    <p:sldId id="700" r:id="rId62"/>
    <p:sldId id="671" r:id="rId63"/>
    <p:sldId id="1053" r:id="rId64"/>
    <p:sldId id="557" r:id="rId65"/>
    <p:sldId id="562" r:id="rId66"/>
    <p:sldId id="563" r:id="rId67"/>
    <p:sldId id="564" r:id="rId68"/>
    <p:sldId id="567" r:id="rId69"/>
    <p:sldId id="568" r:id="rId70"/>
    <p:sldId id="1054" r:id="rId71"/>
    <p:sldId id="570" r:id="rId72"/>
    <p:sldId id="572" r:id="rId73"/>
    <p:sldId id="604" r:id="rId74"/>
    <p:sldId id="605" r:id="rId75"/>
    <p:sldId id="606" r:id="rId76"/>
    <p:sldId id="701" r:id="rId77"/>
    <p:sldId id="608" r:id="rId78"/>
    <p:sldId id="609" r:id="rId79"/>
    <p:sldId id="610" r:id="rId80"/>
    <p:sldId id="416" r:id="rId81"/>
    <p:sldId id="573" r:id="rId82"/>
    <p:sldId id="615" r:id="rId83"/>
    <p:sldId id="616" r:id="rId84"/>
    <p:sldId id="1055" r:id="rId85"/>
    <p:sldId id="1066" r:id="rId86"/>
    <p:sldId id="1067" r:id="rId87"/>
    <p:sldId id="1068" r:id="rId88"/>
    <p:sldId id="717" r:id="rId89"/>
    <p:sldId id="578" r:id="rId90"/>
  </p:sldIdLst>
  <p:sldSz cx="12192000" cy="6858000"/>
  <p:notesSz cx="9866313" cy="673576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D4E2E5"/>
    <a:srgbClr val="34AC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0834" autoAdjust="0"/>
  </p:normalViewPr>
  <p:slideViewPr>
    <p:cSldViewPr snapToGrid="0">
      <p:cViewPr varScale="1">
        <p:scale>
          <a:sx n="106" d="100"/>
          <a:sy n="106" d="100"/>
        </p:scale>
        <p:origin x="777"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275402" cy="33795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588628" y="0"/>
            <a:ext cx="4275402" cy="337958"/>
          </a:xfrm>
          <a:prstGeom prst="rect">
            <a:avLst/>
          </a:prstGeom>
        </p:spPr>
        <p:txBody>
          <a:bodyPr vert="horz" lIns="91440" tIns="45720" rIns="91440" bIns="45720" rtlCol="0"/>
          <a:lstStyle>
            <a:lvl1pPr algn="r">
              <a:defRPr sz="1200"/>
            </a:lvl1pPr>
          </a:lstStyle>
          <a:p>
            <a:fld id="{7830E76F-B0B7-4B7D-99A2-1AE4E5003A85}" type="datetimeFigureOut">
              <a:rPr lang="zh-CN" altLang="en-US" smtClean="0"/>
              <a:t>2023/9/25</a:t>
            </a:fld>
            <a:endParaRPr lang="zh-CN" altLang="en-US"/>
          </a:p>
        </p:txBody>
      </p:sp>
      <p:sp>
        <p:nvSpPr>
          <p:cNvPr id="4" name="幻灯片图像占位符 3"/>
          <p:cNvSpPr>
            <a:spLocks noGrp="1" noRot="1" noChangeAspect="1"/>
          </p:cNvSpPr>
          <p:nvPr>
            <p:ph type="sldImg" idx="2"/>
          </p:nvPr>
        </p:nvSpPr>
        <p:spPr>
          <a:xfrm>
            <a:off x="2913063" y="841375"/>
            <a:ext cx="4040187" cy="22733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86632" y="3241586"/>
            <a:ext cx="7893050" cy="2652207"/>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397806"/>
            <a:ext cx="4275402" cy="33795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588628" y="6397806"/>
            <a:ext cx="4275402" cy="337957"/>
          </a:xfrm>
          <a:prstGeom prst="rect">
            <a:avLst/>
          </a:prstGeom>
        </p:spPr>
        <p:txBody>
          <a:bodyPr vert="horz" lIns="91440" tIns="45720" rIns="91440" bIns="45720" rtlCol="0" anchor="b"/>
          <a:lstStyle>
            <a:lvl1pPr algn="r">
              <a:defRPr sz="1200"/>
            </a:lvl1pPr>
          </a:lstStyle>
          <a:p>
            <a:fld id="{344ACED3-A290-4E4D-B94F-B458FF2BD3D8}" type="slidenum">
              <a:rPr lang="zh-CN" altLang="en-US" smtClean="0"/>
              <a:t>‹#›</a:t>
            </a:fld>
            <a:endParaRPr lang="zh-CN" altLang="en-US"/>
          </a:p>
        </p:txBody>
      </p:sp>
    </p:spTree>
    <p:extLst>
      <p:ext uri="{BB962C8B-B14F-4D97-AF65-F5344CB8AC3E}">
        <p14:creationId xmlns:p14="http://schemas.microsoft.com/office/powerpoint/2010/main" val="1428078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13063" y="841375"/>
            <a:ext cx="4040187" cy="2273300"/>
          </a:xfrm>
        </p:spPr>
      </p:sp>
      <p:sp>
        <p:nvSpPr>
          <p:cNvPr id="3" name="备注占位符 2"/>
          <p:cNvSpPr>
            <a:spLocks noGrp="1"/>
          </p:cNvSpPr>
          <p:nvPr>
            <p:ph type="body" idx="1"/>
          </p:nvPr>
        </p:nvSpPr>
        <p:spPr/>
        <p:txBody>
          <a:bodyPr/>
          <a:lstStyle/>
          <a:p>
            <a:r>
              <a:rPr lang="zh-CN" altLang="en-US" dirty="0"/>
              <a:t>能否用数学的方式描述</a:t>
            </a:r>
          </a:p>
        </p:txBody>
      </p:sp>
      <p:sp>
        <p:nvSpPr>
          <p:cNvPr id="4" name="灯片编号占位符 3"/>
          <p:cNvSpPr>
            <a:spLocks noGrp="1"/>
          </p:cNvSpPr>
          <p:nvPr>
            <p:ph type="sldNum" sz="quarter" idx="5"/>
          </p:nvPr>
        </p:nvSpPr>
        <p:spPr/>
        <p:txBody>
          <a:bodyPr/>
          <a:lstStyle/>
          <a:p>
            <a:fld id="{344ACED3-A290-4E4D-B94F-B458FF2BD3D8}" type="slidenum">
              <a:rPr lang="zh-CN" altLang="en-US" smtClean="0"/>
              <a:t>4</a:t>
            </a:fld>
            <a:endParaRPr lang="zh-CN" altLang="en-US"/>
          </a:p>
        </p:txBody>
      </p:sp>
    </p:spTree>
    <p:extLst>
      <p:ext uri="{BB962C8B-B14F-4D97-AF65-F5344CB8AC3E}">
        <p14:creationId xmlns:p14="http://schemas.microsoft.com/office/powerpoint/2010/main" val="2755324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13063" y="841375"/>
            <a:ext cx="4040187" cy="2273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44ACED3-A290-4E4D-B94F-B458FF2BD3D8}" type="slidenum">
              <a:rPr lang="zh-CN" altLang="en-US" smtClean="0"/>
              <a:t>6</a:t>
            </a:fld>
            <a:endParaRPr lang="zh-CN" altLang="en-US"/>
          </a:p>
        </p:txBody>
      </p:sp>
    </p:spTree>
    <p:extLst>
      <p:ext uri="{BB962C8B-B14F-4D97-AF65-F5344CB8AC3E}">
        <p14:creationId xmlns:p14="http://schemas.microsoft.com/office/powerpoint/2010/main" val="3399131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13063" y="841375"/>
            <a:ext cx="4040187" cy="2273300"/>
          </a:xfrm>
        </p:spPr>
      </p:sp>
      <p:sp>
        <p:nvSpPr>
          <p:cNvPr id="3" name="备注占位符 2"/>
          <p:cNvSpPr>
            <a:spLocks noGrp="1"/>
          </p:cNvSpPr>
          <p:nvPr>
            <p:ph type="body" idx="1"/>
          </p:nvPr>
        </p:nvSpPr>
        <p:spPr/>
        <p:txBody>
          <a:bodyPr/>
          <a:lstStyle/>
          <a:p>
            <a:r>
              <a:rPr lang="zh-CN" altLang="en-US" dirty="0"/>
              <a:t>代数运算，一阶谓词运算、范式理论的基础</a:t>
            </a:r>
          </a:p>
        </p:txBody>
      </p:sp>
      <p:sp>
        <p:nvSpPr>
          <p:cNvPr id="4" name="灯片编号占位符 3"/>
          <p:cNvSpPr>
            <a:spLocks noGrp="1"/>
          </p:cNvSpPr>
          <p:nvPr>
            <p:ph type="sldNum" sz="quarter" idx="5"/>
          </p:nvPr>
        </p:nvSpPr>
        <p:spPr/>
        <p:txBody>
          <a:bodyPr/>
          <a:lstStyle/>
          <a:p>
            <a:fld id="{344ACED3-A290-4E4D-B94F-B458FF2BD3D8}" type="slidenum">
              <a:rPr lang="zh-CN" altLang="en-US" smtClean="0"/>
              <a:t>18</a:t>
            </a:fld>
            <a:endParaRPr lang="zh-CN" altLang="en-US"/>
          </a:p>
        </p:txBody>
      </p:sp>
    </p:spTree>
    <p:extLst>
      <p:ext uri="{BB962C8B-B14F-4D97-AF65-F5344CB8AC3E}">
        <p14:creationId xmlns:p14="http://schemas.microsoft.com/office/powerpoint/2010/main" val="645282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13063" y="841375"/>
            <a:ext cx="4040187" cy="2273300"/>
          </a:xfrm>
        </p:spPr>
      </p:sp>
      <p:sp>
        <p:nvSpPr>
          <p:cNvPr id="3" name="备注占位符 2"/>
          <p:cNvSpPr>
            <a:spLocks noGrp="1"/>
          </p:cNvSpPr>
          <p:nvPr>
            <p:ph type="body" idx="1"/>
          </p:nvPr>
        </p:nvSpPr>
        <p:spPr/>
        <p:txBody>
          <a:bodyPr/>
          <a:lstStyle/>
          <a:p>
            <a:r>
              <a:rPr lang="zh-CN" altLang="en-US" sz="1200" dirty="0">
                <a:solidFill>
                  <a:srgbClr val="000000"/>
                </a:solidFill>
              </a:rPr>
              <a:t>学了全部课程的学生学号</a:t>
            </a:r>
            <a:endParaRPr lang="en-US" altLang="zh-CN" sz="1200" dirty="0">
              <a:solidFill>
                <a:srgbClr val="000000"/>
              </a:solidFill>
            </a:endParaRPr>
          </a:p>
          <a:p>
            <a:r>
              <a:rPr lang="zh-CN" altLang="en-US" dirty="0"/>
              <a:t>关系代数等价关系演算</a:t>
            </a:r>
          </a:p>
        </p:txBody>
      </p:sp>
      <p:sp>
        <p:nvSpPr>
          <p:cNvPr id="4" name="灯片编号占位符 3"/>
          <p:cNvSpPr>
            <a:spLocks noGrp="1"/>
          </p:cNvSpPr>
          <p:nvPr>
            <p:ph type="sldNum" sz="quarter" idx="5"/>
          </p:nvPr>
        </p:nvSpPr>
        <p:spPr/>
        <p:txBody>
          <a:bodyPr/>
          <a:lstStyle/>
          <a:p>
            <a:fld id="{344ACED3-A290-4E4D-B94F-B458FF2BD3D8}" type="slidenum">
              <a:rPr lang="zh-CN" altLang="en-US" smtClean="0"/>
              <a:t>29</a:t>
            </a:fld>
            <a:endParaRPr lang="zh-CN" altLang="en-US"/>
          </a:p>
        </p:txBody>
      </p:sp>
    </p:spTree>
    <p:extLst>
      <p:ext uri="{BB962C8B-B14F-4D97-AF65-F5344CB8AC3E}">
        <p14:creationId xmlns:p14="http://schemas.microsoft.com/office/powerpoint/2010/main" val="2806076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a:solidFill>
                  <a:schemeClr val="tx1"/>
                </a:solidFill>
                <a:latin typeface="+mn-lt"/>
                <a:ea typeface="+mn-ea"/>
                <a:cs typeface="+mn-cs"/>
              </a:rPr>
              <a:t>关系模型是通过严格的数学定义来完成关系（</a:t>
            </a:r>
            <a:r>
              <a:rPr lang="en-US" altLang="zh-CN" sz="1200" b="0" i="0" u="none" strike="noStrike" kern="1200" baseline="0" dirty="0">
                <a:solidFill>
                  <a:schemeClr val="tx1"/>
                </a:solidFill>
                <a:latin typeface="+mn-lt"/>
                <a:ea typeface="+mn-ea"/>
                <a:cs typeface="+mn-cs"/>
              </a:rPr>
              <a:t>Table</a:t>
            </a:r>
            <a:r>
              <a:rPr lang="zh-CN" altLang="en-US" sz="1200" b="0" i="0" u="none" strike="noStrike" kern="1200" baseline="0" dirty="0">
                <a:solidFill>
                  <a:schemeClr val="tx1"/>
                </a:solidFill>
                <a:latin typeface="+mn-lt"/>
                <a:ea typeface="+mn-ea"/>
                <a:cs typeface="+mn-cs"/>
              </a:rPr>
              <a:t>）和关系之间的各种操作，因此关系模型是一个数学模型。关系模型能一直流行至此，与它自身的数学基础有直接关系，因而在发展的过程中经得起推敲和证明验证。</a:t>
            </a:r>
            <a:endParaRPr lang="en-US" altLang="zh-CN" sz="1200" b="0"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在做学术研究时一定要脚踏实地，某些学术研究只有建立在数学基础上，经过严格数学推导和演绎，才能具有正确性、可信性和持续性。学生要树立正确的价值观，诚信为本，杜绝学术造假。</a:t>
            </a:r>
            <a:endParaRPr lang="zh-CN" altLang="en-US" dirty="0"/>
          </a:p>
        </p:txBody>
      </p:sp>
      <p:sp>
        <p:nvSpPr>
          <p:cNvPr id="4" name="灯片编号占位符 3"/>
          <p:cNvSpPr>
            <a:spLocks noGrp="1"/>
          </p:cNvSpPr>
          <p:nvPr>
            <p:ph type="sldNum" sz="quarter" idx="5"/>
          </p:nvPr>
        </p:nvSpPr>
        <p:spPr/>
        <p:txBody>
          <a:bodyPr/>
          <a:lstStyle/>
          <a:p>
            <a:fld id="{344ACED3-A290-4E4D-B94F-B458FF2BD3D8}" type="slidenum">
              <a:rPr lang="zh-CN" altLang="en-US" smtClean="0"/>
              <a:t>47</a:t>
            </a:fld>
            <a:endParaRPr lang="zh-CN" altLang="en-US"/>
          </a:p>
        </p:txBody>
      </p:sp>
    </p:spTree>
    <p:extLst>
      <p:ext uri="{BB962C8B-B14F-4D97-AF65-F5344CB8AC3E}">
        <p14:creationId xmlns:p14="http://schemas.microsoft.com/office/powerpoint/2010/main" val="368783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eaLnBrk="1" fontAlgn="t" latinLnBrk="0" hangingPunct="1"/>
            <a:r>
              <a:rPr kumimoji="1" lang="en-US" altLang="zh-CN" sz="1200" b="1" dirty="0">
                <a:solidFill>
                  <a:srgbClr val="000000"/>
                </a:solidFill>
                <a:ea typeface="楷体_GB2312" pitchFamily="49" charset="-122"/>
              </a:rPr>
              <a:t>Student(</a:t>
            </a:r>
            <a:r>
              <a:rPr kumimoji="1" lang="en-US" altLang="zh-CN" sz="1200" b="1" i="0" u="none" strike="noStrike" kern="1200" dirty="0" err="1">
                <a:solidFill>
                  <a:schemeClr val="tx1"/>
                </a:solidFill>
                <a:effectLst/>
                <a:latin typeface="+mn-lt"/>
                <a:ea typeface="+mn-ea"/>
                <a:cs typeface="+mn-cs"/>
              </a:rPr>
              <a:t>Sno,Sname,Ssex,Sage,Sdept</a:t>
            </a:r>
            <a:r>
              <a:rPr kumimoji="1" lang="en-US" altLang="zh-CN" sz="1200" b="1" dirty="0">
                <a:solidFill>
                  <a:srgbClr val="000000"/>
                </a:solidFill>
                <a:ea typeface="楷体_GB2312" pitchFamily="49" charset="-122"/>
              </a:rPr>
              <a:t>)</a:t>
            </a:r>
          </a:p>
          <a:p>
            <a:pPr rtl="0" eaLnBrk="1" fontAlgn="t" latinLnBrk="0" hangingPunct="1"/>
            <a:r>
              <a:rPr kumimoji="1" lang="en-US" altLang="zh-CN" sz="1200" b="1" dirty="0">
                <a:solidFill>
                  <a:srgbClr val="000000"/>
                </a:solidFill>
                <a:ea typeface="楷体_GB2312" pitchFamily="49" charset="-122"/>
              </a:rPr>
              <a:t>Course(</a:t>
            </a:r>
            <a:r>
              <a:rPr lang="en-US" altLang="zh-CN" sz="1200" b="1" i="0" u="none" strike="noStrike" kern="1200" dirty="0" err="1">
                <a:solidFill>
                  <a:schemeClr val="tx1"/>
                </a:solidFill>
                <a:effectLst/>
                <a:latin typeface="+mn-lt"/>
                <a:ea typeface="+mn-ea"/>
                <a:cs typeface="+mn-cs"/>
              </a:rPr>
              <a:t>Cno,Cname,Cpno,Ccredit</a:t>
            </a:r>
            <a:r>
              <a:rPr kumimoji="1" lang="en-US" altLang="zh-CN" sz="1200" b="1" dirty="0">
                <a:solidFill>
                  <a:srgbClr val="000000"/>
                </a:solidFill>
                <a:ea typeface="楷体_GB2312" pitchFamily="49" charset="-122"/>
              </a:rPr>
              <a:t>)</a:t>
            </a:r>
          </a:p>
          <a:p>
            <a:pPr rtl="0" eaLnBrk="1" fontAlgn="t" latinLnBrk="0" hangingPunct="1"/>
            <a:r>
              <a:rPr kumimoji="1" lang="en-US" altLang="zh-CN" sz="1200" b="1" dirty="0">
                <a:solidFill>
                  <a:srgbClr val="000000"/>
                </a:solidFill>
                <a:ea typeface="楷体_GB2312" pitchFamily="49" charset="-122"/>
              </a:rPr>
              <a:t>SC(</a:t>
            </a:r>
            <a:r>
              <a:rPr lang="en-US" altLang="zh-CN" sz="1200" b="1" i="0" u="none" strike="noStrike" kern="1200" dirty="0" err="1">
                <a:solidFill>
                  <a:schemeClr val="tx1"/>
                </a:solidFill>
                <a:effectLst/>
                <a:latin typeface="+mn-lt"/>
                <a:ea typeface="+mn-ea"/>
                <a:cs typeface="+mn-cs"/>
              </a:rPr>
              <a:t>Sno,Cno,Grade</a:t>
            </a:r>
            <a:r>
              <a:rPr kumimoji="1" lang="en-US" altLang="zh-CN" sz="1200" b="1" dirty="0">
                <a:solidFill>
                  <a:srgbClr val="000000"/>
                </a:solidFill>
                <a:ea typeface="楷体_GB2312" pitchFamily="49" charset="-122"/>
              </a:rPr>
              <a:t>)</a:t>
            </a:r>
          </a:p>
          <a:p>
            <a:pPr rtl="0" eaLnBrk="1" fontAlgn="t" latinLnBrk="0" hangingPunct="1"/>
            <a:endParaRPr lang="zh-CN" altLang="en-US" dirty="0"/>
          </a:p>
        </p:txBody>
      </p:sp>
      <p:sp>
        <p:nvSpPr>
          <p:cNvPr id="4" name="灯片编号占位符 3"/>
          <p:cNvSpPr>
            <a:spLocks noGrp="1"/>
          </p:cNvSpPr>
          <p:nvPr>
            <p:ph type="sldNum" sz="quarter" idx="5"/>
          </p:nvPr>
        </p:nvSpPr>
        <p:spPr/>
        <p:txBody>
          <a:bodyPr/>
          <a:lstStyle/>
          <a:p>
            <a:fld id="{344ACED3-A290-4E4D-B94F-B458FF2BD3D8}" type="slidenum">
              <a:rPr lang="zh-CN" altLang="en-US" smtClean="0"/>
              <a:t>63</a:t>
            </a:fld>
            <a:endParaRPr lang="zh-CN" altLang="en-US"/>
          </a:p>
        </p:txBody>
      </p:sp>
    </p:spTree>
    <p:extLst>
      <p:ext uri="{BB962C8B-B14F-4D97-AF65-F5344CB8AC3E}">
        <p14:creationId xmlns:p14="http://schemas.microsoft.com/office/powerpoint/2010/main" val="8835633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44ACED3-A290-4E4D-B94F-B458FF2BD3D8}" type="slidenum">
              <a:rPr lang="zh-CN" altLang="en-US" smtClean="0"/>
              <a:t>78</a:t>
            </a:fld>
            <a:endParaRPr lang="zh-CN" altLang="en-US"/>
          </a:p>
        </p:txBody>
      </p:sp>
    </p:spTree>
    <p:extLst>
      <p:ext uri="{BB962C8B-B14F-4D97-AF65-F5344CB8AC3E}">
        <p14:creationId xmlns:p14="http://schemas.microsoft.com/office/powerpoint/2010/main" val="3720501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508" y="4377645"/>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CA9B98F-A32D-449F-A16D-8074457670E9}" type="datetime1">
              <a:rPr lang="zh-CN" altLang="en-US" smtClean="0"/>
              <a:t>2023/9/25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t>‹#›</a:t>
            </a:fld>
            <a:endParaRPr lang="zh-CN" altLang="en-US"/>
          </a:p>
        </p:txBody>
      </p:sp>
      <p:sp>
        <p:nvSpPr>
          <p:cNvPr id="7" name="矩形 6">
            <a:extLst>
              <a:ext uri="{FF2B5EF4-FFF2-40B4-BE49-F238E27FC236}">
                <a16:creationId xmlns:a16="http://schemas.microsoft.com/office/drawing/2014/main" id="{2B68CA98-A398-4530-9020-4D4DB6439D6A}"/>
              </a:ext>
            </a:extLst>
          </p:cNvPr>
          <p:cNvSpPr/>
          <p:nvPr/>
        </p:nvSpPr>
        <p:spPr>
          <a:xfrm>
            <a:off x="0" y="1724896"/>
            <a:ext cx="12192000" cy="2138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8" name="组合 7">
            <a:extLst>
              <a:ext uri="{FF2B5EF4-FFF2-40B4-BE49-F238E27FC236}">
                <a16:creationId xmlns:a16="http://schemas.microsoft.com/office/drawing/2014/main" id="{9AFCF4C2-E096-4262-8ECB-78D0989EDE7A}"/>
              </a:ext>
            </a:extLst>
          </p:cNvPr>
          <p:cNvGrpSpPr/>
          <p:nvPr/>
        </p:nvGrpSpPr>
        <p:grpSpPr>
          <a:xfrm>
            <a:off x="4688155" y="5875923"/>
            <a:ext cx="342764" cy="342764"/>
            <a:chOff x="4688155" y="5875923"/>
            <a:chExt cx="342764" cy="342764"/>
          </a:xfrm>
        </p:grpSpPr>
        <p:sp>
          <p:nvSpPr>
            <p:cNvPr id="9" name="椭圆 8">
              <a:extLst>
                <a:ext uri="{FF2B5EF4-FFF2-40B4-BE49-F238E27FC236}">
                  <a16:creationId xmlns:a16="http://schemas.microsoft.com/office/drawing/2014/main" id="{CF0BDC3B-A6A3-45D0-B9DB-DF2D639EE734}"/>
                </a:ext>
              </a:extLst>
            </p:cNvPr>
            <p:cNvSpPr/>
            <p:nvPr/>
          </p:nvSpPr>
          <p:spPr>
            <a:xfrm>
              <a:off x="4688155"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0" name="组合 9">
              <a:extLst>
                <a:ext uri="{FF2B5EF4-FFF2-40B4-BE49-F238E27FC236}">
                  <a16:creationId xmlns:a16="http://schemas.microsoft.com/office/drawing/2014/main" id="{C57D6A93-2E21-4CEE-8B0C-82D273459889}"/>
                </a:ext>
              </a:extLst>
            </p:cNvPr>
            <p:cNvGrpSpPr/>
            <p:nvPr/>
          </p:nvGrpSpPr>
          <p:grpSpPr>
            <a:xfrm>
              <a:off x="4763028" y="5947390"/>
              <a:ext cx="193018" cy="199830"/>
              <a:chOff x="5753100" y="3041650"/>
              <a:chExt cx="682626" cy="771526"/>
            </a:xfrm>
            <a:solidFill>
              <a:schemeClr val="accent1"/>
            </a:solidFill>
          </p:grpSpPr>
          <p:sp>
            <p:nvSpPr>
              <p:cNvPr id="11" name="Oval 202">
                <a:extLst>
                  <a:ext uri="{FF2B5EF4-FFF2-40B4-BE49-F238E27FC236}">
                    <a16:creationId xmlns:a16="http://schemas.microsoft.com/office/drawing/2014/main" id="{2F0A091A-AD4E-45CF-AFEB-14261F9539CF}"/>
                  </a:ext>
                </a:extLst>
              </p:cNvPr>
              <p:cNvSpPr>
                <a:spLocks noChangeArrowheads="1"/>
              </p:cNvSpPr>
              <p:nvPr/>
            </p:nvSpPr>
            <p:spPr bwMode="auto">
              <a:xfrm>
                <a:off x="5908675" y="3041650"/>
                <a:ext cx="119063" cy="1476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2" name="Freeform 203">
                <a:extLst>
                  <a:ext uri="{FF2B5EF4-FFF2-40B4-BE49-F238E27FC236}">
                    <a16:creationId xmlns:a16="http://schemas.microsoft.com/office/drawing/2014/main" id="{D6D7EDDD-D438-4D26-8D11-489580AAB1B0}"/>
                  </a:ext>
                </a:extLst>
              </p:cNvPr>
              <p:cNvSpPr/>
              <p:nvPr/>
            </p:nvSpPr>
            <p:spPr bwMode="auto">
              <a:xfrm>
                <a:off x="6103938" y="3413125"/>
                <a:ext cx="46038" cy="84138"/>
              </a:xfrm>
              <a:custGeom>
                <a:avLst/>
                <a:gdLst>
                  <a:gd name="T0" fmla="*/ 2 w 12"/>
                  <a:gd name="T1" fmla="*/ 22 h 22"/>
                  <a:gd name="T2" fmla="*/ 10 w 12"/>
                  <a:gd name="T3" fmla="*/ 22 h 22"/>
                  <a:gd name="T4" fmla="*/ 12 w 12"/>
                  <a:gd name="T5" fmla="*/ 20 h 22"/>
                  <a:gd name="T6" fmla="*/ 12 w 12"/>
                  <a:gd name="T7" fmla="*/ 2 h 22"/>
                  <a:gd name="T8" fmla="*/ 10 w 12"/>
                  <a:gd name="T9" fmla="*/ 0 h 22"/>
                  <a:gd name="T10" fmla="*/ 2 w 12"/>
                  <a:gd name="T11" fmla="*/ 0 h 22"/>
                  <a:gd name="T12" fmla="*/ 0 w 12"/>
                  <a:gd name="T13" fmla="*/ 2 h 22"/>
                  <a:gd name="T14" fmla="*/ 0 w 12"/>
                  <a:gd name="T15" fmla="*/ 20 h 22"/>
                  <a:gd name="T16" fmla="*/ 2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2" y="22"/>
                    </a:moveTo>
                    <a:cubicBezTo>
                      <a:pt x="10" y="22"/>
                      <a:pt x="10" y="22"/>
                      <a:pt x="10" y="22"/>
                    </a:cubicBezTo>
                    <a:cubicBezTo>
                      <a:pt x="11" y="22"/>
                      <a:pt x="12" y="21"/>
                      <a:pt x="12" y="20"/>
                    </a:cubicBezTo>
                    <a:cubicBezTo>
                      <a:pt x="12" y="2"/>
                      <a:pt x="12" y="2"/>
                      <a:pt x="12" y="2"/>
                    </a:cubicBezTo>
                    <a:cubicBezTo>
                      <a:pt x="12" y="1"/>
                      <a:pt x="11" y="0"/>
                      <a:pt x="10" y="0"/>
                    </a:cubicBezTo>
                    <a:cubicBezTo>
                      <a:pt x="2" y="0"/>
                      <a:pt x="2" y="0"/>
                      <a:pt x="2" y="0"/>
                    </a:cubicBezTo>
                    <a:cubicBezTo>
                      <a:pt x="1" y="0"/>
                      <a:pt x="0" y="1"/>
                      <a:pt x="0" y="2"/>
                    </a:cubicBezTo>
                    <a:cubicBezTo>
                      <a:pt x="0" y="20"/>
                      <a:pt x="0" y="20"/>
                      <a:pt x="0" y="20"/>
                    </a:cubicBezTo>
                    <a:cubicBezTo>
                      <a:pt x="0" y="21"/>
                      <a:pt x="1" y="22"/>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3" name="Freeform 204">
                <a:extLst>
                  <a:ext uri="{FF2B5EF4-FFF2-40B4-BE49-F238E27FC236}">
                    <a16:creationId xmlns:a16="http://schemas.microsoft.com/office/drawing/2014/main" id="{63ABB64B-5B7B-41F3-908D-85AF1C674D97}"/>
                  </a:ext>
                </a:extLst>
              </p:cNvPr>
              <p:cNvSpPr/>
              <p:nvPr/>
            </p:nvSpPr>
            <p:spPr bwMode="auto">
              <a:xfrm>
                <a:off x="6313488" y="3413125"/>
                <a:ext cx="46038" cy="84138"/>
              </a:xfrm>
              <a:custGeom>
                <a:avLst/>
                <a:gdLst>
                  <a:gd name="T0" fmla="*/ 3 w 12"/>
                  <a:gd name="T1" fmla="*/ 22 h 22"/>
                  <a:gd name="T2" fmla="*/ 10 w 12"/>
                  <a:gd name="T3" fmla="*/ 22 h 22"/>
                  <a:gd name="T4" fmla="*/ 12 w 12"/>
                  <a:gd name="T5" fmla="*/ 20 h 22"/>
                  <a:gd name="T6" fmla="*/ 12 w 12"/>
                  <a:gd name="T7" fmla="*/ 2 h 22"/>
                  <a:gd name="T8" fmla="*/ 10 w 12"/>
                  <a:gd name="T9" fmla="*/ 0 h 22"/>
                  <a:gd name="T10" fmla="*/ 3 w 12"/>
                  <a:gd name="T11" fmla="*/ 0 h 22"/>
                  <a:gd name="T12" fmla="*/ 0 w 12"/>
                  <a:gd name="T13" fmla="*/ 2 h 22"/>
                  <a:gd name="T14" fmla="*/ 0 w 12"/>
                  <a:gd name="T15" fmla="*/ 20 h 22"/>
                  <a:gd name="T16" fmla="*/ 3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3" y="22"/>
                    </a:moveTo>
                    <a:cubicBezTo>
                      <a:pt x="10" y="22"/>
                      <a:pt x="10" y="22"/>
                      <a:pt x="10" y="22"/>
                    </a:cubicBezTo>
                    <a:cubicBezTo>
                      <a:pt x="12" y="22"/>
                      <a:pt x="12" y="21"/>
                      <a:pt x="12" y="20"/>
                    </a:cubicBezTo>
                    <a:cubicBezTo>
                      <a:pt x="12" y="2"/>
                      <a:pt x="12" y="2"/>
                      <a:pt x="12" y="2"/>
                    </a:cubicBezTo>
                    <a:cubicBezTo>
                      <a:pt x="12" y="1"/>
                      <a:pt x="12" y="0"/>
                      <a:pt x="10" y="0"/>
                    </a:cubicBezTo>
                    <a:cubicBezTo>
                      <a:pt x="3" y="0"/>
                      <a:pt x="3" y="0"/>
                      <a:pt x="3" y="0"/>
                    </a:cubicBezTo>
                    <a:cubicBezTo>
                      <a:pt x="1" y="0"/>
                      <a:pt x="0" y="1"/>
                      <a:pt x="0" y="2"/>
                    </a:cubicBezTo>
                    <a:cubicBezTo>
                      <a:pt x="0" y="20"/>
                      <a:pt x="0" y="20"/>
                      <a:pt x="0" y="20"/>
                    </a:cubicBezTo>
                    <a:cubicBezTo>
                      <a:pt x="0" y="21"/>
                      <a:pt x="1" y="22"/>
                      <a:pt x="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4" name="Freeform 205">
                <a:extLst>
                  <a:ext uri="{FF2B5EF4-FFF2-40B4-BE49-F238E27FC236}">
                    <a16:creationId xmlns:a16="http://schemas.microsoft.com/office/drawing/2014/main" id="{0DC5A647-E6DF-4675-9E56-B3AFBA405D95}"/>
                  </a:ext>
                </a:extLst>
              </p:cNvPr>
              <p:cNvSpPr>
                <a:spLocks noEditPoints="1"/>
              </p:cNvSpPr>
              <p:nvPr/>
            </p:nvSpPr>
            <p:spPr bwMode="auto">
              <a:xfrm>
                <a:off x="6030913" y="3444875"/>
                <a:ext cx="404813" cy="360363"/>
              </a:xfrm>
              <a:custGeom>
                <a:avLst/>
                <a:gdLst>
                  <a:gd name="T0" fmla="*/ 94 w 106"/>
                  <a:gd name="T1" fmla="*/ 0 h 95"/>
                  <a:gd name="T2" fmla="*/ 91 w 106"/>
                  <a:gd name="T3" fmla="*/ 0 h 95"/>
                  <a:gd name="T4" fmla="*/ 91 w 106"/>
                  <a:gd name="T5" fmla="*/ 12 h 95"/>
                  <a:gd name="T6" fmla="*/ 84 w 106"/>
                  <a:gd name="T7" fmla="*/ 18 h 95"/>
                  <a:gd name="T8" fmla="*/ 77 w 106"/>
                  <a:gd name="T9" fmla="*/ 18 h 95"/>
                  <a:gd name="T10" fmla="*/ 70 w 106"/>
                  <a:gd name="T11" fmla="*/ 12 h 95"/>
                  <a:gd name="T12" fmla="*/ 70 w 106"/>
                  <a:gd name="T13" fmla="*/ 0 h 95"/>
                  <a:gd name="T14" fmla="*/ 36 w 106"/>
                  <a:gd name="T15" fmla="*/ 0 h 95"/>
                  <a:gd name="T16" fmla="*/ 36 w 106"/>
                  <a:gd name="T17" fmla="*/ 12 h 95"/>
                  <a:gd name="T18" fmla="*/ 29 w 106"/>
                  <a:gd name="T19" fmla="*/ 18 h 95"/>
                  <a:gd name="T20" fmla="*/ 21 w 106"/>
                  <a:gd name="T21" fmla="*/ 18 h 95"/>
                  <a:gd name="T22" fmla="*/ 15 w 106"/>
                  <a:gd name="T23" fmla="*/ 12 h 95"/>
                  <a:gd name="T24" fmla="*/ 15 w 106"/>
                  <a:gd name="T25" fmla="*/ 0 h 95"/>
                  <a:gd name="T26" fmla="*/ 12 w 106"/>
                  <a:gd name="T27" fmla="*/ 0 h 95"/>
                  <a:gd name="T28" fmla="*/ 0 w 106"/>
                  <a:gd name="T29" fmla="*/ 13 h 95"/>
                  <a:gd name="T30" fmla="*/ 0 w 106"/>
                  <a:gd name="T31" fmla="*/ 36 h 95"/>
                  <a:gd name="T32" fmla="*/ 0 w 106"/>
                  <a:gd name="T33" fmla="*/ 83 h 95"/>
                  <a:gd name="T34" fmla="*/ 12 w 106"/>
                  <a:gd name="T35" fmla="*/ 95 h 95"/>
                  <a:gd name="T36" fmla="*/ 94 w 106"/>
                  <a:gd name="T37" fmla="*/ 95 h 95"/>
                  <a:gd name="T38" fmla="*/ 106 w 106"/>
                  <a:gd name="T39" fmla="*/ 83 h 95"/>
                  <a:gd name="T40" fmla="*/ 106 w 106"/>
                  <a:gd name="T41" fmla="*/ 36 h 95"/>
                  <a:gd name="T42" fmla="*/ 106 w 106"/>
                  <a:gd name="T43" fmla="*/ 13 h 95"/>
                  <a:gd name="T44" fmla="*/ 94 w 106"/>
                  <a:gd name="T45" fmla="*/ 0 h 95"/>
                  <a:gd name="T46" fmla="*/ 98 w 106"/>
                  <a:gd name="T47" fmla="*/ 83 h 95"/>
                  <a:gd name="T48" fmla="*/ 94 w 106"/>
                  <a:gd name="T49" fmla="*/ 88 h 95"/>
                  <a:gd name="T50" fmla="*/ 12 w 106"/>
                  <a:gd name="T51" fmla="*/ 88 h 95"/>
                  <a:gd name="T52" fmla="*/ 8 w 106"/>
                  <a:gd name="T53" fmla="*/ 83 h 95"/>
                  <a:gd name="T54" fmla="*/ 8 w 106"/>
                  <a:gd name="T55" fmla="*/ 36 h 95"/>
                  <a:gd name="T56" fmla="*/ 98 w 106"/>
                  <a:gd name="T57" fmla="*/ 36 h 95"/>
                  <a:gd name="T58" fmla="*/ 98 w 106"/>
                  <a:gd name="T59" fmla="*/ 8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6" h="95">
                    <a:moveTo>
                      <a:pt x="94" y="0"/>
                    </a:moveTo>
                    <a:cubicBezTo>
                      <a:pt x="91" y="0"/>
                      <a:pt x="91" y="0"/>
                      <a:pt x="91" y="0"/>
                    </a:cubicBezTo>
                    <a:cubicBezTo>
                      <a:pt x="91" y="12"/>
                      <a:pt x="91" y="12"/>
                      <a:pt x="91" y="12"/>
                    </a:cubicBezTo>
                    <a:cubicBezTo>
                      <a:pt x="91" y="15"/>
                      <a:pt x="88" y="18"/>
                      <a:pt x="84" y="18"/>
                    </a:cubicBezTo>
                    <a:cubicBezTo>
                      <a:pt x="77" y="18"/>
                      <a:pt x="77" y="18"/>
                      <a:pt x="77" y="18"/>
                    </a:cubicBezTo>
                    <a:cubicBezTo>
                      <a:pt x="73" y="18"/>
                      <a:pt x="70" y="15"/>
                      <a:pt x="70" y="12"/>
                    </a:cubicBezTo>
                    <a:cubicBezTo>
                      <a:pt x="70" y="0"/>
                      <a:pt x="70" y="0"/>
                      <a:pt x="70" y="0"/>
                    </a:cubicBezTo>
                    <a:cubicBezTo>
                      <a:pt x="36" y="0"/>
                      <a:pt x="36" y="0"/>
                      <a:pt x="36" y="0"/>
                    </a:cubicBezTo>
                    <a:cubicBezTo>
                      <a:pt x="36" y="12"/>
                      <a:pt x="36" y="12"/>
                      <a:pt x="36" y="12"/>
                    </a:cubicBezTo>
                    <a:cubicBezTo>
                      <a:pt x="36" y="15"/>
                      <a:pt x="33" y="18"/>
                      <a:pt x="29" y="18"/>
                    </a:cubicBezTo>
                    <a:cubicBezTo>
                      <a:pt x="21" y="18"/>
                      <a:pt x="21" y="18"/>
                      <a:pt x="21" y="18"/>
                    </a:cubicBezTo>
                    <a:cubicBezTo>
                      <a:pt x="18" y="18"/>
                      <a:pt x="15" y="15"/>
                      <a:pt x="15" y="12"/>
                    </a:cubicBezTo>
                    <a:cubicBezTo>
                      <a:pt x="15" y="0"/>
                      <a:pt x="15" y="0"/>
                      <a:pt x="15" y="0"/>
                    </a:cubicBezTo>
                    <a:cubicBezTo>
                      <a:pt x="12" y="0"/>
                      <a:pt x="12" y="0"/>
                      <a:pt x="12" y="0"/>
                    </a:cubicBezTo>
                    <a:cubicBezTo>
                      <a:pt x="5" y="0"/>
                      <a:pt x="0" y="6"/>
                      <a:pt x="0" y="13"/>
                    </a:cubicBezTo>
                    <a:cubicBezTo>
                      <a:pt x="0" y="36"/>
                      <a:pt x="0" y="36"/>
                      <a:pt x="0" y="36"/>
                    </a:cubicBezTo>
                    <a:cubicBezTo>
                      <a:pt x="0" y="83"/>
                      <a:pt x="0" y="83"/>
                      <a:pt x="0" y="83"/>
                    </a:cubicBezTo>
                    <a:cubicBezTo>
                      <a:pt x="0" y="90"/>
                      <a:pt x="5" y="95"/>
                      <a:pt x="12" y="95"/>
                    </a:cubicBezTo>
                    <a:cubicBezTo>
                      <a:pt x="94" y="95"/>
                      <a:pt x="94" y="95"/>
                      <a:pt x="94" y="95"/>
                    </a:cubicBezTo>
                    <a:cubicBezTo>
                      <a:pt x="100" y="95"/>
                      <a:pt x="106" y="90"/>
                      <a:pt x="106" y="83"/>
                    </a:cubicBezTo>
                    <a:cubicBezTo>
                      <a:pt x="106" y="36"/>
                      <a:pt x="106" y="36"/>
                      <a:pt x="106" y="36"/>
                    </a:cubicBezTo>
                    <a:cubicBezTo>
                      <a:pt x="106" y="13"/>
                      <a:pt x="106" y="13"/>
                      <a:pt x="106" y="13"/>
                    </a:cubicBezTo>
                    <a:cubicBezTo>
                      <a:pt x="106" y="6"/>
                      <a:pt x="100" y="0"/>
                      <a:pt x="94" y="0"/>
                    </a:cubicBezTo>
                    <a:close/>
                    <a:moveTo>
                      <a:pt x="98" y="83"/>
                    </a:moveTo>
                    <a:cubicBezTo>
                      <a:pt x="98" y="86"/>
                      <a:pt x="96" y="88"/>
                      <a:pt x="94" y="88"/>
                    </a:cubicBezTo>
                    <a:cubicBezTo>
                      <a:pt x="12" y="88"/>
                      <a:pt x="12" y="88"/>
                      <a:pt x="12" y="88"/>
                    </a:cubicBezTo>
                    <a:cubicBezTo>
                      <a:pt x="10" y="88"/>
                      <a:pt x="8" y="86"/>
                      <a:pt x="8" y="83"/>
                    </a:cubicBezTo>
                    <a:cubicBezTo>
                      <a:pt x="8" y="36"/>
                      <a:pt x="8" y="36"/>
                      <a:pt x="8" y="36"/>
                    </a:cubicBezTo>
                    <a:cubicBezTo>
                      <a:pt x="98" y="36"/>
                      <a:pt x="98" y="36"/>
                      <a:pt x="98" y="36"/>
                    </a:cubicBezTo>
                    <a:lnTo>
                      <a:pt x="98" y="8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5" name="Rectangle 206">
                <a:extLst>
                  <a:ext uri="{FF2B5EF4-FFF2-40B4-BE49-F238E27FC236}">
                    <a16:creationId xmlns:a16="http://schemas.microsoft.com/office/drawing/2014/main" id="{D0010BBB-DFB9-4175-A76B-C3B2B09AB3A1}"/>
                  </a:ext>
                </a:extLst>
              </p:cNvPr>
              <p:cNvSpPr>
                <a:spLocks noChangeArrowheads="1"/>
              </p:cNvSpPr>
              <p:nvPr/>
            </p:nvSpPr>
            <p:spPr bwMode="auto">
              <a:xfrm>
                <a:off x="608488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6" name="Rectangle 207">
                <a:extLst>
                  <a:ext uri="{FF2B5EF4-FFF2-40B4-BE49-F238E27FC236}">
                    <a16:creationId xmlns:a16="http://schemas.microsoft.com/office/drawing/2014/main" id="{AB3A1A45-8B07-40C8-B06D-85B240A9F309}"/>
                  </a:ext>
                </a:extLst>
              </p:cNvPr>
              <p:cNvSpPr>
                <a:spLocks noChangeArrowheads="1"/>
              </p:cNvSpPr>
              <p:nvPr/>
            </p:nvSpPr>
            <p:spPr bwMode="auto">
              <a:xfrm>
                <a:off x="6191250"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7" name="Rectangle 208">
                <a:extLst>
                  <a:ext uri="{FF2B5EF4-FFF2-40B4-BE49-F238E27FC236}">
                    <a16:creationId xmlns:a16="http://schemas.microsoft.com/office/drawing/2014/main" id="{50D6D5DE-227B-4BD8-8872-55F14BF1F98A}"/>
                  </a:ext>
                </a:extLst>
              </p:cNvPr>
              <p:cNvSpPr>
                <a:spLocks noChangeArrowheads="1"/>
              </p:cNvSpPr>
              <p:nvPr/>
            </p:nvSpPr>
            <p:spPr bwMode="auto">
              <a:xfrm>
                <a:off x="629443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8" name="Rectangle 209">
                <a:extLst>
                  <a:ext uri="{FF2B5EF4-FFF2-40B4-BE49-F238E27FC236}">
                    <a16:creationId xmlns:a16="http://schemas.microsoft.com/office/drawing/2014/main" id="{2129D8C0-5574-4981-A473-54A4DA5BBC51}"/>
                  </a:ext>
                </a:extLst>
              </p:cNvPr>
              <p:cNvSpPr>
                <a:spLocks noChangeArrowheads="1"/>
              </p:cNvSpPr>
              <p:nvPr/>
            </p:nvSpPr>
            <p:spPr bwMode="auto">
              <a:xfrm>
                <a:off x="608488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9" name="Rectangle 210">
                <a:extLst>
                  <a:ext uri="{FF2B5EF4-FFF2-40B4-BE49-F238E27FC236}">
                    <a16:creationId xmlns:a16="http://schemas.microsoft.com/office/drawing/2014/main" id="{42C482E4-5992-4F76-A4FC-FAEA3959B45C}"/>
                  </a:ext>
                </a:extLst>
              </p:cNvPr>
              <p:cNvSpPr>
                <a:spLocks noChangeArrowheads="1"/>
              </p:cNvSpPr>
              <p:nvPr/>
            </p:nvSpPr>
            <p:spPr bwMode="auto">
              <a:xfrm>
                <a:off x="6191250"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0" name="Rectangle 211">
                <a:extLst>
                  <a:ext uri="{FF2B5EF4-FFF2-40B4-BE49-F238E27FC236}">
                    <a16:creationId xmlns:a16="http://schemas.microsoft.com/office/drawing/2014/main" id="{608FABB8-F614-48FA-B8BA-76252847C955}"/>
                  </a:ext>
                </a:extLst>
              </p:cNvPr>
              <p:cNvSpPr>
                <a:spLocks noChangeArrowheads="1"/>
              </p:cNvSpPr>
              <p:nvPr/>
            </p:nvSpPr>
            <p:spPr bwMode="auto">
              <a:xfrm>
                <a:off x="629443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1" name="Rectangle 212">
                <a:extLst>
                  <a:ext uri="{FF2B5EF4-FFF2-40B4-BE49-F238E27FC236}">
                    <a16:creationId xmlns:a16="http://schemas.microsoft.com/office/drawing/2014/main" id="{BE49BF88-4A04-43E2-8944-E6471A990D7B}"/>
                  </a:ext>
                </a:extLst>
              </p:cNvPr>
              <p:cNvSpPr>
                <a:spLocks noChangeArrowheads="1"/>
              </p:cNvSpPr>
              <p:nvPr/>
            </p:nvSpPr>
            <p:spPr bwMode="auto">
              <a:xfrm>
                <a:off x="608488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2" name="Rectangle 213">
                <a:extLst>
                  <a:ext uri="{FF2B5EF4-FFF2-40B4-BE49-F238E27FC236}">
                    <a16:creationId xmlns:a16="http://schemas.microsoft.com/office/drawing/2014/main" id="{1F29B5A7-F2A1-4F35-A35C-004039DDA113}"/>
                  </a:ext>
                </a:extLst>
              </p:cNvPr>
              <p:cNvSpPr>
                <a:spLocks noChangeArrowheads="1"/>
              </p:cNvSpPr>
              <p:nvPr/>
            </p:nvSpPr>
            <p:spPr bwMode="auto">
              <a:xfrm>
                <a:off x="6191250"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3" name="Rectangle 214">
                <a:extLst>
                  <a:ext uri="{FF2B5EF4-FFF2-40B4-BE49-F238E27FC236}">
                    <a16:creationId xmlns:a16="http://schemas.microsoft.com/office/drawing/2014/main" id="{7A1C70A7-03A0-4142-914C-A675EEB0F1BA}"/>
                  </a:ext>
                </a:extLst>
              </p:cNvPr>
              <p:cNvSpPr>
                <a:spLocks noChangeArrowheads="1"/>
              </p:cNvSpPr>
              <p:nvPr/>
            </p:nvSpPr>
            <p:spPr bwMode="auto">
              <a:xfrm>
                <a:off x="629443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4" name="Rectangle 215">
                <a:extLst>
                  <a:ext uri="{FF2B5EF4-FFF2-40B4-BE49-F238E27FC236}">
                    <a16:creationId xmlns:a16="http://schemas.microsoft.com/office/drawing/2014/main" id="{95C51AC2-93C4-4847-869B-B822FA435768}"/>
                  </a:ext>
                </a:extLst>
              </p:cNvPr>
              <p:cNvSpPr>
                <a:spLocks noChangeArrowheads="1"/>
              </p:cNvSpPr>
              <p:nvPr/>
            </p:nvSpPr>
            <p:spPr bwMode="auto">
              <a:xfrm>
                <a:off x="5965825" y="339883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5" name="Freeform 216">
                <a:extLst>
                  <a:ext uri="{FF2B5EF4-FFF2-40B4-BE49-F238E27FC236}">
                    <a16:creationId xmlns:a16="http://schemas.microsoft.com/office/drawing/2014/main" id="{E4FB0AFD-8DFA-47AF-A756-6E3640B92A98}"/>
                  </a:ext>
                </a:extLst>
              </p:cNvPr>
              <p:cNvSpPr>
                <a:spLocks noEditPoints="1"/>
              </p:cNvSpPr>
              <p:nvPr/>
            </p:nvSpPr>
            <p:spPr bwMode="auto">
              <a:xfrm>
                <a:off x="5753100" y="3208338"/>
                <a:ext cx="427038" cy="604838"/>
              </a:xfrm>
              <a:custGeom>
                <a:avLst/>
                <a:gdLst>
                  <a:gd name="T0" fmla="*/ 111 w 112"/>
                  <a:gd name="T1" fmla="*/ 23 h 159"/>
                  <a:gd name="T2" fmla="*/ 106 w 112"/>
                  <a:gd name="T3" fmla="*/ 19 h 159"/>
                  <a:gd name="T4" fmla="*/ 83 w 112"/>
                  <a:gd name="T5" fmla="*/ 2 h 159"/>
                  <a:gd name="T6" fmla="*/ 77 w 112"/>
                  <a:gd name="T7" fmla="*/ 0 h 159"/>
                  <a:gd name="T8" fmla="*/ 70 w 112"/>
                  <a:gd name="T9" fmla="*/ 0 h 159"/>
                  <a:gd name="T10" fmla="*/ 68 w 112"/>
                  <a:gd name="T11" fmla="*/ 10 h 159"/>
                  <a:gd name="T12" fmla="*/ 56 w 112"/>
                  <a:gd name="T13" fmla="*/ 50 h 159"/>
                  <a:gd name="T14" fmla="*/ 56 w 112"/>
                  <a:gd name="T15" fmla="*/ 51 h 159"/>
                  <a:gd name="T16" fmla="*/ 56 w 112"/>
                  <a:gd name="T17" fmla="*/ 50 h 159"/>
                  <a:gd name="T18" fmla="*/ 45 w 112"/>
                  <a:gd name="T19" fmla="*/ 10 h 159"/>
                  <a:gd name="T20" fmla="*/ 43 w 112"/>
                  <a:gd name="T21" fmla="*/ 0 h 159"/>
                  <a:gd name="T22" fmla="*/ 35 w 112"/>
                  <a:gd name="T23" fmla="*/ 0 h 159"/>
                  <a:gd name="T24" fmla="*/ 28 w 112"/>
                  <a:gd name="T25" fmla="*/ 4 h 159"/>
                  <a:gd name="T26" fmla="*/ 0 w 112"/>
                  <a:gd name="T27" fmla="*/ 44 h 159"/>
                  <a:gd name="T28" fmla="*/ 0 w 112"/>
                  <a:gd name="T29" fmla="*/ 44 h 159"/>
                  <a:gd name="T30" fmla="*/ 0 w 112"/>
                  <a:gd name="T31" fmla="*/ 45 h 159"/>
                  <a:gd name="T32" fmla="*/ 2 w 112"/>
                  <a:gd name="T33" fmla="*/ 48 h 159"/>
                  <a:gd name="T34" fmla="*/ 9 w 112"/>
                  <a:gd name="T35" fmla="*/ 61 h 159"/>
                  <a:gd name="T36" fmla="*/ 29 w 112"/>
                  <a:gd name="T37" fmla="*/ 72 h 159"/>
                  <a:gd name="T38" fmla="*/ 29 w 112"/>
                  <a:gd name="T39" fmla="*/ 84 h 159"/>
                  <a:gd name="T40" fmla="*/ 34 w 112"/>
                  <a:gd name="T41" fmla="*/ 159 h 159"/>
                  <a:gd name="T42" fmla="*/ 55 w 112"/>
                  <a:gd name="T43" fmla="*/ 84 h 159"/>
                  <a:gd name="T44" fmla="*/ 60 w 112"/>
                  <a:gd name="T45" fmla="*/ 159 h 159"/>
                  <a:gd name="T46" fmla="*/ 67 w 112"/>
                  <a:gd name="T47" fmla="*/ 145 h 159"/>
                  <a:gd name="T48" fmla="*/ 76 w 112"/>
                  <a:gd name="T49" fmla="*/ 59 h 159"/>
                  <a:gd name="T50" fmla="*/ 110 w 112"/>
                  <a:gd name="T51" fmla="*/ 41 h 159"/>
                  <a:gd name="T52" fmla="*/ 112 w 112"/>
                  <a:gd name="T53" fmla="*/ 24 h 159"/>
                  <a:gd name="T54" fmla="*/ 27 w 112"/>
                  <a:gd name="T55" fmla="*/ 51 h 159"/>
                  <a:gd name="T56" fmla="*/ 21 w 112"/>
                  <a:gd name="T57" fmla="*/ 40 h 159"/>
                  <a:gd name="T58" fmla="*/ 30 w 112"/>
                  <a:gd name="T59" fmla="*/ 55 h 159"/>
                  <a:gd name="T60" fmla="*/ 68 w 112"/>
                  <a:gd name="T61" fmla="*/ 39 h 159"/>
                  <a:gd name="T62" fmla="*/ 82 w 112"/>
                  <a:gd name="T63" fmla="*/ 25 h 159"/>
                  <a:gd name="T64" fmla="*/ 88 w 112"/>
                  <a:gd name="T6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2" h="159">
                    <a:moveTo>
                      <a:pt x="112" y="24"/>
                    </a:moveTo>
                    <a:cubicBezTo>
                      <a:pt x="111" y="23"/>
                      <a:pt x="111" y="23"/>
                      <a:pt x="111" y="23"/>
                    </a:cubicBezTo>
                    <a:cubicBezTo>
                      <a:pt x="110" y="22"/>
                      <a:pt x="110" y="22"/>
                      <a:pt x="110" y="22"/>
                    </a:cubicBezTo>
                    <a:cubicBezTo>
                      <a:pt x="106" y="19"/>
                      <a:pt x="106" y="19"/>
                      <a:pt x="106" y="19"/>
                    </a:cubicBezTo>
                    <a:cubicBezTo>
                      <a:pt x="98" y="13"/>
                      <a:pt x="98" y="13"/>
                      <a:pt x="98" y="13"/>
                    </a:cubicBezTo>
                    <a:cubicBezTo>
                      <a:pt x="83" y="2"/>
                      <a:pt x="83" y="2"/>
                      <a:pt x="83" y="2"/>
                    </a:cubicBezTo>
                    <a:cubicBezTo>
                      <a:pt x="81" y="1"/>
                      <a:pt x="80" y="0"/>
                      <a:pt x="78" y="0"/>
                    </a:cubicBezTo>
                    <a:cubicBezTo>
                      <a:pt x="78" y="0"/>
                      <a:pt x="78" y="0"/>
                      <a:pt x="77" y="0"/>
                    </a:cubicBezTo>
                    <a:cubicBezTo>
                      <a:pt x="75" y="0"/>
                      <a:pt x="72" y="0"/>
                      <a:pt x="70" y="0"/>
                    </a:cubicBezTo>
                    <a:cubicBezTo>
                      <a:pt x="70" y="0"/>
                      <a:pt x="70" y="0"/>
                      <a:pt x="70" y="0"/>
                    </a:cubicBezTo>
                    <a:cubicBezTo>
                      <a:pt x="76" y="5"/>
                      <a:pt x="76" y="5"/>
                      <a:pt x="76" y="5"/>
                    </a:cubicBezTo>
                    <a:cubicBezTo>
                      <a:pt x="68" y="10"/>
                      <a:pt x="68" y="10"/>
                      <a:pt x="68" y="10"/>
                    </a:cubicBezTo>
                    <a:cubicBezTo>
                      <a:pt x="72" y="16"/>
                      <a:pt x="72" y="16"/>
                      <a:pt x="72" y="16"/>
                    </a:cubicBezTo>
                    <a:cubicBezTo>
                      <a:pt x="56" y="50"/>
                      <a:pt x="56" y="50"/>
                      <a:pt x="56" y="50"/>
                    </a:cubicBezTo>
                    <a:cubicBezTo>
                      <a:pt x="57" y="51"/>
                      <a:pt x="57" y="51"/>
                      <a:pt x="57" y="51"/>
                    </a:cubicBezTo>
                    <a:cubicBezTo>
                      <a:pt x="56" y="51"/>
                      <a:pt x="56" y="51"/>
                      <a:pt x="56" y="51"/>
                    </a:cubicBezTo>
                    <a:cubicBezTo>
                      <a:pt x="56" y="51"/>
                      <a:pt x="56" y="51"/>
                      <a:pt x="56" y="51"/>
                    </a:cubicBezTo>
                    <a:cubicBezTo>
                      <a:pt x="56" y="50"/>
                      <a:pt x="56" y="50"/>
                      <a:pt x="56" y="50"/>
                    </a:cubicBezTo>
                    <a:cubicBezTo>
                      <a:pt x="41" y="16"/>
                      <a:pt x="41" y="16"/>
                      <a:pt x="41" y="16"/>
                    </a:cubicBezTo>
                    <a:cubicBezTo>
                      <a:pt x="45" y="10"/>
                      <a:pt x="45" y="10"/>
                      <a:pt x="45" y="10"/>
                    </a:cubicBezTo>
                    <a:cubicBezTo>
                      <a:pt x="36" y="5"/>
                      <a:pt x="36" y="5"/>
                      <a:pt x="36" y="5"/>
                    </a:cubicBezTo>
                    <a:cubicBezTo>
                      <a:pt x="43" y="0"/>
                      <a:pt x="43" y="0"/>
                      <a:pt x="43" y="0"/>
                    </a:cubicBezTo>
                    <a:cubicBezTo>
                      <a:pt x="43" y="0"/>
                      <a:pt x="43" y="0"/>
                      <a:pt x="43" y="0"/>
                    </a:cubicBezTo>
                    <a:cubicBezTo>
                      <a:pt x="41" y="0"/>
                      <a:pt x="38" y="0"/>
                      <a:pt x="35" y="0"/>
                    </a:cubicBezTo>
                    <a:cubicBezTo>
                      <a:pt x="35" y="0"/>
                      <a:pt x="35" y="0"/>
                      <a:pt x="35" y="0"/>
                    </a:cubicBezTo>
                    <a:cubicBezTo>
                      <a:pt x="32" y="1"/>
                      <a:pt x="30" y="2"/>
                      <a:pt x="28" y="4"/>
                    </a:cubicBezTo>
                    <a:cubicBezTo>
                      <a:pt x="1" y="32"/>
                      <a:pt x="1" y="32"/>
                      <a:pt x="1" y="32"/>
                    </a:cubicBezTo>
                    <a:cubicBezTo>
                      <a:pt x="0" y="44"/>
                      <a:pt x="0" y="44"/>
                      <a:pt x="0" y="44"/>
                    </a:cubicBezTo>
                    <a:cubicBezTo>
                      <a:pt x="0" y="44"/>
                      <a:pt x="0" y="44"/>
                      <a:pt x="0" y="44"/>
                    </a:cubicBezTo>
                    <a:cubicBezTo>
                      <a:pt x="0" y="44"/>
                      <a:pt x="0" y="44"/>
                      <a:pt x="0" y="44"/>
                    </a:cubicBezTo>
                    <a:cubicBezTo>
                      <a:pt x="0" y="44"/>
                      <a:pt x="0" y="44"/>
                      <a:pt x="0" y="44"/>
                    </a:cubicBezTo>
                    <a:cubicBezTo>
                      <a:pt x="0" y="45"/>
                      <a:pt x="0" y="45"/>
                      <a:pt x="0" y="45"/>
                    </a:cubicBezTo>
                    <a:cubicBezTo>
                      <a:pt x="1" y="46"/>
                      <a:pt x="1" y="46"/>
                      <a:pt x="1" y="46"/>
                    </a:cubicBezTo>
                    <a:cubicBezTo>
                      <a:pt x="2" y="48"/>
                      <a:pt x="2" y="48"/>
                      <a:pt x="2" y="48"/>
                    </a:cubicBezTo>
                    <a:cubicBezTo>
                      <a:pt x="4" y="52"/>
                      <a:pt x="4" y="52"/>
                      <a:pt x="4" y="52"/>
                    </a:cubicBezTo>
                    <a:cubicBezTo>
                      <a:pt x="9" y="61"/>
                      <a:pt x="9" y="61"/>
                      <a:pt x="9" y="61"/>
                    </a:cubicBezTo>
                    <a:cubicBezTo>
                      <a:pt x="18" y="78"/>
                      <a:pt x="18" y="78"/>
                      <a:pt x="18" y="78"/>
                    </a:cubicBezTo>
                    <a:cubicBezTo>
                      <a:pt x="22" y="76"/>
                      <a:pt x="26" y="74"/>
                      <a:pt x="29" y="72"/>
                    </a:cubicBezTo>
                    <a:cubicBezTo>
                      <a:pt x="29" y="76"/>
                      <a:pt x="29" y="80"/>
                      <a:pt x="29" y="83"/>
                    </a:cubicBezTo>
                    <a:cubicBezTo>
                      <a:pt x="29" y="83"/>
                      <a:pt x="29" y="84"/>
                      <a:pt x="29" y="84"/>
                    </a:cubicBezTo>
                    <a:cubicBezTo>
                      <a:pt x="30" y="84"/>
                      <a:pt x="31" y="84"/>
                      <a:pt x="31" y="84"/>
                    </a:cubicBezTo>
                    <a:cubicBezTo>
                      <a:pt x="34" y="159"/>
                      <a:pt x="34" y="159"/>
                      <a:pt x="34" y="159"/>
                    </a:cubicBezTo>
                    <a:cubicBezTo>
                      <a:pt x="55" y="159"/>
                      <a:pt x="55" y="159"/>
                      <a:pt x="55" y="159"/>
                    </a:cubicBezTo>
                    <a:cubicBezTo>
                      <a:pt x="56" y="137"/>
                      <a:pt x="56" y="99"/>
                      <a:pt x="55" y="84"/>
                    </a:cubicBezTo>
                    <a:cubicBezTo>
                      <a:pt x="56" y="84"/>
                      <a:pt x="57" y="84"/>
                      <a:pt x="58" y="84"/>
                    </a:cubicBezTo>
                    <a:cubicBezTo>
                      <a:pt x="60" y="159"/>
                      <a:pt x="60" y="159"/>
                      <a:pt x="60" y="159"/>
                    </a:cubicBezTo>
                    <a:cubicBezTo>
                      <a:pt x="74" y="159"/>
                      <a:pt x="74" y="159"/>
                      <a:pt x="74" y="159"/>
                    </a:cubicBezTo>
                    <a:cubicBezTo>
                      <a:pt x="70" y="156"/>
                      <a:pt x="67" y="151"/>
                      <a:pt x="67" y="145"/>
                    </a:cubicBezTo>
                    <a:cubicBezTo>
                      <a:pt x="67" y="75"/>
                      <a:pt x="67" y="75"/>
                      <a:pt x="67" y="75"/>
                    </a:cubicBezTo>
                    <a:cubicBezTo>
                      <a:pt x="67" y="68"/>
                      <a:pt x="71" y="62"/>
                      <a:pt x="76" y="59"/>
                    </a:cubicBezTo>
                    <a:cubicBezTo>
                      <a:pt x="77" y="60"/>
                      <a:pt x="78" y="61"/>
                      <a:pt x="78" y="62"/>
                    </a:cubicBezTo>
                    <a:cubicBezTo>
                      <a:pt x="110" y="41"/>
                      <a:pt x="110" y="41"/>
                      <a:pt x="110" y="41"/>
                    </a:cubicBezTo>
                    <a:cubicBezTo>
                      <a:pt x="111" y="40"/>
                      <a:pt x="111" y="40"/>
                      <a:pt x="111" y="40"/>
                    </a:cubicBezTo>
                    <a:lnTo>
                      <a:pt x="112" y="24"/>
                    </a:lnTo>
                    <a:close/>
                    <a:moveTo>
                      <a:pt x="30" y="55"/>
                    </a:moveTo>
                    <a:cubicBezTo>
                      <a:pt x="27" y="51"/>
                      <a:pt x="27" y="51"/>
                      <a:pt x="27" y="51"/>
                    </a:cubicBezTo>
                    <a:cubicBezTo>
                      <a:pt x="22" y="43"/>
                      <a:pt x="22" y="43"/>
                      <a:pt x="22" y="43"/>
                    </a:cubicBezTo>
                    <a:cubicBezTo>
                      <a:pt x="21" y="40"/>
                      <a:pt x="21" y="40"/>
                      <a:pt x="21" y="40"/>
                    </a:cubicBezTo>
                    <a:cubicBezTo>
                      <a:pt x="31" y="28"/>
                      <a:pt x="31" y="28"/>
                      <a:pt x="31" y="28"/>
                    </a:cubicBezTo>
                    <a:cubicBezTo>
                      <a:pt x="30" y="37"/>
                      <a:pt x="30" y="46"/>
                      <a:pt x="30" y="55"/>
                    </a:cubicBezTo>
                    <a:close/>
                    <a:moveTo>
                      <a:pt x="70" y="41"/>
                    </a:moveTo>
                    <a:cubicBezTo>
                      <a:pt x="68" y="39"/>
                      <a:pt x="68" y="39"/>
                      <a:pt x="68" y="39"/>
                    </a:cubicBezTo>
                    <a:cubicBezTo>
                      <a:pt x="82" y="30"/>
                      <a:pt x="82" y="30"/>
                      <a:pt x="82" y="30"/>
                    </a:cubicBezTo>
                    <a:cubicBezTo>
                      <a:pt x="82" y="28"/>
                      <a:pt x="82" y="27"/>
                      <a:pt x="82" y="25"/>
                    </a:cubicBezTo>
                    <a:cubicBezTo>
                      <a:pt x="86" y="28"/>
                      <a:pt x="86" y="28"/>
                      <a:pt x="86" y="28"/>
                    </a:cubicBezTo>
                    <a:cubicBezTo>
                      <a:pt x="88" y="30"/>
                      <a:pt x="88" y="30"/>
                      <a:pt x="88" y="30"/>
                    </a:cubicBezTo>
                    <a:lnTo>
                      <a:pt x="70"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26" name="Freeform 217">
                <a:extLst>
                  <a:ext uri="{FF2B5EF4-FFF2-40B4-BE49-F238E27FC236}">
                    <a16:creationId xmlns:a16="http://schemas.microsoft.com/office/drawing/2014/main" id="{7681A10F-763B-493B-994C-DB48180CB530}"/>
                  </a:ext>
                </a:extLst>
              </p:cNvPr>
              <p:cNvSpPr/>
              <p:nvPr/>
            </p:nvSpPr>
            <p:spPr bwMode="auto">
              <a:xfrm>
                <a:off x="5946775" y="3201988"/>
                <a:ext cx="42863" cy="44450"/>
              </a:xfrm>
              <a:custGeom>
                <a:avLst/>
                <a:gdLst>
                  <a:gd name="T0" fmla="*/ 22 w 27"/>
                  <a:gd name="T1" fmla="*/ 0 h 28"/>
                  <a:gd name="T2" fmla="*/ 27 w 27"/>
                  <a:gd name="T3" fmla="*/ 16 h 28"/>
                  <a:gd name="T4" fmla="*/ 12 w 27"/>
                  <a:gd name="T5" fmla="*/ 28 h 28"/>
                  <a:gd name="T6" fmla="*/ 0 w 27"/>
                  <a:gd name="T7" fmla="*/ 16 h 28"/>
                  <a:gd name="T8" fmla="*/ 5 w 27"/>
                  <a:gd name="T9" fmla="*/ 0 h 28"/>
                  <a:gd name="T10" fmla="*/ 22 w 27"/>
                  <a:gd name="T11" fmla="*/ 0 h 28"/>
                </a:gdLst>
                <a:ahLst/>
                <a:cxnLst>
                  <a:cxn ang="0">
                    <a:pos x="T0" y="T1"/>
                  </a:cxn>
                  <a:cxn ang="0">
                    <a:pos x="T2" y="T3"/>
                  </a:cxn>
                  <a:cxn ang="0">
                    <a:pos x="T4" y="T5"/>
                  </a:cxn>
                  <a:cxn ang="0">
                    <a:pos x="T6" y="T7"/>
                  </a:cxn>
                  <a:cxn ang="0">
                    <a:pos x="T8" y="T9"/>
                  </a:cxn>
                  <a:cxn ang="0">
                    <a:pos x="T10" y="T11"/>
                  </a:cxn>
                </a:cxnLst>
                <a:rect l="0" t="0" r="r" b="b"/>
                <a:pathLst>
                  <a:path w="27" h="28">
                    <a:moveTo>
                      <a:pt x="22" y="0"/>
                    </a:moveTo>
                    <a:lnTo>
                      <a:pt x="27" y="16"/>
                    </a:lnTo>
                    <a:lnTo>
                      <a:pt x="12" y="28"/>
                    </a:lnTo>
                    <a:lnTo>
                      <a:pt x="0" y="16"/>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27" name="Freeform 218">
                <a:extLst>
                  <a:ext uri="{FF2B5EF4-FFF2-40B4-BE49-F238E27FC236}">
                    <a16:creationId xmlns:a16="http://schemas.microsoft.com/office/drawing/2014/main" id="{52EF81C8-1053-48B5-90C5-0CB1F16929B1}"/>
                  </a:ext>
                </a:extLst>
              </p:cNvPr>
              <p:cNvSpPr/>
              <p:nvPr/>
            </p:nvSpPr>
            <p:spPr bwMode="auto">
              <a:xfrm>
                <a:off x="5946775" y="3232150"/>
                <a:ext cx="42863" cy="185738"/>
              </a:xfrm>
              <a:custGeom>
                <a:avLst/>
                <a:gdLst>
                  <a:gd name="T0" fmla="*/ 22 w 27"/>
                  <a:gd name="T1" fmla="*/ 0 h 117"/>
                  <a:gd name="T2" fmla="*/ 27 w 27"/>
                  <a:gd name="T3" fmla="*/ 105 h 117"/>
                  <a:gd name="T4" fmla="*/ 12 w 27"/>
                  <a:gd name="T5" fmla="*/ 117 h 117"/>
                  <a:gd name="T6" fmla="*/ 0 w 27"/>
                  <a:gd name="T7" fmla="*/ 105 h 117"/>
                  <a:gd name="T8" fmla="*/ 5 w 27"/>
                  <a:gd name="T9" fmla="*/ 0 h 117"/>
                  <a:gd name="T10" fmla="*/ 22 w 27"/>
                  <a:gd name="T11" fmla="*/ 0 h 117"/>
                </a:gdLst>
                <a:ahLst/>
                <a:cxnLst>
                  <a:cxn ang="0">
                    <a:pos x="T0" y="T1"/>
                  </a:cxn>
                  <a:cxn ang="0">
                    <a:pos x="T2" y="T3"/>
                  </a:cxn>
                  <a:cxn ang="0">
                    <a:pos x="T4" y="T5"/>
                  </a:cxn>
                  <a:cxn ang="0">
                    <a:pos x="T6" y="T7"/>
                  </a:cxn>
                  <a:cxn ang="0">
                    <a:pos x="T8" y="T9"/>
                  </a:cxn>
                  <a:cxn ang="0">
                    <a:pos x="T10" y="T11"/>
                  </a:cxn>
                </a:cxnLst>
                <a:rect l="0" t="0" r="r" b="b"/>
                <a:pathLst>
                  <a:path w="27" h="117">
                    <a:moveTo>
                      <a:pt x="22" y="0"/>
                    </a:moveTo>
                    <a:lnTo>
                      <a:pt x="27" y="105"/>
                    </a:lnTo>
                    <a:lnTo>
                      <a:pt x="12" y="117"/>
                    </a:lnTo>
                    <a:lnTo>
                      <a:pt x="0" y="105"/>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grpSp>
        <p:nvGrpSpPr>
          <p:cNvPr id="28" name="组合 27">
            <a:extLst>
              <a:ext uri="{FF2B5EF4-FFF2-40B4-BE49-F238E27FC236}">
                <a16:creationId xmlns:a16="http://schemas.microsoft.com/office/drawing/2014/main" id="{A0A7B8D9-00C8-461B-8C07-C40FC740B4E6}"/>
              </a:ext>
            </a:extLst>
          </p:cNvPr>
          <p:cNvGrpSpPr/>
          <p:nvPr/>
        </p:nvGrpSpPr>
        <p:grpSpPr>
          <a:xfrm>
            <a:off x="5306387" y="5875923"/>
            <a:ext cx="342764" cy="342764"/>
            <a:chOff x="5306387" y="5875923"/>
            <a:chExt cx="342764" cy="342764"/>
          </a:xfrm>
        </p:grpSpPr>
        <p:sp>
          <p:nvSpPr>
            <p:cNvPr id="29" name="椭圆 28">
              <a:extLst>
                <a:ext uri="{FF2B5EF4-FFF2-40B4-BE49-F238E27FC236}">
                  <a16:creationId xmlns:a16="http://schemas.microsoft.com/office/drawing/2014/main" id="{713CE592-4EAD-4944-A286-E51D3A308F83}"/>
                </a:ext>
              </a:extLst>
            </p:cNvPr>
            <p:cNvSpPr/>
            <p:nvPr/>
          </p:nvSpPr>
          <p:spPr>
            <a:xfrm>
              <a:off x="5306387"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30" name="组合 29">
              <a:extLst>
                <a:ext uri="{FF2B5EF4-FFF2-40B4-BE49-F238E27FC236}">
                  <a16:creationId xmlns:a16="http://schemas.microsoft.com/office/drawing/2014/main" id="{F5FC36AF-6731-43C7-B468-EE7FDCB57E01}"/>
                </a:ext>
              </a:extLst>
            </p:cNvPr>
            <p:cNvGrpSpPr/>
            <p:nvPr/>
          </p:nvGrpSpPr>
          <p:grpSpPr>
            <a:xfrm>
              <a:off x="5370562" y="5961635"/>
              <a:ext cx="214413" cy="171339"/>
              <a:chOff x="5738813" y="3144838"/>
              <a:chExt cx="711200" cy="568325"/>
            </a:xfrm>
            <a:solidFill>
              <a:schemeClr val="accent1"/>
            </a:solidFill>
          </p:grpSpPr>
          <p:sp>
            <p:nvSpPr>
              <p:cNvPr id="31" name="Freeform 103">
                <a:extLst>
                  <a:ext uri="{FF2B5EF4-FFF2-40B4-BE49-F238E27FC236}">
                    <a16:creationId xmlns:a16="http://schemas.microsoft.com/office/drawing/2014/main" id="{B0CD356E-E0A2-49E4-8270-523C0D2BEAB1}"/>
                  </a:ext>
                </a:extLst>
              </p:cNvPr>
              <p:cNvSpPr/>
              <p:nvPr/>
            </p:nvSpPr>
            <p:spPr bwMode="auto">
              <a:xfrm>
                <a:off x="5821363" y="3159126"/>
                <a:ext cx="533400" cy="371475"/>
              </a:xfrm>
              <a:custGeom>
                <a:avLst/>
                <a:gdLst>
                  <a:gd name="T0" fmla="*/ 22 w 336"/>
                  <a:gd name="T1" fmla="*/ 234 h 234"/>
                  <a:gd name="T2" fmla="*/ 0 w 336"/>
                  <a:gd name="T3" fmla="*/ 215 h 234"/>
                  <a:gd name="T4" fmla="*/ 135 w 336"/>
                  <a:gd name="T5" fmla="*/ 56 h 234"/>
                  <a:gd name="T6" fmla="*/ 216 w 336"/>
                  <a:gd name="T7" fmla="*/ 126 h 234"/>
                  <a:gd name="T8" fmla="*/ 312 w 336"/>
                  <a:gd name="T9" fmla="*/ 0 h 234"/>
                  <a:gd name="T10" fmla="*/ 336 w 336"/>
                  <a:gd name="T11" fmla="*/ 17 h 234"/>
                  <a:gd name="T12" fmla="*/ 219 w 336"/>
                  <a:gd name="T13" fmla="*/ 171 h 234"/>
                  <a:gd name="T14" fmla="*/ 137 w 336"/>
                  <a:gd name="T15" fmla="*/ 99 h 234"/>
                  <a:gd name="T16" fmla="*/ 22 w 336"/>
                  <a:gd name="T17" fmla="*/ 234 h 234"/>
                  <a:gd name="T18" fmla="*/ 22 w 336"/>
                  <a:gd name="T19"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234">
                    <a:moveTo>
                      <a:pt x="22" y="234"/>
                    </a:moveTo>
                    <a:lnTo>
                      <a:pt x="0" y="215"/>
                    </a:lnTo>
                    <a:lnTo>
                      <a:pt x="135" y="56"/>
                    </a:lnTo>
                    <a:lnTo>
                      <a:pt x="216" y="126"/>
                    </a:lnTo>
                    <a:lnTo>
                      <a:pt x="312" y="0"/>
                    </a:lnTo>
                    <a:lnTo>
                      <a:pt x="336" y="17"/>
                    </a:lnTo>
                    <a:lnTo>
                      <a:pt x="219" y="171"/>
                    </a:lnTo>
                    <a:lnTo>
                      <a:pt x="137" y="99"/>
                    </a:lnTo>
                    <a:lnTo>
                      <a:pt x="22" y="234"/>
                    </a:lnTo>
                    <a:lnTo>
                      <a:pt x="22" y="2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32" name="Freeform 104">
                <a:extLst>
                  <a:ext uri="{FF2B5EF4-FFF2-40B4-BE49-F238E27FC236}">
                    <a16:creationId xmlns:a16="http://schemas.microsoft.com/office/drawing/2014/main" id="{7A574504-B751-47C3-BE54-02544A0E9B9D}"/>
                  </a:ext>
                </a:extLst>
              </p:cNvPr>
              <p:cNvSpPr/>
              <p:nvPr/>
            </p:nvSpPr>
            <p:spPr bwMode="auto">
              <a:xfrm>
                <a:off x="6248401" y="3148013"/>
                <a:ext cx="117475" cy="119063"/>
              </a:xfrm>
              <a:custGeom>
                <a:avLst/>
                <a:gdLst>
                  <a:gd name="T0" fmla="*/ 0 w 74"/>
                  <a:gd name="T1" fmla="*/ 0 h 75"/>
                  <a:gd name="T2" fmla="*/ 74 w 74"/>
                  <a:gd name="T3" fmla="*/ 0 h 75"/>
                  <a:gd name="T4" fmla="*/ 74 w 74"/>
                  <a:gd name="T5" fmla="*/ 75 h 75"/>
                  <a:gd name="T6" fmla="*/ 0 w 74"/>
                  <a:gd name="T7" fmla="*/ 0 h 75"/>
                </a:gdLst>
                <a:ahLst/>
                <a:cxnLst>
                  <a:cxn ang="0">
                    <a:pos x="T0" y="T1"/>
                  </a:cxn>
                  <a:cxn ang="0">
                    <a:pos x="T2" y="T3"/>
                  </a:cxn>
                  <a:cxn ang="0">
                    <a:pos x="T4" y="T5"/>
                  </a:cxn>
                  <a:cxn ang="0">
                    <a:pos x="T6" y="T7"/>
                  </a:cxn>
                </a:cxnLst>
                <a:rect l="0" t="0" r="r" b="b"/>
                <a:pathLst>
                  <a:path w="74" h="75">
                    <a:moveTo>
                      <a:pt x="0" y="0"/>
                    </a:moveTo>
                    <a:lnTo>
                      <a:pt x="74" y="0"/>
                    </a:lnTo>
                    <a:lnTo>
                      <a:pt x="74" y="7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33" name="Freeform 105">
                <a:extLst>
                  <a:ext uri="{FF2B5EF4-FFF2-40B4-BE49-F238E27FC236}">
                    <a16:creationId xmlns:a16="http://schemas.microsoft.com/office/drawing/2014/main" id="{56B0AF31-AE80-44B4-85A5-6071B641491E}"/>
                  </a:ext>
                </a:extLst>
              </p:cNvPr>
              <p:cNvSpPr/>
              <p:nvPr/>
            </p:nvSpPr>
            <p:spPr bwMode="auto">
              <a:xfrm>
                <a:off x="5738813" y="3144838"/>
                <a:ext cx="711200" cy="568325"/>
              </a:xfrm>
              <a:custGeom>
                <a:avLst/>
                <a:gdLst>
                  <a:gd name="T0" fmla="*/ 448 w 448"/>
                  <a:gd name="T1" fmla="*/ 358 h 358"/>
                  <a:gd name="T2" fmla="*/ 0 w 448"/>
                  <a:gd name="T3" fmla="*/ 358 h 358"/>
                  <a:gd name="T4" fmla="*/ 0 w 448"/>
                  <a:gd name="T5" fmla="*/ 0 h 358"/>
                  <a:gd name="T6" fmla="*/ 26 w 448"/>
                  <a:gd name="T7" fmla="*/ 0 h 358"/>
                  <a:gd name="T8" fmla="*/ 26 w 448"/>
                  <a:gd name="T9" fmla="*/ 334 h 358"/>
                  <a:gd name="T10" fmla="*/ 448 w 448"/>
                  <a:gd name="T11" fmla="*/ 334 h 358"/>
                  <a:gd name="T12" fmla="*/ 448 w 448"/>
                  <a:gd name="T13" fmla="*/ 358 h 358"/>
                  <a:gd name="T14" fmla="*/ 448 w 448"/>
                  <a:gd name="T15" fmla="*/ 358 h 3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358">
                    <a:moveTo>
                      <a:pt x="448" y="358"/>
                    </a:moveTo>
                    <a:lnTo>
                      <a:pt x="0" y="358"/>
                    </a:lnTo>
                    <a:lnTo>
                      <a:pt x="0" y="0"/>
                    </a:lnTo>
                    <a:lnTo>
                      <a:pt x="26" y="0"/>
                    </a:lnTo>
                    <a:lnTo>
                      <a:pt x="26" y="334"/>
                    </a:lnTo>
                    <a:lnTo>
                      <a:pt x="448" y="334"/>
                    </a:lnTo>
                    <a:lnTo>
                      <a:pt x="448" y="358"/>
                    </a:lnTo>
                    <a:lnTo>
                      <a:pt x="448" y="35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34" name="Rectangle 106">
                <a:extLst>
                  <a:ext uri="{FF2B5EF4-FFF2-40B4-BE49-F238E27FC236}">
                    <a16:creationId xmlns:a16="http://schemas.microsoft.com/office/drawing/2014/main" id="{342E43F6-202A-455C-8670-6B04C34EF7CE}"/>
                  </a:ext>
                </a:extLst>
              </p:cNvPr>
              <p:cNvSpPr>
                <a:spLocks noChangeArrowheads="1"/>
              </p:cNvSpPr>
              <p:nvPr/>
            </p:nvSpPr>
            <p:spPr bwMode="auto">
              <a:xfrm>
                <a:off x="5853113" y="3560763"/>
                <a:ext cx="79375" cy="1222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35" name="Rectangle 107">
                <a:extLst>
                  <a:ext uri="{FF2B5EF4-FFF2-40B4-BE49-F238E27FC236}">
                    <a16:creationId xmlns:a16="http://schemas.microsoft.com/office/drawing/2014/main" id="{81739738-E957-403C-B570-1CE7BC646BC3}"/>
                  </a:ext>
                </a:extLst>
              </p:cNvPr>
              <p:cNvSpPr>
                <a:spLocks noChangeArrowheads="1"/>
              </p:cNvSpPr>
              <p:nvPr/>
            </p:nvSpPr>
            <p:spPr bwMode="auto">
              <a:xfrm>
                <a:off x="5997576" y="3408363"/>
                <a:ext cx="79375" cy="274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36" name="Rectangle 108">
                <a:extLst>
                  <a:ext uri="{FF2B5EF4-FFF2-40B4-BE49-F238E27FC236}">
                    <a16:creationId xmlns:a16="http://schemas.microsoft.com/office/drawing/2014/main" id="{57107470-EA4C-498A-A756-A70AD23D82EC}"/>
                  </a:ext>
                </a:extLst>
              </p:cNvPr>
              <p:cNvSpPr>
                <a:spLocks noChangeArrowheads="1"/>
              </p:cNvSpPr>
              <p:nvPr/>
            </p:nvSpPr>
            <p:spPr bwMode="auto">
              <a:xfrm>
                <a:off x="6142038" y="3487738"/>
                <a:ext cx="79375" cy="1952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37" name="Rectangle 109">
                <a:extLst>
                  <a:ext uri="{FF2B5EF4-FFF2-40B4-BE49-F238E27FC236}">
                    <a16:creationId xmlns:a16="http://schemas.microsoft.com/office/drawing/2014/main" id="{C3AE1AD3-F23B-4D98-A1F9-207062ADCF80}"/>
                  </a:ext>
                </a:extLst>
              </p:cNvPr>
              <p:cNvSpPr>
                <a:spLocks noChangeArrowheads="1"/>
              </p:cNvSpPr>
              <p:nvPr/>
            </p:nvSpPr>
            <p:spPr bwMode="auto">
              <a:xfrm>
                <a:off x="6286501" y="3305176"/>
                <a:ext cx="79375" cy="377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grpSp>
      </p:grpSp>
      <p:grpSp>
        <p:nvGrpSpPr>
          <p:cNvPr id="38" name="组合 37">
            <a:extLst>
              <a:ext uri="{FF2B5EF4-FFF2-40B4-BE49-F238E27FC236}">
                <a16:creationId xmlns:a16="http://schemas.microsoft.com/office/drawing/2014/main" id="{3F8F588E-CC41-4DEC-BFD6-57015A7C8B67}"/>
              </a:ext>
            </a:extLst>
          </p:cNvPr>
          <p:cNvGrpSpPr/>
          <p:nvPr/>
        </p:nvGrpSpPr>
        <p:grpSpPr>
          <a:xfrm>
            <a:off x="5924619" y="5875923"/>
            <a:ext cx="342764" cy="342764"/>
            <a:chOff x="5924618" y="5875923"/>
            <a:chExt cx="342764" cy="342764"/>
          </a:xfrm>
        </p:grpSpPr>
        <p:sp>
          <p:nvSpPr>
            <p:cNvPr id="39" name="椭圆 38">
              <a:extLst>
                <a:ext uri="{FF2B5EF4-FFF2-40B4-BE49-F238E27FC236}">
                  <a16:creationId xmlns:a16="http://schemas.microsoft.com/office/drawing/2014/main" id="{C75AFBD7-DBC5-4AB1-85DF-0CCE65BAAA6F}"/>
                </a:ext>
              </a:extLst>
            </p:cNvPr>
            <p:cNvSpPr/>
            <p:nvPr/>
          </p:nvSpPr>
          <p:spPr>
            <a:xfrm>
              <a:off x="5924618"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40" name="组合 39">
              <a:extLst>
                <a:ext uri="{FF2B5EF4-FFF2-40B4-BE49-F238E27FC236}">
                  <a16:creationId xmlns:a16="http://schemas.microsoft.com/office/drawing/2014/main" id="{1954B2CE-4A66-4B5F-97D9-F427D33D9FE2}"/>
                </a:ext>
              </a:extLst>
            </p:cNvPr>
            <p:cNvGrpSpPr/>
            <p:nvPr/>
          </p:nvGrpSpPr>
          <p:grpSpPr>
            <a:xfrm>
              <a:off x="5999323" y="5949431"/>
              <a:ext cx="193355" cy="195748"/>
              <a:chOff x="5778500" y="3105150"/>
              <a:chExt cx="641350" cy="649288"/>
            </a:xfrm>
            <a:solidFill>
              <a:schemeClr val="accent1"/>
            </a:solidFill>
          </p:grpSpPr>
          <p:sp>
            <p:nvSpPr>
              <p:cNvPr id="41" name="Freeform 425">
                <a:extLst>
                  <a:ext uri="{FF2B5EF4-FFF2-40B4-BE49-F238E27FC236}">
                    <a16:creationId xmlns:a16="http://schemas.microsoft.com/office/drawing/2014/main" id="{B91F5DCD-DE23-4812-A1CD-2E7E844B7BDF}"/>
                  </a:ext>
                </a:extLst>
              </p:cNvPr>
              <p:cNvSpPr/>
              <p:nvPr/>
            </p:nvSpPr>
            <p:spPr bwMode="auto">
              <a:xfrm>
                <a:off x="5959475" y="3227388"/>
                <a:ext cx="217488" cy="438150"/>
              </a:xfrm>
              <a:custGeom>
                <a:avLst/>
                <a:gdLst>
                  <a:gd name="T0" fmla="*/ 36 w 137"/>
                  <a:gd name="T1" fmla="*/ 276 h 276"/>
                  <a:gd name="T2" fmla="*/ 101 w 137"/>
                  <a:gd name="T3" fmla="*/ 276 h 276"/>
                  <a:gd name="T4" fmla="*/ 101 w 137"/>
                  <a:gd name="T5" fmla="*/ 69 h 276"/>
                  <a:gd name="T6" fmla="*/ 137 w 137"/>
                  <a:gd name="T7" fmla="*/ 69 h 276"/>
                  <a:gd name="T8" fmla="*/ 67 w 137"/>
                  <a:gd name="T9" fmla="*/ 0 h 276"/>
                  <a:gd name="T10" fmla="*/ 0 w 137"/>
                  <a:gd name="T11" fmla="*/ 69 h 276"/>
                  <a:gd name="T12" fmla="*/ 36 w 137"/>
                  <a:gd name="T13" fmla="*/ 69 h 276"/>
                  <a:gd name="T14" fmla="*/ 36 w 137"/>
                  <a:gd name="T15" fmla="*/ 276 h 2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7" h="276">
                    <a:moveTo>
                      <a:pt x="36" y="276"/>
                    </a:moveTo>
                    <a:lnTo>
                      <a:pt x="101" y="276"/>
                    </a:lnTo>
                    <a:lnTo>
                      <a:pt x="101" y="69"/>
                    </a:lnTo>
                    <a:lnTo>
                      <a:pt x="137" y="69"/>
                    </a:lnTo>
                    <a:lnTo>
                      <a:pt x="67" y="0"/>
                    </a:lnTo>
                    <a:lnTo>
                      <a:pt x="0" y="69"/>
                    </a:lnTo>
                    <a:lnTo>
                      <a:pt x="36" y="69"/>
                    </a:lnTo>
                    <a:lnTo>
                      <a:pt x="36" y="2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42" name="Freeform 426">
                <a:extLst>
                  <a:ext uri="{FF2B5EF4-FFF2-40B4-BE49-F238E27FC236}">
                    <a16:creationId xmlns:a16="http://schemas.microsoft.com/office/drawing/2014/main" id="{F65B7A26-E792-47F9-85D2-F972294E4CF6}"/>
                  </a:ext>
                </a:extLst>
              </p:cNvPr>
              <p:cNvSpPr/>
              <p:nvPr/>
            </p:nvSpPr>
            <p:spPr bwMode="auto">
              <a:xfrm>
                <a:off x="5783263" y="3398838"/>
                <a:ext cx="214313" cy="266700"/>
              </a:xfrm>
              <a:custGeom>
                <a:avLst/>
                <a:gdLst>
                  <a:gd name="T0" fmla="*/ 36 w 135"/>
                  <a:gd name="T1" fmla="*/ 168 h 168"/>
                  <a:gd name="T2" fmla="*/ 98 w 135"/>
                  <a:gd name="T3" fmla="*/ 168 h 168"/>
                  <a:gd name="T4" fmla="*/ 98 w 135"/>
                  <a:gd name="T5" fmla="*/ 70 h 168"/>
                  <a:gd name="T6" fmla="*/ 135 w 135"/>
                  <a:gd name="T7" fmla="*/ 70 h 168"/>
                  <a:gd name="T8" fmla="*/ 67 w 135"/>
                  <a:gd name="T9" fmla="*/ 0 h 168"/>
                  <a:gd name="T10" fmla="*/ 0 w 135"/>
                  <a:gd name="T11" fmla="*/ 70 h 168"/>
                  <a:gd name="T12" fmla="*/ 36 w 135"/>
                  <a:gd name="T13" fmla="*/ 70 h 168"/>
                  <a:gd name="T14" fmla="*/ 36 w 135"/>
                  <a:gd name="T15" fmla="*/ 168 h 1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68">
                    <a:moveTo>
                      <a:pt x="36" y="168"/>
                    </a:moveTo>
                    <a:lnTo>
                      <a:pt x="98" y="168"/>
                    </a:lnTo>
                    <a:lnTo>
                      <a:pt x="98" y="70"/>
                    </a:lnTo>
                    <a:lnTo>
                      <a:pt x="135" y="70"/>
                    </a:lnTo>
                    <a:lnTo>
                      <a:pt x="67" y="0"/>
                    </a:lnTo>
                    <a:lnTo>
                      <a:pt x="0" y="70"/>
                    </a:lnTo>
                    <a:lnTo>
                      <a:pt x="36" y="70"/>
                    </a:lnTo>
                    <a:lnTo>
                      <a:pt x="36"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43" name="Rectangle 427">
                <a:extLst>
                  <a:ext uri="{FF2B5EF4-FFF2-40B4-BE49-F238E27FC236}">
                    <a16:creationId xmlns:a16="http://schemas.microsoft.com/office/drawing/2014/main" id="{C368463A-6A5A-49B0-9F7C-4CA26AD7ECE1}"/>
                  </a:ext>
                </a:extLst>
              </p:cNvPr>
              <p:cNvSpPr>
                <a:spLocks noChangeArrowheads="1"/>
              </p:cNvSpPr>
              <p:nvPr/>
            </p:nvSpPr>
            <p:spPr bwMode="auto">
              <a:xfrm>
                <a:off x="5778500" y="3692525"/>
                <a:ext cx="641350" cy="619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44" name="Oval 428">
                <a:extLst>
                  <a:ext uri="{FF2B5EF4-FFF2-40B4-BE49-F238E27FC236}">
                    <a16:creationId xmlns:a16="http://schemas.microsoft.com/office/drawing/2014/main" id="{108B0B09-358B-41FD-B6C9-E24FED2E5458}"/>
                  </a:ext>
                </a:extLst>
              </p:cNvPr>
              <p:cNvSpPr>
                <a:spLocks noChangeArrowheads="1"/>
              </p:cNvSpPr>
              <p:nvPr/>
            </p:nvSpPr>
            <p:spPr bwMode="auto">
              <a:xfrm>
                <a:off x="6248400" y="3105150"/>
                <a:ext cx="88900" cy="1095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45" name="Freeform 429">
                <a:extLst>
                  <a:ext uri="{FF2B5EF4-FFF2-40B4-BE49-F238E27FC236}">
                    <a16:creationId xmlns:a16="http://schemas.microsoft.com/office/drawing/2014/main" id="{6AD36026-0647-4CF9-B6B8-8368B2AD47DE}"/>
                  </a:ext>
                </a:extLst>
              </p:cNvPr>
              <p:cNvSpPr/>
              <p:nvPr/>
            </p:nvSpPr>
            <p:spPr bwMode="auto">
              <a:xfrm>
                <a:off x="6188075" y="3222625"/>
                <a:ext cx="206375" cy="442913"/>
              </a:xfrm>
              <a:custGeom>
                <a:avLst/>
                <a:gdLst>
                  <a:gd name="T0" fmla="*/ 7 w 54"/>
                  <a:gd name="T1" fmla="*/ 61 h 116"/>
                  <a:gd name="T2" fmla="*/ 8 w 54"/>
                  <a:gd name="T3" fmla="*/ 61 h 116"/>
                  <a:gd name="T4" fmla="*/ 9 w 54"/>
                  <a:gd name="T5" fmla="*/ 61 h 116"/>
                  <a:gd name="T6" fmla="*/ 11 w 54"/>
                  <a:gd name="T7" fmla="*/ 116 h 116"/>
                  <a:gd name="T8" fmla="*/ 26 w 54"/>
                  <a:gd name="T9" fmla="*/ 116 h 116"/>
                  <a:gd name="T10" fmla="*/ 26 w 54"/>
                  <a:gd name="T11" fmla="*/ 61 h 116"/>
                  <a:gd name="T12" fmla="*/ 28 w 54"/>
                  <a:gd name="T13" fmla="*/ 61 h 116"/>
                  <a:gd name="T14" fmla="*/ 30 w 54"/>
                  <a:gd name="T15" fmla="*/ 116 h 116"/>
                  <a:gd name="T16" fmla="*/ 45 w 54"/>
                  <a:gd name="T17" fmla="*/ 116 h 116"/>
                  <a:gd name="T18" fmla="*/ 45 w 54"/>
                  <a:gd name="T19" fmla="*/ 61 h 116"/>
                  <a:gd name="T20" fmla="*/ 46 w 54"/>
                  <a:gd name="T21" fmla="*/ 61 h 116"/>
                  <a:gd name="T22" fmla="*/ 47 w 54"/>
                  <a:gd name="T23" fmla="*/ 61 h 116"/>
                  <a:gd name="T24" fmla="*/ 47 w 54"/>
                  <a:gd name="T25" fmla="*/ 61 h 116"/>
                  <a:gd name="T26" fmla="*/ 54 w 54"/>
                  <a:gd name="T27" fmla="*/ 61 h 116"/>
                  <a:gd name="T28" fmla="*/ 50 w 54"/>
                  <a:gd name="T29" fmla="*/ 8 h 116"/>
                  <a:gd name="T30" fmla="*/ 43 w 54"/>
                  <a:gd name="T31" fmla="*/ 1 h 116"/>
                  <a:gd name="T32" fmla="*/ 37 w 54"/>
                  <a:gd name="T33" fmla="*/ 0 h 116"/>
                  <a:gd name="T34" fmla="*/ 37 w 54"/>
                  <a:gd name="T35" fmla="*/ 1 h 116"/>
                  <a:gd name="T36" fmla="*/ 41 w 54"/>
                  <a:gd name="T37" fmla="*/ 5 h 116"/>
                  <a:gd name="T38" fmla="*/ 36 w 54"/>
                  <a:gd name="T39" fmla="*/ 8 h 116"/>
                  <a:gd name="T40" fmla="*/ 38 w 54"/>
                  <a:gd name="T41" fmla="*/ 12 h 116"/>
                  <a:gd name="T42" fmla="*/ 31 w 54"/>
                  <a:gd name="T43" fmla="*/ 28 h 116"/>
                  <a:gd name="T44" fmla="*/ 30 w 54"/>
                  <a:gd name="T45" fmla="*/ 6 h 116"/>
                  <a:gd name="T46" fmla="*/ 31 w 54"/>
                  <a:gd name="T47" fmla="*/ 5 h 116"/>
                  <a:gd name="T48" fmla="*/ 30 w 54"/>
                  <a:gd name="T49" fmla="*/ 0 h 116"/>
                  <a:gd name="T50" fmla="*/ 25 w 54"/>
                  <a:gd name="T51" fmla="*/ 0 h 116"/>
                  <a:gd name="T52" fmla="*/ 23 w 54"/>
                  <a:gd name="T53" fmla="*/ 5 h 116"/>
                  <a:gd name="T54" fmla="*/ 24 w 54"/>
                  <a:gd name="T55" fmla="*/ 6 h 116"/>
                  <a:gd name="T56" fmla="*/ 23 w 54"/>
                  <a:gd name="T57" fmla="*/ 29 h 116"/>
                  <a:gd name="T58" fmla="*/ 16 w 54"/>
                  <a:gd name="T59" fmla="*/ 12 h 116"/>
                  <a:gd name="T60" fmla="*/ 18 w 54"/>
                  <a:gd name="T61" fmla="*/ 8 h 116"/>
                  <a:gd name="T62" fmla="*/ 13 w 54"/>
                  <a:gd name="T63" fmla="*/ 5 h 116"/>
                  <a:gd name="T64" fmla="*/ 17 w 54"/>
                  <a:gd name="T65" fmla="*/ 1 h 116"/>
                  <a:gd name="T66" fmla="*/ 17 w 54"/>
                  <a:gd name="T67" fmla="*/ 0 h 116"/>
                  <a:gd name="T68" fmla="*/ 11 w 54"/>
                  <a:gd name="T69" fmla="*/ 1 h 116"/>
                  <a:gd name="T70" fmla="*/ 4 w 54"/>
                  <a:gd name="T71" fmla="*/ 8 h 116"/>
                  <a:gd name="T72" fmla="*/ 0 w 54"/>
                  <a:gd name="T73" fmla="*/ 61 h 116"/>
                  <a:gd name="T74" fmla="*/ 7 w 54"/>
                  <a:gd name="T75" fmla="*/ 61 h 116"/>
                  <a:gd name="T76" fmla="*/ 7 w 54"/>
                  <a:gd name="T77" fmla="*/ 6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116">
                    <a:moveTo>
                      <a:pt x="7" y="61"/>
                    </a:moveTo>
                    <a:cubicBezTo>
                      <a:pt x="8" y="61"/>
                      <a:pt x="8" y="61"/>
                      <a:pt x="8" y="61"/>
                    </a:cubicBezTo>
                    <a:cubicBezTo>
                      <a:pt x="8" y="61"/>
                      <a:pt x="9" y="61"/>
                      <a:pt x="9" y="61"/>
                    </a:cubicBezTo>
                    <a:cubicBezTo>
                      <a:pt x="11" y="116"/>
                      <a:pt x="11" y="116"/>
                      <a:pt x="11" y="116"/>
                    </a:cubicBezTo>
                    <a:cubicBezTo>
                      <a:pt x="26" y="116"/>
                      <a:pt x="26" y="116"/>
                      <a:pt x="26" y="116"/>
                    </a:cubicBezTo>
                    <a:cubicBezTo>
                      <a:pt x="27" y="100"/>
                      <a:pt x="27" y="72"/>
                      <a:pt x="26" y="61"/>
                    </a:cubicBezTo>
                    <a:cubicBezTo>
                      <a:pt x="27" y="61"/>
                      <a:pt x="27" y="61"/>
                      <a:pt x="28" y="61"/>
                    </a:cubicBezTo>
                    <a:cubicBezTo>
                      <a:pt x="30" y="116"/>
                      <a:pt x="30" y="116"/>
                      <a:pt x="30" y="116"/>
                    </a:cubicBezTo>
                    <a:cubicBezTo>
                      <a:pt x="45" y="116"/>
                      <a:pt x="45" y="116"/>
                      <a:pt x="45" y="116"/>
                    </a:cubicBezTo>
                    <a:cubicBezTo>
                      <a:pt x="46" y="100"/>
                      <a:pt x="45" y="72"/>
                      <a:pt x="45" y="61"/>
                    </a:cubicBezTo>
                    <a:cubicBezTo>
                      <a:pt x="46" y="61"/>
                      <a:pt x="46" y="61"/>
                      <a:pt x="46" y="61"/>
                    </a:cubicBezTo>
                    <a:cubicBezTo>
                      <a:pt x="46" y="61"/>
                      <a:pt x="47" y="61"/>
                      <a:pt x="47" y="61"/>
                    </a:cubicBezTo>
                    <a:cubicBezTo>
                      <a:pt x="47" y="61"/>
                      <a:pt x="47" y="61"/>
                      <a:pt x="47" y="61"/>
                    </a:cubicBezTo>
                    <a:cubicBezTo>
                      <a:pt x="49" y="61"/>
                      <a:pt x="52" y="61"/>
                      <a:pt x="54" y="61"/>
                    </a:cubicBezTo>
                    <a:cubicBezTo>
                      <a:pt x="50" y="8"/>
                      <a:pt x="50" y="8"/>
                      <a:pt x="50" y="8"/>
                    </a:cubicBezTo>
                    <a:cubicBezTo>
                      <a:pt x="50" y="4"/>
                      <a:pt x="47" y="1"/>
                      <a:pt x="43" y="1"/>
                    </a:cubicBezTo>
                    <a:cubicBezTo>
                      <a:pt x="43" y="1"/>
                      <a:pt x="38" y="1"/>
                      <a:pt x="37" y="0"/>
                    </a:cubicBezTo>
                    <a:cubicBezTo>
                      <a:pt x="37" y="1"/>
                      <a:pt x="37" y="1"/>
                      <a:pt x="37" y="1"/>
                    </a:cubicBezTo>
                    <a:cubicBezTo>
                      <a:pt x="41" y="5"/>
                      <a:pt x="41" y="5"/>
                      <a:pt x="41" y="5"/>
                    </a:cubicBezTo>
                    <a:cubicBezTo>
                      <a:pt x="36" y="8"/>
                      <a:pt x="36" y="8"/>
                      <a:pt x="36" y="8"/>
                    </a:cubicBezTo>
                    <a:cubicBezTo>
                      <a:pt x="38" y="12"/>
                      <a:pt x="38" y="12"/>
                      <a:pt x="38" y="12"/>
                    </a:cubicBezTo>
                    <a:cubicBezTo>
                      <a:pt x="31" y="28"/>
                      <a:pt x="31" y="28"/>
                      <a:pt x="31" y="28"/>
                    </a:cubicBezTo>
                    <a:cubicBezTo>
                      <a:pt x="30" y="6"/>
                      <a:pt x="30" y="6"/>
                      <a:pt x="30" y="6"/>
                    </a:cubicBezTo>
                    <a:cubicBezTo>
                      <a:pt x="31" y="5"/>
                      <a:pt x="31" y="5"/>
                      <a:pt x="31" y="5"/>
                    </a:cubicBezTo>
                    <a:cubicBezTo>
                      <a:pt x="30" y="0"/>
                      <a:pt x="30" y="0"/>
                      <a:pt x="30" y="0"/>
                    </a:cubicBezTo>
                    <a:cubicBezTo>
                      <a:pt x="25" y="0"/>
                      <a:pt x="25" y="0"/>
                      <a:pt x="25" y="0"/>
                    </a:cubicBezTo>
                    <a:cubicBezTo>
                      <a:pt x="23" y="5"/>
                      <a:pt x="23" y="5"/>
                      <a:pt x="23" y="5"/>
                    </a:cubicBezTo>
                    <a:cubicBezTo>
                      <a:pt x="24" y="6"/>
                      <a:pt x="24" y="6"/>
                      <a:pt x="24" y="6"/>
                    </a:cubicBezTo>
                    <a:cubicBezTo>
                      <a:pt x="23" y="29"/>
                      <a:pt x="23" y="29"/>
                      <a:pt x="23" y="29"/>
                    </a:cubicBezTo>
                    <a:cubicBezTo>
                      <a:pt x="16" y="12"/>
                      <a:pt x="16" y="12"/>
                      <a:pt x="16" y="12"/>
                    </a:cubicBezTo>
                    <a:cubicBezTo>
                      <a:pt x="18" y="8"/>
                      <a:pt x="18" y="8"/>
                      <a:pt x="18" y="8"/>
                    </a:cubicBezTo>
                    <a:cubicBezTo>
                      <a:pt x="13" y="5"/>
                      <a:pt x="13" y="5"/>
                      <a:pt x="13" y="5"/>
                    </a:cubicBezTo>
                    <a:cubicBezTo>
                      <a:pt x="17" y="1"/>
                      <a:pt x="17" y="1"/>
                      <a:pt x="17" y="1"/>
                    </a:cubicBezTo>
                    <a:cubicBezTo>
                      <a:pt x="17" y="0"/>
                      <a:pt x="17" y="0"/>
                      <a:pt x="17" y="0"/>
                    </a:cubicBezTo>
                    <a:cubicBezTo>
                      <a:pt x="16" y="1"/>
                      <a:pt x="11" y="1"/>
                      <a:pt x="11" y="1"/>
                    </a:cubicBezTo>
                    <a:cubicBezTo>
                      <a:pt x="8" y="1"/>
                      <a:pt x="5" y="4"/>
                      <a:pt x="4" y="8"/>
                    </a:cubicBezTo>
                    <a:cubicBezTo>
                      <a:pt x="0" y="61"/>
                      <a:pt x="0" y="61"/>
                      <a:pt x="0" y="61"/>
                    </a:cubicBezTo>
                    <a:cubicBezTo>
                      <a:pt x="3" y="61"/>
                      <a:pt x="5" y="61"/>
                      <a:pt x="7" y="61"/>
                    </a:cubicBezTo>
                    <a:cubicBezTo>
                      <a:pt x="7" y="61"/>
                      <a:pt x="7" y="61"/>
                      <a:pt x="7"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grpSp>
        <p:nvGrpSpPr>
          <p:cNvPr id="46" name="组合 45">
            <a:extLst>
              <a:ext uri="{FF2B5EF4-FFF2-40B4-BE49-F238E27FC236}">
                <a16:creationId xmlns:a16="http://schemas.microsoft.com/office/drawing/2014/main" id="{9148CD87-D12B-4D5C-A1BE-E6F8ED1A1C58}"/>
              </a:ext>
            </a:extLst>
          </p:cNvPr>
          <p:cNvGrpSpPr/>
          <p:nvPr/>
        </p:nvGrpSpPr>
        <p:grpSpPr>
          <a:xfrm>
            <a:off x="6542851" y="5875923"/>
            <a:ext cx="342764" cy="342764"/>
            <a:chOff x="6542850" y="5875923"/>
            <a:chExt cx="342764" cy="342764"/>
          </a:xfrm>
        </p:grpSpPr>
        <p:sp>
          <p:nvSpPr>
            <p:cNvPr id="47" name="椭圆 46">
              <a:extLst>
                <a:ext uri="{FF2B5EF4-FFF2-40B4-BE49-F238E27FC236}">
                  <a16:creationId xmlns:a16="http://schemas.microsoft.com/office/drawing/2014/main" id="{E3BF3175-9BC8-4E76-8B89-97FB03BB8263}"/>
                </a:ext>
              </a:extLst>
            </p:cNvPr>
            <p:cNvSpPr/>
            <p:nvPr/>
          </p:nvSpPr>
          <p:spPr>
            <a:xfrm>
              <a:off x="6542850"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48" name="组合 47">
              <a:extLst>
                <a:ext uri="{FF2B5EF4-FFF2-40B4-BE49-F238E27FC236}">
                  <a16:creationId xmlns:a16="http://schemas.microsoft.com/office/drawing/2014/main" id="{C06505D0-EA39-41E4-9510-2423A2335B4A}"/>
                </a:ext>
              </a:extLst>
            </p:cNvPr>
            <p:cNvGrpSpPr/>
            <p:nvPr/>
          </p:nvGrpSpPr>
          <p:grpSpPr>
            <a:xfrm>
              <a:off x="6626221" y="5960251"/>
              <a:ext cx="200055" cy="198141"/>
              <a:chOff x="5767388" y="3098800"/>
              <a:chExt cx="663575" cy="657225"/>
            </a:xfrm>
            <a:solidFill>
              <a:schemeClr val="accent1"/>
            </a:solidFill>
          </p:grpSpPr>
          <p:sp>
            <p:nvSpPr>
              <p:cNvPr id="49" name="Freeform 253">
                <a:extLst>
                  <a:ext uri="{FF2B5EF4-FFF2-40B4-BE49-F238E27FC236}">
                    <a16:creationId xmlns:a16="http://schemas.microsoft.com/office/drawing/2014/main" id="{D42B857E-69FF-447F-9286-4AAD220504FC}"/>
                  </a:ext>
                </a:extLst>
              </p:cNvPr>
              <p:cNvSpPr>
                <a:spLocks noEditPoints="1"/>
              </p:cNvSpPr>
              <p:nvPr/>
            </p:nvSpPr>
            <p:spPr bwMode="auto">
              <a:xfrm>
                <a:off x="5767388" y="3098800"/>
                <a:ext cx="663575" cy="519113"/>
              </a:xfrm>
              <a:custGeom>
                <a:avLst/>
                <a:gdLst>
                  <a:gd name="T0" fmla="*/ 165 w 174"/>
                  <a:gd name="T1" fmla="*/ 0 h 136"/>
                  <a:gd name="T2" fmla="*/ 9 w 174"/>
                  <a:gd name="T3" fmla="*/ 0 h 136"/>
                  <a:gd name="T4" fmla="*/ 0 w 174"/>
                  <a:gd name="T5" fmla="*/ 9 h 136"/>
                  <a:gd name="T6" fmla="*/ 0 w 174"/>
                  <a:gd name="T7" fmla="*/ 128 h 136"/>
                  <a:gd name="T8" fmla="*/ 9 w 174"/>
                  <a:gd name="T9" fmla="*/ 136 h 136"/>
                  <a:gd name="T10" fmla="*/ 50 w 174"/>
                  <a:gd name="T11" fmla="*/ 136 h 136"/>
                  <a:gd name="T12" fmla="*/ 41 w 174"/>
                  <a:gd name="T13" fmla="*/ 121 h 136"/>
                  <a:gd name="T14" fmla="*/ 17 w 174"/>
                  <a:gd name="T15" fmla="*/ 121 h 136"/>
                  <a:gd name="T16" fmla="*/ 17 w 174"/>
                  <a:gd name="T17" fmla="*/ 16 h 136"/>
                  <a:gd name="T18" fmla="*/ 157 w 174"/>
                  <a:gd name="T19" fmla="*/ 16 h 136"/>
                  <a:gd name="T20" fmla="*/ 157 w 174"/>
                  <a:gd name="T21" fmla="*/ 121 h 136"/>
                  <a:gd name="T22" fmla="*/ 133 w 174"/>
                  <a:gd name="T23" fmla="*/ 121 h 136"/>
                  <a:gd name="T24" fmla="*/ 133 w 174"/>
                  <a:gd name="T25" fmla="*/ 127 h 136"/>
                  <a:gd name="T26" fmla="*/ 131 w 174"/>
                  <a:gd name="T27" fmla="*/ 136 h 136"/>
                  <a:gd name="T28" fmla="*/ 165 w 174"/>
                  <a:gd name="T29" fmla="*/ 136 h 136"/>
                  <a:gd name="T30" fmla="*/ 174 w 174"/>
                  <a:gd name="T31" fmla="*/ 128 h 136"/>
                  <a:gd name="T32" fmla="*/ 174 w 174"/>
                  <a:gd name="T33" fmla="*/ 9 h 136"/>
                  <a:gd name="T34" fmla="*/ 165 w 174"/>
                  <a:gd name="T35" fmla="*/ 0 h 136"/>
                  <a:gd name="T36" fmla="*/ 8 w 174"/>
                  <a:gd name="T37" fmla="*/ 74 h 136"/>
                  <a:gd name="T38" fmla="*/ 3 w 174"/>
                  <a:gd name="T39" fmla="*/ 68 h 136"/>
                  <a:gd name="T40" fmla="*/ 8 w 174"/>
                  <a:gd name="T41" fmla="*/ 63 h 136"/>
                  <a:gd name="T42" fmla="*/ 14 w 174"/>
                  <a:gd name="T43" fmla="*/ 68 h 136"/>
                  <a:gd name="T44" fmla="*/ 8 w 174"/>
                  <a:gd name="T45" fmla="*/ 7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4" h="136">
                    <a:moveTo>
                      <a:pt x="165" y="0"/>
                    </a:moveTo>
                    <a:cubicBezTo>
                      <a:pt x="9" y="0"/>
                      <a:pt x="9" y="0"/>
                      <a:pt x="9" y="0"/>
                    </a:cubicBezTo>
                    <a:cubicBezTo>
                      <a:pt x="4" y="0"/>
                      <a:pt x="0" y="4"/>
                      <a:pt x="0" y="9"/>
                    </a:cubicBezTo>
                    <a:cubicBezTo>
                      <a:pt x="0" y="128"/>
                      <a:pt x="0" y="128"/>
                      <a:pt x="0" y="128"/>
                    </a:cubicBezTo>
                    <a:cubicBezTo>
                      <a:pt x="0" y="132"/>
                      <a:pt x="4" y="136"/>
                      <a:pt x="9" y="136"/>
                    </a:cubicBezTo>
                    <a:cubicBezTo>
                      <a:pt x="50" y="136"/>
                      <a:pt x="50" y="136"/>
                      <a:pt x="50" y="136"/>
                    </a:cubicBezTo>
                    <a:cubicBezTo>
                      <a:pt x="46" y="131"/>
                      <a:pt x="43" y="126"/>
                      <a:pt x="41" y="121"/>
                    </a:cubicBezTo>
                    <a:cubicBezTo>
                      <a:pt x="17" y="121"/>
                      <a:pt x="17" y="121"/>
                      <a:pt x="17" y="121"/>
                    </a:cubicBezTo>
                    <a:cubicBezTo>
                      <a:pt x="17" y="16"/>
                      <a:pt x="17" y="16"/>
                      <a:pt x="17" y="16"/>
                    </a:cubicBezTo>
                    <a:cubicBezTo>
                      <a:pt x="157" y="16"/>
                      <a:pt x="157" y="16"/>
                      <a:pt x="157" y="16"/>
                    </a:cubicBezTo>
                    <a:cubicBezTo>
                      <a:pt x="157" y="121"/>
                      <a:pt x="157" y="121"/>
                      <a:pt x="157" y="121"/>
                    </a:cubicBezTo>
                    <a:cubicBezTo>
                      <a:pt x="133" y="121"/>
                      <a:pt x="133" y="121"/>
                      <a:pt x="133" y="121"/>
                    </a:cubicBezTo>
                    <a:cubicBezTo>
                      <a:pt x="133" y="127"/>
                      <a:pt x="133" y="127"/>
                      <a:pt x="133" y="127"/>
                    </a:cubicBezTo>
                    <a:cubicBezTo>
                      <a:pt x="133" y="130"/>
                      <a:pt x="132" y="133"/>
                      <a:pt x="131" y="136"/>
                    </a:cubicBezTo>
                    <a:cubicBezTo>
                      <a:pt x="165" y="136"/>
                      <a:pt x="165" y="136"/>
                      <a:pt x="165" y="136"/>
                    </a:cubicBezTo>
                    <a:cubicBezTo>
                      <a:pt x="170" y="136"/>
                      <a:pt x="174" y="132"/>
                      <a:pt x="174" y="128"/>
                    </a:cubicBezTo>
                    <a:cubicBezTo>
                      <a:pt x="174" y="9"/>
                      <a:pt x="174" y="9"/>
                      <a:pt x="174" y="9"/>
                    </a:cubicBezTo>
                    <a:cubicBezTo>
                      <a:pt x="174" y="4"/>
                      <a:pt x="170" y="0"/>
                      <a:pt x="165" y="0"/>
                    </a:cubicBezTo>
                    <a:close/>
                    <a:moveTo>
                      <a:pt x="8" y="74"/>
                    </a:moveTo>
                    <a:cubicBezTo>
                      <a:pt x="5" y="74"/>
                      <a:pt x="3" y="71"/>
                      <a:pt x="3" y="68"/>
                    </a:cubicBezTo>
                    <a:cubicBezTo>
                      <a:pt x="3" y="65"/>
                      <a:pt x="5" y="63"/>
                      <a:pt x="8" y="63"/>
                    </a:cubicBezTo>
                    <a:cubicBezTo>
                      <a:pt x="11" y="63"/>
                      <a:pt x="14" y="65"/>
                      <a:pt x="14" y="68"/>
                    </a:cubicBezTo>
                    <a:cubicBezTo>
                      <a:pt x="14" y="71"/>
                      <a:pt x="11" y="74"/>
                      <a:pt x="8"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0" name="Freeform 254">
                <a:extLst>
                  <a:ext uri="{FF2B5EF4-FFF2-40B4-BE49-F238E27FC236}">
                    <a16:creationId xmlns:a16="http://schemas.microsoft.com/office/drawing/2014/main" id="{0C92A0B8-18D5-496D-A0F7-C493E6DF8C99}"/>
                  </a:ext>
                </a:extLst>
              </p:cNvPr>
              <p:cNvSpPr/>
              <p:nvPr/>
            </p:nvSpPr>
            <p:spPr bwMode="auto">
              <a:xfrm>
                <a:off x="5913438" y="3235325"/>
                <a:ext cx="334963" cy="520700"/>
              </a:xfrm>
              <a:custGeom>
                <a:avLst/>
                <a:gdLst>
                  <a:gd name="T0" fmla="*/ 88 w 88"/>
                  <a:gd name="T1" fmla="*/ 72 h 136"/>
                  <a:gd name="T2" fmla="*/ 88 w 88"/>
                  <a:gd name="T3" fmla="*/ 69 h 136"/>
                  <a:gd name="T4" fmla="*/ 88 w 88"/>
                  <a:gd name="T5" fmla="*/ 47 h 136"/>
                  <a:gd name="T6" fmla="*/ 81 w 88"/>
                  <a:gd name="T7" fmla="*/ 40 h 136"/>
                  <a:gd name="T8" fmla="*/ 73 w 88"/>
                  <a:gd name="T9" fmla="*/ 47 h 136"/>
                  <a:gd name="T10" fmla="*/ 73 w 88"/>
                  <a:gd name="T11" fmla="*/ 49 h 136"/>
                  <a:gd name="T12" fmla="*/ 72 w 88"/>
                  <a:gd name="T13" fmla="*/ 48 h 136"/>
                  <a:gd name="T14" fmla="*/ 72 w 88"/>
                  <a:gd name="T15" fmla="*/ 37 h 136"/>
                  <a:gd name="T16" fmla="*/ 64 w 88"/>
                  <a:gd name="T17" fmla="*/ 30 h 136"/>
                  <a:gd name="T18" fmla="*/ 57 w 88"/>
                  <a:gd name="T19" fmla="*/ 37 h 136"/>
                  <a:gd name="T20" fmla="*/ 57 w 88"/>
                  <a:gd name="T21" fmla="*/ 43 h 136"/>
                  <a:gd name="T22" fmla="*/ 55 w 88"/>
                  <a:gd name="T23" fmla="*/ 43 h 136"/>
                  <a:gd name="T24" fmla="*/ 55 w 88"/>
                  <a:gd name="T25" fmla="*/ 31 h 136"/>
                  <a:gd name="T26" fmla="*/ 48 w 88"/>
                  <a:gd name="T27" fmla="*/ 24 h 136"/>
                  <a:gd name="T28" fmla="*/ 40 w 88"/>
                  <a:gd name="T29" fmla="*/ 31 h 136"/>
                  <a:gd name="T30" fmla="*/ 40 w 88"/>
                  <a:gd name="T31" fmla="*/ 40 h 136"/>
                  <a:gd name="T32" fmla="*/ 38 w 88"/>
                  <a:gd name="T33" fmla="*/ 41 h 136"/>
                  <a:gd name="T34" fmla="*/ 38 w 88"/>
                  <a:gd name="T35" fmla="*/ 7 h 136"/>
                  <a:gd name="T36" fmla="*/ 31 w 88"/>
                  <a:gd name="T37" fmla="*/ 0 h 136"/>
                  <a:gd name="T38" fmla="*/ 24 w 88"/>
                  <a:gd name="T39" fmla="*/ 7 h 136"/>
                  <a:gd name="T40" fmla="*/ 24 w 88"/>
                  <a:gd name="T41" fmla="*/ 67 h 136"/>
                  <a:gd name="T42" fmla="*/ 22 w 88"/>
                  <a:gd name="T43" fmla="*/ 56 h 136"/>
                  <a:gd name="T44" fmla="*/ 8 w 88"/>
                  <a:gd name="T45" fmla="*/ 40 h 136"/>
                  <a:gd name="T46" fmla="*/ 1 w 88"/>
                  <a:gd name="T47" fmla="*/ 46 h 136"/>
                  <a:gd name="T48" fmla="*/ 8 w 88"/>
                  <a:gd name="T49" fmla="*/ 73 h 136"/>
                  <a:gd name="T50" fmla="*/ 20 w 88"/>
                  <a:gd name="T51" fmla="*/ 98 h 136"/>
                  <a:gd name="T52" fmla="*/ 22 w 88"/>
                  <a:gd name="T53" fmla="*/ 101 h 136"/>
                  <a:gd name="T54" fmla="*/ 32 w 88"/>
                  <a:gd name="T55" fmla="*/ 111 h 136"/>
                  <a:gd name="T56" fmla="*/ 32 w 88"/>
                  <a:gd name="T57" fmla="*/ 136 h 136"/>
                  <a:gd name="T58" fmla="*/ 81 w 88"/>
                  <a:gd name="T59" fmla="*/ 136 h 136"/>
                  <a:gd name="T60" fmla="*/ 81 w 88"/>
                  <a:gd name="T61" fmla="*/ 110 h 136"/>
                  <a:gd name="T62" fmla="*/ 87 w 88"/>
                  <a:gd name="T63" fmla="*/ 91 h 136"/>
                  <a:gd name="T64" fmla="*/ 88 w 88"/>
                  <a:gd name="T65" fmla="*/ 72 h 136"/>
                  <a:gd name="T66" fmla="*/ 88 w 88"/>
                  <a:gd name="T67" fmla="*/ 72 h 136"/>
                  <a:gd name="T68" fmla="*/ 88 w 88"/>
                  <a:gd name="T69" fmla="*/ 7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8" h="136">
                    <a:moveTo>
                      <a:pt x="88" y="72"/>
                    </a:moveTo>
                    <a:cubicBezTo>
                      <a:pt x="88" y="71"/>
                      <a:pt x="88" y="70"/>
                      <a:pt x="88" y="69"/>
                    </a:cubicBezTo>
                    <a:cubicBezTo>
                      <a:pt x="88" y="47"/>
                      <a:pt x="88" y="47"/>
                      <a:pt x="88" y="47"/>
                    </a:cubicBezTo>
                    <a:cubicBezTo>
                      <a:pt x="88" y="43"/>
                      <a:pt x="85" y="40"/>
                      <a:pt x="81" y="40"/>
                    </a:cubicBezTo>
                    <a:cubicBezTo>
                      <a:pt x="77" y="40"/>
                      <a:pt x="73" y="43"/>
                      <a:pt x="73" y="47"/>
                    </a:cubicBezTo>
                    <a:cubicBezTo>
                      <a:pt x="73" y="49"/>
                      <a:pt x="73" y="49"/>
                      <a:pt x="73" y="49"/>
                    </a:cubicBezTo>
                    <a:cubicBezTo>
                      <a:pt x="73" y="49"/>
                      <a:pt x="72" y="48"/>
                      <a:pt x="72" y="48"/>
                    </a:cubicBezTo>
                    <a:cubicBezTo>
                      <a:pt x="72" y="37"/>
                      <a:pt x="72" y="37"/>
                      <a:pt x="72" y="37"/>
                    </a:cubicBezTo>
                    <a:cubicBezTo>
                      <a:pt x="72" y="33"/>
                      <a:pt x="68" y="30"/>
                      <a:pt x="64" y="30"/>
                    </a:cubicBezTo>
                    <a:cubicBezTo>
                      <a:pt x="60" y="30"/>
                      <a:pt x="57" y="33"/>
                      <a:pt x="57" y="37"/>
                    </a:cubicBezTo>
                    <a:cubicBezTo>
                      <a:pt x="57" y="43"/>
                      <a:pt x="57" y="43"/>
                      <a:pt x="57" y="43"/>
                    </a:cubicBezTo>
                    <a:cubicBezTo>
                      <a:pt x="56" y="43"/>
                      <a:pt x="56" y="43"/>
                      <a:pt x="55" y="43"/>
                    </a:cubicBezTo>
                    <a:cubicBezTo>
                      <a:pt x="55" y="31"/>
                      <a:pt x="55" y="31"/>
                      <a:pt x="55" y="31"/>
                    </a:cubicBezTo>
                    <a:cubicBezTo>
                      <a:pt x="55" y="27"/>
                      <a:pt x="52" y="24"/>
                      <a:pt x="48" y="24"/>
                    </a:cubicBezTo>
                    <a:cubicBezTo>
                      <a:pt x="44" y="24"/>
                      <a:pt x="40" y="27"/>
                      <a:pt x="40" y="31"/>
                    </a:cubicBezTo>
                    <a:cubicBezTo>
                      <a:pt x="40" y="40"/>
                      <a:pt x="40" y="40"/>
                      <a:pt x="40" y="40"/>
                    </a:cubicBezTo>
                    <a:cubicBezTo>
                      <a:pt x="40" y="40"/>
                      <a:pt x="39" y="40"/>
                      <a:pt x="38" y="41"/>
                    </a:cubicBezTo>
                    <a:cubicBezTo>
                      <a:pt x="38" y="7"/>
                      <a:pt x="38" y="7"/>
                      <a:pt x="38" y="7"/>
                    </a:cubicBezTo>
                    <a:cubicBezTo>
                      <a:pt x="38" y="3"/>
                      <a:pt x="35" y="0"/>
                      <a:pt x="31" y="0"/>
                    </a:cubicBezTo>
                    <a:cubicBezTo>
                      <a:pt x="27" y="0"/>
                      <a:pt x="24" y="3"/>
                      <a:pt x="24" y="7"/>
                    </a:cubicBezTo>
                    <a:cubicBezTo>
                      <a:pt x="24" y="67"/>
                      <a:pt x="24" y="67"/>
                      <a:pt x="24" y="67"/>
                    </a:cubicBezTo>
                    <a:cubicBezTo>
                      <a:pt x="22" y="63"/>
                      <a:pt x="22" y="59"/>
                      <a:pt x="22" y="56"/>
                    </a:cubicBezTo>
                    <a:cubicBezTo>
                      <a:pt x="19" y="44"/>
                      <a:pt x="12" y="39"/>
                      <a:pt x="8" y="40"/>
                    </a:cubicBezTo>
                    <a:cubicBezTo>
                      <a:pt x="7" y="40"/>
                      <a:pt x="0" y="43"/>
                      <a:pt x="1" y="46"/>
                    </a:cubicBezTo>
                    <a:cubicBezTo>
                      <a:pt x="2" y="48"/>
                      <a:pt x="7" y="60"/>
                      <a:pt x="8" y="73"/>
                    </a:cubicBezTo>
                    <a:cubicBezTo>
                      <a:pt x="8" y="82"/>
                      <a:pt x="14" y="91"/>
                      <a:pt x="20" y="98"/>
                    </a:cubicBezTo>
                    <a:cubicBezTo>
                      <a:pt x="20" y="99"/>
                      <a:pt x="21" y="100"/>
                      <a:pt x="22" y="101"/>
                    </a:cubicBezTo>
                    <a:cubicBezTo>
                      <a:pt x="32" y="111"/>
                      <a:pt x="32" y="111"/>
                      <a:pt x="32" y="111"/>
                    </a:cubicBezTo>
                    <a:cubicBezTo>
                      <a:pt x="32" y="136"/>
                      <a:pt x="32" y="136"/>
                      <a:pt x="32" y="136"/>
                    </a:cubicBezTo>
                    <a:cubicBezTo>
                      <a:pt x="81" y="136"/>
                      <a:pt x="81" y="136"/>
                      <a:pt x="81" y="136"/>
                    </a:cubicBezTo>
                    <a:cubicBezTo>
                      <a:pt x="81" y="110"/>
                      <a:pt x="81" y="110"/>
                      <a:pt x="81" y="110"/>
                    </a:cubicBezTo>
                    <a:cubicBezTo>
                      <a:pt x="85" y="104"/>
                      <a:pt x="87" y="97"/>
                      <a:pt x="87" y="91"/>
                    </a:cubicBezTo>
                    <a:cubicBezTo>
                      <a:pt x="88" y="85"/>
                      <a:pt x="88" y="78"/>
                      <a:pt x="88" y="72"/>
                    </a:cubicBezTo>
                    <a:cubicBezTo>
                      <a:pt x="88" y="72"/>
                      <a:pt x="88" y="72"/>
                      <a:pt x="88" y="72"/>
                    </a:cubicBezTo>
                    <a:cubicBezTo>
                      <a:pt x="88" y="72"/>
                      <a:pt x="88" y="72"/>
                      <a:pt x="88"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grpSp>
        <p:nvGrpSpPr>
          <p:cNvPr id="51" name="组合 50">
            <a:extLst>
              <a:ext uri="{FF2B5EF4-FFF2-40B4-BE49-F238E27FC236}">
                <a16:creationId xmlns:a16="http://schemas.microsoft.com/office/drawing/2014/main" id="{28A69667-C074-4130-B878-C9696CB90B22}"/>
              </a:ext>
            </a:extLst>
          </p:cNvPr>
          <p:cNvGrpSpPr/>
          <p:nvPr/>
        </p:nvGrpSpPr>
        <p:grpSpPr>
          <a:xfrm>
            <a:off x="7161083" y="5875923"/>
            <a:ext cx="342764" cy="342764"/>
            <a:chOff x="7161082" y="5875923"/>
            <a:chExt cx="342764" cy="342764"/>
          </a:xfrm>
        </p:grpSpPr>
        <p:sp>
          <p:nvSpPr>
            <p:cNvPr id="52" name="椭圆 51">
              <a:extLst>
                <a:ext uri="{FF2B5EF4-FFF2-40B4-BE49-F238E27FC236}">
                  <a16:creationId xmlns:a16="http://schemas.microsoft.com/office/drawing/2014/main" id="{091EA3C8-07DE-4A3E-9DF5-7E464F3C9B28}"/>
                </a:ext>
              </a:extLst>
            </p:cNvPr>
            <p:cNvSpPr/>
            <p:nvPr/>
          </p:nvSpPr>
          <p:spPr>
            <a:xfrm>
              <a:off x="7161082"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53" name="组合 52">
              <a:extLst>
                <a:ext uri="{FF2B5EF4-FFF2-40B4-BE49-F238E27FC236}">
                  <a16:creationId xmlns:a16="http://schemas.microsoft.com/office/drawing/2014/main" id="{1366B173-583E-4E60-8585-FBA0D99DD8AA}"/>
                </a:ext>
              </a:extLst>
            </p:cNvPr>
            <p:cNvGrpSpPr>
              <a:grpSpLocks noChangeAspect="1"/>
            </p:cNvGrpSpPr>
            <p:nvPr/>
          </p:nvGrpSpPr>
          <p:grpSpPr>
            <a:xfrm flipH="1">
              <a:off x="7229508" y="5947390"/>
              <a:ext cx="205911" cy="199830"/>
              <a:chOff x="5719763" y="3063875"/>
              <a:chExt cx="752475" cy="730250"/>
            </a:xfrm>
            <a:solidFill>
              <a:schemeClr val="accent1"/>
            </a:solidFill>
          </p:grpSpPr>
          <p:sp>
            <p:nvSpPr>
              <p:cNvPr id="54" name="Oval 154">
                <a:extLst>
                  <a:ext uri="{FF2B5EF4-FFF2-40B4-BE49-F238E27FC236}">
                    <a16:creationId xmlns:a16="http://schemas.microsoft.com/office/drawing/2014/main" id="{F6500758-755F-441D-A869-1DE3F4A31344}"/>
                  </a:ext>
                </a:extLst>
              </p:cNvPr>
              <p:cNvSpPr>
                <a:spLocks noChangeArrowheads="1"/>
              </p:cNvSpPr>
              <p:nvPr/>
            </p:nvSpPr>
            <p:spPr bwMode="auto">
              <a:xfrm>
                <a:off x="6161088" y="3098800"/>
                <a:ext cx="95250" cy="1174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5" name="Rectangle 155">
                <a:extLst>
                  <a:ext uri="{FF2B5EF4-FFF2-40B4-BE49-F238E27FC236}">
                    <a16:creationId xmlns:a16="http://schemas.microsoft.com/office/drawing/2014/main" id="{513FA4C5-B132-4E85-B0EA-D9556FBF1EFD}"/>
                  </a:ext>
                </a:extLst>
              </p:cNvPr>
              <p:cNvSpPr>
                <a:spLocks noChangeArrowheads="1"/>
              </p:cNvSpPr>
              <p:nvPr/>
            </p:nvSpPr>
            <p:spPr bwMode="auto">
              <a:xfrm>
                <a:off x="6210301"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56" name="Freeform 156">
                <a:extLst>
                  <a:ext uri="{FF2B5EF4-FFF2-40B4-BE49-F238E27FC236}">
                    <a16:creationId xmlns:a16="http://schemas.microsoft.com/office/drawing/2014/main" id="{9122EC7F-A774-4371-87EE-B46FD6FC412C}"/>
                  </a:ext>
                </a:extLst>
              </p:cNvPr>
              <p:cNvSpPr/>
              <p:nvPr/>
            </p:nvSpPr>
            <p:spPr bwMode="auto">
              <a:xfrm>
                <a:off x="6191251" y="3235325"/>
                <a:ext cx="33338" cy="33338"/>
              </a:xfrm>
              <a:custGeom>
                <a:avLst/>
                <a:gdLst>
                  <a:gd name="T0" fmla="*/ 17 w 21"/>
                  <a:gd name="T1" fmla="*/ 0 h 21"/>
                  <a:gd name="T2" fmla="*/ 21 w 21"/>
                  <a:gd name="T3" fmla="*/ 12 h 21"/>
                  <a:gd name="T4" fmla="*/ 12 w 21"/>
                  <a:gd name="T5" fmla="*/ 21 h 21"/>
                  <a:gd name="T6" fmla="*/ 0 w 21"/>
                  <a:gd name="T7" fmla="*/ 12 h 21"/>
                  <a:gd name="T8" fmla="*/ 5 w 21"/>
                  <a:gd name="T9" fmla="*/ 0 h 21"/>
                  <a:gd name="T10" fmla="*/ 17 w 21"/>
                  <a:gd name="T11" fmla="*/ 0 h 21"/>
                </a:gdLst>
                <a:ahLst/>
                <a:cxnLst>
                  <a:cxn ang="0">
                    <a:pos x="T0" y="T1"/>
                  </a:cxn>
                  <a:cxn ang="0">
                    <a:pos x="T2" y="T3"/>
                  </a:cxn>
                  <a:cxn ang="0">
                    <a:pos x="T4" y="T5"/>
                  </a:cxn>
                  <a:cxn ang="0">
                    <a:pos x="T6" y="T7"/>
                  </a:cxn>
                  <a:cxn ang="0">
                    <a:pos x="T8" y="T9"/>
                  </a:cxn>
                  <a:cxn ang="0">
                    <a:pos x="T10" y="T11"/>
                  </a:cxn>
                </a:cxnLst>
                <a:rect l="0" t="0" r="r" b="b"/>
                <a:pathLst>
                  <a:path w="21" h="21">
                    <a:moveTo>
                      <a:pt x="17" y="0"/>
                    </a:moveTo>
                    <a:lnTo>
                      <a:pt x="21" y="12"/>
                    </a:lnTo>
                    <a:lnTo>
                      <a:pt x="12" y="21"/>
                    </a:lnTo>
                    <a:lnTo>
                      <a:pt x="0" y="12"/>
                    </a:lnTo>
                    <a:lnTo>
                      <a:pt x="5" y="0"/>
                    </a:lnTo>
                    <a:lnTo>
                      <a:pt x="1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7" name="Freeform 157">
                <a:extLst>
                  <a:ext uri="{FF2B5EF4-FFF2-40B4-BE49-F238E27FC236}">
                    <a16:creationId xmlns:a16="http://schemas.microsoft.com/office/drawing/2014/main" id="{9864FA0E-B9E6-4786-8FF4-750C43E41132}"/>
                  </a:ext>
                </a:extLst>
              </p:cNvPr>
              <p:cNvSpPr/>
              <p:nvPr/>
            </p:nvSpPr>
            <p:spPr bwMode="auto">
              <a:xfrm>
                <a:off x="6191251" y="3257550"/>
                <a:ext cx="33338" cy="141288"/>
              </a:xfrm>
              <a:custGeom>
                <a:avLst/>
                <a:gdLst>
                  <a:gd name="T0" fmla="*/ 19 w 21"/>
                  <a:gd name="T1" fmla="*/ 0 h 89"/>
                  <a:gd name="T2" fmla="*/ 21 w 21"/>
                  <a:gd name="T3" fmla="*/ 82 h 89"/>
                  <a:gd name="T4" fmla="*/ 12 w 21"/>
                  <a:gd name="T5" fmla="*/ 89 h 89"/>
                  <a:gd name="T6" fmla="*/ 0 w 21"/>
                  <a:gd name="T7" fmla="*/ 82 h 89"/>
                  <a:gd name="T8" fmla="*/ 5 w 21"/>
                  <a:gd name="T9" fmla="*/ 0 h 89"/>
                  <a:gd name="T10" fmla="*/ 19 w 21"/>
                  <a:gd name="T11" fmla="*/ 0 h 89"/>
                </a:gdLst>
                <a:ahLst/>
                <a:cxnLst>
                  <a:cxn ang="0">
                    <a:pos x="T0" y="T1"/>
                  </a:cxn>
                  <a:cxn ang="0">
                    <a:pos x="T2" y="T3"/>
                  </a:cxn>
                  <a:cxn ang="0">
                    <a:pos x="T4" y="T5"/>
                  </a:cxn>
                  <a:cxn ang="0">
                    <a:pos x="T6" y="T7"/>
                  </a:cxn>
                  <a:cxn ang="0">
                    <a:pos x="T8" y="T9"/>
                  </a:cxn>
                  <a:cxn ang="0">
                    <a:pos x="T10" y="T11"/>
                  </a:cxn>
                </a:cxnLst>
                <a:rect l="0" t="0" r="r" b="b"/>
                <a:pathLst>
                  <a:path w="21" h="89">
                    <a:moveTo>
                      <a:pt x="19" y="0"/>
                    </a:moveTo>
                    <a:lnTo>
                      <a:pt x="21" y="82"/>
                    </a:lnTo>
                    <a:lnTo>
                      <a:pt x="12" y="89"/>
                    </a:lnTo>
                    <a:lnTo>
                      <a:pt x="0" y="82"/>
                    </a:lnTo>
                    <a:lnTo>
                      <a:pt x="5" y="0"/>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8" name="Oval 158">
                <a:extLst>
                  <a:ext uri="{FF2B5EF4-FFF2-40B4-BE49-F238E27FC236}">
                    <a16:creationId xmlns:a16="http://schemas.microsoft.com/office/drawing/2014/main" id="{B28841C7-9E82-4417-99BB-F92212E43B5E}"/>
                  </a:ext>
                </a:extLst>
              </p:cNvPr>
              <p:cNvSpPr>
                <a:spLocks noChangeArrowheads="1"/>
              </p:cNvSpPr>
              <p:nvPr/>
            </p:nvSpPr>
            <p:spPr bwMode="auto">
              <a:xfrm>
                <a:off x="5856288" y="3063875"/>
                <a:ext cx="111125" cy="1333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9" name="Rectangle 159">
                <a:extLst>
                  <a:ext uri="{FF2B5EF4-FFF2-40B4-BE49-F238E27FC236}">
                    <a16:creationId xmlns:a16="http://schemas.microsoft.com/office/drawing/2014/main" id="{EDE2B556-B937-4681-8F4D-5D6729C0112F}"/>
                  </a:ext>
                </a:extLst>
              </p:cNvPr>
              <p:cNvSpPr>
                <a:spLocks noChangeArrowheads="1"/>
              </p:cNvSpPr>
              <p:nvPr/>
            </p:nvSpPr>
            <p:spPr bwMode="auto">
              <a:xfrm>
                <a:off x="5913438"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60" name="Freeform 160">
                <a:extLst>
                  <a:ext uri="{FF2B5EF4-FFF2-40B4-BE49-F238E27FC236}">
                    <a16:creationId xmlns:a16="http://schemas.microsoft.com/office/drawing/2014/main" id="{B91E5A24-C608-4095-A701-FE7CE461A55E}"/>
                  </a:ext>
                </a:extLst>
              </p:cNvPr>
              <p:cNvSpPr/>
              <p:nvPr/>
            </p:nvSpPr>
            <p:spPr bwMode="auto">
              <a:xfrm>
                <a:off x="5722938" y="3322638"/>
                <a:ext cx="0" cy="3175"/>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1" name="Rectangle 161">
                <a:extLst>
                  <a:ext uri="{FF2B5EF4-FFF2-40B4-BE49-F238E27FC236}">
                    <a16:creationId xmlns:a16="http://schemas.microsoft.com/office/drawing/2014/main" id="{933295DC-B98B-4C5B-A4DA-02FB61541B8B}"/>
                  </a:ext>
                </a:extLst>
              </p:cNvPr>
              <p:cNvSpPr>
                <a:spLocks noChangeArrowheads="1"/>
              </p:cNvSpPr>
              <p:nvPr/>
            </p:nvSpPr>
            <p:spPr bwMode="auto">
              <a:xfrm>
                <a:off x="5913438"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62" name="Freeform 162">
                <a:extLst>
                  <a:ext uri="{FF2B5EF4-FFF2-40B4-BE49-F238E27FC236}">
                    <a16:creationId xmlns:a16="http://schemas.microsoft.com/office/drawing/2014/main" id="{F1DFDE6F-926B-44F2-B553-04294D280831}"/>
                  </a:ext>
                </a:extLst>
              </p:cNvPr>
              <p:cNvSpPr/>
              <p:nvPr/>
            </p:nvSpPr>
            <p:spPr bwMode="auto">
              <a:xfrm>
                <a:off x="5894388" y="3205163"/>
                <a:ext cx="34925" cy="41275"/>
              </a:xfrm>
              <a:custGeom>
                <a:avLst/>
                <a:gdLst>
                  <a:gd name="T0" fmla="*/ 19 w 22"/>
                  <a:gd name="T1" fmla="*/ 0 h 26"/>
                  <a:gd name="T2" fmla="*/ 22 w 22"/>
                  <a:gd name="T3" fmla="*/ 16 h 26"/>
                  <a:gd name="T4" fmla="*/ 12 w 22"/>
                  <a:gd name="T5" fmla="*/ 26 h 26"/>
                  <a:gd name="T6" fmla="*/ 0 w 22"/>
                  <a:gd name="T7" fmla="*/ 16 h 26"/>
                  <a:gd name="T8" fmla="*/ 5 w 22"/>
                  <a:gd name="T9" fmla="*/ 0 h 26"/>
                  <a:gd name="T10" fmla="*/ 19 w 22"/>
                  <a:gd name="T11" fmla="*/ 0 h 26"/>
                </a:gdLst>
                <a:ahLst/>
                <a:cxnLst>
                  <a:cxn ang="0">
                    <a:pos x="T0" y="T1"/>
                  </a:cxn>
                  <a:cxn ang="0">
                    <a:pos x="T2" y="T3"/>
                  </a:cxn>
                  <a:cxn ang="0">
                    <a:pos x="T4" y="T5"/>
                  </a:cxn>
                  <a:cxn ang="0">
                    <a:pos x="T6" y="T7"/>
                  </a:cxn>
                  <a:cxn ang="0">
                    <a:pos x="T8" y="T9"/>
                  </a:cxn>
                  <a:cxn ang="0">
                    <a:pos x="T10" y="T11"/>
                  </a:cxn>
                </a:cxnLst>
                <a:rect l="0" t="0" r="r" b="b"/>
                <a:pathLst>
                  <a:path w="22" h="26">
                    <a:moveTo>
                      <a:pt x="19" y="0"/>
                    </a:moveTo>
                    <a:lnTo>
                      <a:pt x="22" y="16"/>
                    </a:lnTo>
                    <a:lnTo>
                      <a:pt x="12" y="26"/>
                    </a:lnTo>
                    <a:lnTo>
                      <a:pt x="0" y="16"/>
                    </a:lnTo>
                    <a:lnTo>
                      <a:pt x="5" y="0"/>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3" name="Freeform 163">
                <a:extLst>
                  <a:ext uri="{FF2B5EF4-FFF2-40B4-BE49-F238E27FC236}">
                    <a16:creationId xmlns:a16="http://schemas.microsoft.com/office/drawing/2014/main" id="{B106AAE0-C66A-4689-9FCA-B67ECD001860}"/>
                  </a:ext>
                </a:extLst>
              </p:cNvPr>
              <p:cNvSpPr/>
              <p:nvPr/>
            </p:nvSpPr>
            <p:spPr bwMode="auto">
              <a:xfrm>
                <a:off x="5891213" y="3235325"/>
                <a:ext cx="41275" cy="166688"/>
              </a:xfrm>
              <a:custGeom>
                <a:avLst/>
                <a:gdLst>
                  <a:gd name="T0" fmla="*/ 21 w 26"/>
                  <a:gd name="T1" fmla="*/ 0 h 105"/>
                  <a:gd name="T2" fmla="*/ 26 w 26"/>
                  <a:gd name="T3" fmla="*/ 96 h 105"/>
                  <a:gd name="T4" fmla="*/ 14 w 26"/>
                  <a:gd name="T5" fmla="*/ 105 h 105"/>
                  <a:gd name="T6" fmla="*/ 0 w 26"/>
                  <a:gd name="T7" fmla="*/ 96 h 105"/>
                  <a:gd name="T8" fmla="*/ 4 w 26"/>
                  <a:gd name="T9" fmla="*/ 0 h 105"/>
                  <a:gd name="T10" fmla="*/ 21 w 26"/>
                  <a:gd name="T11" fmla="*/ 0 h 105"/>
                </a:gdLst>
                <a:ahLst/>
                <a:cxnLst>
                  <a:cxn ang="0">
                    <a:pos x="T0" y="T1"/>
                  </a:cxn>
                  <a:cxn ang="0">
                    <a:pos x="T2" y="T3"/>
                  </a:cxn>
                  <a:cxn ang="0">
                    <a:pos x="T4" y="T5"/>
                  </a:cxn>
                  <a:cxn ang="0">
                    <a:pos x="T6" y="T7"/>
                  </a:cxn>
                  <a:cxn ang="0">
                    <a:pos x="T8" y="T9"/>
                  </a:cxn>
                  <a:cxn ang="0">
                    <a:pos x="T10" y="T11"/>
                  </a:cxn>
                </a:cxnLst>
                <a:rect l="0" t="0" r="r" b="b"/>
                <a:pathLst>
                  <a:path w="26" h="105">
                    <a:moveTo>
                      <a:pt x="21" y="0"/>
                    </a:moveTo>
                    <a:lnTo>
                      <a:pt x="26" y="96"/>
                    </a:lnTo>
                    <a:lnTo>
                      <a:pt x="14" y="105"/>
                    </a:lnTo>
                    <a:lnTo>
                      <a:pt x="0" y="96"/>
                    </a:lnTo>
                    <a:lnTo>
                      <a:pt x="4" y="0"/>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4" name="Freeform 164">
                <a:extLst>
                  <a:ext uri="{FF2B5EF4-FFF2-40B4-BE49-F238E27FC236}">
                    <a16:creationId xmlns:a16="http://schemas.microsoft.com/office/drawing/2014/main" id="{C483CAA4-3170-4899-9FBB-3B3F0EAC2678}"/>
                  </a:ext>
                </a:extLst>
              </p:cNvPr>
              <p:cNvSpPr>
                <a:spLocks noEditPoints="1"/>
              </p:cNvSpPr>
              <p:nvPr/>
            </p:nvSpPr>
            <p:spPr bwMode="auto">
              <a:xfrm>
                <a:off x="5719763" y="3211513"/>
                <a:ext cx="373063" cy="547688"/>
              </a:xfrm>
              <a:custGeom>
                <a:avLst/>
                <a:gdLst>
                  <a:gd name="T0" fmla="*/ 60 w 98"/>
                  <a:gd name="T1" fmla="*/ 74 h 144"/>
                  <a:gd name="T2" fmla="*/ 75 w 98"/>
                  <a:gd name="T3" fmla="*/ 57 h 144"/>
                  <a:gd name="T4" fmla="*/ 74 w 98"/>
                  <a:gd name="T5" fmla="*/ 36 h 144"/>
                  <a:gd name="T6" fmla="*/ 77 w 98"/>
                  <a:gd name="T7" fmla="*/ 40 h 144"/>
                  <a:gd name="T8" fmla="*/ 78 w 98"/>
                  <a:gd name="T9" fmla="*/ 57 h 144"/>
                  <a:gd name="T10" fmla="*/ 98 w 98"/>
                  <a:gd name="T11" fmla="*/ 57 h 144"/>
                  <a:gd name="T12" fmla="*/ 92 w 98"/>
                  <a:gd name="T13" fmla="*/ 31 h 144"/>
                  <a:gd name="T14" fmla="*/ 74 w 98"/>
                  <a:gd name="T15" fmla="*/ 4 h 144"/>
                  <a:gd name="T16" fmla="*/ 63 w 98"/>
                  <a:gd name="T17" fmla="*/ 0 h 144"/>
                  <a:gd name="T18" fmla="*/ 63 w 98"/>
                  <a:gd name="T19" fmla="*/ 0 h 144"/>
                  <a:gd name="T20" fmla="*/ 69 w 98"/>
                  <a:gd name="T21" fmla="*/ 5 h 144"/>
                  <a:gd name="T22" fmla="*/ 61 w 98"/>
                  <a:gd name="T23" fmla="*/ 9 h 144"/>
                  <a:gd name="T24" fmla="*/ 65 w 98"/>
                  <a:gd name="T25" fmla="*/ 15 h 144"/>
                  <a:gd name="T26" fmla="*/ 51 w 98"/>
                  <a:gd name="T27" fmla="*/ 46 h 144"/>
                  <a:gd name="T28" fmla="*/ 51 w 98"/>
                  <a:gd name="T29" fmla="*/ 46 h 144"/>
                  <a:gd name="T30" fmla="*/ 51 w 98"/>
                  <a:gd name="T31" fmla="*/ 46 h 144"/>
                  <a:gd name="T32" fmla="*/ 51 w 98"/>
                  <a:gd name="T33" fmla="*/ 46 h 144"/>
                  <a:gd name="T34" fmla="*/ 51 w 98"/>
                  <a:gd name="T35" fmla="*/ 46 h 144"/>
                  <a:gd name="T36" fmla="*/ 36 w 98"/>
                  <a:gd name="T37" fmla="*/ 15 h 144"/>
                  <a:gd name="T38" fmla="*/ 40 w 98"/>
                  <a:gd name="T39" fmla="*/ 9 h 144"/>
                  <a:gd name="T40" fmla="*/ 33 w 98"/>
                  <a:gd name="T41" fmla="*/ 5 h 144"/>
                  <a:gd name="T42" fmla="*/ 39 w 98"/>
                  <a:gd name="T43" fmla="*/ 0 h 144"/>
                  <a:gd name="T44" fmla="*/ 39 w 98"/>
                  <a:gd name="T45" fmla="*/ 0 h 144"/>
                  <a:gd name="T46" fmla="*/ 31 w 98"/>
                  <a:gd name="T47" fmla="*/ 0 h 144"/>
                  <a:gd name="T48" fmla="*/ 25 w 98"/>
                  <a:gd name="T49" fmla="*/ 3 h 144"/>
                  <a:gd name="T50" fmla="*/ 1 w 98"/>
                  <a:gd name="T51" fmla="*/ 29 h 144"/>
                  <a:gd name="T52" fmla="*/ 1 w 98"/>
                  <a:gd name="T53" fmla="*/ 29 h 144"/>
                  <a:gd name="T54" fmla="*/ 1 w 98"/>
                  <a:gd name="T55" fmla="*/ 30 h 144"/>
                  <a:gd name="T56" fmla="*/ 0 w 98"/>
                  <a:gd name="T57" fmla="*/ 40 h 144"/>
                  <a:gd name="T58" fmla="*/ 0 w 98"/>
                  <a:gd name="T59" fmla="*/ 41 h 144"/>
                  <a:gd name="T60" fmla="*/ 0 w 98"/>
                  <a:gd name="T61" fmla="*/ 42 h 144"/>
                  <a:gd name="T62" fmla="*/ 1 w 98"/>
                  <a:gd name="T63" fmla="*/ 44 h 144"/>
                  <a:gd name="T64" fmla="*/ 3 w 98"/>
                  <a:gd name="T65" fmla="*/ 48 h 144"/>
                  <a:gd name="T66" fmla="*/ 7 w 98"/>
                  <a:gd name="T67" fmla="*/ 55 h 144"/>
                  <a:gd name="T68" fmla="*/ 15 w 98"/>
                  <a:gd name="T69" fmla="*/ 71 h 144"/>
                  <a:gd name="T70" fmla="*/ 26 w 98"/>
                  <a:gd name="T71" fmla="*/ 65 h 144"/>
                  <a:gd name="T72" fmla="*/ 26 w 98"/>
                  <a:gd name="T73" fmla="*/ 75 h 144"/>
                  <a:gd name="T74" fmla="*/ 26 w 98"/>
                  <a:gd name="T75" fmla="*/ 76 h 144"/>
                  <a:gd name="T76" fmla="*/ 28 w 98"/>
                  <a:gd name="T77" fmla="*/ 76 h 144"/>
                  <a:gd name="T78" fmla="*/ 30 w 98"/>
                  <a:gd name="T79" fmla="*/ 144 h 144"/>
                  <a:gd name="T80" fmla="*/ 50 w 98"/>
                  <a:gd name="T81" fmla="*/ 144 h 144"/>
                  <a:gd name="T82" fmla="*/ 50 w 98"/>
                  <a:gd name="T83" fmla="*/ 76 h 144"/>
                  <a:gd name="T84" fmla="*/ 52 w 98"/>
                  <a:gd name="T85" fmla="*/ 76 h 144"/>
                  <a:gd name="T86" fmla="*/ 54 w 98"/>
                  <a:gd name="T87" fmla="*/ 144 h 144"/>
                  <a:gd name="T88" fmla="*/ 60 w 98"/>
                  <a:gd name="T89" fmla="*/ 144 h 144"/>
                  <a:gd name="T90" fmla="*/ 60 w 98"/>
                  <a:gd name="T91" fmla="*/ 74 h 144"/>
                  <a:gd name="T92" fmla="*/ 27 w 98"/>
                  <a:gd name="T93" fmla="*/ 50 h 144"/>
                  <a:gd name="T94" fmla="*/ 24 w 98"/>
                  <a:gd name="T95" fmla="*/ 46 h 144"/>
                  <a:gd name="T96" fmla="*/ 20 w 98"/>
                  <a:gd name="T97" fmla="*/ 39 h 144"/>
                  <a:gd name="T98" fmla="*/ 19 w 98"/>
                  <a:gd name="T99" fmla="*/ 36 h 144"/>
                  <a:gd name="T100" fmla="*/ 27 w 98"/>
                  <a:gd name="T101" fmla="*/ 26 h 144"/>
                  <a:gd name="T102" fmla="*/ 27 w 98"/>
                  <a:gd name="T103" fmla="*/ 5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44">
                    <a:moveTo>
                      <a:pt x="60" y="74"/>
                    </a:moveTo>
                    <a:cubicBezTo>
                      <a:pt x="60" y="66"/>
                      <a:pt x="66" y="58"/>
                      <a:pt x="75" y="57"/>
                    </a:cubicBezTo>
                    <a:cubicBezTo>
                      <a:pt x="75" y="50"/>
                      <a:pt x="75" y="43"/>
                      <a:pt x="74" y="36"/>
                    </a:cubicBezTo>
                    <a:cubicBezTo>
                      <a:pt x="77" y="40"/>
                      <a:pt x="77" y="40"/>
                      <a:pt x="77" y="40"/>
                    </a:cubicBezTo>
                    <a:cubicBezTo>
                      <a:pt x="78" y="41"/>
                      <a:pt x="78" y="49"/>
                      <a:pt x="78" y="57"/>
                    </a:cubicBezTo>
                    <a:cubicBezTo>
                      <a:pt x="98" y="57"/>
                      <a:pt x="98" y="57"/>
                      <a:pt x="98" y="57"/>
                    </a:cubicBezTo>
                    <a:cubicBezTo>
                      <a:pt x="98" y="50"/>
                      <a:pt x="98" y="43"/>
                      <a:pt x="92" y="31"/>
                    </a:cubicBezTo>
                    <a:cubicBezTo>
                      <a:pt x="74" y="4"/>
                      <a:pt x="74" y="4"/>
                      <a:pt x="74" y="4"/>
                    </a:cubicBezTo>
                    <a:cubicBezTo>
                      <a:pt x="71" y="0"/>
                      <a:pt x="64" y="0"/>
                      <a:pt x="63" y="0"/>
                    </a:cubicBezTo>
                    <a:cubicBezTo>
                      <a:pt x="63" y="0"/>
                      <a:pt x="63" y="0"/>
                      <a:pt x="63" y="0"/>
                    </a:cubicBezTo>
                    <a:cubicBezTo>
                      <a:pt x="69" y="5"/>
                      <a:pt x="69" y="5"/>
                      <a:pt x="69" y="5"/>
                    </a:cubicBezTo>
                    <a:cubicBezTo>
                      <a:pt x="61" y="9"/>
                      <a:pt x="61" y="9"/>
                      <a:pt x="61" y="9"/>
                    </a:cubicBezTo>
                    <a:cubicBezTo>
                      <a:pt x="65" y="15"/>
                      <a:pt x="65" y="15"/>
                      <a:pt x="65" y="15"/>
                    </a:cubicBezTo>
                    <a:cubicBezTo>
                      <a:pt x="51" y="46"/>
                      <a:pt x="51" y="46"/>
                      <a:pt x="51" y="46"/>
                    </a:cubicBezTo>
                    <a:cubicBezTo>
                      <a:pt x="51" y="46"/>
                      <a:pt x="51" y="46"/>
                      <a:pt x="51" y="46"/>
                    </a:cubicBezTo>
                    <a:cubicBezTo>
                      <a:pt x="51" y="46"/>
                      <a:pt x="51" y="46"/>
                      <a:pt x="51" y="46"/>
                    </a:cubicBezTo>
                    <a:cubicBezTo>
                      <a:pt x="51" y="46"/>
                      <a:pt x="51" y="46"/>
                      <a:pt x="51" y="46"/>
                    </a:cubicBezTo>
                    <a:cubicBezTo>
                      <a:pt x="51" y="46"/>
                      <a:pt x="51" y="46"/>
                      <a:pt x="51" y="46"/>
                    </a:cubicBezTo>
                    <a:cubicBezTo>
                      <a:pt x="36" y="15"/>
                      <a:pt x="36" y="15"/>
                      <a:pt x="36" y="15"/>
                    </a:cubicBezTo>
                    <a:cubicBezTo>
                      <a:pt x="40" y="9"/>
                      <a:pt x="40" y="9"/>
                      <a:pt x="40" y="9"/>
                    </a:cubicBezTo>
                    <a:cubicBezTo>
                      <a:pt x="33" y="5"/>
                      <a:pt x="33" y="5"/>
                      <a:pt x="33" y="5"/>
                    </a:cubicBezTo>
                    <a:cubicBezTo>
                      <a:pt x="39" y="0"/>
                      <a:pt x="39" y="0"/>
                      <a:pt x="39" y="0"/>
                    </a:cubicBezTo>
                    <a:cubicBezTo>
                      <a:pt x="39" y="0"/>
                      <a:pt x="39" y="0"/>
                      <a:pt x="39" y="0"/>
                    </a:cubicBezTo>
                    <a:cubicBezTo>
                      <a:pt x="36" y="0"/>
                      <a:pt x="31" y="0"/>
                      <a:pt x="31" y="0"/>
                    </a:cubicBezTo>
                    <a:cubicBezTo>
                      <a:pt x="29" y="1"/>
                      <a:pt x="27" y="2"/>
                      <a:pt x="25" y="3"/>
                    </a:cubicBezTo>
                    <a:cubicBezTo>
                      <a:pt x="1" y="29"/>
                      <a:pt x="1" y="29"/>
                      <a:pt x="1" y="29"/>
                    </a:cubicBezTo>
                    <a:cubicBezTo>
                      <a:pt x="1" y="29"/>
                      <a:pt x="1" y="29"/>
                      <a:pt x="1" y="29"/>
                    </a:cubicBezTo>
                    <a:cubicBezTo>
                      <a:pt x="1" y="30"/>
                      <a:pt x="1" y="30"/>
                      <a:pt x="1" y="30"/>
                    </a:cubicBezTo>
                    <a:cubicBezTo>
                      <a:pt x="1" y="31"/>
                      <a:pt x="0" y="40"/>
                      <a:pt x="0" y="40"/>
                    </a:cubicBezTo>
                    <a:cubicBezTo>
                      <a:pt x="0" y="41"/>
                      <a:pt x="0" y="41"/>
                      <a:pt x="0" y="41"/>
                    </a:cubicBezTo>
                    <a:cubicBezTo>
                      <a:pt x="0" y="42"/>
                      <a:pt x="0" y="42"/>
                      <a:pt x="0" y="42"/>
                    </a:cubicBezTo>
                    <a:cubicBezTo>
                      <a:pt x="1" y="44"/>
                      <a:pt x="1" y="44"/>
                      <a:pt x="1" y="44"/>
                    </a:cubicBezTo>
                    <a:cubicBezTo>
                      <a:pt x="3" y="48"/>
                      <a:pt x="3" y="48"/>
                      <a:pt x="3" y="48"/>
                    </a:cubicBezTo>
                    <a:cubicBezTo>
                      <a:pt x="7" y="55"/>
                      <a:pt x="7" y="55"/>
                      <a:pt x="7" y="55"/>
                    </a:cubicBezTo>
                    <a:cubicBezTo>
                      <a:pt x="15" y="71"/>
                      <a:pt x="15" y="71"/>
                      <a:pt x="15" y="71"/>
                    </a:cubicBezTo>
                    <a:cubicBezTo>
                      <a:pt x="19" y="69"/>
                      <a:pt x="23" y="67"/>
                      <a:pt x="26" y="65"/>
                    </a:cubicBezTo>
                    <a:cubicBezTo>
                      <a:pt x="26" y="69"/>
                      <a:pt x="26" y="72"/>
                      <a:pt x="26" y="75"/>
                    </a:cubicBezTo>
                    <a:cubicBezTo>
                      <a:pt x="26" y="76"/>
                      <a:pt x="26" y="76"/>
                      <a:pt x="26" y="76"/>
                    </a:cubicBezTo>
                    <a:cubicBezTo>
                      <a:pt x="27" y="76"/>
                      <a:pt x="27" y="76"/>
                      <a:pt x="28" y="76"/>
                    </a:cubicBezTo>
                    <a:cubicBezTo>
                      <a:pt x="30" y="144"/>
                      <a:pt x="30" y="144"/>
                      <a:pt x="30" y="144"/>
                    </a:cubicBezTo>
                    <a:cubicBezTo>
                      <a:pt x="50" y="144"/>
                      <a:pt x="50" y="144"/>
                      <a:pt x="50" y="144"/>
                    </a:cubicBezTo>
                    <a:cubicBezTo>
                      <a:pt x="50" y="124"/>
                      <a:pt x="50" y="89"/>
                      <a:pt x="50" y="76"/>
                    </a:cubicBezTo>
                    <a:cubicBezTo>
                      <a:pt x="50" y="76"/>
                      <a:pt x="51" y="76"/>
                      <a:pt x="52" y="76"/>
                    </a:cubicBezTo>
                    <a:cubicBezTo>
                      <a:pt x="54" y="144"/>
                      <a:pt x="54" y="144"/>
                      <a:pt x="54" y="144"/>
                    </a:cubicBezTo>
                    <a:cubicBezTo>
                      <a:pt x="60" y="144"/>
                      <a:pt x="60" y="144"/>
                      <a:pt x="60" y="144"/>
                    </a:cubicBezTo>
                    <a:lnTo>
                      <a:pt x="60" y="74"/>
                    </a:lnTo>
                    <a:close/>
                    <a:moveTo>
                      <a:pt x="27" y="50"/>
                    </a:moveTo>
                    <a:cubicBezTo>
                      <a:pt x="24" y="46"/>
                      <a:pt x="24" y="46"/>
                      <a:pt x="24" y="46"/>
                    </a:cubicBezTo>
                    <a:cubicBezTo>
                      <a:pt x="20" y="39"/>
                      <a:pt x="20" y="39"/>
                      <a:pt x="20" y="39"/>
                    </a:cubicBezTo>
                    <a:cubicBezTo>
                      <a:pt x="19" y="36"/>
                      <a:pt x="19" y="36"/>
                      <a:pt x="19" y="36"/>
                    </a:cubicBezTo>
                    <a:cubicBezTo>
                      <a:pt x="27" y="26"/>
                      <a:pt x="27" y="26"/>
                      <a:pt x="27" y="26"/>
                    </a:cubicBezTo>
                    <a:cubicBezTo>
                      <a:pt x="27" y="34"/>
                      <a:pt x="27" y="42"/>
                      <a:pt x="27"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5" name="Freeform 165">
                <a:extLst>
                  <a:ext uri="{FF2B5EF4-FFF2-40B4-BE49-F238E27FC236}">
                    <a16:creationId xmlns:a16="http://schemas.microsoft.com/office/drawing/2014/main" id="{109D93F2-39D7-4720-A015-41D1E18020FB}"/>
                  </a:ext>
                </a:extLst>
              </p:cNvPr>
              <p:cNvSpPr/>
              <p:nvPr/>
            </p:nvSpPr>
            <p:spPr bwMode="auto">
              <a:xfrm>
                <a:off x="6099176" y="3230563"/>
                <a:ext cx="220663" cy="198438"/>
              </a:xfrm>
              <a:custGeom>
                <a:avLst/>
                <a:gdLst>
                  <a:gd name="T0" fmla="*/ 1 w 58"/>
                  <a:gd name="T1" fmla="*/ 52 h 52"/>
                  <a:gd name="T2" fmla="*/ 30 w 58"/>
                  <a:gd name="T3" fmla="*/ 52 h 52"/>
                  <a:gd name="T4" fmla="*/ 58 w 58"/>
                  <a:gd name="T5" fmla="*/ 52 h 52"/>
                  <a:gd name="T6" fmla="*/ 55 w 58"/>
                  <a:gd name="T7" fmla="*/ 8 h 52"/>
                  <a:gd name="T8" fmla="*/ 47 w 58"/>
                  <a:gd name="T9" fmla="*/ 0 h 52"/>
                  <a:gd name="T10" fmla="*/ 40 w 58"/>
                  <a:gd name="T11" fmla="*/ 0 h 52"/>
                  <a:gd name="T12" fmla="*/ 45 w 58"/>
                  <a:gd name="T13" fmla="*/ 4 h 52"/>
                  <a:gd name="T14" fmla="*/ 38 w 58"/>
                  <a:gd name="T15" fmla="*/ 8 h 52"/>
                  <a:gd name="T16" fmla="*/ 41 w 58"/>
                  <a:gd name="T17" fmla="*/ 13 h 52"/>
                  <a:gd name="T18" fmla="*/ 29 w 58"/>
                  <a:gd name="T19" fmla="*/ 41 h 52"/>
                  <a:gd name="T20" fmla="*/ 29 w 58"/>
                  <a:gd name="T21" fmla="*/ 41 h 52"/>
                  <a:gd name="T22" fmla="*/ 29 w 58"/>
                  <a:gd name="T23" fmla="*/ 41 h 52"/>
                  <a:gd name="T24" fmla="*/ 29 w 58"/>
                  <a:gd name="T25" fmla="*/ 41 h 52"/>
                  <a:gd name="T26" fmla="*/ 29 w 58"/>
                  <a:gd name="T27" fmla="*/ 41 h 52"/>
                  <a:gd name="T28" fmla="*/ 16 w 58"/>
                  <a:gd name="T29" fmla="*/ 13 h 52"/>
                  <a:gd name="T30" fmla="*/ 19 w 58"/>
                  <a:gd name="T31" fmla="*/ 8 h 52"/>
                  <a:gd name="T32" fmla="*/ 12 w 58"/>
                  <a:gd name="T33" fmla="*/ 4 h 52"/>
                  <a:gd name="T34" fmla="*/ 17 w 58"/>
                  <a:gd name="T35" fmla="*/ 0 h 52"/>
                  <a:gd name="T36" fmla="*/ 11 w 58"/>
                  <a:gd name="T37" fmla="*/ 0 h 52"/>
                  <a:gd name="T38" fmla="*/ 11 w 58"/>
                  <a:gd name="T39" fmla="*/ 0 h 52"/>
                  <a:gd name="T40" fmla="*/ 3 w 58"/>
                  <a:gd name="T41" fmla="*/ 8 h 52"/>
                  <a:gd name="T42" fmla="*/ 0 w 58"/>
                  <a:gd name="T43" fmla="*/ 52 h 52"/>
                  <a:gd name="T44" fmla="*/ 1 w 58"/>
                  <a:gd name="T45"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52">
                    <a:moveTo>
                      <a:pt x="1" y="52"/>
                    </a:moveTo>
                    <a:cubicBezTo>
                      <a:pt x="30" y="52"/>
                      <a:pt x="30" y="52"/>
                      <a:pt x="30" y="52"/>
                    </a:cubicBezTo>
                    <a:cubicBezTo>
                      <a:pt x="58" y="52"/>
                      <a:pt x="58" y="52"/>
                      <a:pt x="58" y="52"/>
                    </a:cubicBezTo>
                    <a:cubicBezTo>
                      <a:pt x="55" y="8"/>
                      <a:pt x="55" y="8"/>
                      <a:pt x="55" y="8"/>
                    </a:cubicBezTo>
                    <a:cubicBezTo>
                      <a:pt x="54" y="3"/>
                      <a:pt x="51" y="0"/>
                      <a:pt x="47" y="0"/>
                    </a:cubicBezTo>
                    <a:cubicBezTo>
                      <a:pt x="47" y="0"/>
                      <a:pt x="44" y="0"/>
                      <a:pt x="40" y="0"/>
                    </a:cubicBezTo>
                    <a:cubicBezTo>
                      <a:pt x="45" y="4"/>
                      <a:pt x="45" y="4"/>
                      <a:pt x="45" y="4"/>
                    </a:cubicBezTo>
                    <a:cubicBezTo>
                      <a:pt x="38" y="8"/>
                      <a:pt x="38" y="8"/>
                      <a:pt x="38" y="8"/>
                    </a:cubicBezTo>
                    <a:cubicBezTo>
                      <a:pt x="41" y="13"/>
                      <a:pt x="41" y="13"/>
                      <a:pt x="41" y="13"/>
                    </a:cubicBezTo>
                    <a:cubicBezTo>
                      <a:pt x="29" y="41"/>
                      <a:pt x="29" y="41"/>
                      <a:pt x="29" y="41"/>
                    </a:cubicBezTo>
                    <a:cubicBezTo>
                      <a:pt x="29" y="41"/>
                      <a:pt x="29" y="41"/>
                      <a:pt x="29" y="41"/>
                    </a:cubicBezTo>
                    <a:cubicBezTo>
                      <a:pt x="29" y="41"/>
                      <a:pt x="29" y="41"/>
                      <a:pt x="29" y="41"/>
                    </a:cubicBezTo>
                    <a:cubicBezTo>
                      <a:pt x="29" y="41"/>
                      <a:pt x="29" y="41"/>
                      <a:pt x="29" y="41"/>
                    </a:cubicBezTo>
                    <a:cubicBezTo>
                      <a:pt x="29" y="41"/>
                      <a:pt x="29" y="41"/>
                      <a:pt x="29" y="41"/>
                    </a:cubicBezTo>
                    <a:cubicBezTo>
                      <a:pt x="16" y="13"/>
                      <a:pt x="16" y="13"/>
                      <a:pt x="16" y="13"/>
                    </a:cubicBezTo>
                    <a:cubicBezTo>
                      <a:pt x="19" y="8"/>
                      <a:pt x="19" y="8"/>
                      <a:pt x="19" y="8"/>
                    </a:cubicBezTo>
                    <a:cubicBezTo>
                      <a:pt x="12" y="4"/>
                      <a:pt x="12" y="4"/>
                      <a:pt x="12" y="4"/>
                    </a:cubicBezTo>
                    <a:cubicBezTo>
                      <a:pt x="17" y="0"/>
                      <a:pt x="17" y="0"/>
                      <a:pt x="17" y="0"/>
                    </a:cubicBezTo>
                    <a:cubicBezTo>
                      <a:pt x="13" y="0"/>
                      <a:pt x="11" y="0"/>
                      <a:pt x="11" y="0"/>
                    </a:cubicBezTo>
                    <a:cubicBezTo>
                      <a:pt x="11" y="0"/>
                      <a:pt x="11" y="0"/>
                      <a:pt x="11" y="0"/>
                    </a:cubicBezTo>
                    <a:cubicBezTo>
                      <a:pt x="7" y="0"/>
                      <a:pt x="3" y="3"/>
                      <a:pt x="3" y="8"/>
                    </a:cubicBezTo>
                    <a:cubicBezTo>
                      <a:pt x="0" y="52"/>
                      <a:pt x="0" y="52"/>
                      <a:pt x="0" y="52"/>
                    </a:cubicBezTo>
                    <a:lnTo>
                      <a:pt x="1" y="5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6" name="Freeform 166">
                <a:extLst>
                  <a:ext uri="{FF2B5EF4-FFF2-40B4-BE49-F238E27FC236}">
                    <a16:creationId xmlns:a16="http://schemas.microsoft.com/office/drawing/2014/main" id="{BEBD6132-55E7-4CA8-9C34-D78B3B190E1E}"/>
                  </a:ext>
                </a:extLst>
              </p:cNvPr>
              <p:cNvSpPr/>
              <p:nvPr/>
            </p:nvSpPr>
            <p:spPr bwMode="auto">
              <a:xfrm>
                <a:off x="6019801" y="3633788"/>
                <a:ext cx="111125" cy="103188"/>
              </a:xfrm>
              <a:custGeom>
                <a:avLst/>
                <a:gdLst>
                  <a:gd name="T0" fmla="*/ 27 w 29"/>
                  <a:gd name="T1" fmla="*/ 0 h 27"/>
                  <a:gd name="T2" fmla="*/ 26 w 29"/>
                  <a:gd name="T3" fmla="*/ 0 h 27"/>
                  <a:gd name="T4" fmla="*/ 1 w 29"/>
                  <a:gd name="T5" fmla="*/ 24 h 27"/>
                  <a:gd name="T6" fmla="*/ 1 w 29"/>
                  <a:gd name="T7" fmla="*/ 27 h 27"/>
                  <a:gd name="T8" fmla="*/ 2 w 29"/>
                  <a:gd name="T9" fmla="*/ 27 h 27"/>
                  <a:gd name="T10" fmla="*/ 4 w 29"/>
                  <a:gd name="T11" fmla="*/ 27 h 27"/>
                  <a:gd name="T12" fmla="*/ 29 w 29"/>
                  <a:gd name="T13" fmla="*/ 3 h 27"/>
                  <a:gd name="T14" fmla="*/ 29 w 29"/>
                  <a:gd name="T15" fmla="*/ 0 h 27"/>
                  <a:gd name="T16" fmla="*/ 27 w 29"/>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27">
                    <a:moveTo>
                      <a:pt x="27" y="0"/>
                    </a:moveTo>
                    <a:cubicBezTo>
                      <a:pt x="26" y="0"/>
                      <a:pt x="26" y="0"/>
                      <a:pt x="26" y="0"/>
                    </a:cubicBezTo>
                    <a:cubicBezTo>
                      <a:pt x="1" y="24"/>
                      <a:pt x="1" y="24"/>
                      <a:pt x="1" y="24"/>
                    </a:cubicBezTo>
                    <a:cubicBezTo>
                      <a:pt x="0" y="25"/>
                      <a:pt x="0" y="26"/>
                      <a:pt x="1" y="27"/>
                    </a:cubicBezTo>
                    <a:cubicBezTo>
                      <a:pt x="1" y="27"/>
                      <a:pt x="2" y="27"/>
                      <a:pt x="2" y="27"/>
                    </a:cubicBezTo>
                    <a:cubicBezTo>
                      <a:pt x="3" y="27"/>
                      <a:pt x="3" y="27"/>
                      <a:pt x="4" y="27"/>
                    </a:cubicBezTo>
                    <a:cubicBezTo>
                      <a:pt x="29" y="3"/>
                      <a:pt x="29" y="3"/>
                      <a:pt x="29" y="3"/>
                    </a:cubicBezTo>
                    <a:cubicBezTo>
                      <a:pt x="29" y="3"/>
                      <a:pt x="29" y="1"/>
                      <a:pt x="29" y="0"/>
                    </a:cubicBezTo>
                    <a:cubicBezTo>
                      <a:pt x="28" y="0"/>
                      <a:pt x="28" y="0"/>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7" name="Freeform 167">
                <a:extLst>
                  <a:ext uri="{FF2B5EF4-FFF2-40B4-BE49-F238E27FC236}">
                    <a16:creationId xmlns:a16="http://schemas.microsoft.com/office/drawing/2014/main" id="{20B37B38-C020-45B9-9974-0E3BD142BD6C}"/>
                  </a:ext>
                </a:extLst>
              </p:cNvPr>
              <p:cNvSpPr>
                <a:spLocks noEditPoints="1"/>
              </p:cNvSpPr>
              <p:nvPr/>
            </p:nvSpPr>
            <p:spPr bwMode="auto">
              <a:xfrm>
                <a:off x="5967413" y="3448050"/>
                <a:ext cx="504825" cy="346075"/>
              </a:xfrm>
              <a:custGeom>
                <a:avLst/>
                <a:gdLst>
                  <a:gd name="T0" fmla="*/ 128 w 133"/>
                  <a:gd name="T1" fmla="*/ 4 h 91"/>
                  <a:gd name="T2" fmla="*/ 118 w 133"/>
                  <a:gd name="T3" fmla="*/ 0 h 91"/>
                  <a:gd name="T4" fmla="*/ 15 w 133"/>
                  <a:gd name="T5" fmla="*/ 0 h 91"/>
                  <a:gd name="T6" fmla="*/ 5 w 133"/>
                  <a:gd name="T7" fmla="*/ 4 h 91"/>
                  <a:gd name="T8" fmla="*/ 0 w 133"/>
                  <a:gd name="T9" fmla="*/ 17 h 91"/>
                  <a:gd name="T10" fmla="*/ 0 w 133"/>
                  <a:gd name="T11" fmla="*/ 75 h 91"/>
                  <a:gd name="T12" fmla="*/ 15 w 133"/>
                  <a:gd name="T13" fmla="*/ 91 h 91"/>
                  <a:gd name="T14" fmla="*/ 118 w 133"/>
                  <a:gd name="T15" fmla="*/ 91 h 91"/>
                  <a:gd name="T16" fmla="*/ 133 w 133"/>
                  <a:gd name="T17" fmla="*/ 75 h 91"/>
                  <a:gd name="T18" fmla="*/ 133 w 133"/>
                  <a:gd name="T19" fmla="*/ 17 h 91"/>
                  <a:gd name="T20" fmla="*/ 128 w 133"/>
                  <a:gd name="T21" fmla="*/ 4 h 91"/>
                  <a:gd name="T22" fmla="*/ 66 w 133"/>
                  <a:gd name="T23" fmla="*/ 50 h 91"/>
                  <a:gd name="T24" fmla="*/ 17 w 133"/>
                  <a:gd name="T25" fmla="*/ 10 h 91"/>
                  <a:gd name="T26" fmla="*/ 115 w 133"/>
                  <a:gd name="T27" fmla="*/ 10 h 91"/>
                  <a:gd name="T28" fmla="*/ 66 w 133"/>
                  <a:gd name="T29" fmla="*/ 50 h 91"/>
                  <a:gd name="T30" fmla="*/ 123 w 133"/>
                  <a:gd name="T31" fmla="*/ 75 h 91"/>
                  <a:gd name="T32" fmla="*/ 118 w 133"/>
                  <a:gd name="T33" fmla="*/ 80 h 91"/>
                  <a:gd name="T34" fmla="*/ 15 w 133"/>
                  <a:gd name="T35" fmla="*/ 80 h 91"/>
                  <a:gd name="T36" fmla="*/ 10 w 133"/>
                  <a:gd name="T37" fmla="*/ 75 h 91"/>
                  <a:gd name="T38" fmla="*/ 10 w 133"/>
                  <a:gd name="T39" fmla="*/ 17 h 91"/>
                  <a:gd name="T40" fmla="*/ 62 w 133"/>
                  <a:gd name="T41" fmla="*/ 60 h 91"/>
                  <a:gd name="T42" fmla="*/ 66 w 133"/>
                  <a:gd name="T43" fmla="*/ 61 h 91"/>
                  <a:gd name="T44" fmla="*/ 70 w 133"/>
                  <a:gd name="T45" fmla="*/ 60 h 91"/>
                  <a:gd name="T46" fmla="*/ 123 w 133"/>
                  <a:gd name="T47" fmla="*/ 17 h 91"/>
                  <a:gd name="T48" fmla="*/ 123 w 133"/>
                  <a:gd name="T49" fmla="*/ 75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3" h="91">
                    <a:moveTo>
                      <a:pt x="128" y="4"/>
                    </a:moveTo>
                    <a:cubicBezTo>
                      <a:pt x="125" y="1"/>
                      <a:pt x="121" y="0"/>
                      <a:pt x="118" y="0"/>
                    </a:cubicBezTo>
                    <a:cubicBezTo>
                      <a:pt x="15" y="0"/>
                      <a:pt x="15" y="0"/>
                      <a:pt x="15" y="0"/>
                    </a:cubicBezTo>
                    <a:cubicBezTo>
                      <a:pt x="12" y="0"/>
                      <a:pt x="8" y="1"/>
                      <a:pt x="5" y="4"/>
                    </a:cubicBezTo>
                    <a:cubicBezTo>
                      <a:pt x="3" y="6"/>
                      <a:pt x="0" y="11"/>
                      <a:pt x="0" y="17"/>
                    </a:cubicBezTo>
                    <a:cubicBezTo>
                      <a:pt x="0" y="75"/>
                      <a:pt x="0" y="75"/>
                      <a:pt x="0" y="75"/>
                    </a:cubicBezTo>
                    <a:cubicBezTo>
                      <a:pt x="0" y="84"/>
                      <a:pt x="7" y="91"/>
                      <a:pt x="15" y="91"/>
                    </a:cubicBezTo>
                    <a:cubicBezTo>
                      <a:pt x="118" y="91"/>
                      <a:pt x="118" y="91"/>
                      <a:pt x="118" y="91"/>
                    </a:cubicBezTo>
                    <a:cubicBezTo>
                      <a:pt x="126" y="91"/>
                      <a:pt x="133" y="84"/>
                      <a:pt x="133" y="75"/>
                    </a:cubicBezTo>
                    <a:cubicBezTo>
                      <a:pt x="133" y="17"/>
                      <a:pt x="133" y="17"/>
                      <a:pt x="133" y="17"/>
                    </a:cubicBezTo>
                    <a:cubicBezTo>
                      <a:pt x="133" y="11"/>
                      <a:pt x="130" y="6"/>
                      <a:pt x="128" y="4"/>
                    </a:cubicBezTo>
                    <a:close/>
                    <a:moveTo>
                      <a:pt x="66" y="50"/>
                    </a:moveTo>
                    <a:cubicBezTo>
                      <a:pt x="17" y="10"/>
                      <a:pt x="17" y="10"/>
                      <a:pt x="17" y="10"/>
                    </a:cubicBezTo>
                    <a:cubicBezTo>
                      <a:pt x="115" y="10"/>
                      <a:pt x="115" y="10"/>
                      <a:pt x="115" y="10"/>
                    </a:cubicBezTo>
                    <a:lnTo>
                      <a:pt x="66" y="50"/>
                    </a:lnTo>
                    <a:close/>
                    <a:moveTo>
                      <a:pt x="123" y="75"/>
                    </a:moveTo>
                    <a:cubicBezTo>
                      <a:pt x="123" y="78"/>
                      <a:pt x="120" y="80"/>
                      <a:pt x="118" y="80"/>
                    </a:cubicBezTo>
                    <a:cubicBezTo>
                      <a:pt x="15" y="80"/>
                      <a:pt x="15" y="80"/>
                      <a:pt x="15" y="80"/>
                    </a:cubicBezTo>
                    <a:cubicBezTo>
                      <a:pt x="12" y="80"/>
                      <a:pt x="10" y="78"/>
                      <a:pt x="10" y="75"/>
                    </a:cubicBezTo>
                    <a:cubicBezTo>
                      <a:pt x="10" y="17"/>
                      <a:pt x="10" y="17"/>
                      <a:pt x="10" y="17"/>
                    </a:cubicBezTo>
                    <a:cubicBezTo>
                      <a:pt x="62" y="60"/>
                      <a:pt x="62" y="60"/>
                      <a:pt x="62" y="60"/>
                    </a:cubicBezTo>
                    <a:cubicBezTo>
                      <a:pt x="64" y="61"/>
                      <a:pt x="65" y="61"/>
                      <a:pt x="66" y="61"/>
                    </a:cubicBezTo>
                    <a:cubicBezTo>
                      <a:pt x="68" y="61"/>
                      <a:pt x="69" y="61"/>
                      <a:pt x="70" y="60"/>
                    </a:cubicBezTo>
                    <a:cubicBezTo>
                      <a:pt x="123" y="17"/>
                      <a:pt x="123" y="17"/>
                      <a:pt x="123" y="17"/>
                    </a:cubicBezTo>
                    <a:lnTo>
                      <a:pt x="123" y="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8" name="Freeform 168">
                <a:extLst>
                  <a:ext uri="{FF2B5EF4-FFF2-40B4-BE49-F238E27FC236}">
                    <a16:creationId xmlns:a16="http://schemas.microsoft.com/office/drawing/2014/main" id="{2C1234A7-26C6-4F13-B659-C466C5215F7E}"/>
                  </a:ext>
                </a:extLst>
              </p:cNvPr>
              <p:cNvSpPr/>
              <p:nvPr/>
            </p:nvSpPr>
            <p:spPr bwMode="auto">
              <a:xfrm>
                <a:off x="6305551" y="3633788"/>
                <a:ext cx="114300" cy="103188"/>
              </a:xfrm>
              <a:custGeom>
                <a:avLst/>
                <a:gdLst>
                  <a:gd name="T0" fmla="*/ 26 w 30"/>
                  <a:gd name="T1" fmla="*/ 27 h 27"/>
                  <a:gd name="T2" fmla="*/ 28 w 30"/>
                  <a:gd name="T3" fmla="*/ 27 h 27"/>
                  <a:gd name="T4" fmla="*/ 29 w 30"/>
                  <a:gd name="T5" fmla="*/ 27 h 27"/>
                  <a:gd name="T6" fmla="*/ 29 w 30"/>
                  <a:gd name="T7" fmla="*/ 24 h 27"/>
                  <a:gd name="T8" fmla="*/ 4 w 30"/>
                  <a:gd name="T9" fmla="*/ 0 h 27"/>
                  <a:gd name="T10" fmla="*/ 3 w 30"/>
                  <a:gd name="T11" fmla="*/ 0 h 27"/>
                  <a:gd name="T12" fmla="*/ 1 w 30"/>
                  <a:gd name="T13" fmla="*/ 0 h 27"/>
                  <a:gd name="T14" fmla="*/ 1 w 30"/>
                  <a:gd name="T15" fmla="*/ 3 h 27"/>
                  <a:gd name="T16" fmla="*/ 26 w 30"/>
                  <a:gd name="T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7">
                    <a:moveTo>
                      <a:pt x="26" y="27"/>
                    </a:moveTo>
                    <a:cubicBezTo>
                      <a:pt x="26" y="27"/>
                      <a:pt x="27" y="27"/>
                      <a:pt x="28" y="27"/>
                    </a:cubicBezTo>
                    <a:cubicBezTo>
                      <a:pt x="28" y="27"/>
                      <a:pt x="29" y="27"/>
                      <a:pt x="29" y="27"/>
                    </a:cubicBezTo>
                    <a:cubicBezTo>
                      <a:pt x="30" y="26"/>
                      <a:pt x="30" y="25"/>
                      <a:pt x="29" y="24"/>
                    </a:cubicBezTo>
                    <a:cubicBezTo>
                      <a:pt x="4" y="0"/>
                      <a:pt x="4" y="0"/>
                      <a:pt x="4" y="0"/>
                    </a:cubicBezTo>
                    <a:cubicBezTo>
                      <a:pt x="4" y="0"/>
                      <a:pt x="3" y="0"/>
                      <a:pt x="3" y="0"/>
                    </a:cubicBezTo>
                    <a:cubicBezTo>
                      <a:pt x="2" y="0"/>
                      <a:pt x="2" y="0"/>
                      <a:pt x="1" y="0"/>
                    </a:cubicBezTo>
                    <a:cubicBezTo>
                      <a:pt x="0" y="1"/>
                      <a:pt x="0" y="3"/>
                      <a:pt x="1" y="3"/>
                    </a:cubicBezTo>
                    <a:lnTo>
                      <a:pt x="26" y="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9" name="Freeform 169">
                <a:extLst>
                  <a:ext uri="{FF2B5EF4-FFF2-40B4-BE49-F238E27FC236}">
                    <a16:creationId xmlns:a16="http://schemas.microsoft.com/office/drawing/2014/main" id="{1019D8C7-0C18-438D-9A4C-3E06C9220552}"/>
                  </a:ext>
                </a:extLst>
              </p:cNvPr>
              <p:cNvSpPr/>
              <p:nvPr/>
            </p:nvSpPr>
            <p:spPr bwMode="auto">
              <a:xfrm>
                <a:off x="6016626" y="3413125"/>
                <a:ext cx="79375" cy="57150"/>
              </a:xfrm>
              <a:custGeom>
                <a:avLst/>
                <a:gdLst>
                  <a:gd name="T0" fmla="*/ 1 w 21"/>
                  <a:gd name="T1" fmla="*/ 15 h 15"/>
                  <a:gd name="T2" fmla="*/ 21 w 21"/>
                  <a:gd name="T3" fmla="*/ 14 h 15"/>
                  <a:gd name="T4" fmla="*/ 20 w 21"/>
                  <a:gd name="T5" fmla="*/ 0 h 15"/>
                  <a:gd name="T6" fmla="*/ 0 w 21"/>
                  <a:gd name="T7" fmla="*/ 0 h 15"/>
                  <a:gd name="T8" fmla="*/ 1 w 21"/>
                  <a:gd name="T9" fmla="*/ 15 h 15"/>
                </a:gdLst>
                <a:ahLst/>
                <a:cxnLst>
                  <a:cxn ang="0">
                    <a:pos x="T0" y="T1"/>
                  </a:cxn>
                  <a:cxn ang="0">
                    <a:pos x="T2" y="T3"/>
                  </a:cxn>
                  <a:cxn ang="0">
                    <a:pos x="T4" y="T5"/>
                  </a:cxn>
                  <a:cxn ang="0">
                    <a:pos x="T6" y="T7"/>
                  </a:cxn>
                  <a:cxn ang="0">
                    <a:pos x="T8" y="T9"/>
                  </a:cxn>
                </a:cxnLst>
                <a:rect l="0" t="0" r="r" b="b"/>
                <a:pathLst>
                  <a:path w="21" h="15">
                    <a:moveTo>
                      <a:pt x="1" y="15"/>
                    </a:moveTo>
                    <a:cubicBezTo>
                      <a:pt x="8" y="15"/>
                      <a:pt x="14" y="14"/>
                      <a:pt x="21" y="14"/>
                    </a:cubicBezTo>
                    <a:cubicBezTo>
                      <a:pt x="20" y="8"/>
                      <a:pt x="20" y="4"/>
                      <a:pt x="20" y="0"/>
                    </a:cubicBezTo>
                    <a:cubicBezTo>
                      <a:pt x="0" y="0"/>
                      <a:pt x="0" y="0"/>
                      <a:pt x="0" y="0"/>
                    </a:cubicBezTo>
                    <a:cubicBezTo>
                      <a:pt x="1" y="5"/>
                      <a:pt x="1" y="11"/>
                      <a:pt x="1"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sp>
        <p:nvSpPr>
          <p:cNvPr id="2" name="标题 1"/>
          <p:cNvSpPr>
            <a:spLocks noGrp="1"/>
          </p:cNvSpPr>
          <p:nvPr>
            <p:ph type="ctrTitle"/>
          </p:nvPr>
        </p:nvSpPr>
        <p:spPr>
          <a:xfrm>
            <a:off x="1524001" y="1122365"/>
            <a:ext cx="9477375" cy="2261733"/>
          </a:xfrm>
        </p:spPr>
        <p:txBody>
          <a:bodyPr anchor="b"/>
          <a:lstStyle>
            <a:lvl1pPr algn="ctr">
              <a:defRPr sz="4500">
                <a:solidFill>
                  <a:schemeClr val="bg1"/>
                </a:solidFill>
              </a:defRPr>
            </a:lvl1pPr>
          </a:lstStyle>
          <a:p>
            <a:r>
              <a:rPr lang="zh-CN" altLang="en-US"/>
              <a:t>单击此处编辑母版标题样式</a:t>
            </a:r>
          </a:p>
        </p:txBody>
      </p:sp>
    </p:spTree>
    <p:extLst>
      <p:ext uri="{BB962C8B-B14F-4D97-AF65-F5344CB8AC3E}">
        <p14:creationId xmlns:p14="http://schemas.microsoft.com/office/powerpoint/2010/main" val="3626888365"/>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 presetClass="entr" presetSubtype="4" accel="22000" fill="hold" nodeType="withEffect" p14:presetBounceEnd="20000">
                                      <p:stCondLst>
                                        <p:cond delay="2200"/>
                                      </p:stCondLst>
                                      <p:childTnLst>
                                        <p:set>
                                          <p:cBhvr>
                                            <p:cTn id="9" dur="1" fill="hold">
                                              <p:stCondLst>
                                                <p:cond delay="0"/>
                                              </p:stCondLst>
                                            </p:cTn>
                                            <p:tgtEl>
                                              <p:spTgt spid="8"/>
                                            </p:tgtEl>
                                            <p:attrNameLst>
                                              <p:attrName>style.visibility</p:attrName>
                                            </p:attrNameLst>
                                          </p:cBhvr>
                                          <p:to>
                                            <p:strVal val="visible"/>
                                          </p:to>
                                        </p:set>
                                        <p:anim calcmode="lin" valueType="num" p14:bounceEnd="20000">
                                          <p:cBhvr additive="base">
                                            <p:cTn id="10" dur="500" fill="hold"/>
                                            <p:tgtEl>
                                              <p:spTgt spid="8"/>
                                            </p:tgtEl>
                                            <p:attrNameLst>
                                              <p:attrName>ppt_x</p:attrName>
                                            </p:attrNameLst>
                                          </p:cBhvr>
                                          <p:tavLst>
                                            <p:tav tm="0">
                                              <p:val>
                                                <p:strVal val="#ppt_x"/>
                                              </p:val>
                                            </p:tav>
                                            <p:tav tm="100000">
                                              <p:val>
                                                <p:strVal val="#ppt_x"/>
                                              </p:val>
                                            </p:tav>
                                          </p:tavLst>
                                        </p:anim>
                                        <p:anim calcmode="lin" valueType="num" p14:bounceEnd="20000">
                                          <p:cBhvr additive="base">
                                            <p:cTn id="11" dur="500" fill="hold"/>
                                            <p:tgtEl>
                                              <p:spTgt spid="8"/>
                                            </p:tgtEl>
                                            <p:attrNameLst>
                                              <p:attrName>ppt_y</p:attrName>
                                            </p:attrNameLst>
                                          </p:cBhvr>
                                          <p:tavLst>
                                            <p:tav tm="0">
                                              <p:val>
                                                <p:strVal val="1+#ppt_h/2"/>
                                              </p:val>
                                            </p:tav>
                                            <p:tav tm="100000">
                                              <p:val>
                                                <p:strVal val="#ppt_y"/>
                                              </p:val>
                                            </p:tav>
                                          </p:tavLst>
                                        </p:anim>
                                      </p:childTnLst>
                                    </p:cTn>
                                  </p:par>
                                  <p:par>
                                    <p:cTn id="12" presetID="2" presetClass="entr" presetSubtype="4" accel="22000" fill="hold" nodeType="withEffect" p14:presetBounceEnd="20000">
                                      <p:stCondLst>
                                        <p:cond delay="2400"/>
                                      </p:stCondLst>
                                      <p:childTnLst>
                                        <p:set>
                                          <p:cBhvr>
                                            <p:cTn id="13" dur="1" fill="hold">
                                              <p:stCondLst>
                                                <p:cond delay="0"/>
                                              </p:stCondLst>
                                            </p:cTn>
                                            <p:tgtEl>
                                              <p:spTgt spid="28"/>
                                            </p:tgtEl>
                                            <p:attrNameLst>
                                              <p:attrName>style.visibility</p:attrName>
                                            </p:attrNameLst>
                                          </p:cBhvr>
                                          <p:to>
                                            <p:strVal val="visible"/>
                                          </p:to>
                                        </p:set>
                                        <p:anim calcmode="lin" valueType="num" p14:bounceEnd="20000">
                                          <p:cBhvr additive="base">
                                            <p:cTn id="14" dur="500" fill="hold"/>
                                            <p:tgtEl>
                                              <p:spTgt spid="28"/>
                                            </p:tgtEl>
                                            <p:attrNameLst>
                                              <p:attrName>ppt_x</p:attrName>
                                            </p:attrNameLst>
                                          </p:cBhvr>
                                          <p:tavLst>
                                            <p:tav tm="0">
                                              <p:val>
                                                <p:strVal val="#ppt_x"/>
                                              </p:val>
                                            </p:tav>
                                            <p:tav tm="100000">
                                              <p:val>
                                                <p:strVal val="#ppt_x"/>
                                              </p:val>
                                            </p:tav>
                                          </p:tavLst>
                                        </p:anim>
                                        <p:anim calcmode="lin" valueType="num" p14:bounceEnd="20000">
                                          <p:cBhvr additive="base">
                                            <p:cTn id="15" dur="500" fill="hold"/>
                                            <p:tgtEl>
                                              <p:spTgt spid="28"/>
                                            </p:tgtEl>
                                            <p:attrNameLst>
                                              <p:attrName>ppt_y</p:attrName>
                                            </p:attrNameLst>
                                          </p:cBhvr>
                                          <p:tavLst>
                                            <p:tav tm="0">
                                              <p:val>
                                                <p:strVal val="1+#ppt_h/2"/>
                                              </p:val>
                                            </p:tav>
                                            <p:tav tm="100000">
                                              <p:val>
                                                <p:strVal val="#ppt_y"/>
                                              </p:val>
                                            </p:tav>
                                          </p:tavLst>
                                        </p:anim>
                                      </p:childTnLst>
                                    </p:cTn>
                                  </p:par>
                                  <p:par>
                                    <p:cTn id="16" presetID="2" presetClass="entr" presetSubtype="4" accel="22000" fill="hold" nodeType="withEffect" p14:presetBounceEnd="20000">
                                      <p:stCondLst>
                                        <p:cond delay="2600"/>
                                      </p:stCondLst>
                                      <p:childTnLst>
                                        <p:set>
                                          <p:cBhvr>
                                            <p:cTn id="17" dur="1" fill="hold">
                                              <p:stCondLst>
                                                <p:cond delay="0"/>
                                              </p:stCondLst>
                                            </p:cTn>
                                            <p:tgtEl>
                                              <p:spTgt spid="38"/>
                                            </p:tgtEl>
                                            <p:attrNameLst>
                                              <p:attrName>style.visibility</p:attrName>
                                            </p:attrNameLst>
                                          </p:cBhvr>
                                          <p:to>
                                            <p:strVal val="visible"/>
                                          </p:to>
                                        </p:set>
                                        <p:anim calcmode="lin" valueType="num" p14:bounceEnd="20000">
                                          <p:cBhvr additive="base">
                                            <p:cTn id="18" dur="500" fill="hold"/>
                                            <p:tgtEl>
                                              <p:spTgt spid="38"/>
                                            </p:tgtEl>
                                            <p:attrNameLst>
                                              <p:attrName>ppt_x</p:attrName>
                                            </p:attrNameLst>
                                          </p:cBhvr>
                                          <p:tavLst>
                                            <p:tav tm="0">
                                              <p:val>
                                                <p:strVal val="#ppt_x"/>
                                              </p:val>
                                            </p:tav>
                                            <p:tav tm="100000">
                                              <p:val>
                                                <p:strVal val="#ppt_x"/>
                                              </p:val>
                                            </p:tav>
                                          </p:tavLst>
                                        </p:anim>
                                        <p:anim calcmode="lin" valueType="num" p14:bounceEnd="20000">
                                          <p:cBhvr additive="base">
                                            <p:cTn id="19" dur="500" fill="hold"/>
                                            <p:tgtEl>
                                              <p:spTgt spid="38"/>
                                            </p:tgtEl>
                                            <p:attrNameLst>
                                              <p:attrName>ppt_y</p:attrName>
                                            </p:attrNameLst>
                                          </p:cBhvr>
                                          <p:tavLst>
                                            <p:tav tm="0">
                                              <p:val>
                                                <p:strVal val="1+#ppt_h/2"/>
                                              </p:val>
                                            </p:tav>
                                            <p:tav tm="100000">
                                              <p:val>
                                                <p:strVal val="#ppt_y"/>
                                              </p:val>
                                            </p:tav>
                                          </p:tavLst>
                                        </p:anim>
                                      </p:childTnLst>
                                    </p:cTn>
                                  </p:par>
                                  <p:par>
                                    <p:cTn id="20" presetID="2" presetClass="entr" presetSubtype="4" accel="22000" fill="hold" nodeType="withEffect" p14:presetBounceEnd="20000">
                                      <p:stCondLst>
                                        <p:cond delay="2800"/>
                                      </p:stCondLst>
                                      <p:childTnLst>
                                        <p:set>
                                          <p:cBhvr>
                                            <p:cTn id="21" dur="1" fill="hold">
                                              <p:stCondLst>
                                                <p:cond delay="0"/>
                                              </p:stCondLst>
                                            </p:cTn>
                                            <p:tgtEl>
                                              <p:spTgt spid="46"/>
                                            </p:tgtEl>
                                            <p:attrNameLst>
                                              <p:attrName>style.visibility</p:attrName>
                                            </p:attrNameLst>
                                          </p:cBhvr>
                                          <p:to>
                                            <p:strVal val="visible"/>
                                          </p:to>
                                        </p:set>
                                        <p:anim calcmode="lin" valueType="num" p14:bounceEnd="20000">
                                          <p:cBhvr additive="base">
                                            <p:cTn id="22" dur="500" fill="hold"/>
                                            <p:tgtEl>
                                              <p:spTgt spid="46"/>
                                            </p:tgtEl>
                                            <p:attrNameLst>
                                              <p:attrName>ppt_x</p:attrName>
                                            </p:attrNameLst>
                                          </p:cBhvr>
                                          <p:tavLst>
                                            <p:tav tm="0">
                                              <p:val>
                                                <p:strVal val="#ppt_x"/>
                                              </p:val>
                                            </p:tav>
                                            <p:tav tm="100000">
                                              <p:val>
                                                <p:strVal val="#ppt_x"/>
                                              </p:val>
                                            </p:tav>
                                          </p:tavLst>
                                        </p:anim>
                                        <p:anim calcmode="lin" valueType="num" p14:bounceEnd="20000">
                                          <p:cBhvr additive="base">
                                            <p:cTn id="23" dur="500" fill="hold"/>
                                            <p:tgtEl>
                                              <p:spTgt spid="46"/>
                                            </p:tgtEl>
                                            <p:attrNameLst>
                                              <p:attrName>ppt_y</p:attrName>
                                            </p:attrNameLst>
                                          </p:cBhvr>
                                          <p:tavLst>
                                            <p:tav tm="0">
                                              <p:val>
                                                <p:strVal val="1+#ppt_h/2"/>
                                              </p:val>
                                            </p:tav>
                                            <p:tav tm="100000">
                                              <p:val>
                                                <p:strVal val="#ppt_y"/>
                                              </p:val>
                                            </p:tav>
                                          </p:tavLst>
                                        </p:anim>
                                      </p:childTnLst>
                                    </p:cTn>
                                  </p:par>
                                  <p:par>
                                    <p:cTn id="24" presetID="2" presetClass="entr" presetSubtype="4" accel="22000" fill="hold" nodeType="withEffect" p14:presetBounceEnd="20000">
                                      <p:stCondLst>
                                        <p:cond delay="3000"/>
                                      </p:stCondLst>
                                      <p:childTnLst>
                                        <p:set>
                                          <p:cBhvr>
                                            <p:cTn id="25" dur="1" fill="hold">
                                              <p:stCondLst>
                                                <p:cond delay="0"/>
                                              </p:stCondLst>
                                            </p:cTn>
                                            <p:tgtEl>
                                              <p:spTgt spid="51"/>
                                            </p:tgtEl>
                                            <p:attrNameLst>
                                              <p:attrName>style.visibility</p:attrName>
                                            </p:attrNameLst>
                                          </p:cBhvr>
                                          <p:to>
                                            <p:strVal val="visible"/>
                                          </p:to>
                                        </p:set>
                                        <p:anim calcmode="lin" valueType="num" p14:bounceEnd="20000">
                                          <p:cBhvr additive="base">
                                            <p:cTn id="26" dur="500" fill="hold"/>
                                            <p:tgtEl>
                                              <p:spTgt spid="51"/>
                                            </p:tgtEl>
                                            <p:attrNameLst>
                                              <p:attrName>ppt_x</p:attrName>
                                            </p:attrNameLst>
                                          </p:cBhvr>
                                          <p:tavLst>
                                            <p:tav tm="0">
                                              <p:val>
                                                <p:strVal val="#ppt_x"/>
                                              </p:val>
                                            </p:tav>
                                            <p:tav tm="100000">
                                              <p:val>
                                                <p:strVal val="#ppt_x"/>
                                              </p:val>
                                            </p:tav>
                                          </p:tavLst>
                                        </p:anim>
                                        <p:anim calcmode="lin" valueType="num" p14:bounceEnd="20000">
                                          <p:cBhvr additive="base">
                                            <p:cTn id="27"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 presetClass="entr" presetSubtype="4" accel="22000" fill="hold" nodeType="withEffect">
                                      <p:stCondLst>
                                        <p:cond delay="220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500" fill="hold"/>
                                            <p:tgtEl>
                                              <p:spTgt spid="8"/>
                                            </p:tgtEl>
                                            <p:attrNameLst>
                                              <p:attrName>ppt_x</p:attrName>
                                            </p:attrNameLst>
                                          </p:cBhvr>
                                          <p:tavLst>
                                            <p:tav tm="0">
                                              <p:val>
                                                <p:strVal val="#ppt_x"/>
                                              </p:val>
                                            </p:tav>
                                            <p:tav tm="100000">
                                              <p:val>
                                                <p:strVal val="#ppt_x"/>
                                              </p:val>
                                            </p:tav>
                                          </p:tavLst>
                                        </p:anim>
                                        <p:anim calcmode="lin" valueType="num">
                                          <p:cBhvr additive="base">
                                            <p:cTn id="11" dur="500" fill="hold"/>
                                            <p:tgtEl>
                                              <p:spTgt spid="8"/>
                                            </p:tgtEl>
                                            <p:attrNameLst>
                                              <p:attrName>ppt_y</p:attrName>
                                            </p:attrNameLst>
                                          </p:cBhvr>
                                          <p:tavLst>
                                            <p:tav tm="0">
                                              <p:val>
                                                <p:strVal val="1+#ppt_h/2"/>
                                              </p:val>
                                            </p:tav>
                                            <p:tav tm="100000">
                                              <p:val>
                                                <p:strVal val="#ppt_y"/>
                                              </p:val>
                                            </p:tav>
                                          </p:tavLst>
                                        </p:anim>
                                      </p:childTnLst>
                                    </p:cTn>
                                  </p:par>
                                  <p:par>
                                    <p:cTn id="12" presetID="2" presetClass="entr" presetSubtype="4" accel="22000" fill="hold" nodeType="withEffect">
                                      <p:stCondLst>
                                        <p:cond delay="2400"/>
                                      </p:stCondLst>
                                      <p:childTnLst>
                                        <p:set>
                                          <p:cBhvr>
                                            <p:cTn id="13" dur="1" fill="hold">
                                              <p:stCondLst>
                                                <p:cond delay="0"/>
                                              </p:stCondLst>
                                            </p:cTn>
                                            <p:tgtEl>
                                              <p:spTgt spid="28"/>
                                            </p:tgtEl>
                                            <p:attrNameLst>
                                              <p:attrName>style.visibility</p:attrName>
                                            </p:attrNameLst>
                                          </p:cBhvr>
                                          <p:to>
                                            <p:strVal val="visible"/>
                                          </p:to>
                                        </p:set>
                                        <p:anim calcmode="lin" valueType="num">
                                          <p:cBhvr additive="base">
                                            <p:cTn id="14" dur="500" fill="hold"/>
                                            <p:tgtEl>
                                              <p:spTgt spid="28"/>
                                            </p:tgtEl>
                                            <p:attrNameLst>
                                              <p:attrName>ppt_x</p:attrName>
                                            </p:attrNameLst>
                                          </p:cBhvr>
                                          <p:tavLst>
                                            <p:tav tm="0">
                                              <p:val>
                                                <p:strVal val="#ppt_x"/>
                                              </p:val>
                                            </p:tav>
                                            <p:tav tm="100000">
                                              <p:val>
                                                <p:strVal val="#ppt_x"/>
                                              </p:val>
                                            </p:tav>
                                          </p:tavLst>
                                        </p:anim>
                                        <p:anim calcmode="lin" valueType="num">
                                          <p:cBhvr additive="base">
                                            <p:cTn id="15" dur="500" fill="hold"/>
                                            <p:tgtEl>
                                              <p:spTgt spid="28"/>
                                            </p:tgtEl>
                                            <p:attrNameLst>
                                              <p:attrName>ppt_y</p:attrName>
                                            </p:attrNameLst>
                                          </p:cBhvr>
                                          <p:tavLst>
                                            <p:tav tm="0">
                                              <p:val>
                                                <p:strVal val="1+#ppt_h/2"/>
                                              </p:val>
                                            </p:tav>
                                            <p:tav tm="100000">
                                              <p:val>
                                                <p:strVal val="#ppt_y"/>
                                              </p:val>
                                            </p:tav>
                                          </p:tavLst>
                                        </p:anim>
                                      </p:childTnLst>
                                    </p:cTn>
                                  </p:par>
                                  <p:par>
                                    <p:cTn id="16" presetID="2" presetClass="entr" presetSubtype="4" accel="22000" fill="hold" nodeType="withEffect">
                                      <p:stCondLst>
                                        <p:cond delay="2600"/>
                                      </p:stCondLst>
                                      <p:childTnLst>
                                        <p:set>
                                          <p:cBhvr>
                                            <p:cTn id="17" dur="1" fill="hold">
                                              <p:stCondLst>
                                                <p:cond delay="0"/>
                                              </p:stCondLst>
                                            </p:cTn>
                                            <p:tgtEl>
                                              <p:spTgt spid="38"/>
                                            </p:tgtEl>
                                            <p:attrNameLst>
                                              <p:attrName>style.visibility</p:attrName>
                                            </p:attrNameLst>
                                          </p:cBhvr>
                                          <p:to>
                                            <p:strVal val="visible"/>
                                          </p:to>
                                        </p:set>
                                        <p:anim calcmode="lin" valueType="num">
                                          <p:cBhvr additive="base">
                                            <p:cTn id="18" dur="500" fill="hold"/>
                                            <p:tgtEl>
                                              <p:spTgt spid="38"/>
                                            </p:tgtEl>
                                            <p:attrNameLst>
                                              <p:attrName>ppt_x</p:attrName>
                                            </p:attrNameLst>
                                          </p:cBhvr>
                                          <p:tavLst>
                                            <p:tav tm="0">
                                              <p:val>
                                                <p:strVal val="#ppt_x"/>
                                              </p:val>
                                            </p:tav>
                                            <p:tav tm="100000">
                                              <p:val>
                                                <p:strVal val="#ppt_x"/>
                                              </p:val>
                                            </p:tav>
                                          </p:tavLst>
                                        </p:anim>
                                        <p:anim calcmode="lin" valueType="num">
                                          <p:cBhvr additive="base">
                                            <p:cTn id="19" dur="500" fill="hold"/>
                                            <p:tgtEl>
                                              <p:spTgt spid="38"/>
                                            </p:tgtEl>
                                            <p:attrNameLst>
                                              <p:attrName>ppt_y</p:attrName>
                                            </p:attrNameLst>
                                          </p:cBhvr>
                                          <p:tavLst>
                                            <p:tav tm="0">
                                              <p:val>
                                                <p:strVal val="1+#ppt_h/2"/>
                                              </p:val>
                                            </p:tav>
                                            <p:tav tm="100000">
                                              <p:val>
                                                <p:strVal val="#ppt_y"/>
                                              </p:val>
                                            </p:tav>
                                          </p:tavLst>
                                        </p:anim>
                                      </p:childTnLst>
                                    </p:cTn>
                                  </p:par>
                                  <p:par>
                                    <p:cTn id="20" presetID="2" presetClass="entr" presetSubtype="4" accel="22000" fill="hold" nodeType="withEffect">
                                      <p:stCondLst>
                                        <p:cond delay="2800"/>
                                      </p:stCondLst>
                                      <p:childTnLst>
                                        <p:set>
                                          <p:cBhvr>
                                            <p:cTn id="21" dur="1" fill="hold">
                                              <p:stCondLst>
                                                <p:cond delay="0"/>
                                              </p:stCondLst>
                                            </p:cTn>
                                            <p:tgtEl>
                                              <p:spTgt spid="46"/>
                                            </p:tgtEl>
                                            <p:attrNameLst>
                                              <p:attrName>style.visibility</p:attrName>
                                            </p:attrNameLst>
                                          </p:cBhvr>
                                          <p:to>
                                            <p:strVal val="visible"/>
                                          </p:to>
                                        </p:set>
                                        <p:anim calcmode="lin" valueType="num">
                                          <p:cBhvr additive="base">
                                            <p:cTn id="22" dur="500" fill="hold"/>
                                            <p:tgtEl>
                                              <p:spTgt spid="46"/>
                                            </p:tgtEl>
                                            <p:attrNameLst>
                                              <p:attrName>ppt_x</p:attrName>
                                            </p:attrNameLst>
                                          </p:cBhvr>
                                          <p:tavLst>
                                            <p:tav tm="0">
                                              <p:val>
                                                <p:strVal val="#ppt_x"/>
                                              </p:val>
                                            </p:tav>
                                            <p:tav tm="100000">
                                              <p:val>
                                                <p:strVal val="#ppt_x"/>
                                              </p:val>
                                            </p:tav>
                                          </p:tavLst>
                                        </p:anim>
                                        <p:anim calcmode="lin" valueType="num">
                                          <p:cBhvr additive="base">
                                            <p:cTn id="23" dur="500" fill="hold"/>
                                            <p:tgtEl>
                                              <p:spTgt spid="46"/>
                                            </p:tgtEl>
                                            <p:attrNameLst>
                                              <p:attrName>ppt_y</p:attrName>
                                            </p:attrNameLst>
                                          </p:cBhvr>
                                          <p:tavLst>
                                            <p:tav tm="0">
                                              <p:val>
                                                <p:strVal val="1+#ppt_h/2"/>
                                              </p:val>
                                            </p:tav>
                                            <p:tav tm="100000">
                                              <p:val>
                                                <p:strVal val="#ppt_y"/>
                                              </p:val>
                                            </p:tav>
                                          </p:tavLst>
                                        </p:anim>
                                      </p:childTnLst>
                                    </p:cTn>
                                  </p:par>
                                  <p:par>
                                    <p:cTn id="24" presetID="2" presetClass="entr" presetSubtype="4" accel="22000" fill="hold" nodeType="withEffect">
                                      <p:stCondLst>
                                        <p:cond delay="3000"/>
                                      </p:stCondLst>
                                      <p:childTnLst>
                                        <p:set>
                                          <p:cBhvr>
                                            <p:cTn id="25" dur="1" fill="hold">
                                              <p:stCondLst>
                                                <p:cond delay="0"/>
                                              </p:stCondLst>
                                            </p:cTn>
                                            <p:tgtEl>
                                              <p:spTgt spid="51"/>
                                            </p:tgtEl>
                                            <p:attrNameLst>
                                              <p:attrName>style.visibility</p:attrName>
                                            </p:attrNameLst>
                                          </p:cBhvr>
                                          <p:to>
                                            <p:strVal val="visible"/>
                                          </p:to>
                                        </p:set>
                                        <p:anim calcmode="lin" valueType="num">
                                          <p:cBhvr additive="base">
                                            <p:cTn id="26" dur="500" fill="hold"/>
                                            <p:tgtEl>
                                              <p:spTgt spid="51"/>
                                            </p:tgtEl>
                                            <p:attrNameLst>
                                              <p:attrName>ppt_x</p:attrName>
                                            </p:attrNameLst>
                                          </p:cBhvr>
                                          <p:tavLst>
                                            <p:tav tm="0">
                                              <p:val>
                                                <p:strVal val="#ppt_x"/>
                                              </p:val>
                                            </p:tav>
                                            <p:tav tm="100000">
                                              <p:val>
                                                <p:strVal val="#ppt_x"/>
                                              </p:val>
                                            </p:tav>
                                          </p:tavLst>
                                        </p:anim>
                                        <p:anim calcmode="lin" valueType="num">
                                          <p:cBhvr additive="base">
                                            <p:cTn id="27"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281794" y="238579"/>
            <a:ext cx="9553575" cy="512536"/>
          </a:xfrm>
        </p:spPr>
        <p:txBody>
          <a:bodyPr>
            <a:noAutofit/>
          </a:bodyPr>
          <a:lstStyle>
            <a:lvl1pPr>
              <a:defRPr sz="3000" b="0">
                <a:solidFill>
                  <a:schemeClr val="accent1"/>
                </a:solidFill>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838200" y="1147084"/>
            <a:ext cx="10515600" cy="5233307"/>
          </a:xfrm>
        </p:spPr>
        <p:txBody>
          <a:bodyPr>
            <a:normAutofit/>
          </a:bodyPr>
          <a:lstStyle>
            <a:lvl1pPr>
              <a:lnSpc>
                <a:spcPct val="100000"/>
              </a:lnSpc>
              <a:spcBef>
                <a:spcPts val="450"/>
              </a:spcBef>
              <a:spcAft>
                <a:spcPts val="450"/>
              </a:spcAft>
              <a:defRPr sz="2400"/>
            </a:lvl1pPr>
            <a:lvl2pPr>
              <a:lnSpc>
                <a:spcPct val="100000"/>
              </a:lnSpc>
              <a:spcBef>
                <a:spcPts val="450"/>
              </a:spcBef>
              <a:spcAft>
                <a:spcPts val="450"/>
              </a:spcAft>
              <a:defRPr sz="2000"/>
            </a:lvl2pPr>
            <a:lvl3pPr>
              <a:lnSpc>
                <a:spcPct val="100000"/>
              </a:lnSpc>
              <a:spcBef>
                <a:spcPts val="450"/>
              </a:spcBef>
              <a:spcAft>
                <a:spcPts val="450"/>
              </a:spcAft>
              <a:defRPr sz="1800"/>
            </a:lvl3pPr>
            <a:lvl4pPr>
              <a:lnSpc>
                <a:spcPct val="100000"/>
              </a:lnSpc>
              <a:spcBef>
                <a:spcPts val="450"/>
              </a:spcBef>
              <a:spcAft>
                <a:spcPts val="450"/>
              </a:spcAft>
              <a:defRPr sz="1400"/>
            </a:lvl4pPr>
            <a:lvl5pPr>
              <a:lnSpc>
                <a:spcPct val="100000"/>
              </a:lnSpc>
              <a:spcBef>
                <a:spcPts val="450"/>
              </a:spcBef>
              <a:spcAft>
                <a:spcPts val="450"/>
              </a:spcAft>
              <a:defRPr sz="14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01B92B5C-1985-464E-9994-6A52BBD32ECE}" type="datetime1">
              <a:rPr lang="zh-CN" altLang="en-US" smtClean="0"/>
              <a:t>2023/9/25</a:t>
            </a:fld>
            <a:endParaRPr lang="zh-CN" altLang="en-US"/>
          </a:p>
        </p:txBody>
      </p:sp>
      <p:sp>
        <p:nvSpPr>
          <p:cNvPr id="5" name="页脚占位符 4"/>
          <p:cNvSpPr>
            <a:spLocks noGrp="1"/>
          </p:cNvSpPr>
          <p:nvPr>
            <p:ph type="ftr" sz="quarter" idx="11"/>
          </p:nvPr>
        </p:nvSpPr>
        <p:spPr/>
        <p:txBody>
          <a:bodyPr/>
          <a:lstStyle/>
          <a:p>
            <a:endParaRPr lang="zh-CN" altLang="en-US" dirty="0"/>
          </a:p>
        </p:txBody>
      </p:sp>
      <p:grpSp>
        <p:nvGrpSpPr>
          <p:cNvPr id="7" name="组合 6">
            <a:extLst>
              <a:ext uri="{FF2B5EF4-FFF2-40B4-BE49-F238E27FC236}">
                <a16:creationId xmlns:a16="http://schemas.microsoft.com/office/drawing/2014/main" id="{B492DC46-649C-4371-BE00-7E12AB77B934}"/>
              </a:ext>
            </a:extLst>
          </p:cNvPr>
          <p:cNvGrpSpPr/>
          <p:nvPr/>
        </p:nvGrpSpPr>
        <p:grpSpPr>
          <a:xfrm>
            <a:off x="1" y="237055"/>
            <a:ext cx="1200151" cy="488496"/>
            <a:chOff x="0" y="254454"/>
            <a:chExt cx="1795510" cy="732518"/>
          </a:xfrm>
        </p:grpSpPr>
        <p:sp>
          <p:nvSpPr>
            <p:cNvPr id="8" name="矩形 1">
              <a:extLst>
                <a:ext uri="{FF2B5EF4-FFF2-40B4-BE49-F238E27FC236}">
                  <a16:creationId xmlns:a16="http://schemas.microsoft.com/office/drawing/2014/main" id="{84087D0E-5E69-4C4D-BBAF-B8A66AD85339}"/>
                </a:ext>
              </a:extLst>
            </p:cNvPr>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9" name="任意多边形 4">
              <a:extLst>
                <a:ext uri="{FF2B5EF4-FFF2-40B4-BE49-F238E27FC236}">
                  <a16:creationId xmlns:a16="http://schemas.microsoft.com/office/drawing/2014/main" id="{1E4C8D98-A40C-4A48-9EA3-A4B8C1C723EF}"/>
                </a:ext>
              </a:extLst>
            </p:cNvPr>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grpSp>
        <p:nvGrpSpPr>
          <p:cNvPr id="10" name="组合 9">
            <a:extLst>
              <a:ext uri="{FF2B5EF4-FFF2-40B4-BE49-F238E27FC236}">
                <a16:creationId xmlns:a16="http://schemas.microsoft.com/office/drawing/2014/main" id="{202F2469-59F2-4336-87AE-7A3ADA9B58E5}"/>
              </a:ext>
            </a:extLst>
          </p:cNvPr>
          <p:cNvGrpSpPr/>
          <p:nvPr/>
        </p:nvGrpSpPr>
        <p:grpSpPr>
          <a:xfrm>
            <a:off x="0" y="6575727"/>
            <a:ext cx="12195693" cy="282275"/>
            <a:chOff x="-3693" y="6575725"/>
            <a:chExt cx="12195693" cy="282275"/>
          </a:xfrm>
        </p:grpSpPr>
        <p:sp>
          <p:nvSpPr>
            <p:cNvPr id="11" name="矩形 19">
              <a:extLst>
                <a:ext uri="{FF2B5EF4-FFF2-40B4-BE49-F238E27FC236}">
                  <a16:creationId xmlns:a16="http://schemas.microsoft.com/office/drawing/2014/main" id="{13251B82-8654-4AE7-8DCF-E8C422C7F5B9}"/>
                </a:ext>
              </a:extLst>
            </p:cNvPr>
            <p:cNvSpPr/>
            <p:nvPr/>
          </p:nvSpPr>
          <p:spPr>
            <a:xfrm>
              <a:off x="-3693" y="6575725"/>
              <a:ext cx="9213008"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12" name="文本框 11">
              <a:extLst>
                <a:ext uri="{FF2B5EF4-FFF2-40B4-BE49-F238E27FC236}">
                  <a16:creationId xmlns:a16="http://schemas.microsoft.com/office/drawing/2014/main" id="{DF7438A7-23DE-46F1-82DA-7D1E2B69C890}"/>
                </a:ext>
              </a:extLst>
            </p:cNvPr>
            <p:cNvSpPr txBox="1"/>
            <p:nvPr/>
          </p:nvSpPr>
          <p:spPr>
            <a:xfrm>
              <a:off x="9095014" y="6575725"/>
              <a:ext cx="2496912" cy="230832"/>
            </a:xfrm>
            <a:prstGeom prst="rect">
              <a:avLst/>
            </a:prstGeom>
            <a:noFill/>
          </p:spPr>
          <p:txBody>
            <a:bodyPr wrap="square" rtlCol="0">
              <a:spAutoFit/>
            </a:bodyPr>
            <a:lstStyle/>
            <a:p>
              <a:pPr algn="dist"/>
              <a:r>
                <a:rPr lang="zh-CN" altLang="en-US" sz="900" i="1" dirty="0">
                  <a:solidFill>
                    <a:schemeClr val="tx1">
                      <a:lumMod val="75000"/>
                      <a:lumOff val="25000"/>
                    </a:schemeClr>
                  </a:solidFill>
                </a:rPr>
                <a:t>河南大学计算机与信息工程学院</a:t>
              </a:r>
            </a:p>
          </p:txBody>
        </p:sp>
        <p:sp>
          <p:nvSpPr>
            <p:cNvPr id="13" name="矩形 21">
              <a:extLst>
                <a:ext uri="{FF2B5EF4-FFF2-40B4-BE49-F238E27FC236}">
                  <a16:creationId xmlns:a16="http://schemas.microsoft.com/office/drawing/2014/main" id="{F591C9DB-985F-4F14-A901-B51657D6E773}"/>
                </a:ext>
              </a:extLst>
            </p:cNvPr>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sp>
        <p:nvSpPr>
          <p:cNvPr id="6" name="灯片编号占位符 5"/>
          <p:cNvSpPr>
            <a:spLocks noGrp="1"/>
          </p:cNvSpPr>
          <p:nvPr>
            <p:ph type="sldNum" sz="quarter" idx="12"/>
          </p:nvPr>
        </p:nvSpPr>
        <p:spPr>
          <a:xfrm>
            <a:off x="10919733" y="6584496"/>
            <a:ext cx="1272268" cy="273504"/>
          </a:xfrm>
        </p:spPr>
        <p:txBody>
          <a:bodyPr/>
          <a:lstStyle>
            <a:lvl1pPr>
              <a:defRPr>
                <a:solidFill>
                  <a:schemeClr val="bg1"/>
                </a:solidFill>
              </a:defRPr>
            </a:lvl1pPr>
          </a:lstStyle>
          <a:p>
            <a:fld id="{47C9E101-E51D-431E-84FA-C029B8655B60}" type="slidenum">
              <a:rPr lang="zh-CN" altLang="en-US" smtClean="0"/>
              <a:pPr/>
              <a:t>‹#›</a:t>
            </a:fld>
            <a:endParaRPr lang="zh-CN" altLang="en-US" dirty="0"/>
          </a:p>
        </p:txBody>
      </p:sp>
    </p:spTree>
    <p:extLst>
      <p:ext uri="{BB962C8B-B14F-4D97-AF65-F5344CB8AC3E}">
        <p14:creationId xmlns:p14="http://schemas.microsoft.com/office/powerpoint/2010/main" val="3181886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21F4DE29-5E62-4F5B-9DF3-5DCEBFE68F57}" type="datetime1">
              <a:rPr lang="zh-CN" altLang="en-US" smtClean="0"/>
              <a:t>2023/9/25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174669482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53A3343A-59AE-4A2F-B3CD-6A009219BBEB}"/>
              </a:ext>
            </a:extLst>
          </p:cNvPr>
          <p:cNvGrpSpPr/>
          <p:nvPr/>
        </p:nvGrpSpPr>
        <p:grpSpPr>
          <a:xfrm>
            <a:off x="0" y="6575727"/>
            <a:ext cx="12195693" cy="282275"/>
            <a:chOff x="-3693" y="6575725"/>
            <a:chExt cx="12195693" cy="282275"/>
          </a:xfrm>
        </p:grpSpPr>
        <p:sp>
          <p:nvSpPr>
            <p:cNvPr id="12" name="矩形 19">
              <a:extLst>
                <a:ext uri="{FF2B5EF4-FFF2-40B4-BE49-F238E27FC236}">
                  <a16:creationId xmlns:a16="http://schemas.microsoft.com/office/drawing/2014/main" id="{77E6E2F6-076F-44AF-A427-D4E574D9DAD9}"/>
                </a:ext>
              </a:extLst>
            </p:cNvPr>
            <p:cNvSpPr/>
            <p:nvPr/>
          </p:nvSpPr>
          <p:spPr>
            <a:xfrm>
              <a:off x="-3693" y="6575725"/>
              <a:ext cx="9213008"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13" name="文本框 12">
              <a:extLst>
                <a:ext uri="{FF2B5EF4-FFF2-40B4-BE49-F238E27FC236}">
                  <a16:creationId xmlns:a16="http://schemas.microsoft.com/office/drawing/2014/main" id="{18A8A0EF-563C-449D-A72A-E94BE5F23A1B}"/>
                </a:ext>
              </a:extLst>
            </p:cNvPr>
            <p:cNvSpPr txBox="1"/>
            <p:nvPr/>
          </p:nvSpPr>
          <p:spPr>
            <a:xfrm>
              <a:off x="9095014" y="6575725"/>
              <a:ext cx="2496912" cy="230832"/>
            </a:xfrm>
            <a:prstGeom prst="rect">
              <a:avLst/>
            </a:prstGeom>
            <a:noFill/>
          </p:spPr>
          <p:txBody>
            <a:bodyPr wrap="square" rtlCol="0">
              <a:spAutoFit/>
            </a:bodyPr>
            <a:lstStyle/>
            <a:p>
              <a:pPr algn="dist"/>
              <a:r>
                <a:rPr lang="zh-CN" altLang="en-US" sz="900" i="1" dirty="0">
                  <a:solidFill>
                    <a:schemeClr val="tx1">
                      <a:lumMod val="75000"/>
                      <a:lumOff val="25000"/>
                    </a:schemeClr>
                  </a:solidFill>
                </a:rPr>
                <a:t>河南大学计算机与信息工程学院</a:t>
              </a:r>
            </a:p>
          </p:txBody>
        </p:sp>
        <p:sp>
          <p:nvSpPr>
            <p:cNvPr id="14" name="矩形 21">
              <a:extLst>
                <a:ext uri="{FF2B5EF4-FFF2-40B4-BE49-F238E27FC236}">
                  <a16:creationId xmlns:a16="http://schemas.microsoft.com/office/drawing/2014/main" id="{2B584D5A-E13D-4D49-BE6D-6370F8729161}"/>
                </a:ext>
              </a:extLst>
            </p:cNvPr>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sp>
        <p:nvSpPr>
          <p:cNvPr id="3" name="内容占位符 2"/>
          <p:cNvSpPr>
            <a:spLocks noGrp="1"/>
          </p:cNvSpPr>
          <p:nvPr>
            <p:ph sz="half" idx="1"/>
          </p:nvPr>
        </p:nvSpPr>
        <p:spPr>
          <a:xfrm>
            <a:off x="838200" y="1204232"/>
            <a:ext cx="5181600" cy="5139418"/>
          </a:xfrm>
        </p:spPr>
        <p:txBody>
          <a:bodyPr/>
          <a:lstStyle>
            <a:lvl1pPr>
              <a:lnSpc>
                <a:spcPct val="100000"/>
              </a:lnSpc>
              <a:spcBef>
                <a:spcPts val="450"/>
              </a:spcBef>
              <a:spcAft>
                <a:spcPts val="450"/>
              </a:spcAft>
              <a:defRPr/>
            </a:lvl1pPr>
            <a:lvl2pPr>
              <a:lnSpc>
                <a:spcPct val="100000"/>
              </a:lnSpc>
              <a:spcBef>
                <a:spcPts val="450"/>
              </a:spcBef>
              <a:spcAft>
                <a:spcPts val="450"/>
              </a:spcAft>
              <a:defRPr/>
            </a:lvl2pPr>
            <a:lvl3pPr>
              <a:lnSpc>
                <a:spcPct val="100000"/>
              </a:lnSpc>
              <a:spcBef>
                <a:spcPts val="450"/>
              </a:spcBef>
              <a:spcAft>
                <a:spcPts val="450"/>
              </a:spcAft>
              <a:defRPr/>
            </a:lvl3pPr>
            <a:lvl4pPr>
              <a:lnSpc>
                <a:spcPct val="100000"/>
              </a:lnSpc>
              <a:spcBef>
                <a:spcPts val="450"/>
              </a:spcBef>
              <a:spcAft>
                <a:spcPts val="450"/>
              </a:spcAft>
              <a:defRPr/>
            </a:lvl4pPr>
            <a:lvl5pPr>
              <a:lnSpc>
                <a:spcPct val="100000"/>
              </a:lnSpc>
              <a:spcBef>
                <a:spcPts val="450"/>
              </a:spcBef>
              <a:spcAft>
                <a:spcPts val="450"/>
              </a:spcAf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72200" y="1208314"/>
            <a:ext cx="5181600" cy="5139418"/>
          </a:xfrm>
        </p:spPr>
        <p:txBody>
          <a:bodyPr/>
          <a:lstStyle>
            <a:lvl1pPr>
              <a:lnSpc>
                <a:spcPct val="100000"/>
              </a:lnSpc>
              <a:spcBef>
                <a:spcPts val="450"/>
              </a:spcBef>
              <a:spcAft>
                <a:spcPts val="450"/>
              </a:spcAft>
              <a:defRPr/>
            </a:lvl1pPr>
            <a:lvl2pPr>
              <a:lnSpc>
                <a:spcPct val="100000"/>
              </a:lnSpc>
              <a:spcBef>
                <a:spcPts val="450"/>
              </a:spcBef>
              <a:spcAft>
                <a:spcPts val="450"/>
              </a:spcAft>
              <a:defRPr/>
            </a:lvl2pPr>
            <a:lvl3pPr>
              <a:lnSpc>
                <a:spcPct val="100000"/>
              </a:lnSpc>
              <a:spcBef>
                <a:spcPts val="450"/>
              </a:spcBef>
              <a:spcAft>
                <a:spcPts val="450"/>
              </a:spcAft>
              <a:defRPr/>
            </a:lvl3pPr>
            <a:lvl4pPr>
              <a:lnSpc>
                <a:spcPct val="100000"/>
              </a:lnSpc>
              <a:spcBef>
                <a:spcPts val="450"/>
              </a:spcBef>
              <a:spcAft>
                <a:spcPts val="450"/>
              </a:spcAft>
              <a:defRPr/>
            </a:lvl4pPr>
            <a:lvl5pPr>
              <a:lnSpc>
                <a:spcPct val="100000"/>
              </a:lnSpc>
              <a:spcBef>
                <a:spcPts val="450"/>
              </a:spcBef>
              <a:spcAft>
                <a:spcPts val="450"/>
              </a:spcAf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p>
            <a:fld id="{85F91FCD-4890-41F0-87A3-8C320F6D5DF6}" type="datetime1">
              <a:rPr lang="zh-CN" altLang="en-US" smtClean="0"/>
              <a:t>2023/9/25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9488261" y="6544131"/>
            <a:ext cx="2668360" cy="365125"/>
          </a:xfrm>
        </p:spPr>
        <p:txBody>
          <a:bodyPr/>
          <a:lstStyle>
            <a:lvl1pPr>
              <a:defRPr>
                <a:solidFill>
                  <a:schemeClr val="bg1"/>
                </a:solidFill>
              </a:defRPr>
            </a:lvl1pPr>
          </a:lstStyle>
          <a:p>
            <a:fld id="{47C9E101-E51D-431E-84FA-C029B8655B60}" type="slidenum">
              <a:rPr lang="zh-CN" altLang="en-US" smtClean="0"/>
              <a:t>‹#›</a:t>
            </a:fld>
            <a:endParaRPr lang="zh-CN" altLang="en-US"/>
          </a:p>
        </p:txBody>
      </p:sp>
      <p:grpSp>
        <p:nvGrpSpPr>
          <p:cNvPr id="8" name="组合 7">
            <a:extLst>
              <a:ext uri="{FF2B5EF4-FFF2-40B4-BE49-F238E27FC236}">
                <a16:creationId xmlns:a16="http://schemas.microsoft.com/office/drawing/2014/main" id="{103E3B63-30D6-436B-84E4-2E5D5DE5788C}"/>
              </a:ext>
            </a:extLst>
          </p:cNvPr>
          <p:cNvGrpSpPr/>
          <p:nvPr/>
        </p:nvGrpSpPr>
        <p:grpSpPr>
          <a:xfrm>
            <a:off x="1" y="237055"/>
            <a:ext cx="1200151" cy="488496"/>
            <a:chOff x="0" y="254454"/>
            <a:chExt cx="1795510" cy="732518"/>
          </a:xfrm>
        </p:grpSpPr>
        <p:sp>
          <p:nvSpPr>
            <p:cNvPr id="9" name="矩形 1">
              <a:extLst>
                <a:ext uri="{FF2B5EF4-FFF2-40B4-BE49-F238E27FC236}">
                  <a16:creationId xmlns:a16="http://schemas.microsoft.com/office/drawing/2014/main" id="{BECDD563-4923-4C59-92AB-A46BE222C13D}"/>
                </a:ext>
              </a:extLst>
            </p:cNvPr>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10" name="任意多边形 4">
              <a:extLst>
                <a:ext uri="{FF2B5EF4-FFF2-40B4-BE49-F238E27FC236}">
                  <a16:creationId xmlns:a16="http://schemas.microsoft.com/office/drawing/2014/main" id="{CBA445E0-EF1F-4322-B5E9-96A323AF683A}"/>
                </a:ext>
              </a:extLst>
            </p:cNvPr>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sp>
        <p:nvSpPr>
          <p:cNvPr id="16" name="标题 1">
            <a:extLst>
              <a:ext uri="{FF2B5EF4-FFF2-40B4-BE49-F238E27FC236}">
                <a16:creationId xmlns:a16="http://schemas.microsoft.com/office/drawing/2014/main" id="{228A6188-E823-42CA-A942-9C975B55B7F1}"/>
              </a:ext>
            </a:extLst>
          </p:cNvPr>
          <p:cNvSpPr>
            <a:spLocks noGrp="1"/>
          </p:cNvSpPr>
          <p:nvPr>
            <p:ph type="title"/>
          </p:nvPr>
        </p:nvSpPr>
        <p:spPr>
          <a:xfrm>
            <a:off x="1281794" y="238579"/>
            <a:ext cx="9553575" cy="512536"/>
          </a:xfrm>
        </p:spPr>
        <p:txBody>
          <a:bodyPr>
            <a:noAutofit/>
          </a:bodyPr>
          <a:lstStyle>
            <a:lvl1pPr>
              <a:defRPr sz="3000" b="0">
                <a:solidFill>
                  <a:schemeClr val="accent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543089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CFF45FF-9B57-47EC-93D3-167B42D12FC7}" type="datetime1">
              <a:rPr lang="zh-CN" altLang="en-US" smtClean="0"/>
              <a:t>2023/9/25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C9E101-E51D-431E-84FA-C029B8655B60}" type="slidenum">
              <a:rPr lang="zh-CN" altLang="en-US" smtClean="0"/>
              <a:t>‹#›</a:t>
            </a:fld>
            <a:endParaRPr lang="zh-CN" altLang="en-US"/>
          </a:p>
        </p:txBody>
      </p:sp>
    </p:spTree>
    <p:extLst>
      <p:ext uri="{BB962C8B-B14F-4D97-AF65-F5344CB8AC3E}">
        <p14:creationId xmlns:p14="http://schemas.microsoft.com/office/powerpoint/2010/main" val="1923413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01C5D3A-D1CC-4837-A9BF-289192324C07}" type="datetime1">
              <a:rPr lang="zh-CN" altLang="en-US" smtClean="0"/>
              <a:t>2023/9/25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C9E101-E51D-431E-84FA-C029B8655B60}" type="slidenum">
              <a:rPr lang="zh-CN" altLang="en-US" smtClean="0"/>
              <a:t>‹#›</a:t>
            </a:fld>
            <a:endParaRPr lang="zh-CN" altLang="en-US"/>
          </a:p>
        </p:txBody>
      </p:sp>
    </p:spTree>
    <p:extLst>
      <p:ext uri="{BB962C8B-B14F-4D97-AF65-F5344CB8AC3E}">
        <p14:creationId xmlns:p14="http://schemas.microsoft.com/office/powerpoint/2010/main" val="3431045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C72DFE-ADEC-4C3D-B0BD-FF8EFF404081}" type="datetime1">
              <a:rPr lang="zh-CN" altLang="en-US" smtClean="0"/>
              <a:t>2023/9/25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C9E101-E51D-431E-84FA-C029B8655B60}" type="slidenum">
              <a:rPr lang="zh-CN" altLang="en-US" smtClean="0"/>
              <a:t>‹#›</a:t>
            </a:fld>
            <a:endParaRPr lang="zh-CN" altLang="en-US"/>
          </a:p>
        </p:txBody>
      </p:sp>
    </p:spTree>
    <p:extLst>
      <p:ext uri="{BB962C8B-B14F-4D97-AF65-F5344CB8AC3E}">
        <p14:creationId xmlns:p14="http://schemas.microsoft.com/office/powerpoint/2010/main" val="1727002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02CD34D9-2AB5-4C74-9A02-A01D6A33B092}" type="datetime1">
              <a:rPr lang="zh-CN" altLang="en-US" smtClean="0"/>
              <a:t>2023/9/25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798617100"/>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4FA75877-D5D1-455D-A148-32690FA48C4F}" type="datetime1">
              <a:rPr lang="zh-CN" altLang="en-US" smtClean="0"/>
              <a:t>2023/9/25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402162763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225A3A-E24D-406E-947E-8CC215A62C75}" type="datetime1">
              <a:rPr lang="zh-CN" altLang="en-US" smtClean="0"/>
              <a:t>2023/9/25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170911924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B42F575-1E14-40DE-A315-1C8F4BAF63B9}" type="datetime1">
              <a:rPr lang="zh-CN" altLang="en-US" smtClean="0"/>
              <a:t>2023/9/25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350437185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BC5590A-D886-4962-AEDA-DC2589578889}" type="datetime1">
              <a:rPr lang="zh-CN" altLang="en-US" smtClean="0"/>
              <a:t>2023/9/25</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4104027622"/>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7.emf"/><Relationship Id="rId5" Type="http://schemas.openxmlformats.org/officeDocument/2006/relationships/oleObject" Target="../embeddings/oleObject4.bin"/><Relationship Id="rId4" Type="http://schemas.openxmlformats.org/officeDocument/2006/relationships/image" Target="../media/image5.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15.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5.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15.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26.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15.tmp"/><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8.png"/><Relationship Id="rId5" Type="http://schemas.openxmlformats.org/officeDocument/2006/relationships/oleObject" Target="../embeddings/oleObject6.bin"/><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tags" Target="../tags/tag64.xml"/><Relationship Id="rId18" Type="http://schemas.openxmlformats.org/officeDocument/2006/relationships/slideLayout" Target="../slideLayouts/slideLayout7.xml"/><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tags" Target="../tags/tag63.xml"/><Relationship Id="rId17" Type="http://schemas.openxmlformats.org/officeDocument/2006/relationships/tags" Target="../tags/tag68.xml"/><Relationship Id="rId2" Type="http://schemas.openxmlformats.org/officeDocument/2006/relationships/tags" Target="../tags/tag53.xml"/><Relationship Id="rId16" Type="http://schemas.openxmlformats.org/officeDocument/2006/relationships/tags" Target="../tags/tag67.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tags" Target="../tags/tag66.xml"/><Relationship Id="rId10" Type="http://schemas.openxmlformats.org/officeDocument/2006/relationships/tags" Target="../tags/tag61.xml"/><Relationship Id="rId19" Type="http://schemas.openxmlformats.org/officeDocument/2006/relationships/image" Target="../media/image15.tmp"/><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tags" Target="../tags/tag65.xml"/></Relationships>
</file>

<file path=ppt/slides/_rels/slide45.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tags" Target="../tags/tag81.xml"/><Relationship Id="rId18" Type="http://schemas.openxmlformats.org/officeDocument/2006/relationships/slideLayout" Target="../slideLayouts/slideLayout7.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tags" Target="../tags/tag80.xml"/><Relationship Id="rId17" Type="http://schemas.openxmlformats.org/officeDocument/2006/relationships/tags" Target="../tags/tag85.xml"/><Relationship Id="rId2" Type="http://schemas.openxmlformats.org/officeDocument/2006/relationships/tags" Target="../tags/tag70.xml"/><Relationship Id="rId16" Type="http://schemas.openxmlformats.org/officeDocument/2006/relationships/tags" Target="../tags/tag84.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tags" Target="../tags/tag79.xml"/><Relationship Id="rId5" Type="http://schemas.openxmlformats.org/officeDocument/2006/relationships/tags" Target="../tags/tag73.xml"/><Relationship Id="rId15" Type="http://schemas.openxmlformats.org/officeDocument/2006/relationships/tags" Target="../tags/tag83.xml"/><Relationship Id="rId10" Type="http://schemas.openxmlformats.org/officeDocument/2006/relationships/tags" Target="../tags/tag78.xml"/><Relationship Id="rId19" Type="http://schemas.openxmlformats.org/officeDocument/2006/relationships/image" Target="../media/image15.tmp"/><Relationship Id="rId4" Type="http://schemas.openxmlformats.org/officeDocument/2006/relationships/tags" Target="../tags/tag72.xml"/><Relationship Id="rId9" Type="http://schemas.openxmlformats.org/officeDocument/2006/relationships/tags" Target="../tags/tag77.xml"/><Relationship Id="rId14" Type="http://schemas.openxmlformats.org/officeDocument/2006/relationships/tags" Target="../tags/tag82.xml"/></Relationships>
</file>

<file path=ppt/slides/_rels/slide46.xml.rels><?xml version="1.0" encoding="UTF-8" standalone="yes"?>
<Relationships xmlns="http://schemas.openxmlformats.org/package/2006/relationships"><Relationship Id="rId8" Type="http://schemas.openxmlformats.org/officeDocument/2006/relationships/tags" Target="../tags/tag93.xml"/><Relationship Id="rId13" Type="http://schemas.openxmlformats.org/officeDocument/2006/relationships/tags" Target="../tags/tag98.xml"/><Relationship Id="rId18" Type="http://schemas.openxmlformats.org/officeDocument/2006/relationships/slideLayout" Target="../slideLayouts/slideLayout7.xml"/><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tags" Target="../tags/tag97.xml"/><Relationship Id="rId17" Type="http://schemas.openxmlformats.org/officeDocument/2006/relationships/tags" Target="../tags/tag102.xml"/><Relationship Id="rId2" Type="http://schemas.openxmlformats.org/officeDocument/2006/relationships/tags" Target="../tags/tag87.xml"/><Relationship Id="rId16" Type="http://schemas.openxmlformats.org/officeDocument/2006/relationships/tags" Target="../tags/tag101.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tags" Target="../tags/tag96.xml"/><Relationship Id="rId5" Type="http://schemas.openxmlformats.org/officeDocument/2006/relationships/tags" Target="../tags/tag90.xml"/><Relationship Id="rId15" Type="http://schemas.openxmlformats.org/officeDocument/2006/relationships/tags" Target="../tags/tag100.xml"/><Relationship Id="rId10" Type="http://schemas.openxmlformats.org/officeDocument/2006/relationships/tags" Target="../tags/tag95.xml"/><Relationship Id="rId19" Type="http://schemas.openxmlformats.org/officeDocument/2006/relationships/image" Target="../media/image15.tmp"/><Relationship Id="rId4" Type="http://schemas.openxmlformats.org/officeDocument/2006/relationships/tags" Target="../tags/tag89.xml"/><Relationship Id="rId9" Type="http://schemas.openxmlformats.org/officeDocument/2006/relationships/tags" Target="../tags/tag94.xml"/><Relationship Id="rId14" Type="http://schemas.openxmlformats.org/officeDocument/2006/relationships/tags" Target="../tags/tag9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slide" Target="slide6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3B3A9379-A7F0-473C-A8D9-BC37FEB8742C}"/>
              </a:ext>
            </a:extLst>
          </p:cNvPr>
          <p:cNvSpPr>
            <a:spLocks noGrp="1"/>
          </p:cNvSpPr>
          <p:nvPr>
            <p:ph type="subTitle" idx="1"/>
          </p:nvPr>
        </p:nvSpPr>
        <p:spPr/>
        <p:txBody>
          <a:bodyPr/>
          <a:lstStyle/>
          <a:p>
            <a:r>
              <a:rPr lang="zh-CN" altLang="en-US"/>
              <a:t>苗茹</a:t>
            </a:r>
            <a:endParaRPr lang="en-US" altLang="zh-CN"/>
          </a:p>
          <a:p>
            <a:r>
              <a:rPr lang="zh-CN" altLang="en-US"/>
              <a:t>河南大学计算机与信息工程学院</a:t>
            </a:r>
            <a:endParaRPr lang="en-US" altLang="zh-CN" dirty="0"/>
          </a:p>
        </p:txBody>
      </p:sp>
      <p:sp>
        <p:nvSpPr>
          <p:cNvPr id="2" name="标题 1">
            <a:extLst>
              <a:ext uri="{FF2B5EF4-FFF2-40B4-BE49-F238E27FC236}">
                <a16:creationId xmlns:a16="http://schemas.microsoft.com/office/drawing/2014/main" id="{1F55F539-9931-4D3D-AF16-2BD782C59D02}"/>
              </a:ext>
            </a:extLst>
          </p:cNvPr>
          <p:cNvSpPr>
            <a:spLocks noGrp="1"/>
          </p:cNvSpPr>
          <p:nvPr>
            <p:ph type="ctrTitle"/>
          </p:nvPr>
        </p:nvSpPr>
        <p:spPr/>
        <p:txBody>
          <a:bodyPr/>
          <a:lstStyle/>
          <a:p>
            <a:r>
              <a:rPr lang="zh-CN" altLang="en-US" dirty="0"/>
              <a:t>第二章 关系数据库</a:t>
            </a:r>
          </a:p>
        </p:txBody>
      </p:sp>
      <p:sp>
        <p:nvSpPr>
          <p:cNvPr id="6" name="矩形 5">
            <a:extLst>
              <a:ext uri="{FF2B5EF4-FFF2-40B4-BE49-F238E27FC236}">
                <a16:creationId xmlns:a16="http://schemas.microsoft.com/office/drawing/2014/main" id="{A09BE498-7047-40C7-9402-B5B2F69DF31E}"/>
              </a:ext>
            </a:extLst>
          </p:cNvPr>
          <p:cNvSpPr/>
          <p:nvPr/>
        </p:nvSpPr>
        <p:spPr>
          <a:xfrm>
            <a:off x="208551" y="894417"/>
            <a:ext cx="4801314" cy="646331"/>
          </a:xfrm>
          <a:prstGeom prst="rect">
            <a:avLst/>
          </a:prstGeom>
        </p:spPr>
        <p:txBody>
          <a:bodyPr wrap="none">
            <a:spAutoFit/>
          </a:bodyPr>
          <a:lstStyle/>
          <a:p>
            <a:r>
              <a:rPr lang="zh-CN" altLang="en-US" sz="3600" dirty="0"/>
              <a:t>数据库系统原理及应用</a:t>
            </a:r>
          </a:p>
        </p:txBody>
      </p:sp>
    </p:spTree>
    <p:extLst>
      <p:ext uri="{BB962C8B-B14F-4D97-AF65-F5344CB8AC3E}">
        <p14:creationId xmlns:p14="http://schemas.microsoft.com/office/powerpoint/2010/main" val="1323493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7C81AFA5-B7C1-445B-8A40-C5B702C18523}"/>
              </a:ext>
            </a:extLst>
          </p:cNvPr>
          <p:cNvSpPr>
            <a:spLocks noGrp="1"/>
          </p:cNvSpPr>
          <p:nvPr>
            <p:ph type="title"/>
          </p:nvPr>
        </p:nvSpPr>
        <p:spPr/>
        <p:txBody>
          <a:bodyPr/>
          <a:lstStyle/>
          <a:p>
            <a:r>
              <a:rPr lang="zh-CN" altLang="en-US" dirty="0"/>
              <a:t>回顾：数据模型</a:t>
            </a:r>
          </a:p>
        </p:txBody>
      </p:sp>
      <p:sp>
        <p:nvSpPr>
          <p:cNvPr id="5" name="内容占位符 4">
            <a:extLst>
              <a:ext uri="{FF2B5EF4-FFF2-40B4-BE49-F238E27FC236}">
                <a16:creationId xmlns:a16="http://schemas.microsoft.com/office/drawing/2014/main" id="{458F1135-7961-412B-A71E-0D28240AAF62}"/>
              </a:ext>
            </a:extLst>
          </p:cNvPr>
          <p:cNvSpPr>
            <a:spLocks noGrp="1"/>
          </p:cNvSpPr>
          <p:nvPr>
            <p:ph idx="1"/>
          </p:nvPr>
        </p:nvSpPr>
        <p:spPr/>
        <p:txBody>
          <a:bodyPr/>
          <a:lstStyle/>
          <a:p>
            <a:r>
              <a:rPr lang="zh-CN" altLang="en-US" dirty="0">
                <a:solidFill>
                  <a:srgbClr val="C00000"/>
                </a:solidFill>
              </a:rPr>
              <a:t>层次模型（</a:t>
            </a:r>
            <a:r>
              <a:rPr lang="en-US" altLang="zh-CN" dirty="0">
                <a:solidFill>
                  <a:srgbClr val="C00000"/>
                </a:solidFill>
              </a:rPr>
              <a:t>Hierarchical Model</a:t>
            </a:r>
            <a:r>
              <a:rPr lang="zh-CN" altLang="en-US" dirty="0">
                <a:solidFill>
                  <a:srgbClr val="C00000"/>
                </a:solidFill>
              </a:rPr>
              <a:t>）</a:t>
            </a:r>
            <a:endParaRPr lang="en-US" altLang="zh-CN" dirty="0">
              <a:solidFill>
                <a:srgbClr val="C00000"/>
              </a:solidFill>
            </a:endParaRPr>
          </a:p>
          <a:p>
            <a:pPr lvl="1"/>
            <a:r>
              <a:rPr lang="zh-CN" altLang="en-US" dirty="0"/>
              <a:t>用</a:t>
            </a:r>
            <a:r>
              <a:rPr lang="zh-CN" altLang="en-US" dirty="0">
                <a:solidFill>
                  <a:srgbClr val="C00000"/>
                </a:solidFill>
              </a:rPr>
              <a:t>树形结构</a:t>
            </a:r>
            <a:r>
              <a:rPr lang="zh-CN" altLang="en-US" dirty="0"/>
              <a:t>来表示各类实体以及实体间的联系</a:t>
            </a:r>
            <a:endParaRPr lang="zh-CN" altLang="en-US" dirty="0">
              <a:solidFill>
                <a:srgbClr val="C00000"/>
              </a:solidFill>
            </a:endParaRPr>
          </a:p>
          <a:p>
            <a:endParaRPr lang="en-US" altLang="zh-CN" dirty="0">
              <a:solidFill>
                <a:srgbClr val="C00000"/>
              </a:solidFill>
            </a:endParaRPr>
          </a:p>
          <a:p>
            <a:r>
              <a:rPr lang="zh-CN" altLang="en-US" dirty="0">
                <a:solidFill>
                  <a:srgbClr val="C00000"/>
                </a:solidFill>
              </a:rPr>
              <a:t>网状模型（</a:t>
            </a:r>
            <a:r>
              <a:rPr lang="en-US" altLang="zh-CN" dirty="0">
                <a:solidFill>
                  <a:srgbClr val="C00000"/>
                </a:solidFill>
              </a:rPr>
              <a:t>Network Model</a:t>
            </a:r>
            <a:r>
              <a:rPr lang="zh-CN" altLang="en-US" dirty="0">
                <a:solidFill>
                  <a:srgbClr val="C00000"/>
                </a:solidFill>
              </a:rPr>
              <a:t>）</a:t>
            </a:r>
            <a:endParaRPr lang="en-US" altLang="zh-CN" dirty="0">
              <a:solidFill>
                <a:srgbClr val="C00000"/>
              </a:solidFill>
            </a:endParaRPr>
          </a:p>
          <a:p>
            <a:pPr lvl="1"/>
            <a:r>
              <a:rPr lang="zh-CN" altLang="en-US" dirty="0"/>
              <a:t>网状模型允许多个结点没有双亲结点</a:t>
            </a:r>
          </a:p>
          <a:p>
            <a:pPr lvl="1"/>
            <a:r>
              <a:rPr lang="zh-CN" altLang="en-US" dirty="0"/>
              <a:t>网状模型允许结点有多个双亲结点</a:t>
            </a:r>
          </a:p>
          <a:p>
            <a:pPr lvl="1"/>
            <a:r>
              <a:rPr lang="zh-CN" altLang="en-US" dirty="0"/>
              <a:t>网状模型允许两个结点之间有</a:t>
            </a:r>
            <a:r>
              <a:rPr lang="zh-CN" altLang="en-US" dirty="0">
                <a:solidFill>
                  <a:srgbClr val="C00000"/>
                </a:solidFill>
              </a:rPr>
              <a:t>多种联系</a:t>
            </a:r>
            <a:r>
              <a:rPr lang="en-US" altLang="zh-CN" dirty="0">
                <a:solidFill>
                  <a:srgbClr val="C00000"/>
                </a:solidFill>
              </a:rPr>
              <a:t>(</a:t>
            </a:r>
            <a:r>
              <a:rPr lang="zh-CN" altLang="en-US" dirty="0">
                <a:solidFill>
                  <a:srgbClr val="C00000"/>
                </a:solidFill>
              </a:rPr>
              <a:t>复合联系</a:t>
            </a:r>
            <a:r>
              <a:rPr lang="en-US" altLang="zh-CN" dirty="0">
                <a:solidFill>
                  <a:srgbClr val="C00000"/>
                </a:solidFill>
              </a:rPr>
              <a:t>)</a:t>
            </a:r>
          </a:p>
          <a:p>
            <a:endParaRPr lang="zh-CN" altLang="en-US" dirty="0">
              <a:solidFill>
                <a:srgbClr val="C00000"/>
              </a:solidFill>
            </a:endParaRPr>
          </a:p>
          <a:p>
            <a:r>
              <a:rPr lang="zh-CN" altLang="en-US" dirty="0">
                <a:solidFill>
                  <a:srgbClr val="C00000"/>
                </a:solidFill>
              </a:rPr>
              <a:t>关系模型（</a:t>
            </a:r>
            <a:r>
              <a:rPr lang="en-US" altLang="zh-CN" dirty="0">
                <a:solidFill>
                  <a:srgbClr val="C00000"/>
                </a:solidFill>
              </a:rPr>
              <a:t>Relational Model</a:t>
            </a:r>
            <a:r>
              <a:rPr lang="zh-CN" altLang="en-US" dirty="0">
                <a:solidFill>
                  <a:srgbClr val="C00000"/>
                </a:solidFill>
              </a:rPr>
              <a:t>）</a:t>
            </a:r>
            <a:endParaRPr lang="en-US" altLang="zh-CN" dirty="0">
              <a:solidFill>
                <a:srgbClr val="C00000"/>
              </a:solidFill>
            </a:endParaRPr>
          </a:p>
          <a:p>
            <a:pPr lvl="1"/>
            <a:r>
              <a:rPr lang="zh-CN" altLang="en-US" dirty="0"/>
              <a:t>关系模型中数据的逻辑结构是一张</a:t>
            </a:r>
            <a:r>
              <a:rPr lang="zh-CN" altLang="en-US" dirty="0">
                <a:solidFill>
                  <a:srgbClr val="C00000"/>
                </a:solidFill>
              </a:rPr>
              <a:t>二维表</a:t>
            </a:r>
            <a:r>
              <a:rPr lang="zh-CN" altLang="en-US" dirty="0"/>
              <a:t>，它由行和列组成。</a:t>
            </a:r>
            <a:endParaRPr lang="zh-CN" altLang="en-US" dirty="0">
              <a:solidFill>
                <a:srgbClr val="C00000"/>
              </a:solidFill>
            </a:endParaRPr>
          </a:p>
        </p:txBody>
      </p:sp>
      <p:sp>
        <p:nvSpPr>
          <p:cNvPr id="2" name="灯片编号占位符 1">
            <a:extLst>
              <a:ext uri="{FF2B5EF4-FFF2-40B4-BE49-F238E27FC236}">
                <a16:creationId xmlns:a16="http://schemas.microsoft.com/office/drawing/2014/main" id="{C1D8B9DC-EF10-4F72-87D8-E87035410ABA}"/>
              </a:ext>
            </a:extLst>
          </p:cNvPr>
          <p:cNvSpPr>
            <a:spLocks noGrp="1"/>
          </p:cNvSpPr>
          <p:nvPr>
            <p:ph type="sldNum" sz="quarter" idx="12"/>
          </p:nvPr>
        </p:nvSpPr>
        <p:spPr/>
        <p:txBody>
          <a:bodyPr/>
          <a:lstStyle/>
          <a:p>
            <a:fld id="{7FD58DCB-7350-4B02-B7FE-1C236F9A16BF}" type="slidenum">
              <a:rPr lang="zh-CN" altLang="en-US" smtClean="0"/>
              <a:pPr/>
              <a:t>2</a:t>
            </a:fld>
            <a:endParaRPr lang="zh-CN" altLang="en-US"/>
          </a:p>
        </p:txBody>
      </p:sp>
    </p:spTree>
    <p:extLst>
      <p:ext uri="{BB962C8B-B14F-4D97-AF65-F5344CB8AC3E}">
        <p14:creationId xmlns:p14="http://schemas.microsoft.com/office/powerpoint/2010/main" val="240720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9A9652-1613-40EC-BFC9-3CAE54792380}"/>
              </a:ext>
            </a:extLst>
          </p:cNvPr>
          <p:cNvSpPr>
            <a:spLocks noGrp="1"/>
          </p:cNvSpPr>
          <p:nvPr>
            <p:ph type="title"/>
          </p:nvPr>
        </p:nvSpPr>
        <p:spPr/>
        <p:txBody>
          <a:bodyPr/>
          <a:lstStyle/>
          <a:p>
            <a:r>
              <a:rPr lang="zh-CN" altLang="en-US" dirty="0"/>
              <a:t>回顾：数据库系统的三级模式结构</a:t>
            </a:r>
          </a:p>
        </p:txBody>
      </p:sp>
      <p:sp>
        <p:nvSpPr>
          <p:cNvPr id="3" name="内容占位符 2">
            <a:extLst>
              <a:ext uri="{FF2B5EF4-FFF2-40B4-BE49-F238E27FC236}">
                <a16:creationId xmlns:a16="http://schemas.microsoft.com/office/drawing/2014/main" id="{F40DFF85-C831-4216-9897-FBA6F074201A}"/>
              </a:ext>
            </a:extLst>
          </p:cNvPr>
          <p:cNvSpPr>
            <a:spLocks noGrp="1"/>
          </p:cNvSpPr>
          <p:nvPr>
            <p:ph idx="1"/>
          </p:nvPr>
        </p:nvSpPr>
        <p:spPr/>
        <p:txBody>
          <a:bodyPr/>
          <a:lstStyle/>
          <a:p>
            <a:r>
              <a:rPr lang="zh-CN" altLang="en-US" dirty="0"/>
              <a:t>数据库系统的三级模式结构</a:t>
            </a:r>
            <a:endParaRPr lang="en-US" altLang="zh-CN" dirty="0"/>
          </a:p>
          <a:p>
            <a:pPr lvl="1"/>
            <a:r>
              <a:rPr lang="zh-CN" altLang="en-US" dirty="0">
                <a:solidFill>
                  <a:srgbClr val="C00000"/>
                </a:solidFill>
              </a:rPr>
              <a:t>模式（</a:t>
            </a:r>
            <a:r>
              <a:rPr lang="en-US" altLang="zh-CN" dirty="0">
                <a:solidFill>
                  <a:srgbClr val="C00000"/>
                </a:solidFill>
              </a:rPr>
              <a:t>Schema</a:t>
            </a:r>
            <a:r>
              <a:rPr lang="zh-CN" altLang="en-US" dirty="0">
                <a:solidFill>
                  <a:srgbClr val="C00000"/>
                </a:solidFill>
              </a:rPr>
              <a:t>）</a:t>
            </a:r>
          </a:p>
          <a:p>
            <a:pPr lvl="1"/>
            <a:r>
              <a:rPr lang="zh-CN" altLang="en-US" dirty="0">
                <a:solidFill>
                  <a:srgbClr val="C00000"/>
                </a:solidFill>
              </a:rPr>
              <a:t>外模式（</a:t>
            </a:r>
            <a:r>
              <a:rPr lang="en-US" altLang="zh-CN" dirty="0">
                <a:solidFill>
                  <a:srgbClr val="C00000"/>
                </a:solidFill>
              </a:rPr>
              <a:t>External Schema</a:t>
            </a:r>
            <a:r>
              <a:rPr lang="zh-CN" altLang="en-US" dirty="0">
                <a:solidFill>
                  <a:srgbClr val="C00000"/>
                </a:solidFill>
              </a:rPr>
              <a:t>）</a:t>
            </a:r>
          </a:p>
          <a:p>
            <a:pPr lvl="1"/>
            <a:r>
              <a:rPr lang="zh-CN" altLang="en-US" dirty="0">
                <a:solidFill>
                  <a:srgbClr val="C00000"/>
                </a:solidFill>
              </a:rPr>
              <a:t>内模式（</a:t>
            </a:r>
            <a:r>
              <a:rPr lang="en-US" altLang="zh-CN" dirty="0">
                <a:solidFill>
                  <a:srgbClr val="C00000"/>
                </a:solidFill>
              </a:rPr>
              <a:t>Internal Schema</a:t>
            </a:r>
            <a:r>
              <a:rPr lang="zh-CN" altLang="en-US" dirty="0">
                <a:solidFill>
                  <a:srgbClr val="C00000"/>
                </a:solidFill>
              </a:rPr>
              <a:t>） </a:t>
            </a:r>
          </a:p>
        </p:txBody>
      </p:sp>
      <p:sp>
        <p:nvSpPr>
          <p:cNvPr id="6" name="灯片编号占位符 5">
            <a:extLst>
              <a:ext uri="{FF2B5EF4-FFF2-40B4-BE49-F238E27FC236}">
                <a16:creationId xmlns:a16="http://schemas.microsoft.com/office/drawing/2014/main" id="{9D126E3C-9900-4A77-AD83-08C152513D87}"/>
              </a:ext>
            </a:extLst>
          </p:cNvPr>
          <p:cNvSpPr>
            <a:spLocks noGrp="1"/>
          </p:cNvSpPr>
          <p:nvPr>
            <p:ph type="sldNum" sz="quarter" idx="12"/>
          </p:nvPr>
        </p:nvSpPr>
        <p:spPr/>
        <p:txBody>
          <a:bodyPr/>
          <a:lstStyle/>
          <a:p>
            <a:fld id="{7FD58DCB-7350-4B02-B7FE-1C236F9A16BF}" type="slidenum">
              <a:rPr lang="zh-CN" altLang="en-US" smtClean="0"/>
              <a:t>3</a:t>
            </a:fld>
            <a:endParaRPr lang="zh-CN" altLang="en-US"/>
          </a:p>
        </p:txBody>
      </p:sp>
      <p:pic>
        <p:nvPicPr>
          <p:cNvPr id="4" name="Picture 5" descr="database">
            <a:extLst>
              <a:ext uri="{FF2B5EF4-FFF2-40B4-BE49-F238E27FC236}">
                <a16:creationId xmlns:a16="http://schemas.microsoft.com/office/drawing/2014/main" id="{EBD8541D-A330-4B74-B0E6-BD0F5CECD4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881" r="-4881"/>
          <a:stretch>
            <a:fillRect/>
          </a:stretch>
        </p:blipFill>
        <p:spPr bwMode="auto">
          <a:xfrm>
            <a:off x="4783082" y="1660520"/>
            <a:ext cx="6175078" cy="3742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365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212993">
            <a:extLst>
              <a:ext uri="{FF2B5EF4-FFF2-40B4-BE49-F238E27FC236}">
                <a16:creationId xmlns:a16="http://schemas.microsoft.com/office/drawing/2014/main" id="{45486584-0E20-4489-B6AC-33206ADCD243}"/>
              </a:ext>
            </a:extLst>
          </p:cNvPr>
          <p:cNvSpPr>
            <a:spLocks noGrp="1" noChangeArrowheads="1"/>
          </p:cNvSpPr>
          <p:nvPr>
            <p:ph type="title"/>
          </p:nvPr>
        </p:nvSpPr>
        <p:spPr/>
        <p:txBody>
          <a:bodyPr/>
          <a:lstStyle/>
          <a:p>
            <a:r>
              <a:rPr lang="zh-CN" altLang="en-US" dirty="0"/>
              <a:t>课程导入：关系数据库简介</a:t>
            </a:r>
          </a:p>
        </p:txBody>
      </p:sp>
      <p:sp>
        <p:nvSpPr>
          <p:cNvPr id="15363" name="文本占位符 212994">
            <a:extLst>
              <a:ext uri="{FF2B5EF4-FFF2-40B4-BE49-F238E27FC236}">
                <a16:creationId xmlns:a16="http://schemas.microsoft.com/office/drawing/2014/main" id="{018246EA-FA63-449F-9D14-DF21D1E21CD9}"/>
              </a:ext>
            </a:extLst>
          </p:cNvPr>
          <p:cNvSpPr>
            <a:spLocks noGrp="1" noChangeArrowheads="1"/>
          </p:cNvSpPr>
          <p:nvPr>
            <p:ph idx="1"/>
          </p:nvPr>
        </p:nvSpPr>
        <p:spPr/>
        <p:txBody>
          <a:bodyPr>
            <a:normAutofit fontScale="85000" lnSpcReduction="10000"/>
          </a:bodyPr>
          <a:lstStyle/>
          <a:p>
            <a:r>
              <a:rPr lang="zh-CN" altLang="en-US" dirty="0"/>
              <a:t>提出关系模型的是美国</a:t>
            </a:r>
            <a:r>
              <a:rPr lang="en-US" altLang="zh-CN" dirty="0"/>
              <a:t>IBM</a:t>
            </a:r>
            <a:r>
              <a:rPr lang="zh-CN" altLang="en-US" dirty="0"/>
              <a:t>公司的</a:t>
            </a:r>
            <a:r>
              <a:rPr lang="en-US" altLang="zh-CN" dirty="0" err="1"/>
              <a:t>E.F.Codd</a:t>
            </a:r>
            <a:endParaRPr lang="en-US" altLang="zh-CN" dirty="0"/>
          </a:p>
          <a:p>
            <a:pPr lvl="1"/>
            <a:r>
              <a:rPr lang="en-US" altLang="zh-CN" dirty="0"/>
              <a:t>1970</a:t>
            </a:r>
            <a:r>
              <a:rPr lang="zh-CN" altLang="en-US" dirty="0"/>
              <a:t>年提出关系数据模型</a:t>
            </a:r>
          </a:p>
          <a:p>
            <a:pPr lvl="2"/>
            <a:r>
              <a:rPr lang="en-US" altLang="zh-CN" dirty="0" err="1"/>
              <a:t>E.F.Codd</a:t>
            </a:r>
            <a:r>
              <a:rPr lang="en-US" altLang="zh-CN" dirty="0"/>
              <a:t>, “A Relational Model of Data for Large Shared Data </a:t>
            </a:r>
            <a:r>
              <a:rPr lang="en-US" altLang="zh-CN" dirty="0" err="1"/>
              <a:t>Banks”,《Communication</a:t>
            </a:r>
            <a:r>
              <a:rPr lang="en-US" altLang="zh-CN" dirty="0"/>
              <a:t> of the ACM》,1970</a:t>
            </a:r>
          </a:p>
          <a:p>
            <a:pPr lvl="2"/>
            <a:r>
              <a:rPr lang="en-US" altLang="zh-CN" sz="1600" dirty="0"/>
              <a:t>1983</a:t>
            </a:r>
            <a:r>
              <a:rPr lang="zh-CN" altLang="en-US" sz="1600" dirty="0"/>
              <a:t>年</a:t>
            </a:r>
            <a:r>
              <a:rPr lang="en-US" altLang="zh-CN" sz="1600" dirty="0"/>
              <a:t>ACM</a:t>
            </a:r>
            <a:r>
              <a:rPr lang="zh-CN" altLang="en-US" sz="1600" dirty="0"/>
              <a:t>将该文列为自</a:t>
            </a:r>
            <a:r>
              <a:rPr lang="en-US" altLang="zh-CN" sz="1600" dirty="0"/>
              <a:t>1958</a:t>
            </a:r>
            <a:r>
              <a:rPr lang="zh-CN" altLang="en-US" sz="1600" dirty="0"/>
              <a:t>年以来的四分之一世纪中具有里程碑意义的</a:t>
            </a:r>
            <a:r>
              <a:rPr lang="en-US" altLang="zh-CN" sz="1600" dirty="0"/>
              <a:t>25</a:t>
            </a:r>
            <a:r>
              <a:rPr lang="zh-CN" altLang="en-US" sz="1600" dirty="0"/>
              <a:t>篇论文之一</a:t>
            </a:r>
            <a:endParaRPr lang="en-US" altLang="zh-CN" dirty="0"/>
          </a:p>
          <a:p>
            <a:pPr lvl="1">
              <a:lnSpc>
                <a:spcPct val="120000"/>
              </a:lnSpc>
            </a:pPr>
            <a:r>
              <a:rPr lang="en-US" altLang="zh-CN" dirty="0"/>
              <a:t>1972</a:t>
            </a:r>
            <a:r>
              <a:rPr lang="zh-CN" altLang="en-US" dirty="0"/>
              <a:t>，提出关系代数和关系演算，第一、第二、第三范式</a:t>
            </a:r>
          </a:p>
          <a:p>
            <a:pPr lvl="1">
              <a:lnSpc>
                <a:spcPct val="120000"/>
              </a:lnSpc>
            </a:pPr>
            <a:r>
              <a:rPr lang="en-US" altLang="zh-CN" dirty="0"/>
              <a:t>1974</a:t>
            </a:r>
            <a:r>
              <a:rPr lang="zh-CN" altLang="en-US" dirty="0"/>
              <a:t>，提出关系的</a:t>
            </a:r>
            <a:r>
              <a:rPr lang="en-US" altLang="zh-CN" dirty="0"/>
              <a:t>BC</a:t>
            </a:r>
            <a:r>
              <a:rPr lang="zh-CN" altLang="en-US" dirty="0"/>
              <a:t>范式</a:t>
            </a:r>
            <a:endParaRPr lang="en-US" altLang="zh-CN" dirty="0"/>
          </a:p>
          <a:p>
            <a:pPr lvl="1">
              <a:lnSpc>
                <a:spcPct val="120000"/>
              </a:lnSpc>
            </a:pPr>
            <a:r>
              <a:rPr lang="en-US" altLang="zh-CN" dirty="0"/>
              <a:t>1990</a:t>
            </a:r>
            <a:r>
              <a:rPr lang="zh-CN" altLang="en-US" dirty="0"/>
              <a:t>，出版专著</a:t>
            </a:r>
            <a:r>
              <a:rPr lang="en-US" altLang="zh-CN" dirty="0"/>
              <a:t>《 The Relational Model for Database Management: Version 2 》</a:t>
            </a:r>
          </a:p>
          <a:p>
            <a:pPr lvl="1">
              <a:lnSpc>
                <a:spcPct val="120000"/>
              </a:lnSpc>
            </a:pPr>
            <a:r>
              <a:rPr lang="en-US" altLang="zh-CN" dirty="0"/>
              <a:t>1981</a:t>
            </a:r>
            <a:r>
              <a:rPr lang="zh-CN" altLang="en-US" dirty="0"/>
              <a:t>，获图灵奖，演讲题目 “ </a:t>
            </a:r>
            <a:r>
              <a:rPr lang="en-US" altLang="zh-CN" dirty="0"/>
              <a:t>Relational Database: A Practical Foundation for Productivity”</a:t>
            </a:r>
          </a:p>
          <a:p>
            <a:pPr marL="342900" lvl="1" indent="0">
              <a:buNone/>
            </a:pPr>
            <a:endParaRPr lang="en-US" altLang="zh-CN" dirty="0"/>
          </a:p>
          <a:p>
            <a:r>
              <a:rPr lang="zh-CN" altLang="en-US" dirty="0"/>
              <a:t>关系数据库运用</a:t>
            </a:r>
            <a:r>
              <a:rPr lang="zh-CN" altLang="en-US" dirty="0">
                <a:solidFill>
                  <a:srgbClr val="C00000"/>
                </a:solidFill>
              </a:rPr>
              <a:t>数学方法</a:t>
            </a:r>
            <a:r>
              <a:rPr lang="zh-CN" altLang="en-US" dirty="0"/>
              <a:t>来处理数据库中的数据</a:t>
            </a:r>
          </a:p>
          <a:p>
            <a:r>
              <a:rPr lang="en-US" altLang="zh-CN" dirty="0"/>
              <a:t>1980s</a:t>
            </a:r>
            <a:r>
              <a:rPr lang="zh-CN" altLang="en-US" dirty="0"/>
              <a:t>年代以后，关系数据库系统成为</a:t>
            </a:r>
            <a:r>
              <a:rPr lang="zh-CN" altLang="en-US" dirty="0">
                <a:solidFill>
                  <a:srgbClr val="C00000"/>
                </a:solidFill>
              </a:rPr>
              <a:t>最重要、最流行</a:t>
            </a:r>
            <a:r>
              <a:rPr lang="zh-CN" altLang="en-US" dirty="0"/>
              <a:t>的数据库系统</a:t>
            </a:r>
            <a:endParaRPr lang="en-US" altLang="zh-CN" dirty="0"/>
          </a:p>
          <a:p>
            <a:r>
              <a:rPr lang="zh-CN" altLang="en-US" sz="2000" dirty="0"/>
              <a:t>标准的数据库语言</a:t>
            </a:r>
            <a:r>
              <a:rPr lang="en-US" altLang="zh-CN" sz="2000" dirty="0"/>
              <a:t>(</a:t>
            </a:r>
            <a:r>
              <a:rPr lang="en-US" altLang="zh-CN" sz="2000" dirty="0">
                <a:solidFill>
                  <a:srgbClr val="C00000"/>
                </a:solidFill>
              </a:rPr>
              <a:t>SQL</a:t>
            </a:r>
            <a:r>
              <a:rPr lang="zh-CN" altLang="en-US" sz="2000" dirty="0">
                <a:solidFill>
                  <a:srgbClr val="C00000"/>
                </a:solidFill>
              </a:rPr>
              <a:t>语言</a:t>
            </a:r>
            <a:r>
              <a:rPr lang="en-US" altLang="zh-CN" sz="2000" dirty="0"/>
              <a:t>)</a:t>
            </a:r>
            <a:r>
              <a:rPr lang="zh-CN" altLang="en-US" sz="2000" dirty="0"/>
              <a:t>是建立在关系模型基础上的，数据库领域的众多理论也都是建立在关系模型基础之上的</a:t>
            </a:r>
            <a:endParaRPr lang="en-US" altLang="zh-CN" sz="2000" dirty="0"/>
          </a:p>
        </p:txBody>
      </p:sp>
      <p:sp>
        <p:nvSpPr>
          <p:cNvPr id="4" name="灯片编号占位符 3">
            <a:extLst>
              <a:ext uri="{FF2B5EF4-FFF2-40B4-BE49-F238E27FC236}">
                <a16:creationId xmlns:a16="http://schemas.microsoft.com/office/drawing/2014/main" id="{EE0EC7D2-8CE3-44D3-B5F1-876E979254E2}"/>
              </a:ext>
            </a:extLst>
          </p:cNvPr>
          <p:cNvSpPr>
            <a:spLocks noGrp="1"/>
          </p:cNvSpPr>
          <p:nvPr>
            <p:ph type="sldNum" sz="quarter" idx="12"/>
          </p:nvPr>
        </p:nvSpPr>
        <p:spPr/>
        <p:txBody>
          <a:bodyPr/>
          <a:lstStyle/>
          <a:p>
            <a:fld id="{47C9E101-E51D-431E-84FA-C029B8655B60}" type="slidenum">
              <a:rPr lang="zh-CN" altLang="en-US" smtClean="0"/>
              <a:pPr/>
              <a:t>4</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3">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36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211969">
            <a:extLst>
              <a:ext uri="{FF2B5EF4-FFF2-40B4-BE49-F238E27FC236}">
                <a16:creationId xmlns:a16="http://schemas.microsoft.com/office/drawing/2014/main" id="{787E808D-117A-4AA8-865D-535B2EB2BB96}"/>
              </a:ext>
            </a:extLst>
          </p:cNvPr>
          <p:cNvSpPr>
            <a:spLocks noGrp="1" noChangeArrowheads="1"/>
          </p:cNvSpPr>
          <p:nvPr>
            <p:ph type="title"/>
          </p:nvPr>
        </p:nvSpPr>
        <p:spPr/>
        <p:txBody>
          <a:bodyPr/>
          <a:lstStyle/>
          <a:p>
            <a:r>
              <a:rPr lang="zh-CN" altLang="en-US"/>
              <a:t>第二章 关系数据库</a:t>
            </a:r>
          </a:p>
        </p:txBody>
      </p:sp>
      <p:sp>
        <p:nvSpPr>
          <p:cNvPr id="16387" name="文本占位符 211970">
            <a:extLst>
              <a:ext uri="{FF2B5EF4-FFF2-40B4-BE49-F238E27FC236}">
                <a16:creationId xmlns:a16="http://schemas.microsoft.com/office/drawing/2014/main" id="{F51717DE-96F5-4FC9-84CD-5A20CE58ED48}"/>
              </a:ext>
            </a:extLst>
          </p:cNvPr>
          <p:cNvSpPr>
            <a:spLocks noGrp="1" noChangeArrowheads="1"/>
          </p:cNvSpPr>
          <p:nvPr>
            <p:ph idx="1"/>
          </p:nvPr>
        </p:nvSpPr>
        <p:spPr/>
        <p:txBody>
          <a:bodyPr/>
          <a:lstStyle/>
          <a:p>
            <a:r>
              <a:rPr lang="en-US" altLang="zh-CN" dirty="0"/>
              <a:t>2.1  </a:t>
            </a:r>
            <a:r>
              <a:rPr lang="zh-CN" altLang="en-US" dirty="0"/>
              <a:t>关系数据结构及形式化定义</a:t>
            </a:r>
          </a:p>
          <a:p>
            <a:r>
              <a:rPr lang="en-US" altLang="zh-CN" dirty="0"/>
              <a:t>2.2  </a:t>
            </a:r>
            <a:r>
              <a:rPr lang="zh-CN" altLang="en-US" dirty="0"/>
              <a:t>关系操作</a:t>
            </a:r>
          </a:p>
          <a:p>
            <a:r>
              <a:rPr lang="en-US" altLang="zh-CN" dirty="0"/>
              <a:t>2.3  </a:t>
            </a:r>
            <a:r>
              <a:rPr lang="zh-CN" altLang="en-US" dirty="0"/>
              <a:t>关系的完整性</a:t>
            </a:r>
          </a:p>
          <a:p>
            <a:r>
              <a:rPr lang="en-US" altLang="zh-CN" dirty="0"/>
              <a:t>2.4  </a:t>
            </a:r>
            <a:r>
              <a:rPr lang="zh-CN" altLang="en-US" dirty="0"/>
              <a:t>关系代数</a:t>
            </a:r>
          </a:p>
          <a:p>
            <a:r>
              <a:rPr lang="en-US" altLang="zh-CN" dirty="0"/>
              <a:t>2.5  </a:t>
            </a:r>
            <a:r>
              <a:rPr lang="zh-CN" altLang="en-US" dirty="0"/>
              <a:t>关系演算</a:t>
            </a:r>
          </a:p>
          <a:p>
            <a:r>
              <a:rPr lang="en-US" altLang="zh-CN" dirty="0"/>
              <a:t>2.6  </a:t>
            </a:r>
            <a:r>
              <a:rPr lang="zh-CN" altLang="en-US" dirty="0"/>
              <a:t>小结</a:t>
            </a:r>
          </a:p>
        </p:txBody>
      </p:sp>
      <p:sp>
        <p:nvSpPr>
          <p:cNvPr id="2" name="灯片编号占位符 1">
            <a:extLst>
              <a:ext uri="{FF2B5EF4-FFF2-40B4-BE49-F238E27FC236}">
                <a16:creationId xmlns:a16="http://schemas.microsoft.com/office/drawing/2014/main" id="{A27951C7-B0FF-460D-9CC1-AF1289F1B481}"/>
              </a:ext>
            </a:extLst>
          </p:cNvPr>
          <p:cNvSpPr>
            <a:spLocks noGrp="1"/>
          </p:cNvSpPr>
          <p:nvPr>
            <p:ph type="sldNum" sz="quarter" idx="12"/>
          </p:nvPr>
        </p:nvSpPr>
        <p:spPr/>
        <p:txBody>
          <a:bodyPr/>
          <a:lstStyle/>
          <a:p>
            <a:fld id="{47C9E101-E51D-431E-84FA-C029B8655B60}" type="slidenum">
              <a:rPr lang="zh-CN" altLang="en-US" smtClean="0"/>
              <a:pPr/>
              <a:t>5</a:t>
            </a:fld>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340993">
            <a:extLst>
              <a:ext uri="{FF2B5EF4-FFF2-40B4-BE49-F238E27FC236}">
                <a16:creationId xmlns:a16="http://schemas.microsoft.com/office/drawing/2014/main" id="{D29E5F27-F800-4C88-92F8-2DEB87730A99}"/>
              </a:ext>
            </a:extLst>
          </p:cNvPr>
          <p:cNvSpPr>
            <a:spLocks noGrp="1" noChangeArrowheads="1"/>
          </p:cNvSpPr>
          <p:nvPr>
            <p:ph type="title"/>
          </p:nvPr>
        </p:nvSpPr>
        <p:spPr/>
        <p:txBody>
          <a:bodyPr/>
          <a:lstStyle/>
          <a:p>
            <a:r>
              <a:rPr lang="en-US" altLang="zh-CN"/>
              <a:t>2.1  </a:t>
            </a:r>
            <a:r>
              <a:rPr lang="zh-CN" altLang="en-US"/>
              <a:t>关系数据结构及形式化定义</a:t>
            </a:r>
          </a:p>
        </p:txBody>
      </p:sp>
      <p:sp>
        <p:nvSpPr>
          <p:cNvPr id="17411" name="文本占位符 340994">
            <a:extLst>
              <a:ext uri="{FF2B5EF4-FFF2-40B4-BE49-F238E27FC236}">
                <a16:creationId xmlns:a16="http://schemas.microsoft.com/office/drawing/2014/main" id="{CC69434F-160F-429C-ACDA-E2866AA7383D}"/>
              </a:ext>
            </a:extLst>
          </p:cNvPr>
          <p:cNvSpPr>
            <a:spLocks noGrp="1" noChangeArrowheads="1"/>
          </p:cNvSpPr>
          <p:nvPr>
            <p:ph idx="1"/>
          </p:nvPr>
        </p:nvSpPr>
        <p:spPr/>
        <p:txBody>
          <a:bodyPr/>
          <a:lstStyle/>
          <a:p>
            <a:r>
              <a:rPr lang="en-US" altLang="zh-CN"/>
              <a:t>2.1.1  </a:t>
            </a:r>
            <a:r>
              <a:rPr lang="zh-CN" altLang="en-US"/>
              <a:t>关系</a:t>
            </a:r>
          </a:p>
          <a:p>
            <a:r>
              <a:rPr lang="en-US" altLang="zh-CN"/>
              <a:t>2.1.2  </a:t>
            </a:r>
            <a:r>
              <a:rPr lang="zh-CN" altLang="en-US"/>
              <a:t>关系模式</a:t>
            </a:r>
          </a:p>
          <a:p>
            <a:r>
              <a:rPr lang="en-US" altLang="zh-CN"/>
              <a:t>2.1.3  </a:t>
            </a:r>
            <a:r>
              <a:rPr lang="zh-CN" altLang="en-US"/>
              <a:t>关系数据库</a:t>
            </a:r>
          </a:p>
        </p:txBody>
      </p:sp>
      <p:sp>
        <p:nvSpPr>
          <p:cNvPr id="2" name="灯片编号占位符 1">
            <a:extLst>
              <a:ext uri="{FF2B5EF4-FFF2-40B4-BE49-F238E27FC236}">
                <a16:creationId xmlns:a16="http://schemas.microsoft.com/office/drawing/2014/main" id="{97505193-1FF6-4AEE-A029-D598B57D4C84}"/>
              </a:ext>
            </a:extLst>
          </p:cNvPr>
          <p:cNvSpPr>
            <a:spLocks noGrp="1"/>
          </p:cNvSpPr>
          <p:nvPr>
            <p:ph type="sldNum" sz="quarter" idx="12"/>
          </p:nvPr>
        </p:nvSpPr>
        <p:spPr/>
        <p:txBody>
          <a:bodyPr/>
          <a:lstStyle/>
          <a:p>
            <a:fld id="{47C9E101-E51D-431E-84FA-C029B8655B60}" type="slidenum">
              <a:rPr lang="zh-CN" altLang="en-US" smtClean="0"/>
              <a:pPr/>
              <a:t>6</a:t>
            </a:fld>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390145">
            <a:extLst>
              <a:ext uri="{FF2B5EF4-FFF2-40B4-BE49-F238E27FC236}">
                <a16:creationId xmlns:a16="http://schemas.microsoft.com/office/drawing/2014/main" id="{DE01C14A-4F72-44DF-BE24-B2226BB9D505}"/>
              </a:ext>
            </a:extLst>
          </p:cNvPr>
          <p:cNvSpPr>
            <a:spLocks noGrp="1" noChangeArrowheads="1"/>
          </p:cNvSpPr>
          <p:nvPr>
            <p:ph type="title"/>
          </p:nvPr>
        </p:nvSpPr>
        <p:spPr/>
        <p:txBody>
          <a:bodyPr/>
          <a:lstStyle/>
          <a:p>
            <a:r>
              <a:rPr lang="en-US" altLang="zh-CN"/>
              <a:t>2.1.1 </a:t>
            </a:r>
            <a:r>
              <a:rPr lang="zh-CN" altLang="en-US"/>
              <a:t>关系</a:t>
            </a:r>
          </a:p>
        </p:txBody>
      </p:sp>
      <p:sp>
        <p:nvSpPr>
          <p:cNvPr id="18435" name="文本占位符 390146">
            <a:extLst>
              <a:ext uri="{FF2B5EF4-FFF2-40B4-BE49-F238E27FC236}">
                <a16:creationId xmlns:a16="http://schemas.microsoft.com/office/drawing/2014/main" id="{FEDA521E-8FA6-41F3-9FD6-666D2839D3C6}"/>
              </a:ext>
            </a:extLst>
          </p:cNvPr>
          <p:cNvSpPr>
            <a:spLocks noGrp="1" noChangeArrowheads="1"/>
          </p:cNvSpPr>
          <p:nvPr>
            <p:ph idx="1"/>
          </p:nvPr>
        </p:nvSpPr>
        <p:spPr/>
        <p:txBody>
          <a:bodyPr/>
          <a:lstStyle/>
          <a:p>
            <a:r>
              <a:rPr lang="zh-CN" altLang="en-US" dirty="0"/>
              <a:t>关系数据库系统是支持</a:t>
            </a:r>
            <a:r>
              <a:rPr lang="zh-CN" altLang="en-US" dirty="0">
                <a:solidFill>
                  <a:srgbClr val="C00000"/>
                </a:solidFill>
              </a:rPr>
              <a:t>关系模型</a:t>
            </a:r>
            <a:r>
              <a:rPr lang="zh-CN" altLang="en-US" dirty="0"/>
              <a:t>的数据库系统</a:t>
            </a:r>
          </a:p>
          <a:p>
            <a:r>
              <a:rPr lang="zh-CN" altLang="en-US" dirty="0"/>
              <a:t>关系模型的组成</a:t>
            </a:r>
          </a:p>
          <a:p>
            <a:pPr lvl="1"/>
            <a:r>
              <a:rPr lang="zh-CN" altLang="en-US" dirty="0"/>
              <a:t>关系数据结构</a:t>
            </a:r>
            <a:r>
              <a:rPr lang="en-US" altLang="zh-CN" dirty="0"/>
              <a:t>+</a:t>
            </a:r>
            <a:r>
              <a:rPr lang="zh-CN" altLang="en-US" dirty="0"/>
              <a:t>关系操作集合</a:t>
            </a:r>
            <a:r>
              <a:rPr lang="en-US" altLang="zh-CN" dirty="0"/>
              <a:t>+</a:t>
            </a:r>
            <a:r>
              <a:rPr lang="zh-CN" altLang="en-US" dirty="0"/>
              <a:t>关系完整性约束</a:t>
            </a:r>
          </a:p>
          <a:p>
            <a:r>
              <a:rPr lang="zh-CN" altLang="en-US" dirty="0"/>
              <a:t>关系数据结构</a:t>
            </a:r>
            <a:endParaRPr lang="en-US" altLang="zh-CN" dirty="0"/>
          </a:p>
          <a:p>
            <a:pPr lvl="1"/>
            <a:r>
              <a:rPr lang="zh-CN" altLang="en-US" dirty="0"/>
              <a:t>单一数据结构：</a:t>
            </a:r>
            <a:r>
              <a:rPr lang="zh-CN" altLang="en-US" dirty="0">
                <a:solidFill>
                  <a:srgbClr val="C00000"/>
                </a:solidFill>
              </a:rPr>
              <a:t>关系</a:t>
            </a:r>
            <a:r>
              <a:rPr lang="en-US" altLang="zh-CN" dirty="0">
                <a:solidFill>
                  <a:srgbClr val="C00000"/>
                </a:solidFill>
              </a:rPr>
              <a:t>(</a:t>
            </a:r>
            <a:r>
              <a:rPr lang="zh-CN" altLang="en-US" dirty="0">
                <a:solidFill>
                  <a:srgbClr val="C00000"/>
                </a:solidFill>
              </a:rPr>
              <a:t>二维表</a:t>
            </a:r>
            <a:r>
              <a:rPr lang="en-US" altLang="zh-CN" dirty="0">
                <a:solidFill>
                  <a:srgbClr val="C00000"/>
                </a:solidFill>
              </a:rPr>
              <a:t>)</a:t>
            </a:r>
          </a:p>
          <a:p>
            <a:pPr lvl="2"/>
            <a:r>
              <a:rPr lang="zh-CN" altLang="en-US" dirty="0"/>
              <a:t>简单但语义表达丰富：现实世界的实体以及实体间的各种联系均用</a:t>
            </a:r>
            <a:r>
              <a:rPr lang="zh-CN" altLang="en-US" dirty="0">
                <a:solidFill>
                  <a:srgbClr val="C00000"/>
                </a:solidFill>
              </a:rPr>
              <a:t>关系</a:t>
            </a:r>
            <a:r>
              <a:rPr lang="zh-CN" altLang="en-US" dirty="0"/>
              <a:t>来表示。</a:t>
            </a:r>
            <a:endParaRPr lang="en-US" altLang="zh-CN" dirty="0"/>
          </a:p>
          <a:p>
            <a:pPr lvl="1"/>
            <a:r>
              <a:rPr lang="zh-CN" altLang="en-US" dirty="0"/>
              <a:t>建立在</a:t>
            </a:r>
            <a:r>
              <a:rPr lang="zh-CN" altLang="en-US" dirty="0">
                <a:solidFill>
                  <a:srgbClr val="C00000"/>
                </a:solidFill>
              </a:rPr>
              <a:t>集合代数的</a:t>
            </a:r>
            <a:r>
              <a:rPr lang="zh-CN" altLang="en-US" dirty="0"/>
              <a:t>基础上</a:t>
            </a:r>
          </a:p>
          <a:p>
            <a:pPr marL="0" indent="0">
              <a:buNone/>
            </a:pPr>
            <a:endParaRPr lang="en-US" altLang="zh-CN" dirty="0"/>
          </a:p>
          <a:p>
            <a:pPr marL="0" indent="0">
              <a:buNone/>
            </a:pPr>
            <a:r>
              <a:rPr lang="en-US" altLang="zh-CN" dirty="0"/>
              <a:t>1. </a:t>
            </a:r>
            <a:r>
              <a:rPr lang="zh-CN" altLang="en-US" dirty="0"/>
              <a:t>域（</a:t>
            </a:r>
            <a:r>
              <a:rPr lang="en-US" altLang="zh-CN" dirty="0"/>
              <a:t>Domain</a:t>
            </a:r>
            <a:r>
              <a:rPr lang="zh-CN" altLang="en-US" dirty="0"/>
              <a:t>）</a:t>
            </a:r>
            <a:endParaRPr lang="en-US" altLang="zh-CN" dirty="0"/>
          </a:p>
          <a:p>
            <a:pPr marL="0" indent="0">
              <a:buNone/>
            </a:pPr>
            <a:r>
              <a:rPr lang="en-US" altLang="zh-CN" dirty="0"/>
              <a:t>2. </a:t>
            </a:r>
            <a:r>
              <a:rPr lang="zh-CN" altLang="en-US" dirty="0"/>
              <a:t>笛卡尔积（</a:t>
            </a:r>
            <a:r>
              <a:rPr lang="en-US" altLang="zh-CN" dirty="0"/>
              <a:t>Cartesian Product</a:t>
            </a:r>
            <a:r>
              <a:rPr lang="zh-CN" altLang="en-US" dirty="0"/>
              <a:t>）</a:t>
            </a:r>
            <a:endParaRPr lang="en-US" altLang="zh-CN" dirty="0"/>
          </a:p>
          <a:p>
            <a:pPr marL="0" indent="0">
              <a:buNone/>
            </a:pPr>
            <a:r>
              <a:rPr lang="en-US" altLang="zh-CN" dirty="0"/>
              <a:t>3. </a:t>
            </a:r>
            <a:r>
              <a:rPr lang="zh-CN" altLang="en-US" dirty="0"/>
              <a:t>关系（</a:t>
            </a:r>
            <a:r>
              <a:rPr lang="en-US" altLang="zh-CN" dirty="0"/>
              <a:t>Relation</a:t>
            </a:r>
            <a:r>
              <a:rPr lang="zh-CN" altLang="en-US" dirty="0"/>
              <a:t>）</a:t>
            </a:r>
          </a:p>
          <a:p>
            <a:endParaRPr lang="zh-CN" altLang="en-US" dirty="0"/>
          </a:p>
        </p:txBody>
      </p:sp>
      <p:sp>
        <p:nvSpPr>
          <p:cNvPr id="2" name="灯片编号占位符 1">
            <a:extLst>
              <a:ext uri="{FF2B5EF4-FFF2-40B4-BE49-F238E27FC236}">
                <a16:creationId xmlns:a16="http://schemas.microsoft.com/office/drawing/2014/main" id="{8A127269-20C8-4469-A7C3-AB3C64DDFAE4}"/>
              </a:ext>
            </a:extLst>
          </p:cNvPr>
          <p:cNvSpPr>
            <a:spLocks noGrp="1"/>
          </p:cNvSpPr>
          <p:nvPr>
            <p:ph type="sldNum" sz="quarter" idx="12"/>
          </p:nvPr>
        </p:nvSpPr>
        <p:spPr/>
        <p:txBody>
          <a:bodyPr/>
          <a:lstStyle/>
          <a:p>
            <a:fld id="{47C9E101-E51D-431E-84FA-C029B8655B60}" type="slidenum">
              <a:rPr lang="zh-CN" altLang="en-US" smtClean="0"/>
              <a:pPr/>
              <a:t>7</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5">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343041">
            <a:extLst>
              <a:ext uri="{FF2B5EF4-FFF2-40B4-BE49-F238E27FC236}">
                <a16:creationId xmlns:a16="http://schemas.microsoft.com/office/drawing/2014/main" id="{27B9D46E-D9D1-44FA-9AB2-71D708E8D770}"/>
              </a:ext>
            </a:extLst>
          </p:cNvPr>
          <p:cNvSpPr>
            <a:spLocks noGrp="1" noChangeArrowheads="1"/>
          </p:cNvSpPr>
          <p:nvPr>
            <p:ph type="title"/>
          </p:nvPr>
        </p:nvSpPr>
        <p:spPr/>
        <p:txBody>
          <a:bodyPr/>
          <a:lstStyle/>
          <a:p>
            <a:r>
              <a:rPr lang="en-US" altLang="zh-CN"/>
              <a:t>⒈ </a:t>
            </a:r>
            <a:r>
              <a:rPr lang="zh-CN" altLang="en-US"/>
              <a:t>域（</a:t>
            </a:r>
            <a:r>
              <a:rPr lang="en-US" altLang="zh-CN"/>
              <a:t>Domain</a:t>
            </a:r>
            <a:r>
              <a:rPr lang="zh-CN" altLang="en-US"/>
              <a:t>）</a:t>
            </a:r>
          </a:p>
        </p:txBody>
      </p:sp>
      <p:sp>
        <p:nvSpPr>
          <p:cNvPr id="20483" name="文本占位符 343042">
            <a:extLst>
              <a:ext uri="{FF2B5EF4-FFF2-40B4-BE49-F238E27FC236}">
                <a16:creationId xmlns:a16="http://schemas.microsoft.com/office/drawing/2014/main" id="{0BA13497-C77A-45BE-8919-6B3557874379}"/>
              </a:ext>
            </a:extLst>
          </p:cNvPr>
          <p:cNvSpPr>
            <a:spLocks noGrp="1" noChangeArrowheads="1"/>
          </p:cNvSpPr>
          <p:nvPr>
            <p:ph idx="1"/>
          </p:nvPr>
        </p:nvSpPr>
        <p:spPr/>
        <p:txBody>
          <a:bodyPr/>
          <a:lstStyle/>
          <a:p>
            <a:r>
              <a:rPr lang="zh-CN" altLang="en-US" dirty="0"/>
              <a:t>域是一组具有</a:t>
            </a:r>
            <a:r>
              <a:rPr lang="zh-CN" altLang="en-US" dirty="0">
                <a:solidFill>
                  <a:srgbClr val="C00000"/>
                </a:solidFill>
              </a:rPr>
              <a:t>相同数据类型</a:t>
            </a:r>
            <a:r>
              <a:rPr lang="zh-CN" altLang="en-US" dirty="0"/>
              <a:t>的值的集合。</a:t>
            </a:r>
          </a:p>
          <a:p>
            <a:endParaRPr lang="en-US" altLang="zh-CN" dirty="0"/>
          </a:p>
          <a:p>
            <a:r>
              <a:rPr lang="zh-CN" altLang="en-US" dirty="0"/>
              <a:t>例</a:t>
            </a:r>
            <a:r>
              <a:rPr lang="en-US" altLang="zh-CN" dirty="0"/>
              <a:t>:</a:t>
            </a:r>
          </a:p>
          <a:p>
            <a:pPr lvl="1"/>
            <a:r>
              <a:rPr lang="zh-CN" altLang="en-US" dirty="0"/>
              <a:t>整数</a:t>
            </a:r>
          </a:p>
          <a:p>
            <a:pPr lvl="1"/>
            <a:r>
              <a:rPr lang="zh-CN" altLang="en-US" dirty="0"/>
              <a:t>实数</a:t>
            </a:r>
          </a:p>
          <a:p>
            <a:pPr lvl="1"/>
            <a:r>
              <a:rPr lang="zh-CN" altLang="en-US" dirty="0"/>
              <a:t>介于某个取值范围的整数</a:t>
            </a:r>
          </a:p>
          <a:p>
            <a:pPr lvl="1"/>
            <a:r>
              <a:rPr lang="zh-CN" altLang="en-US" dirty="0"/>
              <a:t>长度指定长度的字符串集合</a:t>
            </a:r>
          </a:p>
          <a:p>
            <a:pPr lvl="1"/>
            <a:r>
              <a:rPr lang="en-US" altLang="zh-CN" dirty="0"/>
              <a:t>{‘</a:t>
            </a:r>
            <a:r>
              <a:rPr lang="zh-CN" altLang="en-US" dirty="0"/>
              <a:t>男’，‘女’</a:t>
            </a:r>
            <a:r>
              <a:rPr lang="en-US" altLang="zh-CN" dirty="0"/>
              <a:t>}</a:t>
            </a:r>
          </a:p>
          <a:p>
            <a:pPr lvl="1"/>
            <a:r>
              <a:rPr lang="en-US" altLang="zh-CN" dirty="0"/>
              <a:t>……………..</a:t>
            </a:r>
          </a:p>
        </p:txBody>
      </p:sp>
      <p:sp>
        <p:nvSpPr>
          <p:cNvPr id="2" name="灯片编号占位符 1">
            <a:extLst>
              <a:ext uri="{FF2B5EF4-FFF2-40B4-BE49-F238E27FC236}">
                <a16:creationId xmlns:a16="http://schemas.microsoft.com/office/drawing/2014/main" id="{6E9FF757-6E6C-40F6-A6A9-97EDECE8EDC6}"/>
              </a:ext>
            </a:extLst>
          </p:cNvPr>
          <p:cNvSpPr>
            <a:spLocks noGrp="1"/>
          </p:cNvSpPr>
          <p:nvPr>
            <p:ph type="sldNum" sz="quarter" idx="12"/>
          </p:nvPr>
        </p:nvSpPr>
        <p:spPr/>
        <p:txBody>
          <a:bodyPr/>
          <a:lstStyle/>
          <a:p>
            <a:fld id="{47C9E101-E51D-431E-84FA-C029B8655B60}" type="slidenum">
              <a:rPr lang="zh-CN" altLang="en-US" smtClean="0"/>
              <a:pPr/>
              <a:t>8</a:t>
            </a:fld>
            <a:endParaRPr lang="zh-CN" altLang="en-US" dirty="0"/>
          </a:p>
        </p:txBody>
      </p:sp>
      <p:pic>
        <p:nvPicPr>
          <p:cNvPr id="5" name="Picture 6">
            <a:extLst>
              <a:ext uri="{FF2B5EF4-FFF2-40B4-BE49-F238E27FC236}">
                <a16:creationId xmlns:a16="http://schemas.microsoft.com/office/drawing/2014/main" id="{0C45459B-1600-400A-9841-FC2CBE583F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5889" y="1754628"/>
            <a:ext cx="5973808" cy="227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descr="C03NF02">
            <a:extLst>
              <a:ext uri="{FF2B5EF4-FFF2-40B4-BE49-F238E27FC236}">
                <a16:creationId xmlns:a16="http://schemas.microsoft.com/office/drawing/2014/main" id="{6904FE17-F7CE-4323-8443-8BFD9DEEA96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9" t="5281" r="699" b="3336"/>
          <a:stretch/>
        </p:blipFill>
        <p:spPr>
          <a:xfrm>
            <a:off x="4678230" y="4246967"/>
            <a:ext cx="5938720" cy="2097527"/>
          </a:xfrm>
          <a:prstGeom prst="rect">
            <a:avLst/>
          </a:prstGeo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8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48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48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48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48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anim calcmode="lin" valueType="num">
                                      <p:cBhvr>
                                        <p:cTn id="31" dur="1000" fill="hold"/>
                                        <p:tgtEl>
                                          <p:spTgt spid="6"/>
                                        </p:tgtEl>
                                        <p:attrNameLst>
                                          <p:attrName>ppt_x</p:attrName>
                                        </p:attrNameLst>
                                      </p:cBhvr>
                                      <p:tavLst>
                                        <p:tav tm="0">
                                          <p:val>
                                            <p:strVal val="#ppt_x"/>
                                          </p:val>
                                        </p:tav>
                                        <p:tav tm="100000">
                                          <p:val>
                                            <p:strVal val="#ppt_x"/>
                                          </p:val>
                                        </p:tav>
                                      </p:tavLst>
                                    </p:anim>
                                    <p:anim calcmode="lin" valueType="num">
                                      <p:cBhvr>
                                        <p:cTn id="3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344065">
            <a:extLst>
              <a:ext uri="{FF2B5EF4-FFF2-40B4-BE49-F238E27FC236}">
                <a16:creationId xmlns:a16="http://schemas.microsoft.com/office/drawing/2014/main" id="{3CBB8334-BD33-4A08-BEA5-7CDB074BEDBA}"/>
              </a:ext>
            </a:extLst>
          </p:cNvPr>
          <p:cNvSpPr>
            <a:spLocks noGrp="1" noChangeArrowheads="1"/>
          </p:cNvSpPr>
          <p:nvPr>
            <p:ph type="title"/>
          </p:nvPr>
        </p:nvSpPr>
        <p:spPr/>
        <p:txBody>
          <a:bodyPr/>
          <a:lstStyle/>
          <a:p>
            <a:r>
              <a:rPr lang="en-US" altLang="zh-CN"/>
              <a:t>2. </a:t>
            </a:r>
            <a:r>
              <a:rPr lang="zh-CN" altLang="en-US"/>
              <a:t>笛卡尔积（</a:t>
            </a:r>
            <a:r>
              <a:rPr lang="en-US" altLang="zh-CN"/>
              <a:t>Cartesian Product</a:t>
            </a:r>
            <a:r>
              <a:rPr lang="zh-CN" altLang="en-US"/>
              <a:t>）</a:t>
            </a:r>
          </a:p>
        </p:txBody>
      </p:sp>
      <p:sp>
        <p:nvSpPr>
          <p:cNvPr id="21507" name="文本占位符 344066">
            <a:extLst>
              <a:ext uri="{FF2B5EF4-FFF2-40B4-BE49-F238E27FC236}">
                <a16:creationId xmlns:a16="http://schemas.microsoft.com/office/drawing/2014/main" id="{BE64C77A-02B1-4B31-95D3-0C6FD4BEBDDC}"/>
              </a:ext>
            </a:extLst>
          </p:cNvPr>
          <p:cNvSpPr>
            <a:spLocks noGrp="1" noChangeArrowheads="1"/>
          </p:cNvSpPr>
          <p:nvPr>
            <p:ph idx="1"/>
          </p:nvPr>
        </p:nvSpPr>
        <p:spPr/>
        <p:txBody>
          <a:bodyPr/>
          <a:lstStyle/>
          <a:p>
            <a:r>
              <a:rPr lang="zh-CN" altLang="en-US" dirty="0">
                <a:solidFill>
                  <a:srgbClr val="C00000"/>
                </a:solidFill>
              </a:rPr>
              <a:t>笛卡尔积</a:t>
            </a:r>
          </a:p>
          <a:p>
            <a:pPr lvl="1"/>
            <a:r>
              <a:rPr lang="zh-CN" altLang="en-US" dirty="0"/>
              <a:t>给定一组域</a:t>
            </a:r>
            <a:r>
              <a:rPr lang="en-US" altLang="zh-CN" i="1" dirty="0"/>
              <a:t>D</a:t>
            </a:r>
            <a:r>
              <a:rPr lang="en-US" altLang="zh-CN" baseline="-25000" dirty="0"/>
              <a:t>1</a:t>
            </a:r>
            <a:r>
              <a:rPr lang="zh-CN" altLang="en-US" dirty="0"/>
              <a:t>，</a:t>
            </a:r>
            <a:r>
              <a:rPr lang="en-US" altLang="zh-CN" i="1" dirty="0"/>
              <a:t>D</a:t>
            </a:r>
            <a:r>
              <a:rPr lang="en-US" altLang="zh-CN" baseline="-25000" dirty="0"/>
              <a:t>2</a:t>
            </a:r>
            <a:r>
              <a:rPr lang="zh-CN" altLang="en-US" dirty="0"/>
              <a:t>，</a:t>
            </a:r>
            <a:r>
              <a:rPr lang="en-US" altLang="zh-CN" dirty="0"/>
              <a:t>…</a:t>
            </a:r>
            <a:r>
              <a:rPr lang="zh-CN" altLang="en-US" dirty="0"/>
              <a:t>，</a:t>
            </a:r>
            <a:r>
              <a:rPr lang="en-US" altLang="zh-CN" i="1" dirty="0" err="1"/>
              <a:t>D</a:t>
            </a:r>
            <a:r>
              <a:rPr lang="en-US" altLang="zh-CN" i="1" baseline="-25000" dirty="0" err="1"/>
              <a:t>n</a:t>
            </a:r>
            <a:r>
              <a:rPr lang="en-US" altLang="zh-CN" i="1" baseline="-25000" dirty="0"/>
              <a:t> </a:t>
            </a:r>
            <a:r>
              <a:rPr lang="zh-CN" altLang="en-US" dirty="0"/>
              <a:t>，这些域中可以有相同的，</a:t>
            </a:r>
            <a:r>
              <a:rPr lang="en-US" altLang="zh-CN" i="1" dirty="0"/>
              <a:t> D</a:t>
            </a:r>
            <a:r>
              <a:rPr lang="en-US" altLang="zh-CN" baseline="-25000" dirty="0"/>
              <a:t>1</a:t>
            </a:r>
            <a:r>
              <a:rPr lang="zh-CN" altLang="en-US" dirty="0"/>
              <a:t>，</a:t>
            </a:r>
            <a:r>
              <a:rPr lang="en-US" altLang="zh-CN" i="1" dirty="0"/>
              <a:t>D</a:t>
            </a:r>
            <a:r>
              <a:rPr lang="en-US" altLang="zh-CN" baseline="-25000" dirty="0"/>
              <a:t>2</a:t>
            </a:r>
            <a:r>
              <a:rPr lang="zh-CN" altLang="en-US" dirty="0"/>
              <a:t>，</a:t>
            </a:r>
            <a:r>
              <a:rPr lang="en-US" altLang="zh-CN" dirty="0"/>
              <a:t>…</a:t>
            </a:r>
            <a:r>
              <a:rPr lang="zh-CN" altLang="en-US" dirty="0"/>
              <a:t>，</a:t>
            </a:r>
            <a:r>
              <a:rPr lang="en-US" altLang="zh-CN" i="1" dirty="0" err="1"/>
              <a:t>D</a:t>
            </a:r>
            <a:r>
              <a:rPr lang="en-US" altLang="zh-CN" i="1" baseline="-25000" dirty="0" err="1"/>
              <a:t>n</a:t>
            </a:r>
            <a:r>
              <a:rPr lang="zh-CN" altLang="en-US" dirty="0"/>
              <a:t>的</a:t>
            </a:r>
            <a:r>
              <a:rPr lang="zh-CN" altLang="en-US" dirty="0">
                <a:solidFill>
                  <a:srgbClr val="C00000"/>
                </a:solidFill>
              </a:rPr>
              <a:t>笛卡尔积</a:t>
            </a:r>
            <a:r>
              <a:rPr lang="zh-CN" altLang="en-US" dirty="0"/>
              <a:t>为：</a:t>
            </a:r>
          </a:p>
          <a:p>
            <a:pPr marL="342900" lvl="1" indent="0">
              <a:lnSpc>
                <a:spcPct val="125000"/>
              </a:lnSpc>
              <a:buNone/>
            </a:pPr>
            <a:r>
              <a:rPr lang="en-US" altLang="zh-CN" i="1" dirty="0"/>
              <a:t>D</a:t>
            </a:r>
            <a:r>
              <a:rPr lang="en-US" altLang="zh-CN" baseline="-25000" dirty="0"/>
              <a:t>1</a:t>
            </a:r>
            <a:r>
              <a:rPr lang="en-US" altLang="zh-CN" dirty="0"/>
              <a:t>×</a:t>
            </a:r>
            <a:r>
              <a:rPr lang="en-US" altLang="zh-CN" i="1" dirty="0"/>
              <a:t>D</a:t>
            </a:r>
            <a:r>
              <a:rPr lang="en-US" altLang="zh-CN" baseline="-25000" dirty="0"/>
              <a:t>2</a:t>
            </a:r>
            <a:r>
              <a:rPr lang="en-US" altLang="zh-CN" dirty="0"/>
              <a:t>×</a:t>
            </a:r>
            <a:r>
              <a:rPr lang="en-US" altLang="zh-CN" dirty="0">
                <a:latin typeface="Verdana" panose="020B0604030504040204" pitchFamily="34" charset="0"/>
              </a:rPr>
              <a:t>…</a:t>
            </a:r>
            <a:r>
              <a:rPr lang="en-US" altLang="zh-CN" dirty="0"/>
              <a:t>×</a:t>
            </a:r>
            <a:r>
              <a:rPr lang="en-US" altLang="zh-CN" i="1" dirty="0" err="1"/>
              <a:t>D</a:t>
            </a:r>
            <a:r>
              <a:rPr lang="en-US" altLang="zh-CN" i="1" baseline="-25000" dirty="0" err="1"/>
              <a:t>n</a:t>
            </a:r>
            <a:r>
              <a:rPr lang="zh-CN" altLang="en-US" dirty="0"/>
              <a:t>＝｛</a:t>
            </a:r>
            <a:r>
              <a:rPr lang="zh-CN" altLang="en-US" dirty="0">
                <a:solidFill>
                  <a:srgbClr val="C00000"/>
                </a:solidFill>
              </a:rPr>
              <a:t>（</a:t>
            </a:r>
            <a:r>
              <a:rPr lang="en-US" altLang="zh-CN" i="1" dirty="0">
                <a:solidFill>
                  <a:srgbClr val="C00000"/>
                </a:solidFill>
              </a:rPr>
              <a:t>d</a:t>
            </a:r>
            <a:r>
              <a:rPr lang="en-US" altLang="zh-CN" baseline="-25000" dirty="0">
                <a:solidFill>
                  <a:srgbClr val="C00000"/>
                </a:solidFill>
              </a:rPr>
              <a:t>1</a:t>
            </a:r>
            <a:r>
              <a:rPr lang="zh-CN" altLang="en-US" dirty="0">
                <a:solidFill>
                  <a:srgbClr val="C00000"/>
                </a:solidFill>
              </a:rPr>
              <a:t>，</a:t>
            </a:r>
            <a:r>
              <a:rPr lang="en-US" altLang="zh-CN" i="1" dirty="0">
                <a:solidFill>
                  <a:srgbClr val="C00000"/>
                </a:solidFill>
              </a:rPr>
              <a:t>d</a:t>
            </a:r>
            <a:r>
              <a:rPr lang="en-US" altLang="zh-CN" baseline="-25000" dirty="0">
                <a:solidFill>
                  <a:srgbClr val="C00000"/>
                </a:solidFill>
              </a:rPr>
              <a:t>2</a:t>
            </a:r>
            <a:r>
              <a:rPr lang="zh-CN" altLang="en-US" dirty="0">
                <a:solidFill>
                  <a:srgbClr val="C00000"/>
                </a:solidFill>
              </a:rPr>
              <a:t>，</a:t>
            </a:r>
            <a:r>
              <a:rPr lang="en-US" altLang="zh-CN" dirty="0">
                <a:solidFill>
                  <a:srgbClr val="C00000"/>
                </a:solidFill>
                <a:latin typeface="Verdana" panose="020B0604030504040204" pitchFamily="34" charset="0"/>
              </a:rPr>
              <a:t>…</a:t>
            </a:r>
            <a:r>
              <a:rPr lang="zh-CN" altLang="en-US" dirty="0">
                <a:solidFill>
                  <a:srgbClr val="C00000"/>
                </a:solidFill>
              </a:rPr>
              <a:t>，</a:t>
            </a:r>
            <a:r>
              <a:rPr lang="en-US" altLang="zh-CN" i="1" dirty="0" err="1">
                <a:solidFill>
                  <a:srgbClr val="C00000"/>
                </a:solidFill>
              </a:rPr>
              <a:t>d</a:t>
            </a:r>
            <a:r>
              <a:rPr lang="en-US" altLang="zh-CN" i="1" baseline="-25000" dirty="0" err="1">
                <a:solidFill>
                  <a:srgbClr val="C00000"/>
                </a:solidFill>
              </a:rPr>
              <a:t>n</a:t>
            </a:r>
            <a:r>
              <a:rPr lang="zh-CN" altLang="en-US" dirty="0">
                <a:solidFill>
                  <a:srgbClr val="C00000"/>
                </a:solidFill>
              </a:rPr>
              <a:t>）</a:t>
            </a:r>
            <a:r>
              <a:rPr lang="zh-CN" altLang="en-US" dirty="0"/>
              <a:t>｜</a:t>
            </a:r>
            <a:r>
              <a:rPr lang="en-US" altLang="zh-CN" i="1" dirty="0" err="1"/>
              <a:t>d</a:t>
            </a:r>
            <a:r>
              <a:rPr lang="en-US" altLang="zh-CN" i="1" baseline="-25000" dirty="0" err="1"/>
              <a:t>i</a:t>
            </a:r>
            <a:r>
              <a:rPr lang="en-US" altLang="zh-CN" dirty="0" err="1">
                <a:sym typeface="Symbol" panose="05050102010706020507" pitchFamily="18" charset="2"/>
              </a:rPr>
              <a:t></a:t>
            </a:r>
            <a:r>
              <a:rPr lang="en-US" altLang="zh-CN" i="1" dirty="0" err="1"/>
              <a:t>D</a:t>
            </a:r>
            <a:r>
              <a:rPr lang="en-US" altLang="zh-CN" i="1" baseline="-25000" dirty="0" err="1"/>
              <a:t>i</a:t>
            </a:r>
            <a:r>
              <a:rPr lang="zh-CN" altLang="en-US" dirty="0"/>
              <a:t>，</a:t>
            </a:r>
            <a:r>
              <a:rPr lang="en-US" altLang="zh-CN" i="1" dirty="0" err="1"/>
              <a:t>i</a:t>
            </a:r>
            <a:r>
              <a:rPr lang="zh-CN" altLang="en-US" dirty="0"/>
              <a:t>＝</a:t>
            </a:r>
            <a:r>
              <a:rPr lang="en-US" altLang="zh-CN" dirty="0"/>
              <a:t>1</a:t>
            </a:r>
            <a:r>
              <a:rPr lang="zh-CN" altLang="en-US" dirty="0"/>
              <a:t>，</a:t>
            </a:r>
            <a:r>
              <a:rPr lang="en-US" altLang="zh-CN" dirty="0"/>
              <a:t>2</a:t>
            </a:r>
            <a:r>
              <a:rPr lang="zh-CN" altLang="en-US" dirty="0"/>
              <a:t>，</a:t>
            </a:r>
            <a:r>
              <a:rPr lang="en-US" altLang="zh-CN" dirty="0">
                <a:latin typeface="Verdana" panose="020B0604030504040204" pitchFamily="34" charset="0"/>
              </a:rPr>
              <a:t>…</a:t>
            </a:r>
            <a:r>
              <a:rPr lang="zh-CN" altLang="en-US" dirty="0"/>
              <a:t>，</a:t>
            </a:r>
            <a:r>
              <a:rPr lang="en-US" altLang="zh-CN" i="1" dirty="0"/>
              <a:t>n</a:t>
            </a:r>
            <a:r>
              <a:rPr lang="zh-CN" altLang="en-US" dirty="0"/>
              <a:t>｝</a:t>
            </a:r>
            <a:endParaRPr lang="en-US" altLang="zh-CN" dirty="0"/>
          </a:p>
          <a:p>
            <a:pPr lvl="1"/>
            <a:r>
              <a:rPr lang="zh-CN" altLang="en-US" dirty="0"/>
              <a:t>所有域的所有取值的一个组合</a:t>
            </a:r>
            <a:endParaRPr lang="en-US" altLang="zh-CN" dirty="0"/>
          </a:p>
          <a:p>
            <a:pPr lvl="1"/>
            <a:r>
              <a:rPr lang="zh-CN" altLang="en-US" dirty="0"/>
              <a:t>不能重复</a:t>
            </a:r>
            <a:endParaRPr lang="en-US" altLang="zh-CN" dirty="0"/>
          </a:p>
          <a:p>
            <a:endParaRPr lang="en-US" altLang="zh-CN" dirty="0"/>
          </a:p>
          <a:p>
            <a:r>
              <a:rPr lang="zh-CN" altLang="en-US" dirty="0">
                <a:solidFill>
                  <a:srgbClr val="C00000"/>
                </a:solidFill>
              </a:rPr>
              <a:t>元组（</a:t>
            </a:r>
            <a:r>
              <a:rPr lang="en-US" altLang="zh-CN" dirty="0">
                <a:solidFill>
                  <a:srgbClr val="C00000"/>
                </a:solidFill>
              </a:rPr>
              <a:t>Tuple</a:t>
            </a:r>
            <a:r>
              <a:rPr lang="zh-CN" altLang="en-US" dirty="0">
                <a:solidFill>
                  <a:srgbClr val="C00000"/>
                </a:solidFill>
              </a:rPr>
              <a:t>）</a:t>
            </a:r>
            <a:endParaRPr lang="en-US" altLang="zh-CN" dirty="0">
              <a:solidFill>
                <a:srgbClr val="C00000"/>
              </a:solidFill>
            </a:endParaRPr>
          </a:p>
          <a:p>
            <a:pPr lvl="1"/>
            <a:r>
              <a:rPr lang="zh-CN" altLang="en-US" dirty="0"/>
              <a:t>笛卡尔积中每一个元素（</a:t>
            </a:r>
            <a:r>
              <a:rPr lang="en-US" altLang="zh-CN" i="1" dirty="0"/>
              <a:t>d</a:t>
            </a:r>
            <a:r>
              <a:rPr lang="en-US" altLang="zh-CN" baseline="-25000" dirty="0"/>
              <a:t>1</a:t>
            </a:r>
            <a:r>
              <a:rPr lang="zh-CN" altLang="en-US" dirty="0"/>
              <a:t>，</a:t>
            </a:r>
            <a:r>
              <a:rPr lang="en-US" altLang="zh-CN" i="1" dirty="0"/>
              <a:t>d</a:t>
            </a:r>
            <a:r>
              <a:rPr lang="en-US" altLang="zh-CN" baseline="-25000" dirty="0"/>
              <a:t>2</a:t>
            </a:r>
            <a:r>
              <a:rPr lang="zh-CN" altLang="en-US" dirty="0"/>
              <a:t>，</a:t>
            </a:r>
            <a:r>
              <a:rPr lang="en-US" altLang="zh-CN" dirty="0">
                <a:latin typeface="Verdana" panose="020B0604030504040204" pitchFamily="34" charset="0"/>
              </a:rPr>
              <a:t>…</a:t>
            </a:r>
            <a:r>
              <a:rPr lang="zh-CN" altLang="en-US" dirty="0"/>
              <a:t>，</a:t>
            </a:r>
            <a:r>
              <a:rPr lang="en-US" altLang="zh-CN" i="1" dirty="0" err="1"/>
              <a:t>d</a:t>
            </a:r>
            <a:r>
              <a:rPr lang="en-US" altLang="zh-CN" i="1" baseline="-25000" dirty="0" err="1"/>
              <a:t>n</a:t>
            </a:r>
            <a:r>
              <a:rPr lang="zh-CN" altLang="en-US" dirty="0"/>
              <a:t>）叫作一个</a:t>
            </a:r>
            <a:r>
              <a:rPr lang="en-US" altLang="zh-CN" i="1" dirty="0"/>
              <a:t>n</a:t>
            </a:r>
            <a:r>
              <a:rPr lang="zh-CN" altLang="en-US" dirty="0"/>
              <a:t>元组（</a:t>
            </a:r>
            <a:r>
              <a:rPr lang="en-US" altLang="zh-CN" dirty="0"/>
              <a:t>n-tuple</a:t>
            </a:r>
            <a:r>
              <a:rPr lang="zh-CN" altLang="en-US" dirty="0"/>
              <a:t>）或简称</a:t>
            </a:r>
            <a:r>
              <a:rPr lang="zh-CN" altLang="en-US" dirty="0">
                <a:solidFill>
                  <a:srgbClr val="C00000"/>
                </a:solidFill>
              </a:rPr>
              <a:t>元组</a:t>
            </a:r>
            <a:r>
              <a:rPr lang="zh-CN" altLang="en-US" dirty="0"/>
              <a:t>。</a:t>
            </a:r>
            <a:endParaRPr lang="en-US" altLang="zh-CN" dirty="0"/>
          </a:p>
          <a:p>
            <a:pPr lvl="1"/>
            <a:endParaRPr lang="zh-CN" altLang="en-US" dirty="0"/>
          </a:p>
          <a:p>
            <a:r>
              <a:rPr lang="zh-CN" altLang="en-US" dirty="0">
                <a:solidFill>
                  <a:srgbClr val="C00000"/>
                </a:solidFill>
              </a:rPr>
              <a:t>分量（</a:t>
            </a:r>
            <a:r>
              <a:rPr lang="en-US" altLang="zh-CN" dirty="0">
                <a:solidFill>
                  <a:srgbClr val="C00000"/>
                </a:solidFill>
              </a:rPr>
              <a:t>Component</a:t>
            </a:r>
            <a:r>
              <a:rPr lang="zh-CN" altLang="en-US" dirty="0">
                <a:solidFill>
                  <a:srgbClr val="C00000"/>
                </a:solidFill>
              </a:rPr>
              <a:t>）</a:t>
            </a:r>
            <a:endParaRPr lang="en-US" altLang="zh-CN" dirty="0">
              <a:solidFill>
                <a:srgbClr val="C00000"/>
              </a:solidFill>
            </a:endParaRPr>
          </a:p>
          <a:p>
            <a:pPr lvl="1"/>
            <a:r>
              <a:rPr lang="zh-CN" altLang="en-US" dirty="0"/>
              <a:t>笛卡尔积元素（</a:t>
            </a:r>
            <a:r>
              <a:rPr lang="en-US" altLang="zh-CN" i="1" dirty="0"/>
              <a:t>d</a:t>
            </a:r>
            <a:r>
              <a:rPr lang="en-US" altLang="zh-CN" baseline="-25000" dirty="0"/>
              <a:t>1</a:t>
            </a:r>
            <a:r>
              <a:rPr lang="zh-CN" altLang="en-US" dirty="0"/>
              <a:t>，</a:t>
            </a:r>
            <a:r>
              <a:rPr lang="en-US" altLang="zh-CN" i="1" dirty="0"/>
              <a:t>d</a:t>
            </a:r>
            <a:r>
              <a:rPr lang="en-US" altLang="zh-CN" baseline="-25000" dirty="0"/>
              <a:t>2</a:t>
            </a:r>
            <a:r>
              <a:rPr lang="zh-CN" altLang="en-US" dirty="0"/>
              <a:t>，</a:t>
            </a:r>
            <a:r>
              <a:rPr lang="en-US" altLang="zh-CN" dirty="0">
                <a:latin typeface="Verdana" panose="020B0604030504040204" pitchFamily="34" charset="0"/>
              </a:rPr>
              <a:t>…</a:t>
            </a:r>
            <a:r>
              <a:rPr lang="zh-CN" altLang="en-US" dirty="0"/>
              <a:t>，</a:t>
            </a:r>
            <a:r>
              <a:rPr lang="en-US" altLang="zh-CN" i="1" dirty="0" err="1"/>
              <a:t>d</a:t>
            </a:r>
            <a:r>
              <a:rPr lang="en-US" altLang="zh-CN" i="1" baseline="-25000" dirty="0" err="1"/>
              <a:t>n</a:t>
            </a:r>
            <a:r>
              <a:rPr lang="zh-CN" altLang="en-US" dirty="0"/>
              <a:t>）中的每一个值</a:t>
            </a:r>
            <a:r>
              <a:rPr lang="en-US" altLang="zh-CN" i="1" dirty="0"/>
              <a:t>d</a:t>
            </a:r>
            <a:r>
              <a:rPr lang="en-US" altLang="zh-CN" i="1" baseline="-25000" dirty="0"/>
              <a:t>i</a:t>
            </a:r>
            <a:r>
              <a:rPr lang="zh-CN" altLang="en-US" dirty="0"/>
              <a:t>叫作一个</a:t>
            </a:r>
            <a:r>
              <a:rPr lang="zh-CN" altLang="en-US" dirty="0">
                <a:solidFill>
                  <a:srgbClr val="C00000"/>
                </a:solidFill>
              </a:rPr>
              <a:t>分量</a:t>
            </a:r>
            <a:r>
              <a:rPr lang="zh-CN" altLang="en-US" dirty="0"/>
              <a:t>。</a:t>
            </a:r>
          </a:p>
        </p:txBody>
      </p:sp>
      <p:sp>
        <p:nvSpPr>
          <p:cNvPr id="2" name="灯片编号占位符 1">
            <a:extLst>
              <a:ext uri="{FF2B5EF4-FFF2-40B4-BE49-F238E27FC236}">
                <a16:creationId xmlns:a16="http://schemas.microsoft.com/office/drawing/2014/main" id="{4C8B7985-73E7-4547-A252-597212828927}"/>
              </a:ext>
            </a:extLst>
          </p:cNvPr>
          <p:cNvSpPr>
            <a:spLocks noGrp="1"/>
          </p:cNvSpPr>
          <p:nvPr>
            <p:ph type="sldNum" sz="quarter" idx="12"/>
          </p:nvPr>
        </p:nvSpPr>
        <p:spPr/>
        <p:txBody>
          <a:bodyPr/>
          <a:lstStyle/>
          <a:p>
            <a:fld id="{47C9E101-E51D-431E-84FA-C029B8655B60}" type="slidenum">
              <a:rPr lang="zh-CN" altLang="en-US" smtClean="0"/>
              <a:pPr/>
              <a:t>9</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7">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507">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50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347137">
            <a:extLst>
              <a:ext uri="{FF2B5EF4-FFF2-40B4-BE49-F238E27FC236}">
                <a16:creationId xmlns:a16="http://schemas.microsoft.com/office/drawing/2014/main" id="{540B9CFA-8A96-4DC5-A862-DD694173D058}"/>
              </a:ext>
            </a:extLst>
          </p:cNvPr>
          <p:cNvSpPr>
            <a:spLocks noGrp="1" noChangeArrowheads="1"/>
          </p:cNvSpPr>
          <p:nvPr>
            <p:ph type="title"/>
          </p:nvPr>
        </p:nvSpPr>
        <p:spPr/>
        <p:txBody>
          <a:bodyPr/>
          <a:lstStyle/>
          <a:p>
            <a:r>
              <a:rPr lang="zh-CN" altLang="en-US"/>
              <a:t>笛卡尔积（续</a:t>
            </a:r>
            <a:r>
              <a:rPr lang="en-US" altLang="zh-CN"/>
              <a:t>)</a:t>
            </a:r>
            <a:endParaRPr lang="en-US" altLang="zh-CN" dirty="0"/>
          </a:p>
        </p:txBody>
      </p:sp>
      <p:sp>
        <p:nvSpPr>
          <p:cNvPr id="4" name="内容占位符 3">
            <a:extLst>
              <a:ext uri="{FF2B5EF4-FFF2-40B4-BE49-F238E27FC236}">
                <a16:creationId xmlns:a16="http://schemas.microsoft.com/office/drawing/2014/main" id="{A03D2EEE-D0FC-4028-BA93-81BBBCB2BA08}"/>
              </a:ext>
            </a:extLst>
          </p:cNvPr>
          <p:cNvSpPr>
            <a:spLocks noGrp="1"/>
          </p:cNvSpPr>
          <p:nvPr>
            <p:ph idx="1"/>
          </p:nvPr>
        </p:nvSpPr>
        <p:spPr/>
        <p:txBody>
          <a:bodyPr>
            <a:normAutofit/>
          </a:bodyPr>
          <a:lstStyle/>
          <a:p>
            <a:pPr>
              <a:spcBef>
                <a:spcPct val="0"/>
              </a:spcBef>
            </a:pPr>
            <a:r>
              <a:rPr lang="zh-CN" altLang="en-US" dirty="0"/>
              <a:t>例如：</a:t>
            </a:r>
          </a:p>
          <a:p>
            <a:pPr>
              <a:spcBef>
                <a:spcPct val="0"/>
              </a:spcBef>
              <a:buNone/>
            </a:pPr>
            <a:r>
              <a:rPr lang="en-US" altLang="zh-CN" i="1" dirty="0"/>
              <a:t>D</a:t>
            </a:r>
            <a:r>
              <a:rPr lang="en-US" altLang="zh-CN" baseline="-25000" dirty="0"/>
              <a:t>1 = </a:t>
            </a:r>
            <a:r>
              <a:rPr lang="zh-CN" altLang="en-US" dirty="0"/>
              <a:t>｛</a:t>
            </a:r>
            <a:r>
              <a:rPr lang="en-US" altLang="zh-CN" dirty="0"/>
              <a:t>1</a:t>
            </a:r>
            <a:r>
              <a:rPr lang="zh-CN" altLang="en-US" dirty="0"/>
              <a:t>，</a:t>
            </a:r>
            <a:r>
              <a:rPr lang="en-US" altLang="zh-CN" dirty="0"/>
              <a:t>2</a:t>
            </a:r>
            <a:r>
              <a:rPr lang="zh-CN" altLang="en-US" dirty="0"/>
              <a:t>｝</a:t>
            </a:r>
          </a:p>
          <a:p>
            <a:pPr>
              <a:spcBef>
                <a:spcPct val="0"/>
              </a:spcBef>
              <a:buNone/>
            </a:pPr>
            <a:r>
              <a:rPr lang="en-US" altLang="zh-CN" i="1" dirty="0"/>
              <a:t>D</a:t>
            </a:r>
            <a:r>
              <a:rPr lang="en-US" altLang="zh-CN" baseline="-25000" dirty="0"/>
              <a:t>2 = </a:t>
            </a:r>
            <a:r>
              <a:rPr lang="zh-CN" altLang="en-US" dirty="0"/>
              <a:t>｛</a:t>
            </a:r>
            <a:r>
              <a:rPr lang="en-US" altLang="zh-CN" dirty="0"/>
              <a:t>3</a:t>
            </a:r>
            <a:r>
              <a:rPr lang="zh-CN" altLang="en-US" dirty="0"/>
              <a:t>，</a:t>
            </a:r>
            <a:r>
              <a:rPr lang="en-US" altLang="zh-CN" dirty="0"/>
              <a:t>4</a:t>
            </a:r>
            <a:r>
              <a:rPr lang="zh-CN" altLang="en-US" dirty="0"/>
              <a:t>｝</a:t>
            </a:r>
          </a:p>
          <a:p>
            <a:pPr>
              <a:spcBef>
                <a:spcPct val="0"/>
              </a:spcBef>
              <a:buNone/>
            </a:pPr>
            <a:r>
              <a:rPr lang="en-US" altLang="zh-CN" i="1" dirty="0"/>
              <a:t>D</a:t>
            </a:r>
            <a:r>
              <a:rPr lang="en-US" altLang="zh-CN" baseline="-25000" dirty="0"/>
              <a:t>3 = </a:t>
            </a:r>
            <a:r>
              <a:rPr lang="zh-CN" altLang="en-US" dirty="0"/>
              <a:t>｛</a:t>
            </a:r>
            <a:r>
              <a:rPr lang="en-US" altLang="zh-CN" dirty="0"/>
              <a:t>5</a:t>
            </a:r>
            <a:r>
              <a:rPr lang="zh-CN" altLang="en-US" dirty="0"/>
              <a:t>，</a:t>
            </a:r>
            <a:r>
              <a:rPr lang="en-US" altLang="zh-CN" dirty="0"/>
              <a:t>6</a:t>
            </a:r>
            <a:r>
              <a:rPr lang="zh-CN" altLang="en-US" dirty="0"/>
              <a:t>｝</a:t>
            </a:r>
          </a:p>
          <a:p>
            <a:pPr>
              <a:spcBef>
                <a:spcPct val="0"/>
              </a:spcBef>
              <a:buNone/>
            </a:pPr>
            <a:r>
              <a:rPr lang="en-US" altLang="zh-CN" i="1" dirty="0"/>
              <a:t>D</a:t>
            </a:r>
            <a:r>
              <a:rPr lang="en-US" altLang="zh-CN" baseline="-25000" dirty="0"/>
              <a:t>1</a:t>
            </a:r>
            <a:r>
              <a:rPr lang="en-US" altLang="zh-CN" dirty="0"/>
              <a:t>×</a:t>
            </a:r>
            <a:r>
              <a:rPr lang="en-US" altLang="zh-CN" i="1" dirty="0"/>
              <a:t>D</a:t>
            </a:r>
            <a:r>
              <a:rPr lang="en-US" altLang="zh-CN" baseline="-25000" dirty="0"/>
              <a:t>2</a:t>
            </a:r>
            <a:r>
              <a:rPr lang="en-US" altLang="zh-CN" dirty="0"/>
              <a:t>×</a:t>
            </a:r>
            <a:r>
              <a:rPr lang="en-US" altLang="zh-CN" i="1" dirty="0"/>
              <a:t>D</a:t>
            </a:r>
            <a:r>
              <a:rPr lang="en-US" altLang="zh-CN" i="1" baseline="-25000" dirty="0"/>
              <a:t>3  </a:t>
            </a:r>
            <a:r>
              <a:rPr lang="en-US" altLang="zh-CN" baseline="-25000" dirty="0"/>
              <a:t>= </a:t>
            </a:r>
            <a:r>
              <a:rPr lang="zh-CN" altLang="en-US" dirty="0">
                <a:solidFill>
                  <a:srgbClr val="3333FF"/>
                </a:solidFill>
              </a:rPr>
              <a:t>？</a:t>
            </a:r>
          </a:p>
        </p:txBody>
      </p:sp>
      <p:sp>
        <p:nvSpPr>
          <p:cNvPr id="3" name="灯片编号占位符 2">
            <a:extLst>
              <a:ext uri="{FF2B5EF4-FFF2-40B4-BE49-F238E27FC236}">
                <a16:creationId xmlns:a16="http://schemas.microsoft.com/office/drawing/2014/main" id="{4C62C914-EDDF-4CB8-B25B-DDE034635CEF}"/>
              </a:ext>
            </a:extLst>
          </p:cNvPr>
          <p:cNvSpPr>
            <a:spLocks noGrp="1"/>
          </p:cNvSpPr>
          <p:nvPr>
            <p:ph type="sldNum" sz="quarter" idx="12"/>
          </p:nvPr>
        </p:nvSpPr>
        <p:spPr/>
        <p:txBody>
          <a:bodyPr/>
          <a:lstStyle/>
          <a:p>
            <a:fld id="{47C9E101-E51D-431E-84FA-C029B8655B60}" type="slidenum">
              <a:rPr lang="zh-CN" altLang="en-US" smtClean="0"/>
              <a:pPr/>
              <a:t>10</a:t>
            </a:fld>
            <a:endParaRPr lang="zh-CN" altLang="en-US" dirty="0"/>
          </a:p>
        </p:txBody>
      </p:sp>
      <p:graphicFrame>
        <p:nvGraphicFramePr>
          <p:cNvPr id="5" name="Group 46">
            <a:extLst>
              <a:ext uri="{FF2B5EF4-FFF2-40B4-BE49-F238E27FC236}">
                <a16:creationId xmlns:a16="http://schemas.microsoft.com/office/drawing/2014/main" id="{8505F12C-8EA0-4556-BBC0-D2536C1D10B9}"/>
              </a:ext>
            </a:extLst>
          </p:cNvPr>
          <p:cNvGraphicFramePr>
            <a:graphicFrameLocks/>
          </p:cNvGraphicFramePr>
          <p:nvPr>
            <p:extLst>
              <p:ext uri="{D42A27DB-BD31-4B8C-83A1-F6EECF244321}">
                <p14:modId xmlns:p14="http://schemas.microsoft.com/office/powerpoint/2010/main" val="3648562510"/>
              </p:ext>
            </p:extLst>
          </p:nvPr>
        </p:nvGraphicFramePr>
        <p:xfrm>
          <a:off x="5684576" y="1831181"/>
          <a:ext cx="2265392" cy="2925792"/>
        </p:xfrm>
        <a:graphic>
          <a:graphicData uri="http://schemas.openxmlformats.org/drawingml/2006/table">
            <a:tbl>
              <a:tblPr/>
              <a:tblGrid>
                <a:gridCol w="755769">
                  <a:extLst>
                    <a:ext uri="{9D8B030D-6E8A-4147-A177-3AD203B41FA5}">
                      <a16:colId xmlns:a16="http://schemas.microsoft.com/office/drawing/2014/main" val="20000"/>
                    </a:ext>
                  </a:extLst>
                </a:gridCol>
                <a:gridCol w="753854">
                  <a:extLst>
                    <a:ext uri="{9D8B030D-6E8A-4147-A177-3AD203B41FA5}">
                      <a16:colId xmlns:a16="http://schemas.microsoft.com/office/drawing/2014/main" val="20001"/>
                    </a:ext>
                  </a:extLst>
                </a:gridCol>
                <a:gridCol w="755769">
                  <a:extLst>
                    <a:ext uri="{9D8B030D-6E8A-4147-A177-3AD203B41FA5}">
                      <a16:colId xmlns:a16="http://schemas.microsoft.com/office/drawing/2014/main" val="20002"/>
                    </a:ext>
                  </a:extLst>
                </a:gridCol>
              </a:tblGrid>
              <a:tr h="330019">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a:t>
                      </a:r>
                    </a:p>
                  </a:txBody>
                  <a:tcPr marL="91432" marR="91432" marT="45702" marB="4570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a:t>
                      </a:r>
                    </a:p>
                  </a:txBody>
                  <a:tcPr marL="91432" marR="91432" marT="45702" marB="4570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a:t>
                      </a:r>
                    </a:p>
                  </a:txBody>
                  <a:tcPr marL="91432" marR="91432" marT="45702" marB="4570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30019">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a:t>
                      </a:r>
                    </a:p>
                  </a:txBody>
                  <a:tcPr marL="91432" marR="91432" marT="45702" marB="4570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a:t>
                      </a:r>
                    </a:p>
                  </a:txBody>
                  <a:tcPr marL="91432" marR="91432" marT="45702" marB="4570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a:t>
                      </a:r>
                    </a:p>
                  </a:txBody>
                  <a:tcPr marL="91432" marR="91432" marT="45702" marB="4570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30019">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a:t>
                      </a:r>
                    </a:p>
                  </a:txBody>
                  <a:tcPr marL="91432" marR="91432" marT="45702" marB="4570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a:t>
                      </a:r>
                    </a:p>
                  </a:txBody>
                  <a:tcPr marL="91432" marR="91432" marT="45702" marB="4570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a:t>
                      </a:r>
                    </a:p>
                  </a:txBody>
                  <a:tcPr marL="91432" marR="91432" marT="45702" marB="4570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30019">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a:t>
                      </a:r>
                    </a:p>
                  </a:txBody>
                  <a:tcPr marL="91432" marR="91432" marT="45702" marB="4570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a:t>
                      </a:r>
                    </a:p>
                  </a:txBody>
                  <a:tcPr marL="91432" marR="91432" marT="45702" marB="4570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a:t>
                      </a:r>
                    </a:p>
                  </a:txBody>
                  <a:tcPr marL="91432" marR="91432" marT="45702" marB="4570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30019">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a:t>
                      </a:r>
                    </a:p>
                  </a:txBody>
                  <a:tcPr marL="91432" marR="91432" marT="45702" marB="4570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a:t>
                      </a:r>
                    </a:p>
                  </a:txBody>
                  <a:tcPr marL="91432" marR="91432" marT="45702" marB="4570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a:t>
                      </a:r>
                    </a:p>
                  </a:txBody>
                  <a:tcPr marL="91432" marR="91432" marT="45702" marB="4570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30019">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a:t>
                      </a:r>
                    </a:p>
                  </a:txBody>
                  <a:tcPr marL="91432" marR="91432" marT="45702" marB="4570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a:t>
                      </a:r>
                    </a:p>
                  </a:txBody>
                  <a:tcPr marL="91432" marR="91432" marT="45702" marB="4570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a:t>
                      </a:r>
                    </a:p>
                  </a:txBody>
                  <a:tcPr marL="91432" marR="91432" marT="45702" marB="4570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30019">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a:t>
                      </a:r>
                    </a:p>
                  </a:txBody>
                  <a:tcPr marL="91432" marR="91432" marT="45702" marB="4570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a:t>
                      </a:r>
                    </a:p>
                  </a:txBody>
                  <a:tcPr marL="91432" marR="91432" marT="45702" marB="4570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5</a:t>
                      </a:r>
                    </a:p>
                  </a:txBody>
                  <a:tcPr marL="91432" marR="91432" marT="45702" marB="4570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330019">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2</a:t>
                      </a:r>
                    </a:p>
                  </a:txBody>
                  <a:tcPr marL="91432" marR="91432" marT="45702" marB="4570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4</a:t>
                      </a:r>
                    </a:p>
                  </a:txBody>
                  <a:tcPr marL="91432" marR="91432" marT="45702" marB="4570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rgbClr val="669900"/>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6</a:t>
                      </a:r>
                    </a:p>
                  </a:txBody>
                  <a:tcPr marL="91432" marR="91432" marT="45702" marB="4570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6" name="Group 51">
            <a:extLst>
              <a:ext uri="{FF2B5EF4-FFF2-40B4-BE49-F238E27FC236}">
                <a16:creationId xmlns:a16="http://schemas.microsoft.com/office/drawing/2014/main" id="{5BC8BA23-1B30-42D1-9021-5D03076BA9E6}"/>
              </a:ext>
            </a:extLst>
          </p:cNvPr>
          <p:cNvGrpSpPr>
            <a:grpSpLocks/>
          </p:cNvGrpSpPr>
          <p:nvPr/>
        </p:nvGrpSpPr>
        <p:grpSpPr bwMode="auto">
          <a:xfrm>
            <a:off x="5684577" y="1253332"/>
            <a:ext cx="2265391" cy="504825"/>
            <a:chOff x="3107" y="527"/>
            <a:chExt cx="2358" cy="318"/>
          </a:xfrm>
          <a:solidFill>
            <a:schemeClr val="accent1">
              <a:lumMod val="40000"/>
              <a:lumOff val="60000"/>
            </a:schemeClr>
          </a:solidFill>
        </p:grpSpPr>
        <p:sp>
          <p:nvSpPr>
            <p:cNvPr id="7" name="Rectangle 48">
              <a:extLst>
                <a:ext uri="{FF2B5EF4-FFF2-40B4-BE49-F238E27FC236}">
                  <a16:creationId xmlns:a16="http://schemas.microsoft.com/office/drawing/2014/main" id="{2DC435FA-92B3-4765-BA8C-3574755343B7}"/>
                </a:ext>
              </a:extLst>
            </p:cNvPr>
            <p:cNvSpPr>
              <a:spLocks noChangeArrowheads="1"/>
            </p:cNvSpPr>
            <p:nvPr/>
          </p:nvSpPr>
          <p:spPr bwMode="auto">
            <a:xfrm>
              <a:off x="3107" y="527"/>
              <a:ext cx="771" cy="318"/>
            </a:xfrm>
            <a:prstGeom prst="rect">
              <a:avLst/>
            </a:prstGeom>
            <a:grpFill/>
            <a:ln w="12700" cap="sq">
              <a:solidFill>
                <a:schemeClr val="tx1"/>
              </a:solidFill>
              <a:miter lim="800000"/>
              <a:headEnd type="none" w="sm" len="sm"/>
              <a:tailEnd type="none" w="sm" len="sm"/>
            </a:ln>
          </p:spPr>
          <p:txBody>
            <a:bodyPr wrap="none" anchor="ct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algn="ctr" eaLnBrk="1" hangingPunct="1">
                <a:spcBef>
                  <a:spcPct val="0"/>
                </a:spcBef>
                <a:buClrTx/>
                <a:buSzTx/>
                <a:buFontTx/>
                <a:buNone/>
              </a:pPr>
              <a:r>
                <a:rPr lang="en-US" altLang="zh-CN" sz="1600" b="1" i="1">
                  <a:ea typeface="宋体" panose="02010600030101010101" pitchFamily="2" charset="-122"/>
                  <a:cs typeface="Times New Roman" panose="02020603050405020304" pitchFamily="18" charset="0"/>
                </a:rPr>
                <a:t>D</a:t>
              </a:r>
              <a:r>
                <a:rPr lang="en-US" altLang="zh-CN" sz="1600" b="1">
                  <a:ea typeface="宋体" panose="02010600030101010101" pitchFamily="2" charset="-122"/>
                  <a:cs typeface="Times New Roman" panose="02020603050405020304" pitchFamily="18" charset="0"/>
                </a:rPr>
                <a:t>1</a:t>
              </a:r>
            </a:p>
          </p:txBody>
        </p:sp>
        <p:sp>
          <p:nvSpPr>
            <p:cNvPr id="8" name="Rectangle 49">
              <a:extLst>
                <a:ext uri="{FF2B5EF4-FFF2-40B4-BE49-F238E27FC236}">
                  <a16:creationId xmlns:a16="http://schemas.microsoft.com/office/drawing/2014/main" id="{3E77D229-248F-4615-BF40-9C4D28735321}"/>
                </a:ext>
              </a:extLst>
            </p:cNvPr>
            <p:cNvSpPr>
              <a:spLocks noChangeArrowheads="1"/>
            </p:cNvSpPr>
            <p:nvPr/>
          </p:nvSpPr>
          <p:spPr bwMode="auto">
            <a:xfrm>
              <a:off x="3923" y="527"/>
              <a:ext cx="726" cy="318"/>
            </a:xfrm>
            <a:prstGeom prst="rect">
              <a:avLst/>
            </a:prstGeom>
            <a:grpFill/>
            <a:ln w="12700" cap="sq">
              <a:solidFill>
                <a:schemeClr val="tx1"/>
              </a:solidFill>
              <a:miter lim="800000"/>
              <a:headEnd type="none" w="sm" len="sm"/>
              <a:tailEnd type="none" w="sm" len="sm"/>
            </a:ln>
          </p:spPr>
          <p:txBody>
            <a:bodyPr wrap="none" anchor="ct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algn="ctr" eaLnBrk="1" hangingPunct="1">
                <a:spcBef>
                  <a:spcPct val="0"/>
                </a:spcBef>
                <a:buClrTx/>
                <a:buSzTx/>
                <a:buFontTx/>
                <a:buNone/>
              </a:pPr>
              <a:r>
                <a:rPr lang="en-US" altLang="zh-CN" sz="1600" b="1" i="1">
                  <a:ea typeface="宋体" panose="02010600030101010101" pitchFamily="2" charset="-122"/>
                  <a:cs typeface="Times New Roman" panose="02020603050405020304" pitchFamily="18" charset="0"/>
                </a:rPr>
                <a:t>D</a:t>
              </a:r>
              <a:r>
                <a:rPr lang="en-US" altLang="zh-CN" sz="1600" b="1">
                  <a:ea typeface="宋体" panose="02010600030101010101" pitchFamily="2" charset="-122"/>
                  <a:cs typeface="Times New Roman" panose="02020603050405020304" pitchFamily="18" charset="0"/>
                </a:rPr>
                <a:t>2</a:t>
              </a:r>
            </a:p>
          </p:txBody>
        </p:sp>
        <p:sp>
          <p:nvSpPr>
            <p:cNvPr id="9" name="Rectangle 50">
              <a:extLst>
                <a:ext uri="{FF2B5EF4-FFF2-40B4-BE49-F238E27FC236}">
                  <a16:creationId xmlns:a16="http://schemas.microsoft.com/office/drawing/2014/main" id="{156DCB8B-4B0C-4CD3-BDC1-57E919C632E4}"/>
                </a:ext>
              </a:extLst>
            </p:cNvPr>
            <p:cNvSpPr>
              <a:spLocks noChangeArrowheads="1"/>
            </p:cNvSpPr>
            <p:nvPr/>
          </p:nvSpPr>
          <p:spPr bwMode="auto">
            <a:xfrm>
              <a:off x="4694" y="527"/>
              <a:ext cx="771" cy="318"/>
            </a:xfrm>
            <a:prstGeom prst="rect">
              <a:avLst/>
            </a:prstGeom>
            <a:grpFill/>
            <a:ln w="12700" cap="sq">
              <a:solidFill>
                <a:schemeClr val="tx1"/>
              </a:solidFill>
              <a:miter lim="800000"/>
              <a:headEnd type="none" w="sm" len="sm"/>
              <a:tailEnd type="none" w="sm" len="sm"/>
            </a:ln>
          </p:spPr>
          <p:txBody>
            <a:bodyPr wrap="none" anchor="ct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algn="ctr" eaLnBrk="1" hangingPunct="1">
                <a:spcBef>
                  <a:spcPct val="0"/>
                </a:spcBef>
                <a:buClrTx/>
                <a:buSzTx/>
                <a:buFontTx/>
                <a:buNone/>
              </a:pPr>
              <a:r>
                <a:rPr lang="en-US" altLang="zh-CN" sz="1600" b="1" i="1">
                  <a:ea typeface="宋体" panose="02010600030101010101" pitchFamily="2" charset="-122"/>
                  <a:cs typeface="Times New Roman" panose="02020603050405020304" pitchFamily="18" charset="0"/>
                </a:rPr>
                <a:t>D</a:t>
              </a:r>
              <a:r>
                <a:rPr lang="en-US" altLang="zh-CN" sz="1600" b="1">
                  <a:ea typeface="宋体" panose="02010600030101010101" pitchFamily="2" charset="-122"/>
                  <a:cs typeface="Times New Roman" panose="02020603050405020304" pitchFamily="18" charset="0"/>
                </a:rPr>
                <a:t>3</a:t>
              </a:r>
            </a:p>
          </p:txBody>
        </p:sp>
      </p:grpSp>
    </p:spTree>
    <p:extLst>
      <p:ext uri="{BB962C8B-B14F-4D97-AF65-F5344CB8AC3E}">
        <p14:creationId xmlns:p14="http://schemas.microsoft.com/office/powerpoint/2010/main" val="3734202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4" presetClass="entr" presetSubtype="0" accel="10000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strVal val="#ppt_w*0.05"/>
                                          </p:val>
                                        </p:tav>
                                        <p:tav tm="100000">
                                          <p:val>
                                            <p:strVal val="#ppt_w"/>
                                          </p:val>
                                        </p:tav>
                                      </p:tavLst>
                                    </p:anim>
                                    <p:anim calcmode="lin" valueType="num">
                                      <p:cBhvr>
                                        <p:cTn id="13" dur="500" fill="hold"/>
                                        <p:tgtEl>
                                          <p:spTgt spid="5"/>
                                        </p:tgtEl>
                                        <p:attrNameLst>
                                          <p:attrName>ppt_h</p:attrName>
                                        </p:attrNameLst>
                                      </p:cBhvr>
                                      <p:tavLst>
                                        <p:tav tm="0">
                                          <p:val>
                                            <p:strVal val="#ppt_h"/>
                                          </p:val>
                                        </p:tav>
                                        <p:tav tm="100000">
                                          <p:val>
                                            <p:strVal val="#ppt_h"/>
                                          </p:val>
                                        </p:tav>
                                      </p:tavLst>
                                    </p:anim>
                                    <p:anim calcmode="lin" valueType="num">
                                      <p:cBhvr>
                                        <p:cTn id="14" dur="500" fill="hold"/>
                                        <p:tgtEl>
                                          <p:spTgt spid="5"/>
                                        </p:tgtEl>
                                        <p:attrNameLst>
                                          <p:attrName>ppt_x</p:attrName>
                                        </p:attrNameLst>
                                      </p:cBhvr>
                                      <p:tavLst>
                                        <p:tav tm="0">
                                          <p:val>
                                            <p:strVal val="#ppt_x-.2"/>
                                          </p:val>
                                        </p:tav>
                                        <p:tav tm="100000">
                                          <p:val>
                                            <p:strVal val="#ppt_x"/>
                                          </p:val>
                                        </p:tav>
                                      </p:tavLst>
                                    </p:anim>
                                    <p:anim calcmode="lin" valueType="num">
                                      <p:cBhvr>
                                        <p:cTn id="15" dur="500" fill="hold"/>
                                        <p:tgtEl>
                                          <p:spTgt spid="5"/>
                                        </p:tgtEl>
                                        <p:attrNameLst>
                                          <p:attrName>ppt_y</p:attrName>
                                        </p:attrNameLst>
                                      </p:cBhvr>
                                      <p:tavLst>
                                        <p:tav tm="0">
                                          <p:val>
                                            <p:strVal val="#ppt_y"/>
                                          </p:val>
                                        </p:tav>
                                        <p:tav tm="100000">
                                          <p:val>
                                            <p:strVal val="#ppt_y"/>
                                          </p:val>
                                        </p:tav>
                                      </p:tavLst>
                                    </p:anim>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347137">
            <a:extLst>
              <a:ext uri="{FF2B5EF4-FFF2-40B4-BE49-F238E27FC236}">
                <a16:creationId xmlns:a16="http://schemas.microsoft.com/office/drawing/2014/main" id="{540B9CFA-8A96-4DC5-A862-DD694173D058}"/>
              </a:ext>
            </a:extLst>
          </p:cNvPr>
          <p:cNvSpPr>
            <a:spLocks noGrp="1" noChangeArrowheads="1"/>
          </p:cNvSpPr>
          <p:nvPr>
            <p:ph type="title"/>
          </p:nvPr>
        </p:nvSpPr>
        <p:spPr/>
        <p:txBody>
          <a:bodyPr/>
          <a:lstStyle/>
          <a:p>
            <a:r>
              <a:rPr lang="zh-CN" altLang="en-US" dirty="0"/>
              <a:t>笛卡尔积（续</a:t>
            </a:r>
            <a:r>
              <a:rPr lang="en-US" altLang="zh-CN" dirty="0"/>
              <a:t>)</a:t>
            </a:r>
          </a:p>
        </p:txBody>
      </p:sp>
      <p:sp>
        <p:nvSpPr>
          <p:cNvPr id="23555" name="文本占位符 347138">
            <a:extLst>
              <a:ext uri="{FF2B5EF4-FFF2-40B4-BE49-F238E27FC236}">
                <a16:creationId xmlns:a16="http://schemas.microsoft.com/office/drawing/2014/main" id="{9FC6040F-27D4-40AC-AD36-E0817C66A510}"/>
              </a:ext>
            </a:extLst>
          </p:cNvPr>
          <p:cNvSpPr>
            <a:spLocks noGrp="1" noChangeArrowheads="1"/>
          </p:cNvSpPr>
          <p:nvPr>
            <p:ph idx="1"/>
          </p:nvPr>
        </p:nvSpPr>
        <p:spPr/>
        <p:txBody>
          <a:bodyPr/>
          <a:lstStyle/>
          <a:p>
            <a:r>
              <a:rPr lang="zh-CN" altLang="en-US" dirty="0">
                <a:solidFill>
                  <a:srgbClr val="C00000"/>
                </a:solidFill>
              </a:rPr>
              <a:t>基数（</a:t>
            </a:r>
            <a:r>
              <a:rPr lang="en-US" altLang="zh-CN" dirty="0">
                <a:solidFill>
                  <a:srgbClr val="C00000"/>
                </a:solidFill>
              </a:rPr>
              <a:t>Cardinal number</a:t>
            </a:r>
            <a:r>
              <a:rPr lang="zh-CN" altLang="en-US" dirty="0">
                <a:solidFill>
                  <a:srgbClr val="C00000"/>
                </a:solidFill>
              </a:rPr>
              <a:t>）</a:t>
            </a:r>
          </a:p>
          <a:p>
            <a:pPr lvl="1"/>
            <a:r>
              <a:rPr lang="zh-CN" altLang="en-US" dirty="0"/>
              <a:t>若</a:t>
            </a:r>
            <a:r>
              <a:rPr lang="en-US" altLang="zh-CN" i="1" dirty="0"/>
              <a:t>D</a:t>
            </a:r>
            <a:r>
              <a:rPr lang="en-US" altLang="zh-CN" i="1" baseline="-25000" dirty="0"/>
              <a:t>i</a:t>
            </a:r>
            <a:r>
              <a:rPr lang="zh-CN" altLang="en-US" dirty="0"/>
              <a:t>（</a:t>
            </a:r>
            <a:r>
              <a:rPr lang="en-US" altLang="zh-CN" i="1" dirty="0" err="1"/>
              <a:t>i</a:t>
            </a:r>
            <a:r>
              <a:rPr lang="zh-CN" altLang="en-US" dirty="0"/>
              <a:t>＝</a:t>
            </a:r>
            <a:r>
              <a:rPr lang="en-US" altLang="zh-CN" dirty="0"/>
              <a:t>1</a:t>
            </a:r>
            <a:r>
              <a:rPr lang="zh-CN" altLang="en-US" dirty="0"/>
              <a:t>，</a:t>
            </a:r>
            <a:r>
              <a:rPr lang="en-US" altLang="zh-CN" dirty="0"/>
              <a:t>2</a:t>
            </a:r>
            <a:r>
              <a:rPr lang="zh-CN" altLang="en-US" dirty="0"/>
              <a:t>，</a:t>
            </a:r>
            <a:r>
              <a:rPr lang="en-US" altLang="zh-CN" dirty="0">
                <a:latin typeface="Verdana" panose="020B0604030504040204" pitchFamily="34" charset="0"/>
              </a:rPr>
              <a:t>…</a:t>
            </a:r>
            <a:r>
              <a:rPr lang="zh-CN" altLang="en-US" dirty="0"/>
              <a:t>，</a:t>
            </a:r>
            <a:r>
              <a:rPr lang="en-US" altLang="zh-CN" i="1" dirty="0"/>
              <a:t>n</a:t>
            </a:r>
            <a:r>
              <a:rPr lang="zh-CN" altLang="en-US" dirty="0"/>
              <a:t>）为有限集，其</a:t>
            </a:r>
            <a:r>
              <a:rPr lang="zh-CN" altLang="en-US" dirty="0">
                <a:solidFill>
                  <a:srgbClr val="C00000"/>
                </a:solidFill>
              </a:rPr>
              <a:t>基数</a:t>
            </a:r>
            <a:r>
              <a:rPr lang="zh-CN" altLang="en-US" dirty="0"/>
              <a:t>为</a:t>
            </a:r>
            <a:r>
              <a:rPr lang="en-US" altLang="zh-CN" i="1" dirty="0"/>
              <a:t>m</a:t>
            </a:r>
            <a:r>
              <a:rPr lang="en-US" altLang="zh-CN" i="1" baseline="-25000" dirty="0"/>
              <a:t>i</a:t>
            </a:r>
            <a:r>
              <a:rPr lang="zh-CN" altLang="en-US" dirty="0"/>
              <a:t>（</a:t>
            </a:r>
            <a:r>
              <a:rPr lang="en-US" altLang="zh-CN" i="1" dirty="0" err="1"/>
              <a:t>i</a:t>
            </a:r>
            <a:r>
              <a:rPr lang="zh-CN" altLang="en-US" dirty="0"/>
              <a:t>＝</a:t>
            </a:r>
            <a:r>
              <a:rPr lang="en-US" altLang="zh-CN" dirty="0"/>
              <a:t>1</a:t>
            </a:r>
            <a:r>
              <a:rPr lang="zh-CN" altLang="en-US" dirty="0"/>
              <a:t>，</a:t>
            </a:r>
            <a:r>
              <a:rPr lang="en-US" altLang="zh-CN" dirty="0"/>
              <a:t>2</a:t>
            </a:r>
            <a:r>
              <a:rPr lang="zh-CN" altLang="en-US" dirty="0"/>
              <a:t>，</a:t>
            </a:r>
            <a:r>
              <a:rPr lang="en-US" altLang="zh-CN" dirty="0">
                <a:latin typeface="Verdana" panose="020B0604030504040204" pitchFamily="34" charset="0"/>
              </a:rPr>
              <a:t>…</a:t>
            </a:r>
            <a:r>
              <a:rPr lang="zh-CN" altLang="en-US" dirty="0"/>
              <a:t>，</a:t>
            </a:r>
            <a:r>
              <a:rPr lang="en-US" altLang="zh-CN" i="1" dirty="0"/>
              <a:t>n</a:t>
            </a:r>
            <a:r>
              <a:rPr lang="zh-CN" altLang="en-US" dirty="0"/>
              <a:t>），则</a:t>
            </a:r>
            <a:r>
              <a:rPr lang="en-US" altLang="zh-CN" i="1" dirty="0"/>
              <a:t>D</a:t>
            </a:r>
            <a:r>
              <a:rPr lang="en-US" altLang="zh-CN" baseline="-25000" dirty="0"/>
              <a:t>1</a:t>
            </a:r>
            <a:r>
              <a:rPr lang="en-US" altLang="zh-CN" dirty="0"/>
              <a:t>×</a:t>
            </a:r>
            <a:r>
              <a:rPr lang="en-US" altLang="zh-CN" i="1" dirty="0"/>
              <a:t>D</a:t>
            </a:r>
            <a:r>
              <a:rPr lang="en-US" altLang="zh-CN" baseline="-25000" dirty="0"/>
              <a:t>2</a:t>
            </a:r>
            <a:r>
              <a:rPr lang="en-US" altLang="zh-CN" dirty="0"/>
              <a:t>×</a:t>
            </a:r>
            <a:r>
              <a:rPr lang="en-US" altLang="zh-CN" dirty="0">
                <a:latin typeface="Verdana" panose="020B0604030504040204" pitchFamily="34" charset="0"/>
              </a:rPr>
              <a:t>…</a:t>
            </a:r>
            <a:r>
              <a:rPr lang="en-US" altLang="zh-CN" dirty="0"/>
              <a:t>×</a:t>
            </a:r>
            <a:r>
              <a:rPr lang="en-US" altLang="zh-CN" i="1" dirty="0" err="1"/>
              <a:t>D</a:t>
            </a:r>
            <a:r>
              <a:rPr lang="en-US" altLang="zh-CN" i="1" baseline="-25000" dirty="0" err="1"/>
              <a:t>n</a:t>
            </a:r>
            <a:r>
              <a:rPr lang="zh-CN" altLang="en-US" dirty="0"/>
              <a:t>的基数</a:t>
            </a:r>
            <a:r>
              <a:rPr lang="en-US" altLang="zh-CN" i="1" dirty="0"/>
              <a:t>M</a:t>
            </a:r>
            <a:r>
              <a:rPr lang="zh-CN" altLang="en-US" dirty="0"/>
              <a:t>为：</a:t>
            </a:r>
          </a:p>
          <a:p>
            <a:pPr lvl="1"/>
            <a:endParaRPr lang="zh-CN" altLang="en-US" dirty="0"/>
          </a:p>
          <a:p>
            <a:pPr lvl="1"/>
            <a:endParaRPr lang="zh-CN" altLang="en-US" dirty="0"/>
          </a:p>
          <a:p>
            <a:r>
              <a:rPr lang="zh-CN" altLang="en-US" dirty="0"/>
              <a:t>笛卡尔积的表示方法</a:t>
            </a:r>
          </a:p>
          <a:p>
            <a:pPr lvl="1"/>
            <a:r>
              <a:rPr lang="zh-CN" altLang="en-US" dirty="0"/>
              <a:t>笛卡尔积可表示为一个</a:t>
            </a:r>
            <a:r>
              <a:rPr lang="zh-CN" altLang="en-US" dirty="0">
                <a:solidFill>
                  <a:srgbClr val="C00000"/>
                </a:solidFill>
              </a:rPr>
              <a:t>二维表</a:t>
            </a:r>
          </a:p>
          <a:p>
            <a:pPr lvl="1"/>
            <a:r>
              <a:rPr lang="zh-CN" altLang="en-US" dirty="0"/>
              <a:t>表中的每行对应一个</a:t>
            </a:r>
            <a:r>
              <a:rPr lang="zh-CN" altLang="en-US" dirty="0">
                <a:solidFill>
                  <a:srgbClr val="C00000"/>
                </a:solidFill>
              </a:rPr>
              <a:t>元组</a:t>
            </a:r>
            <a:r>
              <a:rPr lang="zh-CN" altLang="en-US" dirty="0"/>
              <a:t>，表中的每列对应一个</a:t>
            </a:r>
            <a:r>
              <a:rPr lang="zh-CN" altLang="en-US" dirty="0">
                <a:solidFill>
                  <a:srgbClr val="C00000"/>
                </a:solidFill>
              </a:rPr>
              <a:t>域</a:t>
            </a:r>
          </a:p>
        </p:txBody>
      </p:sp>
      <p:sp>
        <p:nvSpPr>
          <p:cNvPr id="3" name="灯片编号占位符 2">
            <a:extLst>
              <a:ext uri="{FF2B5EF4-FFF2-40B4-BE49-F238E27FC236}">
                <a16:creationId xmlns:a16="http://schemas.microsoft.com/office/drawing/2014/main" id="{70DD55C8-C8D2-4C63-A67E-BCFE3C988D24}"/>
              </a:ext>
            </a:extLst>
          </p:cNvPr>
          <p:cNvSpPr>
            <a:spLocks noGrp="1"/>
          </p:cNvSpPr>
          <p:nvPr>
            <p:ph type="sldNum" sz="quarter" idx="12"/>
          </p:nvPr>
        </p:nvSpPr>
        <p:spPr/>
        <p:txBody>
          <a:bodyPr/>
          <a:lstStyle/>
          <a:p>
            <a:fld id="{47C9E101-E51D-431E-84FA-C029B8655B60}" type="slidenum">
              <a:rPr lang="zh-CN" altLang="en-US" smtClean="0"/>
              <a:pPr/>
              <a:t>11</a:t>
            </a:fld>
            <a:endParaRPr lang="zh-CN" altLang="en-US" dirty="0"/>
          </a:p>
        </p:txBody>
      </p:sp>
      <p:graphicFrame>
        <p:nvGraphicFramePr>
          <p:cNvPr id="2" name="对象 1">
            <a:extLst>
              <a:ext uri="{FF2B5EF4-FFF2-40B4-BE49-F238E27FC236}">
                <a16:creationId xmlns:a16="http://schemas.microsoft.com/office/drawing/2014/main" id="{B17CFEF7-BF27-4BEB-B76C-EED27001F27E}"/>
              </a:ext>
            </a:extLst>
          </p:cNvPr>
          <p:cNvGraphicFramePr>
            <a:graphicFrameLocks noChangeAspect="1"/>
          </p:cNvGraphicFramePr>
          <p:nvPr>
            <p:extLst>
              <p:ext uri="{D42A27DB-BD31-4B8C-83A1-F6EECF244321}">
                <p14:modId xmlns:p14="http://schemas.microsoft.com/office/powerpoint/2010/main" val="1706100928"/>
              </p:ext>
            </p:extLst>
          </p:nvPr>
        </p:nvGraphicFramePr>
        <p:xfrm>
          <a:off x="7670800" y="3352800"/>
          <a:ext cx="914400" cy="203200"/>
        </p:xfrm>
        <a:graphic>
          <a:graphicData uri="http://schemas.openxmlformats.org/presentationml/2006/ole">
            <mc:AlternateContent xmlns:mc="http://schemas.openxmlformats.org/markup-compatibility/2006">
              <mc:Choice xmlns:v="urn:schemas-microsoft-com:vml" Requires="v">
                <p:oleObj spid="_x0000_s1117" name="Equation" r:id="rId3" imgW="914400" imgH="203040" progId="Equation.DSMT4">
                  <p:embed/>
                </p:oleObj>
              </mc:Choice>
              <mc:Fallback>
                <p:oleObj name="Equation" r:id="rId3" imgW="914400" imgH="203040" progId="Equation.DSMT4">
                  <p:embed/>
                  <p:pic>
                    <p:nvPicPr>
                      <p:cNvPr id="0" name=""/>
                      <p:cNvPicPr/>
                      <p:nvPr/>
                    </p:nvPicPr>
                    <p:blipFill>
                      <a:blip r:embed="rId4"/>
                      <a:stretch>
                        <a:fillRect/>
                      </a:stretch>
                    </p:blipFill>
                    <p:spPr>
                      <a:xfrm>
                        <a:off x="7670800" y="3352800"/>
                        <a:ext cx="914400" cy="203200"/>
                      </a:xfrm>
                      <a:prstGeom prst="rect">
                        <a:avLst/>
                      </a:prstGeom>
                    </p:spPr>
                  </p:pic>
                </p:oleObj>
              </mc:Fallback>
            </mc:AlternateContent>
          </a:graphicData>
        </a:graphic>
      </p:graphicFrame>
      <p:graphicFrame>
        <p:nvGraphicFramePr>
          <p:cNvPr id="6" name="Object 4">
            <a:extLst>
              <a:ext uri="{FF2B5EF4-FFF2-40B4-BE49-F238E27FC236}">
                <a16:creationId xmlns:a16="http://schemas.microsoft.com/office/drawing/2014/main" id="{BCF2E9A3-5FD5-4D40-9A5E-61A70EAC5BCD}"/>
              </a:ext>
            </a:extLst>
          </p:cNvPr>
          <p:cNvGraphicFramePr>
            <a:graphicFrameLocks noChangeAspect="1"/>
          </p:cNvGraphicFramePr>
          <p:nvPr>
            <p:extLst>
              <p:ext uri="{D42A27DB-BD31-4B8C-83A1-F6EECF244321}">
                <p14:modId xmlns:p14="http://schemas.microsoft.com/office/powerpoint/2010/main" val="2204200977"/>
              </p:ext>
            </p:extLst>
          </p:nvPr>
        </p:nvGraphicFramePr>
        <p:xfrm>
          <a:off x="4611805" y="2215904"/>
          <a:ext cx="1282700" cy="566737"/>
        </p:xfrm>
        <a:graphic>
          <a:graphicData uri="http://schemas.openxmlformats.org/presentationml/2006/ole">
            <mc:AlternateContent xmlns:mc="http://schemas.openxmlformats.org/markup-compatibility/2006">
              <mc:Choice xmlns:v="urn:schemas-microsoft-com:vml" Requires="v">
                <p:oleObj spid="_x0000_s1118" name="Microsoft 公式 3.0" r:id="rId5" imgW="672808" imgH="342751" progId="Equation.3">
                  <p:embed/>
                </p:oleObj>
              </mc:Choice>
              <mc:Fallback>
                <p:oleObj name="Microsoft 公式 3.0" r:id="rId5" imgW="672808" imgH="342751" progId="Equation.3">
                  <p:embed/>
                  <p:pic>
                    <p:nvPicPr>
                      <p:cNvPr id="17412" name="Object 4">
                        <a:extLst>
                          <a:ext uri="{FF2B5EF4-FFF2-40B4-BE49-F238E27FC236}">
                            <a16:creationId xmlns:a16="http://schemas.microsoft.com/office/drawing/2014/main" id="{F6E398AB-158B-4454-A1CE-CE2EB45ADC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11805" y="2215904"/>
                        <a:ext cx="1282700" cy="566737"/>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347137">
            <a:extLst>
              <a:ext uri="{FF2B5EF4-FFF2-40B4-BE49-F238E27FC236}">
                <a16:creationId xmlns:a16="http://schemas.microsoft.com/office/drawing/2014/main" id="{540B9CFA-8A96-4DC5-A862-DD694173D058}"/>
              </a:ext>
            </a:extLst>
          </p:cNvPr>
          <p:cNvSpPr>
            <a:spLocks noGrp="1" noChangeArrowheads="1"/>
          </p:cNvSpPr>
          <p:nvPr>
            <p:ph type="title"/>
          </p:nvPr>
        </p:nvSpPr>
        <p:spPr/>
        <p:txBody>
          <a:bodyPr/>
          <a:lstStyle/>
          <a:p>
            <a:r>
              <a:rPr lang="zh-CN" altLang="en-US"/>
              <a:t>笛卡尔积（续</a:t>
            </a:r>
            <a:r>
              <a:rPr lang="en-US" altLang="zh-CN"/>
              <a:t>)</a:t>
            </a:r>
            <a:endParaRPr lang="en-US" altLang="zh-CN" dirty="0"/>
          </a:p>
        </p:txBody>
      </p:sp>
      <p:sp>
        <p:nvSpPr>
          <p:cNvPr id="4" name="内容占位符 3">
            <a:extLst>
              <a:ext uri="{FF2B5EF4-FFF2-40B4-BE49-F238E27FC236}">
                <a16:creationId xmlns:a16="http://schemas.microsoft.com/office/drawing/2014/main" id="{A03D2EEE-D0FC-4028-BA93-81BBBCB2BA08}"/>
              </a:ext>
            </a:extLst>
          </p:cNvPr>
          <p:cNvSpPr>
            <a:spLocks noGrp="1"/>
          </p:cNvSpPr>
          <p:nvPr>
            <p:ph idx="1"/>
          </p:nvPr>
        </p:nvSpPr>
        <p:spPr/>
        <p:txBody>
          <a:bodyPr/>
          <a:lstStyle/>
          <a:p>
            <a:r>
              <a:rPr lang="zh-CN" altLang="en-US" dirty="0"/>
              <a:t>例如，给出</a:t>
            </a:r>
            <a:r>
              <a:rPr lang="en-US" altLang="zh-CN" dirty="0"/>
              <a:t>3</a:t>
            </a:r>
            <a:r>
              <a:rPr lang="zh-CN" altLang="en-US" dirty="0"/>
              <a:t>个域：</a:t>
            </a:r>
            <a:endParaRPr lang="en-US" altLang="zh-CN" dirty="0"/>
          </a:p>
          <a:p>
            <a:pPr lvl="1"/>
            <a:r>
              <a:rPr lang="en-US" altLang="zh-CN" i="1" dirty="0"/>
              <a:t>D</a:t>
            </a:r>
            <a:r>
              <a:rPr lang="en-US" altLang="zh-CN" baseline="-25000" dirty="0"/>
              <a:t>1 </a:t>
            </a:r>
            <a:r>
              <a:rPr lang="en-US" altLang="zh-CN" dirty="0"/>
              <a:t>=</a:t>
            </a:r>
            <a:r>
              <a:rPr lang="zh-CN" altLang="en-US" dirty="0"/>
              <a:t>导师集合</a:t>
            </a:r>
            <a:r>
              <a:rPr lang="en-US" altLang="zh-CN" dirty="0"/>
              <a:t>=</a:t>
            </a:r>
            <a:r>
              <a:rPr lang="zh-CN" altLang="en-US" dirty="0"/>
              <a:t>｛张清玫，刘逸｝ </a:t>
            </a:r>
          </a:p>
          <a:p>
            <a:pPr lvl="1"/>
            <a:r>
              <a:rPr lang="en-US" altLang="zh-CN" i="1" dirty="0"/>
              <a:t>D</a:t>
            </a:r>
            <a:r>
              <a:rPr lang="en-US" altLang="zh-CN" baseline="-25000" dirty="0"/>
              <a:t>2 </a:t>
            </a:r>
            <a:r>
              <a:rPr lang="en-US" altLang="zh-CN" dirty="0"/>
              <a:t>=</a:t>
            </a:r>
            <a:r>
              <a:rPr lang="zh-CN" altLang="en-US" dirty="0"/>
              <a:t>专业集合</a:t>
            </a:r>
            <a:r>
              <a:rPr lang="en-US" altLang="zh-CN" dirty="0"/>
              <a:t>=</a:t>
            </a:r>
            <a:r>
              <a:rPr lang="zh-CN" altLang="en-US" dirty="0"/>
              <a:t>｛计算机专业，大数据专业｝ </a:t>
            </a:r>
          </a:p>
          <a:p>
            <a:pPr lvl="1"/>
            <a:r>
              <a:rPr lang="en-US" altLang="zh-CN" i="1" dirty="0"/>
              <a:t>D</a:t>
            </a:r>
            <a:r>
              <a:rPr lang="en-US" altLang="zh-CN" baseline="-25000" dirty="0"/>
              <a:t>3 </a:t>
            </a:r>
            <a:r>
              <a:rPr lang="en-US" altLang="zh-CN" dirty="0"/>
              <a:t>=</a:t>
            </a:r>
            <a:r>
              <a:rPr lang="zh-CN" altLang="en-US" dirty="0"/>
              <a:t>研究生集合</a:t>
            </a:r>
            <a:r>
              <a:rPr lang="en-US" altLang="zh-CN" dirty="0"/>
              <a:t>=</a:t>
            </a:r>
            <a:r>
              <a:rPr lang="zh-CN" altLang="en-US" dirty="0"/>
              <a:t>｛李勇，刘晨，王敏｝ </a:t>
            </a:r>
          </a:p>
          <a:p>
            <a:pPr lvl="1">
              <a:lnSpc>
                <a:spcPct val="150000"/>
              </a:lnSpc>
              <a:spcBef>
                <a:spcPct val="0"/>
              </a:spcBef>
              <a:buNone/>
            </a:pPr>
            <a:r>
              <a:rPr lang="zh-CN" altLang="en-US" dirty="0"/>
              <a:t>则</a:t>
            </a:r>
            <a:r>
              <a:rPr lang="en-US" altLang="zh-CN" i="1" dirty="0"/>
              <a:t>D</a:t>
            </a:r>
            <a:r>
              <a:rPr lang="en-US" altLang="zh-CN" baseline="-25000" dirty="0"/>
              <a:t>1</a:t>
            </a:r>
            <a:r>
              <a:rPr lang="en-US" altLang="zh-CN" dirty="0"/>
              <a:t>×</a:t>
            </a:r>
            <a:r>
              <a:rPr lang="en-US" altLang="zh-CN" i="1" dirty="0"/>
              <a:t>D</a:t>
            </a:r>
            <a:r>
              <a:rPr lang="en-US" altLang="zh-CN" baseline="-25000" dirty="0"/>
              <a:t>2</a:t>
            </a:r>
            <a:r>
              <a:rPr lang="en-US" altLang="zh-CN" dirty="0"/>
              <a:t>×</a:t>
            </a:r>
            <a:r>
              <a:rPr lang="en-US" altLang="zh-CN" i="1" dirty="0"/>
              <a:t>D</a:t>
            </a:r>
            <a:r>
              <a:rPr lang="en-US" altLang="zh-CN" i="1" baseline="-25000" dirty="0"/>
              <a:t>3  </a:t>
            </a:r>
            <a:r>
              <a:rPr lang="en-US" altLang="zh-CN" baseline="-25000" dirty="0"/>
              <a:t>= </a:t>
            </a:r>
            <a:r>
              <a:rPr lang="en-US" altLang="zh-CN" dirty="0"/>
              <a:t> </a:t>
            </a:r>
            <a:r>
              <a:rPr lang="zh-CN" altLang="en-US" dirty="0">
                <a:solidFill>
                  <a:srgbClr val="3333FF"/>
                </a:solidFill>
              </a:rPr>
              <a:t>？</a:t>
            </a:r>
            <a:endParaRPr lang="en-US" altLang="zh-CN" dirty="0">
              <a:solidFill>
                <a:srgbClr val="3333FF"/>
              </a:solidFill>
            </a:endParaRPr>
          </a:p>
          <a:p>
            <a:pPr lvl="1">
              <a:lnSpc>
                <a:spcPct val="150000"/>
              </a:lnSpc>
              <a:spcBef>
                <a:spcPct val="0"/>
              </a:spcBef>
              <a:buNone/>
            </a:pPr>
            <a:endParaRPr lang="en-US" altLang="zh-CN" dirty="0">
              <a:solidFill>
                <a:srgbClr val="3333FF"/>
              </a:solidFill>
            </a:endParaRPr>
          </a:p>
          <a:p>
            <a:pPr lvl="1">
              <a:lnSpc>
                <a:spcPct val="150000"/>
              </a:lnSpc>
              <a:spcBef>
                <a:spcPct val="0"/>
              </a:spcBef>
              <a:buNone/>
            </a:pPr>
            <a:endParaRPr lang="en-US" altLang="zh-CN" dirty="0">
              <a:solidFill>
                <a:srgbClr val="3333FF"/>
              </a:solidFill>
            </a:endParaRPr>
          </a:p>
          <a:p>
            <a:pPr>
              <a:lnSpc>
                <a:spcPct val="150000"/>
              </a:lnSpc>
              <a:spcBef>
                <a:spcPct val="0"/>
              </a:spcBef>
            </a:pPr>
            <a:r>
              <a:rPr lang="zh-CN" altLang="en-US" dirty="0"/>
              <a:t>基数为</a:t>
            </a:r>
            <a:r>
              <a:rPr lang="en-US" altLang="zh-CN" dirty="0">
                <a:solidFill>
                  <a:srgbClr val="C00000"/>
                </a:solidFill>
              </a:rPr>
              <a:t>2×2×3</a:t>
            </a:r>
            <a:r>
              <a:rPr lang="zh-CN" altLang="en-US" dirty="0">
                <a:solidFill>
                  <a:srgbClr val="C00000"/>
                </a:solidFill>
              </a:rPr>
              <a:t>＝</a:t>
            </a:r>
            <a:r>
              <a:rPr lang="en-US" altLang="zh-CN" dirty="0">
                <a:solidFill>
                  <a:srgbClr val="C00000"/>
                </a:solidFill>
              </a:rPr>
              <a:t>12</a:t>
            </a:r>
          </a:p>
          <a:p>
            <a:pPr>
              <a:lnSpc>
                <a:spcPct val="150000"/>
              </a:lnSpc>
              <a:spcBef>
                <a:spcPct val="0"/>
              </a:spcBef>
            </a:pPr>
            <a:r>
              <a:rPr lang="zh-CN" altLang="en-US" sz="2000" dirty="0">
                <a:latin typeface="微软雅黑" panose="020B0503020204020204" pitchFamily="34" charset="-122"/>
              </a:rPr>
              <a:t>即</a:t>
            </a:r>
            <a:r>
              <a:rPr lang="en-US" altLang="zh-CN" sz="2000" i="1" dirty="0"/>
              <a:t>D</a:t>
            </a:r>
            <a:r>
              <a:rPr lang="en-US" altLang="zh-CN" sz="2000" baseline="-25000" dirty="0"/>
              <a:t>1</a:t>
            </a:r>
            <a:r>
              <a:rPr lang="en-US" altLang="zh-CN" sz="2000" dirty="0"/>
              <a:t>×</a:t>
            </a:r>
            <a:r>
              <a:rPr lang="en-US" altLang="zh-CN" sz="2000" i="1" dirty="0"/>
              <a:t>D</a:t>
            </a:r>
            <a:r>
              <a:rPr lang="en-US" altLang="zh-CN" sz="2000" baseline="-25000" dirty="0"/>
              <a:t>2</a:t>
            </a:r>
            <a:r>
              <a:rPr lang="en-US" altLang="zh-CN" sz="2000" dirty="0"/>
              <a:t>×</a:t>
            </a:r>
            <a:r>
              <a:rPr lang="en-US" altLang="zh-CN" sz="2000" i="1" dirty="0"/>
              <a:t>D</a:t>
            </a:r>
            <a:r>
              <a:rPr lang="en-US" altLang="zh-CN" sz="2000" baseline="-25000" dirty="0"/>
              <a:t>3</a:t>
            </a:r>
            <a:r>
              <a:rPr lang="zh-CN" altLang="en-US" sz="2000" dirty="0"/>
              <a:t>共有</a:t>
            </a:r>
            <a:r>
              <a:rPr lang="en-US" altLang="zh-CN" sz="2000" dirty="0"/>
              <a:t>2×2×3</a:t>
            </a:r>
            <a:r>
              <a:rPr lang="zh-CN" altLang="en-US" sz="2000" dirty="0"/>
              <a:t>＝</a:t>
            </a:r>
            <a:r>
              <a:rPr lang="en-US" altLang="zh-CN" sz="2000" dirty="0"/>
              <a:t>12</a:t>
            </a:r>
            <a:r>
              <a:rPr lang="zh-CN" altLang="en-US" sz="2000" dirty="0">
                <a:latin typeface="微软雅黑" panose="020B0503020204020204" pitchFamily="34" charset="-122"/>
              </a:rPr>
              <a:t>个元组</a:t>
            </a:r>
            <a:endParaRPr lang="zh-CN" altLang="en-US" dirty="0">
              <a:solidFill>
                <a:srgbClr val="C00000"/>
              </a:solidFill>
            </a:endParaRPr>
          </a:p>
        </p:txBody>
      </p:sp>
      <p:sp>
        <p:nvSpPr>
          <p:cNvPr id="5" name="灯片编号占位符 4">
            <a:extLst>
              <a:ext uri="{FF2B5EF4-FFF2-40B4-BE49-F238E27FC236}">
                <a16:creationId xmlns:a16="http://schemas.microsoft.com/office/drawing/2014/main" id="{A58F3C9C-4642-4951-B13F-95387CA48C74}"/>
              </a:ext>
            </a:extLst>
          </p:cNvPr>
          <p:cNvSpPr>
            <a:spLocks noGrp="1"/>
          </p:cNvSpPr>
          <p:nvPr>
            <p:ph type="sldNum" sz="quarter" idx="12"/>
          </p:nvPr>
        </p:nvSpPr>
        <p:spPr/>
        <p:txBody>
          <a:bodyPr/>
          <a:lstStyle/>
          <a:p>
            <a:fld id="{47C9E101-E51D-431E-84FA-C029B8655B60}" type="slidenum">
              <a:rPr lang="zh-CN" altLang="en-US" smtClean="0"/>
              <a:pPr/>
              <a:t>12</a:t>
            </a:fld>
            <a:endParaRPr lang="zh-CN" altLang="en-US" dirty="0"/>
          </a:p>
        </p:txBody>
      </p:sp>
      <p:graphicFrame>
        <p:nvGraphicFramePr>
          <p:cNvPr id="2" name="对象 1">
            <a:extLst>
              <a:ext uri="{FF2B5EF4-FFF2-40B4-BE49-F238E27FC236}">
                <a16:creationId xmlns:a16="http://schemas.microsoft.com/office/drawing/2014/main" id="{B17CFEF7-BF27-4BEB-B76C-EED27001F27E}"/>
              </a:ext>
            </a:extLst>
          </p:cNvPr>
          <p:cNvGraphicFramePr>
            <a:graphicFrameLocks noChangeAspect="1"/>
          </p:cNvGraphicFramePr>
          <p:nvPr/>
        </p:nvGraphicFramePr>
        <p:xfrm>
          <a:off x="7670800" y="3352800"/>
          <a:ext cx="914400" cy="203200"/>
        </p:xfrm>
        <a:graphic>
          <a:graphicData uri="http://schemas.openxmlformats.org/presentationml/2006/ole">
            <mc:AlternateContent xmlns:mc="http://schemas.openxmlformats.org/markup-compatibility/2006">
              <mc:Choice xmlns:v="urn:schemas-microsoft-com:vml" Requires="v">
                <p:oleObj spid="_x0000_s8284" name="Equation" r:id="rId3" imgW="914400" imgH="203040" progId="Equation.DSMT4">
                  <p:embed/>
                </p:oleObj>
              </mc:Choice>
              <mc:Fallback>
                <p:oleObj name="Equation" r:id="rId3" imgW="914400" imgH="203040" progId="Equation.DSMT4">
                  <p:embed/>
                  <p:pic>
                    <p:nvPicPr>
                      <p:cNvPr id="2" name="对象 1">
                        <a:extLst>
                          <a:ext uri="{FF2B5EF4-FFF2-40B4-BE49-F238E27FC236}">
                            <a16:creationId xmlns:a16="http://schemas.microsoft.com/office/drawing/2014/main" id="{B17CFEF7-BF27-4BEB-B76C-EED27001F27E}"/>
                          </a:ext>
                        </a:extLst>
                      </p:cNvPr>
                      <p:cNvPicPr/>
                      <p:nvPr/>
                    </p:nvPicPr>
                    <p:blipFill>
                      <a:blip r:embed="rId4"/>
                      <a:stretch>
                        <a:fillRect/>
                      </a:stretch>
                    </p:blipFill>
                    <p:spPr>
                      <a:xfrm>
                        <a:off x="7670800" y="3352800"/>
                        <a:ext cx="914400" cy="203200"/>
                      </a:xfrm>
                      <a:prstGeom prst="rect">
                        <a:avLst/>
                      </a:prstGeom>
                    </p:spPr>
                  </p:pic>
                </p:oleObj>
              </mc:Fallback>
            </mc:AlternateContent>
          </a:graphicData>
        </a:graphic>
      </p:graphicFrame>
      <p:graphicFrame>
        <p:nvGraphicFramePr>
          <p:cNvPr id="8" name="图片占位符 349186">
            <a:extLst>
              <a:ext uri="{FF2B5EF4-FFF2-40B4-BE49-F238E27FC236}">
                <a16:creationId xmlns:a16="http://schemas.microsoft.com/office/drawing/2014/main" id="{4DB73ED0-C381-4506-8527-C158D034BDB2}"/>
              </a:ext>
            </a:extLst>
          </p:cNvPr>
          <p:cNvGraphicFramePr>
            <a:graphicFrameLocks/>
          </p:cNvGraphicFramePr>
          <p:nvPr>
            <p:extLst>
              <p:ext uri="{D42A27DB-BD31-4B8C-83A1-F6EECF244321}">
                <p14:modId xmlns:p14="http://schemas.microsoft.com/office/powerpoint/2010/main" val="2297118236"/>
              </p:ext>
            </p:extLst>
          </p:nvPr>
        </p:nvGraphicFramePr>
        <p:xfrm>
          <a:off x="6368814" y="1044303"/>
          <a:ext cx="4225613" cy="4833983"/>
        </p:xfrm>
        <a:graphic>
          <a:graphicData uri="http://schemas.openxmlformats.org/presentationml/2006/ole">
            <mc:AlternateContent xmlns:mc="http://schemas.openxmlformats.org/markup-compatibility/2006">
              <mc:Choice xmlns:v="urn:schemas-microsoft-com:vml" Requires="v">
                <p:oleObj spid="_x0000_s8285" name="Document" r:id="rId5" imgW="2759428" imgH="3202821" progId="Word.Document.8">
                  <p:embed/>
                </p:oleObj>
              </mc:Choice>
              <mc:Fallback>
                <p:oleObj name="Document" r:id="rId5" imgW="2759428" imgH="3202821" progId="Word.Document.8">
                  <p:embed/>
                  <p:pic>
                    <p:nvPicPr>
                      <p:cNvPr id="24579" name="图片占位符 349186">
                        <a:extLst>
                          <a:ext uri="{FF2B5EF4-FFF2-40B4-BE49-F238E27FC236}">
                            <a16:creationId xmlns:a16="http://schemas.microsoft.com/office/drawing/2014/main" id="{23DBB843-A186-440A-8A11-A1D37F3012D9}"/>
                          </a:ext>
                        </a:extLst>
                      </p:cNvPr>
                      <p:cNvPicPr>
                        <a:picLocks noGrp="1" noChangeArrowheads="1"/>
                      </p:cNvPicPr>
                      <p:nvPr/>
                    </p:nvPicPr>
                    <p:blipFill>
                      <a:blip r:embed="rId6"/>
                      <a:srcRect/>
                      <a:stretch>
                        <a:fillRect/>
                      </a:stretch>
                    </p:blipFill>
                    <p:spPr bwMode="auto">
                      <a:xfrm>
                        <a:off x="6368814" y="1044303"/>
                        <a:ext cx="4225613" cy="4833983"/>
                      </a:xfrm>
                      <a:prstGeom prst="rect">
                        <a:avLst/>
                      </a:prstGeom>
                      <a:ln>
                        <a:noFill/>
                      </a:ln>
                      <a:extLst/>
                    </p:spPr>
                  </p:pic>
                </p:oleObj>
              </mc:Fallback>
            </mc:AlternateContent>
          </a:graphicData>
        </a:graphic>
      </p:graphicFrame>
    </p:spTree>
    <p:extLst>
      <p:ext uri="{BB962C8B-B14F-4D97-AF65-F5344CB8AC3E}">
        <p14:creationId xmlns:p14="http://schemas.microsoft.com/office/powerpoint/2010/main" val="1440485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353281">
            <a:extLst>
              <a:ext uri="{FF2B5EF4-FFF2-40B4-BE49-F238E27FC236}">
                <a16:creationId xmlns:a16="http://schemas.microsoft.com/office/drawing/2014/main" id="{2D2C7D29-C789-4463-A403-BFDAD65D08C1}"/>
              </a:ext>
            </a:extLst>
          </p:cNvPr>
          <p:cNvSpPr>
            <a:spLocks noGrp="1" noChangeArrowheads="1"/>
          </p:cNvSpPr>
          <p:nvPr>
            <p:ph type="title"/>
          </p:nvPr>
        </p:nvSpPr>
        <p:spPr/>
        <p:txBody>
          <a:bodyPr/>
          <a:lstStyle/>
          <a:p>
            <a:r>
              <a:rPr lang="en-US" altLang="zh-CN" dirty="0"/>
              <a:t>3. </a:t>
            </a:r>
            <a:r>
              <a:rPr lang="zh-CN" altLang="en-US" dirty="0"/>
              <a:t>关系（</a:t>
            </a:r>
            <a:r>
              <a:rPr lang="en-US" altLang="zh-CN" dirty="0"/>
              <a:t>Relation</a:t>
            </a:r>
            <a:r>
              <a:rPr lang="zh-CN" altLang="en-US" dirty="0"/>
              <a:t>）</a:t>
            </a:r>
          </a:p>
        </p:txBody>
      </p:sp>
      <p:sp>
        <p:nvSpPr>
          <p:cNvPr id="33795" name="文本占位符 353282">
            <a:extLst>
              <a:ext uri="{FF2B5EF4-FFF2-40B4-BE49-F238E27FC236}">
                <a16:creationId xmlns:a16="http://schemas.microsoft.com/office/drawing/2014/main" id="{3A101E79-D0DB-4CF4-AB43-568EDC532D28}"/>
              </a:ext>
            </a:extLst>
          </p:cNvPr>
          <p:cNvSpPr>
            <a:spLocks noGrp="1" noChangeArrowheads="1"/>
          </p:cNvSpPr>
          <p:nvPr>
            <p:ph idx="1"/>
          </p:nvPr>
        </p:nvSpPr>
        <p:spPr/>
        <p:txBody>
          <a:bodyPr/>
          <a:lstStyle/>
          <a:p>
            <a:r>
              <a:rPr lang="en-US" altLang="zh-CN" sz="2000" i="1" dirty="0"/>
              <a:t>D</a:t>
            </a:r>
            <a:r>
              <a:rPr lang="en-US" altLang="zh-CN" sz="2000" baseline="-25000" dirty="0"/>
              <a:t>1</a:t>
            </a:r>
            <a:r>
              <a:rPr lang="en-US" altLang="zh-CN" sz="2000" dirty="0"/>
              <a:t>×</a:t>
            </a:r>
            <a:r>
              <a:rPr lang="en-US" altLang="zh-CN" sz="2000" i="1" dirty="0"/>
              <a:t>D</a:t>
            </a:r>
            <a:r>
              <a:rPr lang="en-US" altLang="zh-CN" sz="2000" baseline="-25000" dirty="0"/>
              <a:t>2</a:t>
            </a:r>
            <a:r>
              <a:rPr lang="en-US" altLang="zh-CN" sz="2000" dirty="0"/>
              <a:t>×</a:t>
            </a:r>
            <a:r>
              <a:rPr lang="en-US" altLang="zh-CN" sz="2000" dirty="0">
                <a:latin typeface="Verdana" panose="020B0604030504040204" pitchFamily="34" charset="0"/>
              </a:rPr>
              <a:t>…</a:t>
            </a:r>
            <a:r>
              <a:rPr lang="en-US" altLang="zh-CN" sz="2000" dirty="0"/>
              <a:t>×</a:t>
            </a:r>
            <a:r>
              <a:rPr lang="en-US" altLang="zh-CN" sz="2000" i="1" dirty="0" err="1"/>
              <a:t>D</a:t>
            </a:r>
            <a:r>
              <a:rPr lang="en-US" altLang="zh-CN" sz="2000" i="1" baseline="-25000" dirty="0" err="1"/>
              <a:t>n</a:t>
            </a:r>
            <a:r>
              <a:rPr lang="zh-CN" altLang="en-US" dirty="0"/>
              <a:t>的笛卡尔积的</a:t>
            </a:r>
            <a:r>
              <a:rPr lang="zh-CN" altLang="en-US" dirty="0">
                <a:solidFill>
                  <a:srgbClr val="C00000"/>
                </a:solidFill>
              </a:rPr>
              <a:t>某个子集才有实际含义</a:t>
            </a:r>
          </a:p>
          <a:p>
            <a:pPr lvl="1"/>
            <a:r>
              <a:rPr lang="zh-CN" altLang="en-US" dirty="0"/>
              <a:t>上表的笛卡尔积没有实际意义，取出有实际意义的元组来构造关系。</a:t>
            </a:r>
          </a:p>
          <a:p>
            <a:endParaRPr lang="en-US" altLang="zh-CN" dirty="0"/>
          </a:p>
          <a:p>
            <a:r>
              <a:rPr lang="zh-CN" altLang="en-US" dirty="0"/>
              <a:t>假如李勇和刘晨是计算机专业张老师的研究生，王敏是大数据专业刘老师的研究生。</a:t>
            </a:r>
            <a:endParaRPr lang="en-US" altLang="zh-CN" dirty="0"/>
          </a:p>
          <a:p>
            <a:pPr lvl="1"/>
            <a:r>
              <a:rPr lang="zh-CN" altLang="en-US" dirty="0">
                <a:solidFill>
                  <a:srgbClr val="C00000"/>
                </a:solidFill>
              </a:rPr>
              <a:t>关系</a:t>
            </a:r>
            <a:r>
              <a:rPr lang="zh-CN" altLang="en-US" dirty="0"/>
              <a:t>：</a:t>
            </a:r>
            <a:r>
              <a:rPr lang="en-US" altLang="zh-CN" dirty="0"/>
              <a:t>SAP(</a:t>
            </a:r>
            <a:r>
              <a:rPr lang="zh-CN" altLang="en-US" dirty="0"/>
              <a:t>导师，专业，研究生</a:t>
            </a:r>
            <a:r>
              <a:rPr lang="en-US" altLang="zh-CN" dirty="0"/>
              <a:t>)</a:t>
            </a:r>
          </a:p>
          <a:p>
            <a:pPr lvl="1"/>
            <a:r>
              <a:rPr lang="zh-CN" altLang="en-US" dirty="0">
                <a:solidFill>
                  <a:srgbClr val="C00000"/>
                </a:solidFill>
              </a:rPr>
              <a:t>联系：</a:t>
            </a:r>
            <a:r>
              <a:rPr lang="zh-CN" altLang="en-US" dirty="0"/>
              <a:t>专业与导师：</a:t>
            </a:r>
            <a:r>
              <a:rPr lang="en-US" altLang="zh-CN" dirty="0">
                <a:solidFill>
                  <a:srgbClr val="C00000"/>
                </a:solidFill>
              </a:rPr>
              <a:t>1:n</a:t>
            </a:r>
            <a:r>
              <a:rPr lang="zh-CN" altLang="en-US" dirty="0"/>
              <a:t>，   导师与研究生：</a:t>
            </a:r>
            <a:r>
              <a:rPr lang="en-US" altLang="zh-CN" dirty="0">
                <a:solidFill>
                  <a:srgbClr val="C00000"/>
                </a:solidFill>
              </a:rPr>
              <a:t>1:n</a:t>
            </a:r>
          </a:p>
          <a:p>
            <a:pPr lvl="1"/>
            <a:r>
              <a:rPr lang="zh-CN" altLang="en-US" dirty="0">
                <a:solidFill>
                  <a:srgbClr val="C00000"/>
                </a:solidFill>
              </a:rPr>
              <a:t>主码</a:t>
            </a:r>
            <a:r>
              <a:rPr lang="zh-CN" altLang="en-US" dirty="0"/>
              <a:t>：研究生（假设研究生不会重名） </a:t>
            </a:r>
          </a:p>
        </p:txBody>
      </p:sp>
      <p:sp>
        <p:nvSpPr>
          <p:cNvPr id="2" name="灯片编号占位符 1">
            <a:extLst>
              <a:ext uri="{FF2B5EF4-FFF2-40B4-BE49-F238E27FC236}">
                <a16:creationId xmlns:a16="http://schemas.microsoft.com/office/drawing/2014/main" id="{1937D9E1-BA5E-49FF-8531-9F1DE7A53173}"/>
              </a:ext>
            </a:extLst>
          </p:cNvPr>
          <p:cNvSpPr>
            <a:spLocks noGrp="1"/>
          </p:cNvSpPr>
          <p:nvPr>
            <p:ph type="sldNum" sz="quarter" idx="12"/>
          </p:nvPr>
        </p:nvSpPr>
        <p:spPr/>
        <p:txBody>
          <a:bodyPr/>
          <a:lstStyle/>
          <a:p>
            <a:fld id="{47C9E101-E51D-431E-84FA-C029B8655B60}" type="slidenum">
              <a:rPr lang="zh-CN" altLang="en-US" smtClean="0"/>
              <a:pPr/>
              <a:t>13</a:t>
            </a:fld>
            <a:endParaRPr lang="zh-CN" altLang="en-US" dirty="0"/>
          </a:p>
        </p:txBody>
      </p:sp>
      <p:graphicFrame>
        <p:nvGraphicFramePr>
          <p:cNvPr id="4" name="表格 3">
            <a:extLst>
              <a:ext uri="{FF2B5EF4-FFF2-40B4-BE49-F238E27FC236}">
                <a16:creationId xmlns:a16="http://schemas.microsoft.com/office/drawing/2014/main" id="{CAD6BE21-D028-474B-907D-5CDEBFCC7C6E}"/>
              </a:ext>
            </a:extLst>
          </p:cNvPr>
          <p:cNvGraphicFramePr>
            <a:graphicFrameLocks noGrp="1"/>
          </p:cNvGraphicFramePr>
          <p:nvPr>
            <p:extLst>
              <p:ext uri="{D42A27DB-BD31-4B8C-83A1-F6EECF244321}">
                <p14:modId xmlns:p14="http://schemas.microsoft.com/office/powerpoint/2010/main" val="1859358044"/>
              </p:ext>
            </p:extLst>
          </p:nvPr>
        </p:nvGraphicFramePr>
        <p:xfrm>
          <a:off x="3095885" y="4828832"/>
          <a:ext cx="5614668" cy="1289428"/>
        </p:xfrm>
        <a:graphic>
          <a:graphicData uri="http://schemas.openxmlformats.org/drawingml/2006/table">
            <a:tbl>
              <a:tblPr firstRow="1" bandRow="1">
                <a:tableStyleId>{5C22544A-7EE6-4342-B048-85BDC9FD1C3A}</a:tableStyleId>
              </a:tblPr>
              <a:tblGrid>
                <a:gridCol w="1871556">
                  <a:extLst>
                    <a:ext uri="{9D8B030D-6E8A-4147-A177-3AD203B41FA5}">
                      <a16:colId xmlns:a16="http://schemas.microsoft.com/office/drawing/2014/main" val="20000"/>
                    </a:ext>
                  </a:extLst>
                </a:gridCol>
                <a:gridCol w="1871556">
                  <a:extLst>
                    <a:ext uri="{9D8B030D-6E8A-4147-A177-3AD203B41FA5}">
                      <a16:colId xmlns:a16="http://schemas.microsoft.com/office/drawing/2014/main" val="20001"/>
                    </a:ext>
                  </a:extLst>
                </a:gridCol>
                <a:gridCol w="1871556">
                  <a:extLst>
                    <a:ext uri="{9D8B030D-6E8A-4147-A177-3AD203B41FA5}">
                      <a16:colId xmlns:a16="http://schemas.microsoft.com/office/drawing/2014/main" val="20002"/>
                    </a:ext>
                  </a:extLst>
                </a:gridCol>
              </a:tblGrid>
              <a:tr h="322357">
                <a:tc>
                  <a:txBody>
                    <a:bodyPr/>
                    <a:lstStyle/>
                    <a:p>
                      <a:pPr algn="ctr">
                        <a:lnSpc>
                          <a:spcPct val="100000"/>
                        </a:lnSpc>
                        <a:spcBef>
                          <a:spcPts val="0"/>
                        </a:spcBef>
                        <a:spcAft>
                          <a:spcPts val="0"/>
                        </a:spcAft>
                        <a:tabLst>
                          <a:tab pos="5292725" algn="r"/>
                          <a:tab pos="266700" algn="l"/>
                        </a:tabLst>
                      </a:pPr>
                      <a:r>
                        <a:rPr lang="zh-CN" altLang="en-US" sz="1600" b="1" dirty="0">
                          <a:effectLst/>
                          <a:latin typeface="Times New Roman" panose="02020603050405020304" pitchFamily="18" charset="0"/>
                          <a:cs typeface="Times New Roman" panose="02020603050405020304" pitchFamily="18" charset="0"/>
                        </a:rPr>
                        <a:t>导师</a:t>
                      </a:r>
                      <a:endParaRPr lang="zh-CN" sz="16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5" marR="68585" marT="0" marB="0"/>
                </a:tc>
                <a:tc>
                  <a:txBody>
                    <a:bodyPr/>
                    <a:lstStyle/>
                    <a:p>
                      <a:pPr algn="ctr">
                        <a:lnSpc>
                          <a:spcPct val="100000"/>
                        </a:lnSpc>
                        <a:spcBef>
                          <a:spcPts val="0"/>
                        </a:spcBef>
                        <a:spcAft>
                          <a:spcPts val="0"/>
                        </a:spcAft>
                        <a:tabLst>
                          <a:tab pos="5292725" algn="r"/>
                          <a:tab pos="266700" algn="l"/>
                        </a:tabLst>
                      </a:pPr>
                      <a:r>
                        <a:rPr lang="zh-CN" altLang="en-US" sz="1600" b="1" dirty="0">
                          <a:effectLst/>
                          <a:latin typeface="Times New Roman" panose="02020603050405020304" pitchFamily="18" charset="0"/>
                          <a:cs typeface="Times New Roman" panose="02020603050405020304" pitchFamily="18" charset="0"/>
                        </a:rPr>
                        <a:t>专业</a:t>
                      </a:r>
                      <a:endParaRPr lang="zh-CN" sz="16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5" marR="68585" marT="0" marB="0"/>
                </a:tc>
                <a:tc>
                  <a:txBody>
                    <a:bodyPr/>
                    <a:lstStyle/>
                    <a:p>
                      <a:pPr algn="ctr">
                        <a:lnSpc>
                          <a:spcPct val="100000"/>
                        </a:lnSpc>
                        <a:spcBef>
                          <a:spcPts val="0"/>
                        </a:spcBef>
                        <a:spcAft>
                          <a:spcPts val="0"/>
                        </a:spcAft>
                        <a:tabLst>
                          <a:tab pos="5292725" algn="r"/>
                          <a:tab pos="266700" algn="l"/>
                        </a:tabLst>
                      </a:pPr>
                      <a:r>
                        <a:rPr lang="zh-CN" altLang="en-US" sz="1600" b="1" dirty="0">
                          <a:effectLst/>
                          <a:latin typeface="Times New Roman" panose="02020603050405020304" pitchFamily="18" charset="0"/>
                          <a:cs typeface="Times New Roman" panose="02020603050405020304" pitchFamily="18" charset="0"/>
                        </a:rPr>
                        <a:t>研究生</a:t>
                      </a:r>
                      <a:endParaRPr lang="zh-CN" sz="16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5" marR="68585" marT="0" marB="0"/>
                </a:tc>
                <a:extLst>
                  <a:ext uri="{0D108BD9-81ED-4DB2-BD59-A6C34878D82A}">
                    <a16:rowId xmlns:a16="http://schemas.microsoft.com/office/drawing/2014/main" val="10000"/>
                  </a:ext>
                </a:extLst>
              </a:tr>
              <a:tr h="322357">
                <a:tc>
                  <a:txBody>
                    <a:bodyPr/>
                    <a:lstStyle/>
                    <a:p>
                      <a:pPr algn="ctr">
                        <a:spcAft>
                          <a:spcPts val="0"/>
                        </a:spcAft>
                      </a:pPr>
                      <a:r>
                        <a:rPr lang="zh-CN" sz="1600" b="1" kern="100" dirty="0">
                          <a:effectLst/>
                        </a:rPr>
                        <a:t>张清玫</a:t>
                      </a:r>
                      <a:endParaRPr lang="zh-CN" sz="1600" b="1" kern="100" dirty="0">
                        <a:effectLst/>
                        <a:latin typeface="Times New Roman" panose="02020603050405020304" pitchFamily="18" charset="0"/>
                        <a:ea typeface="宋体" panose="02010600030101010101" pitchFamily="2" charset="-122"/>
                      </a:endParaRPr>
                    </a:p>
                  </a:txBody>
                  <a:tcPr marL="68585" marR="68585" marT="0" marB="0"/>
                </a:tc>
                <a:tc>
                  <a:txBody>
                    <a:bodyPr/>
                    <a:lstStyle/>
                    <a:p>
                      <a:pPr algn="ctr">
                        <a:spcAft>
                          <a:spcPts val="0"/>
                        </a:spcAft>
                      </a:pPr>
                      <a:r>
                        <a:rPr lang="zh-CN" altLang="en-US" sz="1600" b="1" kern="100" dirty="0">
                          <a:effectLst/>
                        </a:rPr>
                        <a:t>计算机</a:t>
                      </a:r>
                      <a:r>
                        <a:rPr lang="zh-CN" sz="1600" b="1" kern="100" dirty="0">
                          <a:effectLst/>
                        </a:rPr>
                        <a:t>专业</a:t>
                      </a:r>
                      <a:endParaRPr lang="zh-CN" sz="1600" b="1" kern="100" dirty="0">
                        <a:effectLst/>
                        <a:latin typeface="Times New Roman" panose="02020603050405020304" pitchFamily="18" charset="0"/>
                        <a:ea typeface="宋体" panose="02010600030101010101" pitchFamily="2" charset="-122"/>
                      </a:endParaRPr>
                    </a:p>
                  </a:txBody>
                  <a:tcPr marL="68585" marR="68585" marT="0" marB="0"/>
                </a:tc>
                <a:tc>
                  <a:txBody>
                    <a:bodyPr/>
                    <a:lstStyle/>
                    <a:p>
                      <a:pPr algn="ctr">
                        <a:spcAft>
                          <a:spcPts val="0"/>
                        </a:spcAft>
                      </a:pPr>
                      <a:r>
                        <a:rPr lang="zh-CN" sz="1600" b="1" kern="100">
                          <a:effectLst/>
                        </a:rPr>
                        <a:t>李勇</a:t>
                      </a:r>
                      <a:endParaRPr lang="zh-CN" sz="1600" b="1" kern="100">
                        <a:effectLst/>
                        <a:latin typeface="Times New Roman" panose="02020603050405020304" pitchFamily="18" charset="0"/>
                        <a:ea typeface="宋体" panose="02010600030101010101" pitchFamily="2" charset="-122"/>
                      </a:endParaRPr>
                    </a:p>
                  </a:txBody>
                  <a:tcPr marL="68585" marR="68585" marT="0" marB="0"/>
                </a:tc>
                <a:extLst>
                  <a:ext uri="{0D108BD9-81ED-4DB2-BD59-A6C34878D82A}">
                    <a16:rowId xmlns:a16="http://schemas.microsoft.com/office/drawing/2014/main" val="10001"/>
                  </a:ext>
                </a:extLst>
              </a:tr>
              <a:tr h="322357">
                <a:tc>
                  <a:txBody>
                    <a:bodyPr/>
                    <a:lstStyle/>
                    <a:p>
                      <a:pPr algn="ctr">
                        <a:spcAft>
                          <a:spcPts val="0"/>
                        </a:spcAft>
                      </a:pPr>
                      <a:r>
                        <a:rPr lang="zh-CN" sz="1600" b="1" kern="100">
                          <a:effectLst/>
                        </a:rPr>
                        <a:t>张清玫</a:t>
                      </a:r>
                      <a:endParaRPr lang="zh-CN" sz="1600" b="1" kern="100">
                        <a:effectLst/>
                        <a:latin typeface="Times New Roman" panose="02020603050405020304" pitchFamily="18" charset="0"/>
                        <a:ea typeface="宋体" panose="02010600030101010101" pitchFamily="2" charset="-122"/>
                      </a:endParaRPr>
                    </a:p>
                  </a:txBody>
                  <a:tcPr marL="68585" marR="68585" marT="0" marB="0"/>
                </a:tc>
                <a:tc>
                  <a:txBody>
                    <a:bodyPr/>
                    <a:lstStyle/>
                    <a:p>
                      <a:pPr algn="ctr">
                        <a:spcAft>
                          <a:spcPts val="0"/>
                        </a:spcAft>
                      </a:pPr>
                      <a:r>
                        <a:rPr lang="zh-CN" altLang="en-US" sz="1600" b="1" kern="100" dirty="0">
                          <a:effectLst/>
                        </a:rPr>
                        <a:t>计算机</a:t>
                      </a:r>
                      <a:r>
                        <a:rPr lang="zh-CN" sz="1600" b="1" kern="100" dirty="0">
                          <a:effectLst/>
                        </a:rPr>
                        <a:t>专业</a:t>
                      </a:r>
                      <a:endParaRPr lang="zh-CN" sz="1600" b="1" kern="100" dirty="0">
                        <a:effectLst/>
                        <a:latin typeface="Times New Roman" panose="02020603050405020304" pitchFamily="18" charset="0"/>
                        <a:ea typeface="宋体" panose="02010600030101010101" pitchFamily="2" charset="-122"/>
                      </a:endParaRPr>
                    </a:p>
                  </a:txBody>
                  <a:tcPr marL="68585" marR="68585" marT="0" marB="0"/>
                </a:tc>
                <a:tc>
                  <a:txBody>
                    <a:bodyPr/>
                    <a:lstStyle/>
                    <a:p>
                      <a:pPr algn="ctr">
                        <a:spcAft>
                          <a:spcPts val="0"/>
                        </a:spcAft>
                      </a:pPr>
                      <a:r>
                        <a:rPr lang="zh-CN" sz="1600" b="1" kern="100" dirty="0">
                          <a:effectLst/>
                        </a:rPr>
                        <a:t>刘晨</a:t>
                      </a:r>
                      <a:endParaRPr lang="zh-CN" sz="1600" b="1" kern="100" dirty="0">
                        <a:effectLst/>
                        <a:latin typeface="Times New Roman" panose="02020603050405020304" pitchFamily="18" charset="0"/>
                        <a:ea typeface="宋体" panose="02010600030101010101" pitchFamily="2" charset="-122"/>
                      </a:endParaRPr>
                    </a:p>
                  </a:txBody>
                  <a:tcPr marL="68585" marR="68585" marT="0" marB="0"/>
                </a:tc>
                <a:extLst>
                  <a:ext uri="{0D108BD9-81ED-4DB2-BD59-A6C34878D82A}">
                    <a16:rowId xmlns:a16="http://schemas.microsoft.com/office/drawing/2014/main" val="10002"/>
                  </a:ext>
                </a:extLst>
              </a:tr>
              <a:tr h="322357">
                <a:tc>
                  <a:txBody>
                    <a:bodyPr/>
                    <a:lstStyle/>
                    <a:p>
                      <a:pPr algn="ctr">
                        <a:spcAft>
                          <a:spcPts val="0"/>
                        </a:spcAft>
                      </a:pPr>
                      <a:r>
                        <a:rPr lang="zh-CN" sz="1600" b="1" kern="100">
                          <a:effectLst/>
                        </a:rPr>
                        <a:t>刘逸</a:t>
                      </a:r>
                      <a:endParaRPr lang="zh-CN" sz="1600" b="1" kern="100">
                        <a:effectLst/>
                        <a:latin typeface="Times New Roman" panose="02020603050405020304" pitchFamily="18" charset="0"/>
                        <a:ea typeface="宋体" panose="02010600030101010101" pitchFamily="2" charset="-122"/>
                      </a:endParaRPr>
                    </a:p>
                  </a:txBody>
                  <a:tcPr marL="68585" marR="68585" marT="0" marB="0"/>
                </a:tc>
                <a:tc>
                  <a:txBody>
                    <a:bodyPr/>
                    <a:lstStyle/>
                    <a:p>
                      <a:pPr algn="ctr">
                        <a:spcAft>
                          <a:spcPts val="0"/>
                        </a:spcAft>
                      </a:pPr>
                      <a:r>
                        <a:rPr lang="zh-CN" altLang="en-US" sz="1600" b="1" kern="100" dirty="0">
                          <a:effectLst/>
                        </a:rPr>
                        <a:t>大数据</a:t>
                      </a:r>
                      <a:r>
                        <a:rPr lang="zh-CN" sz="1600" b="1" kern="100" dirty="0">
                          <a:effectLst/>
                        </a:rPr>
                        <a:t>专业</a:t>
                      </a:r>
                      <a:endParaRPr lang="zh-CN" sz="1600" b="1" kern="100" dirty="0">
                        <a:effectLst/>
                        <a:latin typeface="Times New Roman" panose="02020603050405020304" pitchFamily="18" charset="0"/>
                        <a:ea typeface="宋体" panose="02010600030101010101" pitchFamily="2" charset="-122"/>
                      </a:endParaRPr>
                    </a:p>
                  </a:txBody>
                  <a:tcPr marL="68585" marR="68585" marT="0" marB="0"/>
                </a:tc>
                <a:tc>
                  <a:txBody>
                    <a:bodyPr/>
                    <a:lstStyle/>
                    <a:p>
                      <a:pPr algn="ctr">
                        <a:spcAft>
                          <a:spcPts val="0"/>
                        </a:spcAft>
                      </a:pPr>
                      <a:r>
                        <a:rPr lang="zh-CN" sz="1600" b="1" kern="100" dirty="0">
                          <a:effectLst/>
                        </a:rPr>
                        <a:t>王敏</a:t>
                      </a:r>
                      <a:endParaRPr lang="zh-CN" sz="1600" b="1" kern="100" dirty="0">
                        <a:effectLst/>
                        <a:latin typeface="Times New Roman" panose="02020603050405020304" pitchFamily="18" charset="0"/>
                        <a:ea typeface="宋体" panose="02010600030101010101" pitchFamily="2" charset="-122"/>
                      </a:endParaRPr>
                    </a:p>
                  </a:txBody>
                  <a:tcPr marL="68585" marR="68585" marT="0" marB="0"/>
                </a:tc>
                <a:extLst>
                  <a:ext uri="{0D108BD9-81ED-4DB2-BD59-A6C34878D82A}">
                    <a16:rowId xmlns:a16="http://schemas.microsoft.com/office/drawing/2014/main" val="10003"/>
                  </a:ext>
                </a:extLst>
              </a:tr>
            </a:tbl>
          </a:graphicData>
        </a:graphic>
      </p:graphicFrame>
      <p:sp>
        <p:nvSpPr>
          <p:cNvPr id="5" name="矩形 4">
            <a:extLst>
              <a:ext uri="{FF2B5EF4-FFF2-40B4-BE49-F238E27FC236}">
                <a16:creationId xmlns:a16="http://schemas.microsoft.com/office/drawing/2014/main" id="{86D09F5F-DD4B-4E13-847B-A3F209E3C3B0}"/>
              </a:ext>
            </a:extLst>
          </p:cNvPr>
          <p:cNvSpPr/>
          <p:nvPr/>
        </p:nvSpPr>
        <p:spPr>
          <a:xfrm>
            <a:off x="5420555" y="6154809"/>
            <a:ext cx="1007007" cy="338554"/>
          </a:xfrm>
          <a:prstGeom prst="rect">
            <a:avLst/>
          </a:prstGeom>
        </p:spPr>
        <p:txBody>
          <a:bodyPr wrap="none">
            <a:spAutoFit/>
          </a:bodyPr>
          <a:lstStyle/>
          <a:p>
            <a:r>
              <a:rPr lang="en-US" altLang="zh-CN" sz="1600" b="1" dirty="0">
                <a:cs typeface="Times New Roman" panose="02020603050405020304" pitchFamily="18" charset="0"/>
              </a:rPr>
              <a:t>SAP</a:t>
            </a:r>
            <a:r>
              <a:rPr lang="zh-CN" altLang="en-US" sz="1600" b="1" dirty="0">
                <a:cs typeface="Times New Roman" panose="02020603050405020304" pitchFamily="18" charset="0"/>
              </a:rPr>
              <a:t>关系</a:t>
            </a:r>
            <a:endParaRPr lang="zh-CN" altLang="en-US" sz="16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351233">
            <a:extLst>
              <a:ext uri="{FF2B5EF4-FFF2-40B4-BE49-F238E27FC236}">
                <a16:creationId xmlns:a16="http://schemas.microsoft.com/office/drawing/2014/main" id="{A79FAD0E-DD29-4477-9C89-D69E9C8FDEE0}"/>
              </a:ext>
            </a:extLst>
          </p:cNvPr>
          <p:cNvSpPr>
            <a:spLocks noGrp="1" noChangeArrowheads="1"/>
          </p:cNvSpPr>
          <p:nvPr>
            <p:ph type="title"/>
          </p:nvPr>
        </p:nvSpPr>
        <p:spPr/>
        <p:txBody>
          <a:bodyPr/>
          <a:lstStyle/>
          <a:p>
            <a:r>
              <a:rPr lang="zh-CN" altLang="en-US" dirty="0"/>
              <a:t>关系（续）</a:t>
            </a:r>
          </a:p>
        </p:txBody>
      </p:sp>
      <p:sp>
        <p:nvSpPr>
          <p:cNvPr id="25603" name="文本占位符 351234">
            <a:extLst>
              <a:ext uri="{FF2B5EF4-FFF2-40B4-BE49-F238E27FC236}">
                <a16:creationId xmlns:a16="http://schemas.microsoft.com/office/drawing/2014/main" id="{80905D7B-E32C-47F6-A90E-F56926361AA0}"/>
              </a:ext>
            </a:extLst>
          </p:cNvPr>
          <p:cNvSpPr>
            <a:spLocks noGrp="1" noChangeArrowheads="1"/>
          </p:cNvSpPr>
          <p:nvPr>
            <p:ph idx="1"/>
          </p:nvPr>
        </p:nvSpPr>
        <p:spPr/>
        <p:txBody>
          <a:bodyPr>
            <a:normAutofit fontScale="85000" lnSpcReduction="20000"/>
          </a:bodyPr>
          <a:lstStyle/>
          <a:p>
            <a:pPr marL="0" indent="0">
              <a:buNone/>
            </a:pPr>
            <a:r>
              <a:rPr lang="zh-CN" altLang="en-US" dirty="0"/>
              <a:t>（</a:t>
            </a:r>
            <a:r>
              <a:rPr lang="en-US" altLang="zh-CN" dirty="0"/>
              <a:t>1</a:t>
            </a:r>
            <a:r>
              <a:rPr lang="zh-CN" altLang="en-US" dirty="0"/>
              <a:t>）关系</a:t>
            </a:r>
          </a:p>
          <a:p>
            <a:pPr lvl="1"/>
            <a:r>
              <a:rPr lang="en-US" altLang="zh-CN" i="1" dirty="0"/>
              <a:t>D</a:t>
            </a:r>
            <a:r>
              <a:rPr lang="en-US" altLang="zh-CN" baseline="-25000" dirty="0"/>
              <a:t>1</a:t>
            </a:r>
            <a:r>
              <a:rPr lang="en-US" altLang="zh-CN" dirty="0"/>
              <a:t>×</a:t>
            </a:r>
            <a:r>
              <a:rPr lang="en-US" altLang="zh-CN" i="1" dirty="0"/>
              <a:t>D</a:t>
            </a:r>
            <a:r>
              <a:rPr lang="en-US" altLang="zh-CN" baseline="-25000" dirty="0"/>
              <a:t>2</a:t>
            </a:r>
            <a:r>
              <a:rPr lang="en-US" altLang="zh-CN" dirty="0"/>
              <a:t>×</a:t>
            </a:r>
            <a:r>
              <a:rPr lang="en-US" altLang="zh-CN" dirty="0">
                <a:latin typeface="Verdana" panose="020B0604030504040204" pitchFamily="34" charset="0"/>
              </a:rPr>
              <a:t>…</a:t>
            </a:r>
            <a:r>
              <a:rPr lang="en-US" altLang="zh-CN" dirty="0"/>
              <a:t>×</a:t>
            </a:r>
            <a:r>
              <a:rPr lang="en-US" altLang="zh-CN" i="1" dirty="0" err="1"/>
              <a:t>D</a:t>
            </a:r>
            <a:r>
              <a:rPr lang="en-US" altLang="zh-CN" i="1" baseline="-25000" dirty="0" err="1"/>
              <a:t>n</a:t>
            </a:r>
            <a:r>
              <a:rPr lang="zh-CN" altLang="en-US" dirty="0"/>
              <a:t>的</a:t>
            </a:r>
            <a:r>
              <a:rPr lang="zh-CN" altLang="en-US" dirty="0">
                <a:solidFill>
                  <a:srgbClr val="C00000"/>
                </a:solidFill>
              </a:rPr>
              <a:t>子集</a:t>
            </a:r>
            <a:r>
              <a:rPr lang="zh-CN" altLang="en-US" dirty="0"/>
              <a:t>叫作在域</a:t>
            </a:r>
            <a:r>
              <a:rPr lang="en-US" altLang="zh-CN" i="1" dirty="0"/>
              <a:t>D</a:t>
            </a:r>
            <a:r>
              <a:rPr lang="en-US" altLang="zh-CN" baseline="-25000" dirty="0"/>
              <a:t>1</a:t>
            </a:r>
            <a:r>
              <a:rPr lang="en-US" altLang="zh-CN" dirty="0"/>
              <a:t>×</a:t>
            </a:r>
            <a:r>
              <a:rPr lang="en-US" altLang="zh-CN" i="1" dirty="0"/>
              <a:t>D</a:t>
            </a:r>
            <a:r>
              <a:rPr lang="en-US" altLang="zh-CN" baseline="-25000" dirty="0"/>
              <a:t>2</a:t>
            </a:r>
            <a:r>
              <a:rPr lang="en-US" altLang="zh-CN" dirty="0"/>
              <a:t>×</a:t>
            </a:r>
            <a:r>
              <a:rPr lang="en-US" altLang="zh-CN" dirty="0">
                <a:latin typeface="Verdana" panose="020B0604030504040204" pitchFamily="34" charset="0"/>
              </a:rPr>
              <a:t>…</a:t>
            </a:r>
            <a:r>
              <a:rPr lang="en-US" altLang="zh-CN" dirty="0"/>
              <a:t>×</a:t>
            </a:r>
            <a:r>
              <a:rPr lang="en-US" altLang="zh-CN" i="1" dirty="0" err="1"/>
              <a:t>D</a:t>
            </a:r>
            <a:r>
              <a:rPr lang="en-US" altLang="zh-CN" i="1" baseline="-25000" dirty="0" err="1"/>
              <a:t>n</a:t>
            </a:r>
            <a:r>
              <a:rPr lang="zh-CN" altLang="en-US" dirty="0"/>
              <a:t>上的</a:t>
            </a:r>
            <a:r>
              <a:rPr lang="zh-CN" altLang="en-US" dirty="0">
                <a:solidFill>
                  <a:srgbClr val="C00000"/>
                </a:solidFill>
              </a:rPr>
              <a:t>关系</a:t>
            </a:r>
            <a:r>
              <a:rPr lang="zh-CN" altLang="en-US" dirty="0"/>
              <a:t>，表示为</a:t>
            </a:r>
          </a:p>
          <a:p>
            <a:pPr marL="342900" lvl="1" indent="0">
              <a:buNone/>
            </a:pPr>
            <a:r>
              <a:rPr lang="zh-CN" altLang="en-US" dirty="0">
                <a:solidFill>
                  <a:srgbClr val="C00000"/>
                </a:solidFill>
              </a:rPr>
              <a:t>        </a:t>
            </a:r>
            <a:r>
              <a:rPr lang="en-US" altLang="zh-CN" i="1" dirty="0">
                <a:solidFill>
                  <a:srgbClr val="C00000"/>
                </a:solidFill>
              </a:rPr>
              <a:t>R</a:t>
            </a:r>
            <a:r>
              <a:rPr lang="zh-CN" altLang="en-US" dirty="0">
                <a:solidFill>
                  <a:srgbClr val="C00000"/>
                </a:solidFill>
              </a:rPr>
              <a:t>（</a:t>
            </a:r>
            <a:r>
              <a:rPr lang="en-US" altLang="zh-CN" i="1" dirty="0">
                <a:solidFill>
                  <a:srgbClr val="C00000"/>
                </a:solidFill>
              </a:rPr>
              <a:t>D</a:t>
            </a:r>
            <a:r>
              <a:rPr lang="en-US" altLang="zh-CN" baseline="-25000" dirty="0">
                <a:solidFill>
                  <a:srgbClr val="C00000"/>
                </a:solidFill>
              </a:rPr>
              <a:t>1</a:t>
            </a:r>
            <a:r>
              <a:rPr lang="zh-CN" altLang="en-US" dirty="0">
                <a:solidFill>
                  <a:srgbClr val="C00000"/>
                </a:solidFill>
              </a:rPr>
              <a:t>，</a:t>
            </a:r>
            <a:r>
              <a:rPr lang="en-US" altLang="zh-CN" i="1" dirty="0">
                <a:solidFill>
                  <a:srgbClr val="C00000"/>
                </a:solidFill>
              </a:rPr>
              <a:t>D</a:t>
            </a:r>
            <a:r>
              <a:rPr lang="en-US" altLang="zh-CN" baseline="-25000" dirty="0">
                <a:solidFill>
                  <a:srgbClr val="C00000"/>
                </a:solidFill>
              </a:rPr>
              <a:t>2</a:t>
            </a:r>
            <a:r>
              <a:rPr lang="zh-CN" altLang="en-US" dirty="0">
                <a:solidFill>
                  <a:srgbClr val="C00000"/>
                </a:solidFill>
              </a:rPr>
              <a:t>，</a:t>
            </a:r>
            <a:r>
              <a:rPr lang="en-US" altLang="zh-CN" dirty="0">
                <a:solidFill>
                  <a:srgbClr val="C00000"/>
                </a:solidFill>
                <a:latin typeface="Verdana" panose="020B0604030504040204" pitchFamily="34" charset="0"/>
              </a:rPr>
              <a:t>…</a:t>
            </a:r>
            <a:r>
              <a:rPr lang="zh-CN" altLang="en-US" dirty="0">
                <a:solidFill>
                  <a:srgbClr val="C00000"/>
                </a:solidFill>
              </a:rPr>
              <a:t>，</a:t>
            </a:r>
            <a:r>
              <a:rPr lang="en-US" altLang="zh-CN" i="1" dirty="0" err="1">
                <a:solidFill>
                  <a:srgbClr val="C00000"/>
                </a:solidFill>
              </a:rPr>
              <a:t>D</a:t>
            </a:r>
            <a:r>
              <a:rPr lang="en-US" altLang="zh-CN" i="1" baseline="-25000" dirty="0" err="1">
                <a:solidFill>
                  <a:srgbClr val="C00000"/>
                </a:solidFill>
              </a:rPr>
              <a:t>n</a:t>
            </a:r>
            <a:r>
              <a:rPr lang="zh-CN" altLang="en-US" dirty="0">
                <a:solidFill>
                  <a:srgbClr val="C00000"/>
                </a:solidFill>
              </a:rPr>
              <a:t>）</a:t>
            </a:r>
            <a:r>
              <a:rPr lang="zh-CN" altLang="en-US" dirty="0"/>
              <a:t>               </a:t>
            </a:r>
          </a:p>
          <a:p>
            <a:pPr lvl="2"/>
            <a:r>
              <a:rPr lang="en-US" altLang="zh-CN" i="1" dirty="0"/>
              <a:t>R</a:t>
            </a:r>
            <a:r>
              <a:rPr lang="zh-CN" altLang="en-US" dirty="0"/>
              <a:t>：关系名</a:t>
            </a:r>
          </a:p>
          <a:p>
            <a:pPr lvl="2"/>
            <a:r>
              <a:rPr lang="en-US" altLang="zh-CN" i="1" dirty="0"/>
              <a:t>n</a:t>
            </a:r>
            <a:r>
              <a:rPr lang="zh-CN" altLang="en-US" dirty="0"/>
              <a:t>：关系的目或度（</a:t>
            </a:r>
            <a:r>
              <a:rPr lang="en-US" altLang="zh-CN" dirty="0"/>
              <a:t>Degree</a:t>
            </a:r>
            <a:r>
              <a:rPr lang="zh-CN" altLang="en-US" dirty="0"/>
              <a:t>）</a:t>
            </a:r>
            <a:endParaRPr lang="en-US" altLang="zh-CN" dirty="0"/>
          </a:p>
          <a:p>
            <a:pPr lvl="2"/>
            <a:endParaRPr lang="en-US" altLang="zh-CN" dirty="0"/>
          </a:p>
          <a:p>
            <a:pPr lvl="2"/>
            <a:r>
              <a:rPr lang="zh-CN" altLang="en-US" dirty="0"/>
              <a:t>当</a:t>
            </a:r>
            <a:r>
              <a:rPr lang="en-US" altLang="zh-CN" i="1" dirty="0"/>
              <a:t>n</a:t>
            </a:r>
            <a:r>
              <a:rPr lang="en-US" altLang="zh-CN" dirty="0"/>
              <a:t>=1</a:t>
            </a:r>
            <a:r>
              <a:rPr lang="zh-CN" altLang="en-US" dirty="0"/>
              <a:t>时，称该关系为</a:t>
            </a:r>
            <a:r>
              <a:rPr lang="zh-CN" altLang="en-US" dirty="0">
                <a:solidFill>
                  <a:srgbClr val="C00000"/>
                </a:solidFill>
              </a:rPr>
              <a:t>单元关系</a:t>
            </a:r>
            <a:r>
              <a:rPr lang="zh-CN" altLang="en-US" dirty="0"/>
              <a:t>。</a:t>
            </a:r>
          </a:p>
          <a:p>
            <a:pPr lvl="2"/>
            <a:r>
              <a:rPr lang="zh-CN" altLang="en-US" dirty="0"/>
              <a:t>当</a:t>
            </a:r>
            <a:r>
              <a:rPr lang="en-US" altLang="zh-CN" i="1" dirty="0"/>
              <a:t>n</a:t>
            </a:r>
            <a:r>
              <a:rPr lang="en-US" altLang="zh-CN" dirty="0"/>
              <a:t>=2</a:t>
            </a:r>
            <a:r>
              <a:rPr lang="zh-CN" altLang="en-US" dirty="0"/>
              <a:t>时，称该关系为</a:t>
            </a:r>
            <a:r>
              <a:rPr lang="zh-CN" altLang="en-US" dirty="0">
                <a:solidFill>
                  <a:srgbClr val="C00000"/>
                </a:solidFill>
              </a:rPr>
              <a:t>二元关系</a:t>
            </a:r>
            <a:r>
              <a:rPr lang="zh-CN" altLang="en-US" dirty="0"/>
              <a:t>。</a:t>
            </a:r>
          </a:p>
          <a:p>
            <a:pPr lvl="2"/>
            <a:r>
              <a:rPr lang="zh-CN" altLang="en-US" dirty="0"/>
              <a:t>关系是笛卡尔积的有限子集。无限关系在数据库系统中是无意义的。</a:t>
            </a:r>
            <a:endParaRPr lang="en-US" altLang="zh-CN" dirty="0"/>
          </a:p>
          <a:p>
            <a:pPr marL="685800" lvl="2" indent="0">
              <a:buNone/>
            </a:pPr>
            <a:endParaRPr lang="en-US" altLang="zh-CN" dirty="0"/>
          </a:p>
          <a:p>
            <a:pPr marL="0" indent="0">
              <a:buNone/>
            </a:pPr>
            <a:r>
              <a:rPr lang="zh-CN" altLang="en-US" dirty="0"/>
              <a:t>（</a:t>
            </a:r>
            <a:r>
              <a:rPr lang="en-US" altLang="zh-CN" dirty="0"/>
              <a:t>2</a:t>
            </a:r>
            <a:r>
              <a:rPr lang="zh-CN" altLang="en-US" dirty="0"/>
              <a:t>）元组</a:t>
            </a:r>
          </a:p>
          <a:p>
            <a:pPr lvl="1"/>
            <a:r>
              <a:rPr lang="zh-CN" altLang="en-US" dirty="0"/>
              <a:t>关系中的每个元素是关系中的</a:t>
            </a:r>
            <a:r>
              <a:rPr lang="zh-CN" altLang="en-US" dirty="0">
                <a:solidFill>
                  <a:srgbClr val="C00000"/>
                </a:solidFill>
              </a:rPr>
              <a:t>元组</a:t>
            </a:r>
            <a:r>
              <a:rPr lang="zh-CN" altLang="en-US" dirty="0"/>
              <a:t>，通常用</a:t>
            </a:r>
            <a:r>
              <a:rPr lang="en-US" altLang="zh-CN" i="1" dirty="0">
                <a:solidFill>
                  <a:srgbClr val="C00000"/>
                </a:solidFill>
              </a:rPr>
              <a:t>t</a:t>
            </a:r>
            <a:r>
              <a:rPr lang="zh-CN" altLang="en-US" dirty="0"/>
              <a:t>表示</a:t>
            </a:r>
            <a:endParaRPr lang="en-US" altLang="zh-CN" dirty="0"/>
          </a:p>
          <a:p>
            <a:pPr lvl="1"/>
            <a:endParaRPr lang="en-US" altLang="zh-CN" dirty="0"/>
          </a:p>
          <a:p>
            <a:pPr marL="0" indent="0">
              <a:buNone/>
            </a:pPr>
            <a:r>
              <a:rPr lang="zh-CN" altLang="en-US" dirty="0"/>
              <a:t>（</a:t>
            </a:r>
            <a:r>
              <a:rPr lang="en-US" altLang="zh-CN" dirty="0"/>
              <a:t>3</a:t>
            </a:r>
            <a:r>
              <a:rPr lang="zh-CN" altLang="en-US" dirty="0"/>
              <a:t>）关系的表示</a:t>
            </a:r>
          </a:p>
          <a:p>
            <a:pPr lvl="1"/>
            <a:r>
              <a:rPr lang="zh-CN" altLang="en-US" dirty="0"/>
              <a:t>关系也是一个</a:t>
            </a:r>
            <a:r>
              <a:rPr lang="zh-CN" altLang="en-US" dirty="0">
                <a:solidFill>
                  <a:srgbClr val="C00000"/>
                </a:solidFill>
              </a:rPr>
              <a:t>二维表</a:t>
            </a:r>
            <a:r>
              <a:rPr lang="zh-CN" altLang="en-US" dirty="0"/>
              <a:t>，表的每行对应一个元组，表的每列对应一个域</a:t>
            </a:r>
            <a:endParaRPr lang="en-US" altLang="zh-CN" dirty="0"/>
          </a:p>
        </p:txBody>
      </p:sp>
      <p:sp>
        <p:nvSpPr>
          <p:cNvPr id="2" name="灯片编号占位符 1">
            <a:extLst>
              <a:ext uri="{FF2B5EF4-FFF2-40B4-BE49-F238E27FC236}">
                <a16:creationId xmlns:a16="http://schemas.microsoft.com/office/drawing/2014/main" id="{9CBF8246-211A-47C6-A6EF-623CF2ABFC3D}"/>
              </a:ext>
            </a:extLst>
          </p:cNvPr>
          <p:cNvSpPr>
            <a:spLocks noGrp="1"/>
          </p:cNvSpPr>
          <p:nvPr>
            <p:ph type="sldNum" sz="quarter" idx="12"/>
          </p:nvPr>
        </p:nvSpPr>
        <p:spPr/>
        <p:txBody>
          <a:bodyPr/>
          <a:lstStyle/>
          <a:p>
            <a:fld id="{47C9E101-E51D-431E-84FA-C029B8655B60}" type="slidenum">
              <a:rPr lang="zh-CN" altLang="en-US" smtClean="0"/>
              <a:pPr/>
              <a:t>14</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3">
                                            <p:txEl>
                                              <p:pRg st="11" end="1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603">
                                            <p:txEl>
                                              <p:pRg st="13" end="1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60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356353">
            <a:extLst>
              <a:ext uri="{FF2B5EF4-FFF2-40B4-BE49-F238E27FC236}">
                <a16:creationId xmlns:a16="http://schemas.microsoft.com/office/drawing/2014/main" id="{6CC97288-0E11-442E-BA4D-B385E09C9E6E}"/>
              </a:ext>
            </a:extLst>
          </p:cNvPr>
          <p:cNvSpPr>
            <a:spLocks noGrp="1" noChangeArrowheads="1"/>
          </p:cNvSpPr>
          <p:nvPr>
            <p:ph type="title"/>
          </p:nvPr>
        </p:nvSpPr>
        <p:spPr/>
        <p:txBody>
          <a:bodyPr/>
          <a:lstStyle/>
          <a:p>
            <a:r>
              <a:rPr lang="zh-CN" altLang="en-US"/>
              <a:t>关系（续）</a:t>
            </a:r>
          </a:p>
        </p:txBody>
      </p:sp>
      <p:sp>
        <p:nvSpPr>
          <p:cNvPr id="28675" name="文本占位符 356354">
            <a:extLst>
              <a:ext uri="{FF2B5EF4-FFF2-40B4-BE49-F238E27FC236}">
                <a16:creationId xmlns:a16="http://schemas.microsoft.com/office/drawing/2014/main" id="{393392BC-0DE5-46CF-8F49-B0FD1C42C97D}"/>
              </a:ext>
            </a:extLst>
          </p:cNvPr>
          <p:cNvSpPr>
            <a:spLocks noGrp="1" noChangeArrowheads="1"/>
          </p:cNvSpPr>
          <p:nvPr>
            <p:ph idx="1"/>
          </p:nvPr>
        </p:nvSpPr>
        <p:spPr/>
        <p:txBody>
          <a:bodyPr>
            <a:normAutofit fontScale="85000" lnSpcReduction="20000"/>
          </a:bodyPr>
          <a:lstStyle/>
          <a:p>
            <a:pPr marL="0" indent="0">
              <a:buNone/>
            </a:pPr>
            <a:r>
              <a:rPr lang="zh-CN" altLang="en-US" dirty="0"/>
              <a:t>（</a:t>
            </a:r>
            <a:r>
              <a:rPr lang="en-US" altLang="zh-CN" dirty="0"/>
              <a:t>4</a:t>
            </a:r>
            <a:r>
              <a:rPr lang="zh-CN" altLang="en-US" dirty="0"/>
              <a:t>）属性</a:t>
            </a:r>
          </a:p>
          <a:p>
            <a:pPr lvl="1"/>
            <a:r>
              <a:rPr lang="zh-CN" altLang="en-US" dirty="0"/>
              <a:t>关系中不同列可以对应相同的域</a:t>
            </a:r>
          </a:p>
          <a:p>
            <a:pPr lvl="1"/>
            <a:r>
              <a:rPr lang="zh-CN" altLang="en-US" dirty="0"/>
              <a:t>为了加以区分，必须对每列起一个名字，称为</a:t>
            </a:r>
            <a:r>
              <a:rPr lang="zh-CN" altLang="en-US" dirty="0">
                <a:solidFill>
                  <a:srgbClr val="C00000"/>
                </a:solidFill>
              </a:rPr>
              <a:t>属性</a:t>
            </a:r>
            <a:r>
              <a:rPr lang="zh-CN" altLang="en-US" dirty="0"/>
              <a:t>（</a:t>
            </a:r>
            <a:r>
              <a:rPr lang="en-US" altLang="zh-CN" dirty="0"/>
              <a:t>Attribute</a:t>
            </a:r>
            <a:r>
              <a:rPr lang="zh-CN" altLang="en-US" dirty="0"/>
              <a:t>）</a:t>
            </a:r>
          </a:p>
          <a:p>
            <a:pPr lvl="1"/>
            <a:r>
              <a:rPr lang="en-US" altLang="zh-CN" i="1" dirty="0"/>
              <a:t>n</a:t>
            </a:r>
            <a:r>
              <a:rPr lang="zh-CN" altLang="en-US" dirty="0"/>
              <a:t>目关系必有</a:t>
            </a:r>
            <a:r>
              <a:rPr lang="en-US" altLang="zh-CN" i="1" dirty="0"/>
              <a:t>n</a:t>
            </a:r>
            <a:r>
              <a:rPr lang="zh-CN" altLang="en-US" dirty="0"/>
              <a:t>个属性</a:t>
            </a:r>
            <a:endParaRPr lang="en-US" altLang="zh-CN" dirty="0"/>
          </a:p>
          <a:p>
            <a:pPr lvl="1"/>
            <a:endParaRPr lang="en-US" altLang="zh-CN" dirty="0"/>
          </a:p>
          <a:p>
            <a:pPr marL="0" indent="0">
              <a:buNone/>
            </a:pPr>
            <a:r>
              <a:rPr lang="zh-CN" altLang="en-US" dirty="0"/>
              <a:t>（</a:t>
            </a:r>
            <a:r>
              <a:rPr lang="en-US" altLang="zh-CN" dirty="0"/>
              <a:t>5</a:t>
            </a:r>
            <a:r>
              <a:rPr lang="zh-CN" altLang="en-US" dirty="0"/>
              <a:t>）码</a:t>
            </a:r>
          </a:p>
          <a:p>
            <a:pPr lvl="1"/>
            <a:r>
              <a:rPr lang="zh-CN" altLang="en-US" dirty="0">
                <a:solidFill>
                  <a:srgbClr val="C00000"/>
                </a:solidFill>
              </a:rPr>
              <a:t>候选码（</a:t>
            </a:r>
            <a:r>
              <a:rPr lang="en-US" altLang="zh-CN" dirty="0">
                <a:solidFill>
                  <a:srgbClr val="C00000"/>
                </a:solidFill>
              </a:rPr>
              <a:t>Candidate key</a:t>
            </a:r>
            <a:r>
              <a:rPr lang="zh-CN" altLang="en-US" dirty="0">
                <a:solidFill>
                  <a:srgbClr val="C00000"/>
                </a:solidFill>
              </a:rPr>
              <a:t>）</a:t>
            </a:r>
          </a:p>
          <a:p>
            <a:pPr lvl="2"/>
            <a:r>
              <a:rPr lang="zh-CN" altLang="en-US" dirty="0"/>
              <a:t>若关系中的某一属性组的值能唯一地标识一个元组，而其子集不能，则称该属性组为候选码</a:t>
            </a:r>
            <a:endParaRPr lang="en-US" altLang="zh-CN" dirty="0"/>
          </a:p>
          <a:p>
            <a:pPr lvl="1"/>
            <a:r>
              <a:rPr lang="zh-CN" altLang="en-US" dirty="0">
                <a:solidFill>
                  <a:srgbClr val="C00000"/>
                </a:solidFill>
              </a:rPr>
              <a:t>主码</a:t>
            </a:r>
          </a:p>
          <a:p>
            <a:pPr lvl="2"/>
            <a:r>
              <a:rPr lang="zh-CN" altLang="en-US" dirty="0"/>
              <a:t>若一个关系有多个候选码，则选定其中一个为</a:t>
            </a:r>
            <a:r>
              <a:rPr lang="zh-CN" altLang="en-US" dirty="0">
                <a:solidFill>
                  <a:srgbClr val="C00000"/>
                </a:solidFill>
              </a:rPr>
              <a:t>主码</a:t>
            </a:r>
            <a:r>
              <a:rPr lang="zh-CN" altLang="en-US" dirty="0"/>
              <a:t>（</a:t>
            </a:r>
            <a:r>
              <a:rPr lang="en-US" altLang="zh-CN" dirty="0"/>
              <a:t>Primary key</a:t>
            </a:r>
            <a:r>
              <a:rPr lang="zh-CN" altLang="en-US" dirty="0"/>
              <a:t>）</a:t>
            </a:r>
          </a:p>
          <a:p>
            <a:pPr lvl="2"/>
            <a:r>
              <a:rPr lang="zh-CN" altLang="en-US" dirty="0"/>
              <a:t>候选码的属性称为</a:t>
            </a:r>
            <a:r>
              <a:rPr lang="zh-CN" altLang="en-US" dirty="0">
                <a:solidFill>
                  <a:srgbClr val="C00000"/>
                </a:solidFill>
              </a:rPr>
              <a:t>主属性</a:t>
            </a:r>
            <a:r>
              <a:rPr lang="zh-CN" altLang="en-US" dirty="0"/>
              <a:t>（</a:t>
            </a:r>
            <a:r>
              <a:rPr lang="en-US" altLang="zh-CN" dirty="0"/>
              <a:t>Prime attribute</a:t>
            </a:r>
            <a:r>
              <a:rPr lang="zh-CN" altLang="en-US" dirty="0"/>
              <a:t>）</a:t>
            </a:r>
          </a:p>
          <a:p>
            <a:pPr lvl="2"/>
            <a:r>
              <a:rPr lang="zh-CN" altLang="en-US" dirty="0"/>
              <a:t>不包含在任何侯选码中的属性称为</a:t>
            </a:r>
            <a:r>
              <a:rPr lang="zh-CN" altLang="en-US" dirty="0">
                <a:solidFill>
                  <a:srgbClr val="C00000"/>
                </a:solidFill>
              </a:rPr>
              <a:t>非主属性</a:t>
            </a:r>
            <a:r>
              <a:rPr lang="zh-CN" altLang="en-US" dirty="0"/>
              <a:t>（ </a:t>
            </a:r>
            <a:r>
              <a:rPr lang="en-US" altLang="zh-CN" dirty="0"/>
              <a:t>Non-Prime attribute</a:t>
            </a:r>
            <a:r>
              <a:rPr lang="zh-CN" altLang="en-US" dirty="0"/>
              <a:t>）或</a:t>
            </a:r>
            <a:r>
              <a:rPr lang="zh-CN" altLang="en-US" dirty="0">
                <a:solidFill>
                  <a:srgbClr val="C00000"/>
                </a:solidFill>
              </a:rPr>
              <a:t>非码属性</a:t>
            </a:r>
            <a:r>
              <a:rPr lang="zh-CN" altLang="en-US" dirty="0"/>
              <a:t>（</a:t>
            </a:r>
            <a:r>
              <a:rPr lang="en-US" altLang="zh-CN" dirty="0"/>
              <a:t>Non-key attribute</a:t>
            </a:r>
            <a:r>
              <a:rPr lang="zh-CN" altLang="en-US" dirty="0"/>
              <a:t>） </a:t>
            </a:r>
          </a:p>
          <a:p>
            <a:pPr lvl="1"/>
            <a:r>
              <a:rPr lang="zh-CN" altLang="en-US" dirty="0">
                <a:solidFill>
                  <a:srgbClr val="C00000"/>
                </a:solidFill>
              </a:rPr>
              <a:t>全码（</a:t>
            </a:r>
            <a:r>
              <a:rPr lang="en-US" altLang="zh-CN" dirty="0">
                <a:solidFill>
                  <a:srgbClr val="C00000"/>
                </a:solidFill>
              </a:rPr>
              <a:t>All-key</a:t>
            </a:r>
            <a:r>
              <a:rPr lang="zh-CN" altLang="en-US" dirty="0">
                <a:solidFill>
                  <a:srgbClr val="C00000"/>
                </a:solidFill>
              </a:rPr>
              <a:t>）</a:t>
            </a:r>
          </a:p>
          <a:p>
            <a:pPr lvl="2"/>
            <a:r>
              <a:rPr lang="zh-CN" altLang="en-US" dirty="0"/>
              <a:t>简单的情况：候选码只包含一个属性</a:t>
            </a:r>
            <a:endParaRPr lang="en-US" altLang="zh-CN" dirty="0"/>
          </a:p>
          <a:p>
            <a:pPr lvl="2"/>
            <a:r>
              <a:rPr lang="zh-CN" altLang="en-US" dirty="0"/>
              <a:t>最极端的情况：关系模式的所有属性组是这个关系模式的候选码，称为全码（</a:t>
            </a:r>
            <a:r>
              <a:rPr lang="en-US" altLang="zh-CN" dirty="0"/>
              <a:t>All-key</a:t>
            </a:r>
            <a:r>
              <a:rPr lang="zh-CN" altLang="en-US" dirty="0"/>
              <a:t>）</a:t>
            </a:r>
            <a:endParaRPr lang="en-US" altLang="zh-CN" dirty="0"/>
          </a:p>
          <a:p>
            <a:pPr lvl="1"/>
            <a:endParaRPr lang="zh-CN" altLang="en-US" dirty="0"/>
          </a:p>
        </p:txBody>
      </p:sp>
      <p:sp>
        <p:nvSpPr>
          <p:cNvPr id="2" name="灯片编号占位符 1">
            <a:extLst>
              <a:ext uri="{FF2B5EF4-FFF2-40B4-BE49-F238E27FC236}">
                <a16:creationId xmlns:a16="http://schemas.microsoft.com/office/drawing/2014/main" id="{07FE33F6-D98F-4E73-9EE5-2000DA83D81D}"/>
              </a:ext>
            </a:extLst>
          </p:cNvPr>
          <p:cNvSpPr>
            <a:spLocks noGrp="1"/>
          </p:cNvSpPr>
          <p:nvPr>
            <p:ph type="sldNum" sz="quarter" idx="12"/>
          </p:nvPr>
        </p:nvSpPr>
        <p:spPr/>
        <p:txBody>
          <a:bodyPr/>
          <a:lstStyle/>
          <a:p>
            <a:fld id="{47C9E101-E51D-431E-84FA-C029B8655B60}" type="slidenum">
              <a:rPr lang="zh-CN" altLang="en-US" smtClean="0"/>
              <a:pPr/>
              <a:t>15</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675">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5">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675">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675">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675">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675">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67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3F6D5D-9733-4D44-9C56-AEFEDD5A4BA7}" type="slidenum">
              <a:rPr lang="en-US" smtClean="0"/>
              <a:pPr/>
              <a:t>16</a:t>
            </a:fld>
            <a:endParaRPr lang="en-US" dirty="0"/>
          </a:p>
        </p:txBody>
      </p:sp>
      <p:pic>
        <p:nvPicPr>
          <p:cNvPr id="5" name="Picture 4" descr="C03NF0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67000" y="423393"/>
            <a:ext cx="6487573" cy="601121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文本框 1">
            <a:extLst>
              <a:ext uri="{FF2B5EF4-FFF2-40B4-BE49-F238E27FC236}">
                <a16:creationId xmlns:a16="http://schemas.microsoft.com/office/drawing/2014/main" id="{8275BB7A-A23B-4D3C-B45A-366857712DE8}"/>
              </a:ext>
            </a:extLst>
          </p:cNvPr>
          <p:cNvSpPr txBox="1"/>
          <p:nvPr/>
        </p:nvSpPr>
        <p:spPr>
          <a:xfrm>
            <a:off x="2133600" y="1794993"/>
            <a:ext cx="533400" cy="830997"/>
          </a:xfrm>
          <a:prstGeom prst="rect">
            <a:avLst/>
          </a:prstGeom>
          <a:noFill/>
        </p:spPr>
        <p:txBody>
          <a:bodyPr wrap="square" rtlCol="0">
            <a:spAutoFit/>
          </a:bodyPr>
          <a:lstStyle/>
          <a:p>
            <a:r>
              <a:rPr lang="zh-CN" altLang="en-US" sz="2400">
                <a:solidFill>
                  <a:srgbClr val="C00000"/>
                </a:solidFill>
                <a:latin typeface="微软雅黑" panose="020B0503020204020204" pitchFamily="34" charset="-122"/>
                <a:ea typeface="微软雅黑" panose="020B0503020204020204" pitchFamily="34" charset="-122"/>
              </a:rPr>
              <a:t>关系</a:t>
            </a:r>
          </a:p>
        </p:txBody>
      </p:sp>
      <p:sp>
        <p:nvSpPr>
          <p:cNvPr id="10" name="文本框 9">
            <a:extLst>
              <a:ext uri="{FF2B5EF4-FFF2-40B4-BE49-F238E27FC236}">
                <a16:creationId xmlns:a16="http://schemas.microsoft.com/office/drawing/2014/main" id="{2D174900-985D-4D2A-B9C5-062E5D29BC6A}"/>
              </a:ext>
            </a:extLst>
          </p:cNvPr>
          <p:cNvSpPr txBox="1"/>
          <p:nvPr/>
        </p:nvSpPr>
        <p:spPr>
          <a:xfrm>
            <a:off x="7391400" y="1794993"/>
            <a:ext cx="533400" cy="830997"/>
          </a:xfrm>
          <a:prstGeom prst="rect">
            <a:avLst/>
          </a:prstGeom>
          <a:noFill/>
        </p:spPr>
        <p:txBody>
          <a:bodyPr wrap="square" rtlCol="0">
            <a:spAutoFit/>
          </a:bodyPr>
          <a:lstStyle/>
          <a:p>
            <a:r>
              <a:rPr lang="zh-CN" altLang="en-US" sz="2400">
                <a:solidFill>
                  <a:srgbClr val="C00000"/>
                </a:solidFill>
                <a:latin typeface="微软雅黑" panose="020B0503020204020204" pitchFamily="34" charset="-122"/>
                <a:ea typeface="微软雅黑" panose="020B0503020204020204" pitchFamily="34" charset="-122"/>
              </a:rPr>
              <a:t>基数</a:t>
            </a:r>
          </a:p>
        </p:txBody>
      </p:sp>
      <p:sp>
        <p:nvSpPr>
          <p:cNvPr id="11" name="文本框 10">
            <a:extLst>
              <a:ext uri="{FF2B5EF4-FFF2-40B4-BE49-F238E27FC236}">
                <a16:creationId xmlns:a16="http://schemas.microsoft.com/office/drawing/2014/main" id="{9724DC37-0536-4AA7-B796-644B69649CCB}"/>
              </a:ext>
            </a:extLst>
          </p:cNvPr>
          <p:cNvSpPr txBox="1"/>
          <p:nvPr/>
        </p:nvSpPr>
        <p:spPr>
          <a:xfrm>
            <a:off x="6324600" y="3198166"/>
            <a:ext cx="533400" cy="461665"/>
          </a:xfrm>
          <a:prstGeom prst="rect">
            <a:avLst/>
          </a:prstGeom>
          <a:noFill/>
        </p:spPr>
        <p:txBody>
          <a:bodyPr wrap="square" rtlCol="0">
            <a:spAutoFit/>
          </a:bodyPr>
          <a:lstStyle/>
          <a:p>
            <a:r>
              <a:rPr lang="zh-CN" altLang="en-US" sz="2400">
                <a:solidFill>
                  <a:srgbClr val="C00000"/>
                </a:solidFill>
                <a:latin typeface="微软雅黑" panose="020B0503020204020204" pitchFamily="34" charset="-122"/>
                <a:ea typeface="微软雅黑" panose="020B0503020204020204" pitchFamily="34" charset="-122"/>
              </a:rPr>
              <a:t>度</a:t>
            </a:r>
          </a:p>
        </p:txBody>
      </p:sp>
      <p:sp>
        <p:nvSpPr>
          <p:cNvPr id="12" name="文本框 11">
            <a:extLst>
              <a:ext uri="{FF2B5EF4-FFF2-40B4-BE49-F238E27FC236}">
                <a16:creationId xmlns:a16="http://schemas.microsoft.com/office/drawing/2014/main" id="{39F92CBF-9A0F-41CD-8D3C-1D49EFB4D493}"/>
              </a:ext>
            </a:extLst>
          </p:cNvPr>
          <p:cNvSpPr txBox="1"/>
          <p:nvPr/>
        </p:nvSpPr>
        <p:spPr>
          <a:xfrm>
            <a:off x="5410200" y="351315"/>
            <a:ext cx="853696" cy="461665"/>
          </a:xfrm>
          <a:prstGeom prst="rect">
            <a:avLst/>
          </a:prstGeom>
          <a:noFill/>
        </p:spPr>
        <p:txBody>
          <a:bodyPr wrap="square" rtlCol="0">
            <a:spAutoFit/>
          </a:bodyPr>
          <a:lstStyle/>
          <a:p>
            <a:r>
              <a:rPr lang="zh-CN" altLang="en-US" sz="2400">
                <a:solidFill>
                  <a:srgbClr val="C00000"/>
                </a:solidFill>
                <a:latin typeface="微软雅黑" panose="020B0503020204020204" pitchFamily="34" charset="-122"/>
                <a:ea typeface="微软雅黑" panose="020B0503020204020204" pitchFamily="34" charset="-122"/>
              </a:rPr>
              <a:t>属性</a:t>
            </a:r>
          </a:p>
        </p:txBody>
      </p:sp>
      <p:sp>
        <p:nvSpPr>
          <p:cNvPr id="13" name="文本框 12">
            <a:extLst>
              <a:ext uri="{FF2B5EF4-FFF2-40B4-BE49-F238E27FC236}">
                <a16:creationId xmlns:a16="http://schemas.microsoft.com/office/drawing/2014/main" id="{075D2A40-78DF-4542-B56A-D93FEF4F2BC8}"/>
              </a:ext>
            </a:extLst>
          </p:cNvPr>
          <p:cNvSpPr txBox="1"/>
          <p:nvPr/>
        </p:nvSpPr>
        <p:spPr>
          <a:xfrm>
            <a:off x="4191000" y="3689808"/>
            <a:ext cx="853696" cy="461665"/>
          </a:xfrm>
          <a:prstGeom prst="rect">
            <a:avLst/>
          </a:prstGeom>
          <a:noFill/>
        </p:spPr>
        <p:txBody>
          <a:bodyPr wrap="square" rtlCol="0">
            <a:spAutoFit/>
          </a:bodyPr>
          <a:lstStyle/>
          <a:p>
            <a:r>
              <a:rPr lang="zh-CN" altLang="en-US" sz="2400">
                <a:solidFill>
                  <a:srgbClr val="C00000"/>
                </a:solidFill>
                <a:latin typeface="微软雅黑" panose="020B0503020204020204" pitchFamily="34" charset="-122"/>
                <a:ea typeface="微软雅黑" panose="020B0503020204020204" pitchFamily="34" charset="-122"/>
              </a:rPr>
              <a:t>主码</a:t>
            </a:r>
          </a:p>
        </p:txBody>
      </p:sp>
      <p:sp>
        <p:nvSpPr>
          <p:cNvPr id="14" name="文本框 13">
            <a:extLst>
              <a:ext uri="{FF2B5EF4-FFF2-40B4-BE49-F238E27FC236}">
                <a16:creationId xmlns:a16="http://schemas.microsoft.com/office/drawing/2014/main" id="{B2790410-4359-448E-8480-E4D6ACA9619E}"/>
              </a:ext>
            </a:extLst>
          </p:cNvPr>
          <p:cNvSpPr txBox="1"/>
          <p:nvPr/>
        </p:nvSpPr>
        <p:spPr>
          <a:xfrm>
            <a:off x="8447991" y="3254587"/>
            <a:ext cx="853696" cy="461665"/>
          </a:xfrm>
          <a:prstGeom prst="rect">
            <a:avLst/>
          </a:prstGeom>
          <a:noFill/>
        </p:spPr>
        <p:txBody>
          <a:bodyPr wrap="square" rtlCol="0">
            <a:spAutoFit/>
          </a:bodyPr>
          <a:lstStyle/>
          <a:p>
            <a:r>
              <a:rPr lang="zh-CN" altLang="en-US" sz="2400">
                <a:solidFill>
                  <a:srgbClr val="C00000"/>
                </a:solidFill>
                <a:latin typeface="微软雅黑" panose="020B0503020204020204" pitchFamily="34" charset="-122"/>
                <a:ea typeface="微软雅黑" panose="020B0503020204020204" pitchFamily="34" charset="-122"/>
              </a:rPr>
              <a:t>外码</a:t>
            </a:r>
          </a:p>
        </p:txBody>
      </p:sp>
      <p:sp>
        <p:nvSpPr>
          <p:cNvPr id="15" name="文本框 14">
            <a:extLst>
              <a:ext uri="{FF2B5EF4-FFF2-40B4-BE49-F238E27FC236}">
                <a16:creationId xmlns:a16="http://schemas.microsoft.com/office/drawing/2014/main" id="{1F4B2F1A-A2B2-4D4E-8660-EC5C48EA6ECC}"/>
              </a:ext>
            </a:extLst>
          </p:cNvPr>
          <p:cNvSpPr txBox="1"/>
          <p:nvPr/>
        </p:nvSpPr>
        <p:spPr>
          <a:xfrm>
            <a:off x="9386432" y="4613865"/>
            <a:ext cx="853696" cy="461665"/>
          </a:xfrm>
          <a:prstGeom prst="rect">
            <a:avLst/>
          </a:prstGeom>
          <a:noFill/>
        </p:spPr>
        <p:txBody>
          <a:bodyPr wrap="square" rtlCol="0">
            <a:spAutoFit/>
          </a:bodyPr>
          <a:lstStyle/>
          <a:p>
            <a:pPr algn="ctr"/>
            <a:r>
              <a:rPr lang="zh-CN" altLang="en-US" sz="2400">
                <a:solidFill>
                  <a:srgbClr val="C00000"/>
                </a:solidFill>
                <a:latin typeface="微软雅黑" panose="020B0503020204020204" pitchFamily="34" charset="-122"/>
                <a:ea typeface="微软雅黑" panose="020B0503020204020204" pitchFamily="34" charset="-122"/>
              </a:rPr>
              <a:t>行</a:t>
            </a:r>
          </a:p>
        </p:txBody>
      </p:sp>
      <p:sp>
        <p:nvSpPr>
          <p:cNvPr id="6" name="箭头: 左 5">
            <a:extLst>
              <a:ext uri="{FF2B5EF4-FFF2-40B4-BE49-F238E27FC236}">
                <a16:creationId xmlns:a16="http://schemas.microsoft.com/office/drawing/2014/main" id="{711E0533-7D52-44C0-A12D-6D8FE22EEEA1}"/>
              </a:ext>
            </a:extLst>
          </p:cNvPr>
          <p:cNvSpPr/>
          <p:nvPr/>
        </p:nvSpPr>
        <p:spPr>
          <a:xfrm>
            <a:off x="9247864" y="4818833"/>
            <a:ext cx="277136" cy="1509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16" name="文本框 15">
            <a:extLst>
              <a:ext uri="{FF2B5EF4-FFF2-40B4-BE49-F238E27FC236}">
                <a16:creationId xmlns:a16="http://schemas.microsoft.com/office/drawing/2014/main" id="{CDE72076-DB4B-40F6-9082-8CBB3B518353}"/>
              </a:ext>
            </a:extLst>
          </p:cNvPr>
          <p:cNvSpPr txBox="1"/>
          <p:nvPr/>
        </p:nvSpPr>
        <p:spPr>
          <a:xfrm>
            <a:off x="6504709" y="3502888"/>
            <a:ext cx="853696" cy="461665"/>
          </a:xfrm>
          <a:prstGeom prst="rect">
            <a:avLst/>
          </a:prstGeom>
          <a:noFill/>
        </p:spPr>
        <p:txBody>
          <a:bodyPr wrap="square" rtlCol="0">
            <a:spAutoFit/>
          </a:bodyPr>
          <a:lstStyle/>
          <a:p>
            <a:pPr algn="ctr"/>
            <a:r>
              <a:rPr lang="zh-CN" altLang="en-US" sz="2400">
                <a:solidFill>
                  <a:srgbClr val="C00000"/>
                </a:solidFill>
                <a:latin typeface="微软雅黑" panose="020B0503020204020204" pitchFamily="34" charset="-122"/>
                <a:ea typeface="微软雅黑" panose="020B0503020204020204" pitchFamily="34" charset="-122"/>
              </a:rPr>
              <a:t>列</a:t>
            </a:r>
          </a:p>
        </p:txBody>
      </p:sp>
      <p:sp>
        <p:nvSpPr>
          <p:cNvPr id="7" name="箭头: 下 6">
            <a:extLst>
              <a:ext uri="{FF2B5EF4-FFF2-40B4-BE49-F238E27FC236}">
                <a16:creationId xmlns:a16="http://schemas.microsoft.com/office/drawing/2014/main" id="{9E70752B-B3BA-4FDC-BDB3-16C0F2804A27}"/>
              </a:ext>
            </a:extLst>
          </p:cNvPr>
          <p:cNvSpPr/>
          <p:nvPr/>
        </p:nvSpPr>
        <p:spPr>
          <a:xfrm>
            <a:off x="6893457" y="3956795"/>
            <a:ext cx="76200" cy="2308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17" name="矩形 16">
            <a:extLst>
              <a:ext uri="{FF2B5EF4-FFF2-40B4-BE49-F238E27FC236}">
                <a16:creationId xmlns:a16="http://schemas.microsoft.com/office/drawing/2014/main" id="{5056D949-1DC2-4A96-B843-A29EB8829009}"/>
              </a:ext>
            </a:extLst>
          </p:cNvPr>
          <p:cNvSpPr/>
          <p:nvPr/>
        </p:nvSpPr>
        <p:spPr>
          <a:xfrm>
            <a:off x="3037427" y="4715425"/>
            <a:ext cx="6117146" cy="346250"/>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0000"/>
                </a:solidFill>
              </a:ln>
              <a:solidFill>
                <a:srgbClr val="C00000"/>
              </a:solidFill>
            </a:endParaRPr>
          </a:p>
        </p:txBody>
      </p:sp>
      <p:sp>
        <p:nvSpPr>
          <p:cNvPr id="18" name="矩形 17">
            <a:extLst>
              <a:ext uri="{FF2B5EF4-FFF2-40B4-BE49-F238E27FC236}">
                <a16:creationId xmlns:a16="http://schemas.microsoft.com/office/drawing/2014/main" id="{1AAAD82F-79AB-42D9-B88E-F2482D6BCA2B}"/>
              </a:ext>
            </a:extLst>
          </p:cNvPr>
          <p:cNvSpPr/>
          <p:nvPr/>
        </p:nvSpPr>
        <p:spPr>
          <a:xfrm>
            <a:off x="6553200" y="4187628"/>
            <a:ext cx="914400" cy="220458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0000"/>
                </a:solidFill>
              </a:ln>
              <a:noFill/>
            </a:endParaRPr>
          </a:p>
        </p:txBody>
      </p:sp>
    </p:spTree>
    <p:extLst>
      <p:ext uri="{BB962C8B-B14F-4D97-AF65-F5344CB8AC3E}">
        <p14:creationId xmlns:p14="http://schemas.microsoft.com/office/powerpoint/2010/main" val="4276064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361473">
            <a:extLst>
              <a:ext uri="{FF2B5EF4-FFF2-40B4-BE49-F238E27FC236}">
                <a16:creationId xmlns:a16="http://schemas.microsoft.com/office/drawing/2014/main" id="{4A42D5F1-CE71-489B-B8D5-F9EE8725F447}"/>
              </a:ext>
            </a:extLst>
          </p:cNvPr>
          <p:cNvSpPr>
            <a:spLocks noGrp="1" noChangeArrowheads="1"/>
          </p:cNvSpPr>
          <p:nvPr>
            <p:ph type="title"/>
          </p:nvPr>
        </p:nvSpPr>
        <p:spPr/>
        <p:txBody>
          <a:bodyPr/>
          <a:lstStyle/>
          <a:p>
            <a:r>
              <a:rPr lang="zh-CN" altLang="en-US"/>
              <a:t>关系（续）</a:t>
            </a:r>
          </a:p>
        </p:txBody>
      </p:sp>
      <p:sp>
        <p:nvSpPr>
          <p:cNvPr id="34819" name="文本占位符 361474">
            <a:extLst>
              <a:ext uri="{FF2B5EF4-FFF2-40B4-BE49-F238E27FC236}">
                <a16:creationId xmlns:a16="http://schemas.microsoft.com/office/drawing/2014/main" id="{DA1D5F9A-F217-44DB-B746-82AF74FD8686}"/>
              </a:ext>
            </a:extLst>
          </p:cNvPr>
          <p:cNvSpPr>
            <a:spLocks noGrp="1" noChangeArrowheads="1"/>
          </p:cNvSpPr>
          <p:nvPr>
            <p:ph idx="1"/>
          </p:nvPr>
        </p:nvSpPr>
        <p:spPr/>
        <p:txBody>
          <a:bodyPr/>
          <a:lstStyle/>
          <a:p>
            <a:pPr marL="0" indent="0">
              <a:buNone/>
            </a:pPr>
            <a:r>
              <a:rPr lang="zh-CN" altLang="en-US" dirty="0"/>
              <a:t>（</a:t>
            </a:r>
            <a:r>
              <a:rPr lang="en-US" altLang="zh-CN" dirty="0"/>
              <a:t>6</a:t>
            </a:r>
            <a:r>
              <a:rPr lang="zh-CN" altLang="en-US" dirty="0"/>
              <a:t>）三类关系</a:t>
            </a:r>
          </a:p>
          <a:p>
            <a:pPr lvl="1"/>
            <a:r>
              <a:rPr lang="zh-CN" altLang="en-US" dirty="0">
                <a:solidFill>
                  <a:srgbClr val="C00000"/>
                </a:solidFill>
              </a:rPr>
              <a:t>基本关系</a:t>
            </a:r>
            <a:r>
              <a:rPr lang="zh-CN" altLang="en-US" dirty="0"/>
              <a:t>（基本表或基表）：实际存在的表，是实际存储数据的</a:t>
            </a:r>
            <a:r>
              <a:rPr lang="zh-CN" altLang="en-US" dirty="0">
                <a:solidFill>
                  <a:srgbClr val="C00000"/>
                </a:solidFill>
              </a:rPr>
              <a:t>逻辑表示</a:t>
            </a:r>
          </a:p>
          <a:p>
            <a:pPr lvl="1"/>
            <a:r>
              <a:rPr lang="zh-CN" altLang="en-US" dirty="0">
                <a:solidFill>
                  <a:srgbClr val="C00000"/>
                </a:solidFill>
              </a:rPr>
              <a:t>查询表：</a:t>
            </a:r>
            <a:r>
              <a:rPr lang="zh-CN" altLang="en-US" dirty="0"/>
              <a:t>查询结果对应的表</a:t>
            </a:r>
          </a:p>
          <a:p>
            <a:pPr lvl="1"/>
            <a:r>
              <a:rPr lang="zh-CN" altLang="en-US" dirty="0">
                <a:solidFill>
                  <a:srgbClr val="C00000"/>
                </a:solidFill>
              </a:rPr>
              <a:t>视图表：</a:t>
            </a:r>
            <a:r>
              <a:rPr lang="zh-CN" altLang="en-US" dirty="0"/>
              <a:t>由基本表或其他视图表导出的表，是</a:t>
            </a:r>
            <a:r>
              <a:rPr lang="zh-CN" altLang="en-US" dirty="0">
                <a:solidFill>
                  <a:srgbClr val="C00000"/>
                </a:solidFill>
              </a:rPr>
              <a:t>虚表</a:t>
            </a:r>
            <a:r>
              <a:rPr lang="zh-CN" altLang="en-US" dirty="0"/>
              <a:t>，不对应实际存储的数据</a:t>
            </a:r>
            <a:endParaRPr lang="en-US" altLang="zh-CN" dirty="0"/>
          </a:p>
          <a:p>
            <a:pPr marL="0" indent="0">
              <a:buNone/>
            </a:pPr>
            <a:r>
              <a:rPr lang="zh-CN" altLang="en-US" dirty="0"/>
              <a:t>（</a:t>
            </a:r>
            <a:r>
              <a:rPr lang="en-US" altLang="zh-CN" dirty="0"/>
              <a:t>7</a:t>
            </a:r>
            <a:r>
              <a:rPr lang="zh-CN" altLang="en-US" dirty="0"/>
              <a:t>）基本关系的性质</a:t>
            </a:r>
          </a:p>
          <a:p>
            <a:pPr marL="342900" lvl="1" indent="0">
              <a:buNone/>
            </a:pPr>
            <a:r>
              <a:rPr lang="en-US" altLang="zh-CN" dirty="0"/>
              <a:t>① </a:t>
            </a:r>
            <a:r>
              <a:rPr lang="zh-CN" altLang="en-US" dirty="0"/>
              <a:t>列是</a:t>
            </a:r>
            <a:r>
              <a:rPr lang="zh-CN" altLang="en-US" dirty="0">
                <a:solidFill>
                  <a:srgbClr val="C00000"/>
                </a:solidFill>
              </a:rPr>
              <a:t>同质</a:t>
            </a:r>
            <a:r>
              <a:rPr lang="zh-CN" altLang="en-US" dirty="0"/>
              <a:t>的（</a:t>
            </a:r>
            <a:r>
              <a:rPr lang="en-US" altLang="zh-CN" dirty="0"/>
              <a:t>Homogeneous</a:t>
            </a:r>
            <a:r>
              <a:rPr lang="zh-CN" altLang="en-US" dirty="0"/>
              <a:t>）</a:t>
            </a:r>
          </a:p>
          <a:p>
            <a:pPr marL="342900" lvl="1" indent="0">
              <a:buNone/>
            </a:pPr>
            <a:r>
              <a:rPr lang="en-US" altLang="zh-CN" dirty="0"/>
              <a:t>② </a:t>
            </a:r>
            <a:r>
              <a:rPr lang="zh-CN" altLang="en-US" dirty="0"/>
              <a:t>不同的列可出自同一个域</a:t>
            </a:r>
          </a:p>
          <a:p>
            <a:pPr lvl="2"/>
            <a:r>
              <a:rPr lang="zh-CN" altLang="en-US" dirty="0"/>
              <a:t>其中的每一列称为一个属性</a:t>
            </a:r>
          </a:p>
          <a:p>
            <a:pPr lvl="2"/>
            <a:r>
              <a:rPr lang="zh-CN" altLang="en-US" dirty="0"/>
              <a:t>不同的属性要给予不同的属性名</a:t>
            </a:r>
          </a:p>
        </p:txBody>
      </p:sp>
      <p:sp>
        <p:nvSpPr>
          <p:cNvPr id="2" name="灯片编号占位符 1">
            <a:extLst>
              <a:ext uri="{FF2B5EF4-FFF2-40B4-BE49-F238E27FC236}">
                <a16:creationId xmlns:a16="http://schemas.microsoft.com/office/drawing/2014/main" id="{E7EC298B-47F6-467B-884B-F685EABADCCC}"/>
              </a:ext>
            </a:extLst>
          </p:cNvPr>
          <p:cNvSpPr>
            <a:spLocks noGrp="1"/>
          </p:cNvSpPr>
          <p:nvPr>
            <p:ph type="sldNum" sz="quarter" idx="12"/>
          </p:nvPr>
        </p:nvSpPr>
        <p:spPr/>
        <p:txBody>
          <a:bodyPr/>
          <a:lstStyle/>
          <a:p>
            <a:fld id="{47C9E101-E51D-431E-84FA-C029B8655B60}" type="slidenum">
              <a:rPr lang="zh-CN" altLang="en-US" smtClean="0"/>
              <a:pPr/>
              <a:t>17</a:t>
            </a:fld>
            <a:endParaRPr lang="zh-CN" altLang="en-US" dirty="0"/>
          </a:p>
        </p:txBody>
      </p:sp>
      <p:sp>
        <p:nvSpPr>
          <p:cNvPr id="5" name="矩形 4">
            <a:extLst>
              <a:ext uri="{FF2B5EF4-FFF2-40B4-BE49-F238E27FC236}">
                <a16:creationId xmlns:a16="http://schemas.microsoft.com/office/drawing/2014/main" id="{8EB85E41-B011-449E-AA6D-946901B7E2EE}"/>
              </a:ext>
            </a:extLst>
          </p:cNvPr>
          <p:cNvSpPr/>
          <p:nvPr/>
        </p:nvSpPr>
        <p:spPr>
          <a:xfrm>
            <a:off x="5313797" y="5345761"/>
            <a:ext cx="4639112" cy="861774"/>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上例中也可以只给出两个域：</a:t>
            </a:r>
            <a:endParaRPr lang="en-US" altLang="zh-CN" b="1" dirty="0">
              <a:latin typeface="Times New Roman" panose="02020603050405020304" pitchFamily="18" charset="0"/>
              <a:ea typeface="华文中宋" panose="02010600040101010101" pitchFamily="2" charset="-122"/>
              <a:cs typeface="Times New Roman" panose="02020603050405020304" pitchFamily="18" charset="0"/>
            </a:endParaRPr>
          </a:p>
          <a:p>
            <a:r>
              <a:rPr lang="zh-CN" altLang="en-US" sz="1600" b="1" dirty="0">
                <a:latin typeface="Times New Roman" panose="02020603050405020304" pitchFamily="18" charset="0"/>
                <a:ea typeface="华文中宋" panose="02010600040101010101" pitchFamily="2" charset="-122"/>
                <a:cs typeface="Times New Roman" panose="02020603050405020304" pitchFamily="18" charset="0"/>
              </a:rPr>
              <a:t>人（</a:t>
            </a:r>
            <a:r>
              <a:rPr lang="en-US" altLang="zh-CN" sz="1600" b="1" dirty="0">
                <a:latin typeface="Times New Roman" panose="02020603050405020304" pitchFamily="18" charset="0"/>
                <a:ea typeface="华文中宋" panose="02010600040101010101" pitchFamily="2" charset="-122"/>
                <a:cs typeface="Times New Roman" panose="02020603050405020304" pitchFamily="18" charset="0"/>
              </a:rPr>
              <a:t>PERSON</a:t>
            </a:r>
            <a:r>
              <a:rPr lang="zh-CN" altLang="en-US" sz="1600"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600" b="1" dirty="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1600" b="1" dirty="0">
                <a:latin typeface="Times New Roman" panose="02020603050405020304" pitchFamily="18" charset="0"/>
                <a:ea typeface="华文中宋" panose="02010600040101010101" pitchFamily="2" charset="-122"/>
                <a:cs typeface="Times New Roman" panose="02020603050405020304" pitchFamily="18" charset="0"/>
              </a:rPr>
              <a:t>张，刘，李勇，刘晨，王敏</a:t>
            </a:r>
            <a:endParaRPr lang="en-US" altLang="zh-CN" sz="1600" b="1" dirty="0">
              <a:latin typeface="Times New Roman" panose="02020603050405020304" pitchFamily="18" charset="0"/>
              <a:ea typeface="华文中宋" panose="02010600040101010101" pitchFamily="2" charset="-122"/>
              <a:cs typeface="Times New Roman" panose="02020603050405020304" pitchFamily="18" charset="0"/>
            </a:endParaRPr>
          </a:p>
          <a:p>
            <a:r>
              <a:rPr lang="zh-CN" altLang="en-US" sz="1600" b="1" dirty="0">
                <a:latin typeface="Times New Roman" panose="02020603050405020304" pitchFamily="18" charset="0"/>
                <a:ea typeface="华文中宋" panose="02010600040101010101" pitchFamily="2" charset="-122"/>
                <a:cs typeface="Times New Roman" panose="02020603050405020304" pitchFamily="18" charset="0"/>
              </a:rPr>
              <a:t>专业（</a:t>
            </a:r>
            <a:r>
              <a:rPr lang="en-US" altLang="zh-CN" sz="1600" b="1" dirty="0">
                <a:latin typeface="Times New Roman" panose="02020603050405020304" pitchFamily="18" charset="0"/>
                <a:ea typeface="华文中宋" panose="02010600040101010101" pitchFamily="2" charset="-122"/>
                <a:cs typeface="Times New Roman" panose="02020603050405020304" pitchFamily="18" charset="0"/>
              </a:rPr>
              <a:t>SPECIALITY</a:t>
            </a:r>
            <a:r>
              <a:rPr lang="zh-CN" altLang="en-US" sz="1600"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600" b="1" dirty="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1600" b="1" dirty="0">
                <a:latin typeface="Times New Roman" panose="02020603050405020304" pitchFamily="18" charset="0"/>
                <a:ea typeface="华文中宋" panose="02010600040101010101" pitchFamily="2" charset="-122"/>
                <a:cs typeface="Times New Roman" panose="02020603050405020304" pitchFamily="18" charset="0"/>
              </a:rPr>
              <a:t>计算机专业，大数据专业</a:t>
            </a:r>
          </a:p>
        </p:txBody>
      </p:sp>
      <p:pic>
        <p:nvPicPr>
          <p:cNvPr id="6" name="Picture 4">
            <a:extLst>
              <a:ext uri="{FF2B5EF4-FFF2-40B4-BE49-F238E27FC236}">
                <a16:creationId xmlns:a16="http://schemas.microsoft.com/office/drawing/2014/main" id="{CC1B7124-3CC1-46BF-9E44-46EFC012E9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6772" y="3149710"/>
            <a:ext cx="4498975"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2">
            <a:extLst>
              <a:ext uri="{FF2B5EF4-FFF2-40B4-BE49-F238E27FC236}">
                <a16:creationId xmlns:a16="http://schemas.microsoft.com/office/drawing/2014/main" id="{4975AD7A-8B98-4081-9089-582EB9DC5D8E}"/>
              </a:ext>
            </a:extLst>
          </p:cNvPr>
          <p:cNvSpPr>
            <a:spLocks noChangeArrowheads="1"/>
          </p:cNvSpPr>
          <p:nvPr/>
        </p:nvSpPr>
        <p:spPr bwMode="auto">
          <a:xfrm>
            <a:off x="644905" y="5357012"/>
            <a:ext cx="4358126" cy="1015706"/>
          </a:xfrm>
          <a:prstGeom prst="rect">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6"/>
          </a:lnRef>
          <a:fillRef idx="2">
            <a:schemeClr val="accent6"/>
          </a:fillRef>
          <a:effectRef idx="1">
            <a:schemeClr val="accent6"/>
          </a:effectRef>
          <a:fontRef idx="minor">
            <a:schemeClr val="dk1"/>
          </a:fontRef>
        </p:style>
        <p:txBody>
          <a:bodyPr/>
          <a:lstStyle/>
          <a:p>
            <a:pPr marL="342900" indent="-342900">
              <a:lnSpc>
                <a:spcPct val="120000"/>
              </a:lnSpc>
            </a:pPr>
            <a:r>
              <a:rPr lang="zh-CN" altLang="en-US" sz="1600" b="1" dirty="0">
                <a:solidFill>
                  <a:srgbClr val="C00000"/>
                </a:solidFill>
                <a:ea typeface="楷体_GB2312" pitchFamily="49" charset="-122"/>
              </a:rPr>
              <a:t>例：</a:t>
            </a:r>
            <a:r>
              <a:rPr lang="en-US" altLang="zh-CN" sz="1600" b="1" i="1" dirty="0">
                <a:ea typeface="楷体_GB2312" pitchFamily="49" charset="-122"/>
              </a:rPr>
              <a:t>D</a:t>
            </a:r>
            <a:r>
              <a:rPr lang="en-US" altLang="zh-CN" sz="1600" b="1" baseline="-25000" dirty="0">
                <a:ea typeface="楷体_GB2312" pitchFamily="49" charset="-122"/>
              </a:rPr>
              <a:t>1 =</a:t>
            </a:r>
            <a:r>
              <a:rPr lang="en-US" altLang="zh-CN" sz="1600" b="1" dirty="0">
                <a:ea typeface="楷体_GB2312" pitchFamily="49" charset="-122"/>
              </a:rPr>
              <a:t>supervisor={</a:t>
            </a:r>
            <a:r>
              <a:rPr lang="zh-CN" altLang="en-US" sz="1600" b="1" dirty="0">
                <a:ea typeface="楷体_GB2312" pitchFamily="49" charset="-122"/>
              </a:rPr>
              <a:t>张，刘</a:t>
            </a:r>
            <a:r>
              <a:rPr lang="en-US" altLang="zh-CN" sz="1600" b="1" dirty="0">
                <a:ea typeface="楷体_GB2312" pitchFamily="49" charset="-122"/>
              </a:rPr>
              <a:t>}</a:t>
            </a:r>
          </a:p>
          <a:p>
            <a:pPr marL="342900" indent="-342900">
              <a:lnSpc>
                <a:spcPct val="120000"/>
              </a:lnSpc>
            </a:pPr>
            <a:r>
              <a:rPr lang="en-US" altLang="zh-CN" sz="1600" b="1" i="1" dirty="0">
                <a:ea typeface="楷体_GB2312" pitchFamily="49" charset="-122"/>
              </a:rPr>
              <a:t>       D</a:t>
            </a:r>
            <a:r>
              <a:rPr lang="en-US" altLang="zh-CN" sz="1600" b="1" baseline="-25000" dirty="0">
                <a:ea typeface="楷体_GB2312" pitchFamily="49" charset="-122"/>
              </a:rPr>
              <a:t>2 = </a:t>
            </a:r>
            <a:r>
              <a:rPr lang="en-US" altLang="zh-CN" sz="1600" b="1" dirty="0" err="1">
                <a:ea typeface="楷体_GB2312" pitchFamily="49" charset="-122"/>
              </a:rPr>
              <a:t>speciality</a:t>
            </a:r>
            <a:r>
              <a:rPr lang="en-US" altLang="zh-CN" sz="1600" b="1" dirty="0">
                <a:ea typeface="楷体_GB2312" pitchFamily="49" charset="-122"/>
              </a:rPr>
              <a:t>={</a:t>
            </a:r>
            <a:r>
              <a:rPr lang="zh-CN" altLang="en-US" sz="1600" b="1" dirty="0">
                <a:ea typeface="楷体_GB2312" pitchFamily="49" charset="-122"/>
              </a:rPr>
              <a:t>计算机，信息｝</a:t>
            </a:r>
          </a:p>
          <a:p>
            <a:pPr marL="342900" indent="-342900">
              <a:lnSpc>
                <a:spcPct val="120000"/>
              </a:lnSpc>
            </a:pPr>
            <a:r>
              <a:rPr lang="zh-CN" altLang="en-US" sz="1600" b="1" i="1" dirty="0">
                <a:ea typeface="楷体_GB2312" pitchFamily="49" charset="-122"/>
              </a:rPr>
              <a:t>       </a:t>
            </a:r>
            <a:r>
              <a:rPr lang="en-US" altLang="zh-CN" sz="1600" b="1" i="1" dirty="0">
                <a:ea typeface="楷体_GB2312" pitchFamily="49" charset="-122"/>
              </a:rPr>
              <a:t>D</a:t>
            </a:r>
            <a:r>
              <a:rPr lang="en-US" altLang="zh-CN" sz="1600" b="1" baseline="-25000" dirty="0">
                <a:ea typeface="楷体_GB2312" pitchFamily="49" charset="-122"/>
              </a:rPr>
              <a:t>3 = </a:t>
            </a:r>
            <a:r>
              <a:rPr lang="en-US" altLang="zh-CN" sz="1600" b="1" dirty="0">
                <a:ea typeface="楷体_GB2312" pitchFamily="49" charset="-122"/>
              </a:rPr>
              <a:t>postgraduate={</a:t>
            </a:r>
            <a:r>
              <a:rPr lang="zh-CN" altLang="en-US" sz="1600" b="1" dirty="0">
                <a:ea typeface="楷体_GB2312" pitchFamily="49" charset="-122"/>
              </a:rPr>
              <a:t>李勇，刘晨，王敏｝</a:t>
            </a:r>
            <a:endParaRPr lang="zh-CN" altLang="en-US" sz="1600" b="1" dirty="0">
              <a:solidFill>
                <a:srgbClr val="FF33CC"/>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362497">
            <a:extLst>
              <a:ext uri="{FF2B5EF4-FFF2-40B4-BE49-F238E27FC236}">
                <a16:creationId xmlns:a16="http://schemas.microsoft.com/office/drawing/2014/main" id="{66DF769D-EE30-4EFC-B39E-0739A0FEB8DC}"/>
              </a:ext>
            </a:extLst>
          </p:cNvPr>
          <p:cNvSpPr>
            <a:spLocks noGrp="1" noChangeArrowheads="1"/>
          </p:cNvSpPr>
          <p:nvPr>
            <p:ph type="title"/>
          </p:nvPr>
        </p:nvSpPr>
        <p:spPr/>
        <p:txBody>
          <a:bodyPr/>
          <a:lstStyle/>
          <a:p>
            <a:r>
              <a:rPr lang="zh-CN" altLang="en-US"/>
              <a:t>关系（续）</a:t>
            </a:r>
          </a:p>
        </p:txBody>
      </p:sp>
      <p:sp>
        <p:nvSpPr>
          <p:cNvPr id="35843" name="文本占位符 362498">
            <a:extLst>
              <a:ext uri="{FF2B5EF4-FFF2-40B4-BE49-F238E27FC236}">
                <a16:creationId xmlns:a16="http://schemas.microsoft.com/office/drawing/2014/main" id="{D4284505-3A97-43C3-AD8C-790396258D7E}"/>
              </a:ext>
            </a:extLst>
          </p:cNvPr>
          <p:cNvSpPr>
            <a:spLocks noGrp="1" noChangeArrowheads="1"/>
          </p:cNvSpPr>
          <p:nvPr>
            <p:ph idx="1"/>
          </p:nvPr>
        </p:nvSpPr>
        <p:spPr/>
        <p:txBody>
          <a:bodyPr/>
          <a:lstStyle/>
          <a:p>
            <a:pPr marL="0" indent="0">
              <a:buNone/>
            </a:pPr>
            <a:r>
              <a:rPr lang="zh-CN" altLang="en-US" dirty="0"/>
              <a:t>（</a:t>
            </a:r>
            <a:r>
              <a:rPr lang="en-US" altLang="zh-CN" dirty="0"/>
              <a:t>7</a:t>
            </a:r>
            <a:r>
              <a:rPr lang="zh-CN" altLang="en-US" dirty="0"/>
              <a:t>）基本关系的性质</a:t>
            </a:r>
          </a:p>
          <a:p>
            <a:pPr marL="342900" lvl="1" indent="0">
              <a:buNone/>
            </a:pPr>
            <a:r>
              <a:rPr lang="en-US" altLang="zh-CN" dirty="0"/>
              <a:t>③ </a:t>
            </a:r>
            <a:r>
              <a:rPr lang="zh-CN" altLang="en-US" dirty="0"/>
              <a:t>列的顺序无所谓，列的次序可以</a:t>
            </a:r>
            <a:r>
              <a:rPr lang="zh-CN" altLang="en-US" dirty="0">
                <a:solidFill>
                  <a:srgbClr val="C00000"/>
                </a:solidFill>
              </a:rPr>
              <a:t>任意交换</a:t>
            </a:r>
          </a:p>
          <a:p>
            <a:pPr marL="342900" lvl="1" indent="0">
              <a:buNone/>
            </a:pPr>
            <a:r>
              <a:rPr lang="en-US" altLang="zh-CN" dirty="0"/>
              <a:t>④ </a:t>
            </a:r>
            <a:r>
              <a:rPr lang="zh-CN" altLang="en-US" dirty="0"/>
              <a:t>任意两个元组的候选码不能相同</a:t>
            </a:r>
          </a:p>
          <a:p>
            <a:pPr marL="342900" lvl="1" indent="0">
              <a:buNone/>
            </a:pPr>
            <a:r>
              <a:rPr lang="en-US" altLang="zh-CN" dirty="0"/>
              <a:t>⑤ </a:t>
            </a:r>
            <a:r>
              <a:rPr lang="zh-CN" altLang="en-US" dirty="0"/>
              <a:t>行的顺序无所谓，行的次序可以任意交换</a:t>
            </a:r>
            <a:endParaRPr lang="en-US" altLang="zh-CN" dirty="0"/>
          </a:p>
          <a:p>
            <a:pPr marL="342900" lvl="1" indent="0">
              <a:buNone/>
            </a:pPr>
            <a:r>
              <a:rPr lang="zh-CN" altLang="en-US" dirty="0"/>
              <a:t>⑥ 分量必须取</a:t>
            </a:r>
            <a:r>
              <a:rPr lang="zh-CN" altLang="en-US" dirty="0">
                <a:solidFill>
                  <a:srgbClr val="C00000"/>
                </a:solidFill>
              </a:rPr>
              <a:t>原子值</a:t>
            </a:r>
          </a:p>
          <a:p>
            <a:pPr lvl="2"/>
            <a:r>
              <a:rPr lang="zh-CN" altLang="en-US" dirty="0"/>
              <a:t>这是规范条件中最基本的一条</a:t>
            </a:r>
          </a:p>
          <a:p>
            <a:pPr marL="342900" lvl="1" indent="0">
              <a:buNone/>
            </a:pPr>
            <a:endParaRPr lang="zh-CN" altLang="en-US" dirty="0"/>
          </a:p>
        </p:txBody>
      </p:sp>
      <p:sp>
        <p:nvSpPr>
          <p:cNvPr id="5" name="灯片编号占位符 4">
            <a:extLst>
              <a:ext uri="{FF2B5EF4-FFF2-40B4-BE49-F238E27FC236}">
                <a16:creationId xmlns:a16="http://schemas.microsoft.com/office/drawing/2014/main" id="{82326414-4CFC-4456-9D58-3CA80106BD20}"/>
              </a:ext>
            </a:extLst>
          </p:cNvPr>
          <p:cNvSpPr>
            <a:spLocks noGrp="1"/>
          </p:cNvSpPr>
          <p:nvPr>
            <p:ph type="sldNum" sz="quarter" idx="12"/>
          </p:nvPr>
        </p:nvSpPr>
        <p:spPr/>
        <p:txBody>
          <a:bodyPr/>
          <a:lstStyle/>
          <a:p>
            <a:fld id="{47C9E101-E51D-431E-84FA-C029B8655B60}" type="slidenum">
              <a:rPr lang="zh-CN" altLang="en-US" smtClean="0"/>
              <a:pPr/>
              <a:t>18</a:t>
            </a:fld>
            <a:endParaRPr lang="zh-CN" altLang="en-US" dirty="0"/>
          </a:p>
        </p:txBody>
      </p:sp>
      <p:graphicFrame>
        <p:nvGraphicFramePr>
          <p:cNvPr id="6" name="表格 5">
            <a:extLst>
              <a:ext uri="{FF2B5EF4-FFF2-40B4-BE49-F238E27FC236}">
                <a16:creationId xmlns:a16="http://schemas.microsoft.com/office/drawing/2014/main" id="{5D4E5AD1-BFA8-45F4-BF19-2F743A0C3F2E}"/>
              </a:ext>
            </a:extLst>
          </p:cNvPr>
          <p:cNvGraphicFramePr>
            <a:graphicFrameLocks noGrp="1"/>
          </p:cNvGraphicFramePr>
          <p:nvPr>
            <p:extLst>
              <p:ext uri="{D42A27DB-BD31-4B8C-83A1-F6EECF244321}">
                <p14:modId xmlns:p14="http://schemas.microsoft.com/office/powerpoint/2010/main" val="2928501087"/>
              </p:ext>
            </p:extLst>
          </p:nvPr>
        </p:nvGraphicFramePr>
        <p:xfrm>
          <a:off x="1712338" y="3980959"/>
          <a:ext cx="5614668" cy="1289428"/>
        </p:xfrm>
        <a:graphic>
          <a:graphicData uri="http://schemas.openxmlformats.org/drawingml/2006/table">
            <a:tbl>
              <a:tblPr firstRow="1" bandRow="1">
                <a:tableStyleId>{5C22544A-7EE6-4342-B048-85BDC9FD1C3A}</a:tableStyleId>
              </a:tblPr>
              <a:tblGrid>
                <a:gridCol w="1403667">
                  <a:extLst>
                    <a:ext uri="{9D8B030D-6E8A-4147-A177-3AD203B41FA5}">
                      <a16:colId xmlns:a16="http://schemas.microsoft.com/office/drawing/2014/main" val="20000"/>
                    </a:ext>
                  </a:extLst>
                </a:gridCol>
                <a:gridCol w="1403667">
                  <a:extLst>
                    <a:ext uri="{9D8B030D-6E8A-4147-A177-3AD203B41FA5}">
                      <a16:colId xmlns:a16="http://schemas.microsoft.com/office/drawing/2014/main" val="20001"/>
                    </a:ext>
                  </a:extLst>
                </a:gridCol>
                <a:gridCol w="1403667">
                  <a:extLst>
                    <a:ext uri="{9D8B030D-6E8A-4147-A177-3AD203B41FA5}">
                      <a16:colId xmlns:a16="http://schemas.microsoft.com/office/drawing/2014/main" val="20002"/>
                    </a:ext>
                  </a:extLst>
                </a:gridCol>
                <a:gridCol w="1403667">
                  <a:extLst>
                    <a:ext uri="{9D8B030D-6E8A-4147-A177-3AD203B41FA5}">
                      <a16:colId xmlns:a16="http://schemas.microsoft.com/office/drawing/2014/main" val="3006805986"/>
                    </a:ext>
                  </a:extLst>
                </a:gridCol>
              </a:tblGrid>
              <a:tr h="322357">
                <a:tc rowSpan="2">
                  <a:txBody>
                    <a:bodyPr/>
                    <a:lstStyle/>
                    <a:p>
                      <a:pPr algn="ctr">
                        <a:lnSpc>
                          <a:spcPct val="100000"/>
                        </a:lnSpc>
                        <a:spcBef>
                          <a:spcPts val="0"/>
                        </a:spcBef>
                        <a:spcAft>
                          <a:spcPts val="0"/>
                        </a:spcAft>
                        <a:tabLst>
                          <a:tab pos="5292725" algn="r"/>
                          <a:tab pos="266700" algn="l"/>
                        </a:tabLst>
                      </a:pPr>
                      <a:r>
                        <a:rPr lang="zh-CN" altLang="en-US" sz="1600" b="1" dirty="0">
                          <a:effectLst/>
                          <a:latin typeface="Times New Roman" panose="02020603050405020304" pitchFamily="18" charset="0"/>
                          <a:cs typeface="Times New Roman" panose="02020603050405020304" pitchFamily="18" charset="0"/>
                        </a:rPr>
                        <a:t>导师</a:t>
                      </a:r>
                      <a:endParaRPr lang="zh-CN" sz="16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5" marR="68585" marT="0" marB="0" anchor="ctr"/>
                </a:tc>
                <a:tc rowSpan="2">
                  <a:txBody>
                    <a:bodyPr/>
                    <a:lstStyle/>
                    <a:p>
                      <a:pPr algn="ctr">
                        <a:lnSpc>
                          <a:spcPct val="100000"/>
                        </a:lnSpc>
                        <a:spcBef>
                          <a:spcPts val="0"/>
                        </a:spcBef>
                        <a:spcAft>
                          <a:spcPts val="0"/>
                        </a:spcAft>
                        <a:tabLst>
                          <a:tab pos="5292725" algn="r"/>
                          <a:tab pos="266700" algn="l"/>
                        </a:tabLst>
                      </a:pPr>
                      <a:r>
                        <a:rPr lang="zh-CN" altLang="en-US" sz="1600" b="1" dirty="0">
                          <a:effectLst/>
                          <a:latin typeface="Times New Roman" panose="02020603050405020304" pitchFamily="18" charset="0"/>
                          <a:cs typeface="Times New Roman" panose="02020603050405020304" pitchFamily="18" charset="0"/>
                        </a:rPr>
                        <a:t>专业</a:t>
                      </a:r>
                      <a:endParaRPr lang="zh-CN" sz="16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5" marR="68585" marT="0" marB="0" anchor="ctr"/>
                </a:tc>
                <a:tc gridSpan="2">
                  <a:txBody>
                    <a:bodyPr/>
                    <a:lstStyle/>
                    <a:p>
                      <a:pPr algn="ctr">
                        <a:lnSpc>
                          <a:spcPct val="100000"/>
                        </a:lnSpc>
                        <a:spcBef>
                          <a:spcPts val="0"/>
                        </a:spcBef>
                        <a:spcAft>
                          <a:spcPts val="0"/>
                        </a:spcAft>
                        <a:tabLst>
                          <a:tab pos="5292725" algn="r"/>
                          <a:tab pos="266700" algn="l"/>
                        </a:tabLst>
                      </a:pPr>
                      <a:r>
                        <a:rPr lang="zh-CN" altLang="en-US" sz="1600" b="1" dirty="0">
                          <a:effectLst/>
                          <a:latin typeface="Times New Roman" panose="02020603050405020304" pitchFamily="18" charset="0"/>
                          <a:cs typeface="Times New Roman" panose="02020603050405020304" pitchFamily="18" charset="0"/>
                        </a:rPr>
                        <a:t>研究生</a:t>
                      </a:r>
                      <a:endParaRPr lang="zh-CN" sz="16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5" marR="68585" marT="0" marB="0"/>
                </a:tc>
                <a:tc hMerge="1">
                  <a:txBody>
                    <a:bodyPr/>
                    <a:lstStyle/>
                    <a:p>
                      <a:pPr algn="ctr">
                        <a:lnSpc>
                          <a:spcPct val="100000"/>
                        </a:lnSpc>
                        <a:spcBef>
                          <a:spcPts val="0"/>
                        </a:spcBef>
                        <a:spcAft>
                          <a:spcPts val="0"/>
                        </a:spcAft>
                        <a:tabLst>
                          <a:tab pos="5292725" algn="r"/>
                          <a:tab pos="266700" algn="l"/>
                        </a:tabLst>
                      </a:pPr>
                      <a:endParaRPr lang="zh-CN" sz="16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5" marR="68585" marT="0" marB="0"/>
                </a:tc>
                <a:extLst>
                  <a:ext uri="{0D108BD9-81ED-4DB2-BD59-A6C34878D82A}">
                    <a16:rowId xmlns:a16="http://schemas.microsoft.com/office/drawing/2014/main" val="10000"/>
                  </a:ext>
                </a:extLst>
              </a:tr>
              <a:tr h="322357">
                <a:tc vMerge="1">
                  <a:txBody>
                    <a:bodyPr/>
                    <a:lstStyle/>
                    <a:p>
                      <a:pPr algn="ctr">
                        <a:lnSpc>
                          <a:spcPct val="100000"/>
                        </a:lnSpc>
                        <a:spcBef>
                          <a:spcPts val="0"/>
                        </a:spcBef>
                        <a:spcAft>
                          <a:spcPts val="0"/>
                        </a:spcAft>
                        <a:tabLst>
                          <a:tab pos="5292725" algn="r"/>
                          <a:tab pos="266700" algn="l"/>
                        </a:tabLst>
                      </a:pPr>
                      <a:endParaRPr lang="zh-CN" sz="16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5" marR="68585" marT="0" marB="0"/>
                </a:tc>
                <a:tc vMerge="1">
                  <a:txBody>
                    <a:bodyPr/>
                    <a:lstStyle/>
                    <a:p>
                      <a:pPr algn="ctr">
                        <a:lnSpc>
                          <a:spcPct val="100000"/>
                        </a:lnSpc>
                        <a:spcBef>
                          <a:spcPts val="0"/>
                        </a:spcBef>
                        <a:spcAft>
                          <a:spcPts val="0"/>
                        </a:spcAft>
                        <a:tabLst>
                          <a:tab pos="5292725" algn="r"/>
                          <a:tab pos="266700" algn="l"/>
                        </a:tabLst>
                      </a:pPr>
                      <a:endParaRPr lang="zh-CN" sz="16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5" marR="68585" marT="0" marB="0"/>
                </a:tc>
                <a:tc>
                  <a:txBody>
                    <a:bodyPr/>
                    <a:lstStyle/>
                    <a:p>
                      <a:pPr marL="0" marR="0" lvl="0" indent="0" algn="ctr" defTabSz="685800" rtl="0" eaLnBrk="1" fontAlgn="auto" latinLnBrk="0" hangingPunct="1">
                        <a:lnSpc>
                          <a:spcPct val="100000"/>
                        </a:lnSpc>
                        <a:spcBef>
                          <a:spcPts val="0"/>
                        </a:spcBef>
                        <a:spcAft>
                          <a:spcPts val="0"/>
                        </a:spcAft>
                        <a:buClrTx/>
                        <a:buSzTx/>
                        <a:buFontTx/>
                        <a:buNone/>
                        <a:tabLst>
                          <a:tab pos="5292725" algn="r"/>
                          <a:tab pos="266700" algn="l"/>
                        </a:tabLst>
                        <a:defRPr/>
                      </a:pPr>
                      <a:r>
                        <a:rPr lang="zh-CN" altLang="en-US" sz="1600" b="1" dirty="0">
                          <a:effectLst/>
                          <a:latin typeface="Times New Roman" panose="02020603050405020304" pitchFamily="18" charset="0"/>
                          <a:cs typeface="Times New Roman" panose="02020603050405020304" pitchFamily="18" charset="0"/>
                        </a:rPr>
                        <a:t>研究生</a:t>
                      </a:r>
                      <a:r>
                        <a:rPr lang="en-US" altLang="zh-CN" sz="1600" b="1" dirty="0">
                          <a:effectLst/>
                          <a:latin typeface="Times New Roman" panose="02020603050405020304" pitchFamily="18" charset="0"/>
                          <a:cs typeface="Times New Roman" panose="02020603050405020304" pitchFamily="18" charset="0"/>
                        </a:rPr>
                        <a:t>1</a:t>
                      </a:r>
                      <a:endParaRPr lang="zh-CN" altLang="zh-CN" sz="16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5" marR="68585" marT="0" marB="0"/>
                </a:tc>
                <a:tc>
                  <a:txBody>
                    <a:bodyPr/>
                    <a:lstStyle/>
                    <a:p>
                      <a:pPr marL="0" marR="0" lvl="0" indent="0" algn="ctr" defTabSz="685800" rtl="0" eaLnBrk="1" fontAlgn="auto" latinLnBrk="0" hangingPunct="1">
                        <a:lnSpc>
                          <a:spcPct val="100000"/>
                        </a:lnSpc>
                        <a:spcBef>
                          <a:spcPts val="0"/>
                        </a:spcBef>
                        <a:spcAft>
                          <a:spcPts val="0"/>
                        </a:spcAft>
                        <a:buClrTx/>
                        <a:buSzTx/>
                        <a:buFontTx/>
                        <a:buNone/>
                        <a:tabLst>
                          <a:tab pos="5292725" algn="r"/>
                          <a:tab pos="266700" algn="l"/>
                        </a:tabLst>
                        <a:defRPr/>
                      </a:pPr>
                      <a:r>
                        <a:rPr lang="zh-CN" altLang="en-US" sz="1600" b="1" dirty="0">
                          <a:effectLst/>
                          <a:latin typeface="Times New Roman" panose="02020603050405020304" pitchFamily="18" charset="0"/>
                          <a:cs typeface="Times New Roman" panose="02020603050405020304" pitchFamily="18" charset="0"/>
                        </a:rPr>
                        <a:t>研究生</a:t>
                      </a:r>
                      <a:r>
                        <a:rPr lang="en-US" altLang="zh-CN" sz="1600" b="1" dirty="0">
                          <a:effectLst/>
                          <a:latin typeface="Times New Roman" panose="02020603050405020304" pitchFamily="18" charset="0"/>
                          <a:cs typeface="Times New Roman" panose="02020603050405020304" pitchFamily="18" charset="0"/>
                        </a:rPr>
                        <a:t>2</a:t>
                      </a:r>
                      <a:endParaRPr lang="zh-CN" altLang="zh-CN" sz="1600" b="1"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5" marR="68585" marT="0" marB="0"/>
                </a:tc>
                <a:extLst>
                  <a:ext uri="{0D108BD9-81ED-4DB2-BD59-A6C34878D82A}">
                    <a16:rowId xmlns:a16="http://schemas.microsoft.com/office/drawing/2014/main" val="3451414616"/>
                  </a:ext>
                </a:extLst>
              </a:tr>
              <a:tr h="322357">
                <a:tc>
                  <a:txBody>
                    <a:bodyPr/>
                    <a:lstStyle/>
                    <a:p>
                      <a:pPr algn="ctr">
                        <a:spcAft>
                          <a:spcPts val="0"/>
                        </a:spcAft>
                      </a:pPr>
                      <a:r>
                        <a:rPr lang="zh-CN" sz="1600" b="1" kern="100" dirty="0">
                          <a:effectLst/>
                        </a:rPr>
                        <a:t>张清玫</a:t>
                      </a:r>
                      <a:endParaRPr lang="zh-CN" sz="1600" b="1" kern="100" dirty="0">
                        <a:effectLst/>
                        <a:latin typeface="Times New Roman" panose="02020603050405020304" pitchFamily="18" charset="0"/>
                        <a:ea typeface="宋体" panose="02010600030101010101" pitchFamily="2" charset="-122"/>
                      </a:endParaRPr>
                    </a:p>
                  </a:txBody>
                  <a:tcPr marL="68585" marR="68585" marT="0" marB="0"/>
                </a:tc>
                <a:tc>
                  <a:txBody>
                    <a:bodyPr/>
                    <a:lstStyle/>
                    <a:p>
                      <a:pPr algn="ctr">
                        <a:spcAft>
                          <a:spcPts val="0"/>
                        </a:spcAft>
                      </a:pPr>
                      <a:r>
                        <a:rPr lang="zh-CN" altLang="en-US" sz="1600" b="1" kern="100" dirty="0">
                          <a:effectLst/>
                        </a:rPr>
                        <a:t>计算机</a:t>
                      </a:r>
                      <a:r>
                        <a:rPr lang="zh-CN" sz="1600" b="1" kern="100" dirty="0">
                          <a:effectLst/>
                        </a:rPr>
                        <a:t>专业</a:t>
                      </a:r>
                      <a:endParaRPr lang="zh-CN" sz="1600" b="1" kern="100" dirty="0">
                        <a:effectLst/>
                        <a:latin typeface="Times New Roman" panose="02020603050405020304" pitchFamily="18" charset="0"/>
                        <a:ea typeface="宋体" panose="02010600030101010101" pitchFamily="2" charset="-122"/>
                      </a:endParaRPr>
                    </a:p>
                  </a:txBody>
                  <a:tcPr marL="68585" marR="68585" marT="0" marB="0"/>
                </a:tc>
                <a:tc>
                  <a:txBody>
                    <a:bodyPr/>
                    <a:lstStyle/>
                    <a:p>
                      <a:pPr algn="ctr">
                        <a:spcAft>
                          <a:spcPts val="0"/>
                        </a:spcAft>
                      </a:pPr>
                      <a:r>
                        <a:rPr lang="zh-CN" sz="1600" b="1" kern="100" dirty="0">
                          <a:effectLst/>
                        </a:rPr>
                        <a:t>李勇</a:t>
                      </a:r>
                      <a:endParaRPr lang="zh-CN" sz="1600" b="1" kern="100" dirty="0">
                        <a:effectLst/>
                        <a:latin typeface="Times New Roman" panose="02020603050405020304" pitchFamily="18" charset="0"/>
                        <a:ea typeface="宋体" panose="02010600030101010101" pitchFamily="2" charset="-122"/>
                      </a:endParaRPr>
                    </a:p>
                  </a:txBody>
                  <a:tcPr marL="68585" marR="68585" marT="0" marB="0"/>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zh-CN" altLang="zh-CN" sz="1600" b="1" kern="100" dirty="0">
                          <a:effectLst/>
                        </a:rPr>
                        <a:t>刘晨</a:t>
                      </a:r>
                      <a:endParaRPr lang="zh-CN" altLang="zh-CN" sz="1600" b="1" kern="100" dirty="0">
                        <a:effectLst/>
                        <a:latin typeface="Times New Roman" panose="02020603050405020304" pitchFamily="18" charset="0"/>
                        <a:ea typeface="宋体" panose="02010600030101010101" pitchFamily="2" charset="-122"/>
                      </a:endParaRPr>
                    </a:p>
                  </a:txBody>
                  <a:tcPr marL="68585" marR="68585" marT="0" marB="0"/>
                </a:tc>
                <a:extLst>
                  <a:ext uri="{0D108BD9-81ED-4DB2-BD59-A6C34878D82A}">
                    <a16:rowId xmlns:a16="http://schemas.microsoft.com/office/drawing/2014/main" val="10001"/>
                  </a:ext>
                </a:extLst>
              </a:tr>
              <a:tr h="322357">
                <a:tc>
                  <a:txBody>
                    <a:bodyPr/>
                    <a:lstStyle/>
                    <a:p>
                      <a:pPr algn="ctr">
                        <a:spcAft>
                          <a:spcPts val="0"/>
                        </a:spcAft>
                      </a:pPr>
                      <a:r>
                        <a:rPr lang="zh-CN" sz="1600" b="1" kern="100">
                          <a:effectLst/>
                        </a:rPr>
                        <a:t>刘逸</a:t>
                      </a:r>
                      <a:endParaRPr lang="zh-CN" sz="1600" b="1" kern="100">
                        <a:effectLst/>
                        <a:latin typeface="Times New Roman" panose="02020603050405020304" pitchFamily="18" charset="0"/>
                        <a:ea typeface="宋体" panose="02010600030101010101" pitchFamily="2" charset="-122"/>
                      </a:endParaRPr>
                    </a:p>
                  </a:txBody>
                  <a:tcPr marL="68585" marR="68585" marT="0" marB="0"/>
                </a:tc>
                <a:tc>
                  <a:txBody>
                    <a:bodyPr/>
                    <a:lstStyle/>
                    <a:p>
                      <a:pPr algn="ctr">
                        <a:spcAft>
                          <a:spcPts val="0"/>
                        </a:spcAft>
                      </a:pPr>
                      <a:r>
                        <a:rPr lang="zh-CN" altLang="en-US" sz="1600" b="1" kern="100" dirty="0">
                          <a:effectLst/>
                        </a:rPr>
                        <a:t>大数据</a:t>
                      </a:r>
                      <a:r>
                        <a:rPr lang="zh-CN" sz="1600" b="1" kern="100" dirty="0">
                          <a:effectLst/>
                        </a:rPr>
                        <a:t>专业</a:t>
                      </a:r>
                      <a:endParaRPr lang="zh-CN" sz="1600" b="1" kern="100" dirty="0">
                        <a:effectLst/>
                        <a:latin typeface="Times New Roman" panose="02020603050405020304" pitchFamily="18" charset="0"/>
                        <a:ea typeface="宋体" panose="02010600030101010101" pitchFamily="2" charset="-122"/>
                      </a:endParaRPr>
                    </a:p>
                  </a:txBody>
                  <a:tcPr marL="68585" marR="68585" marT="0" marB="0"/>
                </a:tc>
                <a:tc>
                  <a:txBody>
                    <a:bodyPr/>
                    <a:lstStyle/>
                    <a:p>
                      <a:pPr algn="ctr">
                        <a:spcAft>
                          <a:spcPts val="0"/>
                        </a:spcAft>
                      </a:pPr>
                      <a:r>
                        <a:rPr lang="zh-CN" sz="1600" b="1" kern="100" dirty="0">
                          <a:effectLst/>
                        </a:rPr>
                        <a:t>王敏</a:t>
                      </a:r>
                      <a:endParaRPr lang="zh-CN" sz="1600" b="1" kern="100" dirty="0">
                        <a:effectLst/>
                        <a:latin typeface="Times New Roman" panose="02020603050405020304" pitchFamily="18" charset="0"/>
                        <a:ea typeface="宋体" panose="02010600030101010101" pitchFamily="2" charset="-122"/>
                      </a:endParaRPr>
                    </a:p>
                  </a:txBody>
                  <a:tcPr marL="68585" marR="68585" marT="0" marB="0"/>
                </a:tc>
                <a:tc>
                  <a:txBody>
                    <a:bodyPr/>
                    <a:lstStyle/>
                    <a:p>
                      <a:pPr algn="ctr">
                        <a:spcAft>
                          <a:spcPts val="0"/>
                        </a:spcAft>
                      </a:pPr>
                      <a:endParaRPr lang="zh-CN" sz="1600" b="1" kern="100" dirty="0">
                        <a:effectLst/>
                        <a:latin typeface="Times New Roman" panose="02020603050405020304" pitchFamily="18" charset="0"/>
                        <a:ea typeface="宋体" panose="02010600030101010101" pitchFamily="2" charset="-122"/>
                      </a:endParaRPr>
                    </a:p>
                  </a:txBody>
                  <a:tcPr marL="68585" marR="68585" marT="0" marB="0"/>
                </a:tc>
                <a:extLst>
                  <a:ext uri="{0D108BD9-81ED-4DB2-BD59-A6C34878D82A}">
                    <a16:rowId xmlns:a16="http://schemas.microsoft.com/office/drawing/2014/main" val="10003"/>
                  </a:ext>
                </a:extLst>
              </a:tr>
            </a:tbl>
          </a:graphicData>
        </a:graphic>
      </p:graphicFrame>
      <p:sp>
        <p:nvSpPr>
          <p:cNvPr id="4" name="椭圆 3">
            <a:extLst>
              <a:ext uri="{FF2B5EF4-FFF2-40B4-BE49-F238E27FC236}">
                <a16:creationId xmlns:a16="http://schemas.microsoft.com/office/drawing/2014/main" id="{F416F70D-B845-41C2-A01A-1C6C44A615A2}"/>
              </a:ext>
            </a:extLst>
          </p:cNvPr>
          <p:cNvSpPr/>
          <p:nvPr/>
        </p:nvSpPr>
        <p:spPr>
          <a:xfrm>
            <a:off x="4617362" y="3865806"/>
            <a:ext cx="2709644" cy="800385"/>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noFill/>
            </a:endParaRPr>
          </a:p>
        </p:txBody>
      </p:sp>
      <p:pic>
        <p:nvPicPr>
          <p:cNvPr id="8" name="Picture 4">
            <a:extLst>
              <a:ext uri="{FF2B5EF4-FFF2-40B4-BE49-F238E27FC236}">
                <a16:creationId xmlns:a16="http://schemas.microsoft.com/office/drawing/2014/main" id="{92AFBA3C-4E08-4E2B-9ADB-986B184722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8325" y="1217693"/>
            <a:ext cx="2757040" cy="1617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5">
            <a:extLst>
              <a:ext uri="{FF2B5EF4-FFF2-40B4-BE49-F238E27FC236}">
                <a16:creationId xmlns:a16="http://schemas.microsoft.com/office/drawing/2014/main" id="{5436CE43-294F-4D5E-B492-E4B138ED8E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8326" y="2820081"/>
            <a:ext cx="2757040" cy="1617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4494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369665">
            <a:extLst>
              <a:ext uri="{FF2B5EF4-FFF2-40B4-BE49-F238E27FC236}">
                <a16:creationId xmlns:a16="http://schemas.microsoft.com/office/drawing/2014/main" id="{9F13EBC6-EF44-4F9D-96FE-0B87D0A4F689}"/>
              </a:ext>
            </a:extLst>
          </p:cNvPr>
          <p:cNvSpPr>
            <a:spLocks noGrp="1" noChangeArrowheads="1"/>
          </p:cNvSpPr>
          <p:nvPr>
            <p:ph type="title"/>
          </p:nvPr>
        </p:nvSpPr>
        <p:spPr/>
        <p:txBody>
          <a:bodyPr/>
          <a:lstStyle/>
          <a:p>
            <a:r>
              <a:rPr lang="en-US" altLang="zh-CN"/>
              <a:t>2.1.2  </a:t>
            </a:r>
            <a:r>
              <a:rPr lang="zh-CN" altLang="en-US"/>
              <a:t>关系模式</a:t>
            </a:r>
            <a:endParaRPr lang="zh-CN" altLang="en-US" dirty="0"/>
          </a:p>
        </p:txBody>
      </p:sp>
      <p:sp>
        <p:nvSpPr>
          <p:cNvPr id="38915" name="文本占位符 369666">
            <a:extLst>
              <a:ext uri="{FF2B5EF4-FFF2-40B4-BE49-F238E27FC236}">
                <a16:creationId xmlns:a16="http://schemas.microsoft.com/office/drawing/2014/main" id="{C627D8B4-80D8-4654-B434-6599D8982BE6}"/>
              </a:ext>
            </a:extLst>
          </p:cNvPr>
          <p:cNvSpPr>
            <a:spLocks noGrp="1" noChangeArrowheads="1"/>
          </p:cNvSpPr>
          <p:nvPr>
            <p:ph idx="1"/>
          </p:nvPr>
        </p:nvSpPr>
        <p:spPr/>
        <p:txBody>
          <a:bodyPr/>
          <a:lstStyle/>
          <a:p>
            <a:r>
              <a:rPr lang="zh-CN" altLang="en-US" dirty="0"/>
              <a:t>关系模式（</a:t>
            </a:r>
            <a:r>
              <a:rPr lang="en-US" altLang="zh-CN" dirty="0"/>
              <a:t>Relation Schema</a:t>
            </a:r>
            <a:r>
              <a:rPr lang="zh-CN" altLang="en-US" dirty="0"/>
              <a:t>）是</a:t>
            </a:r>
            <a:r>
              <a:rPr lang="zh-CN" altLang="en-US" dirty="0">
                <a:solidFill>
                  <a:srgbClr val="C00000"/>
                </a:solidFill>
              </a:rPr>
              <a:t>型</a:t>
            </a:r>
            <a:r>
              <a:rPr lang="zh-CN" altLang="en-US" dirty="0"/>
              <a:t>，关系是</a:t>
            </a:r>
            <a:r>
              <a:rPr lang="zh-CN" altLang="en-US" dirty="0">
                <a:solidFill>
                  <a:srgbClr val="C00000"/>
                </a:solidFill>
              </a:rPr>
              <a:t>值</a:t>
            </a:r>
            <a:endParaRPr lang="en-US" altLang="zh-CN" dirty="0">
              <a:solidFill>
                <a:srgbClr val="C00000"/>
              </a:solidFill>
            </a:endParaRPr>
          </a:p>
          <a:p>
            <a:pPr lvl="2"/>
            <a:endParaRPr lang="en-US" altLang="zh-CN" dirty="0"/>
          </a:p>
          <a:p>
            <a:r>
              <a:rPr lang="zh-CN" altLang="en-US" dirty="0"/>
              <a:t>关系模式是对关系的</a:t>
            </a:r>
            <a:r>
              <a:rPr lang="zh-CN" altLang="en-US" dirty="0">
                <a:solidFill>
                  <a:srgbClr val="C00000"/>
                </a:solidFill>
              </a:rPr>
              <a:t>描述</a:t>
            </a:r>
          </a:p>
          <a:p>
            <a:pPr lvl="1"/>
            <a:r>
              <a:rPr lang="zh-CN" altLang="en-US" dirty="0"/>
              <a:t>元组集合的</a:t>
            </a:r>
            <a:r>
              <a:rPr lang="zh-CN" altLang="en-US" dirty="0">
                <a:solidFill>
                  <a:srgbClr val="C00000"/>
                </a:solidFill>
              </a:rPr>
              <a:t>结构</a:t>
            </a:r>
          </a:p>
          <a:p>
            <a:pPr lvl="2"/>
            <a:r>
              <a:rPr lang="zh-CN" altLang="en-US" dirty="0"/>
              <a:t>属性构成</a:t>
            </a:r>
          </a:p>
          <a:p>
            <a:pPr lvl="2"/>
            <a:r>
              <a:rPr lang="zh-CN" altLang="en-US" dirty="0"/>
              <a:t>属性来自的域           </a:t>
            </a:r>
          </a:p>
          <a:p>
            <a:pPr lvl="2"/>
            <a:r>
              <a:rPr lang="zh-CN" altLang="en-US" dirty="0"/>
              <a:t>属性与域之间的映象关系</a:t>
            </a:r>
          </a:p>
          <a:p>
            <a:pPr lvl="1"/>
            <a:r>
              <a:rPr lang="zh-CN" altLang="en-US" dirty="0"/>
              <a:t>元组语义以及</a:t>
            </a:r>
            <a:r>
              <a:rPr lang="zh-CN" altLang="en-US" dirty="0">
                <a:solidFill>
                  <a:srgbClr val="C00000"/>
                </a:solidFill>
              </a:rPr>
              <a:t>完整性约束条件</a:t>
            </a:r>
          </a:p>
          <a:p>
            <a:pPr lvl="1"/>
            <a:r>
              <a:rPr lang="zh-CN" altLang="en-US" dirty="0"/>
              <a:t>属性间的</a:t>
            </a:r>
            <a:r>
              <a:rPr lang="zh-CN" altLang="en-US" dirty="0">
                <a:solidFill>
                  <a:srgbClr val="C00000"/>
                </a:solidFill>
              </a:rPr>
              <a:t>数据依赖</a:t>
            </a:r>
            <a:r>
              <a:rPr lang="zh-CN" altLang="en-US" dirty="0"/>
              <a:t>关系集合</a:t>
            </a:r>
            <a:endParaRPr lang="en-US" altLang="zh-CN" dirty="0"/>
          </a:p>
          <a:p>
            <a:pPr lvl="2" algn="just">
              <a:lnSpc>
                <a:spcPct val="120000"/>
              </a:lnSpc>
            </a:pPr>
            <a:r>
              <a:rPr lang="zh-CN" altLang="en-US" dirty="0">
                <a:latin typeface="Times New Roman" panose="02020603050405020304" pitchFamily="18" charset="0"/>
              </a:rPr>
              <a:t>约束或</a:t>
            </a:r>
            <a:r>
              <a:rPr lang="zh-CN" altLang="en-US" dirty="0">
                <a:solidFill>
                  <a:srgbClr val="3333CC"/>
                </a:solidFill>
                <a:latin typeface="Times New Roman" panose="02020603050405020304" pitchFamily="18" charset="0"/>
              </a:rPr>
              <a:t>通过对属性取值范围的限定</a:t>
            </a:r>
            <a:r>
              <a:rPr lang="zh-CN" altLang="en-US" dirty="0">
                <a:latin typeface="Times New Roman" panose="02020603050405020304" pitchFamily="18" charset="0"/>
              </a:rPr>
              <a:t>（如成绩介于</a:t>
            </a:r>
            <a:r>
              <a:rPr lang="en-US" altLang="zh-CN" dirty="0">
                <a:latin typeface="Times New Roman" panose="02020603050405020304" pitchFamily="18" charset="0"/>
              </a:rPr>
              <a:t>85-100)</a:t>
            </a:r>
            <a:r>
              <a:rPr lang="zh-CN" altLang="en-US" dirty="0">
                <a:latin typeface="Times New Roman" panose="02020603050405020304" pitchFamily="18" charset="0"/>
              </a:rPr>
              <a:t>，或</a:t>
            </a:r>
            <a:r>
              <a:rPr lang="zh-CN" altLang="en-US" dirty="0">
                <a:solidFill>
                  <a:srgbClr val="3333CC"/>
                </a:solidFill>
                <a:latin typeface="Times New Roman" panose="02020603050405020304" pitchFamily="18" charset="0"/>
              </a:rPr>
              <a:t>通过属性值间的相互关联</a:t>
            </a:r>
            <a:r>
              <a:rPr lang="zh-CN" altLang="en-US" dirty="0">
                <a:latin typeface="Times New Roman" panose="02020603050405020304" pitchFamily="18" charset="0"/>
              </a:rPr>
              <a:t>反映出来</a:t>
            </a:r>
            <a:r>
              <a:rPr lang="en-US" altLang="zh-CN" dirty="0">
                <a:latin typeface="Times New Roman" panose="02020603050405020304" pitchFamily="18" charset="0"/>
              </a:rPr>
              <a:t>(</a:t>
            </a:r>
            <a:r>
              <a:rPr lang="zh-CN" altLang="en-US" dirty="0">
                <a:latin typeface="Times New Roman" panose="02020603050405020304" pitchFamily="18" charset="0"/>
              </a:rPr>
              <a:t>如</a:t>
            </a:r>
            <a:r>
              <a:rPr lang="en-US" altLang="zh-CN" dirty="0">
                <a:latin typeface="Times New Roman" panose="02020603050405020304" pitchFamily="18" charset="0"/>
              </a:rPr>
              <a:t>2</a:t>
            </a:r>
            <a:r>
              <a:rPr lang="zh-CN" altLang="en-US" dirty="0">
                <a:latin typeface="Times New Roman" panose="02020603050405020304" pitchFamily="18" charset="0"/>
              </a:rPr>
              <a:t>个元组的主码相等</a:t>
            </a:r>
            <a:r>
              <a:rPr lang="en-US" altLang="zh-CN" dirty="0">
                <a:latin typeface="Times New Roman" panose="02020603050405020304" pitchFamily="18" charset="0"/>
              </a:rPr>
              <a:t>)</a:t>
            </a:r>
            <a:endParaRPr lang="zh-CN" altLang="en-US" dirty="0"/>
          </a:p>
          <a:p>
            <a:pPr marL="0" indent="0">
              <a:buNone/>
            </a:pPr>
            <a:endParaRPr lang="zh-CN" altLang="en-US" dirty="0"/>
          </a:p>
        </p:txBody>
      </p:sp>
      <p:sp>
        <p:nvSpPr>
          <p:cNvPr id="2" name="灯片编号占位符 1">
            <a:extLst>
              <a:ext uri="{FF2B5EF4-FFF2-40B4-BE49-F238E27FC236}">
                <a16:creationId xmlns:a16="http://schemas.microsoft.com/office/drawing/2014/main" id="{1FDC8856-8504-4A12-9925-54DCAE4F3BA3}"/>
              </a:ext>
            </a:extLst>
          </p:cNvPr>
          <p:cNvSpPr>
            <a:spLocks noGrp="1"/>
          </p:cNvSpPr>
          <p:nvPr>
            <p:ph type="sldNum" sz="quarter" idx="12"/>
          </p:nvPr>
        </p:nvSpPr>
        <p:spPr/>
        <p:txBody>
          <a:bodyPr/>
          <a:lstStyle/>
          <a:p>
            <a:fld id="{47C9E101-E51D-431E-84FA-C029B8655B60}" type="slidenum">
              <a:rPr lang="zh-CN" altLang="en-US" smtClean="0"/>
              <a:pPr/>
              <a:t>19</a:t>
            </a:fld>
            <a:endParaRPr lang="zh-CN" altLang="en-US" dirty="0"/>
          </a:p>
        </p:txBody>
      </p:sp>
      <p:pic>
        <p:nvPicPr>
          <p:cNvPr id="5" name="Picture 4" descr="See the source image">
            <a:extLst>
              <a:ext uri="{FF2B5EF4-FFF2-40B4-BE49-F238E27FC236}">
                <a16:creationId xmlns:a16="http://schemas.microsoft.com/office/drawing/2014/main" id="{506DE966-BA49-4ED9-9E29-7C692BFFAA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353" t="2163" r="10293" b="4864"/>
          <a:stretch/>
        </p:blipFill>
        <p:spPr bwMode="auto">
          <a:xfrm>
            <a:off x="7080900" y="1807512"/>
            <a:ext cx="3711723" cy="28500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91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91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91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91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91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915">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915">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6" presetClass="entr" presetSubtype="37"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arn(outVertical)">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369665">
            <a:extLst>
              <a:ext uri="{FF2B5EF4-FFF2-40B4-BE49-F238E27FC236}">
                <a16:creationId xmlns:a16="http://schemas.microsoft.com/office/drawing/2014/main" id="{9F13EBC6-EF44-4F9D-96FE-0B87D0A4F689}"/>
              </a:ext>
            </a:extLst>
          </p:cNvPr>
          <p:cNvSpPr>
            <a:spLocks noGrp="1" noChangeArrowheads="1"/>
          </p:cNvSpPr>
          <p:nvPr>
            <p:ph type="title"/>
          </p:nvPr>
        </p:nvSpPr>
        <p:spPr/>
        <p:txBody>
          <a:bodyPr/>
          <a:lstStyle/>
          <a:p>
            <a:r>
              <a:rPr lang="zh-CN" altLang="en-US" dirty="0"/>
              <a:t>关系模式（续）</a:t>
            </a:r>
          </a:p>
        </p:txBody>
      </p:sp>
      <p:sp>
        <p:nvSpPr>
          <p:cNvPr id="38915" name="文本占位符 369666">
            <a:extLst>
              <a:ext uri="{FF2B5EF4-FFF2-40B4-BE49-F238E27FC236}">
                <a16:creationId xmlns:a16="http://schemas.microsoft.com/office/drawing/2014/main" id="{C627D8B4-80D8-4654-B434-6599D8982BE6}"/>
              </a:ext>
            </a:extLst>
          </p:cNvPr>
          <p:cNvSpPr>
            <a:spLocks noGrp="1" noChangeArrowheads="1"/>
          </p:cNvSpPr>
          <p:nvPr>
            <p:ph idx="1"/>
          </p:nvPr>
        </p:nvSpPr>
        <p:spPr/>
        <p:txBody>
          <a:bodyPr>
            <a:normAutofit lnSpcReduction="10000"/>
          </a:bodyPr>
          <a:lstStyle/>
          <a:p>
            <a:pPr algn="just">
              <a:defRPr/>
            </a:pPr>
            <a:r>
              <a:rPr lang="zh-CN" altLang="en-US" sz="2000" dirty="0"/>
              <a:t>定义：关系的描述称为</a:t>
            </a:r>
            <a:r>
              <a:rPr lang="zh-CN" altLang="en-US" sz="2000" dirty="0">
                <a:solidFill>
                  <a:srgbClr val="C00000"/>
                </a:solidFill>
              </a:rPr>
              <a:t>关系模式</a:t>
            </a:r>
            <a:r>
              <a:rPr lang="zh-CN" altLang="en-US" sz="2000" dirty="0"/>
              <a:t>，关系模式可以形式化地表示为：</a:t>
            </a:r>
          </a:p>
          <a:p>
            <a:pPr marL="342900" lvl="1" indent="0">
              <a:buNone/>
            </a:pPr>
            <a:r>
              <a:rPr lang="en-US" altLang="zh-CN" i="1" dirty="0">
                <a:solidFill>
                  <a:srgbClr val="C00000"/>
                </a:solidFill>
              </a:rPr>
              <a:t>         R</a:t>
            </a:r>
            <a:r>
              <a:rPr lang="zh-CN" altLang="en-US" dirty="0">
                <a:solidFill>
                  <a:srgbClr val="C00000"/>
                </a:solidFill>
              </a:rPr>
              <a:t>（</a:t>
            </a:r>
            <a:r>
              <a:rPr lang="en-US" altLang="zh-CN" i="1" dirty="0">
                <a:solidFill>
                  <a:srgbClr val="C00000"/>
                </a:solidFill>
              </a:rPr>
              <a:t>U</a:t>
            </a:r>
            <a:r>
              <a:rPr lang="zh-CN" altLang="en-US" dirty="0">
                <a:solidFill>
                  <a:srgbClr val="C00000"/>
                </a:solidFill>
              </a:rPr>
              <a:t>，</a:t>
            </a:r>
            <a:r>
              <a:rPr lang="en-US" altLang="zh-CN" i="1" dirty="0">
                <a:solidFill>
                  <a:srgbClr val="C00000"/>
                </a:solidFill>
              </a:rPr>
              <a:t>D</a:t>
            </a:r>
            <a:r>
              <a:rPr lang="zh-CN" altLang="en-US" dirty="0">
                <a:solidFill>
                  <a:srgbClr val="C00000"/>
                </a:solidFill>
              </a:rPr>
              <a:t>，</a:t>
            </a:r>
            <a:r>
              <a:rPr lang="en-US" altLang="zh-CN" dirty="0" err="1">
                <a:solidFill>
                  <a:srgbClr val="C00000"/>
                </a:solidFill>
              </a:rPr>
              <a:t>dom</a:t>
            </a:r>
            <a:r>
              <a:rPr lang="zh-CN" altLang="en-US" dirty="0">
                <a:solidFill>
                  <a:srgbClr val="C00000"/>
                </a:solidFill>
              </a:rPr>
              <a:t>，</a:t>
            </a:r>
            <a:r>
              <a:rPr lang="en-US" altLang="zh-CN" i="1" dirty="0">
                <a:solidFill>
                  <a:srgbClr val="C00000"/>
                </a:solidFill>
              </a:rPr>
              <a:t>F</a:t>
            </a:r>
            <a:r>
              <a:rPr lang="zh-CN" altLang="en-US" dirty="0">
                <a:solidFill>
                  <a:srgbClr val="C00000"/>
                </a:solidFill>
              </a:rPr>
              <a:t>）</a:t>
            </a:r>
            <a:endParaRPr lang="zh-CN" altLang="en-US" sz="1700" dirty="0">
              <a:solidFill>
                <a:srgbClr val="C00000"/>
              </a:solidFill>
            </a:endParaRPr>
          </a:p>
          <a:p>
            <a:pPr lvl="3"/>
            <a:endParaRPr lang="en-US" altLang="zh-CN" i="1" dirty="0"/>
          </a:p>
          <a:p>
            <a:pPr lvl="2"/>
            <a:r>
              <a:rPr lang="en-US" altLang="zh-CN" i="1" dirty="0"/>
              <a:t>R</a:t>
            </a:r>
            <a:r>
              <a:rPr lang="en-US" altLang="zh-CN" dirty="0"/>
              <a:t>         </a:t>
            </a:r>
            <a:r>
              <a:rPr lang="zh-CN" altLang="en-US" dirty="0"/>
              <a:t>关系名</a:t>
            </a:r>
          </a:p>
          <a:p>
            <a:pPr lvl="2"/>
            <a:r>
              <a:rPr lang="en-US" altLang="zh-CN" i="1" dirty="0"/>
              <a:t>U</a:t>
            </a:r>
            <a:r>
              <a:rPr lang="en-US" altLang="zh-CN" dirty="0"/>
              <a:t>         </a:t>
            </a:r>
            <a:r>
              <a:rPr lang="zh-CN" altLang="en-US" dirty="0"/>
              <a:t>组成该关系的属性名集合</a:t>
            </a:r>
          </a:p>
          <a:p>
            <a:pPr lvl="2"/>
            <a:r>
              <a:rPr lang="en-US" altLang="zh-CN" i="1" dirty="0"/>
              <a:t>D</a:t>
            </a:r>
            <a:r>
              <a:rPr lang="en-US" altLang="zh-CN" dirty="0"/>
              <a:t>         </a:t>
            </a:r>
            <a:r>
              <a:rPr lang="zh-CN" altLang="en-US" dirty="0"/>
              <a:t>属性组</a:t>
            </a:r>
            <a:r>
              <a:rPr lang="en-US" altLang="zh-CN" i="1" dirty="0"/>
              <a:t>U</a:t>
            </a:r>
            <a:r>
              <a:rPr lang="zh-CN" altLang="en-US" dirty="0"/>
              <a:t>中属性所来自的域</a:t>
            </a:r>
          </a:p>
          <a:p>
            <a:pPr lvl="2"/>
            <a:r>
              <a:rPr lang="en-US" altLang="zh-CN" i="1" dirty="0"/>
              <a:t>DOM</a:t>
            </a:r>
            <a:r>
              <a:rPr lang="en-US" altLang="zh-CN" dirty="0"/>
              <a:t>   </a:t>
            </a:r>
            <a:r>
              <a:rPr lang="zh-CN" altLang="en-US" dirty="0"/>
              <a:t>属性向域的映象集合（属性取自哪个域）</a:t>
            </a:r>
          </a:p>
          <a:p>
            <a:pPr lvl="2"/>
            <a:r>
              <a:rPr lang="en-US" altLang="zh-CN" i="1" dirty="0"/>
              <a:t>F</a:t>
            </a:r>
            <a:r>
              <a:rPr lang="en-US" altLang="zh-CN" dirty="0"/>
              <a:t>          </a:t>
            </a:r>
            <a:r>
              <a:rPr lang="zh-CN" altLang="en-US" dirty="0"/>
              <a:t>属性间的数据依赖关系集合</a:t>
            </a:r>
          </a:p>
          <a:p>
            <a:pPr marL="1028700" lvl="3" indent="0">
              <a:buNone/>
            </a:pPr>
            <a:endParaRPr lang="en-US" altLang="zh-CN" sz="1250" dirty="0"/>
          </a:p>
          <a:p>
            <a:pPr>
              <a:lnSpc>
                <a:spcPct val="160000"/>
              </a:lnSpc>
              <a:spcBef>
                <a:spcPct val="0"/>
              </a:spcBef>
            </a:pPr>
            <a:r>
              <a:rPr lang="zh-CN" altLang="en-US" sz="2000" dirty="0"/>
              <a:t>关系模式通常可以简记为</a:t>
            </a:r>
            <a:r>
              <a:rPr lang="en-US" altLang="zh-CN" sz="2000" i="1" dirty="0">
                <a:solidFill>
                  <a:srgbClr val="C00000"/>
                </a:solidFill>
              </a:rPr>
              <a:t>R</a:t>
            </a:r>
            <a:r>
              <a:rPr lang="en-US" altLang="zh-CN" sz="2000" dirty="0">
                <a:solidFill>
                  <a:srgbClr val="C00000"/>
                </a:solidFill>
              </a:rPr>
              <a:t> (</a:t>
            </a:r>
            <a:r>
              <a:rPr lang="en-US" altLang="zh-CN" sz="2000" i="1" dirty="0">
                <a:solidFill>
                  <a:srgbClr val="C00000"/>
                </a:solidFill>
              </a:rPr>
              <a:t>U</a:t>
            </a:r>
            <a:r>
              <a:rPr lang="en-US" altLang="zh-CN" sz="2000" dirty="0">
                <a:solidFill>
                  <a:srgbClr val="C00000"/>
                </a:solidFill>
              </a:rPr>
              <a:t>) </a:t>
            </a:r>
            <a:r>
              <a:rPr lang="zh-CN" altLang="en-US" sz="2000" dirty="0"/>
              <a:t>或</a:t>
            </a:r>
            <a:r>
              <a:rPr lang="en-US" altLang="zh-CN" sz="2000" i="1" dirty="0">
                <a:solidFill>
                  <a:srgbClr val="C00000"/>
                </a:solidFill>
              </a:rPr>
              <a:t>R</a:t>
            </a:r>
            <a:r>
              <a:rPr lang="en-US" altLang="zh-CN" sz="2000" dirty="0">
                <a:solidFill>
                  <a:srgbClr val="C00000"/>
                </a:solidFill>
              </a:rPr>
              <a:t> (</a:t>
            </a:r>
            <a:r>
              <a:rPr lang="en-US" altLang="zh-CN" sz="2000" i="1" dirty="0">
                <a:solidFill>
                  <a:srgbClr val="C00000"/>
                </a:solidFill>
              </a:rPr>
              <a:t>A</a:t>
            </a:r>
            <a:r>
              <a:rPr lang="en-US" altLang="zh-CN" sz="2000" baseline="-25000" dirty="0">
                <a:solidFill>
                  <a:srgbClr val="C00000"/>
                </a:solidFill>
              </a:rPr>
              <a:t>1</a:t>
            </a:r>
            <a:r>
              <a:rPr lang="zh-CN" altLang="en-US" sz="2000" dirty="0">
                <a:solidFill>
                  <a:srgbClr val="C00000"/>
                </a:solidFill>
              </a:rPr>
              <a:t>，</a:t>
            </a:r>
            <a:r>
              <a:rPr lang="en-US" altLang="zh-CN" sz="2000" i="1" dirty="0">
                <a:solidFill>
                  <a:srgbClr val="C00000"/>
                </a:solidFill>
              </a:rPr>
              <a:t>A</a:t>
            </a:r>
            <a:r>
              <a:rPr lang="en-US" altLang="zh-CN" sz="2000" baseline="-25000" dirty="0">
                <a:solidFill>
                  <a:srgbClr val="C00000"/>
                </a:solidFill>
              </a:rPr>
              <a:t>2</a:t>
            </a:r>
            <a:r>
              <a:rPr lang="zh-CN" altLang="en-US" sz="2000" dirty="0">
                <a:solidFill>
                  <a:srgbClr val="C00000"/>
                </a:solidFill>
              </a:rPr>
              <a:t>，</a:t>
            </a:r>
            <a:r>
              <a:rPr lang="en-US" altLang="zh-CN" sz="2000" dirty="0">
                <a:solidFill>
                  <a:srgbClr val="C00000"/>
                </a:solidFill>
              </a:rPr>
              <a:t>…</a:t>
            </a:r>
            <a:r>
              <a:rPr lang="zh-CN" altLang="en-US" sz="2000" dirty="0">
                <a:solidFill>
                  <a:srgbClr val="C00000"/>
                </a:solidFill>
              </a:rPr>
              <a:t>，</a:t>
            </a:r>
            <a:r>
              <a:rPr lang="en-US" altLang="zh-CN" sz="2000" i="1" dirty="0">
                <a:solidFill>
                  <a:srgbClr val="C00000"/>
                </a:solidFill>
              </a:rPr>
              <a:t>A</a:t>
            </a:r>
            <a:r>
              <a:rPr lang="en-US" altLang="zh-CN" sz="2000" baseline="-25000" dirty="0">
                <a:solidFill>
                  <a:srgbClr val="C00000"/>
                </a:solidFill>
              </a:rPr>
              <a:t>n</a:t>
            </a:r>
            <a:r>
              <a:rPr lang="en-US" altLang="zh-CN" sz="2000" dirty="0">
                <a:solidFill>
                  <a:srgbClr val="C00000"/>
                </a:solidFill>
              </a:rPr>
              <a:t>)</a:t>
            </a:r>
          </a:p>
          <a:p>
            <a:pPr lvl="1"/>
            <a:r>
              <a:rPr lang="en-US" altLang="zh-CN" sz="1700" i="1" dirty="0"/>
              <a:t>R</a:t>
            </a:r>
            <a:r>
              <a:rPr lang="en-US" altLang="zh-CN" sz="1700" dirty="0"/>
              <a:t>: </a:t>
            </a:r>
            <a:r>
              <a:rPr lang="zh-CN" altLang="en-US" sz="1700" dirty="0"/>
              <a:t>关系名</a:t>
            </a:r>
          </a:p>
          <a:p>
            <a:pPr lvl="1"/>
            <a:r>
              <a:rPr lang="en-US" altLang="zh-CN" i="1" dirty="0"/>
              <a:t>A</a:t>
            </a:r>
            <a:r>
              <a:rPr lang="en-US" altLang="zh-CN" baseline="-25000" dirty="0"/>
              <a:t>1</a:t>
            </a:r>
            <a:r>
              <a:rPr lang="zh-CN" altLang="en-US" dirty="0"/>
              <a:t>，</a:t>
            </a:r>
            <a:r>
              <a:rPr lang="en-US" altLang="zh-CN" i="1" dirty="0"/>
              <a:t>A</a:t>
            </a:r>
            <a:r>
              <a:rPr lang="en-US" altLang="zh-CN" baseline="-25000" dirty="0"/>
              <a:t>2</a:t>
            </a:r>
            <a:r>
              <a:rPr lang="zh-CN" altLang="en-US" dirty="0"/>
              <a:t>，</a:t>
            </a:r>
            <a:r>
              <a:rPr lang="en-US" altLang="zh-CN" dirty="0"/>
              <a:t>…</a:t>
            </a:r>
            <a:r>
              <a:rPr lang="zh-CN" altLang="en-US" dirty="0"/>
              <a:t>，</a:t>
            </a:r>
            <a:r>
              <a:rPr lang="en-US" altLang="zh-CN" i="1" dirty="0"/>
              <a:t>A</a:t>
            </a:r>
            <a:r>
              <a:rPr lang="en-US" altLang="zh-CN" baseline="-25000" dirty="0"/>
              <a:t>n </a:t>
            </a:r>
            <a:r>
              <a:rPr lang="en-US" altLang="zh-CN" sz="1700" dirty="0"/>
              <a:t>: </a:t>
            </a:r>
            <a:r>
              <a:rPr lang="zh-CN" altLang="en-US" sz="1700" dirty="0"/>
              <a:t>属性名</a:t>
            </a:r>
          </a:p>
          <a:p>
            <a:pPr lvl="1"/>
            <a:r>
              <a:rPr lang="zh-CN" altLang="en-US" sz="1700" dirty="0"/>
              <a:t>注：域名及属性向域的映象常常直接说明为属性的类型、长度</a:t>
            </a:r>
          </a:p>
          <a:p>
            <a:endParaRPr lang="zh-CN" altLang="en-US" dirty="0"/>
          </a:p>
        </p:txBody>
      </p:sp>
      <p:sp>
        <p:nvSpPr>
          <p:cNvPr id="2" name="灯片编号占位符 1">
            <a:extLst>
              <a:ext uri="{FF2B5EF4-FFF2-40B4-BE49-F238E27FC236}">
                <a16:creationId xmlns:a16="http://schemas.microsoft.com/office/drawing/2014/main" id="{1FDC8856-8504-4A12-9925-54DCAE4F3BA3}"/>
              </a:ext>
            </a:extLst>
          </p:cNvPr>
          <p:cNvSpPr>
            <a:spLocks noGrp="1"/>
          </p:cNvSpPr>
          <p:nvPr>
            <p:ph type="sldNum" sz="quarter" idx="12"/>
          </p:nvPr>
        </p:nvSpPr>
        <p:spPr/>
        <p:txBody>
          <a:bodyPr/>
          <a:lstStyle/>
          <a:p>
            <a:fld id="{47C9E101-E51D-431E-84FA-C029B8655B60}" type="slidenum">
              <a:rPr lang="zh-CN" altLang="en-US" smtClean="0"/>
              <a:pPr/>
              <a:t>20</a:t>
            </a:fld>
            <a:endParaRPr lang="zh-CN" altLang="en-US" dirty="0"/>
          </a:p>
        </p:txBody>
      </p:sp>
    </p:spTree>
    <p:extLst>
      <p:ext uri="{BB962C8B-B14F-4D97-AF65-F5344CB8AC3E}">
        <p14:creationId xmlns:p14="http://schemas.microsoft.com/office/powerpoint/2010/main" val="4248064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91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91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91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91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91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915">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915">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915">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915">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891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369665">
            <a:extLst>
              <a:ext uri="{FF2B5EF4-FFF2-40B4-BE49-F238E27FC236}">
                <a16:creationId xmlns:a16="http://schemas.microsoft.com/office/drawing/2014/main" id="{32F9A246-26F8-496D-BA34-1CBF1425D380}"/>
              </a:ext>
            </a:extLst>
          </p:cNvPr>
          <p:cNvSpPr>
            <a:spLocks noGrp="1" noChangeArrowheads="1"/>
          </p:cNvSpPr>
          <p:nvPr>
            <p:ph type="title"/>
          </p:nvPr>
        </p:nvSpPr>
        <p:spPr/>
        <p:txBody>
          <a:bodyPr/>
          <a:lstStyle/>
          <a:p>
            <a:r>
              <a:rPr lang="zh-CN" altLang="en-US" dirty="0"/>
              <a:t>关系模式（续）</a:t>
            </a:r>
          </a:p>
        </p:txBody>
      </p:sp>
      <p:sp>
        <p:nvSpPr>
          <p:cNvPr id="44035" name="文本占位符 374786">
            <a:extLst>
              <a:ext uri="{FF2B5EF4-FFF2-40B4-BE49-F238E27FC236}">
                <a16:creationId xmlns:a16="http://schemas.microsoft.com/office/drawing/2014/main" id="{756F0CE0-EE5E-473D-8673-A4F7ED2960F1}"/>
              </a:ext>
            </a:extLst>
          </p:cNvPr>
          <p:cNvSpPr>
            <a:spLocks noGrp="1" noChangeArrowheads="1"/>
          </p:cNvSpPr>
          <p:nvPr>
            <p:ph idx="1"/>
          </p:nvPr>
        </p:nvSpPr>
        <p:spPr/>
        <p:txBody>
          <a:bodyPr/>
          <a:lstStyle/>
          <a:p>
            <a:r>
              <a:rPr lang="zh-CN" altLang="en-US" dirty="0"/>
              <a:t>关系模式和关系</a:t>
            </a:r>
            <a:endParaRPr lang="en-US" altLang="zh-CN" dirty="0"/>
          </a:p>
          <a:p>
            <a:pPr lvl="1"/>
            <a:r>
              <a:rPr lang="zh-CN" altLang="en-US" dirty="0"/>
              <a:t>关系模式</a:t>
            </a:r>
          </a:p>
          <a:p>
            <a:pPr lvl="2"/>
            <a:r>
              <a:rPr lang="zh-CN" altLang="en-US" dirty="0"/>
              <a:t>对关系的描述</a:t>
            </a:r>
          </a:p>
          <a:p>
            <a:pPr lvl="2"/>
            <a:r>
              <a:rPr lang="zh-CN" altLang="en-US" dirty="0">
                <a:solidFill>
                  <a:srgbClr val="C00000"/>
                </a:solidFill>
              </a:rPr>
              <a:t>静态的、稳定的</a:t>
            </a:r>
          </a:p>
          <a:p>
            <a:pPr lvl="1"/>
            <a:r>
              <a:rPr lang="zh-CN" altLang="en-US" dirty="0"/>
              <a:t>关系</a:t>
            </a:r>
          </a:p>
          <a:p>
            <a:pPr lvl="2"/>
            <a:r>
              <a:rPr lang="zh-CN" altLang="en-US" dirty="0"/>
              <a:t>关系模式在某一时刻的状态或内容</a:t>
            </a:r>
          </a:p>
          <a:p>
            <a:pPr lvl="2"/>
            <a:r>
              <a:rPr lang="zh-CN" altLang="en-US" dirty="0">
                <a:solidFill>
                  <a:srgbClr val="C00000"/>
                </a:solidFill>
              </a:rPr>
              <a:t>动态的、随时间不断变化的</a:t>
            </a:r>
          </a:p>
          <a:p>
            <a:endParaRPr lang="en-US" altLang="zh-CN" dirty="0"/>
          </a:p>
          <a:p>
            <a:r>
              <a:rPr lang="zh-CN" altLang="en-US" dirty="0"/>
              <a:t>关系模式和关系往往统称为</a:t>
            </a:r>
            <a:r>
              <a:rPr lang="zh-CN" altLang="en-US" dirty="0">
                <a:solidFill>
                  <a:srgbClr val="C00000"/>
                </a:solidFill>
              </a:rPr>
              <a:t>关系</a:t>
            </a:r>
            <a:r>
              <a:rPr lang="zh-CN" altLang="en-US" dirty="0"/>
              <a:t>，一般通过上下文加以区别</a:t>
            </a:r>
          </a:p>
        </p:txBody>
      </p:sp>
      <p:sp>
        <p:nvSpPr>
          <p:cNvPr id="4" name="灯片编号占位符 3">
            <a:extLst>
              <a:ext uri="{FF2B5EF4-FFF2-40B4-BE49-F238E27FC236}">
                <a16:creationId xmlns:a16="http://schemas.microsoft.com/office/drawing/2014/main" id="{14A78E03-E5CB-4B39-B092-0DCDA60D8FA7}"/>
              </a:ext>
            </a:extLst>
          </p:cNvPr>
          <p:cNvSpPr>
            <a:spLocks noGrp="1"/>
          </p:cNvSpPr>
          <p:nvPr>
            <p:ph type="sldNum" sz="quarter" idx="12"/>
          </p:nvPr>
        </p:nvSpPr>
        <p:spPr/>
        <p:txBody>
          <a:bodyPr/>
          <a:lstStyle/>
          <a:p>
            <a:fld id="{47C9E101-E51D-431E-84FA-C029B8655B60}" type="slidenum">
              <a:rPr lang="zh-CN" altLang="en-US" smtClean="0"/>
              <a:pPr/>
              <a:t>21</a:t>
            </a:fld>
            <a:endParaRPr lang="zh-CN" altLang="en-US" dirty="0"/>
          </a:p>
        </p:txBody>
      </p:sp>
      <p:sp>
        <p:nvSpPr>
          <p:cNvPr id="5" name="文本框 4">
            <a:extLst>
              <a:ext uri="{FF2B5EF4-FFF2-40B4-BE49-F238E27FC236}">
                <a16:creationId xmlns:a16="http://schemas.microsoft.com/office/drawing/2014/main" id="{2E5B5DD6-B41D-45D3-9C78-B4638BDD5AEF}"/>
              </a:ext>
            </a:extLst>
          </p:cNvPr>
          <p:cNvSpPr txBox="1"/>
          <p:nvPr/>
        </p:nvSpPr>
        <p:spPr>
          <a:xfrm>
            <a:off x="425669" y="5598360"/>
            <a:ext cx="11506200" cy="492443"/>
          </a:xfrm>
          <a:prstGeom prst="rect">
            <a:avLst/>
          </a:prstGeom>
          <a:noFill/>
        </p:spPr>
        <p:txBody>
          <a:bodyPr wrap="square" rtlCol="0">
            <a:spAutoFit/>
          </a:bodyPr>
          <a:lstStyle/>
          <a:p>
            <a:r>
              <a:rPr lang="zh-CN" altLang="en-US" sz="2600" b="1" dirty="0">
                <a:solidFill>
                  <a:srgbClr val="FF0000"/>
                </a:solidFill>
                <a:latin typeface="等线" panose="02010600030101010101" pitchFamily="2" charset="-122"/>
                <a:ea typeface="等线" panose="02010600030101010101" pitchFamily="2" charset="-122"/>
              </a:rPr>
              <a:t>问题：在实际创建关系的过程中，是先创建关系模式后创建关系，或者相反？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5">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9"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376833">
            <a:extLst>
              <a:ext uri="{FF2B5EF4-FFF2-40B4-BE49-F238E27FC236}">
                <a16:creationId xmlns:a16="http://schemas.microsoft.com/office/drawing/2014/main" id="{07180F6F-92F0-4056-8ECB-E3D291C552B7}"/>
              </a:ext>
            </a:extLst>
          </p:cNvPr>
          <p:cNvSpPr>
            <a:spLocks noGrp="1" noChangeArrowheads="1"/>
          </p:cNvSpPr>
          <p:nvPr>
            <p:ph type="title"/>
          </p:nvPr>
        </p:nvSpPr>
        <p:spPr/>
        <p:txBody>
          <a:bodyPr/>
          <a:lstStyle/>
          <a:p>
            <a:r>
              <a:rPr lang="en-US" altLang="zh-CN" dirty="0"/>
              <a:t>2.1.3  </a:t>
            </a:r>
            <a:r>
              <a:rPr lang="zh-CN" altLang="en-US" dirty="0"/>
              <a:t>关系数据库</a:t>
            </a:r>
          </a:p>
        </p:txBody>
      </p:sp>
      <p:sp>
        <p:nvSpPr>
          <p:cNvPr id="46083" name="文本占位符 376834">
            <a:extLst>
              <a:ext uri="{FF2B5EF4-FFF2-40B4-BE49-F238E27FC236}">
                <a16:creationId xmlns:a16="http://schemas.microsoft.com/office/drawing/2014/main" id="{AF97F93E-A3C0-453E-B5D9-E80D4FCD9EE2}"/>
              </a:ext>
            </a:extLst>
          </p:cNvPr>
          <p:cNvSpPr>
            <a:spLocks noGrp="1" noChangeArrowheads="1"/>
          </p:cNvSpPr>
          <p:nvPr>
            <p:ph idx="1"/>
          </p:nvPr>
        </p:nvSpPr>
        <p:spPr/>
        <p:txBody>
          <a:bodyPr/>
          <a:lstStyle/>
          <a:p>
            <a:r>
              <a:rPr lang="zh-CN" altLang="en-US" dirty="0"/>
              <a:t>关系数据库</a:t>
            </a:r>
          </a:p>
          <a:p>
            <a:pPr lvl="1"/>
            <a:r>
              <a:rPr lang="zh-CN" altLang="en-US" dirty="0"/>
              <a:t>在一个给定的应用领域中，所</a:t>
            </a:r>
            <a:r>
              <a:rPr lang="zh-CN" altLang="en-US" dirty="0">
                <a:solidFill>
                  <a:srgbClr val="C00000"/>
                </a:solidFill>
              </a:rPr>
              <a:t>有关系的集合</a:t>
            </a:r>
            <a:r>
              <a:rPr lang="zh-CN" altLang="en-US" dirty="0"/>
              <a:t>构成一个关系数据库</a:t>
            </a:r>
          </a:p>
          <a:p>
            <a:endParaRPr lang="en-US" altLang="zh-CN" dirty="0"/>
          </a:p>
        </p:txBody>
      </p:sp>
      <p:sp>
        <p:nvSpPr>
          <p:cNvPr id="6" name="灯片编号占位符 5">
            <a:extLst>
              <a:ext uri="{FF2B5EF4-FFF2-40B4-BE49-F238E27FC236}">
                <a16:creationId xmlns:a16="http://schemas.microsoft.com/office/drawing/2014/main" id="{54FE6B18-E14F-4679-AB59-73E1C89D93E6}"/>
              </a:ext>
            </a:extLst>
          </p:cNvPr>
          <p:cNvSpPr>
            <a:spLocks noGrp="1"/>
          </p:cNvSpPr>
          <p:nvPr>
            <p:ph type="sldNum" sz="quarter" idx="12"/>
          </p:nvPr>
        </p:nvSpPr>
        <p:spPr/>
        <p:txBody>
          <a:bodyPr/>
          <a:lstStyle/>
          <a:p>
            <a:fld id="{47C9E101-E51D-431E-84FA-C029B8655B60}" type="slidenum">
              <a:rPr lang="zh-CN" altLang="en-US" smtClean="0"/>
              <a:pPr/>
              <a:t>22</a:t>
            </a:fld>
            <a:endParaRPr lang="zh-CN" altLang="en-US" dirty="0"/>
          </a:p>
        </p:txBody>
      </p:sp>
      <p:sp>
        <p:nvSpPr>
          <p:cNvPr id="5" name="AutoShape 4">
            <a:extLst>
              <a:ext uri="{FF2B5EF4-FFF2-40B4-BE49-F238E27FC236}">
                <a16:creationId xmlns:a16="http://schemas.microsoft.com/office/drawing/2014/main" id="{DE725C87-0E12-4A88-A395-F703FE154A6E}"/>
              </a:ext>
            </a:extLst>
          </p:cNvPr>
          <p:cNvSpPr>
            <a:spLocks noChangeArrowheads="1"/>
          </p:cNvSpPr>
          <p:nvPr/>
        </p:nvSpPr>
        <p:spPr bwMode="auto">
          <a:xfrm>
            <a:off x="2917428" y="2095588"/>
            <a:ext cx="1404579" cy="1154084"/>
          </a:xfrm>
          <a:prstGeom prst="can">
            <a:avLst>
              <a:gd name="adj" fmla="val 27519"/>
            </a:avLst>
          </a:prstGeom>
          <a:solidFill>
            <a:srgbClr val="FFFF00"/>
          </a:solidFill>
          <a:ln w="9525">
            <a:solidFill>
              <a:schemeClr val="tx1"/>
            </a:solidFill>
            <a:round/>
            <a:headEnd/>
            <a:tailEnd/>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2400" dirty="0">
                <a:solidFill>
                  <a:srgbClr val="000099"/>
                </a:solidFill>
                <a:latin typeface="黑体" pitchFamily="49" charset="-122"/>
                <a:ea typeface="黑体" pitchFamily="49" charset="-122"/>
              </a:rPr>
              <a:t>数据库</a:t>
            </a:r>
          </a:p>
        </p:txBody>
      </p:sp>
      <p:sp>
        <p:nvSpPr>
          <p:cNvPr id="7" name="AutoShape 5">
            <a:extLst>
              <a:ext uri="{FF2B5EF4-FFF2-40B4-BE49-F238E27FC236}">
                <a16:creationId xmlns:a16="http://schemas.microsoft.com/office/drawing/2014/main" id="{A6157677-E6F2-4DE3-9E56-C3849AF8DFB8}"/>
              </a:ext>
            </a:extLst>
          </p:cNvPr>
          <p:cNvSpPr>
            <a:spLocks noChangeArrowheads="1"/>
          </p:cNvSpPr>
          <p:nvPr/>
        </p:nvSpPr>
        <p:spPr bwMode="auto">
          <a:xfrm>
            <a:off x="7719458" y="2073141"/>
            <a:ext cx="1564063" cy="1176531"/>
          </a:xfrm>
          <a:prstGeom prst="can">
            <a:avLst>
              <a:gd name="adj" fmla="val 28054"/>
            </a:avLst>
          </a:prstGeom>
          <a:solidFill>
            <a:schemeClr val="accent1"/>
          </a:solidFill>
          <a:ln w="9525">
            <a:solidFill>
              <a:schemeClr val="tx1"/>
            </a:solidFill>
            <a:round/>
            <a:headEnd/>
            <a:tailEnd/>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2000" dirty="0">
                <a:solidFill>
                  <a:schemeClr val="bg1"/>
                </a:solidFill>
                <a:latin typeface="黑体" pitchFamily="49" charset="-122"/>
                <a:ea typeface="黑体" pitchFamily="49" charset="-122"/>
              </a:rPr>
              <a:t>数据库模式</a:t>
            </a:r>
          </a:p>
        </p:txBody>
      </p:sp>
      <p:sp>
        <p:nvSpPr>
          <p:cNvPr id="8" name="Line 6">
            <a:extLst>
              <a:ext uri="{FF2B5EF4-FFF2-40B4-BE49-F238E27FC236}">
                <a16:creationId xmlns:a16="http://schemas.microsoft.com/office/drawing/2014/main" id="{5818A95C-2CD4-4165-A5D7-EA6AFDE8EDA3}"/>
              </a:ext>
            </a:extLst>
          </p:cNvPr>
          <p:cNvSpPr>
            <a:spLocks noChangeShapeType="1"/>
          </p:cNvSpPr>
          <p:nvPr/>
        </p:nvSpPr>
        <p:spPr bwMode="auto">
          <a:xfrm>
            <a:off x="1093450" y="3498142"/>
            <a:ext cx="9677399" cy="1056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1">
            <a:spAutoFit/>
          </a:bodyPr>
          <a:lstStyle/>
          <a:p>
            <a:endParaRPr lang="zh-CN" altLang="en-US"/>
          </a:p>
        </p:txBody>
      </p:sp>
      <p:sp>
        <p:nvSpPr>
          <p:cNvPr id="9" name="Text Box 7">
            <a:extLst>
              <a:ext uri="{FF2B5EF4-FFF2-40B4-BE49-F238E27FC236}">
                <a16:creationId xmlns:a16="http://schemas.microsoft.com/office/drawing/2014/main" id="{7AC1F425-AC43-4B15-A20B-44116D454173}"/>
              </a:ext>
            </a:extLst>
          </p:cNvPr>
          <p:cNvSpPr txBox="1">
            <a:spLocks noChangeArrowheads="1"/>
          </p:cNvSpPr>
          <p:nvPr/>
        </p:nvSpPr>
        <p:spPr bwMode="auto">
          <a:xfrm>
            <a:off x="3175383" y="3804266"/>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1">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2400" dirty="0">
                <a:solidFill>
                  <a:srgbClr val="FF0000"/>
                </a:solidFill>
                <a:latin typeface="等线" panose="02010600030101010101" pitchFamily="2" charset="-122"/>
                <a:ea typeface="等线" panose="02010600030101010101" pitchFamily="2" charset="-122"/>
              </a:rPr>
              <a:t>数据</a:t>
            </a:r>
          </a:p>
        </p:txBody>
      </p:sp>
      <p:sp>
        <p:nvSpPr>
          <p:cNvPr id="10" name="Text Box 8">
            <a:extLst>
              <a:ext uri="{FF2B5EF4-FFF2-40B4-BE49-F238E27FC236}">
                <a16:creationId xmlns:a16="http://schemas.microsoft.com/office/drawing/2014/main" id="{E53C1F1C-9139-4098-92A7-A401A46C3A0C}"/>
              </a:ext>
            </a:extLst>
          </p:cNvPr>
          <p:cNvSpPr txBox="1">
            <a:spLocks noChangeArrowheads="1"/>
          </p:cNvSpPr>
          <p:nvPr/>
        </p:nvSpPr>
        <p:spPr bwMode="auto">
          <a:xfrm>
            <a:off x="7611412" y="3822050"/>
            <a:ext cx="17235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1">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2400" dirty="0">
                <a:solidFill>
                  <a:srgbClr val="FF0000"/>
                </a:solidFill>
                <a:latin typeface="等线" panose="02010600030101010101" pitchFamily="2" charset="-122"/>
                <a:ea typeface="等线" panose="02010600030101010101" pitchFamily="2" charset="-122"/>
              </a:rPr>
              <a:t>数据的语义</a:t>
            </a:r>
          </a:p>
        </p:txBody>
      </p:sp>
      <p:sp>
        <p:nvSpPr>
          <p:cNvPr id="11" name="Line 9">
            <a:extLst>
              <a:ext uri="{FF2B5EF4-FFF2-40B4-BE49-F238E27FC236}">
                <a16:creationId xmlns:a16="http://schemas.microsoft.com/office/drawing/2014/main" id="{C3E27A39-6954-48B9-ADD9-A3E1F8881AC4}"/>
              </a:ext>
            </a:extLst>
          </p:cNvPr>
          <p:cNvSpPr>
            <a:spLocks noChangeShapeType="1"/>
          </p:cNvSpPr>
          <p:nvPr/>
        </p:nvSpPr>
        <p:spPr bwMode="auto">
          <a:xfrm flipV="1">
            <a:off x="3522423" y="3274761"/>
            <a:ext cx="0" cy="53478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nchorCtr="1">
            <a:spAutoFit/>
          </a:bodyPr>
          <a:lstStyle/>
          <a:p>
            <a:endParaRPr lang="zh-CN" altLang="en-US"/>
          </a:p>
        </p:txBody>
      </p:sp>
      <p:sp>
        <p:nvSpPr>
          <p:cNvPr id="12" name="Line 10">
            <a:extLst>
              <a:ext uri="{FF2B5EF4-FFF2-40B4-BE49-F238E27FC236}">
                <a16:creationId xmlns:a16="http://schemas.microsoft.com/office/drawing/2014/main" id="{4601D0E2-000C-49F6-87DD-0F24E2C32F9F}"/>
              </a:ext>
            </a:extLst>
          </p:cNvPr>
          <p:cNvSpPr>
            <a:spLocks noChangeShapeType="1"/>
          </p:cNvSpPr>
          <p:nvPr/>
        </p:nvSpPr>
        <p:spPr bwMode="auto">
          <a:xfrm flipV="1">
            <a:off x="8501490" y="3282684"/>
            <a:ext cx="0" cy="566478"/>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nchorCtr="1">
            <a:spAutoFit/>
          </a:bodyPr>
          <a:lstStyle/>
          <a:p>
            <a:endParaRPr lang="zh-CN" altLang="en-US" dirty="0"/>
          </a:p>
        </p:txBody>
      </p:sp>
      <p:sp>
        <p:nvSpPr>
          <p:cNvPr id="13" name="Line 11">
            <a:extLst>
              <a:ext uri="{FF2B5EF4-FFF2-40B4-BE49-F238E27FC236}">
                <a16:creationId xmlns:a16="http://schemas.microsoft.com/office/drawing/2014/main" id="{E3634D94-DB2B-4AB1-BC9B-1D8D509EB585}"/>
              </a:ext>
            </a:extLst>
          </p:cNvPr>
          <p:cNvSpPr>
            <a:spLocks noChangeShapeType="1"/>
          </p:cNvSpPr>
          <p:nvPr/>
        </p:nvSpPr>
        <p:spPr bwMode="auto">
          <a:xfrm flipH="1">
            <a:off x="4522448" y="2672630"/>
            <a:ext cx="2971802" cy="0"/>
          </a:xfrm>
          <a:prstGeom prst="line">
            <a:avLst/>
          </a:prstGeom>
          <a:noFill/>
          <a:ln w="57150">
            <a:solidFill>
              <a:srgbClr val="FF0000"/>
            </a:solidFill>
            <a:prstDash val="dash"/>
            <a:round/>
            <a:headEnd/>
            <a:tailEnd type="triangle" w="lg" len="med"/>
          </a:ln>
          <a:extLst>
            <a:ext uri="{909E8E84-426E-40DD-AFC4-6F175D3DCCD1}">
              <a14:hiddenFill xmlns:a14="http://schemas.microsoft.com/office/drawing/2010/main">
                <a:noFill/>
              </a14:hiddenFill>
            </a:ext>
          </a:extLst>
        </p:spPr>
        <p:txBody>
          <a:bodyPr wrap="square" anchorCtr="1">
            <a:spAutoFit/>
          </a:bodyPr>
          <a:lstStyle/>
          <a:p>
            <a:endParaRPr lang="zh-CN" altLang="en-US" dirty="0"/>
          </a:p>
        </p:txBody>
      </p:sp>
      <p:sp>
        <p:nvSpPr>
          <p:cNvPr id="14" name="Text Box 12">
            <a:extLst>
              <a:ext uri="{FF2B5EF4-FFF2-40B4-BE49-F238E27FC236}">
                <a16:creationId xmlns:a16="http://schemas.microsoft.com/office/drawing/2014/main" id="{FFEC90ED-EC45-4E46-B109-817DB7C19E3D}"/>
              </a:ext>
            </a:extLst>
          </p:cNvPr>
          <p:cNvSpPr txBox="1">
            <a:spLocks noChangeArrowheads="1"/>
          </p:cNvSpPr>
          <p:nvPr/>
        </p:nvSpPr>
        <p:spPr bwMode="auto">
          <a:xfrm>
            <a:off x="5589251" y="2086730"/>
            <a:ext cx="11079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type="none" w="lg" len="med"/>
              </a14:hiddenLine>
            </a:ext>
          </a:extLst>
        </p:spPr>
        <p:txBody>
          <a:bodyPr wrap="none" anchorCtr="1">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2400" dirty="0">
                <a:solidFill>
                  <a:srgbClr val="0000CC"/>
                </a:solidFill>
                <a:latin typeface="黑体" pitchFamily="49" charset="-122"/>
                <a:ea typeface="黑体" pitchFamily="49" charset="-122"/>
              </a:rPr>
              <a:t>实例化</a:t>
            </a:r>
          </a:p>
        </p:txBody>
      </p:sp>
      <p:sp>
        <p:nvSpPr>
          <p:cNvPr id="15" name="Text Box 3">
            <a:extLst>
              <a:ext uri="{FF2B5EF4-FFF2-40B4-BE49-F238E27FC236}">
                <a16:creationId xmlns:a16="http://schemas.microsoft.com/office/drawing/2014/main" id="{3C4E88DF-0F1B-4F08-B7A9-9AAEF77FEE13}"/>
              </a:ext>
            </a:extLst>
          </p:cNvPr>
          <p:cNvSpPr txBox="1">
            <a:spLocks noChangeArrowheads="1"/>
          </p:cNvSpPr>
          <p:nvPr/>
        </p:nvSpPr>
        <p:spPr>
          <a:xfrm>
            <a:off x="6553882" y="4357332"/>
            <a:ext cx="4212462" cy="1533194"/>
          </a:xfrm>
          <a:prstGeom prst="rect">
            <a:avLst/>
          </a:prstGeom>
          <a:noFill/>
          <a:ln w="28575" cap="flat">
            <a:solidFill>
              <a:schemeClr val="tx1"/>
            </a:solidFill>
            <a:miter lim="800000"/>
            <a:headEnd/>
            <a:tailEnd/>
          </a:ln>
        </p:spPr>
        <p:txBody>
          <a:bodyPr vert="horz" lIns="91440" tIns="45720" rIns="91440" bIns="45720" rtlCol="0">
            <a:noAutofit/>
          </a:bodyPr>
          <a:lstStyle>
            <a:lvl1pPr marL="273050" indent="-273050" algn="l" defTabSz="914400" rtl="0" eaLnBrk="1" latinLnBrk="0" hangingPunct="1">
              <a:lnSpc>
                <a:spcPct val="150000"/>
              </a:lnSpc>
              <a:spcBef>
                <a:spcPct val="20000"/>
              </a:spcBef>
              <a:buClr>
                <a:srgbClr val="0000FF"/>
              </a:buClr>
              <a:buSzPct val="100000"/>
              <a:buFont typeface="Wingdings" pitchFamily="2" charset="2"/>
              <a:buChar char="q"/>
              <a:defRPr sz="2800" b="1" kern="1200">
                <a:solidFill>
                  <a:srgbClr val="3333CC"/>
                </a:solidFill>
                <a:latin typeface="+mn-lt"/>
                <a:ea typeface="+mn-ea"/>
                <a:cs typeface="+mn-cs"/>
              </a:defRPr>
            </a:lvl1pPr>
            <a:lvl2pPr marL="531813" indent="-258763" algn="l" defTabSz="914400" rtl="0" eaLnBrk="1" latinLnBrk="0" hangingPunct="1">
              <a:lnSpc>
                <a:spcPct val="150000"/>
              </a:lnSpc>
              <a:spcBef>
                <a:spcPct val="20000"/>
              </a:spcBef>
              <a:buClr>
                <a:srgbClr val="990099"/>
              </a:buClr>
              <a:buSzPct val="90000"/>
              <a:buFont typeface="Wingdings" pitchFamily="2" charset="2"/>
              <a:buChar char="Þ"/>
              <a:defRPr sz="2400" kern="1200">
                <a:solidFill>
                  <a:schemeClr val="tx1"/>
                </a:solidFill>
                <a:latin typeface="楷体_GB2312" pitchFamily="49" charset="-122"/>
                <a:ea typeface="楷体_GB2312" pitchFamily="49" charset="-122"/>
                <a:cs typeface="+mn-cs"/>
              </a:defRPr>
            </a:lvl2pPr>
            <a:lvl3pPr marL="804863" indent="-273050" algn="l" defTabSz="914400" rtl="0" eaLnBrk="1" latinLnBrk="0" hangingPunct="1">
              <a:lnSpc>
                <a:spcPct val="150000"/>
              </a:lnSpc>
              <a:spcBef>
                <a:spcPct val="20000"/>
              </a:spcBef>
              <a:buFont typeface="Times New Roman" pitchFamily="18" charset="0"/>
              <a:buChar char="─"/>
              <a:defRPr sz="2000" kern="1200">
                <a:solidFill>
                  <a:schemeClr val="tx1"/>
                </a:solidFill>
                <a:latin typeface="楷体_GB2312" pitchFamily="49" charset="-122"/>
                <a:ea typeface="楷体_GB2312" pitchFamily="49" charset="-122"/>
                <a:cs typeface="+mn-cs"/>
              </a:defRPr>
            </a:lvl3pPr>
            <a:lvl4pPr marL="1600200" indent="-228600" algn="l" defTabSz="914400" rtl="0" eaLnBrk="1" latinLnBrk="0" hangingPunct="1">
              <a:spcBef>
                <a:spcPct val="20000"/>
              </a:spcBef>
              <a:buFont typeface="Arial" pitchFamily="34" charset="0"/>
              <a:buChar char="•"/>
              <a:defRPr sz="1800" b="1" kern="1200">
                <a:solidFill>
                  <a:schemeClr val="tx1"/>
                </a:solidFill>
                <a:latin typeface="楷体_GB2312" pitchFamily="49" charset="-122"/>
                <a:ea typeface="楷体_GB2312" pitchFamily="49" charset="-122"/>
                <a:cs typeface="+mn-cs"/>
              </a:defRPr>
            </a:lvl4pPr>
            <a:lvl5pPr marL="2057400" indent="-228600" algn="l" defTabSz="914400" rtl="0" eaLnBrk="1" latinLnBrk="0" hangingPunct="1">
              <a:spcBef>
                <a:spcPct val="20000"/>
              </a:spcBef>
              <a:buFont typeface="Arial" pitchFamily="34" charset="0"/>
              <a:buNone/>
              <a:defRPr sz="1600" kern="1200">
                <a:solidFill>
                  <a:schemeClr val="tx1"/>
                </a:solidFill>
                <a:latin typeface="楷体_GB2312" pitchFamily="49" charset="-122"/>
                <a:ea typeface="楷体_GB2312"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93663" indent="0">
              <a:lnSpc>
                <a:spcPct val="100000"/>
              </a:lnSpc>
              <a:buNone/>
            </a:pPr>
            <a:r>
              <a:rPr lang="zh-CN" altLang="en-US" sz="2000" b="0" dirty="0">
                <a:latin typeface="微软雅黑" panose="020B0503020204020204" pitchFamily="34" charset="-122"/>
                <a:ea typeface="微软雅黑" panose="020B0503020204020204" pitchFamily="34" charset="-122"/>
              </a:rPr>
              <a:t>学生</a:t>
            </a:r>
            <a:r>
              <a:rPr lang="en-US" altLang="zh-CN" sz="2000" b="0" dirty="0">
                <a:latin typeface="微软雅黑" panose="020B0503020204020204" pitchFamily="34" charset="-122"/>
                <a:ea typeface="微软雅黑" panose="020B0503020204020204" pitchFamily="34" charset="-122"/>
              </a:rPr>
              <a:t>(</a:t>
            </a:r>
            <a:r>
              <a:rPr lang="zh-CN" altLang="en-US" sz="2000" b="0" u="sng" dirty="0">
                <a:latin typeface="微软雅黑" panose="020B0503020204020204" pitchFamily="34" charset="-122"/>
                <a:ea typeface="微软雅黑" panose="020B0503020204020204" pitchFamily="34" charset="-122"/>
              </a:rPr>
              <a:t>学号</a:t>
            </a:r>
            <a:r>
              <a:rPr lang="zh-CN" altLang="en-US" sz="2000" b="0" dirty="0">
                <a:latin typeface="微软雅黑" panose="020B0503020204020204" pitchFamily="34" charset="-122"/>
                <a:ea typeface="微软雅黑" panose="020B0503020204020204" pitchFamily="34" charset="-122"/>
              </a:rPr>
              <a:t>，姓名，年龄</a:t>
            </a:r>
            <a:r>
              <a:rPr lang="en-US" altLang="zh-CN" sz="2000" b="0" dirty="0">
                <a:latin typeface="微软雅黑" panose="020B0503020204020204" pitchFamily="34" charset="-122"/>
                <a:ea typeface="微软雅黑" panose="020B0503020204020204" pitchFamily="34" charset="-122"/>
              </a:rPr>
              <a:t>)</a:t>
            </a:r>
          </a:p>
          <a:p>
            <a:pPr marL="93663" indent="0">
              <a:lnSpc>
                <a:spcPct val="100000"/>
              </a:lnSpc>
              <a:buNone/>
            </a:pPr>
            <a:r>
              <a:rPr lang="zh-CN" altLang="en-US" sz="2000" b="0" dirty="0">
                <a:latin typeface="微软雅黑" panose="020B0503020204020204" pitchFamily="34" charset="-122"/>
                <a:ea typeface="微软雅黑" panose="020B0503020204020204" pitchFamily="34" charset="-122"/>
              </a:rPr>
              <a:t>课程</a:t>
            </a:r>
            <a:r>
              <a:rPr lang="en-US" altLang="zh-CN" sz="2000" b="0" dirty="0">
                <a:latin typeface="微软雅黑" panose="020B0503020204020204" pitchFamily="34" charset="-122"/>
                <a:ea typeface="微软雅黑" panose="020B0503020204020204" pitchFamily="34" charset="-122"/>
              </a:rPr>
              <a:t>(</a:t>
            </a:r>
            <a:r>
              <a:rPr lang="zh-CN" altLang="en-US" sz="2000" b="0" u="sng" dirty="0">
                <a:latin typeface="微软雅黑" panose="020B0503020204020204" pitchFamily="34" charset="-122"/>
                <a:ea typeface="微软雅黑" panose="020B0503020204020204" pitchFamily="34" charset="-122"/>
              </a:rPr>
              <a:t>课程号</a:t>
            </a:r>
            <a:r>
              <a:rPr lang="zh-CN" altLang="en-US" sz="2000" b="0" dirty="0">
                <a:latin typeface="微软雅黑" panose="020B0503020204020204" pitchFamily="34" charset="-122"/>
                <a:ea typeface="微软雅黑" panose="020B0503020204020204" pitchFamily="34" charset="-122"/>
              </a:rPr>
              <a:t>，课程名，学分</a:t>
            </a:r>
            <a:r>
              <a:rPr lang="en-US" altLang="zh-CN" sz="2000" b="0" dirty="0">
                <a:latin typeface="微软雅黑" panose="020B0503020204020204" pitchFamily="34" charset="-122"/>
                <a:ea typeface="微软雅黑" panose="020B0503020204020204" pitchFamily="34" charset="-122"/>
              </a:rPr>
              <a:t>)</a:t>
            </a:r>
          </a:p>
          <a:p>
            <a:pPr marL="93663" indent="0">
              <a:lnSpc>
                <a:spcPct val="100000"/>
              </a:lnSpc>
              <a:buNone/>
            </a:pPr>
            <a:r>
              <a:rPr lang="zh-CN" altLang="en-US" sz="2000" b="0" dirty="0">
                <a:latin typeface="微软雅黑" panose="020B0503020204020204" pitchFamily="34" charset="-122"/>
                <a:ea typeface="微软雅黑" panose="020B0503020204020204" pitchFamily="34" charset="-122"/>
              </a:rPr>
              <a:t>选课</a:t>
            </a:r>
            <a:r>
              <a:rPr lang="en-US" altLang="zh-CN" sz="2000" b="0" dirty="0">
                <a:latin typeface="微软雅黑" panose="020B0503020204020204" pitchFamily="34" charset="-122"/>
                <a:ea typeface="微软雅黑" panose="020B0503020204020204" pitchFamily="34" charset="-122"/>
              </a:rPr>
              <a:t>(</a:t>
            </a:r>
            <a:r>
              <a:rPr lang="zh-CN" altLang="en-US" sz="2000" b="0" u="sng" dirty="0">
                <a:latin typeface="微软雅黑" panose="020B0503020204020204" pitchFamily="34" charset="-122"/>
                <a:ea typeface="微软雅黑" panose="020B0503020204020204" pitchFamily="34" charset="-122"/>
              </a:rPr>
              <a:t>学号</a:t>
            </a:r>
            <a:r>
              <a:rPr lang="zh-CN" altLang="en-US" sz="2000" b="0" dirty="0">
                <a:latin typeface="微软雅黑" panose="020B0503020204020204" pitchFamily="34" charset="-122"/>
                <a:ea typeface="微软雅黑" panose="020B0503020204020204" pitchFamily="34" charset="-122"/>
              </a:rPr>
              <a:t>，</a:t>
            </a:r>
            <a:r>
              <a:rPr lang="zh-CN" altLang="en-US" sz="2000" b="0" u="sng" dirty="0">
                <a:latin typeface="微软雅黑" panose="020B0503020204020204" pitchFamily="34" charset="-122"/>
                <a:ea typeface="微软雅黑" panose="020B0503020204020204" pitchFamily="34" charset="-122"/>
              </a:rPr>
              <a:t>课程号</a:t>
            </a:r>
            <a:r>
              <a:rPr lang="zh-CN" altLang="en-US" sz="2000" b="0" dirty="0">
                <a:latin typeface="微软雅黑" panose="020B0503020204020204" pitchFamily="34" charset="-122"/>
                <a:ea typeface="微软雅黑" panose="020B0503020204020204" pitchFamily="34" charset="-122"/>
              </a:rPr>
              <a:t>，成绩</a:t>
            </a:r>
            <a:r>
              <a:rPr lang="en-US" altLang="zh-CN" sz="2000" b="0" dirty="0">
                <a:latin typeface="微软雅黑" panose="020B0503020204020204" pitchFamily="34" charset="-122"/>
                <a:ea typeface="微软雅黑" panose="020B0503020204020204" pitchFamily="34" charset="-122"/>
              </a:rPr>
              <a:t>)</a:t>
            </a:r>
          </a:p>
        </p:txBody>
      </p:sp>
      <p:grpSp>
        <p:nvGrpSpPr>
          <p:cNvPr id="16" name="组合 15">
            <a:extLst>
              <a:ext uri="{FF2B5EF4-FFF2-40B4-BE49-F238E27FC236}">
                <a16:creationId xmlns:a16="http://schemas.microsoft.com/office/drawing/2014/main" id="{B8C3B70A-F98A-42AD-A6BB-CE100A70404D}"/>
              </a:ext>
            </a:extLst>
          </p:cNvPr>
          <p:cNvGrpSpPr/>
          <p:nvPr/>
        </p:nvGrpSpPr>
        <p:grpSpPr>
          <a:xfrm>
            <a:off x="1733643" y="4373806"/>
            <a:ext cx="3784287" cy="2175640"/>
            <a:chOff x="1152572" y="3185584"/>
            <a:chExt cx="4720145" cy="2660539"/>
          </a:xfrm>
        </p:grpSpPr>
        <p:pic>
          <p:nvPicPr>
            <p:cNvPr id="17" name="Picture 6">
              <a:extLst>
                <a:ext uri="{FF2B5EF4-FFF2-40B4-BE49-F238E27FC236}">
                  <a16:creationId xmlns:a16="http://schemas.microsoft.com/office/drawing/2014/main" id="{B7F95455-3354-4A32-8DBE-CA8A650660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2572" y="3185584"/>
              <a:ext cx="4720145" cy="2660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17">
              <a:extLst>
                <a:ext uri="{FF2B5EF4-FFF2-40B4-BE49-F238E27FC236}">
                  <a16:creationId xmlns:a16="http://schemas.microsoft.com/office/drawing/2014/main" id="{B74FEF83-A501-485C-B3CF-7E2D77CEC5F6}"/>
                </a:ext>
              </a:extLst>
            </p:cNvPr>
            <p:cNvSpPr/>
            <p:nvPr/>
          </p:nvSpPr>
          <p:spPr>
            <a:xfrm>
              <a:off x="1152572" y="3185584"/>
              <a:ext cx="4720145" cy="2660539"/>
            </a:xfrm>
            <a:prstGeom prst="rect">
              <a:avLst/>
            </a:prstGeom>
            <a:noFill/>
            <a:ln>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500"/>
                                        <p:tgtEl>
                                          <p:spTgt spid="7"/>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anim calcmode="lin" valueType="num">
                                      <p:cBhvr>
                                        <p:cTn id="11" dur="500" fill="hold"/>
                                        <p:tgtEl>
                                          <p:spTgt spid="10"/>
                                        </p:tgtEl>
                                        <p:attrNameLst>
                                          <p:attrName>ppt_x</p:attrName>
                                        </p:attrNameLst>
                                      </p:cBhvr>
                                      <p:tavLst>
                                        <p:tav tm="0">
                                          <p:val>
                                            <p:strVal val="#ppt_x"/>
                                          </p:val>
                                        </p:tav>
                                        <p:tav tm="100000">
                                          <p:val>
                                            <p:strVal val="#ppt_x"/>
                                          </p:val>
                                        </p:tav>
                                      </p:tavLst>
                                    </p:anim>
                                    <p:anim calcmode="lin" valueType="num">
                                      <p:cBhvr>
                                        <p:cTn id="12" dur="500" fill="hold"/>
                                        <p:tgtEl>
                                          <p:spTgt spid="10"/>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anim calcmode="lin" valueType="num">
                                      <p:cBhvr>
                                        <p:cTn id="16" dur="500" fill="hold"/>
                                        <p:tgtEl>
                                          <p:spTgt spid="12"/>
                                        </p:tgtEl>
                                        <p:attrNameLst>
                                          <p:attrName>ppt_x</p:attrName>
                                        </p:attrNameLst>
                                      </p:cBhvr>
                                      <p:tavLst>
                                        <p:tav tm="0">
                                          <p:val>
                                            <p:strVal val="#ppt_x"/>
                                          </p:val>
                                        </p:tav>
                                        <p:tav tm="100000">
                                          <p:val>
                                            <p:strVal val="#ppt_x"/>
                                          </p:val>
                                        </p:tav>
                                      </p:tavLst>
                                    </p:anim>
                                    <p:anim calcmode="lin" valueType="num">
                                      <p:cBhvr>
                                        <p:cTn id="17"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fill="hold"/>
                                        <p:tgtEl>
                                          <p:spTgt spid="15"/>
                                        </p:tgtEl>
                                        <p:attrNameLst>
                                          <p:attrName>ppt_x</p:attrName>
                                        </p:attrNameLst>
                                      </p:cBhvr>
                                      <p:tavLst>
                                        <p:tav tm="0">
                                          <p:val>
                                            <p:strVal val="#ppt_x"/>
                                          </p:val>
                                        </p:tav>
                                        <p:tav tm="100000">
                                          <p:val>
                                            <p:strVal val="#ppt_x"/>
                                          </p:val>
                                        </p:tav>
                                      </p:tavLst>
                                    </p:anim>
                                    <p:anim calcmode="lin" valueType="num">
                                      <p:cBhvr additive="base">
                                        <p:cTn id="2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37"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barn(outVertical)">
                                      <p:cBhvr>
                                        <p:cTn id="28" dur="500"/>
                                        <p:tgtEl>
                                          <p:spTgt spid="5"/>
                                        </p:tgtEl>
                                      </p:cBhvr>
                                    </p:animEffect>
                                  </p:childTnLst>
                                </p:cTn>
                              </p:par>
                              <p:par>
                                <p:cTn id="29" presetID="42"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anim calcmode="lin" valueType="num">
                                      <p:cBhvr>
                                        <p:cTn id="32" dur="500" fill="hold"/>
                                        <p:tgtEl>
                                          <p:spTgt spid="9"/>
                                        </p:tgtEl>
                                        <p:attrNameLst>
                                          <p:attrName>ppt_x</p:attrName>
                                        </p:attrNameLst>
                                      </p:cBhvr>
                                      <p:tavLst>
                                        <p:tav tm="0">
                                          <p:val>
                                            <p:strVal val="#ppt_x"/>
                                          </p:val>
                                        </p:tav>
                                        <p:tav tm="100000">
                                          <p:val>
                                            <p:strVal val="#ppt_x"/>
                                          </p:val>
                                        </p:tav>
                                      </p:tavLst>
                                    </p:anim>
                                    <p:anim calcmode="lin" valueType="num">
                                      <p:cBhvr>
                                        <p:cTn id="33" dur="500" fill="hold"/>
                                        <p:tgtEl>
                                          <p:spTgt spid="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anim calcmode="lin" valueType="num">
                                      <p:cBhvr>
                                        <p:cTn id="37" dur="500" fill="hold"/>
                                        <p:tgtEl>
                                          <p:spTgt spid="11"/>
                                        </p:tgtEl>
                                        <p:attrNameLst>
                                          <p:attrName>ppt_x</p:attrName>
                                        </p:attrNameLst>
                                      </p:cBhvr>
                                      <p:tavLst>
                                        <p:tav tm="0">
                                          <p:val>
                                            <p:strVal val="#ppt_x"/>
                                          </p:val>
                                        </p:tav>
                                        <p:tav tm="100000">
                                          <p:val>
                                            <p:strVal val="#ppt_x"/>
                                          </p:val>
                                        </p:tav>
                                      </p:tavLst>
                                    </p:anim>
                                    <p:anim calcmode="lin" valueType="num">
                                      <p:cBhvr>
                                        <p:cTn id="38"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right)">
                                      <p:cBhvr>
                                        <p:cTn id="49" dur="500"/>
                                        <p:tgtEl>
                                          <p:spTgt spid="13"/>
                                        </p:tgtEl>
                                      </p:cBhvr>
                                    </p:animEffect>
                                  </p:childTnLst>
                                </p:cTn>
                              </p:par>
                              <p:par>
                                <p:cTn id="50" presetID="1" presetClass="entr" presetSubtype="0" fill="hold" grpId="0" nodeType="withEffect">
                                  <p:stCondLst>
                                    <p:cond delay="0"/>
                                  </p:stCondLst>
                                  <p:childTnLst>
                                    <p:set>
                                      <p:cBhvr>
                                        <p:cTn id="51" dur="1" fill="hold">
                                          <p:stCondLst>
                                            <p:cond delay="749"/>
                                          </p:stCondLst>
                                        </p:cTn>
                                        <p:tgtEl>
                                          <p:spTgt spid="14"/>
                                        </p:tgtEl>
                                        <p:attrNameLst>
                                          <p:attrName>style.visibility</p:attrName>
                                        </p:attrNameLst>
                                      </p:cBhvr>
                                      <p:to>
                                        <p:strVal val="visible"/>
                                      </p:to>
                                    </p:set>
                                  </p:childTnLst>
                                </p:cTn>
                              </p:par>
                            </p:childTnLst>
                          </p:cTn>
                        </p:par>
                        <p:par>
                          <p:cTn id="52" fill="hold">
                            <p:stCondLst>
                              <p:cond delay="750"/>
                            </p:stCondLst>
                            <p:childTnLst>
                              <p:par>
                                <p:cTn id="53" presetID="16" presetClass="entr" presetSubtype="37" fill="hold" grpId="0" nodeType="after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barn(outVertical)">
                                      <p:cBhvr>
                                        <p:cTn id="5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p:bldP spid="10" grpId="0"/>
      <p:bldP spid="11" grpId="0" animBg="1"/>
      <p:bldP spid="12" grpId="0" animBg="1"/>
      <p:bldP spid="13" grpId="0" animBg="1"/>
      <p:bldP spid="14" grpId="0"/>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76B6ADC-0BD5-4E06-A619-B41A49D4B064}"/>
              </a:ext>
            </a:extLst>
          </p:cNvPr>
          <p:cNvSpPr>
            <a:spLocks noGrp="1"/>
          </p:cNvSpPr>
          <p:nvPr>
            <p:ph idx="1"/>
          </p:nvPr>
        </p:nvSpPr>
        <p:spPr/>
        <p:txBody>
          <a:bodyPr/>
          <a:lstStyle/>
          <a:p>
            <a:r>
              <a:rPr lang="zh-CN" altLang="en-US" dirty="0"/>
              <a:t>关系模型的</a:t>
            </a:r>
            <a:r>
              <a:rPr lang="zh-CN" altLang="en-US" dirty="0">
                <a:solidFill>
                  <a:srgbClr val="FF0000"/>
                </a:solidFill>
              </a:rPr>
              <a:t>存储结构</a:t>
            </a:r>
            <a:r>
              <a:rPr lang="zh-CN" altLang="en-US" dirty="0"/>
              <a:t>指的是关系数据库的物理组织，有时也称为关系数据库的</a:t>
            </a:r>
            <a:r>
              <a:rPr lang="zh-CN" altLang="en-US" dirty="0">
                <a:solidFill>
                  <a:srgbClr val="FF0000"/>
                </a:solidFill>
              </a:rPr>
              <a:t>物理结构。</a:t>
            </a:r>
            <a:endParaRPr lang="en-US" altLang="zh-CN" dirty="0">
              <a:solidFill>
                <a:srgbClr val="FF0000"/>
              </a:solidFill>
            </a:endParaRPr>
          </a:p>
          <a:p>
            <a:pPr lvl="1"/>
            <a:r>
              <a:rPr lang="zh-CN" altLang="en-US" dirty="0"/>
              <a:t>具体实现由关系数据库管理系统产品决定：一个表对应一个操作系统文件，将物理数据组织交给操作系统完成；或从操作系统那里申请若干个大的文件，自己划分文件空间，组织表、索引等存储结构，并进行存储管理。</a:t>
            </a:r>
          </a:p>
          <a:p>
            <a:endParaRPr lang="zh-CN" altLang="en-US" dirty="0"/>
          </a:p>
        </p:txBody>
      </p:sp>
      <p:sp>
        <p:nvSpPr>
          <p:cNvPr id="4" name="灯片编号占位符 3">
            <a:extLst>
              <a:ext uri="{FF2B5EF4-FFF2-40B4-BE49-F238E27FC236}">
                <a16:creationId xmlns:a16="http://schemas.microsoft.com/office/drawing/2014/main" id="{BA2784B1-EAAA-43B1-845B-82F2015F4478}"/>
              </a:ext>
            </a:extLst>
          </p:cNvPr>
          <p:cNvSpPr>
            <a:spLocks noGrp="1"/>
          </p:cNvSpPr>
          <p:nvPr>
            <p:ph type="sldNum" sz="quarter" idx="12"/>
          </p:nvPr>
        </p:nvSpPr>
        <p:spPr/>
        <p:txBody>
          <a:bodyPr/>
          <a:lstStyle/>
          <a:p>
            <a:fld id="{47C9E101-E51D-431E-84FA-C029B8655B60}" type="slidenum">
              <a:rPr lang="zh-CN" altLang="en-US" smtClean="0"/>
              <a:pPr/>
              <a:t>23</a:t>
            </a:fld>
            <a:endParaRPr lang="zh-CN" altLang="en-US" dirty="0"/>
          </a:p>
        </p:txBody>
      </p:sp>
      <p:sp>
        <p:nvSpPr>
          <p:cNvPr id="5" name="标题 376833">
            <a:extLst>
              <a:ext uri="{FF2B5EF4-FFF2-40B4-BE49-F238E27FC236}">
                <a16:creationId xmlns:a16="http://schemas.microsoft.com/office/drawing/2014/main" id="{945662A8-48FE-4B4C-8858-B7DCF09E229D}"/>
              </a:ext>
            </a:extLst>
          </p:cNvPr>
          <p:cNvSpPr>
            <a:spLocks noGrp="1" noChangeArrowheads="1"/>
          </p:cNvSpPr>
          <p:nvPr>
            <p:ph type="title"/>
          </p:nvPr>
        </p:nvSpPr>
        <p:spPr>
          <a:xfrm>
            <a:off x="1281113" y="238125"/>
            <a:ext cx="9553575" cy="512763"/>
          </a:xfrm>
        </p:spPr>
        <p:txBody>
          <a:bodyPr/>
          <a:lstStyle/>
          <a:p>
            <a:r>
              <a:rPr lang="en-US" altLang="zh-CN" dirty="0"/>
              <a:t>2.1.3  </a:t>
            </a:r>
            <a:r>
              <a:rPr lang="zh-CN" altLang="en-US" dirty="0"/>
              <a:t>关系数据库</a:t>
            </a:r>
          </a:p>
        </p:txBody>
      </p:sp>
      <p:pic>
        <p:nvPicPr>
          <p:cNvPr id="6" name="内容占位符 4">
            <a:extLst>
              <a:ext uri="{FF2B5EF4-FFF2-40B4-BE49-F238E27FC236}">
                <a16:creationId xmlns:a16="http://schemas.microsoft.com/office/drawing/2014/main" id="{66095FA6-0B74-4C62-9A84-692379BD9127}"/>
              </a:ext>
            </a:extLst>
          </p:cNvPr>
          <p:cNvPicPr>
            <a:picLocks/>
          </p:cNvPicPr>
          <p:nvPr/>
        </p:nvPicPr>
        <p:blipFill>
          <a:blip r:embed="rId2"/>
          <a:stretch>
            <a:fillRect/>
          </a:stretch>
        </p:blipFill>
        <p:spPr>
          <a:xfrm>
            <a:off x="2941622" y="2950662"/>
            <a:ext cx="5722589" cy="3172855"/>
          </a:xfrm>
          <a:prstGeom prst="rect">
            <a:avLst/>
          </a:prstGeom>
        </p:spPr>
      </p:pic>
      <p:sp>
        <p:nvSpPr>
          <p:cNvPr id="7" name="文本框 6">
            <a:extLst>
              <a:ext uri="{FF2B5EF4-FFF2-40B4-BE49-F238E27FC236}">
                <a16:creationId xmlns:a16="http://schemas.microsoft.com/office/drawing/2014/main" id="{DF2D3EB6-28DF-4C8D-BD56-941731D38A5E}"/>
              </a:ext>
            </a:extLst>
          </p:cNvPr>
          <p:cNvSpPr txBox="1"/>
          <p:nvPr/>
        </p:nvSpPr>
        <p:spPr>
          <a:xfrm>
            <a:off x="3591159" y="6167776"/>
            <a:ext cx="4495800" cy="338554"/>
          </a:xfrm>
          <a:prstGeom prst="rect">
            <a:avLst/>
          </a:prstGeom>
          <a:noFill/>
        </p:spPr>
        <p:txBody>
          <a:bodyPr wrap="square" rtlCol="0">
            <a:spAutoFit/>
          </a:bodyPr>
          <a:lstStyle/>
          <a:p>
            <a:pPr algn="ctr"/>
            <a:r>
              <a:rPr lang="zh-CN" altLang="en-US" sz="1600" dirty="0"/>
              <a:t>关系数据库系统架构示意图</a:t>
            </a:r>
          </a:p>
        </p:txBody>
      </p:sp>
    </p:spTree>
    <p:extLst>
      <p:ext uri="{BB962C8B-B14F-4D97-AF65-F5344CB8AC3E}">
        <p14:creationId xmlns:p14="http://schemas.microsoft.com/office/powerpoint/2010/main" val="38762632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B64F37F-2F01-4850-A5B6-BBA29BDC03BB}"/>
              </a:ext>
            </a:extLst>
          </p:cNvPr>
          <p:cNvSpPr>
            <a:spLocks noGrp="1"/>
          </p:cNvSpPr>
          <p:nvPr>
            <p:ph type="sldNum" sz="quarter" idx="12"/>
          </p:nvPr>
        </p:nvSpPr>
        <p:spPr/>
        <p:txBody>
          <a:bodyPr/>
          <a:lstStyle/>
          <a:p>
            <a:fld id="{47C9E101-E51D-431E-84FA-C029B8655B60}" type="slidenum">
              <a:rPr lang="zh-CN" altLang="en-US" smtClean="0"/>
              <a:pPr/>
              <a:t>24</a:t>
            </a:fld>
            <a:endParaRPr lang="zh-CN" altLang="en-US" dirty="0"/>
          </a:p>
        </p:txBody>
      </p:sp>
      <p:sp>
        <p:nvSpPr>
          <p:cNvPr id="7" name="文本框 6">
            <a:extLst>
              <a:ext uri="{FF2B5EF4-FFF2-40B4-BE49-F238E27FC236}">
                <a16:creationId xmlns:a16="http://schemas.microsoft.com/office/drawing/2014/main" id="{9C370E34-F059-4683-B69E-3D13F3C0FF29}"/>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同一个关系模型的任意两个元组值</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_______</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8" name="文本框 7">
            <a:extLst>
              <a:ext uri="{FF2B5EF4-FFF2-40B4-BE49-F238E27FC236}">
                <a16:creationId xmlns:a16="http://schemas.microsoft.com/office/drawing/2014/main" id="{7EA8F64C-4337-4861-AF01-2B071A144BC4}"/>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不能全同</a:t>
            </a:r>
          </a:p>
        </p:txBody>
      </p:sp>
      <p:sp>
        <p:nvSpPr>
          <p:cNvPr id="9" name="文本框 8">
            <a:extLst>
              <a:ext uri="{FF2B5EF4-FFF2-40B4-BE49-F238E27FC236}">
                <a16:creationId xmlns:a16="http://schemas.microsoft.com/office/drawing/2014/main" id="{A542DE7B-EBE6-47DC-84F2-CA8342A3117E}"/>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可全同</a:t>
            </a:r>
          </a:p>
        </p:txBody>
      </p:sp>
      <p:sp>
        <p:nvSpPr>
          <p:cNvPr id="10" name="文本框 9">
            <a:extLst>
              <a:ext uri="{FF2B5EF4-FFF2-40B4-BE49-F238E27FC236}">
                <a16:creationId xmlns:a16="http://schemas.microsoft.com/office/drawing/2014/main" id="{005C67DB-C030-4ACD-BA7C-F84D6CE78B51}"/>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必须全同</a:t>
            </a:r>
          </a:p>
        </p:txBody>
      </p:sp>
      <p:sp>
        <p:nvSpPr>
          <p:cNvPr id="11" name="文本框 10">
            <a:extLst>
              <a:ext uri="{FF2B5EF4-FFF2-40B4-BE49-F238E27FC236}">
                <a16:creationId xmlns:a16="http://schemas.microsoft.com/office/drawing/2014/main" id="{1BA18445-0AFB-41DB-82AB-917A7F0C9674}"/>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以上都不是</a:t>
            </a:r>
          </a:p>
        </p:txBody>
      </p:sp>
      <p:sp>
        <p:nvSpPr>
          <p:cNvPr id="12" name="椭圆 11">
            <a:extLst>
              <a:ext uri="{FF2B5EF4-FFF2-40B4-BE49-F238E27FC236}">
                <a16:creationId xmlns:a16="http://schemas.microsoft.com/office/drawing/2014/main" id="{F0FD84D5-3EC9-41F6-8F15-3E088242E1D5}"/>
              </a:ext>
            </a:extLst>
          </p:cNvPr>
          <p:cNvSpPr>
            <a:spLocks noChangeAspect="1"/>
          </p:cNvSpPr>
          <p:nvPr>
            <p:custDataLst>
              <p:tags r:id="rId7"/>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131D5442-4B88-4369-B28A-BB32676E5FB5}"/>
              </a:ext>
            </a:extLst>
          </p:cNvPr>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E2B71905-0669-4EBC-B7E2-CC5E1492AB4B}"/>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FC982A71-F3D3-453A-A69C-7E2F01DEA137}"/>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矩形: 圆角 15">
            <a:extLst>
              <a:ext uri="{FF2B5EF4-FFF2-40B4-BE49-F238E27FC236}">
                <a16:creationId xmlns:a16="http://schemas.microsoft.com/office/drawing/2014/main" id="{0F8A61AF-F68D-4C92-8AD5-84BFAFBE91C1}"/>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a:extLst>
              <a:ext uri="{FF2B5EF4-FFF2-40B4-BE49-F238E27FC236}">
                <a16:creationId xmlns:a16="http://schemas.microsoft.com/office/drawing/2014/main" id="{88ED82CB-E0CC-4E57-9542-B2299E1E0E02}"/>
              </a:ext>
            </a:extLst>
          </p:cNvPr>
          <p:cNvGrpSpPr/>
          <p:nvPr>
            <p:custDataLst>
              <p:tags r:id="rId12"/>
            </p:custDataLst>
          </p:nvPr>
        </p:nvGrpSpPr>
        <p:grpSpPr>
          <a:xfrm>
            <a:off x="0" y="0"/>
            <a:ext cx="12192000" cy="635000"/>
            <a:chOff x="0" y="0"/>
            <a:chExt cx="12192000" cy="635000"/>
          </a:xfrm>
        </p:grpSpPr>
        <p:sp>
          <p:nvSpPr>
            <p:cNvPr id="17" name="TitleBackground">
              <a:extLst>
                <a:ext uri="{FF2B5EF4-FFF2-40B4-BE49-F238E27FC236}">
                  <a16:creationId xmlns:a16="http://schemas.microsoft.com/office/drawing/2014/main" id="{44DF1103-B447-44BB-A00A-A967822E6DCA}"/>
                </a:ext>
              </a:extLst>
            </p:cNvPr>
            <p:cNvSpPr/>
            <p:nvPr>
              <p:custDataLst>
                <p:tags r:id="rId14"/>
              </p:custDataLst>
            </p:nvPr>
          </p:nvSpPr>
          <p:spPr>
            <a:xfrm>
              <a:off x="0" y="0"/>
              <a:ext cx="12192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a:extLst>
                <a:ext uri="{FF2B5EF4-FFF2-40B4-BE49-F238E27FC236}">
                  <a16:creationId xmlns:a16="http://schemas.microsoft.com/office/drawing/2014/main" id="{38F8D868-A378-4240-9ED8-BCA352866C8A}"/>
                </a:ext>
              </a:extLst>
            </p:cNvPr>
            <p:cNvSpPr/>
            <p:nvPr>
              <p:custDataLst>
                <p:tags r:id="rId15"/>
              </p:custDataLst>
            </p:nvPr>
          </p:nvSpPr>
          <p:spPr>
            <a:xfrm>
              <a:off x="0" y="0"/>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a:extLst>
                <a:ext uri="{FF2B5EF4-FFF2-40B4-BE49-F238E27FC236}">
                  <a16:creationId xmlns:a16="http://schemas.microsoft.com/office/drawing/2014/main" id="{535B6DA7-2DA0-43D3-83DE-F9A6F6C7975E}"/>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0" name="TipText">
              <a:extLst>
                <a:ext uri="{FF2B5EF4-FFF2-40B4-BE49-F238E27FC236}">
                  <a16:creationId xmlns:a16="http://schemas.microsoft.com/office/drawing/2014/main" id="{FD01A389-B220-4367-A23D-B5E6A749F7F5}"/>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6" name="图片 5">
            <a:extLst>
              <a:ext uri="{FF2B5EF4-FFF2-40B4-BE49-F238E27FC236}">
                <a16:creationId xmlns:a16="http://schemas.microsoft.com/office/drawing/2014/main" id="{D2A69FB9-B9FE-4E43-A6FB-914A01276690}"/>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520498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3DDA3C9-3BA8-4339-B33D-3A9E609C30D9}"/>
              </a:ext>
            </a:extLst>
          </p:cNvPr>
          <p:cNvSpPr>
            <a:spLocks noGrp="1"/>
          </p:cNvSpPr>
          <p:nvPr>
            <p:ph type="sldNum" sz="quarter" idx="12"/>
          </p:nvPr>
        </p:nvSpPr>
        <p:spPr/>
        <p:txBody>
          <a:bodyPr/>
          <a:lstStyle/>
          <a:p>
            <a:fld id="{47C9E101-E51D-431E-84FA-C029B8655B60}" type="slidenum">
              <a:rPr lang="zh-CN" altLang="en-US" smtClean="0"/>
              <a:t>25</a:t>
            </a:fld>
            <a:endParaRPr lang="zh-CN" altLang="en-US"/>
          </a:p>
        </p:txBody>
      </p:sp>
      <p:sp>
        <p:nvSpPr>
          <p:cNvPr id="5" name="文本框 4">
            <a:extLst>
              <a:ext uri="{FF2B5EF4-FFF2-40B4-BE49-F238E27FC236}">
                <a16:creationId xmlns:a16="http://schemas.microsoft.com/office/drawing/2014/main" id="{0DADA79E-9D73-4DB4-9AEE-59B68A59C54D}"/>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以下说法正确的是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_______</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6" name="文本框 5">
            <a:extLst>
              <a:ext uri="{FF2B5EF4-FFF2-40B4-BE49-F238E27FC236}">
                <a16:creationId xmlns:a16="http://schemas.microsoft.com/office/drawing/2014/main" id="{9B83E87D-4FC6-4598-BAF4-E9286A501E1A}"/>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能唯一标识关系中每个元组的属性组为候选码</a:t>
            </a:r>
          </a:p>
        </p:txBody>
      </p:sp>
      <p:sp>
        <p:nvSpPr>
          <p:cNvPr id="7" name="文本框 6">
            <a:extLst>
              <a:ext uri="{FF2B5EF4-FFF2-40B4-BE49-F238E27FC236}">
                <a16:creationId xmlns:a16="http://schemas.microsoft.com/office/drawing/2014/main" id="{13E8A56C-AAC7-4191-AEAA-4DC8ACA4F3B2}"/>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在一个关系中如果有这样一个属性，它的值能惟一地标识关系中的每一个元组，这个属性为主属性</a:t>
            </a:r>
          </a:p>
        </p:txBody>
      </p:sp>
      <p:sp>
        <p:nvSpPr>
          <p:cNvPr id="8" name="文本框 7">
            <a:extLst>
              <a:ext uri="{FF2B5EF4-FFF2-40B4-BE49-F238E27FC236}">
                <a16:creationId xmlns:a16="http://schemas.microsoft.com/office/drawing/2014/main" id="{2F968BC6-FC32-4DAE-9970-B6FC770E90FD}"/>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主属性能够唯一标识元组</a:t>
            </a:r>
          </a:p>
        </p:txBody>
      </p:sp>
      <p:sp>
        <p:nvSpPr>
          <p:cNvPr id="9" name="文本框 8">
            <a:extLst>
              <a:ext uri="{FF2B5EF4-FFF2-40B4-BE49-F238E27FC236}">
                <a16:creationId xmlns:a16="http://schemas.microsoft.com/office/drawing/2014/main" id="{FBB7A094-4351-4F7B-BAFF-C2C30522E0EA}"/>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一个关系中可以有多个主码</a:t>
            </a:r>
          </a:p>
        </p:txBody>
      </p:sp>
      <p:sp>
        <p:nvSpPr>
          <p:cNvPr id="10" name="椭圆 9">
            <a:extLst>
              <a:ext uri="{FF2B5EF4-FFF2-40B4-BE49-F238E27FC236}">
                <a16:creationId xmlns:a16="http://schemas.microsoft.com/office/drawing/2014/main" id="{F7A87D61-7269-47AD-8D9C-241C000259FA}"/>
              </a:ext>
            </a:extLst>
          </p:cNvPr>
          <p:cNvSpPr>
            <a:spLocks noChangeAspect="1"/>
          </p:cNvSpPr>
          <p:nvPr>
            <p:custDataLst>
              <p:tags r:id="rId7"/>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8CC14DFF-7130-45F9-9B8D-29DCE1F76A94}"/>
              </a:ext>
            </a:extLst>
          </p:cNvPr>
          <p:cNvSpPr>
            <a:spLocks noChangeAspect="1"/>
          </p:cNvSpPr>
          <p:nvPr>
            <p:custDataLst>
              <p:tags r:id="rId8"/>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419C1E1F-D1BE-403B-9EA5-CD662D694C15}"/>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F768C2B6-38A0-4175-B42F-622C349C6700}"/>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0D29448F-8815-4893-9C41-0025246146B7}"/>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a:extLst>
              <a:ext uri="{FF2B5EF4-FFF2-40B4-BE49-F238E27FC236}">
                <a16:creationId xmlns:a16="http://schemas.microsoft.com/office/drawing/2014/main" id="{D5CA3CF1-F050-41C7-8A11-D36B805653F3}"/>
              </a:ext>
            </a:extLst>
          </p:cNvPr>
          <p:cNvGrpSpPr/>
          <p:nvPr>
            <p:custDataLst>
              <p:tags r:id="rId12"/>
            </p:custDataLst>
          </p:nvPr>
        </p:nvGrpSpPr>
        <p:grpSpPr>
          <a:xfrm>
            <a:off x="0" y="0"/>
            <a:ext cx="12192000" cy="635000"/>
            <a:chOff x="0" y="0"/>
            <a:chExt cx="12192000" cy="635000"/>
          </a:xfrm>
        </p:grpSpPr>
        <p:sp>
          <p:nvSpPr>
            <p:cNvPr id="15" name="TitleBackground">
              <a:extLst>
                <a:ext uri="{FF2B5EF4-FFF2-40B4-BE49-F238E27FC236}">
                  <a16:creationId xmlns:a16="http://schemas.microsoft.com/office/drawing/2014/main" id="{6ABA9383-6843-4560-9775-EDDEDBBE08F1}"/>
                </a:ext>
              </a:extLst>
            </p:cNvPr>
            <p:cNvSpPr/>
            <p:nvPr>
              <p:custDataLst>
                <p:tags r:id="rId14"/>
              </p:custDataLst>
            </p:nvPr>
          </p:nvSpPr>
          <p:spPr>
            <a:xfrm>
              <a:off x="0" y="0"/>
              <a:ext cx="12192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a:extLst>
                <a:ext uri="{FF2B5EF4-FFF2-40B4-BE49-F238E27FC236}">
                  <a16:creationId xmlns:a16="http://schemas.microsoft.com/office/drawing/2014/main" id="{A13ABBA0-1FA4-43F5-A032-059DDBE90378}"/>
                </a:ext>
              </a:extLst>
            </p:cNvPr>
            <p:cNvSpPr/>
            <p:nvPr>
              <p:custDataLst>
                <p:tags r:id="rId15"/>
              </p:custDataLst>
            </p:nvPr>
          </p:nvSpPr>
          <p:spPr>
            <a:xfrm>
              <a:off x="0" y="0"/>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a:extLst>
                <a:ext uri="{FF2B5EF4-FFF2-40B4-BE49-F238E27FC236}">
                  <a16:creationId xmlns:a16="http://schemas.microsoft.com/office/drawing/2014/main" id="{09451EED-4F28-4A4E-8891-91D93B4E5481}"/>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8" name="TipText">
              <a:extLst>
                <a:ext uri="{FF2B5EF4-FFF2-40B4-BE49-F238E27FC236}">
                  <a16:creationId xmlns:a16="http://schemas.microsoft.com/office/drawing/2014/main" id="{9F57E1B5-209F-4B07-BEC2-CC705C8927C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FBFF3CE2-A405-4145-8A47-D3887B50A6F0}"/>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537455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6C6D086-665F-4940-B60C-EE31EED28026}"/>
              </a:ext>
            </a:extLst>
          </p:cNvPr>
          <p:cNvSpPr>
            <a:spLocks noGrp="1"/>
          </p:cNvSpPr>
          <p:nvPr>
            <p:ph type="sldNum" sz="quarter" idx="12"/>
          </p:nvPr>
        </p:nvSpPr>
        <p:spPr/>
        <p:txBody>
          <a:bodyPr/>
          <a:lstStyle/>
          <a:p>
            <a:fld id="{47C9E101-E51D-431E-84FA-C029B8655B60}" type="slidenum">
              <a:rPr lang="zh-CN" altLang="en-US" smtClean="0"/>
              <a:t>26</a:t>
            </a:fld>
            <a:endParaRPr lang="zh-CN" altLang="en-US"/>
          </a:p>
        </p:txBody>
      </p:sp>
      <p:sp>
        <p:nvSpPr>
          <p:cNvPr id="5" name="文本框 4">
            <a:extLst>
              <a:ext uri="{FF2B5EF4-FFF2-40B4-BE49-F238E27FC236}">
                <a16:creationId xmlns:a16="http://schemas.microsoft.com/office/drawing/2014/main" id="{BDCB0F2E-5B18-4D7A-A429-6DFCFFCAC451}"/>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一个关系数据库文件中的各条记录</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_______</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6" name="文本框 5">
            <a:extLst>
              <a:ext uri="{FF2B5EF4-FFF2-40B4-BE49-F238E27FC236}">
                <a16:creationId xmlns:a16="http://schemas.microsoft.com/office/drawing/2014/main" id="{1321EB7E-027A-42F7-9167-C6B3DD8F409B}"/>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前后顺序不能任意颠倒，一定要按照输人的顺序排列</a:t>
            </a:r>
          </a:p>
        </p:txBody>
      </p:sp>
      <p:sp>
        <p:nvSpPr>
          <p:cNvPr id="7" name="文本框 6">
            <a:extLst>
              <a:ext uri="{FF2B5EF4-FFF2-40B4-BE49-F238E27FC236}">
                <a16:creationId xmlns:a16="http://schemas.microsoft.com/office/drawing/2014/main" id="{ABF388B1-AAB9-42DB-8CC1-8AFAE0036920}"/>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前后顺序可以任意颠倒，不影响库中的数据关系</a:t>
            </a:r>
          </a:p>
        </p:txBody>
      </p:sp>
      <p:sp>
        <p:nvSpPr>
          <p:cNvPr id="8" name="文本框 7">
            <a:extLst>
              <a:ext uri="{FF2B5EF4-FFF2-40B4-BE49-F238E27FC236}">
                <a16:creationId xmlns:a16="http://schemas.microsoft.com/office/drawing/2014/main" id="{3B61D17C-5E18-45E1-B7E6-C9EA76968234}"/>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前后顺序可以任意颠倒，但排列顺序不同，统计处理的结果就可能不同</a:t>
            </a:r>
          </a:p>
        </p:txBody>
      </p:sp>
      <p:sp>
        <p:nvSpPr>
          <p:cNvPr id="9" name="文本框 8">
            <a:extLst>
              <a:ext uri="{FF2B5EF4-FFF2-40B4-BE49-F238E27FC236}">
                <a16:creationId xmlns:a16="http://schemas.microsoft.com/office/drawing/2014/main" id="{CE43E565-9B6D-42E7-A3A6-C64F96B5EC6A}"/>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前后顺序不能任意颠倒，一定要按照候选码字段值的顺序排列</a:t>
            </a:r>
          </a:p>
        </p:txBody>
      </p:sp>
      <p:sp>
        <p:nvSpPr>
          <p:cNvPr id="10" name="椭圆 9">
            <a:extLst>
              <a:ext uri="{FF2B5EF4-FFF2-40B4-BE49-F238E27FC236}">
                <a16:creationId xmlns:a16="http://schemas.microsoft.com/office/drawing/2014/main" id="{8FC20C57-FAAB-4B48-A54A-8E3EE76519DB}"/>
              </a:ext>
            </a:extLst>
          </p:cNvPr>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7DB3AFEC-F888-43B1-8A88-02CA66BCFE73}"/>
              </a:ext>
            </a:extLst>
          </p:cNvPr>
          <p:cNvSpPr>
            <a:spLocks noChangeAspect="1"/>
          </p:cNvSpPr>
          <p:nvPr>
            <p:custDataLst>
              <p:tags r:id="rId8"/>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0B5266CF-B553-40C8-93DF-EB0E0DF4A7E5}"/>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5367F737-1194-4D9A-86B2-3E89D3908131}"/>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F1F61029-EFD5-410B-A478-E844BE0C9969}"/>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a:extLst>
              <a:ext uri="{FF2B5EF4-FFF2-40B4-BE49-F238E27FC236}">
                <a16:creationId xmlns:a16="http://schemas.microsoft.com/office/drawing/2014/main" id="{A97D8721-B6F7-4CA6-85CF-0F370690D1AC}"/>
              </a:ext>
            </a:extLst>
          </p:cNvPr>
          <p:cNvGrpSpPr/>
          <p:nvPr>
            <p:custDataLst>
              <p:tags r:id="rId12"/>
            </p:custDataLst>
          </p:nvPr>
        </p:nvGrpSpPr>
        <p:grpSpPr>
          <a:xfrm>
            <a:off x="0" y="0"/>
            <a:ext cx="12192000" cy="635000"/>
            <a:chOff x="0" y="0"/>
            <a:chExt cx="12192000" cy="635000"/>
          </a:xfrm>
        </p:grpSpPr>
        <p:sp>
          <p:nvSpPr>
            <p:cNvPr id="15" name="TitleBackground">
              <a:extLst>
                <a:ext uri="{FF2B5EF4-FFF2-40B4-BE49-F238E27FC236}">
                  <a16:creationId xmlns:a16="http://schemas.microsoft.com/office/drawing/2014/main" id="{2F041D83-C285-4BE9-9C89-ABB141EA0809}"/>
                </a:ext>
              </a:extLst>
            </p:cNvPr>
            <p:cNvSpPr/>
            <p:nvPr>
              <p:custDataLst>
                <p:tags r:id="rId14"/>
              </p:custDataLst>
            </p:nvPr>
          </p:nvSpPr>
          <p:spPr>
            <a:xfrm>
              <a:off x="0" y="0"/>
              <a:ext cx="12192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a:extLst>
                <a:ext uri="{FF2B5EF4-FFF2-40B4-BE49-F238E27FC236}">
                  <a16:creationId xmlns:a16="http://schemas.microsoft.com/office/drawing/2014/main" id="{E2F359D9-7FA7-4235-9358-0BAE81CB9FF3}"/>
                </a:ext>
              </a:extLst>
            </p:cNvPr>
            <p:cNvSpPr/>
            <p:nvPr>
              <p:custDataLst>
                <p:tags r:id="rId15"/>
              </p:custDataLst>
            </p:nvPr>
          </p:nvSpPr>
          <p:spPr>
            <a:xfrm>
              <a:off x="0" y="0"/>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a:extLst>
                <a:ext uri="{FF2B5EF4-FFF2-40B4-BE49-F238E27FC236}">
                  <a16:creationId xmlns:a16="http://schemas.microsoft.com/office/drawing/2014/main" id="{5AAD0434-CB61-4875-9FC3-CB1299F530C3}"/>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8" name="TipText">
              <a:extLst>
                <a:ext uri="{FF2B5EF4-FFF2-40B4-BE49-F238E27FC236}">
                  <a16:creationId xmlns:a16="http://schemas.microsoft.com/office/drawing/2014/main" id="{E966A920-9813-4B3F-952F-0AEB9388C8B7}"/>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D0439425-6DA0-4FA9-8AD1-6FF28F9FD5F4}"/>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2415515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3AFFEFC-E3E9-402A-86A9-300BE5558C64}"/>
              </a:ext>
            </a:extLst>
          </p:cNvPr>
          <p:cNvSpPr>
            <a:spLocks noGrp="1" noChangeArrowheads="1"/>
          </p:cNvSpPr>
          <p:nvPr>
            <p:ph type="title"/>
          </p:nvPr>
        </p:nvSpPr>
        <p:spPr/>
        <p:txBody>
          <a:bodyPr/>
          <a:lstStyle/>
          <a:p>
            <a:r>
              <a:rPr lang="en-US" altLang="zh-CN"/>
              <a:t>2.2. </a:t>
            </a:r>
            <a:r>
              <a:rPr lang="zh-CN" altLang="en-US"/>
              <a:t>关系操作</a:t>
            </a:r>
          </a:p>
        </p:txBody>
      </p:sp>
      <p:sp>
        <p:nvSpPr>
          <p:cNvPr id="36867" name="Rectangle 3">
            <a:extLst>
              <a:ext uri="{FF2B5EF4-FFF2-40B4-BE49-F238E27FC236}">
                <a16:creationId xmlns:a16="http://schemas.microsoft.com/office/drawing/2014/main" id="{1EC5B72C-2E47-4CE5-8EB8-AEE56A388E55}"/>
              </a:ext>
            </a:extLst>
          </p:cNvPr>
          <p:cNvSpPr>
            <a:spLocks noGrp="1" noChangeArrowheads="1"/>
          </p:cNvSpPr>
          <p:nvPr>
            <p:ph idx="1"/>
          </p:nvPr>
        </p:nvSpPr>
        <p:spPr/>
        <p:txBody>
          <a:bodyPr/>
          <a:lstStyle/>
          <a:p>
            <a:r>
              <a:rPr lang="en-US" altLang="zh-CN" dirty="0"/>
              <a:t>2.2.1 </a:t>
            </a:r>
            <a:r>
              <a:rPr lang="zh-CN" altLang="en-US" dirty="0"/>
              <a:t>基本的关系操作</a:t>
            </a:r>
          </a:p>
          <a:p>
            <a:r>
              <a:rPr lang="en-US" altLang="zh-CN" dirty="0"/>
              <a:t>2.2.2 </a:t>
            </a:r>
            <a:r>
              <a:rPr lang="zh-CN" altLang="en-US" dirty="0"/>
              <a:t>关系数据语言的分类</a:t>
            </a:r>
            <a:endParaRPr lang="en-US" altLang="zh-CN" dirty="0"/>
          </a:p>
        </p:txBody>
      </p:sp>
      <p:sp>
        <p:nvSpPr>
          <p:cNvPr id="4" name="灯片编号占位符 3">
            <a:extLst>
              <a:ext uri="{FF2B5EF4-FFF2-40B4-BE49-F238E27FC236}">
                <a16:creationId xmlns:a16="http://schemas.microsoft.com/office/drawing/2014/main" id="{D72AB92C-7C1B-4B4B-BA81-C4626511E291}"/>
              </a:ext>
            </a:extLst>
          </p:cNvPr>
          <p:cNvSpPr>
            <a:spLocks noGrp="1"/>
          </p:cNvSpPr>
          <p:nvPr>
            <p:ph type="sldNum" sz="quarter" idx="12"/>
          </p:nvPr>
        </p:nvSpPr>
        <p:spPr/>
        <p:txBody>
          <a:bodyPr/>
          <a:lstStyle/>
          <a:p>
            <a:fld id="{47C9E101-E51D-431E-84FA-C029B8655B60}" type="slidenum">
              <a:rPr lang="zh-CN" altLang="en-US" smtClean="0"/>
              <a:pPr/>
              <a:t>27</a:t>
            </a:fld>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226305">
            <a:extLst>
              <a:ext uri="{FF2B5EF4-FFF2-40B4-BE49-F238E27FC236}">
                <a16:creationId xmlns:a16="http://schemas.microsoft.com/office/drawing/2014/main" id="{BE65A814-A77E-404F-B9DE-CF7F4FB7CAB3}"/>
              </a:ext>
            </a:extLst>
          </p:cNvPr>
          <p:cNvSpPr>
            <a:spLocks noGrp="1" noChangeArrowheads="1"/>
          </p:cNvSpPr>
          <p:nvPr>
            <p:ph type="title"/>
          </p:nvPr>
        </p:nvSpPr>
        <p:spPr/>
        <p:txBody>
          <a:bodyPr/>
          <a:lstStyle/>
          <a:p>
            <a:r>
              <a:rPr lang="en-US" altLang="zh-CN" dirty="0"/>
              <a:t>2.2.1 </a:t>
            </a:r>
            <a:r>
              <a:rPr lang="zh-CN" altLang="en-US" dirty="0"/>
              <a:t>基本的关系操作</a:t>
            </a:r>
          </a:p>
        </p:txBody>
      </p:sp>
      <p:sp>
        <p:nvSpPr>
          <p:cNvPr id="49155" name="文本占位符 226306">
            <a:extLst>
              <a:ext uri="{FF2B5EF4-FFF2-40B4-BE49-F238E27FC236}">
                <a16:creationId xmlns:a16="http://schemas.microsoft.com/office/drawing/2014/main" id="{C2520DD3-AF9C-480B-AD22-18F260B6D22B}"/>
              </a:ext>
            </a:extLst>
          </p:cNvPr>
          <p:cNvSpPr>
            <a:spLocks noGrp="1" noChangeArrowheads="1"/>
          </p:cNvSpPr>
          <p:nvPr>
            <p:ph idx="1"/>
          </p:nvPr>
        </p:nvSpPr>
        <p:spPr/>
        <p:txBody>
          <a:bodyPr/>
          <a:lstStyle/>
          <a:p>
            <a:r>
              <a:rPr lang="en-US" altLang="zh-CN" dirty="0"/>
              <a:t> </a:t>
            </a:r>
            <a:r>
              <a:rPr lang="zh-CN" altLang="en-US" dirty="0"/>
              <a:t>常用的关系操作</a:t>
            </a:r>
          </a:p>
          <a:p>
            <a:pPr lvl="1"/>
            <a:r>
              <a:rPr lang="zh-CN" altLang="en-US" dirty="0">
                <a:solidFill>
                  <a:srgbClr val="C00000"/>
                </a:solidFill>
              </a:rPr>
              <a:t>查询</a:t>
            </a:r>
            <a:r>
              <a:rPr lang="zh-CN" altLang="en-US" dirty="0"/>
              <a:t>：选择、投影、连接、除、并、交、差、笛卡尔积</a:t>
            </a:r>
          </a:p>
          <a:p>
            <a:pPr lvl="2"/>
            <a:r>
              <a:rPr lang="zh-CN" altLang="en-US" dirty="0">
                <a:solidFill>
                  <a:srgbClr val="C00000"/>
                </a:solidFill>
              </a:rPr>
              <a:t>选择、投影、并、差、笛卡尔积</a:t>
            </a:r>
            <a:r>
              <a:rPr lang="zh-CN" altLang="en-US" dirty="0"/>
              <a:t>是</a:t>
            </a:r>
            <a:r>
              <a:rPr lang="en-US" altLang="zh-CN" dirty="0"/>
              <a:t>5</a:t>
            </a:r>
            <a:r>
              <a:rPr lang="zh-CN" altLang="en-US" dirty="0"/>
              <a:t>种基本操作，其他操作可以用基本操作来定义和导出。</a:t>
            </a:r>
          </a:p>
          <a:p>
            <a:pPr lvl="2"/>
            <a:r>
              <a:rPr lang="zh-CN" altLang="en-US" dirty="0"/>
              <a:t>查询的表达能力是其中最主要的部分</a:t>
            </a:r>
          </a:p>
          <a:p>
            <a:pPr lvl="1"/>
            <a:r>
              <a:rPr lang="zh-CN" altLang="en-US" dirty="0">
                <a:solidFill>
                  <a:srgbClr val="C00000"/>
                </a:solidFill>
              </a:rPr>
              <a:t>数据更新</a:t>
            </a:r>
            <a:r>
              <a:rPr lang="zh-CN" altLang="en-US" dirty="0"/>
              <a:t>：插入、删除、修改</a:t>
            </a:r>
          </a:p>
          <a:p>
            <a:pPr lvl="1"/>
            <a:endParaRPr lang="en-US" altLang="zh-CN" dirty="0"/>
          </a:p>
          <a:p>
            <a:r>
              <a:rPr lang="zh-CN" altLang="en-US" dirty="0"/>
              <a:t>关系操作的特点</a:t>
            </a:r>
          </a:p>
          <a:p>
            <a:pPr lvl="1"/>
            <a:r>
              <a:rPr lang="zh-CN" altLang="en-US" dirty="0"/>
              <a:t>集合操作方式：操作的对象和结果都是</a:t>
            </a:r>
            <a:r>
              <a:rPr lang="zh-CN" altLang="en-US" dirty="0">
                <a:solidFill>
                  <a:srgbClr val="C00000"/>
                </a:solidFill>
              </a:rPr>
              <a:t>集合</a:t>
            </a:r>
            <a:r>
              <a:rPr lang="zh-CN" altLang="en-US" dirty="0"/>
              <a:t>，</a:t>
            </a:r>
            <a:r>
              <a:rPr lang="zh-CN" altLang="en-US" dirty="0">
                <a:solidFill>
                  <a:srgbClr val="C00000"/>
                </a:solidFill>
              </a:rPr>
              <a:t>一次一集合</a:t>
            </a:r>
            <a:r>
              <a:rPr lang="zh-CN" altLang="en-US" dirty="0"/>
              <a:t>的方式</a:t>
            </a:r>
          </a:p>
        </p:txBody>
      </p:sp>
      <p:sp>
        <p:nvSpPr>
          <p:cNvPr id="2" name="灯片编号占位符 1">
            <a:extLst>
              <a:ext uri="{FF2B5EF4-FFF2-40B4-BE49-F238E27FC236}">
                <a16:creationId xmlns:a16="http://schemas.microsoft.com/office/drawing/2014/main" id="{A8E38BC0-D267-41D1-8649-38DE1BE0DE5D}"/>
              </a:ext>
            </a:extLst>
          </p:cNvPr>
          <p:cNvSpPr>
            <a:spLocks noGrp="1"/>
          </p:cNvSpPr>
          <p:nvPr>
            <p:ph type="sldNum" sz="quarter" idx="12"/>
          </p:nvPr>
        </p:nvSpPr>
        <p:spPr/>
        <p:txBody>
          <a:bodyPr/>
          <a:lstStyle/>
          <a:p>
            <a:fld id="{47C9E101-E51D-431E-84FA-C029B8655B60}" type="slidenum">
              <a:rPr lang="zh-CN" altLang="en-US" smtClean="0"/>
              <a:pPr/>
              <a:t>28</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15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219137">
            <a:extLst>
              <a:ext uri="{FF2B5EF4-FFF2-40B4-BE49-F238E27FC236}">
                <a16:creationId xmlns:a16="http://schemas.microsoft.com/office/drawing/2014/main" id="{4BC4F2A5-C64C-49F5-95C5-5D39270B526B}"/>
              </a:ext>
            </a:extLst>
          </p:cNvPr>
          <p:cNvSpPr>
            <a:spLocks noGrp="1" noChangeArrowheads="1"/>
          </p:cNvSpPr>
          <p:nvPr>
            <p:ph type="title"/>
          </p:nvPr>
        </p:nvSpPr>
        <p:spPr/>
        <p:txBody>
          <a:bodyPr/>
          <a:lstStyle/>
          <a:p>
            <a:r>
              <a:rPr lang="en-US" altLang="zh-CN"/>
              <a:t>2.2.2 </a:t>
            </a:r>
            <a:r>
              <a:rPr lang="zh-CN" altLang="en-US"/>
              <a:t>关系数据库语言的分类</a:t>
            </a:r>
          </a:p>
        </p:txBody>
      </p:sp>
      <p:sp>
        <p:nvSpPr>
          <p:cNvPr id="50179" name="文本占位符 219138">
            <a:extLst>
              <a:ext uri="{FF2B5EF4-FFF2-40B4-BE49-F238E27FC236}">
                <a16:creationId xmlns:a16="http://schemas.microsoft.com/office/drawing/2014/main" id="{B0C34383-310E-4961-AA99-C3C9F0B1BA55}"/>
              </a:ext>
            </a:extLst>
          </p:cNvPr>
          <p:cNvSpPr>
            <a:spLocks noGrp="1" noChangeArrowheads="1"/>
          </p:cNvSpPr>
          <p:nvPr>
            <p:ph idx="1"/>
          </p:nvPr>
        </p:nvSpPr>
        <p:spPr/>
        <p:txBody>
          <a:bodyPr>
            <a:normAutofit fontScale="85000" lnSpcReduction="20000"/>
          </a:bodyPr>
          <a:lstStyle/>
          <a:p>
            <a:r>
              <a:rPr lang="en-US" altLang="zh-CN" dirty="0"/>
              <a:t> </a:t>
            </a:r>
            <a:r>
              <a:rPr lang="zh-CN" altLang="en-US" dirty="0"/>
              <a:t>关系代数语言</a:t>
            </a:r>
          </a:p>
          <a:p>
            <a:pPr lvl="1"/>
            <a:r>
              <a:rPr lang="zh-CN" altLang="en-US" dirty="0"/>
              <a:t>用对</a:t>
            </a:r>
            <a:r>
              <a:rPr lang="zh-CN" altLang="en-US" dirty="0">
                <a:solidFill>
                  <a:srgbClr val="C00000"/>
                </a:solidFill>
              </a:rPr>
              <a:t>关系的运算</a:t>
            </a:r>
            <a:r>
              <a:rPr lang="zh-CN" altLang="en-US" dirty="0"/>
              <a:t>来表达查询要求</a:t>
            </a:r>
            <a:endParaRPr lang="en-US" altLang="zh-CN" dirty="0"/>
          </a:p>
          <a:p>
            <a:pPr lvl="2"/>
            <a:r>
              <a:rPr lang="el-GR" altLang="zh-CN" dirty="0">
                <a:solidFill>
                  <a:srgbClr val="000000"/>
                </a:solidFill>
              </a:rPr>
              <a:t>π</a:t>
            </a:r>
            <a:r>
              <a:rPr lang="en-US" altLang="zh-CN" baseline="-25000" dirty="0">
                <a:solidFill>
                  <a:srgbClr val="000000"/>
                </a:solidFill>
              </a:rPr>
              <a:t>S#,C#</a:t>
            </a:r>
            <a:r>
              <a:rPr lang="en-US" altLang="zh-CN" dirty="0">
                <a:solidFill>
                  <a:srgbClr val="000000"/>
                </a:solidFill>
              </a:rPr>
              <a:t>(SC) ÷ </a:t>
            </a:r>
            <a:r>
              <a:rPr lang="el-GR" altLang="zh-CN" dirty="0">
                <a:solidFill>
                  <a:srgbClr val="000000"/>
                </a:solidFill>
              </a:rPr>
              <a:t>π</a:t>
            </a:r>
            <a:r>
              <a:rPr lang="en-US" altLang="zh-CN" baseline="-25000" dirty="0">
                <a:solidFill>
                  <a:srgbClr val="000000"/>
                </a:solidFill>
              </a:rPr>
              <a:t>C#</a:t>
            </a:r>
            <a:r>
              <a:rPr lang="en-US" altLang="zh-CN" dirty="0">
                <a:solidFill>
                  <a:srgbClr val="000000"/>
                </a:solidFill>
              </a:rPr>
              <a:t>(C)</a:t>
            </a:r>
            <a:endParaRPr lang="el-GR" altLang="zh-CN" dirty="0">
              <a:solidFill>
                <a:srgbClr val="000000"/>
              </a:solidFill>
            </a:endParaRPr>
          </a:p>
          <a:p>
            <a:pPr lvl="1"/>
            <a:r>
              <a:rPr lang="zh-CN" altLang="en-US" dirty="0"/>
              <a:t>代表：</a:t>
            </a:r>
            <a:r>
              <a:rPr lang="en-US" altLang="zh-CN" dirty="0"/>
              <a:t>ISBL</a:t>
            </a:r>
          </a:p>
          <a:p>
            <a:endParaRPr lang="en-US" altLang="zh-CN" dirty="0"/>
          </a:p>
          <a:p>
            <a:r>
              <a:rPr lang="zh-CN" altLang="en-US" dirty="0"/>
              <a:t>关系演算语言：用</a:t>
            </a:r>
            <a:r>
              <a:rPr lang="zh-CN" altLang="en-US" dirty="0">
                <a:solidFill>
                  <a:srgbClr val="C00000"/>
                </a:solidFill>
              </a:rPr>
              <a:t>谓词</a:t>
            </a:r>
            <a:r>
              <a:rPr lang="zh-CN" altLang="en-US" dirty="0"/>
              <a:t>来表达查询要求</a:t>
            </a:r>
          </a:p>
          <a:p>
            <a:pPr lvl="1"/>
            <a:r>
              <a:rPr lang="zh-CN" altLang="en-US" dirty="0"/>
              <a:t>元组关系演算语言</a:t>
            </a:r>
          </a:p>
          <a:p>
            <a:pPr lvl="2"/>
            <a:r>
              <a:rPr lang="zh-CN" altLang="en-US" dirty="0"/>
              <a:t>谓词变元的基本对象是元组变量</a:t>
            </a:r>
          </a:p>
          <a:p>
            <a:pPr lvl="2"/>
            <a:r>
              <a:rPr lang="zh-CN" altLang="en-US" dirty="0"/>
              <a:t>代表：</a:t>
            </a:r>
            <a:r>
              <a:rPr lang="en-US" altLang="zh-CN" dirty="0"/>
              <a:t>APLHA, QUEL</a:t>
            </a:r>
          </a:p>
          <a:p>
            <a:pPr lvl="1"/>
            <a:r>
              <a:rPr lang="zh-CN" altLang="en-US" dirty="0"/>
              <a:t>域关系演算语言    </a:t>
            </a:r>
          </a:p>
          <a:p>
            <a:pPr lvl="2"/>
            <a:r>
              <a:rPr lang="zh-CN" altLang="en-US" dirty="0"/>
              <a:t>谓词变元的基本对象是域变量</a:t>
            </a:r>
          </a:p>
          <a:p>
            <a:pPr lvl="2"/>
            <a:r>
              <a:rPr lang="zh-CN" altLang="en-US" dirty="0"/>
              <a:t>代表：</a:t>
            </a:r>
            <a:r>
              <a:rPr lang="en-US" altLang="zh-CN" dirty="0"/>
              <a:t>QBE</a:t>
            </a:r>
          </a:p>
          <a:p>
            <a:endParaRPr lang="en-US" altLang="zh-CN" dirty="0"/>
          </a:p>
          <a:p>
            <a:r>
              <a:rPr lang="zh-CN" altLang="en-US" dirty="0"/>
              <a:t>具有关系代数和关系演算</a:t>
            </a:r>
            <a:r>
              <a:rPr lang="zh-CN" altLang="en-US" dirty="0">
                <a:solidFill>
                  <a:srgbClr val="C00000"/>
                </a:solidFill>
              </a:rPr>
              <a:t>双重</a:t>
            </a:r>
            <a:r>
              <a:rPr lang="zh-CN" altLang="en-US" dirty="0"/>
              <a:t>特点的语言</a:t>
            </a:r>
          </a:p>
          <a:p>
            <a:pPr lvl="1"/>
            <a:r>
              <a:rPr lang="zh-CN" altLang="en-US" dirty="0"/>
              <a:t>代表：</a:t>
            </a:r>
            <a:r>
              <a:rPr lang="en-US" altLang="zh-CN" dirty="0"/>
              <a:t>SQL</a:t>
            </a:r>
            <a:r>
              <a:rPr lang="zh-CN" altLang="en-US" dirty="0"/>
              <a:t>（</a:t>
            </a:r>
            <a:r>
              <a:rPr lang="en-US" altLang="zh-CN" dirty="0"/>
              <a:t>Structured Query Language</a:t>
            </a:r>
            <a:r>
              <a:rPr lang="zh-CN" altLang="en-US" dirty="0"/>
              <a:t>） </a:t>
            </a:r>
          </a:p>
        </p:txBody>
      </p:sp>
      <p:sp>
        <p:nvSpPr>
          <p:cNvPr id="4" name="灯片编号占位符 3">
            <a:extLst>
              <a:ext uri="{FF2B5EF4-FFF2-40B4-BE49-F238E27FC236}">
                <a16:creationId xmlns:a16="http://schemas.microsoft.com/office/drawing/2014/main" id="{C8684E0F-63A4-43E6-BAA6-19920C4B82A3}"/>
              </a:ext>
            </a:extLst>
          </p:cNvPr>
          <p:cNvSpPr>
            <a:spLocks noGrp="1"/>
          </p:cNvSpPr>
          <p:nvPr>
            <p:ph type="sldNum" sz="quarter" idx="12"/>
          </p:nvPr>
        </p:nvSpPr>
        <p:spPr/>
        <p:txBody>
          <a:bodyPr/>
          <a:lstStyle/>
          <a:p>
            <a:fld id="{47C9E101-E51D-431E-84FA-C029B8655B60}" type="slidenum">
              <a:rPr lang="zh-CN" altLang="en-US" smtClean="0"/>
              <a:pPr/>
              <a:t>29</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17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17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17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017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017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0179">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179">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179">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179">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0179">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0179">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017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388097">
            <a:extLst>
              <a:ext uri="{FF2B5EF4-FFF2-40B4-BE49-F238E27FC236}">
                <a16:creationId xmlns:a16="http://schemas.microsoft.com/office/drawing/2014/main" id="{1DD62ABD-35D0-436A-B782-0741BA326DB4}"/>
              </a:ext>
            </a:extLst>
          </p:cNvPr>
          <p:cNvSpPr>
            <a:spLocks noGrp="1" noChangeArrowheads="1"/>
          </p:cNvSpPr>
          <p:nvPr>
            <p:ph type="title"/>
          </p:nvPr>
        </p:nvSpPr>
        <p:spPr/>
        <p:txBody>
          <a:bodyPr/>
          <a:lstStyle/>
          <a:p>
            <a:r>
              <a:rPr lang="en-US" altLang="zh-CN" dirty="0"/>
              <a:t>2.3 </a:t>
            </a:r>
            <a:r>
              <a:rPr lang="zh-CN" altLang="en-US" dirty="0"/>
              <a:t>关系的完整性</a:t>
            </a:r>
          </a:p>
        </p:txBody>
      </p:sp>
      <p:sp>
        <p:nvSpPr>
          <p:cNvPr id="52227" name="文本占位符 388098">
            <a:extLst>
              <a:ext uri="{FF2B5EF4-FFF2-40B4-BE49-F238E27FC236}">
                <a16:creationId xmlns:a16="http://schemas.microsoft.com/office/drawing/2014/main" id="{819C2432-BFF0-4382-ACE8-339CD058805B}"/>
              </a:ext>
            </a:extLst>
          </p:cNvPr>
          <p:cNvSpPr>
            <a:spLocks noGrp="1" noChangeArrowheads="1"/>
          </p:cNvSpPr>
          <p:nvPr>
            <p:ph idx="1"/>
          </p:nvPr>
        </p:nvSpPr>
        <p:spPr/>
        <p:txBody>
          <a:bodyPr/>
          <a:lstStyle/>
          <a:p>
            <a:r>
              <a:rPr lang="en-US" altLang="zh-CN" dirty="0"/>
              <a:t>2.3.1 </a:t>
            </a:r>
            <a:r>
              <a:rPr lang="zh-CN" altLang="en-US" dirty="0"/>
              <a:t>实体完整性</a:t>
            </a:r>
          </a:p>
          <a:p>
            <a:r>
              <a:rPr lang="en-US" altLang="zh-CN" dirty="0"/>
              <a:t>2.3.2 </a:t>
            </a:r>
            <a:r>
              <a:rPr lang="zh-CN" altLang="en-US" dirty="0"/>
              <a:t>参照完整性</a:t>
            </a:r>
          </a:p>
          <a:p>
            <a:r>
              <a:rPr lang="en-US" altLang="zh-CN" dirty="0"/>
              <a:t>2.3.3 </a:t>
            </a:r>
            <a:r>
              <a:rPr lang="zh-CN" altLang="en-US" dirty="0"/>
              <a:t>用户定义的完整性</a:t>
            </a:r>
          </a:p>
        </p:txBody>
      </p:sp>
      <p:sp>
        <p:nvSpPr>
          <p:cNvPr id="2" name="灯片编号占位符 1">
            <a:extLst>
              <a:ext uri="{FF2B5EF4-FFF2-40B4-BE49-F238E27FC236}">
                <a16:creationId xmlns:a16="http://schemas.microsoft.com/office/drawing/2014/main" id="{E5F4C5F8-9ADD-4C1C-98C0-38E831CA22E5}"/>
              </a:ext>
            </a:extLst>
          </p:cNvPr>
          <p:cNvSpPr>
            <a:spLocks noGrp="1"/>
          </p:cNvSpPr>
          <p:nvPr>
            <p:ph type="sldNum" sz="quarter" idx="12"/>
          </p:nvPr>
        </p:nvSpPr>
        <p:spPr/>
        <p:txBody>
          <a:bodyPr/>
          <a:lstStyle/>
          <a:p>
            <a:fld id="{47C9E101-E51D-431E-84FA-C029B8655B60}" type="slidenum">
              <a:rPr lang="zh-CN" altLang="en-US" smtClean="0"/>
              <a:pPr/>
              <a:t>30</a:t>
            </a:fld>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388097">
            <a:extLst>
              <a:ext uri="{FF2B5EF4-FFF2-40B4-BE49-F238E27FC236}">
                <a16:creationId xmlns:a16="http://schemas.microsoft.com/office/drawing/2014/main" id="{6BDC4FB8-CA78-4299-A35A-5216546F0563}"/>
              </a:ext>
            </a:extLst>
          </p:cNvPr>
          <p:cNvSpPr>
            <a:spLocks noGrp="1" noChangeArrowheads="1"/>
          </p:cNvSpPr>
          <p:nvPr>
            <p:ph type="title"/>
          </p:nvPr>
        </p:nvSpPr>
        <p:spPr/>
        <p:txBody>
          <a:bodyPr/>
          <a:lstStyle/>
          <a:p>
            <a:r>
              <a:rPr lang="en-US" altLang="zh-CN" dirty="0"/>
              <a:t>2.3 </a:t>
            </a:r>
            <a:r>
              <a:rPr lang="zh-CN" altLang="en-US" dirty="0"/>
              <a:t>关系的完整性</a:t>
            </a:r>
          </a:p>
        </p:txBody>
      </p:sp>
      <p:sp>
        <p:nvSpPr>
          <p:cNvPr id="40963" name="Rectangle 3">
            <a:extLst>
              <a:ext uri="{FF2B5EF4-FFF2-40B4-BE49-F238E27FC236}">
                <a16:creationId xmlns:a16="http://schemas.microsoft.com/office/drawing/2014/main" id="{024ACF77-5AF5-4E5E-9AAA-251A2B46903F}"/>
              </a:ext>
            </a:extLst>
          </p:cNvPr>
          <p:cNvSpPr>
            <a:spLocks noGrp="1" noChangeArrowheads="1"/>
          </p:cNvSpPr>
          <p:nvPr>
            <p:ph idx="1"/>
          </p:nvPr>
        </p:nvSpPr>
        <p:spPr/>
        <p:txBody>
          <a:bodyPr/>
          <a:lstStyle/>
          <a:p>
            <a:r>
              <a:rPr lang="zh-CN" altLang="en-US" dirty="0"/>
              <a:t>关系模型中三类完整性约束：</a:t>
            </a:r>
          </a:p>
          <a:p>
            <a:pPr lvl="1"/>
            <a:r>
              <a:rPr lang="zh-CN" altLang="en-US" dirty="0">
                <a:solidFill>
                  <a:srgbClr val="C00000"/>
                </a:solidFill>
              </a:rPr>
              <a:t>实体完整性</a:t>
            </a:r>
          </a:p>
          <a:p>
            <a:pPr lvl="1"/>
            <a:r>
              <a:rPr lang="zh-CN" altLang="en-US" dirty="0">
                <a:solidFill>
                  <a:srgbClr val="C00000"/>
                </a:solidFill>
              </a:rPr>
              <a:t>参照完整性</a:t>
            </a:r>
          </a:p>
          <a:p>
            <a:pPr lvl="1"/>
            <a:r>
              <a:rPr lang="zh-CN" altLang="en-US" dirty="0">
                <a:solidFill>
                  <a:srgbClr val="C00000"/>
                </a:solidFill>
              </a:rPr>
              <a:t>用户定义的完整性</a:t>
            </a:r>
            <a:endParaRPr lang="en-US" altLang="zh-CN" dirty="0">
              <a:solidFill>
                <a:srgbClr val="C00000"/>
              </a:solidFill>
            </a:endParaRPr>
          </a:p>
          <a:p>
            <a:pPr lvl="1"/>
            <a:endParaRPr lang="en-US" altLang="zh-CN" dirty="0"/>
          </a:p>
          <a:p>
            <a:r>
              <a:rPr lang="zh-CN" altLang="en-US" dirty="0"/>
              <a:t>实体完整性和参照完整性</a:t>
            </a:r>
            <a:endParaRPr lang="en-US" altLang="zh-CN" dirty="0"/>
          </a:p>
          <a:p>
            <a:pPr lvl="1"/>
            <a:r>
              <a:rPr lang="zh-CN" altLang="en-US" dirty="0"/>
              <a:t>关系模型必须满足的完整性约束条件称为关系的</a:t>
            </a:r>
            <a:r>
              <a:rPr lang="zh-CN" altLang="en-US" dirty="0">
                <a:solidFill>
                  <a:srgbClr val="C00000"/>
                </a:solidFill>
              </a:rPr>
              <a:t>两个不变性</a:t>
            </a:r>
            <a:r>
              <a:rPr lang="zh-CN" altLang="en-US" dirty="0"/>
              <a:t>，应该由关系系统自动支持</a:t>
            </a:r>
            <a:endParaRPr lang="en-US" altLang="zh-CN" dirty="0"/>
          </a:p>
          <a:p>
            <a:pPr lvl="1"/>
            <a:endParaRPr lang="en-US" altLang="zh-CN" dirty="0"/>
          </a:p>
          <a:p>
            <a:r>
              <a:rPr lang="zh-CN" altLang="en-US" dirty="0"/>
              <a:t>用户定义的完整性</a:t>
            </a:r>
          </a:p>
          <a:p>
            <a:pPr lvl="1"/>
            <a:r>
              <a:rPr lang="zh-CN" altLang="en-US" dirty="0"/>
              <a:t>应用领域需要遵循的约束条件，体现了具体领域中的</a:t>
            </a:r>
            <a:r>
              <a:rPr lang="zh-CN" altLang="en-US" dirty="0">
                <a:solidFill>
                  <a:srgbClr val="C00000"/>
                </a:solidFill>
              </a:rPr>
              <a:t>语义约束</a:t>
            </a:r>
          </a:p>
        </p:txBody>
      </p:sp>
      <p:sp>
        <p:nvSpPr>
          <p:cNvPr id="6" name="灯片编号占位符 5">
            <a:extLst>
              <a:ext uri="{FF2B5EF4-FFF2-40B4-BE49-F238E27FC236}">
                <a16:creationId xmlns:a16="http://schemas.microsoft.com/office/drawing/2014/main" id="{1D046183-6848-403B-9167-600A81FF2809}"/>
              </a:ext>
            </a:extLst>
          </p:cNvPr>
          <p:cNvSpPr>
            <a:spLocks noGrp="1"/>
          </p:cNvSpPr>
          <p:nvPr>
            <p:ph type="sldNum" sz="quarter" idx="12"/>
          </p:nvPr>
        </p:nvSpPr>
        <p:spPr/>
        <p:txBody>
          <a:bodyPr/>
          <a:lstStyle/>
          <a:p>
            <a:fld id="{47C9E101-E51D-431E-84FA-C029B8655B60}" type="slidenum">
              <a:rPr lang="zh-CN" altLang="en-US" smtClean="0"/>
              <a:pPr/>
              <a:t>31</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6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96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96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283649">
            <a:extLst>
              <a:ext uri="{FF2B5EF4-FFF2-40B4-BE49-F238E27FC236}">
                <a16:creationId xmlns:a16="http://schemas.microsoft.com/office/drawing/2014/main" id="{F797C343-0335-46C2-8C76-CA9EF0FE7E7A}"/>
              </a:ext>
            </a:extLst>
          </p:cNvPr>
          <p:cNvSpPr>
            <a:spLocks noGrp="1" noChangeArrowheads="1"/>
          </p:cNvSpPr>
          <p:nvPr>
            <p:ph type="title"/>
          </p:nvPr>
        </p:nvSpPr>
        <p:spPr/>
        <p:txBody>
          <a:bodyPr/>
          <a:lstStyle/>
          <a:p>
            <a:r>
              <a:rPr lang="en-US" altLang="zh-CN" dirty="0"/>
              <a:t>2.3.1 </a:t>
            </a:r>
            <a:r>
              <a:rPr lang="zh-CN" altLang="en-US" dirty="0"/>
              <a:t>实体完整性</a:t>
            </a:r>
          </a:p>
        </p:txBody>
      </p:sp>
      <p:sp>
        <p:nvSpPr>
          <p:cNvPr id="55299" name="文本占位符 283650">
            <a:extLst>
              <a:ext uri="{FF2B5EF4-FFF2-40B4-BE49-F238E27FC236}">
                <a16:creationId xmlns:a16="http://schemas.microsoft.com/office/drawing/2014/main" id="{30E72D94-EA11-4DA4-8539-9E19B238974C}"/>
              </a:ext>
            </a:extLst>
          </p:cNvPr>
          <p:cNvSpPr>
            <a:spLocks noGrp="1" noChangeArrowheads="1"/>
          </p:cNvSpPr>
          <p:nvPr>
            <p:ph idx="1"/>
          </p:nvPr>
        </p:nvSpPr>
        <p:spPr/>
        <p:txBody>
          <a:bodyPr>
            <a:normAutofit fontScale="85000" lnSpcReduction="20000"/>
          </a:bodyPr>
          <a:lstStyle/>
          <a:p>
            <a:r>
              <a:rPr lang="zh-CN" altLang="en-US" dirty="0"/>
              <a:t>规则</a:t>
            </a:r>
            <a:r>
              <a:rPr lang="en-US" altLang="zh-CN" dirty="0"/>
              <a:t>2.1 </a:t>
            </a:r>
            <a:r>
              <a:rPr lang="zh-CN" altLang="en-US" dirty="0">
                <a:solidFill>
                  <a:srgbClr val="C00000"/>
                </a:solidFill>
              </a:rPr>
              <a:t>实体完整性规则（</a:t>
            </a:r>
            <a:r>
              <a:rPr lang="en-US" altLang="zh-CN" dirty="0">
                <a:solidFill>
                  <a:srgbClr val="C00000"/>
                </a:solidFill>
              </a:rPr>
              <a:t>Entity Integrity</a:t>
            </a:r>
            <a:r>
              <a:rPr lang="zh-CN" altLang="en-US" dirty="0">
                <a:solidFill>
                  <a:srgbClr val="C00000"/>
                </a:solidFill>
              </a:rPr>
              <a:t>）</a:t>
            </a:r>
          </a:p>
          <a:p>
            <a:pPr lvl="1"/>
            <a:r>
              <a:rPr lang="zh-CN" altLang="en-US" dirty="0"/>
              <a:t>若属性</a:t>
            </a:r>
            <a:r>
              <a:rPr lang="en-US" altLang="zh-CN" dirty="0"/>
              <a:t>A</a:t>
            </a:r>
            <a:r>
              <a:rPr lang="zh-CN" altLang="en-US" dirty="0"/>
              <a:t>是基本关系</a:t>
            </a:r>
            <a:r>
              <a:rPr lang="en-US" altLang="zh-CN" dirty="0"/>
              <a:t>R</a:t>
            </a:r>
            <a:r>
              <a:rPr lang="zh-CN" altLang="en-US" dirty="0"/>
              <a:t>的主属性，则属性</a:t>
            </a:r>
            <a:r>
              <a:rPr lang="en-US" altLang="zh-CN" dirty="0"/>
              <a:t>A</a:t>
            </a:r>
            <a:r>
              <a:rPr lang="zh-CN" altLang="en-US" dirty="0"/>
              <a:t>不能取空值</a:t>
            </a:r>
            <a:endParaRPr lang="en-US" altLang="zh-CN" dirty="0"/>
          </a:p>
          <a:p>
            <a:pPr lvl="1"/>
            <a:r>
              <a:rPr lang="zh-CN" altLang="en-US" dirty="0"/>
              <a:t>空值就是“不知道”或“不存在”或“无意义”的值</a:t>
            </a:r>
          </a:p>
          <a:p>
            <a:endParaRPr lang="en-US" altLang="zh-CN" dirty="0"/>
          </a:p>
          <a:p>
            <a:r>
              <a:rPr lang="zh-CN" altLang="en-US" dirty="0"/>
              <a:t>例：</a:t>
            </a:r>
            <a:r>
              <a:rPr lang="en-US" altLang="zh-CN" dirty="0"/>
              <a:t>Student(</a:t>
            </a:r>
            <a:r>
              <a:rPr lang="en-US" altLang="zh-CN" u="sng" dirty="0" err="1">
                <a:solidFill>
                  <a:srgbClr val="3333FF"/>
                </a:solidFill>
              </a:rPr>
              <a:t>Sno</a:t>
            </a:r>
            <a:r>
              <a:rPr lang="en-US" altLang="zh-CN" dirty="0"/>
              <a:t>, </a:t>
            </a:r>
            <a:r>
              <a:rPr lang="en-US" altLang="zh-CN" dirty="0" err="1"/>
              <a:t>Sname</a:t>
            </a:r>
            <a:r>
              <a:rPr lang="en-US" altLang="zh-CN" dirty="0"/>
              <a:t>, </a:t>
            </a:r>
            <a:r>
              <a:rPr lang="en-US" altLang="zh-CN" dirty="0" err="1"/>
              <a:t>Ssex</a:t>
            </a:r>
            <a:r>
              <a:rPr lang="en-US" altLang="zh-CN" dirty="0"/>
              <a:t>, Sage, </a:t>
            </a:r>
            <a:r>
              <a:rPr lang="en-US" altLang="zh-CN" dirty="0" err="1"/>
              <a:t>Sdept</a:t>
            </a:r>
            <a:r>
              <a:rPr lang="en-US" altLang="zh-CN" dirty="0"/>
              <a:t>)</a:t>
            </a:r>
          </a:p>
          <a:p>
            <a:pPr lvl="1"/>
            <a:r>
              <a:rPr lang="en-US" altLang="zh-CN" dirty="0" err="1"/>
              <a:t>Sno</a:t>
            </a:r>
            <a:r>
              <a:rPr lang="zh-CN" altLang="en-US" dirty="0"/>
              <a:t>属性为主码（假设学生不会重名），则其不能取空值。</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例：选修（</a:t>
            </a:r>
            <a:r>
              <a:rPr lang="zh-CN" altLang="en-US" u="sng" dirty="0">
                <a:solidFill>
                  <a:srgbClr val="3333FF"/>
                </a:solidFill>
              </a:rPr>
              <a:t>学号，课程号</a:t>
            </a:r>
            <a:r>
              <a:rPr lang="zh-CN" altLang="en-US" dirty="0"/>
              <a:t>，成绩）</a:t>
            </a:r>
          </a:p>
          <a:p>
            <a:pPr lvl="1"/>
            <a:r>
              <a:rPr lang="zh-CN" altLang="en-US" dirty="0"/>
              <a:t>“学号、课程号”为主码，则两个属性都不能取空值。</a:t>
            </a:r>
          </a:p>
        </p:txBody>
      </p:sp>
      <p:sp>
        <p:nvSpPr>
          <p:cNvPr id="2" name="灯片编号占位符 1">
            <a:extLst>
              <a:ext uri="{FF2B5EF4-FFF2-40B4-BE49-F238E27FC236}">
                <a16:creationId xmlns:a16="http://schemas.microsoft.com/office/drawing/2014/main" id="{2EF3786D-17E7-4896-A029-A160A74EC095}"/>
              </a:ext>
            </a:extLst>
          </p:cNvPr>
          <p:cNvSpPr>
            <a:spLocks noGrp="1"/>
          </p:cNvSpPr>
          <p:nvPr>
            <p:ph type="sldNum" sz="quarter" idx="12"/>
          </p:nvPr>
        </p:nvSpPr>
        <p:spPr/>
        <p:txBody>
          <a:bodyPr/>
          <a:lstStyle/>
          <a:p>
            <a:fld id="{47C9E101-E51D-431E-84FA-C029B8655B60}" type="slidenum">
              <a:rPr lang="zh-CN" altLang="en-US" smtClean="0"/>
              <a:pPr/>
              <a:t>32</a:t>
            </a:fld>
            <a:endParaRPr lang="zh-CN" altLang="en-US" dirty="0"/>
          </a:p>
        </p:txBody>
      </p:sp>
      <p:pic>
        <p:nvPicPr>
          <p:cNvPr id="5" name="Picture 5">
            <a:extLst>
              <a:ext uri="{FF2B5EF4-FFF2-40B4-BE49-F238E27FC236}">
                <a16:creationId xmlns:a16="http://schemas.microsoft.com/office/drawing/2014/main" id="{8B9169C1-654E-4103-B651-7AE8378937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5361" y="3261134"/>
            <a:ext cx="4849423" cy="2039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29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299">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5299">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29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286721">
            <a:extLst>
              <a:ext uri="{FF2B5EF4-FFF2-40B4-BE49-F238E27FC236}">
                <a16:creationId xmlns:a16="http://schemas.microsoft.com/office/drawing/2014/main" id="{4AAA0084-E102-4193-832D-0767D5F01E83}"/>
              </a:ext>
            </a:extLst>
          </p:cNvPr>
          <p:cNvSpPr>
            <a:spLocks noGrp="1" noChangeArrowheads="1"/>
          </p:cNvSpPr>
          <p:nvPr>
            <p:ph type="title"/>
          </p:nvPr>
        </p:nvSpPr>
        <p:spPr/>
        <p:txBody>
          <a:bodyPr/>
          <a:lstStyle/>
          <a:p>
            <a:r>
              <a:rPr lang="zh-CN" altLang="en-US"/>
              <a:t>实体完整性</a:t>
            </a:r>
            <a:r>
              <a:rPr lang="en-US" altLang="zh-CN"/>
              <a:t>(</a:t>
            </a:r>
            <a:r>
              <a:rPr lang="zh-CN" altLang="en-US"/>
              <a:t>续</a:t>
            </a:r>
            <a:r>
              <a:rPr lang="en-US" altLang="zh-CN"/>
              <a:t>)</a:t>
            </a:r>
          </a:p>
        </p:txBody>
      </p:sp>
      <p:sp>
        <p:nvSpPr>
          <p:cNvPr id="56323" name="文本占位符 286722">
            <a:extLst>
              <a:ext uri="{FF2B5EF4-FFF2-40B4-BE49-F238E27FC236}">
                <a16:creationId xmlns:a16="http://schemas.microsoft.com/office/drawing/2014/main" id="{302E347E-DBF0-481E-BC7A-F05522C1BB27}"/>
              </a:ext>
            </a:extLst>
          </p:cNvPr>
          <p:cNvSpPr>
            <a:spLocks noGrp="1" noChangeArrowheads="1"/>
          </p:cNvSpPr>
          <p:nvPr>
            <p:ph idx="1"/>
          </p:nvPr>
        </p:nvSpPr>
        <p:spPr/>
        <p:txBody>
          <a:bodyPr/>
          <a:lstStyle/>
          <a:p>
            <a:r>
              <a:rPr lang="zh-CN" altLang="en-US" dirty="0"/>
              <a:t>实体完整性规则的说明</a:t>
            </a:r>
          </a:p>
          <a:p>
            <a:pPr marL="342900" lvl="1" indent="0">
              <a:buNone/>
            </a:pPr>
            <a:r>
              <a:rPr lang="en-US" altLang="zh-CN" dirty="0"/>
              <a:t>(1) </a:t>
            </a:r>
            <a:r>
              <a:rPr lang="zh-CN" altLang="en-US" dirty="0"/>
              <a:t>实体完整性规则是针对基本关系而言的。一个基本表通常对应现实世界的一个实体集。</a:t>
            </a:r>
          </a:p>
          <a:p>
            <a:pPr marL="342900" lvl="1" indent="0">
              <a:buNone/>
            </a:pPr>
            <a:r>
              <a:rPr lang="en-US" altLang="zh-CN" dirty="0"/>
              <a:t>(2) </a:t>
            </a:r>
            <a:r>
              <a:rPr lang="zh-CN" altLang="en-US" dirty="0"/>
              <a:t>现实世界中的实体是</a:t>
            </a:r>
            <a:r>
              <a:rPr lang="zh-CN" altLang="en-US" dirty="0">
                <a:solidFill>
                  <a:srgbClr val="C00000"/>
                </a:solidFill>
              </a:rPr>
              <a:t>可区分</a:t>
            </a:r>
            <a:r>
              <a:rPr lang="zh-CN" altLang="en-US" dirty="0"/>
              <a:t>的，即它们具有某种</a:t>
            </a:r>
            <a:r>
              <a:rPr lang="zh-CN" altLang="en-US" dirty="0">
                <a:solidFill>
                  <a:srgbClr val="C00000"/>
                </a:solidFill>
              </a:rPr>
              <a:t>唯一性标识</a:t>
            </a:r>
            <a:r>
              <a:rPr lang="zh-CN" altLang="en-US" dirty="0"/>
              <a:t>。</a:t>
            </a:r>
          </a:p>
          <a:p>
            <a:pPr marL="342900" lvl="1" indent="0">
              <a:buNone/>
            </a:pPr>
            <a:r>
              <a:rPr lang="en-US" altLang="zh-CN" dirty="0"/>
              <a:t>(3) </a:t>
            </a:r>
            <a:r>
              <a:rPr lang="zh-CN" altLang="en-US" dirty="0"/>
              <a:t>关系模型中以</a:t>
            </a:r>
            <a:r>
              <a:rPr lang="zh-CN" altLang="en-US" dirty="0">
                <a:solidFill>
                  <a:srgbClr val="C00000"/>
                </a:solidFill>
              </a:rPr>
              <a:t>主码</a:t>
            </a:r>
            <a:r>
              <a:rPr lang="zh-CN" altLang="en-US" dirty="0"/>
              <a:t>作为唯一性标识。</a:t>
            </a:r>
          </a:p>
          <a:p>
            <a:pPr marL="342900" lvl="1" indent="0">
              <a:buNone/>
            </a:pPr>
            <a:r>
              <a:rPr lang="en-US" altLang="zh-CN" dirty="0"/>
              <a:t>(4) </a:t>
            </a:r>
            <a:r>
              <a:rPr lang="zh-CN" altLang="en-US" dirty="0"/>
              <a:t>主码中的属性即主属性不能取</a:t>
            </a:r>
            <a:r>
              <a:rPr lang="zh-CN" altLang="en-US" dirty="0">
                <a:solidFill>
                  <a:srgbClr val="C00000"/>
                </a:solidFill>
              </a:rPr>
              <a:t>空值</a:t>
            </a:r>
            <a:r>
              <a:rPr lang="zh-CN" altLang="en-US" dirty="0"/>
              <a:t>。</a:t>
            </a:r>
          </a:p>
          <a:p>
            <a:pPr lvl="2"/>
            <a:r>
              <a:rPr lang="zh-CN" altLang="en-US" dirty="0"/>
              <a:t>主属性取空值，就说明存在某个不可标识的实体，即存在不可区分的实体，这与第（</a:t>
            </a:r>
            <a:r>
              <a:rPr lang="en-US" altLang="zh-CN" dirty="0"/>
              <a:t>2</a:t>
            </a:r>
            <a:r>
              <a:rPr lang="zh-CN" altLang="en-US" dirty="0"/>
              <a:t>）点相矛盾，因此这个规则称为实体完整性</a:t>
            </a:r>
          </a:p>
          <a:p>
            <a:endParaRPr lang="zh-CN" altLang="en-US" dirty="0"/>
          </a:p>
        </p:txBody>
      </p:sp>
      <p:sp>
        <p:nvSpPr>
          <p:cNvPr id="2" name="灯片编号占位符 1">
            <a:extLst>
              <a:ext uri="{FF2B5EF4-FFF2-40B4-BE49-F238E27FC236}">
                <a16:creationId xmlns:a16="http://schemas.microsoft.com/office/drawing/2014/main" id="{FDB03493-43AF-4E64-99E6-AE28A95D3840}"/>
              </a:ext>
            </a:extLst>
          </p:cNvPr>
          <p:cNvSpPr>
            <a:spLocks noGrp="1"/>
          </p:cNvSpPr>
          <p:nvPr>
            <p:ph type="sldNum" sz="quarter" idx="12"/>
          </p:nvPr>
        </p:nvSpPr>
        <p:spPr/>
        <p:txBody>
          <a:bodyPr/>
          <a:lstStyle/>
          <a:p>
            <a:fld id="{47C9E101-E51D-431E-84FA-C029B8655B60}" type="slidenum">
              <a:rPr lang="zh-CN" altLang="en-US" smtClean="0"/>
              <a:pPr/>
              <a:t>33</a:t>
            </a:fld>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284673">
            <a:extLst>
              <a:ext uri="{FF2B5EF4-FFF2-40B4-BE49-F238E27FC236}">
                <a16:creationId xmlns:a16="http://schemas.microsoft.com/office/drawing/2014/main" id="{804818D3-AB16-45A6-B9B2-7B955FD36D59}"/>
              </a:ext>
            </a:extLst>
          </p:cNvPr>
          <p:cNvSpPr>
            <a:spLocks noGrp="1" noChangeArrowheads="1"/>
          </p:cNvSpPr>
          <p:nvPr>
            <p:ph type="title"/>
          </p:nvPr>
        </p:nvSpPr>
        <p:spPr/>
        <p:txBody>
          <a:bodyPr/>
          <a:lstStyle/>
          <a:p>
            <a:r>
              <a:rPr lang="en-US" altLang="zh-CN" dirty="0"/>
              <a:t>2.3.2 </a:t>
            </a:r>
            <a:r>
              <a:rPr lang="zh-CN" altLang="en-US" dirty="0"/>
              <a:t>参照完整性</a:t>
            </a:r>
          </a:p>
        </p:txBody>
      </p:sp>
      <p:sp>
        <p:nvSpPr>
          <p:cNvPr id="58371" name="文本占位符 284674">
            <a:extLst>
              <a:ext uri="{FF2B5EF4-FFF2-40B4-BE49-F238E27FC236}">
                <a16:creationId xmlns:a16="http://schemas.microsoft.com/office/drawing/2014/main" id="{2EA95845-67C8-4B7C-ABA1-E3DE58689F3A}"/>
              </a:ext>
            </a:extLst>
          </p:cNvPr>
          <p:cNvSpPr>
            <a:spLocks noGrp="1" noChangeArrowheads="1"/>
          </p:cNvSpPr>
          <p:nvPr>
            <p:ph idx="1"/>
          </p:nvPr>
        </p:nvSpPr>
        <p:spPr/>
        <p:txBody>
          <a:bodyPr/>
          <a:lstStyle/>
          <a:p>
            <a:r>
              <a:rPr lang="en-US" altLang="zh-CN" dirty="0"/>
              <a:t>1. </a:t>
            </a:r>
            <a:r>
              <a:rPr lang="zh-CN" altLang="en-US" dirty="0"/>
              <a:t>关系间的引用</a:t>
            </a:r>
          </a:p>
          <a:p>
            <a:r>
              <a:rPr lang="en-US" altLang="zh-CN" dirty="0"/>
              <a:t>2. </a:t>
            </a:r>
            <a:r>
              <a:rPr lang="zh-CN" altLang="en-US" dirty="0"/>
              <a:t>外码（</a:t>
            </a:r>
            <a:r>
              <a:rPr lang="en-US" altLang="zh-CN" dirty="0"/>
              <a:t>Foreign Key</a:t>
            </a:r>
            <a:r>
              <a:rPr lang="zh-CN" altLang="en-US" dirty="0"/>
              <a:t>）</a:t>
            </a:r>
          </a:p>
          <a:p>
            <a:r>
              <a:rPr lang="en-US" altLang="zh-CN" dirty="0"/>
              <a:t>3. </a:t>
            </a:r>
            <a:r>
              <a:rPr lang="zh-CN" altLang="en-US" dirty="0"/>
              <a:t>参照完整性规则</a:t>
            </a:r>
          </a:p>
        </p:txBody>
      </p:sp>
      <p:sp>
        <p:nvSpPr>
          <p:cNvPr id="2" name="灯片编号占位符 1">
            <a:extLst>
              <a:ext uri="{FF2B5EF4-FFF2-40B4-BE49-F238E27FC236}">
                <a16:creationId xmlns:a16="http://schemas.microsoft.com/office/drawing/2014/main" id="{EEBC6D89-0DAF-4F6E-9302-2FA5B6C072F8}"/>
              </a:ext>
            </a:extLst>
          </p:cNvPr>
          <p:cNvSpPr>
            <a:spLocks noGrp="1"/>
          </p:cNvSpPr>
          <p:nvPr>
            <p:ph type="sldNum" sz="quarter" idx="12"/>
          </p:nvPr>
        </p:nvSpPr>
        <p:spPr/>
        <p:txBody>
          <a:bodyPr/>
          <a:lstStyle/>
          <a:p>
            <a:fld id="{47C9E101-E51D-431E-84FA-C029B8655B60}" type="slidenum">
              <a:rPr lang="zh-CN" altLang="en-US" smtClean="0"/>
              <a:pPr/>
              <a:t>34</a:t>
            </a:fld>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289793">
            <a:extLst>
              <a:ext uri="{FF2B5EF4-FFF2-40B4-BE49-F238E27FC236}">
                <a16:creationId xmlns:a16="http://schemas.microsoft.com/office/drawing/2014/main" id="{FF3016A6-B7BA-47E5-9FE1-6091565FC776}"/>
              </a:ext>
            </a:extLst>
          </p:cNvPr>
          <p:cNvSpPr>
            <a:spLocks noGrp="1" noChangeArrowheads="1"/>
          </p:cNvSpPr>
          <p:nvPr>
            <p:ph type="title"/>
          </p:nvPr>
        </p:nvSpPr>
        <p:spPr/>
        <p:txBody>
          <a:bodyPr/>
          <a:lstStyle/>
          <a:p>
            <a:r>
              <a:rPr lang="en-US" altLang="zh-CN" dirty="0"/>
              <a:t>1. </a:t>
            </a:r>
            <a:r>
              <a:rPr lang="zh-CN" altLang="en-US" dirty="0"/>
              <a:t>关系间的引用</a:t>
            </a:r>
          </a:p>
        </p:txBody>
      </p:sp>
      <p:sp>
        <p:nvSpPr>
          <p:cNvPr id="59395" name="文本占位符 289794">
            <a:extLst>
              <a:ext uri="{FF2B5EF4-FFF2-40B4-BE49-F238E27FC236}">
                <a16:creationId xmlns:a16="http://schemas.microsoft.com/office/drawing/2014/main" id="{7ED70DAD-352C-439F-924A-6E29BE59A796}"/>
              </a:ext>
            </a:extLst>
          </p:cNvPr>
          <p:cNvSpPr>
            <a:spLocks noGrp="1" noChangeArrowheads="1"/>
          </p:cNvSpPr>
          <p:nvPr>
            <p:ph idx="1"/>
          </p:nvPr>
        </p:nvSpPr>
        <p:spPr/>
        <p:txBody>
          <a:bodyPr/>
          <a:lstStyle/>
          <a:p>
            <a:r>
              <a:rPr lang="zh-CN" altLang="en-US" dirty="0"/>
              <a:t>在关系模型中实体及实体间的联系都是用关系来描述的，因此可能存在着</a:t>
            </a:r>
            <a:r>
              <a:rPr lang="zh-CN" altLang="en-US" dirty="0">
                <a:solidFill>
                  <a:srgbClr val="C00000"/>
                </a:solidFill>
              </a:rPr>
              <a:t>关系与关系间的引用</a:t>
            </a:r>
            <a:r>
              <a:rPr lang="zh-CN" altLang="en-US" dirty="0"/>
              <a:t>。</a:t>
            </a:r>
          </a:p>
          <a:p>
            <a:endParaRPr lang="en-US" altLang="zh-CN" dirty="0"/>
          </a:p>
          <a:p>
            <a:r>
              <a:rPr lang="zh-CN" altLang="en-US" dirty="0"/>
              <a:t>例</a:t>
            </a:r>
            <a:r>
              <a:rPr lang="en-US" altLang="zh-CN" dirty="0"/>
              <a:t>1</a:t>
            </a:r>
            <a:r>
              <a:rPr lang="zh-CN" altLang="en-US" dirty="0"/>
              <a:t>：</a:t>
            </a:r>
            <a:r>
              <a:rPr lang="en-US" altLang="zh-CN" dirty="0"/>
              <a:t>  </a:t>
            </a:r>
            <a:r>
              <a:rPr lang="zh-CN" altLang="en-US" dirty="0"/>
              <a:t>学生实体、专业实体</a:t>
            </a:r>
          </a:p>
          <a:p>
            <a:pPr marL="342900" lvl="1" indent="0">
              <a:buNone/>
            </a:pPr>
            <a:r>
              <a:rPr lang="zh-CN" altLang="en-US" dirty="0"/>
              <a:t>学生（</a:t>
            </a:r>
            <a:r>
              <a:rPr lang="zh-CN" altLang="en-US" u="sng" dirty="0"/>
              <a:t>学号</a:t>
            </a:r>
            <a:r>
              <a:rPr lang="zh-CN" altLang="en-US" dirty="0"/>
              <a:t>，姓名，性别，</a:t>
            </a:r>
            <a:r>
              <a:rPr lang="zh-CN" altLang="en-US" dirty="0">
                <a:solidFill>
                  <a:srgbClr val="3333FF"/>
                </a:solidFill>
              </a:rPr>
              <a:t>专业号</a:t>
            </a:r>
            <a:r>
              <a:rPr lang="zh-CN" altLang="en-US" dirty="0"/>
              <a:t>，年龄）</a:t>
            </a:r>
          </a:p>
          <a:p>
            <a:pPr marL="342900" lvl="1" indent="0">
              <a:buNone/>
            </a:pPr>
            <a:r>
              <a:rPr lang="zh-CN" altLang="en-US" dirty="0"/>
              <a:t>专业（</a:t>
            </a:r>
            <a:r>
              <a:rPr lang="zh-CN" altLang="en-US" u="sng" dirty="0">
                <a:solidFill>
                  <a:srgbClr val="3333FF"/>
                </a:solidFill>
              </a:rPr>
              <a:t>专业号</a:t>
            </a:r>
            <a:r>
              <a:rPr lang="zh-CN" altLang="en-US" dirty="0"/>
              <a:t>，专业名）</a:t>
            </a:r>
            <a:endParaRPr lang="en-US" altLang="zh-CN" dirty="0"/>
          </a:p>
          <a:p>
            <a:pPr marL="342900" lvl="1" indent="0">
              <a:buNone/>
            </a:pPr>
            <a:endParaRPr lang="en-US" altLang="zh-CN" dirty="0"/>
          </a:p>
          <a:p>
            <a:pPr lvl="1"/>
            <a:r>
              <a:rPr lang="zh-CN" altLang="en-US" dirty="0"/>
              <a:t>学生关系引用了专业关系的主码“</a:t>
            </a:r>
            <a:r>
              <a:rPr lang="zh-CN" altLang="en-US" dirty="0">
                <a:solidFill>
                  <a:srgbClr val="3333FF"/>
                </a:solidFill>
              </a:rPr>
              <a:t>专业号”</a:t>
            </a:r>
            <a:r>
              <a:rPr lang="zh-CN" altLang="en-US" dirty="0"/>
              <a:t>。</a:t>
            </a:r>
            <a:endParaRPr lang="en-US" altLang="zh-CN" dirty="0"/>
          </a:p>
          <a:p>
            <a:pPr lvl="1"/>
            <a:r>
              <a:rPr lang="zh-CN" altLang="en-US" dirty="0"/>
              <a:t>学生关系中的</a:t>
            </a:r>
            <a:r>
              <a:rPr lang="zh-CN" altLang="en-US" dirty="0">
                <a:solidFill>
                  <a:srgbClr val="3333FF"/>
                </a:solidFill>
              </a:rPr>
              <a:t>“专业号”</a:t>
            </a:r>
            <a:r>
              <a:rPr lang="zh-CN" altLang="en-US" dirty="0"/>
              <a:t>值必须是确实存在的专业的专业号</a:t>
            </a:r>
          </a:p>
        </p:txBody>
      </p:sp>
      <p:sp>
        <p:nvSpPr>
          <p:cNvPr id="2" name="灯片编号占位符 1">
            <a:extLst>
              <a:ext uri="{FF2B5EF4-FFF2-40B4-BE49-F238E27FC236}">
                <a16:creationId xmlns:a16="http://schemas.microsoft.com/office/drawing/2014/main" id="{9F8A7E7B-1C77-4BFF-953A-3F0A47269DC5}"/>
              </a:ext>
            </a:extLst>
          </p:cNvPr>
          <p:cNvSpPr>
            <a:spLocks noGrp="1"/>
          </p:cNvSpPr>
          <p:nvPr>
            <p:ph type="sldNum" sz="quarter" idx="12"/>
          </p:nvPr>
        </p:nvSpPr>
        <p:spPr/>
        <p:txBody>
          <a:bodyPr/>
          <a:lstStyle/>
          <a:p>
            <a:fld id="{47C9E101-E51D-431E-84FA-C029B8655B60}" type="slidenum">
              <a:rPr lang="zh-CN" altLang="en-US" smtClean="0"/>
              <a:pPr/>
              <a:t>35</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39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939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39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93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Text Box 5">
            <a:extLst>
              <a:ext uri="{FF2B5EF4-FFF2-40B4-BE49-F238E27FC236}">
                <a16:creationId xmlns:a16="http://schemas.microsoft.com/office/drawing/2014/main" id="{350EF270-1B71-4E55-99E8-979C611ECFC5}"/>
              </a:ext>
            </a:extLst>
          </p:cNvPr>
          <p:cNvSpPr txBox="1">
            <a:spLocks noChangeArrowheads="1"/>
          </p:cNvSpPr>
          <p:nvPr/>
        </p:nvSpPr>
        <p:spPr bwMode="auto">
          <a:xfrm>
            <a:off x="5419937" y="864466"/>
            <a:ext cx="405338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eaLnBrk="1" hangingPunct="1">
              <a:spcBef>
                <a:spcPct val="50000"/>
              </a:spcBef>
              <a:buClrTx/>
              <a:buSzTx/>
              <a:buFontTx/>
              <a:buNone/>
            </a:pPr>
            <a:r>
              <a:rPr lang="zh-CN" altLang="en-US" sz="1600" dirty="0">
                <a:latin typeface="微软雅黑" panose="020B0503020204020204" pitchFamily="34" charset="-122"/>
              </a:rPr>
              <a:t>学生（</a:t>
            </a:r>
            <a:r>
              <a:rPr lang="zh-CN" altLang="en-US" sz="1600" u="sng" dirty="0">
                <a:latin typeface="微软雅黑" panose="020B0503020204020204" pitchFamily="34" charset="-122"/>
              </a:rPr>
              <a:t>学号</a:t>
            </a:r>
            <a:r>
              <a:rPr lang="zh-CN" altLang="en-US" sz="1600" dirty="0">
                <a:latin typeface="微软雅黑" panose="020B0503020204020204" pitchFamily="34" charset="-122"/>
              </a:rPr>
              <a:t>，姓名，性别，</a:t>
            </a:r>
            <a:r>
              <a:rPr lang="zh-CN" altLang="en-US" sz="1600" dirty="0">
                <a:solidFill>
                  <a:srgbClr val="3333FF"/>
                </a:solidFill>
                <a:latin typeface="微软雅黑" panose="020B0503020204020204" pitchFamily="34" charset="-122"/>
              </a:rPr>
              <a:t>专业号</a:t>
            </a:r>
            <a:r>
              <a:rPr lang="zh-CN" altLang="en-US" sz="1600" dirty="0">
                <a:latin typeface="微软雅黑" panose="020B0503020204020204" pitchFamily="34" charset="-122"/>
              </a:rPr>
              <a:t>，年龄）</a:t>
            </a:r>
          </a:p>
        </p:txBody>
      </p:sp>
      <p:sp>
        <p:nvSpPr>
          <p:cNvPr id="44036" name="Text Box 6">
            <a:extLst>
              <a:ext uri="{FF2B5EF4-FFF2-40B4-BE49-F238E27FC236}">
                <a16:creationId xmlns:a16="http://schemas.microsoft.com/office/drawing/2014/main" id="{C7BC0F8A-45D7-4E48-952D-D9039955AB78}"/>
              </a:ext>
            </a:extLst>
          </p:cNvPr>
          <p:cNvSpPr txBox="1">
            <a:spLocks noChangeArrowheads="1"/>
          </p:cNvSpPr>
          <p:nvPr/>
        </p:nvSpPr>
        <p:spPr bwMode="auto">
          <a:xfrm>
            <a:off x="3055610" y="3847476"/>
            <a:ext cx="23643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eaLnBrk="1" hangingPunct="1">
              <a:spcBef>
                <a:spcPct val="50000"/>
              </a:spcBef>
              <a:buClrTx/>
              <a:buSzTx/>
              <a:buFontTx/>
              <a:buNone/>
            </a:pPr>
            <a:r>
              <a:rPr lang="zh-CN" altLang="en-US" sz="1600" dirty="0">
                <a:latin typeface="微软雅黑" panose="020B0503020204020204" pitchFamily="34" charset="-122"/>
              </a:rPr>
              <a:t>专业（</a:t>
            </a:r>
            <a:r>
              <a:rPr lang="zh-CN" altLang="en-US" sz="1600" u="sng" dirty="0">
                <a:solidFill>
                  <a:srgbClr val="3333FF"/>
                </a:solidFill>
                <a:latin typeface="微软雅黑" panose="020B0503020204020204" pitchFamily="34" charset="-122"/>
              </a:rPr>
              <a:t>专业号</a:t>
            </a:r>
            <a:r>
              <a:rPr lang="zh-CN" altLang="en-US" sz="1600" dirty="0">
                <a:latin typeface="微软雅黑" panose="020B0503020204020204" pitchFamily="34" charset="-122"/>
              </a:rPr>
              <a:t>，专业名）</a:t>
            </a:r>
          </a:p>
        </p:txBody>
      </p:sp>
      <p:graphicFrame>
        <p:nvGraphicFramePr>
          <p:cNvPr id="3" name="表格 2">
            <a:extLst>
              <a:ext uri="{FF2B5EF4-FFF2-40B4-BE49-F238E27FC236}">
                <a16:creationId xmlns:a16="http://schemas.microsoft.com/office/drawing/2014/main" id="{904246B9-D5A7-4273-9977-8B147420FA93}"/>
              </a:ext>
            </a:extLst>
          </p:cNvPr>
          <p:cNvGraphicFramePr>
            <a:graphicFrameLocks noGrp="1"/>
          </p:cNvGraphicFramePr>
          <p:nvPr>
            <p:extLst>
              <p:ext uri="{D42A27DB-BD31-4B8C-83A1-F6EECF244321}">
                <p14:modId xmlns:p14="http://schemas.microsoft.com/office/powerpoint/2010/main" val="2690634317"/>
              </p:ext>
            </p:extLst>
          </p:nvPr>
        </p:nvGraphicFramePr>
        <p:xfrm>
          <a:off x="5047188" y="1276592"/>
          <a:ext cx="4672667" cy="2162174"/>
        </p:xfrm>
        <a:graphic>
          <a:graphicData uri="http://schemas.openxmlformats.org/drawingml/2006/table">
            <a:tbl>
              <a:tblPr>
                <a:tableStyleId>{5C22544A-7EE6-4342-B048-85BDC9FD1C3A}</a:tableStyleId>
              </a:tblPr>
              <a:tblGrid>
                <a:gridCol w="923507">
                  <a:extLst>
                    <a:ext uri="{9D8B030D-6E8A-4147-A177-3AD203B41FA5}">
                      <a16:colId xmlns:a16="http://schemas.microsoft.com/office/drawing/2014/main" val="20000"/>
                    </a:ext>
                  </a:extLst>
                </a:gridCol>
                <a:gridCol w="937290">
                  <a:extLst>
                    <a:ext uri="{9D8B030D-6E8A-4147-A177-3AD203B41FA5}">
                      <a16:colId xmlns:a16="http://schemas.microsoft.com/office/drawing/2014/main" val="20001"/>
                    </a:ext>
                  </a:extLst>
                </a:gridCol>
                <a:gridCol w="937290">
                  <a:extLst>
                    <a:ext uri="{9D8B030D-6E8A-4147-A177-3AD203B41FA5}">
                      <a16:colId xmlns:a16="http://schemas.microsoft.com/office/drawing/2014/main" val="20002"/>
                    </a:ext>
                  </a:extLst>
                </a:gridCol>
                <a:gridCol w="937290">
                  <a:extLst>
                    <a:ext uri="{9D8B030D-6E8A-4147-A177-3AD203B41FA5}">
                      <a16:colId xmlns:a16="http://schemas.microsoft.com/office/drawing/2014/main" val="20003"/>
                    </a:ext>
                  </a:extLst>
                </a:gridCol>
                <a:gridCol w="937290">
                  <a:extLst>
                    <a:ext uri="{9D8B030D-6E8A-4147-A177-3AD203B41FA5}">
                      <a16:colId xmlns:a16="http://schemas.microsoft.com/office/drawing/2014/main" val="20004"/>
                    </a:ext>
                  </a:extLst>
                </a:gridCol>
              </a:tblGrid>
              <a:tr h="304839">
                <a:tc>
                  <a:txBody>
                    <a:bodyPr/>
                    <a:lstStyle/>
                    <a:p>
                      <a:pPr algn="ctr">
                        <a:spcAft>
                          <a:spcPts val="0"/>
                        </a:spcAft>
                      </a:pPr>
                      <a:r>
                        <a:rPr lang="zh-CN" sz="1600" kern="100" dirty="0">
                          <a:effectLst/>
                          <a:latin typeface="微软雅黑" panose="020B0503020204020204" pitchFamily="34" charset="-122"/>
                          <a:ea typeface="微软雅黑" panose="020B0503020204020204" pitchFamily="34" charset="-122"/>
                        </a:rPr>
                        <a:t>学号</a:t>
                      </a:r>
                    </a:p>
                  </a:txBody>
                  <a:tcPr marL="68575" marR="68575" marT="0" marB="0"/>
                </a:tc>
                <a:tc>
                  <a:txBody>
                    <a:bodyPr/>
                    <a:lstStyle/>
                    <a:p>
                      <a:pPr algn="ctr">
                        <a:spcAft>
                          <a:spcPts val="0"/>
                        </a:spcAft>
                      </a:pPr>
                      <a:r>
                        <a:rPr lang="zh-CN" sz="1600" kern="100" dirty="0">
                          <a:effectLst/>
                          <a:latin typeface="微软雅黑" panose="020B0503020204020204" pitchFamily="34" charset="-122"/>
                          <a:ea typeface="微软雅黑" panose="020B0503020204020204" pitchFamily="34" charset="-122"/>
                        </a:rPr>
                        <a:t>姓名</a:t>
                      </a:r>
                    </a:p>
                  </a:txBody>
                  <a:tcPr marL="68575" marR="68575" marT="0" marB="0"/>
                </a:tc>
                <a:tc>
                  <a:txBody>
                    <a:bodyPr/>
                    <a:lstStyle/>
                    <a:p>
                      <a:pPr algn="ctr">
                        <a:spcAft>
                          <a:spcPts val="0"/>
                        </a:spcAft>
                      </a:pPr>
                      <a:r>
                        <a:rPr lang="zh-CN" sz="1600" kern="100" dirty="0">
                          <a:effectLst/>
                          <a:latin typeface="微软雅黑" panose="020B0503020204020204" pitchFamily="34" charset="-122"/>
                          <a:ea typeface="微软雅黑" panose="020B0503020204020204" pitchFamily="34" charset="-122"/>
                        </a:rPr>
                        <a:t>性别</a:t>
                      </a:r>
                    </a:p>
                  </a:txBody>
                  <a:tcPr marL="68575" marR="68575" marT="0" marB="0"/>
                </a:tc>
                <a:tc>
                  <a:txBody>
                    <a:bodyPr/>
                    <a:lstStyle/>
                    <a:p>
                      <a:pPr algn="ctr">
                        <a:spcAft>
                          <a:spcPts val="0"/>
                        </a:spcAft>
                      </a:pPr>
                      <a:r>
                        <a:rPr lang="zh-CN" sz="1600" kern="100">
                          <a:effectLst/>
                          <a:latin typeface="微软雅黑" panose="020B0503020204020204" pitchFamily="34" charset="-122"/>
                          <a:ea typeface="微软雅黑" panose="020B0503020204020204" pitchFamily="34" charset="-122"/>
                        </a:rPr>
                        <a:t>专业号</a:t>
                      </a:r>
                    </a:p>
                  </a:txBody>
                  <a:tcPr marL="68575" marR="68575" marT="0" marB="0"/>
                </a:tc>
                <a:tc>
                  <a:txBody>
                    <a:bodyPr/>
                    <a:lstStyle/>
                    <a:p>
                      <a:pPr algn="ctr">
                        <a:spcAft>
                          <a:spcPts val="0"/>
                        </a:spcAft>
                      </a:pPr>
                      <a:r>
                        <a:rPr lang="zh-CN" sz="1600" kern="100">
                          <a:effectLst/>
                          <a:latin typeface="微软雅黑" panose="020B0503020204020204" pitchFamily="34" charset="-122"/>
                          <a:ea typeface="微软雅黑" panose="020B0503020204020204" pitchFamily="34" charset="-122"/>
                        </a:rPr>
                        <a:t>年龄</a:t>
                      </a:r>
                    </a:p>
                  </a:txBody>
                  <a:tcPr marL="68575" marR="68575" marT="0" marB="0"/>
                </a:tc>
                <a:extLst>
                  <a:ext uri="{0D108BD9-81ED-4DB2-BD59-A6C34878D82A}">
                    <a16:rowId xmlns:a16="http://schemas.microsoft.com/office/drawing/2014/main" val="10000"/>
                  </a:ext>
                </a:extLst>
              </a:tr>
              <a:tr h="388124">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801</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张三</a:t>
                      </a:r>
                    </a:p>
                  </a:txBody>
                  <a:tcPr marL="68575" marR="68575"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75" marR="68575"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01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19</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tc>
                <a:extLst>
                  <a:ext uri="{0D108BD9-81ED-4DB2-BD59-A6C34878D82A}">
                    <a16:rowId xmlns:a16="http://schemas.microsoft.com/office/drawing/2014/main" val="10001"/>
                  </a:ext>
                </a:extLst>
              </a:tr>
              <a:tr h="388124">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802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李四</a:t>
                      </a:r>
                    </a:p>
                  </a:txBody>
                  <a:tcPr marL="68575" marR="68575"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8575" marR="68575"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01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tc>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20</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tc>
                <a:extLst>
                  <a:ext uri="{0D108BD9-81ED-4DB2-BD59-A6C34878D82A}">
                    <a16:rowId xmlns:a16="http://schemas.microsoft.com/office/drawing/2014/main" val="10002"/>
                  </a:ext>
                </a:extLst>
              </a:tr>
              <a:tr h="388124">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803</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王五</a:t>
                      </a:r>
                    </a:p>
                  </a:txBody>
                  <a:tcPr marL="68575" marR="68575"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8575" marR="68575"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01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20</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tc>
                <a:extLst>
                  <a:ext uri="{0D108BD9-81ED-4DB2-BD59-A6C34878D82A}">
                    <a16:rowId xmlns:a16="http://schemas.microsoft.com/office/drawing/2014/main" val="10003"/>
                  </a:ext>
                </a:extLst>
              </a:tr>
              <a:tr h="388124">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804</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赵六</a:t>
                      </a:r>
                    </a:p>
                  </a:txBody>
                  <a:tcPr marL="68575" marR="68575"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75" marR="68575" marT="0" marB="0"/>
                </a:tc>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02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20</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tc>
                <a:extLst>
                  <a:ext uri="{0D108BD9-81ED-4DB2-BD59-A6C34878D82A}">
                    <a16:rowId xmlns:a16="http://schemas.microsoft.com/office/drawing/2014/main" val="10004"/>
                  </a:ext>
                </a:extLst>
              </a:tr>
              <a:tr h="304839">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805</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钱七</a:t>
                      </a:r>
                    </a:p>
                  </a:txBody>
                  <a:tcPr marL="68575" marR="68575"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8575" marR="68575" marT="0" marB="0"/>
                </a:tc>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02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tc>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19</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75" marR="68575" marT="0" marB="0"/>
                </a:tc>
                <a:extLst>
                  <a:ext uri="{0D108BD9-81ED-4DB2-BD59-A6C34878D82A}">
                    <a16:rowId xmlns:a16="http://schemas.microsoft.com/office/drawing/2014/main" val="10005"/>
                  </a:ext>
                </a:extLst>
              </a:tr>
            </a:tbl>
          </a:graphicData>
        </a:graphic>
      </p:graphicFrame>
      <p:graphicFrame>
        <p:nvGraphicFramePr>
          <p:cNvPr id="4" name="表格 3">
            <a:extLst>
              <a:ext uri="{FF2B5EF4-FFF2-40B4-BE49-F238E27FC236}">
                <a16:creationId xmlns:a16="http://schemas.microsoft.com/office/drawing/2014/main" id="{40C8AB93-A534-4D80-8636-8F264E80655F}"/>
              </a:ext>
            </a:extLst>
          </p:cNvPr>
          <p:cNvGraphicFramePr>
            <a:graphicFrameLocks noGrp="1"/>
          </p:cNvGraphicFramePr>
          <p:nvPr>
            <p:extLst>
              <p:ext uri="{D42A27DB-BD31-4B8C-83A1-F6EECF244321}">
                <p14:modId xmlns:p14="http://schemas.microsoft.com/office/powerpoint/2010/main" val="3214603682"/>
              </p:ext>
            </p:extLst>
          </p:nvPr>
        </p:nvGraphicFramePr>
        <p:xfrm>
          <a:off x="2782889" y="4221163"/>
          <a:ext cx="2843329" cy="1331912"/>
        </p:xfrm>
        <a:graphic>
          <a:graphicData uri="http://schemas.openxmlformats.org/drawingml/2006/table">
            <a:tbl>
              <a:tblPr>
                <a:tableStyleId>{5C22544A-7EE6-4342-B048-85BDC9FD1C3A}</a:tableStyleId>
              </a:tblPr>
              <a:tblGrid>
                <a:gridCol w="1417471">
                  <a:extLst>
                    <a:ext uri="{9D8B030D-6E8A-4147-A177-3AD203B41FA5}">
                      <a16:colId xmlns:a16="http://schemas.microsoft.com/office/drawing/2014/main" val="20000"/>
                    </a:ext>
                  </a:extLst>
                </a:gridCol>
                <a:gridCol w="1425858">
                  <a:extLst>
                    <a:ext uri="{9D8B030D-6E8A-4147-A177-3AD203B41FA5}">
                      <a16:colId xmlns:a16="http://schemas.microsoft.com/office/drawing/2014/main" val="20001"/>
                    </a:ext>
                  </a:extLst>
                </a:gridCol>
              </a:tblGrid>
              <a:tr h="304853">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专业号</a:t>
                      </a:r>
                    </a:p>
                  </a:txBody>
                  <a:tcPr marL="68597" marR="68597" marT="0" marB="0"/>
                </a:tc>
                <a:tc>
                  <a:txBody>
                    <a:bodyPr/>
                    <a:lstStyle/>
                    <a:p>
                      <a:pPr algn="ctr">
                        <a:spcAft>
                          <a:spcPts val="0"/>
                        </a:spcAft>
                      </a:pPr>
                      <a:r>
                        <a:rPr lang="zh-CN" sz="1600" kern="100">
                          <a:effectLst/>
                          <a:latin typeface="微软雅黑" panose="020B0503020204020204" pitchFamily="34" charset="-122"/>
                          <a:ea typeface="微软雅黑" panose="020B0503020204020204" pitchFamily="34" charset="-122"/>
                        </a:rPr>
                        <a:t>专业名</a:t>
                      </a:r>
                    </a:p>
                  </a:txBody>
                  <a:tcPr marL="68597" marR="68597" marT="0" marB="0"/>
                </a:tc>
                <a:extLst>
                  <a:ext uri="{0D108BD9-81ED-4DB2-BD59-A6C34878D82A}">
                    <a16:rowId xmlns:a16="http://schemas.microsoft.com/office/drawing/2014/main" val="10000"/>
                  </a:ext>
                </a:extLst>
              </a:tr>
              <a:tr h="361103">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01</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97" marR="68597" marT="0" marB="0"/>
                </a:tc>
                <a:tc>
                  <a:txBody>
                    <a:bodyPr/>
                    <a:lstStyle/>
                    <a:p>
                      <a:pPr algn="ctr">
                        <a:spcAft>
                          <a:spcPts val="0"/>
                        </a:spcAft>
                      </a:pPr>
                      <a:r>
                        <a:rPr lang="zh-CN" sz="1600" kern="100" dirty="0">
                          <a:effectLst/>
                          <a:latin typeface="微软雅黑" panose="020B0503020204020204" pitchFamily="34" charset="-122"/>
                          <a:ea typeface="微软雅黑" panose="020B0503020204020204" pitchFamily="34" charset="-122"/>
                        </a:rPr>
                        <a:t>信息</a:t>
                      </a:r>
                    </a:p>
                  </a:txBody>
                  <a:tcPr marL="68597" marR="68597" marT="0" marB="0"/>
                </a:tc>
                <a:extLst>
                  <a:ext uri="{0D108BD9-81ED-4DB2-BD59-A6C34878D82A}">
                    <a16:rowId xmlns:a16="http://schemas.microsoft.com/office/drawing/2014/main" val="10001"/>
                  </a:ext>
                </a:extLst>
              </a:tr>
              <a:tr h="361103">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02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97" marR="68597" marT="0" marB="0"/>
                </a:tc>
                <a:tc>
                  <a:txBody>
                    <a:bodyPr/>
                    <a:lstStyle/>
                    <a:p>
                      <a:pPr algn="ctr">
                        <a:spcAft>
                          <a:spcPts val="0"/>
                        </a:spcAft>
                      </a:pPr>
                      <a:r>
                        <a:rPr lang="zh-CN" sz="1600" kern="100">
                          <a:effectLst/>
                          <a:latin typeface="微软雅黑" panose="020B0503020204020204" pitchFamily="34" charset="-122"/>
                          <a:ea typeface="微软雅黑" panose="020B0503020204020204" pitchFamily="34" charset="-122"/>
                        </a:rPr>
                        <a:t>数学</a:t>
                      </a:r>
                    </a:p>
                  </a:txBody>
                  <a:tcPr marL="68597" marR="68597" marT="0" marB="0"/>
                </a:tc>
                <a:extLst>
                  <a:ext uri="{0D108BD9-81ED-4DB2-BD59-A6C34878D82A}">
                    <a16:rowId xmlns:a16="http://schemas.microsoft.com/office/drawing/2014/main" val="10002"/>
                  </a:ext>
                </a:extLst>
              </a:tr>
              <a:tr h="304853">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03</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97" marR="68597" marT="0" marB="0"/>
                </a:tc>
                <a:tc>
                  <a:txBody>
                    <a:bodyPr/>
                    <a:lstStyle/>
                    <a:p>
                      <a:pPr algn="ctr">
                        <a:spcAft>
                          <a:spcPts val="0"/>
                        </a:spcAft>
                      </a:pPr>
                      <a:r>
                        <a:rPr lang="zh-CN" sz="1600" kern="100" dirty="0">
                          <a:effectLst/>
                          <a:latin typeface="微软雅黑" panose="020B0503020204020204" pitchFamily="34" charset="-122"/>
                          <a:ea typeface="微软雅黑" panose="020B0503020204020204" pitchFamily="34" charset="-122"/>
                        </a:rPr>
                        <a:t>计算机</a:t>
                      </a:r>
                    </a:p>
                  </a:txBody>
                  <a:tcPr marL="68597" marR="68597" marT="0" marB="0"/>
                </a:tc>
                <a:extLst>
                  <a:ext uri="{0D108BD9-81ED-4DB2-BD59-A6C34878D82A}">
                    <a16:rowId xmlns:a16="http://schemas.microsoft.com/office/drawing/2014/main" val="10003"/>
                  </a:ext>
                </a:extLst>
              </a:tr>
            </a:tbl>
          </a:graphicData>
        </a:graphic>
      </p:graphicFrame>
      <p:sp>
        <p:nvSpPr>
          <p:cNvPr id="7" name="Oval 12">
            <a:extLst>
              <a:ext uri="{FF2B5EF4-FFF2-40B4-BE49-F238E27FC236}">
                <a16:creationId xmlns:a16="http://schemas.microsoft.com/office/drawing/2014/main" id="{D216F4E0-CEE0-4EAA-98DB-0E4A6A19539E}"/>
              </a:ext>
            </a:extLst>
          </p:cNvPr>
          <p:cNvSpPr>
            <a:spLocks noChangeArrowheads="1"/>
          </p:cNvSpPr>
          <p:nvPr/>
        </p:nvSpPr>
        <p:spPr bwMode="auto">
          <a:xfrm>
            <a:off x="8071010" y="1524291"/>
            <a:ext cx="431800" cy="1943100"/>
          </a:xfrm>
          <a:prstGeom prst="ellipse">
            <a:avLst/>
          </a:prstGeom>
          <a:noFill/>
          <a:ln w="28575"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eaLnBrk="1" hangingPunct="1">
              <a:spcBef>
                <a:spcPct val="0"/>
              </a:spcBef>
              <a:buClrTx/>
              <a:buSzTx/>
              <a:buFontTx/>
              <a:buNone/>
            </a:pPr>
            <a:endParaRPr lang="zh-CN" altLang="en-US" sz="1800">
              <a:latin typeface="Arial" panose="020B0604020202020204" pitchFamily="34" charset="0"/>
              <a:ea typeface="宋体" panose="02010600030101010101" pitchFamily="2" charset="-122"/>
            </a:endParaRPr>
          </a:p>
        </p:txBody>
      </p:sp>
      <p:sp>
        <p:nvSpPr>
          <p:cNvPr id="8" name="Oval 12">
            <a:extLst>
              <a:ext uri="{FF2B5EF4-FFF2-40B4-BE49-F238E27FC236}">
                <a16:creationId xmlns:a16="http://schemas.microsoft.com/office/drawing/2014/main" id="{BAA2CC4A-CF35-46C1-9E61-2FACCE643ABD}"/>
              </a:ext>
            </a:extLst>
          </p:cNvPr>
          <p:cNvSpPr>
            <a:spLocks noChangeArrowheads="1"/>
          </p:cNvSpPr>
          <p:nvPr/>
        </p:nvSpPr>
        <p:spPr bwMode="auto">
          <a:xfrm>
            <a:off x="3277110" y="4489451"/>
            <a:ext cx="431800" cy="1063625"/>
          </a:xfrm>
          <a:prstGeom prst="ellipse">
            <a:avLst/>
          </a:prstGeom>
          <a:noFill/>
          <a:ln w="28575"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eaLnBrk="1" hangingPunct="1">
              <a:spcBef>
                <a:spcPct val="0"/>
              </a:spcBef>
              <a:buClrTx/>
              <a:buSzTx/>
              <a:buFontTx/>
              <a:buNone/>
            </a:pPr>
            <a:endParaRPr lang="zh-CN" altLang="en-US" sz="1800">
              <a:latin typeface="Arial" panose="020B0604020202020204" pitchFamily="34" charset="0"/>
              <a:ea typeface="宋体" panose="02010600030101010101" pitchFamily="2" charset="-122"/>
            </a:endParaRPr>
          </a:p>
        </p:txBody>
      </p:sp>
      <p:cxnSp>
        <p:nvCxnSpPr>
          <p:cNvPr id="6" name="直接箭头连接符 5">
            <a:extLst>
              <a:ext uri="{FF2B5EF4-FFF2-40B4-BE49-F238E27FC236}">
                <a16:creationId xmlns:a16="http://schemas.microsoft.com/office/drawing/2014/main" id="{30A02E0B-A697-4909-9BE0-A654C3CFAB4D}"/>
              </a:ext>
            </a:extLst>
          </p:cNvPr>
          <p:cNvCxnSpPr>
            <a:cxnSpLocks noChangeShapeType="1"/>
            <a:stCxn id="7" idx="3"/>
          </p:cNvCxnSpPr>
          <p:nvPr/>
        </p:nvCxnSpPr>
        <p:spPr bwMode="auto">
          <a:xfrm flipH="1">
            <a:off x="3935414" y="3182831"/>
            <a:ext cx="4198832" cy="1614594"/>
          </a:xfrm>
          <a:prstGeom prst="straightConnector1">
            <a:avLst/>
          </a:prstGeom>
          <a:noFill/>
          <a:ln w="28575" cap="sq" algn="ctr">
            <a:solidFill>
              <a:srgbClr val="669900"/>
            </a:solidFill>
            <a:round/>
            <a:headEnd type="none" w="lg" len="lg"/>
            <a:tailEnd type="arrow" w="lg" len="lg"/>
          </a:ln>
          <a:extLst>
            <a:ext uri="{909E8E84-426E-40DD-AFC4-6F175D3DCCD1}">
              <a14:hiddenFill xmlns:a14="http://schemas.microsoft.com/office/drawing/2010/main">
                <a:noFill/>
              </a14:hiddenFill>
            </a:ext>
          </a:extLst>
        </p:spPr>
      </p:cxnSp>
      <p:sp>
        <p:nvSpPr>
          <p:cNvPr id="15" name="标题 290817">
            <a:extLst>
              <a:ext uri="{FF2B5EF4-FFF2-40B4-BE49-F238E27FC236}">
                <a16:creationId xmlns:a16="http://schemas.microsoft.com/office/drawing/2014/main" id="{A8A45B07-0BEE-438F-9D3E-9182FC26E0A6}"/>
              </a:ext>
            </a:extLst>
          </p:cNvPr>
          <p:cNvSpPr>
            <a:spLocks noGrp="1" noChangeArrowheads="1"/>
          </p:cNvSpPr>
          <p:nvPr>
            <p:ph type="title"/>
          </p:nvPr>
        </p:nvSpPr>
        <p:spPr/>
        <p:txBody>
          <a:bodyPr/>
          <a:lstStyle/>
          <a:p>
            <a:r>
              <a:rPr lang="zh-CN" altLang="en-US" dirty="0"/>
              <a:t>关系间的引用</a:t>
            </a:r>
            <a:r>
              <a:rPr lang="en-US" altLang="zh-CN" dirty="0"/>
              <a:t>(</a:t>
            </a:r>
            <a:r>
              <a:rPr lang="zh-CN" altLang="en-US" dirty="0"/>
              <a:t>续</a:t>
            </a:r>
            <a:r>
              <a:rPr lang="en-US" altLang="zh-CN" dirty="0"/>
              <a:t>)</a:t>
            </a:r>
          </a:p>
        </p:txBody>
      </p:sp>
      <p:sp>
        <p:nvSpPr>
          <p:cNvPr id="22" name="灯片编号占位符 21">
            <a:extLst>
              <a:ext uri="{FF2B5EF4-FFF2-40B4-BE49-F238E27FC236}">
                <a16:creationId xmlns:a16="http://schemas.microsoft.com/office/drawing/2014/main" id="{DCD6E138-A70B-43D2-AB8A-E659DAF77751}"/>
              </a:ext>
            </a:extLst>
          </p:cNvPr>
          <p:cNvSpPr>
            <a:spLocks noGrp="1"/>
          </p:cNvSpPr>
          <p:nvPr>
            <p:ph type="sldNum" sz="quarter" idx="12"/>
          </p:nvPr>
        </p:nvSpPr>
        <p:spPr/>
        <p:txBody>
          <a:bodyPr/>
          <a:lstStyle/>
          <a:p>
            <a:fld id="{47C9E101-E51D-431E-84FA-C029B8655B60}" type="slidenum">
              <a:rPr lang="zh-CN" altLang="en-US" smtClean="0"/>
              <a:pPr/>
              <a:t>36</a:t>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heel(1)">
                                      <p:cBhvr>
                                        <p:cTn id="1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表格 18">
            <a:extLst>
              <a:ext uri="{FF2B5EF4-FFF2-40B4-BE49-F238E27FC236}">
                <a16:creationId xmlns:a16="http://schemas.microsoft.com/office/drawing/2014/main" id="{03F47832-C9D3-44CD-B787-A223A6208D6B}"/>
              </a:ext>
            </a:extLst>
          </p:cNvPr>
          <p:cNvGraphicFramePr>
            <a:graphicFrameLocks noGrp="1"/>
          </p:cNvGraphicFramePr>
          <p:nvPr>
            <p:extLst>
              <p:ext uri="{D42A27DB-BD31-4B8C-83A1-F6EECF244321}">
                <p14:modId xmlns:p14="http://schemas.microsoft.com/office/powerpoint/2010/main" val="3206876048"/>
              </p:ext>
            </p:extLst>
          </p:nvPr>
        </p:nvGraphicFramePr>
        <p:xfrm>
          <a:off x="2566988" y="4842111"/>
          <a:ext cx="2735336" cy="1389195"/>
        </p:xfrm>
        <a:graphic>
          <a:graphicData uri="http://schemas.openxmlformats.org/drawingml/2006/table">
            <a:tbl>
              <a:tblPr/>
              <a:tblGrid>
                <a:gridCol w="801427">
                  <a:extLst>
                    <a:ext uri="{9D8B030D-6E8A-4147-A177-3AD203B41FA5}">
                      <a16:colId xmlns:a16="http://schemas.microsoft.com/office/drawing/2014/main" val="20000"/>
                    </a:ext>
                  </a:extLst>
                </a:gridCol>
                <a:gridCol w="1122826">
                  <a:extLst>
                    <a:ext uri="{9D8B030D-6E8A-4147-A177-3AD203B41FA5}">
                      <a16:colId xmlns:a16="http://schemas.microsoft.com/office/drawing/2014/main" val="20001"/>
                    </a:ext>
                  </a:extLst>
                </a:gridCol>
                <a:gridCol w="811083">
                  <a:extLst>
                    <a:ext uri="{9D8B030D-6E8A-4147-A177-3AD203B41FA5}">
                      <a16:colId xmlns:a16="http://schemas.microsoft.com/office/drawing/2014/main" val="20002"/>
                    </a:ext>
                  </a:extLst>
                </a:gridCol>
              </a:tblGrid>
              <a:tr h="277839">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b="0" i="0" u="none" strike="noStrike" cap="none" normalizeH="0" baseline="0">
                          <a:ln>
                            <a:noFill/>
                          </a:ln>
                          <a:solidFill>
                            <a:srgbClr val="000000"/>
                          </a:solidFill>
                          <a:effectLst/>
                          <a:latin typeface="Arial" panose="020B0604020202020204" pitchFamily="34" charset="0"/>
                          <a:ea typeface="黑体" panose="02010609060101010101" pitchFamily="49" charset="-122"/>
                        </a:rPr>
                        <a:t>课程号</a:t>
                      </a:r>
                      <a:endParaRPr kumimoji="0" lang="zh-CN" alt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68569" marR="68569"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Arial" panose="020B0604020202020204" pitchFamily="34" charset="0"/>
                          <a:ea typeface="黑体" panose="02010609060101010101" pitchFamily="49" charset="-122"/>
                        </a:rPr>
                        <a:t>课程名</a:t>
                      </a:r>
                      <a:endParaRPr kumimoji="0" lang="zh-CN"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marL="68569" marR="68569"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Arial" panose="020B0604020202020204" pitchFamily="34" charset="0"/>
                          <a:ea typeface="黑体" panose="02010609060101010101" pitchFamily="49" charset="-122"/>
                        </a:rPr>
                        <a:t>学分</a:t>
                      </a:r>
                      <a:endParaRPr kumimoji="0" lang="zh-CN"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marL="68569" marR="68569"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0"/>
                  </a:ext>
                </a:extLst>
              </a:tr>
              <a:tr h="277839">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0" lang="zh-CN" alt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69" marR="68569"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数据库</a:t>
                      </a:r>
                    </a:p>
                  </a:txBody>
                  <a:tcPr marL="68569" marR="68569"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69" marR="68569"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1"/>
                  </a:ext>
                </a:extLst>
              </a:tr>
              <a:tr h="277839">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02</a:t>
                      </a:r>
                      <a:endParaRPr kumimoji="0" lang="zh-CN" alt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69" marR="68569"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数据结构</a:t>
                      </a:r>
                    </a:p>
                  </a:txBody>
                  <a:tcPr marL="68569" marR="68569"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69" marR="68569"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2"/>
                  </a:ext>
                </a:extLst>
              </a:tr>
              <a:tr h="277839">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03</a:t>
                      </a:r>
                      <a:endParaRPr kumimoji="0" lang="zh-CN" alt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69" marR="68569"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编译</a:t>
                      </a:r>
                    </a:p>
                  </a:txBody>
                  <a:tcPr marL="68569" marR="68569"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69" marR="68569"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3"/>
                  </a:ext>
                </a:extLst>
              </a:tr>
              <a:tr h="277839">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04</a:t>
                      </a:r>
                      <a:endParaRPr kumimoji="0" lang="zh-CN"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69" marR="68569"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zh-CN"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69" marR="68569"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buClr>
                          <a:srgbClr val="6699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zh-CN"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69" marR="68569"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4"/>
                  </a:ext>
                </a:extLst>
              </a:tr>
            </a:tbl>
          </a:graphicData>
        </a:graphic>
      </p:graphicFrame>
      <p:sp>
        <p:nvSpPr>
          <p:cNvPr id="60418" name="标题 290817">
            <a:extLst>
              <a:ext uri="{FF2B5EF4-FFF2-40B4-BE49-F238E27FC236}">
                <a16:creationId xmlns:a16="http://schemas.microsoft.com/office/drawing/2014/main" id="{006CBF7C-EFDE-4471-BC6A-70CD133E6558}"/>
              </a:ext>
            </a:extLst>
          </p:cNvPr>
          <p:cNvSpPr>
            <a:spLocks noGrp="1" noChangeArrowheads="1"/>
          </p:cNvSpPr>
          <p:nvPr>
            <p:ph type="title"/>
          </p:nvPr>
        </p:nvSpPr>
        <p:spPr/>
        <p:txBody>
          <a:bodyPr/>
          <a:lstStyle/>
          <a:p>
            <a:r>
              <a:rPr lang="zh-CN" altLang="en-US" dirty="0"/>
              <a:t>关系间的引用</a:t>
            </a:r>
            <a:r>
              <a:rPr lang="en-US" altLang="zh-CN" dirty="0"/>
              <a:t>(</a:t>
            </a:r>
            <a:r>
              <a:rPr lang="zh-CN" altLang="en-US" dirty="0"/>
              <a:t>续</a:t>
            </a:r>
            <a:r>
              <a:rPr lang="en-US" altLang="zh-CN" dirty="0"/>
              <a:t>)</a:t>
            </a:r>
          </a:p>
        </p:txBody>
      </p:sp>
      <p:sp>
        <p:nvSpPr>
          <p:cNvPr id="60419" name="文本占位符 290818">
            <a:extLst>
              <a:ext uri="{FF2B5EF4-FFF2-40B4-BE49-F238E27FC236}">
                <a16:creationId xmlns:a16="http://schemas.microsoft.com/office/drawing/2014/main" id="{4B74394D-540F-4799-9803-F5FA7C17254F}"/>
              </a:ext>
            </a:extLst>
          </p:cNvPr>
          <p:cNvSpPr>
            <a:spLocks noGrp="1" noChangeArrowheads="1"/>
          </p:cNvSpPr>
          <p:nvPr>
            <p:ph idx="1"/>
          </p:nvPr>
        </p:nvSpPr>
        <p:spPr/>
        <p:txBody>
          <a:bodyPr>
            <a:normAutofit/>
          </a:bodyPr>
          <a:lstStyle/>
          <a:p>
            <a:r>
              <a:rPr lang="zh-CN" altLang="en-US" dirty="0"/>
              <a:t>例</a:t>
            </a:r>
            <a:r>
              <a:rPr lang="en-US" altLang="zh-CN" dirty="0"/>
              <a:t>2</a:t>
            </a:r>
            <a:r>
              <a:rPr lang="zh-CN" altLang="en-US" dirty="0"/>
              <a:t>：</a:t>
            </a:r>
            <a:r>
              <a:rPr lang="en-US" altLang="zh-CN" dirty="0"/>
              <a:t>  </a:t>
            </a:r>
            <a:r>
              <a:rPr lang="zh-CN" altLang="en-US" dirty="0"/>
              <a:t>学生、课程、学生与课程之间的多对多联系</a:t>
            </a:r>
          </a:p>
          <a:p>
            <a:pPr marL="342900" lvl="1" indent="0">
              <a:buNone/>
            </a:pPr>
            <a:r>
              <a:rPr lang="zh-CN" altLang="en-US" dirty="0"/>
              <a:t>学生（</a:t>
            </a:r>
            <a:r>
              <a:rPr lang="zh-CN" altLang="en-US" u="sng" dirty="0">
                <a:solidFill>
                  <a:srgbClr val="C00000"/>
                </a:solidFill>
              </a:rPr>
              <a:t>学号</a:t>
            </a:r>
            <a:r>
              <a:rPr lang="zh-CN" altLang="en-US" dirty="0"/>
              <a:t>，姓名，性别，专业号，年龄）</a:t>
            </a:r>
          </a:p>
          <a:p>
            <a:pPr marL="342900" lvl="1" indent="0">
              <a:buNone/>
            </a:pPr>
            <a:r>
              <a:rPr lang="zh-CN" altLang="en-US" dirty="0"/>
              <a:t>课程（</a:t>
            </a:r>
            <a:r>
              <a:rPr lang="zh-CN" altLang="en-US" u="sng" dirty="0">
                <a:solidFill>
                  <a:srgbClr val="3333FF"/>
                </a:solidFill>
              </a:rPr>
              <a:t>课程号</a:t>
            </a:r>
            <a:r>
              <a:rPr lang="zh-CN" altLang="en-US" dirty="0"/>
              <a:t>，课程名，学分）</a:t>
            </a:r>
          </a:p>
          <a:p>
            <a:pPr marL="342900" lvl="1" indent="0">
              <a:buNone/>
            </a:pPr>
            <a:r>
              <a:rPr lang="zh-CN" altLang="en-US" dirty="0"/>
              <a:t>选修（</a:t>
            </a:r>
            <a:r>
              <a:rPr lang="zh-CN" altLang="en-US" u="sng" dirty="0">
                <a:solidFill>
                  <a:srgbClr val="C00000"/>
                </a:solidFill>
              </a:rPr>
              <a:t>学号</a:t>
            </a:r>
            <a:r>
              <a:rPr lang="zh-CN" altLang="en-US" dirty="0"/>
              <a:t>，</a:t>
            </a:r>
            <a:r>
              <a:rPr lang="zh-CN" altLang="en-US" u="sng" dirty="0">
                <a:solidFill>
                  <a:srgbClr val="3333FF"/>
                </a:solidFill>
              </a:rPr>
              <a:t>课程号</a:t>
            </a:r>
            <a:r>
              <a:rPr lang="zh-CN" altLang="en-US" dirty="0"/>
              <a:t>，成绩）</a:t>
            </a:r>
          </a:p>
          <a:p>
            <a:pPr marL="342900" lvl="1" indent="0">
              <a:buNone/>
            </a:pPr>
            <a:endParaRPr lang="zh-CN" altLang="en-US" dirty="0"/>
          </a:p>
        </p:txBody>
      </p:sp>
      <p:sp>
        <p:nvSpPr>
          <p:cNvPr id="36" name="灯片编号占位符 35">
            <a:extLst>
              <a:ext uri="{FF2B5EF4-FFF2-40B4-BE49-F238E27FC236}">
                <a16:creationId xmlns:a16="http://schemas.microsoft.com/office/drawing/2014/main" id="{AB5AA396-3EF4-4611-9D13-2FEA5770D3D0}"/>
              </a:ext>
            </a:extLst>
          </p:cNvPr>
          <p:cNvSpPr>
            <a:spLocks noGrp="1"/>
          </p:cNvSpPr>
          <p:nvPr>
            <p:ph type="sldNum" sz="quarter" idx="12"/>
          </p:nvPr>
        </p:nvSpPr>
        <p:spPr/>
        <p:txBody>
          <a:bodyPr/>
          <a:lstStyle/>
          <a:p>
            <a:fld id="{47C9E101-E51D-431E-84FA-C029B8655B60}" type="slidenum">
              <a:rPr lang="zh-CN" altLang="en-US" smtClean="0"/>
              <a:pPr/>
              <a:t>37</a:t>
            </a:fld>
            <a:endParaRPr lang="zh-CN" altLang="en-US" dirty="0"/>
          </a:p>
        </p:txBody>
      </p:sp>
      <p:graphicFrame>
        <p:nvGraphicFramePr>
          <p:cNvPr id="18" name="表格 17">
            <a:extLst>
              <a:ext uri="{FF2B5EF4-FFF2-40B4-BE49-F238E27FC236}">
                <a16:creationId xmlns:a16="http://schemas.microsoft.com/office/drawing/2014/main" id="{FA0639F4-6ED1-4397-9839-06E9B55CA323}"/>
              </a:ext>
            </a:extLst>
          </p:cNvPr>
          <p:cNvGraphicFramePr>
            <a:graphicFrameLocks noGrp="1"/>
          </p:cNvGraphicFramePr>
          <p:nvPr>
            <p:extLst>
              <p:ext uri="{D42A27DB-BD31-4B8C-83A1-F6EECF244321}">
                <p14:modId xmlns:p14="http://schemas.microsoft.com/office/powerpoint/2010/main" val="2073185185"/>
              </p:ext>
            </p:extLst>
          </p:nvPr>
        </p:nvGraphicFramePr>
        <p:xfrm>
          <a:off x="6493766" y="4859268"/>
          <a:ext cx="2546771" cy="1706880"/>
        </p:xfrm>
        <a:graphic>
          <a:graphicData uri="http://schemas.openxmlformats.org/drawingml/2006/table">
            <a:tbl>
              <a:tblPr>
                <a:tableStyleId>{5C22544A-7EE6-4342-B048-85BDC9FD1C3A}</a:tableStyleId>
              </a:tblPr>
              <a:tblGrid>
                <a:gridCol w="843915">
                  <a:extLst>
                    <a:ext uri="{9D8B030D-6E8A-4147-A177-3AD203B41FA5}">
                      <a16:colId xmlns:a16="http://schemas.microsoft.com/office/drawing/2014/main" val="20000"/>
                    </a:ext>
                  </a:extLst>
                </a:gridCol>
                <a:gridCol w="851428">
                  <a:extLst>
                    <a:ext uri="{9D8B030D-6E8A-4147-A177-3AD203B41FA5}">
                      <a16:colId xmlns:a16="http://schemas.microsoft.com/office/drawing/2014/main" val="20001"/>
                    </a:ext>
                  </a:extLst>
                </a:gridCol>
                <a:gridCol w="851428">
                  <a:extLst>
                    <a:ext uri="{9D8B030D-6E8A-4147-A177-3AD203B41FA5}">
                      <a16:colId xmlns:a16="http://schemas.microsoft.com/office/drawing/2014/main" val="20002"/>
                    </a:ext>
                  </a:extLst>
                </a:gridCol>
              </a:tblGrid>
              <a:tr h="198698">
                <a:tc>
                  <a:txBody>
                    <a:bodyPr/>
                    <a:lstStyle/>
                    <a:p>
                      <a:pPr algn="ctr">
                        <a:spcAft>
                          <a:spcPts val="0"/>
                        </a:spcAft>
                      </a:pPr>
                      <a:r>
                        <a:rPr lang="zh-CN" sz="1600" b="0" kern="100" dirty="0">
                          <a:effectLst/>
                        </a:rPr>
                        <a:t>学号</a:t>
                      </a:r>
                      <a:endParaRPr lang="zh-CN" sz="1600" b="0" kern="100" dirty="0">
                        <a:effectLst/>
                        <a:latin typeface="Times New Roman" panose="02020603050405020304" pitchFamily="18" charset="0"/>
                        <a:ea typeface="宋体" panose="02010600030101010101" pitchFamily="2" charset="-122"/>
                      </a:endParaRPr>
                    </a:p>
                  </a:txBody>
                  <a:tcPr marL="68577" marR="68577" marT="0" marB="0"/>
                </a:tc>
                <a:tc>
                  <a:txBody>
                    <a:bodyPr/>
                    <a:lstStyle/>
                    <a:p>
                      <a:pPr algn="ctr">
                        <a:spcAft>
                          <a:spcPts val="0"/>
                        </a:spcAft>
                      </a:pPr>
                      <a:r>
                        <a:rPr lang="zh-CN" sz="1600" b="0" kern="100">
                          <a:effectLst/>
                        </a:rPr>
                        <a:t>课程号</a:t>
                      </a:r>
                      <a:endParaRPr lang="zh-CN" sz="1600" b="0" kern="100">
                        <a:effectLst/>
                        <a:latin typeface="Times New Roman" panose="02020603050405020304" pitchFamily="18" charset="0"/>
                        <a:ea typeface="宋体" panose="02010600030101010101" pitchFamily="2" charset="-122"/>
                      </a:endParaRPr>
                    </a:p>
                  </a:txBody>
                  <a:tcPr marL="68577" marR="68577" marT="0" marB="0"/>
                </a:tc>
                <a:tc>
                  <a:txBody>
                    <a:bodyPr/>
                    <a:lstStyle/>
                    <a:p>
                      <a:pPr algn="ctr">
                        <a:spcAft>
                          <a:spcPts val="0"/>
                        </a:spcAft>
                      </a:pPr>
                      <a:r>
                        <a:rPr lang="zh-CN" sz="1600" b="0" kern="100">
                          <a:effectLst/>
                        </a:rPr>
                        <a:t>成绩</a:t>
                      </a:r>
                      <a:endParaRPr lang="zh-CN" sz="1600" b="0" kern="100">
                        <a:effectLst/>
                        <a:latin typeface="Times New Roman" panose="02020603050405020304" pitchFamily="18" charset="0"/>
                        <a:ea typeface="宋体" panose="02010600030101010101" pitchFamily="2" charset="-122"/>
                      </a:endParaRPr>
                    </a:p>
                  </a:txBody>
                  <a:tcPr marL="68577" marR="68577" marT="0" marB="0"/>
                </a:tc>
                <a:extLst>
                  <a:ext uri="{0D108BD9-81ED-4DB2-BD59-A6C34878D82A}">
                    <a16:rowId xmlns:a16="http://schemas.microsoft.com/office/drawing/2014/main" val="10000"/>
                  </a:ext>
                </a:extLst>
              </a:tr>
              <a:tr h="198698">
                <a:tc>
                  <a:txBody>
                    <a:bodyPr/>
                    <a:lstStyle/>
                    <a:p>
                      <a:pPr algn="ctr">
                        <a:spcAft>
                          <a:spcPts val="0"/>
                        </a:spcAft>
                      </a:pPr>
                      <a:r>
                        <a:rPr lang="en-US" sz="1600" b="0" kern="100" dirty="0">
                          <a:effectLst/>
                          <a:latin typeface="Times New Roman" panose="02020603050405020304" pitchFamily="18" charset="0"/>
                          <a:cs typeface="Times New Roman" panose="02020603050405020304" pitchFamily="18" charset="0"/>
                        </a:rPr>
                        <a:t>801</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tc>
                  <a:txBody>
                    <a:bodyPr/>
                    <a:lstStyle/>
                    <a:p>
                      <a:pPr algn="ctr">
                        <a:spcAft>
                          <a:spcPts val="0"/>
                        </a:spcAft>
                      </a:pPr>
                      <a:r>
                        <a:rPr lang="en-US" sz="1600" b="0" kern="100">
                          <a:effectLst/>
                          <a:latin typeface="Times New Roman" panose="02020603050405020304" pitchFamily="18" charset="0"/>
                          <a:cs typeface="Times New Roman" panose="02020603050405020304" pitchFamily="18" charset="0"/>
                        </a:rPr>
                        <a:t>04</a:t>
                      </a:r>
                      <a:endParaRPr lang="zh-CN" sz="16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tc>
                  <a:txBody>
                    <a:bodyPr/>
                    <a:lstStyle/>
                    <a:p>
                      <a:pPr algn="ctr">
                        <a:spcAft>
                          <a:spcPts val="0"/>
                        </a:spcAft>
                      </a:pPr>
                      <a:r>
                        <a:rPr lang="en-US" sz="1600" b="0" kern="100" dirty="0">
                          <a:effectLst/>
                          <a:latin typeface="Times New Roman" panose="02020603050405020304" pitchFamily="18" charset="0"/>
                          <a:cs typeface="Times New Roman" panose="02020603050405020304" pitchFamily="18" charset="0"/>
                        </a:rPr>
                        <a:t>92</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extLst>
                  <a:ext uri="{0D108BD9-81ED-4DB2-BD59-A6C34878D82A}">
                    <a16:rowId xmlns:a16="http://schemas.microsoft.com/office/drawing/2014/main" val="10001"/>
                  </a:ext>
                </a:extLst>
              </a:tr>
              <a:tr h="198698">
                <a:tc>
                  <a:txBody>
                    <a:bodyPr/>
                    <a:lstStyle/>
                    <a:p>
                      <a:pPr algn="ctr">
                        <a:spcAft>
                          <a:spcPts val="0"/>
                        </a:spcAft>
                      </a:pPr>
                      <a:r>
                        <a:rPr lang="en-US" sz="1600" b="0" kern="100" dirty="0">
                          <a:effectLst/>
                          <a:latin typeface="Times New Roman" panose="02020603050405020304" pitchFamily="18" charset="0"/>
                          <a:cs typeface="Times New Roman" panose="02020603050405020304" pitchFamily="18" charset="0"/>
                        </a:rPr>
                        <a:t>801</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tc>
                  <a:txBody>
                    <a:bodyPr/>
                    <a:lstStyle/>
                    <a:p>
                      <a:pPr algn="ctr">
                        <a:spcAft>
                          <a:spcPts val="0"/>
                        </a:spcAft>
                      </a:pPr>
                      <a:r>
                        <a:rPr lang="en-US" sz="1600" b="0" kern="100" dirty="0">
                          <a:effectLst/>
                          <a:latin typeface="Times New Roman" panose="02020603050405020304" pitchFamily="18" charset="0"/>
                          <a:cs typeface="Times New Roman" panose="02020603050405020304" pitchFamily="18" charset="0"/>
                        </a:rPr>
                        <a:t>03</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tc>
                  <a:txBody>
                    <a:bodyPr/>
                    <a:lstStyle/>
                    <a:p>
                      <a:pPr algn="ctr">
                        <a:spcAft>
                          <a:spcPts val="0"/>
                        </a:spcAft>
                      </a:pPr>
                      <a:r>
                        <a:rPr lang="en-US" sz="1600" b="0" kern="100" dirty="0">
                          <a:effectLst/>
                          <a:latin typeface="Times New Roman" panose="02020603050405020304" pitchFamily="18" charset="0"/>
                          <a:cs typeface="Times New Roman" panose="02020603050405020304" pitchFamily="18" charset="0"/>
                        </a:rPr>
                        <a:t>78</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extLst>
                  <a:ext uri="{0D108BD9-81ED-4DB2-BD59-A6C34878D82A}">
                    <a16:rowId xmlns:a16="http://schemas.microsoft.com/office/drawing/2014/main" val="10002"/>
                  </a:ext>
                </a:extLst>
              </a:tr>
              <a:tr h="198698">
                <a:tc>
                  <a:txBody>
                    <a:bodyPr/>
                    <a:lstStyle/>
                    <a:p>
                      <a:pPr algn="ctr">
                        <a:spcAft>
                          <a:spcPts val="0"/>
                        </a:spcAft>
                      </a:pPr>
                      <a:r>
                        <a:rPr lang="en-US" sz="1600" b="0" kern="100" dirty="0">
                          <a:effectLst/>
                          <a:latin typeface="Times New Roman" panose="02020603050405020304" pitchFamily="18" charset="0"/>
                          <a:cs typeface="Times New Roman" panose="02020603050405020304" pitchFamily="18" charset="0"/>
                        </a:rPr>
                        <a:t>801</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tc>
                  <a:txBody>
                    <a:bodyPr/>
                    <a:lstStyle/>
                    <a:p>
                      <a:pPr algn="ctr">
                        <a:spcAft>
                          <a:spcPts val="0"/>
                        </a:spcAft>
                      </a:pPr>
                      <a:r>
                        <a:rPr lang="en-US" sz="1600" b="0" kern="100">
                          <a:effectLst/>
                          <a:latin typeface="Times New Roman" panose="02020603050405020304" pitchFamily="18" charset="0"/>
                          <a:cs typeface="Times New Roman" panose="02020603050405020304" pitchFamily="18" charset="0"/>
                        </a:rPr>
                        <a:t>02</a:t>
                      </a:r>
                      <a:endParaRPr lang="zh-CN" sz="16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tc>
                  <a:txBody>
                    <a:bodyPr/>
                    <a:lstStyle/>
                    <a:p>
                      <a:pPr algn="ctr">
                        <a:spcAft>
                          <a:spcPts val="0"/>
                        </a:spcAft>
                      </a:pPr>
                      <a:r>
                        <a:rPr lang="en-US" sz="1600" b="0" kern="100">
                          <a:effectLst/>
                          <a:latin typeface="Times New Roman" panose="02020603050405020304" pitchFamily="18" charset="0"/>
                          <a:cs typeface="Times New Roman" panose="02020603050405020304" pitchFamily="18" charset="0"/>
                        </a:rPr>
                        <a:t>85</a:t>
                      </a:r>
                      <a:endParaRPr lang="zh-CN" sz="16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extLst>
                  <a:ext uri="{0D108BD9-81ED-4DB2-BD59-A6C34878D82A}">
                    <a16:rowId xmlns:a16="http://schemas.microsoft.com/office/drawing/2014/main" val="10003"/>
                  </a:ext>
                </a:extLst>
              </a:tr>
              <a:tr h="198698">
                <a:tc>
                  <a:txBody>
                    <a:bodyPr/>
                    <a:lstStyle/>
                    <a:p>
                      <a:pPr algn="ctr">
                        <a:spcAft>
                          <a:spcPts val="0"/>
                        </a:spcAft>
                      </a:pPr>
                      <a:r>
                        <a:rPr lang="en-US" sz="1600" b="0" kern="100">
                          <a:effectLst/>
                          <a:latin typeface="Times New Roman" panose="02020603050405020304" pitchFamily="18" charset="0"/>
                          <a:cs typeface="Times New Roman" panose="02020603050405020304" pitchFamily="18" charset="0"/>
                        </a:rPr>
                        <a:t>802</a:t>
                      </a:r>
                      <a:endParaRPr lang="zh-CN" sz="16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tc>
                  <a:txBody>
                    <a:bodyPr/>
                    <a:lstStyle/>
                    <a:p>
                      <a:pPr algn="ctr">
                        <a:spcAft>
                          <a:spcPts val="0"/>
                        </a:spcAft>
                      </a:pPr>
                      <a:r>
                        <a:rPr lang="en-US" sz="1600" b="0" kern="100" dirty="0">
                          <a:effectLst/>
                          <a:latin typeface="Times New Roman" panose="02020603050405020304" pitchFamily="18" charset="0"/>
                          <a:cs typeface="Times New Roman" panose="02020603050405020304" pitchFamily="18" charset="0"/>
                        </a:rPr>
                        <a:t>03</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tc>
                  <a:txBody>
                    <a:bodyPr/>
                    <a:lstStyle/>
                    <a:p>
                      <a:pPr algn="ctr">
                        <a:spcAft>
                          <a:spcPts val="0"/>
                        </a:spcAft>
                      </a:pPr>
                      <a:r>
                        <a:rPr lang="en-US" sz="1600" b="0" kern="100">
                          <a:effectLst/>
                          <a:latin typeface="Times New Roman" panose="02020603050405020304" pitchFamily="18" charset="0"/>
                          <a:cs typeface="Times New Roman" panose="02020603050405020304" pitchFamily="18" charset="0"/>
                        </a:rPr>
                        <a:t>82</a:t>
                      </a:r>
                      <a:endParaRPr lang="zh-CN" sz="16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extLst>
                  <a:ext uri="{0D108BD9-81ED-4DB2-BD59-A6C34878D82A}">
                    <a16:rowId xmlns:a16="http://schemas.microsoft.com/office/drawing/2014/main" val="10004"/>
                  </a:ext>
                </a:extLst>
              </a:tr>
              <a:tr h="198698">
                <a:tc>
                  <a:txBody>
                    <a:bodyPr/>
                    <a:lstStyle/>
                    <a:p>
                      <a:pPr algn="ctr">
                        <a:spcAft>
                          <a:spcPts val="0"/>
                        </a:spcAft>
                      </a:pPr>
                      <a:r>
                        <a:rPr lang="en-US" sz="1600" b="0" kern="100">
                          <a:effectLst/>
                          <a:latin typeface="Times New Roman" panose="02020603050405020304" pitchFamily="18" charset="0"/>
                          <a:cs typeface="Times New Roman" panose="02020603050405020304" pitchFamily="18" charset="0"/>
                        </a:rPr>
                        <a:t>802</a:t>
                      </a:r>
                      <a:endParaRPr lang="zh-CN" sz="16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tc>
                  <a:txBody>
                    <a:bodyPr/>
                    <a:lstStyle/>
                    <a:p>
                      <a:pPr algn="ctr">
                        <a:spcAft>
                          <a:spcPts val="0"/>
                        </a:spcAft>
                      </a:pPr>
                      <a:r>
                        <a:rPr lang="en-US" sz="1600" b="0" kern="100" dirty="0">
                          <a:effectLst/>
                          <a:latin typeface="Times New Roman" panose="02020603050405020304" pitchFamily="18" charset="0"/>
                          <a:cs typeface="Times New Roman" panose="02020603050405020304" pitchFamily="18" charset="0"/>
                        </a:rPr>
                        <a:t>04</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tc>
                  <a:txBody>
                    <a:bodyPr/>
                    <a:lstStyle/>
                    <a:p>
                      <a:pPr algn="ctr">
                        <a:spcAft>
                          <a:spcPts val="0"/>
                        </a:spcAft>
                      </a:pPr>
                      <a:r>
                        <a:rPr lang="en-US" sz="1600" b="0" kern="100" dirty="0">
                          <a:effectLst/>
                          <a:latin typeface="Times New Roman" panose="02020603050405020304" pitchFamily="18" charset="0"/>
                          <a:cs typeface="Times New Roman" panose="02020603050405020304" pitchFamily="18" charset="0"/>
                        </a:rPr>
                        <a:t>90</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extLst>
                  <a:ext uri="{0D108BD9-81ED-4DB2-BD59-A6C34878D82A}">
                    <a16:rowId xmlns:a16="http://schemas.microsoft.com/office/drawing/2014/main" val="10005"/>
                  </a:ext>
                </a:extLst>
              </a:tr>
              <a:tr h="198698">
                <a:tc>
                  <a:txBody>
                    <a:bodyPr/>
                    <a:lstStyle/>
                    <a:p>
                      <a:pPr algn="ctr">
                        <a:spcAft>
                          <a:spcPts val="0"/>
                        </a:spcAft>
                      </a:pPr>
                      <a:r>
                        <a:rPr lang="en-US" sz="1600" b="0" kern="100">
                          <a:effectLst/>
                          <a:latin typeface="Times New Roman" panose="02020603050405020304" pitchFamily="18" charset="0"/>
                          <a:cs typeface="Times New Roman" panose="02020603050405020304" pitchFamily="18" charset="0"/>
                        </a:rPr>
                        <a:t>803</a:t>
                      </a:r>
                      <a:endParaRPr lang="zh-CN" sz="16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tc>
                  <a:txBody>
                    <a:bodyPr/>
                    <a:lstStyle/>
                    <a:p>
                      <a:pPr algn="ctr">
                        <a:spcAft>
                          <a:spcPts val="0"/>
                        </a:spcAft>
                      </a:pPr>
                      <a:r>
                        <a:rPr lang="en-US" sz="1600" b="0" kern="100">
                          <a:effectLst/>
                          <a:latin typeface="Times New Roman" panose="02020603050405020304" pitchFamily="18" charset="0"/>
                          <a:cs typeface="Times New Roman" panose="02020603050405020304" pitchFamily="18" charset="0"/>
                        </a:rPr>
                        <a:t>04</a:t>
                      </a:r>
                      <a:endParaRPr lang="zh-CN" sz="1600" b="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tc>
                  <a:txBody>
                    <a:bodyPr/>
                    <a:lstStyle/>
                    <a:p>
                      <a:pPr algn="ctr">
                        <a:spcAft>
                          <a:spcPts val="0"/>
                        </a:spcAft>
                      </a:pPr>
                      <a:r>
                        <a:rPr lang="en-US" sz="1600" b="0" kern="100" dirty="0">
                          <a:effectLst/>
                          <a:latin typeface="Times New Roman" panose="02020603050405020304" pitchFamily="18" charset="0"/>
                          <a:cs typeface="Times New Roman" panose="02020603050405020304" pitchFamily="18" charset="0"/>
                        </a:rPr>
                        <a:t>88</a:t>
                      </a:r>
                      <a:endParaRPr lang="zh-CN" sz="1600" b="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77" marR="68577" marT="0" marB="0"/>
                </a:tc>
                <a:extLst>
                  <a:ext uri="{0D108BD9-81ED-4DB2-BD59-A6C34878D82A}">
                    <a16:rowId xmlns:a16="http://schemas.microsoft.com/office/drawing/2014/main" val="10006"/>
                  </a:ext>
                </a:extLst>
              </a:tr>
            </a:tbl>
          </a:graphicData>
        </a:graphic>
      </p:graphicFrame>
      <p:graphicFrame>
        <p:nvGraphicFramePr>
          <p:cNvPr id="20" name="表格 19">
            <a:extLst>
              <a:ext uri="{FF2B5EF4-FFF2-40B4-BE49-F238E27FC236}">
                <a16:creationId xmlns:a16="http://schemas.microsoft.com/office/drawing/2014/main" id="{5A7314C0-52FA-4037-8740-B642B55D2951}"/>
              </a:ext>
            </a:extLst>
          </p:cNvPr>
          <p:cNvGraphicFramePr>
            <a:graphicFrameLocks noGrp="1"/>
          </p:cNvGraphicFramePr>
          <p:nvPr>
            <p:extLst>
              <p:ext uri="{D42A27DB-BD31-4B8C-83A1-F6EECF244321}">
                <p14:modId xmlns:p14="http://schemas.microsoft.com/office/powerpoint/2010/main" val="106468153"/>
              </p:ext>
            </p:extLst>
          </p:nvPr>
        </p:nvGraphicFramePr>
        <p:xfrm>
          <a:off x="3471332" y="2903814"/>
          <a:ext cx="3738039" cy="1492057"/>
        </p:xfrm>
        <a:graphic>
          <a:graphicData uri="http://schemas.openxmlformats.org/drawingml/2006/table">
            <a:tbl>
              <a:tblPr>
                <a:tableStyleId>{5C22544A-7EE6-4342-B048-85BDC9FD1C3A}</a:tableStyleId>
              </a:tblPr>
              <a:tblGrid>
                <a:gridCol w="738787">
                  <a:extLst>
                    <a:ext uri="{9D8B030D-6E8A-4147-A177-3AD203B41FA5}">
                      <a16:colId xmlns:a16="http://schemas.microsoft.com/office/drawing/2014/main" val="20000"/>
                    </a:ext>
                  </a:extLst>
                </a:gridCol>
                <a:gridCol w="749813">
                  <a:extLst>
                    <a:ext uri="{9D8B030D-6E8A-4147-A177-3AD203B41FA5}">
                      <a16:colId xmlns:a16="http://schemas.microsoft.com/office/drawing/2014/main" val="20001"/>
                    </a:ext>
                  </a:extLst>
                </a:gridCol>
                <a:gridCol w="749813">
                  <a:extLst>
                    <a:ext uri="{9D8B030D-6E8A-4147-A177-3AD203B41FA5}">
                      <a16:colId xmlns:a16="http://schemas.microsoft.com/office/drawing/2014/main" val="20002"/>
                    </a:ext>
                  </a:extLst>
                </a:gridCol>
                <a:gridCol w="749813">
                  <a:extLst>
                    <a:ext uri="{9D8B030D-6E8A-4147-A177-3AD203B41FA5}">
                      <a16:colId xmlns:a16="http://schemas.microsoft.com/office/drawing/2014/main" val="20003"/>
                    </a:ext>
                  </a:extLst>
                </a:gridCol>
                <a:gridCol w="749813">
                  <a:extLst>
                    <a:ext uri="{9D8B030D-6E8A-4147-A177-3AD203B41FA5}">
                      <a16:colId xmlns:a16="http://schemas.microsoft.com/office/drawing/2014/main" val="20004"/>
                    </a:ext>
                  </a:extLst>
                </a:gridCol>
              </a:tblGrid>
              <a:tr h="272857">
                <a:tc>
                  <a:txBody>
                    <a:bodyPr/>
                    <a:lstStyle/>
                    <a:p>
                      <a:pPr algn="ctr">
                        <a:spcAft>
                          <a:spcPts val="0"/>
                        </a:spcAft>
                      </a:pPr>
                      <a:r>
                        <a:rPr lang="zh-CN" sz="1600" kern="100" dirty="0">
                          <a:effectLst/>
                          <a:latin typeface="微软雅黑" panose="020B0503020204020204" pitchFamily="34" charset="-122"/>
                          <a:ea typeface="微软雅黑" panose="020B0503020204020204" pitchFamily="34" charset="-122"/>
                        </a:rPr>
                        <a:t>学号</a:t>
                      </a:r>
                    </a:p>
                  </a:txBody>
                  <a:tcPr marL="68580" marR="68580" marT="0" marB="0"/>
                </a:tc>
                <a:tc>
                  <a:txBody>
                    <a:bodyPr/>
                    <a:lstStyle/>
                    <a:p>
                      <a:pPr algn="ctr">
                        <a:spcAft>
                          <a:spcPts val="0"/>
                        </a:spcAft>
                      </a:pPr>
                      <a:r>
                        <a:rPr lang="zh-CN" sz="1600" kern="100">
                          <a:effectLst/>
                          <a:latin typeface="微软雅黑" panose="020B0503020204020204" pitchFamily="34" charset="-122"/>
                          <a:ea typeface="微软雅黑" panose="020B0503020204020204" pitchFamily="34" charset="-122"/>
                        </a:rPr>
                        <a:t>姓名</a:t>
                      </a:r>
                    </a:p>
                  </a:txBody>
                  <a:tcPr marL="68580" marR="68580" marT="0" marB="0"/>
                </a:tc>
                <a:tc>
                  <a:txBody>
                    <a:bodyPr/>
                    <a:lstStyle/>
                    <a:p>
                      <a:pPr algn="ctr">
                        <a:spcAft>
                          <a:spcPts val="0"/>
                        </a:spcAft>
                      </a:pPr>
                      <a:r>
                        <a:rPr lang="zh-CN" sz="1600" kern="100">
                          <a:effectLst/>
                          <a:latin typeface="微软雅黑" panose="020B0503020204020204" pitchFamily="34" charset="-122"/>
                          <a:ea typeface="微软雅黑" panose="020B0503020204020204" pitchFamily="34" charset="-122"/>
                        </a:rPr>
                        <a:t>性别</a:t>
                      </a:r>
                    </a:p>
                  </a:txBody>
                  <a:tcPr marL="68580" marR="68580" marT="0" marB="0"/>
                </a:tc>
                <a:tc>
                  <a:txBody>
                    <a:bodyPr/>
                    <a:lstStyle/>
                    <a:p>
                      <a:pPr algn="ctr">
                        <a:spcAft>
                          <a:spcPts val="0"/>
                        </a:spcAft>
                      </a:pPr>
                      <a:r>
                        <a:rPr lang="zh-CN" sz="1600" kern="100">
                          <a:effectLst/>
                          <a:latin typeface="微软雅黑" panose="020B0503020204020204" pitchFamily="34" charset="-122"/>
                          <a:ea typeface="微软雅黑" panose="020B0503020204020204" pitchFamily="34" charset="-122"/>
                        </a:rPr>
                        <a:t>专业号</a:t>
                      </a:r>
                    </a:p>
                  </a:txBody>
                  <a:tcPr marL="68580" marR="68580" marT="0" marB="0"/>
                </a:tc>
                <a:tc>
                  <a:txBody>
                    <a:bodyPr/>
                    <a:lstStyle/>
                    <a:p>
                      <a:pPr algn="ctr">
                        <a:spcAft>
                          <a:spcPts val="0"/>
                        </a:spcAft>
                      </a:pPr>
                      <a:r>
                        <a:rPr lang="zh-CN" sz="1600" kern="100">
                          <a:effectLst/>
                          <a:latin typeface="微软雅黑" panose="020B0503020204020204" pitchFamily="34" charset="-122"/>
                          <a:ea typeface="微软雅黑" panose="020B0503020204020204" pitchFamily="34" charset="-122"/>
                        </a:rPr>
                        <a:t>年龄</a:t>
                      </a:r>
                    </a:p>
                  </a:txBody>
                  <a:tcPr marL="68580" marR="68580" marT="0" marB="0"/>
                </a:tc>
                <a:extLst>
                  <a:ext uri="{0D108BD9-81ED-4DB2-BD59-A6C34878D82A}">
                    <a16:rowId xmlns:a16="http://schemas.microsoft.com/office/drawing/2014/main" val="10000"/>
                  </a:ext>
                </a:extLst>
              </a:tr>
              <a:tr h="202627">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801</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张三</a:t>
                      </a:r>
                    </a:p>
                  </a:txBody>
                  <a:tcPr marL="68580" marR="68580"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01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19</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02627">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802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李四</a:t>
                      </a:r>
                    </a:p>
                  </a:txBody>
                  <a:tcPr marL="68580" marR="68580"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8580" marR="68580"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01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20</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02627">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803</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王五</a:t>
                      </a:r>
                    </a:p>
                  </a:txBody>
                  <a:tcPr marL="68580" marR="68580"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8580" marR="68580"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01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20</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02627">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804</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赵六</a:t>
                      </a:r>
                    </a:p>
                  </a:txBody>
                  <a:tcPr marL="68580" marR="68580"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8580" marR="68580" marT="0" marB="0"/>
                </a:tc>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02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20</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202627">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805</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钱七</a:t>
                      </a:r>
                    </a:p>
                  </a:txBody>
                  <a:tcPr marL="68580" marR="68580"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8580" marR="68580" marT="0" marB="0"/>
                </a:tc>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02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19</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
        <p:nvSpPr>
          <p:cNvPr id="21" name="Rectangle 2">
            <a:extLst>
              <a:ext uri="{FF2B5EF4-FFF2-40B4-BE49-F238E27FC236}">
                <a16:creationId xmlns:a16="http://schemas.microsoft.com/office/drawing/2014/main" id="{28BAEC05-CA9C-434A-871E-4275EF6202E1}"/>
              </a:ext>
            </a:extLst>
          </p:cNvPr>
          <p:cNvSpPr txBox="1">
            <a:spLocks noChangeArrowheads="1"/>
          </p:cNvSpPr>
          <p:nvPr/>
        </p:nvSpPr>
        <p:spPr>
          <a:xfrm>
            <a:off x="1981200" y="188914"/>
            <a:ext cx="8229600" cy="777875"/>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bg1"/>
                </a:solidFill>
                <a:latin typeface="隶书" panose="02010509060101010101" pitchFamily="49" charset="-122"/>
                <a:ea typeface="隶书" panose="02010509060101010101" pitchFamily="49" charset="-122"/>
                <a:cs typeface="+mj-cs"/>
              </a:defRPr>
            </a:lvl1pPr>
          </a:lstStyle>
          <a:p>
            <a:r>
              <a:rPr lang="en-US" altLang="zh-CN" sz="1600"/>
              <a:t> </a:t>
            </a:r>
          </a:p>
        </p:txBody>
      </p:sp>
      <p:sp>
        <p:nvSpPr>
          <p:cNvPr id="22" name="Text Box 6">
            <a:extLst>
              <a:ext uri="{FF2B5EF4-FFF2-40B4-BE49-F238E27FC236}">
                <a16:creationId xmlns:a16="http://schemas.microsoft.com/office/drawing/2014/main" id="{BD99517D-5720-4A46-8AC9-9568019E9376}"/>
              </a:ext>
            </a:extLst>
          </p:cNvPr>
          <p:cNvSpPr txBox="1">
            <a:spLocks noChangeArrowheads="1"/>
          </p:cNvSpPr>
          <p:nvPr/>
        </p:nvSpPr>
        <p:spPr bwMode="auto">
          <a:xfrm>
            <a:off x="2888837" y="2875912"/>
            <a:ext cx="63499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eaLnBrk="1" hangingPunct="1">
              <a:spcBef>
                <a:spcPct val="50000"/>
              </a:spcBef>
              <a:buClrTx/>
              <a:buSzTx/>
              <a:buFontTx/>
              <a:buNone/>
            </a:pPr>
            <a:r>
              <a:rPr kumimoji="1" lang="zh-CN" altLang="en-US" sz="1600" dirty="0">
                <a:latin typeface="微软雅黑" panose="020B0503020204020204" pitchFamily="34" charset="-122"/>
              </a:rPr>
              <a:t>学生</a:t>
            </a:r>
          </a:p>
        </p:txBody>
      </p:sp>
      <p:sp>
        <p:nvSpPr>
          <p:cNvPr id="23" name="Text Box 7">
            <a:extLst>
              <a:ext uri="{FF2B5EF4-FFF2-40B4-BE49-F238E27FC236}">
                <a16:creationId xmlns:a16="http://schemas.microsoft.com/office/drawing/2014/main" id="{83925158-706A-4A46-9F0F-194DA8A32BAC}"/>
              </a:ext>
            </a:extLst>
          </p:cNvPr>
          <p:cNvSpPr txBox="1">
            <a:spLocks noChangeArrowheads="1"/>
          </p:cNvSpPr>
          <p:nvPr/>
        </p:nvSpPr>
        <p:spPr bwMode="auto">
          <a:xfrm>
            <a:off x="9040537" y="4859268"/>
            <a:ext cx="5909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eaLnBrk="1" hangingPunct="1">
              <a:spcBef>
                <a:spcPct val="50000"/>
              </a:spcBef>
              <a:buClrTx/>
              <a:buSzTx/>
              <a:buFontTx/>
              <a:buNone/>
            </a:pPr>
            <a:r>
              <a:rPr kumimoji="1" lang="zh-CN" altLang="en-US" sz="1600" dirty="0">
                <a:latin typeface="微软雅黑" panose="020B0503020204020204" pitchFamily="34" charset="-122"/>
              </a:rPr>
              <a:t>选修</a:t>
            </a:r>
          </a:p>
        </p:txBody>
      </p:sp>
      <p:sp>
        <p:nvSpPr>
          <p:cNvPr id="24" name="Text Box 8">
            <a:extLst>
              <a:ext uri="{FF2B5EF4-FFF2-40B4-BE49-F238E27FC236}">
                <a16:creationId xmlns:a16="http://schemas.microsoft.com/office/drawing/2014/main" id="{3E4FA0D5-2587-44E5-9B9B-19F94A7A258A}"/>
              </a:ext>
            </a:extLst>
          </p:cNvPr>
          <p:cNvSpPr txBox="1">
            <a:spLocks noChangeArrowheads="1"/>
          </p:cNvSpPr>
          <p:nvPr/>
        </p:nvSpPr>
        <p:spPr bwMode="auto">
          <a:xfrm>
            <a:off x="1971520" y="4812702"/>
            <a:ext cx="6601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eaLnBrk="1" hangingPunct="1">
              <a:spcBef>
                <a:spcPct val="50000"/>
              </a:spcBef>
              <a:buClrTx/>
              <a:buSzTx/>
              <a:buFontTx/>
              <a:buNone/>
            </a:pPr>
            <a:r>
              <a:rPr kumimoji="1" lang="zh-CN" altLang="en-US" sz="1600" dirty="0">
                <a:latin typeface="微软雅黑" panose="020B0503020204020204" pitchFamily="34" charset="-122"/>
              </a:rPr>
              <a:t>课程</a:t>
            </a:r>
          </a:p>
        </p:txBody>
      </p:sp>
      <p:sp>
        <p:nvSpPr>
          <p:cNvPr id="25" name="Oval 10">
            <a:extLst>
              <a:ext uri="{FF2B5EF4-FFF2-40B4-BE49-F238E27FC236}">
                <a16:creationId xmlns:a16="http://schemas.microsoft.com/office/drawing/2014/main" id="{96C89CD6-0D10-4CC2-8DD1-622A75EC50F5}"/>
              </a:ext>
            </a:extLst>
          </p:cNvPr>
          <p:cNvSpPr>
            <a:spLocks noChangeArrowheads="1"/>
          </p:cNvSpPr>
          <p:nvPr/>
        </p:nvSpPr>
        <p:spPr bwMode="auto">
          <a:xfrm>
            <a:off x="2760675" y="5084998"/>
            <a:ext cx="446219" cy="1146308"/>
          </a:xfrm>
          <a:prstGeom prst="ellipse">
            <a:avLst/>
          </a:prstGeom>
          <a:noFill/>
          <a:ln w="28575"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eaLnBrk="1" hangingPunct="1">
              <a:spcBef>
                <a:spcPct val="0"/>
              </a:spcBef>
              <a:buClrTx/>
              <a:buSzTx/>
              <a:buFontTx/>
              <a:buNone/>
            </a:pPr>
            <a:endParaRPr lang="zh-CN" altLang="en-US" sz="1600">
              <a:latin typeface="Arial" panose="020B0604020202020204" pitchFamily="34" charset="0"/>
              <a:ea typeface="宋体" panose="02010600030101010101" pitchFamily="2" charset="-122"/>
            </a:endParaRPr>
          </a:p>
        </p:txBody>
      </p:sp>
      <p:sp>
        <p:nvSpPr>
          <p:cNvPr id="26" name="Oval 11">
            <a:extLst>
              <a:ext uri="{FF2B5EF4-FFF2-40B4-BE49-F238E27FC236}">
                <a16:creationId xmlns:a16="http://schemas.microsoft.com/office/drawing/2014/main" id="{84933594-5EDC-4641-99F2-1510B3085806}"/>
              </a:ext>
            </a:extLst>
          </p:cNvPr>
          <p:cNvSpPr>
            <a:spLocks noChangeArrowheads="1"/>
          </p:cNvSpPr>
          <p:nvPr/>
        </p:nvSpPr>
        <p:spPr bwMode="auto">
          <a:xfrm>
            <a:off x="3551822" y="3123885"/>
            <a:ext cx="558814" cy="1343592"/>
          </a:xfrm>
          <a:prstGeom prst="ellipse">
            <a:avLst/>
          </a:prstGeom>
          <a:noFill/>
          <a:ln w="28575"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eaLnBrk="1" hangingPunct="1">
              <a:spcBef>
                <a:spcPct val="0"/>
              </a:spcBef>
              <a:buClrTx/>
              <a:buSzTx/>
              <a:buFontTx/>
              <a:buNone/>
            </a:pPr>
            <a:endParaRPr lang="zh-CN" altLang="en-US" sz="1600">
              <a:latin typeface="Arial" panose="020B0604020202020204" pitchFamily="34" charset="0"/>
              <a:ea typeface="宋体" panose="02010600030101010101" pitchFamily="2" charset="-122"/>
            </a:endParaRPr>
          </a:p>
        </p:txBody>
      </p:sp>
      <p:sp>
        <p:nvSpPr>
          <p:cNvPr id="27" name="Oval 12">
            <a:extLst>
              <a:ext uri="{FF2B5EF4-FFF2-40B4-BE49-F238E27FC236}">
                <a16:creationId xmlns:a16="http://schemas.microsoft.com/office/drawing/2014/main" id="{11190CE6-5BC9-4280-9258-D044009D8EF6}"/>
              </a:ext>
            </a:extLst>
          </p:cNvPr>
          <p:cNvSpPr>
            <a:spLocks noChangeArrowheads="1"/>
          </p:cNvSpPr>
          <p:nvPr/>
        </p:nvSpPr>
        <p:spPr bwMode="auto">
          <a:xfrm>
            <a:off x="6632576" y="5078109"/>
            <a:ext cx="537107" cy="1538928"/>
          </a:xfrm>
          <a:prstGeom prst="ellipse">
            <a:avLst/>
          </a:prstGeom>
          <a:noFill/>
          <a:ln w="28575"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eaLnBrk="1" hangingPunct="1">
              <a:spcBef>
                <a:spcPct val="0"/>
              </a:spcBef>
              <a:buClrTx/>
              <a:buSzTx/>
              <a:buFontTx/>
              <a:buNone/>
            </a:pPr>
            <a:endParaRPr lang="zh-CN" altLang="en-US" sz="1600">
              <a:latin typeface="Arial" panose="020B0604020202020204" pitchFamily="34" charset="0"/>
              <a:ea typeface="宋体" panose="02010600030101010101" pitchFamily="2" charset="-122"/>
            </a:endParaRPr>
          </a:p>
        </p:txBody>
      </p:sp>
      <p:cxnSp>
        <p:nvCxnSpPr>
          <p:cNvPr id="28" name="直接箭头连接符 27">
            <a:extLst>
              <a:ext uri="{FF2B5EF4-FFF2-40B4-BE49-F238E27FC236}">
                <a16:creationId xmlns:a16="http://schemas.microsoft.com/office/drawing/2014/main" id="{62A56CFA-F568-43AB-A8BC-B072FA297F8B}"/>
              </a:ext>
            </a:extLst>
          </p:cNvPr>
          <p:cNvCxnSpPr>
            <a:cxnSpLocks noChangeShapeType="1"/>
            <a:stCxn id="27" idx="1"/>
            <a:endCxn id="26" idx="5"/>
          </p:cNvCxnSpPr>
          <p:nvPr/>
        </p:nvCxnSpPr>
        <p:spPr bwMode="auto">
          <a:xfrm flipH="1" flipV="1">
            <a:off x="4028800" y="4270714"/>
            <a:ext cx="2682432" cy="1032767"/>
          </a:xfrm>
          <a:prstGeom prst="straightConnector1">
            <a:avLst/>
          </a:prstGeom>
          <a:noFill/>
          <a:ln w="28575" cap="sq" algn="ctr">
            <a:solidFill>
              <a:srgbClr val="669900"/>
            </a:solidFill>
            <a:round/>
            <a:headEnd type="none" w="lg" len="lg"/>
            <a:tailEnd type="arrow" w="lg" len="lg"/>
          </a:ln>
          <a:extLst>
            <a:ext uri="{909E8E84-426E-40DD-AFC4-6F175D3DCCD1}">
              <a14:hiddenFill xmlns:a14="http://schemas.microsoft.com/office/drawing/2010/main">
                <a:noFill/>
              </a14:hiddenFill>
            </a:ext>
          </a:extLst>
        </p:spPr>
      </p:cxnSp>
      <p:sp>
        <p:nvSpPr>
          <p:cNvPr id="29" name="圆角矩形 2">
            <a:extLst>
              <a:ext uri="{FF2B5EF4-FFF2-40B4-BE49-F238E27FC236}">
                <a16:creationId xmlns:a16="http://schemas.microsoft.com/office/drawing/2014/main" id="{09F563D6-7408-403C-8272-D01D9E06C446}"/>
              </a:ext>
            </a:extLst>
          </p:cNvPr>
          <p:cNvSpPr>
            <a:spLocks noChangeArrowheads="1"/>
          </p:cNvSpPr>
          <p:nvPr/>
        </p:nvSpPr>
        <p:spPr bwMode="auto">
          <a:xfrm>
            <a:off x="6632575" y="4847455"/>
            <a:ext cx="1447800" cy="307523"/>
          </a:xfrm>
          <a:prstGeom prst="roundRect">
            <a:avLst>
              <a:gd name="adj" fmla="val 16667"/>
            </a:avLst>
          </a:prstGeom>
          <a:noFill/>
          <a:ln w="28575" cap="sq" algn="ctr">
            <a:solidFill>
              <a:srgbClr val="0070C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eaLnBrk="1" hangingPunct="1">
              <a:spcBef>
                <a:spcPct val="0"/>
              </a:spcBef>
              <a:buClrTx/>
              <a:buSzTx/>
              <a:buFontTx/>
              <a:buNone/>
            </a:pPr>
            <a:endParaRPr lang="zh-CN" altLang="en-US" sz="1600">
              <a:latin typeface="Arial" panose="020B0604020202020204" pitchFamily="34" charset="0"/>
              <a:ea typeface="宋体" panose="02010600030101010101" pitchFamily="2" charset="-122"/>
            </a:endParaRPr>
          </a:p>
        </p:txBody>
      </p:sp>
      <p:sp>
        <p:nvSpPr>
          <p:cNvPr id="30" name="Oval 12">
            <a:extLst>
              <a:ext uri="{FF2B5EF4-FFF2-40B4-BE49-F238E27FC236}">
                <a16:creationId xmlns:a16="http://schemas.microsoft.com/office/drawing/2014/main" id="{6D28418F-BFCE-41AF-9263-257BCB4D0F6A}"/>
              </a:ext>
            </a:extLst>
          </p:cNvPr>
          <p:cNvSpPr>
            <a:spLocks noChangeArrowheads="1"/>
          </p:cNvSpPr>
          <p:nvPr/>
        </p:nvSpPr>
        <p:spPr bwMode="auto">
          <a:xfrm>
            <a:off x="7464313" y="5084999"/>
            <a:ext cx="590951" cy="1492964"/>
          </a:xfrm>
          <a:prstGeom prst="ellipse">
            <a:avLst/>
          </a:prstGeom>
          <a:noFill/>
          <a:ln w="28575"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eaLnBrk="1" hangingPunct="1">
              <a:spcBef>
                <a:spcPct val="0"/>
              </a:spcBef>
              <a:buClrTx/>
              <a:buSzTx/>
              <a:buFontTx/>
              <a:buNone/>
            </a:pPr>
            <a:endParaRPr lang="zh-CN" altLang="en-US" sz="1600">
              <a:latin typeface="Arial" panose="020B0604020202020204" pitchFamily="34" charset="0"/>
              <a:ea typeface="宋体" panose="02010600030101010101" pitchFamily="2" charset="-122"/>
            </a:endParaRPr>
          </a:p>
        </p:txBody>
      </p:sp>
      <p:cxnSp>
        <p:nvCxnSpPr>
          <p:cNvPr id="31" name="直接箭头连接符 30">
            <a:extLst>
              <a:ext uri="{FF2B5EF4-FFF2-40B4-BE49-F238E27FC236}">
                <a16:creationId xmlns:a16="http://schemas.microsoft.com/office/drawing/2014/main" id="{E4C2F63F-6779-44E2-B67E-6FB7375D9CD3}"/>
              </a:ext>
            </a:extLst>
          </p:cNvPr>
          <p:cNvCxnSpPr>
            <a:cxnSpLocks noChangeShapeType="1"/>
            <a:stCxn id="30" idx="2"/>
            <a:endCxn id="25" idx="6"/>
          </p:cNvCxnSpPr>
          <p:nvPr/>
        </p:nvCxnSpPr>
        <p:spPr bwMode="auto">
          <a:xfrm flipH="1" flipV="1">
            <a:off x="3206894" y="5658153"/>
            <a:ext cx="4257419" cy="173329"/>
          </a:xfrm>
          <a:prstGeom prst="straightConnector1">
            <a:avLst/>
          </a:prstGeom>
          <a:noFill/>
          <a:ln w="28575" cap="sq" algn="ctr">
            <a:solidFill>
              <a:srgbClr val="669900"/>
            </a:solidFill>
            <a:round/>
            <a:headEnd type="none" w="lg" len="lg"/>
            <a:tailEnd type="arrow" w="lg" len="lg"/>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arn(inVertical)">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heel(1)">
                                      <p:cBhvr>
                                        <p:cTn id="12" dur="20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down)">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heel(1)">
                                      <p:cBhvr>
                                        <p:cTn id="22" dur="20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heel(1)">
                                      <p:cBhvr>
                                        <p:cTn id="27" dur="20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down)">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heel(1)">
                                      <p:cBhvr>
                                        <p:cTn id="37"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9" grpId="0" animBg="1"/>
      <p:bldP spid="3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311297">
            <a:extLst>
              <a:ext uri="{FF2B5EF4-FFF2-40B4-BE49-F238E27FC236}">
                <a16:creationId xmlns:a16="http://schemas.microsoft.com/office/drawing/2014/main" id="{D49C4BD3-0603-40CA-9469-47DEF604FEF2}"/>
              </a:ext>
            </a:extLst>
          </p:cNvPr>
          <p:cNvSpPr>
            <a:spLocks noGrp="1" noChangeArrowheads="1"/>
          </p:cNvSpPr>
          <p:nvPr>
            <p:ph type="title"/>
          </p:nvPr>
        </p:nvSpPr>
        <p:spPr/>
        <p:txBody>
          <a:bodyPr/>
          <a:lstStyle/>
          <a:p>
            <a:r>
              <a:rPr lang="zh-CN" altLang="en-US"/>
              <a:t>关系间的引用</a:t>
            </a:r>
            <a:r>
              <a:rPr lang="en-US" altLang="zh-CN"/>
              <a:t>(</a:t>
            </a:r>
            <a:r>
              <a:rPr lang="zh-CN" altLang="en-US"/>
              <a:t>续</a:t>
            </a:r>
            <a:r>
              <a:rPr lang="en-US" altLang="zh-CN"/>
              <a:t>)</a:t>
            </a:r>
          </a:p>
        </p:txBody>
      </p:sp>
      <p:sp>
        <p:nvSpPr>
          <p:cNvPr id="61443" name="文本占位符 311298">
            <a:extLst>
              <a:ext uri="{FF2B5EF4-FFF2-40B4-BE49-F238E27FC236}">
                <a16:creationId xmlns:a16="http://schemas.microsoft.com/office/drawing/2014/main" id="{10BD0B64-0776-417A-9F07-185583C666EC}"/>
              </a:ext>
            </a:extLst>
          </p:cNvPr>
          <p:cNvSpPr>
            <a:spLocks noGrp="1" noChangeArrowheads="1"/>
          </p:cNvSpPr>
          <p:nvPr>
            <p:ph idx="1"/>
          </p:nvPr>
        </p:nvSpPr>
        <p:spPr/>
        <p:txBody>
          <a:bodyPr/>
          <a:lstStyle/>
          <a:p>
            <a:r>
              <a:rPr lang="zh-CN" altLang="en-US" dirty="0"/>
              <a:t>例</a:t>
            </a:r>
            <a:r>
              <a:rPr lang="en-US" altLang="zh-CN" dirty="0"/>
              <a:t>3:  </a:t>
            </a:r>
            <a:r>
              <a:rPr lang="zh-CN" altLang="en-US" dirty="0"/>
              <a:t>学生实体及其内部的一对多联系 </a:t>
            </a:r>
          </a:p>
          <a:p>
            <a:pPr marL="342900" lvl="1" indent="0">
              <a:buNone/>
            </a:pPr>
            <a:r>
              <a:rPr lang="zh-CN" altLang="en-US" dirty="0"/>
              <a:t>学生（</a:t>
            </a:r>
            <a:r>
              <a:rPr lang="zh-CN" altLang="en-US" u="sng" dirty="0">
                <a:solidFill>
                  <a:srgbClr val="3333FF"/>
                </a:solidFill>
              </a:rPr>
              <a:t>学号</a:t>
            </a:r>
            <a:r>
              <a:rPr lang="zh-CN" altLang="en-US" dirty="0"/>
              <a:t>，姓名，性别，专业号，年龄，</a:t>
            </a:r>
            <a:r>
              <a:rPr lang="zh-CN" altLang="en-US" dirty="0">
                <a:solidFill>
                  <a:srgbClr val="3333FF"/>
                </a:solidFill>
              </a:rPr>
              <a:t>班长</a:t>
            </a:r>
            <a:r>
              <a:rPr lang="zh-CN" altLang="en-US" dirty="0"/>
              <a:t>）</a:t>
            </a:r>
            <a:endParaRPr lang="en-US" altLang="zh-CN" dirty="0"/>
          </a:p>
          <a:p>
            <a:pPr marL="342900" lvl="1" indent="0">
              <a:buNone/>
            </a:pPr>
            <a:endParaRPr lang="en-US" altLang="zh-CN" dirty="0"/>
          </a:p>
          <a:p>
            <a:pPr marL="342900" lvl="1" indent="0">
              <a:buNone/>
            </a:pPr>
            <a:endParaRPr lang="en-US" altLang="zh-CN" dirty="0"/>
          </a:p>
          <a:p>
            <a:pPr marL="342900" lvl="1" indent="0">
              <a:buNone/>
            </a:pPr>
            <a:endParaRPr lang="en-US" altLang="zh-CN" dirty="0"/>
          </a:p>
          <a:p>
            <a:pPr marL="342900" lvl="1" indent="0">
              <a:buNone/>
            </a:pPr>
            <a:endParaRPr lang="en-US" altLang="zh-CN" dirty="0"/>
          </a:p>
          <a:p>
            <a:pPr marL="342900" lvl="1" indent="0">
              <a:buNone/>
            </a:pPr>
            <a:endParaRPr lang="en-US" altLang="zh-CN" dirty="0"/>
          </a:p>
          <a:p>
            <a:pPr lvl="1"/>
            <a:r>
              <a:rPr lang="zh-CN" altLang="en-US" dirty="0">
                <a:solidFill>
                  <a:srgbClr val="C00000"/>
                </a:solidFill>
              </a:rPr>
              <a:t>“学号”是主码，“班长”是外码</a:t>
            </a:r>
            <a:r>
              <a:rPr lang="zh-CN" altLang="en-US" dirty="0"/>
              <a:t>，它引用了本关系的“学号” </a:t>
            </a:r>
          </a:p>
          <a:p>
            <a:pPr lvl="1"/>
            <a:r>
              <a:rPr lang="zh-CN" altLang="en-US" dirty="0"/>
              <a:t>“班长” 必须是确实存在的学生的学号 </a:t>
            </a:r>
          </a:p>
        </p:txBody>
      </p:sp>
      <p:sp>
        <p:nvSpPr>
          <p:cNvPr id="5" name="灯片编号占位符 4">
            <a:extLst>
              <a:ext uri="{FF2B5EF4-FFF2-40B4-BE49-F238E27FC236}">
                <a16:creationId xmlns:a16="http://schemas.microsoft.com/office/drawing/2014/main" id="{D655CF72-2F11-461A-8B01-EAD914CAB9D2}"/>
              </a:ext>
            </a:extLst>
          </p:cNvPr>
          <p:cNvSpPr>
            <a:spLocks noGrp="1"/>
          </p:cNvSpPr>
          <p:nvPr>
            <p:ph type="sldNum" sz="quarter" idx="12"/>
          </p:nvPr>
        </p:nvSpPr>
        <p:spPr/>
        <p:txBody>
          <a:bodyPr/>
          <a:lstStyle/>
          <a:p>
            <a:fld id="{47C9E101-E51D-431E-84FA-C029B8655B60}" type="slidenum">
              <a:rPr lang="zh-CN" altLang="en-US" smtClean="0"/>
              <a:pPr/>
              <a:t>38</a:t>
            </a:fld>
            <a:endParaRPr lang="zh-CN" altLang="en-US" dirty="0"/>
          </a:p>
        </p:txBody>
      </p:sp>
      <p:graphicFrame>
        <p:nvGraphicFramePr>
          <p:cNvPr id="6" name="表格 5">
            <a:extLst>
              <a:ext uri="{FF2B5EF4-FFF2-40B4-BE49-F238E27FC236}">
                <a16:creationId xmlns:a16="http://schemas.microsoft.com/office/drawing/2014/main" id="{9ADAB243-7A7D-4C18-A6F1-00C8AE2DA480}"/>
              </a:ext>
            </a:extLst>
          </p:cNvPr>
          <p:cNvGraphicFramePr>
            <a:graphicFrameLocks noGrp="1"/>
          </p:cNvGraphicFramePr>
          <p:nvPr>
            <p:extLst>
              <p:ext uri="{D42A27DB-BD31-4B8C-83A1-F6EECF244321}">
                <p14:modId xmlns:p14="http://schemas.microsoft.com/office/powerpoint/2010/main" val="762110751"/>
              </p:ext>
            </p:extLst>
          </p:nvPr>
        </p:nvGraphicFramePr>
        <p:xfrm>
          <a:off x="2804252" y="2137561"/>
          <a:ext cx="4898993" cy="1643106"/>
        </p:xfrm>
        <a:graphic>
          <a:graphicData uri="http://schemas.openxmlformats.org/drawingml/2006/table">
            <a:tbl>
              <a:tblPr>
                <a:tableStyleId>{5C22544A-7EE6-4342-B048-85BDC9FD1C3A}</a:tableStyleId>
              </a:tblPr>
              <a:tblGrid>
                <a:gridCol w="806468">
                  <a:extLst>
                    <a:ext uri="{9D8B030D-6E8A-4147-A177-3AD203B41FA5}">
                      <a16:colId xmlns:a16="http://schemas.microsoft.com/office/drawing/2014/main" val="20000"/>
                    </a:ext>
                  </a:extLst>
                </a:gridCol>
                <a:gridCol w="818505">
                  <a:extLst>
                    <a:ext uri="{9D8B030D-6E8A-4147-A177-3AD203B41FA5}">
                      <a16:colId xmlns:a16="http://schemas.microsoft.com/office/drawing/2014/main" val="20001"/>
                    </a:ext>
                  </a:extLst>
                </a:gridCol>
                <a:gridCol w="818505">
                  <a:extLst>
                    <a:ext uri="{9D8B030D-6E8A-4147-A177-3AD203B41FA5}">
                      <a16:colId xmlns:a16="http://schemas.microsoft.com/office/drawing/2014/main" val="20002"/>
                    </a:ext>
                  </a:extLst>
                </a:gridCol>
                <a:gridCol w="818505">
                  <a:extLst>
                    <a:ext uri="{9D8B030D-6E8A-4147-A177-3AD203B41FA5}">
                      <a16:colId xmlns:a16="http://schemas.microsoft.com/office/drawing/2014/main" val="20003"/>
                    </a:ext>
                  </a:extLst>
                </a:gridCol>
                <a:gridCol w="818505">
                  <a:extLst>
                    <a:ext uri="{9D8B030D-6E8A-4147-A177-3AD203B41FA5}">
                      <a16:colId xmlns:a16="http://schemas.microsoft.com/office/drawing/2014/main" val="20004"/>
                    </a:ext>
                  </a:extLst>
                </a:gridCol>
                <a:gridCol w="818505">
                  <a:extLst>
                    <a:ext uri="{9D8B030D-6E8A-4147-A177-3AD203B41FA5}">
                      <a16:colId xmlns:a16="http://schemas.microsoft.com/office/drawing/2014/main" val="20005"/>
                    </a:ext>
                  </a:extLst>
                </a:gridCol>
              </a:tblGrid>
              <a:tr h="273851">
                <a:tc>
                  <a:txBody>
                    <a:bodyPr/>
                    <a:lstStyle/>
                    <a:p>
                      <a:pPr algn="ctr">
                        <a:spcAft>
                          <a:spcPts val="0"/>
                        </a:spcAft>
                      </a:pPr>
                      <a:r>
                        <a:rPr lang="zh-CN" sz="1600" kern="100" dirty="0">
                          <a:effectLst/>
                          <a:latin typeface="微软雅黑" panose="020B0503020204020204" pitchFamily="34" charset="-122"/>
                          <a:ea typeface="微软雅黑" panose="020B0503020204020204" pitchFamily="34" charset="-122"/>
                        </a:rPr>
                        <a:t>学号</a:t>
                      </a:r>
                    </a:p>
                  </a:txBody>
                  <a:tcPr marL="60645" marR="60645" marT="0" marB="0"/>
                </a:tc>
                <a:tc>
                  <a:txBody>
                    <a:bodyPr/>
                    <a:lstStyle/>
                    <a:p>
                      <a:pPr algn="ctr">
                        <a:spcAft>
                          <a:spcPts val="0"/>
                        </a:spcAft>
                      </a:pPr>
                      <a:r>
                        <a:rPr lang="zh-CN" sz="1600" kern="100" dirty="0">
                          <a:effectLst/>
                          <a:latin typeface="微软雅黑" panose="020B0503020204020204" pitchFamily="34" charset="-122"/>
                          <a:ea typeface="微软雅黑" panose="020B0503020204020204" pitchFamily="34" charset="-122"/>
                        </a:rPr>
                        <a:t>姓名</a:t>
                      </a:r>
                    </a:p>
                  </a:txBody>
                  <a:tcPr marL="60645" marR="60645" marT="0" marB="0"/>
                </a:tc>
                <a:tc>
                  <a:txBody>
                    <a:bodyPr/>
                    <a:lstStyle/>
                    <a:p>
                      <a:pPr algn="ctr">
                        <a:spcAft>
                          <a:spcPts val="0"/>
                        </a:spcAft>
                      </a:pPr>
                      <a:r>
                        <a:rPr lang="zh-CN" sz="1600" kern="100" dirty="0">
                          <a:effectLst/>
                          <a:latin typeface="微软雅黑" panose="020B0503020204020204" pitchFamily="34" charset="-122"/>
                          <a:ea typeface="微软雅黑" panose="020B0503020204020204" pitchFamily="34" charset="-122"/>
                        </a:rPr>
                        <a:t>性别</a:t>
                      </a:r>
                    </a:p>
                  </a:txBody>
                  <a:tcPr marL="60645" marR="60645" marT="0" marB="0"/>
                </a:tc>
                <a:tc>
                  <a:txBody>
                    <a:bodyPr/>
                    <a:lstStyle/>
                    <a:p>
                      <a:pPr algn="ctr">
                        <a:spcAft>
                          <a:spcPts val="0"/>
                        </a:spcAft>
                      </a:pPr>
                      <a:r>
                        <a:rPr lang="zh-CN" sz="1600" kern="100">
                          <a:effectLst/>
                          <a:latin typeface="微软雅黑" panose="020B0503020204020204" pitchFamily="34" charset="-122"/>
                          <a:ea typeface="微软雅黑" panose="020B0503020204020204" pitchFamily="34" charset="-122"/>
                        </a:rPr>
                        <a:t>专业号</a:t>
                      </a:r>
                    </a:p>
                  </a:txBody>
                  <a:tcPr marL="60645" marR="60645" marT="0" marB="0"/>
                </a:tc>
                <a:tc>
                  <a:txBody>
                    <a:bodyPr/>
                    <a:lstStyle/>
                    <a:p>
                      <a:pPr algn="ctr">
                        <a:spcAft>
                          <a:spcPts val="0"/>
                        </a:spcAft>
                      </a:pPr>
                      <a:r>
                        <a:rPr lang="zh-CN" sz="1600" kern="100">
                          <a:effectLst/>
                          <a:latin typeface="微软雅黑" panose="020B0503020204020204" pitchFamily="34" charset="-122"/>
                          <a:ea typeface="微软雅黑" panose="020B0503020204020204" pitchFamily="34" charset="-122"/>
                        </a:rPr>
                        <a:t>年龄</a:t>
                      </a:r>
                    </a:p>
                  </a:txBody>
                  <a:tcPr marL="60645" marR="60645" marT="0" marB="0"/>
                </a:tc>
                <a:tc>
                  <a:txBody>
                    <a:bodyPr/>
                    <a:lstStyle/>
                    <a:p>
                      <a:pPr algn="ctr">
                        <a:spcAft>
                          <a:spcPts val="0"/>
                        </a:spcAft>
                      </a:pPr>
                      <a:r>
                        <a:rPr lang="zh-CN" sz="1600" kern="100">
                          <a:effectLst/>
                          <a:latin typeface="微软雅黑" panose="020B0503020204020204" pitchFamily="34" charset="-122"/>
                          <a:ea typeface="微软雅黑" panose="020B0503020204020204" pitchFamily="34" charset="-122"/>
                        </a:rPr>
                        <a:t>班长</a:t>
                      </a:r>
                    </a:p>
                  </a:txBody>
                  <a:tcPr marL="60645" marR="60645" marT="0" marB="0"/>
                </a:tc>
                <a:extLst>
                  <a:ext uri="{0D108BD9-81ED-4DB2-BD59-A6C34878D82A}">
                    <a16:rowId xmlns:a16="http://schemas.microsoft.com/office/drawing/2014/main" val="10000"/>
                  </a:ext>
                </a:extLst>
              </a:tr>
              <a:tr h="273851">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801</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张三</a:t>
                      </a:r>
                    </a:p>
                  </a:txBody>
                  <a:tcPr marL="60645" marR="60645"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0645" marR="60645"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01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19</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802</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extLst>
                  <a:ext uri="{0D108BD9-81ED-4DB2-BD59-A6C34878D82A}">
                    <a16:rowId xmlns:a16="http://schemas.microsoft.com/office/drawing/2014/main" val="10001"/>
                  </a:ext>
                </a:extLst>
              </a:tr>
              <a:tr h="273851">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802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李四</a:t>
                      </a:r>
                    </a:p>
                  </a:txBody>
                  <a:tcPr marL="60645" marR="60645"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0645" marR="60645"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01</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20</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extLst>
                  <a:ext uri="{0D108BD9-81ED-4DB2-BD59-A6C34878D82A}">
                    <a16:rowId xmlns:a16="http://schemas.microsoft.com/office/drawing/2014/main" val="10002"/>
                  </a:ext>
                </a:extLst>
              </a:tr>
              <a:tr h="273851">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803</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王五</a:t>
                      </a:r>
                    </a:p>
                  </a:txBody>
                  <a:tcPr marL="60645" marR="60645" marT="0" marB="0"/>
                </a:tc>
                <a:tc>
                  <a:txBody>
                    <a:bodyPr/>
                    <a:lstStyle/>
                    <a:p>
                      <a:pPr algn="ctr">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0645" marR="60645" marT="0" marB="0"/>
                </a:tc>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01</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20</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802</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extLst>
                  <a:ext uri="{0D108BD9-81ED-4DB2-BD59-A6C34878D82A}">
                    <a16:rowId xmlns:a16="http://schemas.microsoft.com/office/drawing/2014/main" val="10003"/>
                  </a:ext>
                </a:extLst>
              </a:tr>
              <a:tr h="273851">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804</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赵六</a:t>
                      </a:r>
                    </a:p>
                  </a:txBody>
                  <a:tcPr marL="60645" marR="60645"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女</a:t>
                      </a:r>
                    </a:p>
                  </a:txBody>
                  <a:tcPr marL="60645" marR="60645" marT="0" marB="0"/>
                </a:tc>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02</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20</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805</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extLst>
                  <a:ext uri="{0D108BD9-81ED-4DB2-BD59-A6C34878D82A}">
                    <a16:rowId xmlns:a16="http://schemas.microsoft.com/office/drawing/2014/main" val="10004"/>
                  </a:ext>
                </a:extLst>
              </a:tr>
              <a:tr h="273851">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805</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钱七</a:t>
                      </a:r>
                    </a:p>
                  </a:txBody>
                  <a:tcPr marL="60645" marR="60645" marT="0" marB="0"/>
                </a:tc>
                <a:tc>
                  <a:txBody>
                    <a:bodyPr/>
                    <a:lstStyle/>
                    <a:p>
                      <a:pPr algn="ctr">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男</a:t>
                      </a:r>
                    </a:p>
                  </a:txBody>
                  <a:tcPr marL="60645" marR="60645" marT="0" marB="0"/>
                </a:tc>
                <a:tc>
                  <a:txBody>
                    <a:bodyPr/>
                    <a:lstStyle/>
                    <a:p>
                      <a:pPr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02</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19</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tc>
                  <a:txBody>
                    <a:bodyPr/>
                    <a:lstStyle/>
                    <a:p>
                      <a:pPr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0645" marR="60645" marT="0" marB="0"/>
                </a:tc>
                <a:extLst>
                  <a:ext uri="{0D108BD9-81ED-4DB2-BD59-A6C34878D82A}">
                    <a16:rowId xmlns:a16="http://schemas.microsoft.com/office/drawing/2014/main" val="10005"/>
                  </a:ext>
                </a:extLst>
              </a:tr>
            </a:tbl>
          </a:graphicData>
        </a:graphic>
      </p:graphicFrame>
      <p:sp>
        <p:nvSpPr>
          <p:cNvPr id="7" name="Oval 10">
            <a:extLst>
              <a:ext uri="{FF2B5EF4-FFF2-40B4-BE49-F238E27FC236}">
                <a16:creationId xmlns:a16="http://schemas.microsoft.com/office/drawing/2014/main" id="{DF5F0C07-6122-4A1D-AFED-1C6F9000AE1C}"/>
              </a:ext>
            </a:extLst>
          </p:cNvPr>
          <p:cNvSpPr>
            <a:spLocks noChangeArrowheads="1"/>
          </p:cNvSpPr>
          <p:nvPr/>
        </p:nvSpPr>
        <p:spPr bwMode="auto">
          <a:xfrm>
            <a:off x="2880845" y="2355267"/>
            <a:ext cx="592443" cy="1425401"/>
          </a:xfrm>
          <a:prstGeom prst="ellipse">
            <a:avLst/>
          </a:prstGeom>
          <a:noFill/>
          <a:ln w="28575"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eaLnBrk="1" hangingPunct="1">
              <a:spcBef>
                <a:spcPct val="0"/>
              </a:spcBef>
              <a:buClrTx/>
              <a:buSzTx/>
              <a:buFontTx/>
              <a:buNone/>
            </a:pPr>
            <a:endParaRPr lang="zh-CN" altLang="en-US" sz="1800" dirty="0">
              <a:latin typeface="Arial" panose="020B0604020202020204" pitchFamily="34" charset="0"/>
              <a:ea typeface="宋体" panose="02010600030101010101" pitchFamily="2" charset="-122"/>
            </a:endParaRPr>
          </a:p>
        </p:txBody>
      </p:sp>
      <p:sp>
        <p:nvSpPr>
          <p:cNvPr id="8" name="Oval 12">
            <a:extLst>
              <a:ext uri="{FF2B5EF4-FFF2-40B4-BE49-F238E27FC236}">
                <a16:creationId xmlns:a16="http://schemas.microsoft.com/office/drawing/2014/main" id="{47E4A5CD-7C80-4B81-8E6C-C6D27FA667D1}"/>
              </a:ext>
            </a:extLst>
          </p:cNvPr>
          <p:cNvSpPr>
            <a:spLocks noChangeArrowheads="1"/>
          </p:cNvSpPr>
          <p:nvPr/>
        </p:nvSpPr>
        <p:spPr bwMode="auto">
          <a:xfrm>
            <a:off x="6998427" y="2352179"/>
            <a:ext cx="592443" cy="1352987"/>
          </a:xfrm>
          <a:prstGeom prst="ellipse">
            <a:avLst/>
          </a:prstGeom>
          <a:noFill/>
          <a:ln w="28575"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69900"/>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lr>
                <a:srgbClr val="CC0099"/>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lr>
                <a:srgbClr val="FF00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eaLnBrk="1" hangingPunct="1">
              <a:spcBef>
                <a:spcPct val="0"/>
              </a:spcBef>
              <a:buClrTx/>
              <a:buSzTx/>
              <a:buFontTx/>
              <a:buNone/>
            </a:pPr>
            <a:endParaRPr lang="zh-CN" altLang="en-US" sz="1800">
              <a:latin typeface="Arial" panose="020B0604020202020204" pitchFamily="34" charset="0"/>
              <a:ea typeface="宋体" panose="02010600030101010101" pitchFamily="2" charset="-122"/>
            </a:endParaRPr>
          </a:p>
        </p:txBody>
      </p:sp>
      <p:cxnSp>
        <p:nvCxnSpPr>
          <p:cNvPr id="9" name="直接箭头连接符 8">
            <a:extLst>
              <a:ext uri="{FF2B5EF4-FFF2-40B4-BE49-F238E27FC236}">
                <a16:creationId xmlns:a16="http://schemas.microsoft.com/office/drawing/2014/main" id="{68A01492-8DB3-4708-AE46-4440F97B1A01}"/>
              </a:ext>
            </a:extLst>
          </p:cNvPr>
          <p:cNvCxnSpPr>
            <a:cxnSpLocks noChangeShapeType="1"/>
            <a:stCxn id="8" idx="2"/>
          </p:cNvCxnSpPr>
          <p:nvPr/>
        </p:nvCxnSpPr>
        <p:spPr bwMode="auto">
          <a:xfrm flipH="1" flipV="1">
            <a:off x="3473288" y="3025584"/>
            <a:ext cx="3525138" cy="3088"/>
          </a:xfrm>
          <a:prstGeom prst="straightConnector1">
            <a:avLst/>
          </a:prstGeom>
          <a:noFill/>
          <a:ln w="28575" cap="sq" algn="ctr">
            <a:solidFill>
              <a:srgbClr val="669900"/>
            </a:solidFill>
            <a:round/>
            <a:headEnd type="none" w="lg" len="lg"/>
            <a:tailEnd type="arrow" w="lg" len="lg"/>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heel(1)">
                                      <p:cBhvr>
                                        <p:cTn id="17" dur="2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1443">
                                            <p:txEl>
                                              <p:pRg st="7" end="7"/>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614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291841">
            <a:extLst>
              <a:ext uri="{FF2B5EF4-FFF2-40B4-BE49-F238E27FC236}">
                <a16:creationId xmlns:a16="http://schemas.microsoft.com/office/drawing/2014/main" id="{93B7AB5A-F95B-4A5E-8066-7CB3DF2DA01B}"/>
              </a:ext>
            </a:extLst>
          </p:cNvPr>
          <p:cNvSpPr>
            <a:spLocks noGrp="1" noChangeArrowheads="1"/>
          </p:cNvSpPr>
          <p:nvPr>
            <p:ph type="title"/>
          </p:nvPr>
        </p:nvSpPr>
        <p:spPr/>
        <p:txBody>
          <a:bodyPr/>
          <a:lstStyle/>
          <a:p>
            <a:r>
              <a:rPr lang="en-US" altLang="zh-CN"/>
              <a:t>2</a:t>
            </a:r>
            <a:r>
              <a:rPr lang="zh-CN" altLang="en-US"/>
              <a:t>．外码（</a:t>
            </a:r>
            <a:r>
              <a:rPr lang="en-US" altLang="zh-CN"/>
              <a:t>Foreign Key</a:t>
            </a:r>
            <a:r>
              <a:rPr lang="zh-CN" altLang="en-US"/>
              <a:t>）</a:t>
            </a:r>
          </a:p>
        </p:txBody>
      </p:sp>
      <p:sp>
        <p:nvSpPr>
          <p:cNvPr id="62467" name="文本占位符 291842">
            <a:extLst>
              <a:ext uri="{FF2B5EF4-FFF2-40B4-BE49-F238E27FC236}">
                <a16:creationId xmlns:a16="http://schemas.microsoft.com/office/drawing/2014/main" id="{821D4E69-C04B-447A-B8B8-06576249B766}"/>
              </a:ext>
            </a:extLst>
          </p:cNvPr>
          <p:cNvSpPr>
            <a:spLocks noGrp="1" noChangeArrowheads="1"/>
          </p:cNvSpPr>
          <p:nvPr>
            <p:ph idx="1"/>
          </p:nvPr>
        </p:nvSpPr>
        <p:spPr/>
        <p:txBody>
          <a:bodyPr>
            <a:normAutofit lnSpcReduction="10000"/>
          </a:bodyPr>
          <a:lstStyle/>
          <a:p>
            <a:r>
              <a:rPr lang="zh-CN" altLang="en-US" dirty="0"/>
              <a:t>外码（</a:t>
            </a:r>
            <a:r>
              <a:rPr lang="en-US" altLang="zh-CN" dirty="0"/>
              <a:t>Foreign Key</a:t>
            </a:r>
            <a:r>
              <a:rPr lang="zh-CN" altLang="en-US" dirty="0"/>
              <a:t>）</a:t>
            </a:r>
            <a:endParaRPr lang="en-US" altLang="zh-CN" dirty="0"/>
          </a:p>
          <a:p>
            <a:pPr lvl="1"/>
            <a:r>
              <a:rPr lang="zh-CN" altLang="en-US" dirty="0"/>
              <a:t>设</a:t>
            </a:r>
            <a:r>
              <a:rPr lang="en-US" altLang="zh-CN" i="1" dirty="0"/>
              <a:t>F</a:t>
            </a:r>
            <a:r>
              <a:rPr lang="zh-CN" altLang="en-US" dirty="0"/>
              <a:t>是基本关系</a:t>
            </a:r>
            <a:r>
              <a:rPr lang="en-US" altLang="zh-CN" i="1" dirty="0"/>
              <a:t>R</a:t>
            </a:r>
            <a:r>
              <a:rPr lang="zh-CN" altLang="en-US" dirty="0"/>
              <a:t>的一个或一组属性，但不是关系</a:t>
            </a:r>
            <a:r>
              <a:rPr lang="en-US" altLang="zh-CN" i="1" dirty="0"/>
              <a:t>R</a:t>
            </a:r>
            <a:r>
              <a:rPr lang="zh-CN" altLang="en-US" dirty="0"/>
              <a:t>的码。如果</a:t>
            </a:r>
            <a:r>
              <a:rPr lang="en-US" altLang="zh-CN" i="1" dirty="0"/>
              <a:t>F</a:t>
            </a:r>
            <a:r>
              <a:rPr lang="zh-CN" altLang="en-US" dirty="0"/>
              <a:t>与基本关系</a:t>
            </a:r>
            <a:r>
              <a:rPr lang="en-US" altLang="zh-CN" i="1" dirty="0"/>
              <a:t>S</a:t>
            </a:r>
            <a:r>
              <a:rPr lang="zh-CN" altLang="en-US" dirty="0"/>
              <a:t>的主码</a:t>
            </a:r>
            <a:r>
              <a:rPr lang="en-US" altLang="zh-CN" i="1" dirty="0"/>
              <a:t>K</a:t>
            </a:r>
            <a:r>
              <a:rPr lang="en-US" altLang="zh-CN" i="1" baseline="-25000" dirty="0"/>
              <a:t>s</a:t>
            </a:r>
            <a:r>
              <a:rPr lang="zh-CN" altLang="en-US" dirty="0"/>
              <a:t>相对应，则称</a:t>
            </a:r>
            <a:r>
              <a:rPr lang="en-US" altLang="zh-CN" i="1" dirty="0"/>
              <a:t>F</a:t>
            </a:r>
            <a:r>
              <a:rPr lang="zh-CN" altLang="en-US" dirty="0"/>
              <a:t>是基本关系</a:t>
            </a:r>
            <a:r>
              <a:rPr lang="en-US" altLang="zh-CN" i="1" dirty="0"/>
              <a:t>R</a:t>
            </a:r>
            <a:r>
              <a:rPr lang="zh-CN" altLang="en-US" dirty="0"/>
              <a:t>的</a:t>
            </a:r>
            <a:r>
              <a:rPr lang="zh-CN" altLang="en-US" dirty="0">
                <a:solidFill>
                  <a:srgbClr val="C00000"/>
                </a:solidFill>
              </a:rPr>
              <a:t>外码。</a:t>
            </a:r>
          </a:p>
          <a:p>
            <a:pPr lvl="1"/>
            <a:endParaRPr lang="en-US" altLang="zh-CN" dirty="0"/>
          </a:p>
          <a:p>
            <a:pPr lvl="1"/>
            <a:r>
              <a:rPr lang="zh-CN" altLang="en-US" dirty="0"/>
              <a:t>基本关系</a:t>
            </a:r>
            <a:r>
              <a:rPr lang="en-US" altLang="zh-CN" i="1" dirty="0"/>
              <a:t>R</a:t>
            </a:r>
            <a:r>
              <a:rPr lang="zh-CN" altLang="en-US" dirty="0"/>
              <a:t>称为</a:t>
            </a:r>
            <a:r>
              <a:rPr lang="zh-CN" altLang="en-US" dirty="0">
                <a:solidFill>
                  <a:srgbClr val="C00000"/>
                </a:solidFill>
              </a:rPr>
              <a:t>参照关系</a:t>
            </a:r>
            <a:r>
              <a:rPr lang="zh-CN" altLang="en-US" dirty="0"/>
              <a:t>（</a:t>
            </a:r>
            <a:r>
              <a:rPr lang="en-US" altLang="zh-CN" dirty="0"/>
              <a:t>Referencing  Relation</a:t>
            </a:r>
            <a:r>
              <a:rPr lang="zh-CN" altLang="en-US" dirty="0"/>
              <a:t>）</a:t>
            </a:r>
          </a:p>
          <a:p>
            <a:pPr lvl="1"/>
            <a:r>
              <a:rPr lang="zh-CN" altLang="en-US" dirty="0"/>
              <a:t>基本关系</a:t>
            </a:r>
            <a:r>
              <a:rPr lang="en-US" altLang="zh-CN" i="1" dirty="0"/>
              <a:t>S</a:t>
            </a:r>
            <a:r>
              <a:rPr lang="zh-CN" altLang="en-US" dirty="0"/>
              <a:t>称为</a:t>
            </a:r>
            <a:r>
              <a:rPr lang="zh-CN" altLang="en-US" dirty="0">
                <a:solidFill>
                  <a:srgbClr val="C00000"/>
                </a:solidFill>
              </a:rPr>
              <a:t>被参照关系</a:t>
            </a:r>
            <a:r>
              <a:rPr lang="zh-CN" altLang="en-US" dirty="0"/>
              <a:t>（</a:t>
            </a:r>
            <a:r>
              <a:rPr lang="en-US" altLang="zh-CN" dirty="0"/>
              <a:t>Referenced Relation</a:t>
            </a:r>
            <a:r>
              <a:rPr lang="zh-CN" altLang="en-US" dirty="0"/>
              <a:t>）或</a:t>
            </a:r>
            <a:r>
              <a:rPr lang="zh-CN" altLang="en-US" dirty="0">
                <a:solidFill>
                  <a:srgbClr val="C00000"/>
                </a:solidFill>
              </a:rPr>
              <a:t>目标关系</a:t>
            </a:r>
            <a:r>
              <a:rPr lang="zh-CN" altLang="en-US" dirty="0"/>
              <a:t>（</a:t>
            </a:r>
            <a:r>
              <a:rPr lang="en-US" altLang="zh-CN" dirty="0"/>
              <a:t>Target Relation</a:t>
            </a:r>
            <a:r>
              <a:rPr lang="zh-CN" altLang="en-US" dirty="0"/>
              <a:t>）</a:t>
            </a:r>
          </a:p>
          <a:p>
            <a:endParaRPr lang="en-US" altLang="zh-CN" dirty="0"/>
          </a:p>
          <a:p>
            <a:pPr lvl="1"/>
            <a:r>
              <a:rPr lang="zh-CN" altLang="en-US" dirty="0"/>
              <a:t>例</a:t>
            </a:r>
            <a:r>
              <a:rPr lang="en-US" altLang="zh-CN" dirty="0"/>
              <a:t>1</a:t>
            </a:r>
            <a:r>
              <a:rPr lang="zh-CN" altLang="en-US" dirty="0"/>
              <a:t>：“专业号”是学生关系的外码，学生关系为参照关系，专业关系是被参照关系</a:t>
            </a:r>
            <a:endParaRPr lang="en-US" altLang="zh-CN" dirty="0"/>
          </a:p>
          <a:p>
            <a:pPr lvl="1"/>
            <a:endParaRPr lang="en-US" altLang="zh-CN" dirty="0"/>
          </a:p>
          <a:p>
            <a:pPr lvl="1"/>
            <a:r>
              <a:rPr lang="zh-CN" altLang="en-US" dirty="0"/>
              <a:t>例</a:t>
            </a:r>
            <a:r>
              <a:rPr lang="en-US" altLang="zh-CN" dirty="0"/>
              <a:t>2</a:t>
            </a:r>
            <a:r>
              <a:rPr lang="zh-CN" altLang="en-US" dirty="0"/>
              <a:t>：“学号”和“课程号”是选修关系的外码，选修关系为参照关系，学生关系和课程关系均为被参照关系</a:t>
            </a:r>
            <a:endParaRPr lang="en-US" altLang="zh-CN" dirty="0"/>
          </a:p>
          <a:p>
            <a:pPr lvl="1"/>
            <a:endParaRPr lang="en-US" altLang="zh-CN" dirty="0"/>
          </a:p>
          <a:p>
            <a:pPr lvl="1"/>
            <a:r>
              <a:rPr lang="zh-CN" altLang="en-US" dirty="0"/>
              <a:t>例</a:t>
            </a:r>
            <a:r>
              <a:rPr lang="en-US" altLang="zh-CN" dirty="0"/>
              <a:t>3</a:t>
            </a:r>
            <a:r>
              <a:rPr lang="zh-CN" altLang="en-US" dirty="0"/>
              <a:t>：学生关系既是参照关系也是被参照关系 </a:t>
            </a:r>
          </a:p>
        </p:txBody>
      </p:sp>
      <p:sp>
        <p:nvSpPr>
          <p:cNvPr id="2" name="灯片编号占位符 1">
            <a:extLst>
              <a:ext uri="{FF2B5EF4-FFF2-40B4-BE49-F238E27FC236}">
                <a16:creationId xmlns:a16="http://schemas.microsoft.com/office/drawing/2014/main" id="{ACC4786E-D77D-413B-BEB8-101871B1A68C}"/>
              </a:ext>
            </a:extLst>
          </p:cNvPr>
          <p:cNvSpPr>
            <a:spLocks noGrp="1"/>
          </p:cNvSpPr>
          <p:nvPr>
            <p:ph type="sldNum" sz="quarter" idx="12"/>
          </p:nvPr>
        </p:nvSpPr>
        <p:spPr/>
        <p:txBody>
          <a:bodyPr/>
          <a:lstStyle/>
          <a:p>
            <a:fld id="{47C9E101-E51D-431E-84FA-C029B8655B60}" type="slidenum">
              <a:rPr lang="zh-CN" altLang="en-US" smtClean="0"/>
              <a:pPr/>
              <a:t>39</a:t>
            </a:fld>
            <a:endParaRPr lang="zh-CN" altLang="en-US" dirty="0"/>
          </a:p>
        </p:txBody>
      </p:sp>
      <p:graphicFrame>
        <p:nvGraphicFramePr>
          <p:cNvPr id="4" name="内容占位符 392195">
            <a:extLst>
              <a:ext uri="{FF2B5EF4-FFF2-40B4-BE49-F238E27FC236}">
                <a16:creationId xmlns:a16="http://schemas.microsoft.com/office/drawing/2014/main" id="{B5B2E506-2135-4081-A564-BABECD2FF39A}"/>
              </a:ext>
            </a:extLst>
          </p:cNvPr>
          <p:cNvGraphicFramePr>
            <a:graphicFrameLocks/>
          </p:cNvGraphicFramePr>
          <p:nvPr>
            <p:extLst>
              <p:ext uri="{D42A27DB-BD31-4B8C-83A1-F6EECF244321}">
                <p14:modId xmlns:p14="http://schemas.microsoft.com/office/powerpoint/2010/main" val="2837132620"/>
              </p:ext>
            </p:extLst>
          </p:nvPr>
        </p:nvGraphicFramePr>
        <p:xfrm>
          <a:off x="4786984" y="4241698"/>
          <a:ext cx="2048487" cy="557906"/>
        </p:xfrm>
        <a:graphic>
          <a:graphicData uri="http://schemas.openxmlformats.org/presentationml/2006/ole">
            <mc:AlternateContent xmlns:mc="http://schemas.openxmlformats.org/markup-compatibility/2006">
              <mc:Choice xmlns:v="urn:schemas-microsoft-com:vml" Requires="v">
                <p:oleObj spid="_x0000_s9356" r:id="rId3" imgW="11187302" imgH="3415873" progId="Photoshop.Image.7">
                  <p:embed/>
                </p:oleObj>
              </mc:Choice>
              <mc:Fallback>
                <p:oleObj r:id="rId3" imgW="11187302" imgH="3415873" progId="Photoshop.Image.7">
                  <p:embed/>
                  <p:pic>
                    <p:nvPicPr>
                      <p:cNvPr id="392196" name="内容占位符 392195">
                        <a:extLst>
                          <a:ext uri="{FF2B5EF4-FFF2-40B4-BE49-F238E27FC236}">
                            <a16:creationId xmlns:a16="http://schemas.microsoft.com/office/drawing/2014/main" id="{231FFDD6-E618-4D60-ABFB-CBF42735CBB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6984" y="4241698"/>
                        <a:ext cx="2048487" cy="557906"/>
                      </a:xfrm>
                      <a:prstGeom prst="rect">
                        <a:avLst/>
                      </a:prstGeom>
                      <a:ln>
                        <a:noFill/>
                      </a:ln>
                      <a:extLst/>
                    </p:spPr>
                  </p:pic>
                </p:oleObj>
              </mc:Fallback>
            </mc:AlternateContent>
          </a:graphicData>
        </a:graphic>
      </p:graphicFrame>
      <p:graphicFrame>
        <p:nvGraphicFramePr>
          <p:cNvPr id="5" name="内容占位符 391171">
            <a:extLst>
              <a:ext uri="{FF2B5EF4-FFF2-40B4-BE49-F238E27FC236}">
                <a16:creationId xmlns:a16="http://schemas.microsoft.com/office/drawing/2014/main" id="{78F76352-48DC-490C-8305-1537DCEF961C}"/>
              </a:ext>
            </a:extLst>
          </p:cNvPr>
          <p:cNvGraphicFramePr>
            <a:graphicFrameLocks/>
          </p:cNvGraphicFramePr>
          <p:nvPr>
            <p:extLst>
              <p:ext uri="{D42A27DB-BD31-4B8C-83A1-F6EECF244321}">
                <p14:modId xmlns:p14="http://schemas.microsoft.com/office/powerpoint/2010/main" val="2205315671"/>
              </p:ext>
            </p:extLst>
          </p:nvPr>
        </p:nvGraphicFramePr>
        <p:xfrm>
          <a:off x="3876348" y="5177031"/>
          <a:ext cx="3591012" cy="557906"/>
        </p:xfrm>
        <a:graphic>
          <a:graphicData uri="http://schemas.openxmlformats.org/presentationml/2006/ole">
            <mc:AlternateContent xmlns:mc="http://schemas.openxmlformats.org/markup-compatibility/2006">
              <mc:Choice xmlns:v="urn:schemas-microsoft-com:vml" Requires="v">
                <p:oleObj spid="_x0000_s9357" r:id="rId5" imgW="18044444" imgH="2590476" progId="Photoshop.Image.7">
                  <p:embed/>
                </p:oleObj>
              </mc:Choice>
              <mc:Fallback>
                <p:oleObj r:id="rId5" imgW="18044444" imgH="2590476" progId="Photoshop.Image.7">
                  <p:embed/>
                  <p:pic>
                    <p:nvPicPr>
                      <p:cNvPr id="391172" name="内容占位符 391171">
                        <a:extLst>
                          <a:ext uri="{FF2B5EF4-FFF2-40B4-BE49-F238E27FC236}">
                            <a16:creationId xmlns:a16="http://schemas.microsoft.com/office/drawing/2014/main" id="{CBD6AD48-2832-4291-B85D-D69C287AA56F}"/>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6348" y="5177031"/>
                        <a:ext cx="3591012" cy="557906"/>
                      </a:xfrm>
                      <a:prstGeom prst="rect">
                        <a:avLst/>
                      </a:prstGeom>
                      <a:ln>
                        <a:noFill/>
                      </a:ln>
                      <a:extLst/>
                    </p:spPr>
                  </p:pic>
                </p:oleObj>
              </mc:Fallback>
            </mc:AlternateContent>
          </a:graphicData>
        </a:graphic>
      </p:graphicFrame>
      <p:graphicFrame>
        <p:nvGraphicFramePr>
          <p:cNvPr id="6" name="内容占位符 393219">
            <a:extLst>
              <a:ext uri="{FF2B5EF4-FFF2-40B4-BE49-F238E27FC236}">
                <a16:creationId xmlns:a16="http://schemas.microsoft.com/office/drawing/2014/main" id="{F8A9CA4E-2A61-4215-ABAE-210A8217B735}"/>
              </a:ext>
            </a:extLst>
          </p:cNvPr>
          <p:cNvGraphicFramePr>
            <a:graphicFrameLocks/>
          </p:cNvGraphicFramePr>
          <p:nvPr>
            <p:extLst>
              <p:ext uri="{D42A27DB-BD31-4B8C-83A1-F6EECF244321}">
                <p14:modId xmlns:p14="http://schemas.microsoft.com/office/powerpoint/2010/main" val="2002235956"/>
              </p:ext>
            </p:extLst>
          </p:nvPr>
        </p:nvGraphicFramePr>
        <p:xfrm>
          <a:off x="6630063" y="5722673"/>
          <a:ext cx="1486424" cy="827525"/>
        </p:xfrm>
        <a:graphic>
          <a:graphicData uri="http://schemas.openxmlformats.org/presentationml/2006/ole">
            <mc:AlternateContent xmlns:mc="http://schemas.openxmlformats.org/markup-compatibility/2006">
              <mc:Choice xmlns:v="urn:schemas-microsoft-com:vml" Requires="v">
                <p:oleObj spid="_x0000_s9358" r:id="rId7" imgW="10057143" imgH="5904762" progId="Photoshop.Image.7">
                  <p:embed/>
                </p:oleObj>
              </mc:Choice>
              <mc:Fallback>
                <p:oleObj r:id="rId7" imgW="10057143" imgH="5904762" progId="Photoshop.Image.7">
                  <p:embed/>
                  <p:pic>
                    <p:nvPicPr>
                      <p:cNvPr id="393220" name="内容占位符 393219">
                        <a:extLst>
                          <a:ext uri="{FF2B5EF4-FFF2-40B4-BE49-F238E27FC236}">
                            <a16:creationId xmlns:a16="http://schemas.microsoft.com/office/drawing/2014/main" id="{4424EAA7-C3CC-45F8-9D28-68C8E70C86C5}"/>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30063" y="5722673"/>
                        <a:ext cx="1486424" cy="827525"/>
                      </a:xfrm>
                      <a:prstGeom prst="rect">
                        <a:avLst/>
                      </a:prstGeom>
                      <a:ln>
                        <a:noFill/>
                      </a:ln>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46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46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467">
                                            <p:txEl>
                                              <p:pRg st="6" end="6"/>
                                            </p:txEl>
                                          </p:spTgt>
                                        </p:tgtEl>
                                        <p:attrNameLst>
                                          <p:attrName>style.visibility</p:attrName>
                                        </p:attrNameLst>
                                      </p:cBhvr>
                                      <p:to>
                                        <p:strVal val="visible"/>
                                      </p:to>
                                    </p:set>
                                  </p:childTnLst>
                                </p:cTn>
                              </p:par>
                              <p:par>
                                <p:cTn id="15" presetID="2" presetClass="entr" presetSubtype="4"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467">
                                            <p:txEl>
                                              <p:pRg st="8" end="8"/>
                                            </p:txEl>
                                          </p:spTgt>
                                        </p:tgtEl>
                                        <p:attrNameLst>
                                          <p:attrName>style.visibility</p:attrName>
                                        </p:attrNameLst>
                                      </p:cBhvr>
                                      <p:to>
                                        <p:strVal val="visible"/>
                                      </p:to>
                                    </p:set>
                                  </p:childTnLst>
                                </p:cTn>
                              </p:par>
                              <p:par>
                                <p:cTn id="23" presetID="2" presetClass="entr" presetSubtype="4"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2467">
                                            <p:txEl>
                                              <p:pRg st="10" end="10"/>
                                            </p:txEl>
                                          </p:spTgt>
                                        </p:tgtEl>
                                        <p:attrNameLst>
                                          <p:attrName>style.visibility</p:attrName>
                                        </p:attrNameLst>
                                      </p:cBhvr>
                                      <p:to>
                                        <p:strVal val="visible"/>
                                      </p:to>
                                    </p:set>
                                  </p:childTnLst>
                                </p:cTn>
                              </p:par>
                              <p:par>
                                <p:cTn id="31" presetID="2" presetClass="entr" presetSubtype="4"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292865">
            <a:extLst>
              <a:ext uri="{FF2B5EF4-FFF2-40B4-BE49-F238E27FC236}">
                <a16:creationId xmlns:a16="http://schemas.microsoft.com/office/drawing/2014/main" id="{88F39B44-6579-473E-80C9-20D3A1EE1AB9}"/>
              </a:ext>
            </a:extLst>
          </p:cNvPr>
          <p:cNvSpPr>
            <a:spLocks noGrp="1" noChangeArrowheads="1"/>
          </p:cNvSpPr>
          <p:nvPr>
            <p:ph type="title"/>
          </p:nvPr>
        </p:nvSpPr>
        <p:spPr/>
        <p:txBody>
          <a:bodyPr/>
          <a:lstStyle/>
          <a:p>
            <a:r>
              <a:rPr lang="zh-CN" altLang="en-US"/>
              <a:t>外码</a:t>
            </a:r>
            <a:r>
              <a:rPr lang="en-US" altLang="zh-CN"/>
              <a:t>(</a:t>
            </a:r>
            <a:r>
              <a:rPr lang="zh-CN" altLang="en-US"/>
              <a:t>续</a:t>
            </a:r>
            <a:r>
              <a:rPr lang="en-US" altLang="zh-CN"/>
              <a:t>)</a:t>
            </a:r>
          </a:p>
        </p:txBody>
      </p:sp>
      <p:sp>
        <p:nvSpPr>
          <p:cNvPr id="66563" name="文本占位符 292866">
            <a:extLst>
              <a:ext uri="{FF2B5EF4-FFF2-40B4-BE49-F238E27FC236}">
                <a16:creationId xmlns:a16="http://schemas.microsoft.com/office/drawing/2014/main" id="{C6427170-D652-4F8A-9CCE-EBE5158387A2}"/>
              </a:ext>
            </a:extLst>
          </p:cNvPr>
          <p:cNvSpPr>
            <a:spLocks noGrp="1" noChangeArrowheads="1"/>
          </p:cNvSpPr>
          <p:nvPr>
            <p:ph idx="1"/>
          </p:nvPr>
        </p:nvSpPr>
        <p:spPr/>
        <p:txBody>
          <a:bodyPr/>
          <a:lstStyle/>
          <a:p>
            <a:r>
              <a:rPr lang="zh-CN" altLang="en-US" dirty="0"/>
              <a:t>说明</a:t>
            </a:r>
            <a:endParaRPr lang="en-US" altLang="zh-CN" dirty="0"/>
          </a:p>
          <a:p>
            <a:pPr lvl="1"/>
            <a:r>
              <a:rPr lang="zh-CN" altLang="en-US" dirty="0"/>
              <a:t>关系</a:t>
            </a:r>
            <a:r>
              <a:rPr lang="en-US" altLang="zh-CN" i="1" dirty="0"/>
              <a:t>R</a:t>
            </a:r>
            <a:r>
              <a:rPr lang="zh-CN" altLang="en-US" dirty="0"/>
              <a:t>和</a:t>
            </a:r>
            <a:r>
              <a:rPr lang="en-US" altLang="zh-CN" i="1" dirty="0"/>
              <a:t>S</a:t>
            </a:r>
            <a:r>
              <a:rPr lang="zh-CN" altLang="en-US" dirty="0"/>
              <a:t>不一定是不同的关系</a:t>
            </a:r>
          </a:p>
          <a:p>
            <a:pPr lvl="1"/>
            <a:r>
              <a:rPr lang="zh-CN" altLang="en-US" dirty="0"/>
              <a:t>目标关系</a:t>
            </a:r>
            <a:r>
              <a:rPr lang="en-US" altLang="zh-CN" i="1" dirty="0"/>
              <a:t>S</a:t>
            </a:r>
            <a:r>
              <a:rPr lang="zh-CN" altLang="en-US" dirty="0"/>
              <a:t>的主码</a:t>
            </a:r>
            <a:r>
              <a:rPr lang="en-US" altLang="zh-CN" i="1" dirty="0"/>
              <a:t>K</a:t>
            </a:r>
            <a:r>
              <a:rPr lang="en-US" altLang="zh-CN" i="1" baseline="-25000" dirty="0"/>
              <a:t>s</a:t>
            </a:r>
            <a:r>
              <a:rPr lang="en-US" altLang="zh-CN" dirty="0"/>
              <a:t> </a:t>
            </a:r>
            <a:r>
              <a:rPr lang="zh-CN" altLang="en-US" dirty="0"/>
              <a:t>和参照关系的外码</a:t>
            </a:r>
            <a:r>
              <a:rPr lang="en-US" altLang="zh-CN" i="1" dirty="0"/>
              <a:t>F</a:t>
            </a:r>
            <a:r>
              <a:rPr lang="zh-CN" altLang="en-US" dirty="0"/>
              <a:t>必须定义在同一个（或一组）域上</a:t>
            </a:r>
          </a:p>
          <a:p>
            <a:pPr lvl="1"/>
            <a:r>
              <a:rPr lang="zh-CN" altLang="en-US" dirty="0"/>
              <a:t>外码并不一定要与相应的主码同名</a:t>
            </a:r>
          </a:p>
          <a:p>
            <a:pPr lvl="2"/>
            <a:r>
              <a:rPr lang="zh-CN" altLang="en-US" dirty="0"/>
              <a:t>当外码与相应的主码属于不同关系时，往往取</a:t>
            </a:r>
            <a:r>
              <a:rPr lang="zh-CN" altLang="en-US" dirty="0">
                <a:solidFill>
                  <a:srgbClr val="C00000"/>
                </a:solidFill>
              </a:rPr>
              <a:t>相同</a:t>
            </a:r>
            <a:r>
              <a:rPr lang="zh-CN" altLang="en-US" dirty="0"/>
              <a:t>的名字，以便于识别</a:t>
            </a:r>
          </a:p>
          <a:p>
            <a:endParaRPr lang="zh-CN" altLang="en-US" dirty="0"/>
          </a:p>
        </p:txBody>
      </p:sp>
      <p:sp>
        <p:nvSpPr>
          <p:cNvPr id="2" name="灯片编号占位符 1">
            <a:extLst>
              <a:ext uri="{FF2B5EF4-FFF2-40B4-BE49-F238E27FC236}">
                <a16:creationId xmlns:a16="http://schemas.microsoft.com/office/drawing/2014/main" id="{8F2E74FD-9239-42C1-84C8-D93BD31DE6DC}"/>
              </a:ext>
            </a:extLst>
          </p:cNvPr>
          <p:cNvSpPr>
            <a:spLocks noGrp="1"/>
          </p:cNvSpPr>
          <p:nvPr>
            <p:ph type="sldNum" sz="quarter" idx="12"/>
          </p:nvPr>
        </p:nvSpPr>
        <p:spPr/>
        <p:txBody>
          <a:bodyPr/>
          <a:lstStyle/>
          <a:p>
            <a:fld id="{47C9E101-E51D-431E-84FA-C029B8655B60}" type="slidenum">
              <a:rPr lang="zh-CN" altLang="en-US" smtClean="0"/>
              <a:pPr/>
              <a:t>40</a:t>
            </a:fld>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285697">
            <a:extLst>
              <a:ext uri="{FF2B5EF4-FFF2-40B4-BE49-F238E27FC236}">
                <a16:creationId xmlns:a16="http://schemas.microsoft.com/office/drawing/2014/main" id="{EC2956CE-61F6-4346-9662-F37175D5706C}"/>
              </a:ext>
            </a:extLst>
          </p:cNvPr>
          <p:cNvSpPr>
            <a:spLocks noGrp="1" noChangeArrowheads="1"/>
          </p:cNvSpPr>
          <p:nvPr>
            <p:ph type="title"/>
          </p:nvPr>
        </p:nvSpPr>
        <p:spPr/>
        <p:txBody>
          <a:bodyPr/>
          <a:lstStyle/>
          <a:p>
            <a:r>
              <a:rPr lang="en-US" altLang="zh-CN"/>
              <a:t>3. </a:t>
            </a:r>
            <a:r>
              <a:rPr lang="zh-CN" altLang="en-US"/>
              <a:t>参照完整性规则</a:t>
            </a:r>
          </a:p>
        </p:txBody>
      </p:sp>
      <p:sp>
        <p:nvSpPr>
          <p:cNvPr id="67587" name="文本占位符 285698">
            <a:extLst>
              <a:ext uri="{FF2B5EF4-FFF2-40B4-BE49-F238E27FC236}">
                <a16:creationId xmlns:a16="http://schemas.microsoft.com/office/drawing/2014/main" id="{263207A9-7999-477C-B106-D5061396A70E}"/>
              </a:ext>
            </a:extLst>
          </p:cNvPr>
          <p:cNvSpPr>
            <a:spLocks noGrp="1" noChangeArrowheads="1"/>
          </p:cNvSpPr>
          <p:nvPr>
            <p:ph idx="1"/>
          </p:nvPr>
        </p:nvSpPr>
        <p:spPr/>
        <p:txBody>
          <a:bodyPr/>
          <a:lstStyle/>
          <a:p>
            <a:r>
              <a:rPr lang="zh-CN" altLang="en-US" dirty="0"/>
              <a:t>规则</a:t>
            </a:r>
            <a:r>
              <a:rPr lang="en-US" altLang="zh-CN" dirty="0"/>
              <a:t>2.2 </a:t>
            </a:r>
            <a:r>
              <a:rPr lang="zh-CN" altLang="en-US" dirty="0">
                <a:solidFill>
                  <a:srgbClr val="C00000"/>
                </a:solidFill>
              </a:rPr>
              <a:t>参照完整性规则</a:t>
            </a:r>
          </a:p>
          <a:p>
            <a:pPr lvl="1"/>
            <a:r>
              <a:rPr lang="zh-CN" altLang="en-US" dirty="0"/>
              <a:t>若属性（或属性组）</a:t>
            </a:r>
            <a:r>
              <a:rPr lang="en-US" altLang="zh-CN" i="1" dirty="0"/>
              <a:t>F</a:t>
            </a:r>
            <a:r>
              <a:rPr lang="zh-CN" altLang="en-US" dirty="0"/>
              <a:t>是基本关系</a:t>
            </a:r>
            <a:r>
              <a:rPr lang="en-US" altLang="zh-CN" i="1" dirty="0"/>
              <a:t>R</a:t>
            </a:r>
            <a:r>
              <a:rPr lang="zh-CN" altLang="en-US" dirty="0"/>
              <a:t>的外码它与基本关系</a:t>
            </a:r>
            <a:r>
              <a:rPr lang="en-US" altLang="zh-CN" i="1" dirty="0"/>
              <a:t>S</a:t>
            </a:r>
            <a:r>
              <a:rPr lang="zh-CN" altLang="en-US" dirty="0"/>
              <a:t>的主码</a:t>
            </a:r>
            <a:r>
              <a:rPr lang="en-US" altLang="zh-CN" i="1" dirty="0"/>
              <a:t>Ks</a:t>
            </a:r>
            <a:r>
              <a:rPr lang="zh-CN" altLang="en-US" dirty="0"/>
              <a:t>相对应（基本关系</a:t>
            </a:r>
            <a:r>
              <a:rPr lang="en-US" altLang="zh-CN" i="1" dirty="0"/>
              <a:t>R</a:t>
            </a:r>
            <a:r>
              <a:rPr lang="zh-CN" altLang="en-US" dirty="0"/>
              <a:t>和</a:t>
            </a:r>
            <a:r>
              <a:rPr lang="en-US" altLang="zh-CN" i="1" dirty="0"/>
              <a:t>S</a:t>
            </a:r>
            <a:r>
              <a:rPr lang="zh-CN" altLang="en-US" dirty="0"/>
              <a:t>不一定是不同的关系），则对于</a:t>
            </a:r>
            <a:r>
              <a:rPr lang="en-US" altLang="zh-CN" i="1" dirty="0"/>
              <a:t>R</a:t>
            </a:r>
            <a:r>
              <a:rPr lang="zh-CN" altLang="en-US" dirty="0"/>
              <a:t>中每个元组在</a:t>
            </a:r>
            <a:r>
              <a:rPr lang="en-US" altLang="zh-CN" i="1" dirty="0"/>
              <a:t>F</a:t>
            </a:r>
            <a:r>
              <a:rPr lang="zh-CN" altLang="en-US" dirty="0"/>
              <a:t>上的值必须为：</a:t>
            </a:r>
          </a:p>
          <a:p>
            <a:pPr lvl="2"/>
            <a:r>
              <a:rPr lang="zh-CN" altLang="en-US" dirty="0">
                <a:solidFill>
                  <a:srgbClr val="C00000"/>
                </a:solidFill>
              </a:rPr>
              <a:t>或者取空值（</a:t>
            </a:r>
            <a:r>
              <a:rPr lang="en-US" altLang="zh-CN" i="1" dirty="0">
                <a:solidFill>
                  <a:srgbClr val="C00000"/>
                </a:solidFill>
              </a:rPr>
              <a:t>F</a:t>
            </a:r>
            <a:r>
              <a:rPr lang="zh-CN" altLang="en-US" dirty="0">
                <a:solidFill>
                  <a:srgbClr val="C00000"/>
                </a:solidFill>
              </a:rPr>
              <a:t>的每个属性值均为空值）</a:t>
            </a:r>
          </a:p>
          <a:p>
            <a:pPr lvl="2"/>
            <a:r>
              <a:rPr lang="zh-CN" altLang="en-US" dirty="0">
                <a:solidFill>
                  <a:srgbClr val="C00000"/>
                </a:solidFill>
              </a:rPr>
              <a:t>或者等于</a:t>
            </a:r>
            <a:r>
              <a:rPr lang="en-US" altLang="zh-CN" i="1" dirty="0">
                <a:solidFill>
                  <a:srgbClr val="C00000"/>
                </a:solidFill>
              </a:rPr>
              <a:t>S</a:t>
            </a:r>
            <a:r>
              <a:rPr lang="zh-CN" altLang="en-US" dirty="0">
                <a:solidFill>
                  <a:srgbClr val="C00000"/>
                </a:solidFill>
              </a:rPr>
              <a:t>中某个元组的主码值</a:t>
            </a:r>
          </a:p>
        </p:txBody>
      </p:sp>
      <p:sp>
        <p:nvSpPr>
          <p:cNvPr id="2" name="灯片编号占位符 1">
            <a:extLst>
              <a:ext uri="{FF2B5EF4-FFF2-40B4-BE49-F238E27FC236}">
                <a16:creationId xmlns:a16="http://schemas.microsoft.com/office/drawing/2014/main" id="{39CA4DF7-07FC-4715-A9F0-C2517FAD1D50}"/>
              </a:ext>
            </a:extLst>
          </p:cNvPr>
          <p:cNvSpPr>
            <a:spLocks noGrp="1"/>
          </p:cNvSpPr>
          <p:nvPr>
            <p:ph type="sldNum" sz="quarter" idx="12"/>
          </p:nvPr>
        </p:nvSpPr>
        <p:spPr/>
        <p:txBody>
          <a:bodyPr/>
          <a:lstStyle/>
          <a:p>
            <a:fld id="{47C9E101-E51D-431E-84FA-C029B8655B60}" type="slidenum">
              <a:rPr lang="zh-CN" altLang="en-US" smtClean="0"/>
              <a:pPr/>
              <a:t>41</a:t>
            </a:fld>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294913">
            <a:extLst>
              <a:ext uri="{FF2B5EF4-FFF2-40B4-BE49-F238E27FC236}">
                <a16:creationId xmlns:a16="http://schemas.microsoft.com/office/drawing/2014/main" id="{C3F19DCE-2740-4D10-96E4-2B21AE8ED01F}"/>
              </a:ext>
            </a:extLst>
          </p:cNvPr>
          <p:cNvSpPr>
            <a:spLocks noGrp="1" noChangeArrowheads="1"/>
          </p:cNvSpPr>
          <p:nvPr>
            <p:ph type="title"/>
          </p:nvPr>
        </p:nvSpPr>
        <p:spPr/>
        <p:txBody>
          <a:bodyPr/>
          <a:lstStyle/>
          <a:p>
            <a:r>
              <a:rPr lang="zh-CN" altLang="en-US"/>
              <a:t>参照完整性规则</a:t>
            </a:r>
            <a:r>
              <a:rPr lang="en-US" altLang="zh-CN"/>
              <a:t>(</a:t>
            </a:r>
            <a:r>
              <a:rPr lang="zh-CN" altLang="en-US"/>
              <a:t>续</a:t>
            </a:r>
            <a:r>
              <a:rPr lang="en-US" altLang="zh-CN"/>
              <a:t>)</a:t>
            </a:r>
          </a:p>
        </p:txBody>
      </p:sp>
      <p:sp>
        <p:nvSpPr>
          <p:cNvPr id="68611" name="文本占位符 294914">
            <a:extLst>
              <a:ext uri="{FF2B5EF4-FFF2-40B4-BE49-F238E27FC236}">
                <a16:creationId xmlns:a16="http://schemas.microsoft.com/office/drawing/2014/main" id="{D17E3C2D-76B6-47EE-B432-20856D6B80CD}"/>
              </a:ext>
            </a:extLst>
          </p:cNvPr>
          <p:cNvSpPr>
            <a:spLocks noGrp="1" noChangeArrowheads="1"/>
          </p:cNvSpPr>
          <p:nvPr>
            <p:ph idx="1"/>
          </p:nvPr>
        </p:nvSpPr>
        <p:spPr/>
        <p:txBody>
          <a:bodyPr>
            <a:normAutofit fontScale="85000" lnSpcReduction="20000"/>
          </a:bodyPr>
          <a:lstStyle/>
          <a:p>
            <a:r>
              <a:rPr lang="zh-CN" altLang="en-US" dirty="0"/>
              <a:t>例</a:t>
            </a:r>
            <a:r>
              <a:rPr lang="en-US" altLang="zh-CN" dirty="0"/>
              <a:t>1</a:t>
            </a:r>
            <a:r>
              <a:rPr lang="zh-CN" altLang="en-US" dirty="0"/>
              <a:t>：学生（</a:t>
            </a:r>
            <a:r>
              <a:rPr lang="zh-CN" altLang="en-US" u="sng" dirty="0"/>
              <a:t>学号</a:t>
            </a:r>
            <a:r>
              <a:rPr lang="zh-CN" altLang="en-US" dirty="0"/>
              <a:t>，姓名，性别，</a:t>
            </a:r>
            <a:r>
              <a:rPr lang="zh-CN" altLang="en-US" dirty="0">
                <a:solidFill>
                  <a:srgbClr val="3333FF"/>
                </a:solidFill>
              </a:rPr>
              <a:t>专业号</a:t>
            </a:r>
            <a:r>
              <a:rPr lang="zh-CN" altLang="en-US" dirty="0"/>
              <a:t>，年龄） </a:t>
            </a:r>
            <a:endParaRPr lang="en-US" altLang="zh-CN" dirty="0"/>
          </a:p>
          <a:p>
            <a:pPr lvl="1"/>
            <a:r>
              <a:rPr lang="zh-CN" altLang="en-US" dirty="0"/>
              <a:t>“专业号”属性只取两类值：</a:t>
            </a:r>
          </a:p>
          <a:p>
            <a:pPr marL="342900" lvl="1" indent="0">
              <a:buNone/>
            </a:pPr>
            <a:r>
              <a:rPr lang="zh-CN" altLang="en-US" dirty="0"/>
              <a:t>（</a:t>
            </a:r>
            <a:r>
              <a:rPr lang="en-US" altLang="zh-CN" dirty="0"/>
              <a:t>1</a:t>
            </a:r>
            <a:r>
              <a:rPr lang="zh-CN" altLang="en-US" dirty="0"/>
              <a:t>）</a:t>
            </a:r>
            <a:r>
              <a:rPr lang="zh-CN" altLang="en-US" dirty="0">
                <a:solidFill>
                  <a:srgbClr val="C00000"/>
                </a:solidFill>
              </a:rPr>
              <a:t>空值</a:t>
            </a:r>
            <a:r>
              <a:rPr lang="zh-CN" altLang="en-US" dirty="0"/>
              <a:t>，表示尚未给该学生分配专业</a:t>
            </a:r>
          </a:p>
          <a:p>
            <a:pPr marL="342900" lvl="1" indent="0">
              <a:buNone/>
            </a:pPr>
            <a:r>
              <a:rPr lang="zh-CN" altLang="en-US" dirty="0"/>
              <a:t>（</a:t>
            </a:r>
            <a:r>
              <a:rPr lang="en-US" altLang="zh-CN" dirty="0"/>
              <a:t>2</a:t>
            </a:r>
            <a:r>
              <a:rPr lang="zh-CN" altLang="en-US" dirty="0"/>
              <a:t>）</a:t>
            </a:r>
            <a:r>
              <a:rPr lang="zh-CN" altLang="en-US" dirty="0">
                <a:solidFill>
                  <a:srgbClr val="C00000"/>
                </a:solidFill>
              </a:rPr>
              <a:t>非空值</a:t>
            </a:r>
            <a:r>
              <a:rPr lang="zh-CN" altLang="en-US" dirty="0"/>
              <a:t>，这时该值必须是专业关系中某个元组的“专业号”值，表示该学生不可能分配一个不存在的专业</a:t>
            </a:r>
            <a:endParaRPr lang="en-US" altLang="zh-CN" dirty="0"/>
          </a:p>
          <a:p>
            <a:pPr marL="342900" lvl="1" indent="0">
              <a:buNone/>
            </a:pPr>
            <a:endParaRPr lang="en-US" altLang="zh-CN" dirty="0"/>
          </a:p>
          <a:p>
            <a:r>
              <a:rPr lang="zh-CN" altLang="en-US" dirty="0"/>
              <a:t>例</a:t>
            </a:r>
            <a:r>
              <a:rPr lang="en-US" altLang="zh-CN" dirty="0"/>
              <a:t>2</a:t>
            </a:r>
            <a:r>
              <a:rPr lang="zh-CN" altLang="en-US" dirty="0"/>
              <a:t> ：选修（</a:t>
            </a:r>
            <a:r>
              <a:rPr lang="zh-CN" altLang="en-US" u="sng" dirty="0">
                <a:solidFill>
                  <a:srgbClr val="3333FF"/>
                </a:solidFill>
              </a:rPr>
              <a:t>学号，课程号</a:t>
            </a:r>
            <a:r>
              <a:rPr lang="zh-CN" altLang="en-US" dirty="0"/>
              <a:t>，成绩）</a:t>
            </a:r>
            <a:endParaRPr lang="en-US" altLang="zh-CN" dirty="0"/>
          </a:p>
          <a:p>
            <a:pPr lvl="1"/>
            <a:r>
              <a:rPr lang="zh-CN" altLang="en-US" dirty="0"/>
              <a:t>“学号”和“课程号”可能的取值 ：</a:t>
            </a:r>
          </a:p>
          <a:p>
            <a:pPr marL="342900" lvl="1" indent="0">
              <a:buNone/>
            </a:pPr>
            <a:r>
              <a:rPr lang="zh-CN" altLang="en-US" dirty="0"/>
              <a:t> （</a:t>
            </a:r>
            <a:r>
              <a:rPr lang="en-US" altLang="zh-CN" dirty="0"/>
              <a:t>1</a:t>
            </a:r>
            <a:r>
              <a:rPr lang="zh-CN" altLang="en-US" dirty="0"/>
              <a:t>）选修关系中的主属性，</a:t>
            </a:r>
            <a:r>
              <a:rPr lang="zh-CN" altLang="en-US" dirty="0">
                <a:solidFill>
                  <a:srgbClr val="C00000"/>
                </a:solidFill>
              </a:rPr>
              <a:t>不能取空值</a:t>
            </a:r>
          </a:p>
          <a:p>
            <a:pPr marL="342900" lvl="1" indent="0">
              <a:buNone/>
            </a:pPr>
            <a:r>
              <a:rPr lang="zh-CN" altLang="en-US" dirty="0"/>
              <a:t> （</a:t>
            </a:r>
            <a:r>
              <a:rPr lang="en-US" altLang="zh-CN" dirty="0"/>
              <a:t>2</a:t>
            </a:r>
            <a:r>
              <a:rPr lang="zh-CN" altLang="en-US" dirty="0"/>
              <a:t>）只能取相应被参照关系中已经存在的主码值</a:t>
            </a:r>
            <a:endParaRPr lang="en-US" altLang="zh-CN" dirty="0"/>
          </a:p>
          <a:p>
            <a:endParaRPr lang="en-US" altLang="zh-CN" dirty="0"/>
          </a:p>
          <a:p>
            <a:r>
              <a:rPr lang="zh-CN" altLang="en-US" dirty="0"/>
              <a:t>例</a:t>
            </a:r>
            <a:r>
              <a:rPr lang="en-US" altLang="zh-CN" dirty="0"/>
              <a:t>3</a:t>
            </a:r>
            <a:r>
              <a:rPr lang="zh-CN" altLang="en-US" dirty="0"/>
              <a:t>：学生（</a:t>
            </a:r>
            <a:r>
              <a:rPr lang="zh-CN" altLang="en-US" u="sng" dirty="0"/>
              <a:t>学号</a:t>
            </a:r>
            <a:r>
              <a:rPr lang="zh-CN" altLang="en-US" dirty="0"/>
              <a:t>，姓名，性别，专业号，年龄，</a:t>
            </a:r>
            <a:r>
              <a:rPr lang="zh-CN" altLang="en-US" dirty="0">
                <a:solidFill>
                  <a:srgbClr val="3333FF"/>
                </a:solidFill>
              </a:rPr>
              <a:t>班长</a:t>
            </a:r>
            <a:r>
              <a:rPr lang="zh-CN" altLang="en-US" dirty="0"/>
              <a:t>）</a:t>
            </a:r>
            <a:endParaRPr lang="en-US" altLang="zh-CN" dirty="0"/>
          </a:p>
          <a:p>
            <a:pPr lvl="1"/>
            <a:r>
              <a:rPr lang="zh-CN" altLang="en-US" dirty="0"/>
              <a:t>“班长”属性值可以取两类值：</a:t>
            </a:r>
          </a:p>
          <a:p>
            <a:pPr marL="342900" lvl="1" indent="0">
              <a:buNone/>
            </a:pPr>
            <a:r>
              <a:rPr lang="zh-CN" altLang="en-US" dirty="0"/>
              <a:t>（</a:t>
            </a:r>
            <a:r>
              <a:rPr lang="en-US" altLang="zh-CN" dirty="0"/>
              <a:t>1</a:t>
            </a:r>
            <a:r>
              <a:rPr lang="zh-CN" altLang="en-US" dirty="0"/>
              <a:t>）</a:t>
            </a:r>
            <a:r>
              <a:rPr lang="zh-CN" altLang="en-US" dirty="0">
                <a:solidFill>
                  <a:srgbClr val="C00000"/>
                </a:solidFill>
              </a:rPr>
              <a:t>空值</a:t>
            </a:r>
            <a:r>
              <a:rPr lang="zh-CN" altLang="en-US" dirty="0"/>
              <a:t>，表示该学生所在班级尚未选出班长</a:t>
            </a:r>
          </a:p>
          <a:p>
            <a:pPr marL="342900" lvl="1" indent="0">
              <a:buNone/>
            </a:pPr>
            <a:r>
              <a:rPr lang="zh-CN" altLang="en-US" dirty="0"/>
              <a:t>（</a:t>
            </a:r>
            <a:r>
              <a:rPr lang="en-US" altLang="zh-CN" dirty="0"/>
              <a:t>2</a:t>
            </a:r>
            <a:r>
              <a:rPr lang="zh-CN" altLang="en-US" dirty="0"/>
              <a:t>）</a:t>
            </a:r>
            <a:r>
              <a:rPr lang="zh-CN" altLang="en-US" dirty="0">
                <a:solidFill>
                  <a:srgbClr val="C00000"/>
                </a:solidFill>
              </a:rPr>
              <a:t>非空值</a:t>
            </a:r>
            <a:r>
              <a:rPr lang="zh-CN" altLang="en-US" dirty="0"/>
              <a:t>，该值必须是本关系中某个元组的学号值</a:t>
            </a:r>
          </a:p>
          <a:p>
            <a:pPr marL="342900" lvl="1" indent="0">
              <a:buNone/>
            </a:pPr>
            <a:endParaRPr lang="zh-CN" altLang="en-US" dirty="0"/>
          </a:p>
        </p:txBody>
      </p:sp>
      <p:sp>
        <p:nvSpPr>
          <p:cNvPr id="2" name="灯片编号占位符 1">
            <a:extLst>
              <a:ext uri="{FF2B5EF4-FFF2-40B4-BE49-F238E27FC236}">
                <a16:creationId xmlns:a16="http://schemas.microsoft.com/office/drawing/2014/main" id="{9141DAC8-BA8F-4991-82E6-B45C0CE05D43}"/>
              </a:ext>
            </a:extLst>
          </p:cNvPr>
          <p:cNvSpPr>
            <a:spLocks noGrp="1"/>
          </p:cNvSpPr>
          <p:nvPr>
            <p:ph type="sldNum" sz="quarter" idx="12"/>
          </p:nvPr>
        </p:nvSpPr>
        <p:spPr/>
        <p:txBody>
          <a:bodyPr/>
          <a:lstStyle/>
          <a:p>
            <a:fld id="{47C9E101-E51D-431E-84FA-C029B8655B60}" type="slidenum">
              <a:rPr lang="zh-CN" altLang="en-US" smtClean="0"/>
              <a:pPr/>
              <a:t>42</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6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861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861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861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861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861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86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8611">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8611">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8611">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861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293889">
            <a:extLst>
              <a:ext uri="{FF2B5EF4-FFF2-40B4-BE49-F238E27FC236}">
                <a16:creationId xmlns:a16="http://schemas.microsoft.com/office/drawing/2014/main" id="{939BE6E0-CB0C-4ACE-BC5E-3061FAA58BBB}"/>
              </a:ext>
            </a:extLst>
          </p:cNvPr>
          <p:cNvSpPr>
            <a:spLocks noGrp="1" noChangeArrowheads="1"/>
          </p:cNvSpPr>
          <p:nvPr>
            <p:ph type="title"/>
          </p:nvPr>
        </p:nvSpPr>
        <p:spPr/>
        <p:txBody>
          <a:bodyPr/>
          <a:lstStyle/>
          <a:p>
            <a:r>
              <a:rPr lang="en-US" altLang="zh-CN" dirty="0"/>
              <a:t>2.3.3 </a:t>
            </a:r>
            <a:r>
              <a:rPr lang="zh-CN" altLang="en-US" dirty="0"/>
              <a:t>用户定义的完整性</a:t>
            </a:r>
          </a:p>
        </p:txBody>
      </p:sp>
      <p:sp>
        <p:nvSpPr>
          <p:cNvPr id="72707" name="文本占位符 293890">
            <a:extLst>
              <a:ext uri="{FF2B5EF4-FFF2-40B4-BE49-F238E27FC236}">
                <a16:creationId xmlns:a16="http://schemas.microsoft.com/office/drawing/2014/main" id="{B731EB95-8899-4C02-940B-F2351E9D0EB1}"/>
              </a:ext>
            </a:extLst>
          </p:cNvPr>
          <p:cNvSpPr>
            <a:spLocks noGrp="1" noChangeArrowheads="1"/>
          </p:cNvSpPr>
          <p:nvPr>
            <p:ph idx="1"/>
          </p:nvPr>
        </p:nvSpPr>
        <p:spPr/>
        <p:txBody>
          <a:bodyPr/>
          <a:lstStyle/>
          <a:p>
            <a:r>
              <a:rPr lang="zh-CN" altLang="en-US" dirty="0"/>
              <a:t>针对某一</a:t>
            </a:r>
            <a:r>
              <a:rPr lang="zh-CN" altLang="en-US" dirty="0">
                <a:solidFill>
                  <a:srgbClr val="C00000"/>
                </a:solidFill>
              </a:rPr>
              <a:t>具体关系数据库</a:t>
            </a:r>
            <a:r>
              <a:rPr lang="zh-CN" altLang="en-US" dirty="0"/>
              <a:t>的约束条件，反映某一具体应用所涉及的数据必须满足的</a:t>
            </a:r>
            <a:r>
              <a:rPr lang="zh-CN" altLang="en-US" dirty="0">
                <a:solidFill>
                  <a:srgbClr val="C00000"/>
                </a:solidFill>
              </a:rPr>
              <a:t>语义要求</a:t>
            </a:r>
          </a:p>
          <a:p>
            <a:r>
              <a:rPr lang="zh-CN" altLang="en-US" dirty="0"/>
              <a:t>关系模型应提供定义和检验这类完整性的机制，以便用统一的系统的方法处理它们，而不要由应用程序承担这一功能</a:t>
            </a:r>
            <a:endParaRPr lang="en-US" altLang="zh-CN" dirty="0"/>
          </a:p>
          <a:p>
            <a:endParaRPr lang="en-US" altLang="zh-CN" dirty="0"/>
          </a:p>
          <a:p>
            <a:r>
              <a:rPr lang="zh-CN" altLang="en-US" dirty="0"/>
              <a:t>例</a:t>
            </a:r>
            <a:r>
              <a:rPr lang="en-US" altLang="zh-CN" dirty="0"/>
              <a:t>:	 </a:t>
            </a:r>
            <a:r>
              <a:rPr lang="zh-CN" altLang="en-US" dirty="0"/>
              <a:t>课程</a:t>
            </a:r>
            <a:r>
              <a:rPr lang="en-US" altLang="zh-CN" dirty="0"/>
              <a:t>(</a:t>
            </a:r>
            <a:r>
              <a:rPr lang="zh-CN" altLang="en-US" u="sng" dirty="0"/>
              <a:t>课程号</a:t>
            </a:r>
            <a:r>
              <a:rPr lang="zh-CN" altLang="en-US" dirty="0"/>
              <a:t>，课程名，学分</a:t>
            </a:r>
            <a:r>
              <a:rPr lang="en-US" altLang="zh-CN" dirty="0"/>
              <a:t>)</a:t>
            </a:r>
          </a:p>
          <a:p>
            <a:pPr lvl="1"/>
            <a:r>
              <a:rPr lang="zh-CN" altLang="en-US" dirty="0"/>
              <a:t>“课程号”属性必须取唯一值</a:t>
            </a:r>
          </a:p>
          <a:p>
            <a:pPr lvl="1"/>
            <a:r>
              <a:rPr lang="zh-CN" altLang="en-US" dirty="0"/>
              <a:t>非主属性“课程名”也不能取空值</a:t>
            </a:r>
          </a:p>
          <a:p>
            <a:pPr lvl="1"/>
            <a:r>
              <a:rPr lang="zh-CN" altLang="en-US" dirty="0"/>
              <a:t>“学分”属性只能取值</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endParaRPr lang="zh-CN" altLang="en-US" dirty="0"/>
          </a:p>
        </p:txBody>
      </p:sp>
      <p:sp>
        <p:nvSpPr>
          <p:cNvPr id="2" name="灯片编号占位符 1">
            <a:extLst>
              <a:ext uri="{FF2B5EF4-FFF2-40B4-BE49-F238E27FC236}">
                <a16:creationId xmlns:a16="http://schemas.microsoft.com/office/drawing/2014/main" id="{E737604C-9878-420F-9AD4-D19A0D09D2F7}"/>
              </a:ext>
            </a:extLst>
          </p:cNvPr>
          <p:cNvSpPr>
            <a:spLocks noGrp="1"/>
          </p:cNvSpPr>
          <p:nvPr>
            <p:ph type="sldNum" sz="quarter" idx="12"/>
          </p:nvPr>
        </p:nvSpPr>
        <p:spPr/>
        <p:txBody>
          <a:bodyPr/>
          <a:lstStyle/>
          <a:p>
            <a:fld id="{47C9E101-E51D-431E-84FA-C029B8655B60}" type="slidenum">
              <a:rPr lang="zh-CN" altLang="en-US" smtClean="0"/>
              <a:pPr/>
              <a:t>43</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0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0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70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270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B530CC0-49B1-4006-8C7B-45425107E0CC}"/>
              </a:ext>
            </a:extLst>
          </p:cNvPr>
          <p:cNvSpPr>
            <a:spLocks noGrp="1"/>
          </p:cNvSpPr>
          <p:nvPr>
            <p:ph type="sldNum" sz="quarter" idx="12"/>
          </p:nvPr>
        </p:nvSpPr>
        <p:spPr/>
        <p:txBody>
          <a:bodyPr/>
          <a:lstStyle/>
          <a:p>
            <a:fld id="{47C9E101-E51D-431E-84FA-C029B8655B60}" type="slidenum">
              <a:rPr lang="zh-CN" altLang="en-US" smtClean="0"/>
              <a:pPr/>
              <a:t>44</a:t>
            </a:fld>
            <a:endParaRPr lang="zh-CN" altLang="en-US" dirty="0"/>
          </a:p>
        </p:txBody>
      </p:sp>
      <p:sp>
        <p:nvSpPr>
          <p:cNvPr id="7" name="文本框 6">
            <a:extLst>
              <a:ext uri="{FF2B5EF4-FFF2-40B4-BE49-F238E27FC236}">
                <a16:creationId xmlns:a16="http://schemas.microsoft.com/office/drawing/2014/main" id="{6643AD58-B278-434F-BB1C-A37046E4B671}"/>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设属性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是关系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的主属性，则属性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不能取空值（</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NULL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_______</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8" name="文本框 7">
            <a:extLst>
              <a:ext uri="{FF2B5EF4-FFF2-40B4-BE49-F238E27FC236}">
                <a16:creationId xmlns:a16="http://schemas.microsoft.com/office/drawing/2014/main" id="{3F196BAA-1CA9-4E8F-9048-A76FA4831159}"/>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实体完整性规则</a:t>
            </a:r>
          </a:p>
        </p:txBody>
      </p:sp>
      <p:sp>
        <p:nvSpPr>
          <p:cNvPr id="9" name="文本框 8">
            <a:extLst>
              <a:ext uri="{FF2B5EF4-FFF2-40B4-BE49-F238E27FC236}">
                <a16:creationId xmlns:a16="http://schemas.microsoft.com/office/drawing/2014/main" id="{D2132E2E-D1EF-43AC-9820-E8B9750DBFDF}"/>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参照完整性规则</a:t>
            </a:r>
          </a:p>
        </p:txBody>
      </p:sp>
      <p:sp>
        <p:nvSpPr>
          <p:cNvPr id="10" name="文本框 9">
            <a:extLst>
              <a:ext uri="{FF2B5EF4-FFF2-40B4-BE49-F238E27FC236}">
                <a16:creationId xmlns:a16="http://schemas.microsoft.com/office/drawing/2014/main" id="{9136042F-3ACB-4137-80C0-C91715530329}"/>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用户定义完整性规则</a:t>
            </a:r>
          </a:p>
        </p:txBody>
      </p:sp>
      <p:sp>
        <p:nvSpPr>
          <p:cNvPr id="11" name="文本框 10">
            <a:extLst>
              <a:ext uri="{FF2B5EF4-FFF2-40B4-BE49-F238E27FC236}">
                <a16:creationId xmlns:a16="http://schemas.microsoft.com/office/drawing/2014/main" id="{A49A2685-5FA0-4513-94B8-46BB7EC79710}"/>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域完整性规则</a:t>
            </a:r>
          </a:p>
        </p:txBody>
      </p:sp>
      <p:sp>
        <p:nvSpPr>
          <p:cNvPr id="12" name="椭圆 11">
            <a:extLst>
              <a:ext uri="{FF2B5EF4-FFF2-40B4-BE49-F238E27FC236}">
                <a16:creationId xmlns:a16="http://schemas.microsoft.com/office/drawing/2014/main" id="{16D380D0-9F70-426A-955B-7FA5EA200F80}"/>
              </a:ext>
            </a:extLst>
          </p:cNvPr>
          <p:cNvSpPr>
            <a:spLocks noChangeAspect="1"/>
          </p:cNvSpPr>
          <p:nvPr>
            <p:custDataLst>
              <p:tags r:id="rId7"/>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3316A75A-CB6A-4AC8-B61D-05224C599945}"/>
              </a:ext>
            </a:extLst>
          </p:cNvPr>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D958BD78-3335-4F83-AC5B-EB170DD65186}"/>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44ED8779-9166-4E77-8DD7-2FF7293A81C9}"/>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矩形: 圆角 15">
            <a:extLst>
              <a:ext uri="{FF2B5EF4-FFF2-40B4-BE49-F238E27FC236}">
                <a16:creationId xmlns:a16="http://schemas.microsoft.com/office/drawing/2014/main" id="{270D1A7F-04AA-47FF-A516-713C689A3E7A}"/>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a:extLst>
              <a:ext uri="{FF2B5EF4-FFF2-40B4-BE49-F238E27FC236}">
                <a16:creationId xmlns:a16="http://schemas.microsoft.com/office/drawing/2014/main" id="{53EB825D-5D5C-4411-9684-7698C11CDEB8}"/>
              </a:ext>
            </a:extLst>
          </p:cNvPr>
          <p:cNvGrpSpPr/>
          <p:nvPr>
            <p:custDataLst>
              <p:tags r:id="rId12"/>
            </p:custDataLst>
          </p:nvPr>
        </p:nvGrpSpPr>
        <p:grpSpPr>
          <a:xfrm>
            <a:off x="0" y="0"/>
            <a:ext cx="12192000" cy="635000"/>
            <a:chOff x="0" y="0"/>
            <a:chExt cx="12192000" cy="635000"/>
          </a:xfrm>
        </p:grpSpPr>
        <p:sp>
          <p:nvSpPr>
            <p:cNvPr id="17" name="TitleBackground">
              <a:extLst>
                <a:ext uri="{FF2B5EF4-FFF2-40B4-BE49-F238E27FC236}">
                  <a16:creationId xmlns:a16="http://schemas.microsoft.com/office/drawing/2014/main" id="{851A45B9-A10D-4BE1-9292-578213E16FB1}"/>
                </a:ext>
              </a:extLst>
            </p:cNvPr>
            <p:cNvSpPr/>
            <p:nvPr>
              <p:custDataLst>
                <p:tags r:id="rId14"/>
              </p:custDataLst>
            </p:nvPr>
          </p:nvSpPr>
          <p:spPr>
            <a:xfrm>
              <a:off x="0" y="0"/>
              <a:ext cx="12192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a:extLst>
                <a:ext uri="{FF2B5EF4-FFF2-40B4-BE49-F238E27FC236}">
                  <a16:creationId xmlns:a16="http://schemas.microsoft.com/office/drawing/2014/main" id="{A52B4C17-E1AE-4364-8F02-5AF42289D124}"/>
                </a:ext>
              </a:extLst>
            </p:cNvPr>
            <p:cNvSpPr/>
            <p:nvPr>
              <p:custDataLst>
                <p:tags r:id="rId15"/>
              </p:custDataLst>
            </p:nvPr>
          </p:nvSpPr>
          <p:spPr>
            <a:xfrm>
              <a:off x="0" y="0"/>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a:extLst>
                <a:ext uri="{FF2B5EF4-FFF2-40B4-BE49-F238E27FC236}">
                  <a16:creationId xmlns:a16="http://schemas.microsoft.com/office/drawing/2014/main" id="{FBEA7F38-15AC-45AD-9A5B-CF722E9172EF}"/>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0" name="TipText">
              <a:extLst>
                <a:ext uri="{FF2B5EF4-FFF2-40B4-BE49-F238E27FC236}">
                  <a16:creationId xmlns:a16="http://schemas.microsoft.com/office/drawing/2014/main" id="{F3F61478-0233-48B5-BB69-56C0A7C38FD5}"/>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6" name="图片 5">
            <a:extLst>
              <a:ext uri="{FF2B5EF4-FFF2-40B4-BE49-F238E27FC236}">
                <a16:creationId xmlns:a16="http://schemas.microsoft.com/office/drawing/2014/main" id="{7101E4E8-434B-4066-92D1-C8937D05AFDE}"/>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7629885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7451366-4F78-40ED-9663-C001423F2602}"/>
              </a:ext>
            </a:extLst>
          </p:cNvPr>
          <p:cNvSpPr>
            <a:spLocks noGrp="1"/>
          </p:cNvSpPr>
          <p:nvPr>
            <p:ph type="sldNum" sz="quarter" idx="12"/>
          </p:nvPr>
        </p:nvSpPr>
        <p:spPr/>
        <p:txBody>
          <a:bodyPr/>
          <a:lstStyle/>
          <a:p>
            <a:fld id="{47C9E101-E51D-431E-84FA-C029B8655B60}" type="slidenum">
              <a:rPr lang="zh-CN" altLang="en-US" smtClean="0"/>
              <a:t>45</a:t>
            </a:fld>
            <a:endParaRPr lang="zh-CN" altLang="en-US"/>
          </a:p>
        </p:txBody>
      </p:sp>
      <p:sp>
        <p:nvSpPr>
          <p:cNvPr id="5" name="文本框 4">
            <a:extLst>
              <a:ext uri="{FF2B5EF4-FFF2-40B4-BE49-F238E27FC236}">
                <a16:creationId xmlns:a16="http://schemas.microsoft.com/office/drawing/2014/main" id="{F3F566CB-E9FA-463A-9F06-45B6A81C6EC1}"/>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某关系</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的外键是指</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D5FAD5FF-9CB2-4ED5-A4A7-D4C466CC92D7}"/>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其它关系的候选键，可以是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中的主属性或非主属性</a:t>
            </a:r>
          </a:p>
        </p:txBody>
      </p:sp>
      <p:sp>
        <p:nvSpPr>
          <p:cNvPr id="7" name="文本框 6">
            <a:extLst>
              <a:ext uri="{FF2B5EF4-FFF2-40B4-BE49-F238E27FC236}">
                <a16:creationId xmlns:a16="http://schemas.microsoft.com/office/drawing/2014/main" id="{2BA92792-83EE-4452-ABC3-B6B68F32B94F}"/>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该关系除主键之外的另一个候选键</a:t>
            </a:r>
          </a:p>
        </p:txBody>
      </p:sp>
      <p:sp>
        <p:nvSpPr>
          <p:cNvPr id="8" name="文本框 7">
            <a:extLst>
              <a:ext uri="{FF2B5EF4-FFF2-40B4-BE49-F238E27FC236}">
                <a16:creationId xmlns:a16="http://schemas.microsoft.com/office/drawing/2014/main" id="{00E1FE34-7838-424A-804F-ED3865552D58}"/>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其它关系的候选键，同时作为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的主属性</a:t>
            </a:r>
          </a:p>
        </p:txBody>
      </p:sp>
      <p:sp>
        <p:nvSpPr>
          <p:cNvPr id="9" name="文本框 8">
            <a:extLst>
              <a:ext uri="{FF2B5EF4-FFF2-40B4-BE49-F238E27FC236}">
                <a16:creationId xmlns:a16="http://schemas.microsoft.com/office/drawing/2014/main" id="{4BF673B2-79F8-4F22-9241-D2D8801BB9CB}"/>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其它关系的候选键，同时作为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的非主属性</a:t>
            </a:r>
          </a:p>
        </p:txBody>
      </p:sp>
      <p:sp>
        <p:nvSpPr>
          <p:cNvPr id="10" name="椭圆 9">
            <a:extLst>
              <a:ext uri="{FF2B5EF4-FFF2-40B4-BE49-F238E27FC236}">
                <a16:creationId xmlns:a16="http://schemas.microsoft.com/office/drawing/2014/main" id="{3FD489B8-BABE-46AD-9DAF-4DFDC8494E47}"/>
              </a:ext>
            </a:extLst>
          </p:cNvPr>
          <p:cNvSpPr>
            <a:spLocks noChangeAspect="1"/>
          </p:cNvSpPr>
          <p:nvPr>
            <p:custDataLst>
              <p:tags r:id="rId7"/>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774B1C3D-A752-47F4-9D10-FE3B7EDDDF11}"/>
              </a:ext>
            </a:extLst>
          </p:cNvPr>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E70EF7E8-D66D-4D8C-B786-02A773122C05}"/>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1A551E17-942D-4630-BB27-C63BD0A85746}"/>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F1670269-0CBD-4861-80A3-B8A287E60867}"/>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a:extLst>
              <a:ext uri="{FF2B5EF4-FFF2-40B4-BE49-F238E27FC236}">
                <a16:creationId xmlns:a16="http://schemas.microsoft.com/office/drawing/2014/main" id="{1E2F45E8-272D-466F-9DBF-48EAA2794748}"/>
              </a:ext>
            </a:extLst>
          </p:cNvPr>
          <p:cNvGrpSpPr/>
          <p:nvPr>
            <p:custDataLst>
              <p:tags r:id="rId12"/>
            </p:custDataLst>
          </p:nvPr>
        </p:nvGrpSpPr>
        <p:grpSpPr>
          <a:xfrm>
            <a:off x="0" y="0"/>
            <a:ext cx="12192000" cy="635000"/>
            <a:chOff x="0" y="0"/>
            <a:chExt cx="12192000" cy="635000"/>
          </a:xfrm>
        </p:grpSpPr>
        <p:sp>
          <p:nvSpPr>
            <p:cNvPr id="15" name="TitleBackground">
              <a:extLst>
                <a:ext uri="{FF2B5EF4-FFF2-40B4-BE49-F238E27FC236}">
                  <a16:creationId xmlns:a16="http://schemas.microsoft.com/office/drawing/2014/main" id="{C32AAA20-84DD-4832-ABAB-344C82F06A70}"/>
                </a:ext>
              </a:extLst>
            </p:cNvPr>
            <p:cNvSpPr/>
            <p:nvPr>
              <p:custDataLst>
                <p:tags r:id="rId14"/>
              </p:custDataLst>
            </p:nvPr>
          </p:nvSpPr>
          <p:spPr>
            <a:xfrm>
              <a:off x="0" y="0"/>
              <a:ext cx="12192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a:extLst>
                <a:ext uri="{FF2B5EF4-FFF2-40B4-BE49-F238E27FC236}">
                  <a16:creationId xmlns:a16="http://schemas.microsoft.com/office/drawing/2014/main" id="{C046BA65-2354-41BB-B1EA-D53721417547}"/>
                </a:ext>
              </a:extLst>
            </p:cNvPr>
            <p:cNvSpPr/>
            <p:nvPr>
              <p:custDataLst>
                <p:tags r:id="rId15"/>
              </p:custDataLst>
            </p:nvPr>
          </p:nvSpPr>
          <p:spPr>
            <a:xfrm>
              <a:off x="0" y="0"/>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a:extLst>
                <a:ext uri="{FF2B5EF4-FFF2-40B4-BE49-F238E27FC236}">
                  <a16:creationId xmlns:a16="http://schemas.microsoft.com/office/drawing/2014/main" id="{45D6A665-C991-4604-8124-4212148AD361}"/>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8" name="TipText">
              <a:extLst>
                <a:ext uri="{FF2B5EF4-FFF2-40B4-BE49-F238E27FC236}">
                  <a16:creationId xmlns:a16="http://schemas.microsoft.com/office/drawing/2014/main" id="{F6083572-845F-4363-A307-8B0A638C762E}"/>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7CEA1F50-CF14-470D-9818-0EBDA3E2B10B}"/>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5416046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B55E886-10E8-4449-BF81-040F1D4B93F0}"/>
              </a:ext>
            </a:extLst>
          </p:cNvPr>
          <p:cNvSpPr>
            <a:spLocks noGrp="1"/>
          </p:cNvSpPr>
          <p:nvPr>
            <p:ph type="sldNum" sz="quarter" idx="12"/>
          </p:nvPr>
        </p:nvSpPr>
        <p:spPr/>
        <p:txBody>
          <a:bodyPr/>
          <a:lstStyle/>
          <a:p>
            <a:fld id="{47C9E101-E51D-431E-84FA-C029B8655B60}" type="slidenum">
              <a:rPr lang="zh-CN" altLang="en-US" smtClean="0"/>
              <a:t>46</a:t>
            </a:fld>
            <a:endParaRPr lang="zh-CN" altLang="en-US"/>
          </a:p>
        </p:txBody>
      </p:sp>
      <p:sp>
        <p:nvSpPr>
          <p:cNvPr id="5" name="文本框 4">
            <a:extLst>
              <a:ext uri="{FF2B5EF4-FFF2-40B4-BE49-F238E27FC236}">
                <a16:creationId xmlns:a16="http://schemas.microsoft.com/office/drawing/2014/main" id="{F2C9FBCF-A62B-43D5-A3F0-2AB9D4F41D46}"/>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关于关系模型完整性的说法，不正确的是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______</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6" name="文本框 5">
            <a:extLst>
              <a:ext uri="{FF2B5EF4-FFF2-40B4-BE49-F238E27FC236}">
                <a16:creationId xmlns:a16="http://schemas.microsoft.com/office/drawing/2014/main" id="{ECCA796E-E3C3-4EEE-86FC-D1C62F8F3EE0}"/>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外键如果取空值，则违反了参照完整性</a:t>
            </a:r>
          </a:p>
        </p:txBody>
      </p:sp>
      <p:sp>
        <p:nvSpPr>
          <p:cNvPr id="7" name="文本框 6">
            <a:extLst>
              <a:ext uri="{FF2B5EF4-FFF2-40B4-BE49-F238E27FC236}">
                <a16:creationId xmlns:a16="http://schemas.microsoft.com/office/drawing/2014/main" id="{709F3476-6759-444A-A18D-128A70D4DAC2}"/>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数据库中有了空值会影响许多方面，如影响聚集函数运算的正确性等</a:t>
            </a:r>
          </a:p>
        </p:txBody>
      </p:sp>
      <p:sp>
        <p:nvSpPr>
          <p:cNvPr id="8" name="文本框 7">
            <a:extLst>
              <a:ext uri="{FF2B5EF4-FFF2-40B4-BE49-F238E27FC236}">
                <a16:creationId xmlns:a16="http://schemas.microsoft.com/office/drawing/2014/main" id="{6736F8AB-280B-4ED3-848A-C4469864B2B3}"/>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用户自定义完整性是指用户针对具体的数据库应用所定义的完整性约束条件</a:t>
            </a:r>
          </a:p>
        </p:txBody>
      </p:sp>
      <p:sp>
        <p:nvSpPr>
          <p:cNvPr id="9" name="文本框 8">
            <a:extLst>
              <a:ext uri="{FF2B5EF4-FFF2-40B4-BE49-F238E27FC236}">
                <a16:creationId xmlns:a16="http://schemas.microsoft.com/office/drawing/2014/main" id="{BD5D2F9A-1B3C-4573-9A13-F8F660F22D87}"/>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实体完整性和参照完整性一般由</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系统自动支持</a:t>
            </a:r>
          </a:p>
        </p:txBody>
      </p:sp>
      <p:sp>
        <p:nvSpPr>
          <p:cNvPr id="10" name="椭圆 9">
            <a:extLst>
              <a:ext uri="{FF2B5EF4-FFF2-40B4-BE49-F238E27FC236}">
                <a16:creationId xmlns:a16="http://schemas.microsoft.com/office/drawing/2014/main" id="{6328F0A8-B28E-4268-9D04-85D13E579217}"/>
              </a:ext>
            </a:extLst>
          </p:cNvPr>
          <p:cNvSpPr>
            <a:spLocks noChangeAspect="1"/>
          </p:cNvSpPr>
          <p:nvPr>
            <p:custDataLst>
              <p:tags r:id="rId7"/>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363D6539-7A2B-4CA7-AE77-D9ADAAE707FB}"/>
              </a:ext>
            </a:extLst>
          </p:cNvPr>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99773F36-5E08-4094-B6BB-6B999133128B}"/>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2CF60AF3-A309-42B0-8D54-D2DCBAE199F9}"/>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圆角 13">
            <a:extLst>
              <a:ext uri="{FF2B5EF4-FFF2-40B4-BE49-F238E27FC236}">
                <a16:creationId xmlns:a16="http://schemas.microsoft.com/office/drawing/2014/main" id="{D4B85DF7-B7F4-4711-89A4-55D45236B48C}"/>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a:extLst>
              <a:ext uri="{FF2B5EF4-FFF2-40B4-BE49-F238E27FC236}">
                <a16:creationId xmlns:a16="http://schemas.microsoft.com/office/drawing/2014/main" id="{6D69AC92-C6EB-4B1A-A795-9F217942A805}"/>
              </a:ext>
            </a:extLst>
          </p:cNvPr>
          <p:cNvGrpSpPr/>
          <p:nvPr>
            <p:custDataLst>
              <p:tags r:id="rId12"/>
            </p:custDataLst>
          </p:nvPr>
        </p:nvGrpSpPr>
        <p:grpSpPr>
          <a:xfrm>
            <a:off x="0" y="0"/>
            <a:ext cx="12192000" cy="635000"/>
            <a:chOff x="0" y="0"/>
            <a:chExt cx="12192000" cy="635000"/>
          </a:xfrm>
        </p:grpSpPr>
        <p:sp>
          <p:nvSpPr>
            <p:cNvPr id="15" name="TitleBackground">
              <a:extLst>
                <a:ext uri="{FF2B5EF4-FFF2-40B4-BE49-F238E27FC236}">
                  <a16:creationId xmlns:a16="http://schemas.microsoft.com/office/drawing/2014/main" id="{4B87ECBD-1F3B-424F-A58F-DCCEAD698B78}"/>
                </a:ext>
              </a:extLst>
            </p:cNvPr>
            <p:cNvSpPr/>
            <p:nvPr>
              <p:custDataLst>
                <p:tags r:id="rId14"/>
              </p:custDataLst>
            </p:nvPr>
          </p:nvSpPr>
          <p:spPr>
            <a:xfrm>
              <a:off x="0" y="0"/>
              <a:ext cx="12192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a:extLst>
                <a:ext uri="{FF2B5EF4-FFF2-40B4-BE49-F238E27FC236}">
                  <a16:creationId xmlns:a16="http://schemas.microsoft.com/office/drawing/2014/main" id="{F8C9D359-13AA-47EB-A5AF-7798B4390DC1}"/>
                </a:ext>
              </a:extLst>
            </p:cNvPr>
            <p:cNvSpPr/>
            <p:nvPr>
              <p:custDataLst>
                <p:tags r:id="rId15"/>
              </p:custDataLst>
            </p:nvPr>
          </p:nvSpPr>
          <p:spPr>
            <a:xfrm>
              <a:off x="0" y="0"/>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a:extLst>
                <a:ext uri="{FF2B5EF4-FFF2-40B4-BE49-F238E27FC236}">
                  <a16:creationId xmlns:a16="http://schemas.microsoft.com/office/drawing/2014/main" id="{CECEF3B0-8EA6-420F-831F-2A791165AEBF}"/>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8" name="TipText">
              <a:extLst>
                <a:ext uri="{FF2B5EF4-FFF2-40B4-BE49-F238E27FC236}">
                  <a16:creationId xmlns:a16="http://schemas.microsoft.com/office/drawing/2014/main" id="{493DA3F9-3892-4A96-8CCB-D0FD90AA4091}"/>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a:extLst>
              <a:ext uri="{FF2B5EF4-FFF2-40B4-BE49-F238E27FC236}">
                <a16:creationId xmlns:a16="http://schemas.microsoft.com/office/drawing/2014/main" id="{CF05BDBA-574E-4F42-B133-7E693B4F0308}"/>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864980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304129">
            <a:extLst>
              <a:ext uri="{FF2B5EF4-FFF2-40B4-BE49-F238E27FC236}">
                <a16:creationId xmlns:a16="http://schemas.microsoft.com/office/drawing/2014/main" id="{531E5D54-1B64-4380-91F3-953BD8A0971B}"/>
              </a:ext>
            </a:extLst>
          </p:cNvPr>
          <p:cNvSpPr>
            <a:spLocks noGrp="1" noChangeArrowheads="1"/>
          </p:cNvSpPr>
          <p:nvPr>
            <p:ph type="title"/>
          </p:nvPr>
        </p:nvSpPr>
        <p:spPr/>
        <p:txBody>
          <a:bodyPr/>
          <a:lstStyle/>
          <a:p>
            <a:r>
              <a:rPr lang="en-US" altLang="zh-CN"/>
              <a:t>2.4 </a:t>
            </a:r>
            <a:r>
              <a:rPr lang="zh-CN" altLang="en-US"/>
              <a:t>关系代数</a:t>
            </a:r>
          </a:p>
        </p:txBody>
      </p:sp>
      <p:sp>
        <p:nvSpPr>
          <p:cNvPr id="18435" name="文本占位符 304130">
            <a:extLst>
              <a:ext uri="{FF2B5EF4-FFF2-40B4-BE49-F238E27FC236}">
                <a16:creationId xmlns:a16="http://schemas.microsoft.com/office/drawing/2014/main" id="{8A5984F6-5369-49F7-B64F-B39F37523F0A}"/>
              </a:ext>
            </a:extLst>
          </p:cNvPr>
          <p:cNvSpPr>
            <a:spLocks noGrp="1" noChangeArrowheads="1"/>
          </p:cNvSpPr>
          <p:nvPr>
            <p:ph type="body" idx="1"/>
          </p:nvPr>
        </p:nvSpPr>
        <p:spPr/>
        <p:txBody>
          <a:bodyPr/>
          <a:lstStyle/>
          <a:p>
            <a:r>
              <a:rPr lang="en-US" altLang="zh-CN" dirty="0"/>
              <a:t> </a:t>
            </a:r>
            <a:r>
              <a:rPr lang="zh-CN" altLang="en-US" dirty="0"/>
              <a:t>概述</a:t>
            </a:r>
          </a:p>
          <a:p>
            <a:r>
              <a:rPr lang="zh-CN" altLang="en-US" dirty="0"/>
              <a:t> </a:t>
            </a:r>
            <a:r>
              <a:rPr lang="en-US" altLang="zh-CN" dirty="0"/>
              <a:t>2.4.1 </a:t>
            </a:r>
            <a:r>
              <a:rPr lang="zh-CN" altLang="en-US" dirty="0"/>
              <a:t>传统的集合运算（自学）</a:t>
            </a:r>
          </a:p>
          <a:p>
            <a:r>
              <a:rPr lang="zh-CN" altLang="en-US" dirty="0"/>
              <a:t> </a:t>
            </a:r>
            <a:r>
              <a:rPr lang="en-US" altLang="zh-CN" dirty="0"/>
              <a:t>2.4.2 </a:t>
            </a:r>
            <a:r>
              <a:rPr lang="zh-CN" altLang="en-US" dirty="0"/>
              <a:t>专门的关系运算</a:t>
            </a:r>
          </a:p>
        </p:txBody>
      </p:sp>
      <p:sp>
        <p:nvSpPr>
          <p:cNvPr id="2" name="灯片编号占位符 1">
            <a:extLst>
              <a:ext uri="{FF2B5EF4-FFF2-40B4-BE49-F238E27FC236}">
                <a16:creationId xmlns:a16="http://schemas.microsoft.com/office/drawing/2014/main" id="{CCF99D27-A685-4C0A-A1FD-A848327B3396}"/>
              </a:ext>
            </a:extLst>
          </p:cNvPr>
          <p:cNvSpPr>
            <a:spLocks noGrp="1"/>
          </p:cNvSpPr>
          <p:nvPr>
            <p:ph type="sldNum" sz="quarter" idx="12"/>
          </p:nvPr>
        </p:nvSpPr>
        <p:spPr/>
        <p:txBody>
          <a:bodyPr/>
          <a:lstStyle/>
          <a:p>
            <a:fld id="{47C9E101-E51D-431E-84FA-C029B8655B60}" type="slidenum">
              <a:rPr lang="zh-CN" altLang="en-US" smtClean="0"/>
              <a:pPr/>
              <a:t>47</a:t>
            </a:fld>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89" name="标题 310411">
            <a:extLst>
              <a:ext uri="{FF2B5EF4-FFF2-40B4-BE49-F238E27FC236}">
                <a16:creationId xmlns:a16="http://schemas.microsoft.com/office/drawing/2014/main" id="{1AC11E08-8F2A-48C2-8302-A73D9BD1FA17}"/>
              </a:ext>
            </a:extLst>
          </p:cNvPr>
          <p:cNvSpPr>
            <a:spLocks noGrp="1" noChangeArrowheads="1"/>
          </p:cNvSpPr>
          <p:nvPr>
            <p:ph type="title"/>
          </p:nvPr>
        </p:nvSpPr>
        <p:spPr/>
        <p:txBody>
          <a:bodyPr/>
          <a:lstStyle/>
          <a:p>
            <a:r>
              <a:rPr lang="zh-CN" altLang="en-US" dirty="0"/>
              <a:t>概述</a:t>
            </a:r>
          </a:p>
        </p:txBody>
      </p:sp>
      <p:sp>
        <p:nvSpPr>
          <p:cNvPr id="3" name="内容占位符 2">
            <a:extLst>
              <a:ext uri="{FF2B5EF4-FFF2-40B4-BE49-F238E27FC236}">
                <a16:creationId xmlns:a16="http://schemas.microsoft.com/office/drawing/2014/main" id="{19C9C55C-70D3-46AA-B184-2FA5969F8F49}"/>
              </a:ext>
            </a:extLst>
          </p:cNvPr>
          <p:cNvSpPr>
            <a:spLocks noGrp="1"/>
          </p:cNvSpPr>
          <p:nvPr>
            <p:ph idx="1"/>
          </p:nvPr>
        </p:nvSpPr>
        <p:spPr/>
        <p:txBody>
          <a:bodyPr/>
          <a:lstStyle/>
          <a:p>
            <a:r>
              <a:rPr lang="zh-CN" altLang="en-US" dirty="0"/>
              <a:t>关系代数是一种抽象的</a:t>
            </a:r>
            <a:r>
              <a:rPr lang="zh-CN" altLang="en-US" dirty="0">
                <a:solidFill>
                  <a:srgbClr val="C00000"/>
                </a:solidFill>
              </a:rPr>
              <a:t>查询语言</a:t>
            </a:r>
            <a:r>
              <a:rPr lang="zh-CN" altLang="en-US" dirty="0"/>
              <a:t>，它用对</a:t>
            </a:r>
            <a:r>
              <a:rPr lang="zh-CN" altLang="en-US" dirty="0">
                <a:solidFill>
                  <a:srgbClr val="C00000"/>
                </a:solidFill>
              </a:rPr>
              <a:t>关系的运算</a:t>
            </a:r>
            <a:r>
              <a:rPr lang="zh-CN" altLang="en-US" dirty="0"/>
              <a:t>来表达查询</a:t>
            </a:r>
          </a:p>
          <a:p>
            <a:endParaRPr lang="en-US" altLang="zh-CN" dirty="0"/>
          </a:p>
          <a:p>
            <a:r>
              <a:rPr lang="zh-CN" altLang="en-US" dirty="0"/>
              <a:t>关系代数</a:t>
            </a:r>
          </a:p>
          <a:p>
            <a:pPr lvl="1"/>
            <a:r>
              <a:rPr lang="zh-CN" altLang="en-US" dirty="0"/>
              <a:t>运算</a:t>
            </a:r>
            <a:r>
              <a:rPr lang="zh-CN" altLang="en-US" dirty="0">
                <a:solidFill>
                  <a:srgbClr val="C00000"/>
                </a:solidFill>
              </a:rPr>
              <a:t>对象是关系</a:t>
            </a:r>
          </a:p>
          <a:p>
            <a:pPr lvl="1"/>
            <a:r>
              <a:rPr lang="zh-CN" altLang="en-US" dirty="0"/>
              <a:t>运算</a:t>
            </a:r>
            <a:r>
              <a:rPr lang="zh-CN" altLang="en-US" dirty="0">
                <a:solidFill>
                  <a:srgbClr val="C00000"/>
                </a:solidFill>
              </a:rPr>
              <a:t>结果亦为关系</a:t>
            </a:r>
          </a:p>
          <a:p>
            <a:pPr lvl="1"/>
            <a:r>
              <a:rPr lang="zh-CN" altLang="en-US" dirty="0"/>
              <a:t>关系代数的运算符有两类：集合运算符和专门的关系运算符</a:t>
            </a:r>
          </a:p>
          <a:p>
            <a:endParaRPr lang="en-US" altLang="zh-CN" dirty="0"/>
          </a:p>
          <a:p>
            <a:r>
              <a:rPr lang="zh-CN" altLang="en-US" dirty="0"/>
              <a:t>传统的集合运算是从关系的“水平”方向即</a:t>
            </a:r>
            <a:r>
              <a:rPr lang="zh-CN" altLang="en-US" dirty="0">
                <a:solidFill>
                  <a:srgbClr val="C00000"/>
                </a:solidFill>
              </a:rPr>
              <a:t>行</a:t>
            </a:r>
            <a:r>
              <a:rPr lang="zh-CN" altLang="en-US" dirty="0"/>
              <a:t>的角度进行</a:t>
            </a:r>
          </a:p>
          <a:p>
            <a:endParaRPr lang="en-US" altLang="zh-CN" dirty="0"/>
          </a:p>
          <a:p>
            <a:r>
              <a:rPr lang="zh-CN" altLang="en-US" dirty="0"/>
              <a:t>专门的关系运算不仅涉及</a:t>
            </a:r>
            <a:r>
              <a:rPr lang="zh-CN" altLang="en-US" dirty="0">
                <a:solidFill>
                  <a:srgbClr val="C00000"/>
                </a:solidFill>
              </a:rPr>
              <a:t>行</a:t>
            </a:r>
            <a:r>
              <a:rPr lang="zh-CN" altLang="en-US" dirty="0"/>
              <a:t>而且涉及</a:t>
            </a:r>
            <a:r>
              <a:rPr lang="zh-CN" altLang="en-US" dirty="0">
                <a:solidFill>
                  <a:srgbClr val="C00000"/>
                </a:solidFill>
              </a:rPr>
              <a:t>列</a:t>
            </a:r>
          </a:p>
        </p:txBody>
      </p:sp>
      <p:sp>
        <p:nvSpPr>
          <p:cNvPr id="2" name="灯片编号占位符 1">
            <a:extLst>
              <a:ext uri="{FF2B5EF4-FFF2-40B4-BE49-F238E27FC236}">
                <a16:creationId xmlns:a16="http://schemas.microsoft.com/office/drawing/2014/main" id="{2BDFA36C-5EDB-40B7-A7E8-896068CBD183}"/>
              </a:ext>
            </a:extLst>
          </p:cNvPr>
          <p:cNvSpPr>
            <a:spLocks noGrp="1"/>
          </p:cNvSpPr>
          <p:nvPr>
            <p:ph type="sldNum" sz="quarter" idx="12"/>
          </p:nvPr>
        </p:nvSpPr>
        <p:spPr/>
        <p:txBody>
          <a:bodyPr/>
          <a:lstStyle/>
          <a:p>
            <a:fld id="{47C9E101-E51D-431E-84FA-C029B8655B60}" type="slidenum">
              <a:rPr lang="zh-CN" altLang="en-US" smtClean="0"/>
              <a:pPr/>
              <a:t>48</a:t>
            </a:fld>
            <a:endParaRPr lang="zh-CN" altLang="en-US" dirty="0"/>
          </a:p>
        </p:txBody>
      </p:sp>
    </p:spTree>
    <p:extLst>
      <p:ext uri="{BB962C8B-B14F-4D97-AF65-F5344CB8AC3E}">
        <p14:creationId xmlns:p14="http://schemas.microsoft.com/office/powerpoint/2010/main" val="4105459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89" name="标题 310411">
            <a:extLst>
              <a:ext uri="{FF2B5EF4-FFF2-40B4-BE49-F238E27FC236}">
                <a16:creationId xmlns:a16="http://schemas.microsoft.com/office/drawing/2014/main" id="{1AC11E08-8F2A-48C2-8302-A73D9BD1FA17}"/>
              </a:ext>
            </a:extLst>
          </p:cNvPr>
          <p:cNvSpPr>
            <a:spLocks noGrp="1" noChangeArrowheads="1"/>
          </p:cNvSpPr>
          <p:nvPr>
            <p:ph type="title"/>
          </p:nvPr>
        </p:nvSpPr>
        <p:spPr/>
        <p:txBody>
          <a:bodyPr/>
          <a:lstStyle/>
          <a:p>
            <a:r>
              <a:rPr lang="zh-CN" altLang="en-US" dirty="0"/>
              <a:t>概述（续）</a:t>
            </a:r>
          </a:p>
        </p:txBody>
      </p:sp>
      <p:sp>
        <p:nvSpPr>
          <p:cNvPr id="2" name="内容占位符 1">
            <a:extLst>
              <a:ext uri="{FF2B5EF4-FFF2-40B4-BE49-F238E27FC236}">
                <a16:creationId xmlns:a16="http://schemas.microsoft.com/office/drawing/2014/main" id="{DC84E6CC-4F1F-45E5-87AC-235156066608}"/>
              </a:ext>
            </a:extLst>
          </p:cNvPr>
          <p:cNvSpPr>
            <a:spLocks noGrp="1"/>
          </p:cNvSpPr>
          <p:nvPr>
            <p:ph idx="1"/>
          </p:nvPr>
        </p:nvSpPr>
        <p:spPr/>
        <p:txBody>
          <a:bodyPr/>
          <a:lstStyle/>
          <a:p>
            <a:r>
              <a:rPr lang="zh-CN" altLang="en-US" dirty="0"/>
              <a:t>关系代数运算符</a:t>
            </a:r>
          </a:p>
        </p:txBody>
      </p:sp>
      <p:graphicFrame>
        <p:nvGraphicFramePr>
          <p:cNvPr id="8" name="Group 140">
            <a:extLst>
              <a:ext uri="{FF2B5EF4-FFF2-40B4-BE49-F238E27FC236}">
                <a16:creationId xmlns:a16="http://schemas.microsoft.com/office/drawing/2014/main" id="{51B6E2AA-563A-4B0B-813E-4F0C78773524}"/>
              </a:ext>
            </a:extLst>
          </p:cNvPr>
          <p:cNvGraphicFramePr>
            <a:graphicFrameLocks noGrp="1"/>
          </p:cNvGraphicFramePr>
          <p:nvPr>
            <p:extLst/>
          </p:nvPr>
        </p:nvGraphicFramePr>
        <p:xfrm>
          <a:off x="2378756" y="2166218"/>
          <a:ext cx="6985000" cy="1798116"/>
        </p:xfrm>
        <a:graphic>
          <a:graphicData uri="http://schemas.openxmlformats.org/drawingml/2006/table">
            <a:tbl>
              <a:tblPr/>
              <a:tblGrid>
                <a:gridCol w="683315">
                  <a:extLst>
                    <a:ext uri="{9D8B030D-6E8A-4147-A177-3AD203B41FA5}">
                      <a16:colId xmlns:a16="http://schemas.microsoft.com/office/drawing/2014/main" val="20000"/>
                    </a:ext>
                  </a:extLst>
                </a:gridCol>
                <a:gridCol w="1138859">
                  <a:extLst>
                    <a:ext uri="{9D8B030D-6E8A-4147-A177-3AD203B41FA5}">
                      <a16:colId xmlns:a16="http://schemas.microsoft.com/office/drawing/2014/main" val="20001"/>
                    </a:ext>
                  </a:extLst>
                </a:gridCol>
                <a:gridCol w="1594402">
                  <a:extLst>
                    <a:ext uri="{9D8B030D-6E8A-4147-A177-3AD203B41FA5}">
                      <a16:colId xmlns:a16="http://schemas.microsoft.com/office/drawing/2014/main" val="20002"/>
                    </a:ext>
                  </a:extLst>
                </a:gridCol>
                <a:gridCol w="683315">
                  <a:extLst>
                    <a:ext uri="{9D8B030D-6E8A-4147-A177-3AD203B41FA5}">
                      <a16:colId xmlns:a16="http://schemas.microsoft.com/office/drawing/2014/main" val="20003"/>
                    </a:ext>
                  </a:extLst>
                </a:gridCol>
                <a:gridCol w="1062934">
                  <a:extLst>
                    <a:ext uri="{9D8B030D-6E8A-4147-A177-3AD203B41FA5}">
                      <a16:colId xmlns:a16="http://schemas.microsoft.com/office/drawing/2014/main" val="20004"/>
                    </a:ext>
                  </a:extLst>
                </a:gridCol>
                <a:gridCol w="1822175">
                  <a:extLst>
                    <a:ext uri="{9D8B030D-6E8A-4147-A177-3AD203B41FA5}">
                      <a16:colId xmlns:a16="http://schemas.microsoft.com/office/drawing/2014/main" val="20005"/>
                    </a:ext>
                  </a:extLst>
                </a:gridCol>
              </a:tblGrid>
              <a:tr h="1556696">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集</a:t>
                      </a:r>
                      <a:endPar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合</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运</a:t>
                      </a:r>
                      <a:endPar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算</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符</a:t>
                      </a:r>
                    </a:p>
                  </a:txBody>
                  <a:tcPr marL="91443" marR="91443" marT="45618" marB="4561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l"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endParaRPr>
                    </a:p>
                  </a:txBody>
                  <a:tcPr marL="91443" marR="91443"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并</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差</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交</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广义笛卡尔积</a:t>
                      </a:r>
                    </a:p>
                  </a:txBody>
                  <a:tcPr marL="91443" marR="91443"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比</a:t>
                      </a:r>
                      <a:endPar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较</a:t>
                      </a:r>
                      <a:endPar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运</a:t>
                      </a:r>
                      <a:endPar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算</a:t>
                      </a:r>
                      <a:endPar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符</a:t>
                      </a:r>
                    </a:p>
                  </a:txBody>
                  <a:tcPr marL="91443" marR="91443" marT="45618" marB="4561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 </a:t>
                      </a:r>
                    </a:p>
                  </a:txBody>
                  <a:tcPr marL="91443" marR="91443"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大于</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大于等于</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小于</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小于等于</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等于</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不等于</a:t>
                      </a:r>
                    </a:p>
                  </a:txBody>
                  <a:tcPr marL="91443" marR="91443" marT="45618" marB="456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9" name="Group 149">
            <a:extLst>
              <a:ext uri="{FF2B5EF4-FFF2-40B4-BE49-F238E27FC236}">
                <a16:creationId xmlns:a16="http://schemas.microsoft.com/office/drawing/2014/main" id="{D020A5CE-E075-47E5-9AC1-57998C44D693}"/>
              </a:ext>
            </a:extLst>
          </p:cNvPr>
          <p:cNvGraphicFramePr>
            <a:graphicFrameLocks noGrp="1"/>
          </p:cNvGraphicFramePr>
          <p:nvPr>
            <p:extLst/>
          </p:nvPr>
        </p:nvGraphicFramePr>
        <p:xfrm>
          <a:off x="2378756" y="1830842"/>
          <a:ext cx="6985000" cy="335376"/>
        </p:xfrm>
        <a:graphic>
          <a:graphicData uri="http://schemas.openxmlformats.org/drawingml/2006/table">
            <a:tbl>
              <a:tblPr/>
              <a:tblGrid>
                <a:gridCol w="1822174">
                  <a:extLst>
                    <a:ext uri="{9D8B030D-6E8A-4147-A177-3AD203B41FA5}">
                      <a16:colId xmlns:a16="http://schemas.microsoft.com/office/drawing/2014/main" val="20000"/>
                    </a:ext>
                  </a:extLst>
                </a:gridCol>
                <a:gridCol w="1594401">
                  <a:extLst>
                    <a:ext uri="{9D8B030D-6E8A-4147-A177-3AD203B41FA5}">
                      <a16:colId xmlns:a16="http://schemas.microsoft.com/office/drawing/2014/main" val="20001"/>
                    </a:ext>
                  </a:extLst>
                </a:gridCol>
                <a:gridCol w="1746251">
                  <a:extLst>
                    <a:ext uri="{9D8B030D-6E8A-4147-A177-3AD203B41FA5}">
                      <a16:colId xmlns:a16="http://schemas.microsoft.com/office/drawing/2014/main" val="20002"/>
                    </a:ext>
                  </a:extLst>
                </a:gridCol>
                <a:gridCol w="1822174">
                  <a:extLst>
                    <a:ext uri="{9D8B030D-6E8A-4147-A177-3AD203B41FA5}">
                      <a16:colId xmlns:a16="http://schemas.microsoft.com/office/drawing/2014/main" val="20003"/>
                    </a:ext>
                  </a:extLst>
                </a:gridCol>
              </a:tblGrid>
              <a:tr h="305868">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运算符</a:t>
                      </a:r>
                    </a:p>
                  </a:txBody>
                  <a:tcPr marL="91443" marR="91443" marT="45768" marB="4576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含义</a:t>
                      </a:r>
                    </a:p>
                  </a:txBody>
                  <a:tcPr marL="91443" marR="91443" marT="45768" marB="4576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运算符</a:t>
                      </a:r>
                    </a:p>
                  </a:txBody>
                  <a:tcPr marL="91443" marR="91443" marT="45768" marB="4576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含义</a:t>
                      </a:r>
                    </a:p>
                  </a:txBody>
                  <a:tcPr marL="91443" marR="91443" marT="45768" marB="4576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 name="表格 9">
            <a:extLst>
              <a:ext uri="{FF2B5EF4-FFF2-40B4-BE49-F238E27FC236}">
                <a16:creationId xmlns:a16="http://schemas.microsoft.com/office/drawing/2014/main" id="{03756784-0AC0-45CB-8F8D-D1EA71FCBFFC}"/>
              </a:ext>
            </a:extLst>
          </p:cNvPr>
          <p:cNvGraphicFramePr/>
          <p:nvPr>
            <p:extLst/>
          </p:nvPr>
        </p:nvGraphicFramePr>
        <p:xfrm>
          <a:off x="2378756" y="3964334"/>
          <a:ext cx="6985000" cy="2383536"/>
        </p:xfrm>
        <a:graphic>
          <a:graphicData uri="http://schemas.openxmlformats.org/drawingml/2006/table">
            <a:tbl>
              <a:tblPr/>
              <a:tblGrid>
                <a:gridCol w="673017">
                  <a:extLst>
                    <a:ext uri="{9D8B030D-6E8A-4147-A177-3AD203B41FA5}">
                      <a16:colId xmlns:a16="http://schemas.microsoft.com/office/drawing/2014/main" val="20000"/>
                    </a:ext>
                  </a:extLst>
                </a:gridCol>
                <a:gridCol w="1143508">
                  <a:extLst>
                    <a:ext uri="{9D8B030D-6E8A-4147-A177-3AD203B41FA5}">
                      <a16:colId xmlns:a16="http://schemas.microsoft.com/office/drawing/2014/main" val="20001"/>
                    </a:ext>
                  </a:extLst>
                </a:gridCol>
                <a:gridCol w="1602139">
                  <a:extLst>
                    <a:ext uri="{9D8B030D-6E8A-4147-A177-3AD203B41FA5}">
                      <a16:colId xmlns:a16="http://schemas.microsoft.com/office/drawing/2014/main" val="20002"/>
                    </a:ext>
                  </a:extLst>
                </a:gridCol>
                <a:gridCol w="681135">
                  <a:extLst>
                    <a:ext uri="{9D8B030D-6E8A-4147-A177-3AD203B41FA5}">
                      <a16:colId xmlns:a16="http://schemas.microsoft.com/office/drawing/2014/main" val="20003"/>
                    </a:ext>
                  </a:extLst>
                </a:gridCol>
                <a:gridCol w="1063690">
                  <a:extLst>
                    <a:ext uri="{9D8B030D-6E8A-4147-A177-3AD203B41FA5}">
                      <a16:colId xmlns:a16="http://schemas.microsoft.com/office/drawing/2014/main" val="20004"/>
                    </a:ext>
                  </a:extLst>
                </a:gridCol>
                <a:gridCol w="1821511">
                  <a:extLst>
                    <a:ext uri="{9D8B030D-6E8A-4147-A177-3AD203B41FA5}">
                      <a16:colId xmlns:a16="http://schemas.microsoft.com/office/drawing/2014/main" val="20005"/>
                    </a:ext>
                  </a:extLst>
                </a:gridCol>
              </a:tblGrid>
              <a:tr h="1746001">
                <a:tc>
                  <a:txBody>
                    <a:bodyPr/>
                    <a:lstStyle>
                      <a:lvl1pPr marL="34290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
                        <a:defRPr sz="20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hlink"/>
                        </a:buClr>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rPr>
                        <a:t>专</a:t>
                      </a:r>
                      <a:endParaRPr kumimoji="0" lang="en-US" altLang="zh-CN"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rPr>
                        <a:t>门</a:t>
                      </a:r>
                      <a:endParaRPr kumimoji="0" lang="en-US" altLang="zh-CN"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rPr>
                        <a:t>的</a:t>
                      </a:r>
                      <a:endParaRPr kumimoji="0" lang="en-US" altLang="zh-CN"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rPr>
                        <a:t>关</a:t>
                      </a:r>
                      <a:endParaRPr kumimoji="0" lang="en-US" altLang="zh-CN"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rPr>
                        <a:t>系</a:t>
                      </a:r>
                      <a:endParaRPr kumimoji="0" lang="en-US" altLang="zh-CN"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rPr>
                        <a:t>运</a:t>
                      </a:r>
                      <a:endParaRPr kumimoji="0" lang="en-US" altLang="zh-CN"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rPr>
                        <a:t>算</a:t>
                      </a:r>
                      <a:endParaRPr kumimoji="0" lang="en-US" altLang="zh-CN"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rPr>
                        <a:t>符</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
                        <a:defRPr sz="20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hlink"/>
                        </a:buClr>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gn="ctr">
                        <a:buNone/>
                      </a:pPr>
                      <a:r>
                        <a:rPr lang="en-US" altLang="zh-CN" sz="1600" dirty="0">
                          <a:ea typeface="宋体" panose="02010600030101010101" pitchFamily="2" charset="-122"/>
                        </a:rPr>
                        <a:t>σ</a:t>
                      </a:r>
                    </a:p>
                    <a:p>
                      <a:pPr marL="0" lvl="0" indent="0" algn="ctr">
                        <a:buNone/>
                      </a:pPr>
                      <a:r>
                        <a:rPr lang="en-US" altLang="zh-CN" sz="1600" dirty="0">
                          <a:ea typeface="宋体" panose="02010600030101010101" pitchFamily="2" charset="-122"/>
                        </a:rPr>
                        <a:t>π</a:t>
                      </a:r>
                    </a:p>
                    <a:p>
                      <a:pPr marL="0" lvl="0" indent="0" algn="ctr">
                        <a:buNone/>
                      </a:pPr>
                      <a:r>
                        <a:rPr lang="en-US" altLang="zh-CN" sz="1600" dirty="0">
                          <a:ea typeface="宋体" panose="02010600030101010101" pitchFamily="2" charset="-122"/>
                        </a:rPr>
                        <a:t> </a:t>
                      </a:r>
                    </a:p>
                    <a:p>
                      <a:pPr marL="0" lvl="0" indent="0" algn="ctr">
                        <a:buNone/>
                      </a:pPr>
                      <a:r>
                        <a:rPr lang="en-US" altLang="zh-CN" sz="1600" dirty="0">
                          <a:ea typeface="宋体" panose="02010600030101010101" pitchFamily="2" charset="-122"/>
                        </a:rPr>
                        <a:t>÷ </a:t>
                      </a:r>
                    </a:p>
                    <a:p>
                      <a:pPr marL="0" lvl="0" indent="0">
                        <a:buNone/>
                      </a:pPr>
                      <a:endParaRPr lang="zh-CN" altLang="en-US" sz="1600" dirty="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
                        <a:defRPr sz="20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hlink"/>
                        </a:buClr>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选择</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投影</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连接</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rPr>
                        <a:t>除</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
                        <a:defRPr sz="20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hlink"/>
                        </a:buClr>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rPr>
                        <a:t>逻</a:t>
                      </a:r>
                      <a:endParaRPr kumimoji="0" lang="en-US" altLang="zh-CN"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rPr>
                        <a:t>辑</a:t>
                      </a:r>
                      <a:endParaRPr kumimoji="0" lang="en-US" altLang="zh-CN"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rPr>
                        <a:t>运</a:t>
                      </a:r>
                      <a:endParaRPr kumimoji="0" lang="en-US" altLang="zh-CN"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rPr>
                        <a:t>算</a:t>
                      </a:r>
                      <a:endParaRPr kumimoji="0" lang="en-US" altLang="zh-CN"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rgbClr val="C00000"/>
                          </a:solidFill>
                          <a:effectLst/>
                          <a:latin typeface="微软雅黑" panose="020B0503020204020204" pitchFamily="34" charset="-122"/>
                          <a:ea typeface="微软雅黑" panose="020B0503020204020204" pitchFamily="34" charset="-122"/>
                          <a:cs typeface="+mn-cs"/>
                        </a:rPr>
                        <a:t>符</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
                        <a:defRPr sz="20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hlink"/>
                        </a:buClr>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lvl="0" indent="0" algn="ctr">
                        <a:buNone/>
                      </a:pPr>
                      <a:r>
                        <a:rPr lang="en-US" altLang="zh-CN" sz="1600" dirty="0">
                          <a:ea typeface="宋体" panose="02010600030101010101" pitchFamily="2" charset="-122"/>
                          <a:sym typeface="Symbol" panose="05050102010706020507" pitchFamily="18" charset="2"/>
                        </a:rPr>
                        <a:t></a:t>
                      </a:r>
                      <a:endParaRPr lang="en-US" altLang="zh-CN" sz="1600" dirty="0">
                        <a:ea typeface="宋体" panose="02010600030101010101" pitchFamily="2" charset="-122"/>
                      </a:endParaRPr>
                    </a:p>
                    <a:p>
                      <a:pPr marL="0" lvl="0" indent="0" algn="ctr">
                        <a:buNone/>
                      </a:pPr>
                      <a:r>
                        <a:rPr lang="en-US" altLang="zh-CN" sz="1600">
                          <a:ea typeface="宋体" panose="02010600030101010101" pitchFamily="2" charset="-122"/>
                        </a:rPr>
                        <a:t>∧</a:t>
                      </a:r>
                    </a:p>
                    <a:p>
                      <a:pPr marL="0" lvl="0" indent="0" algn="ctr">
                        <a:buNone/>
                      </a:pPr>
                      <a:r>
                        <a:rPr lang="en-US" altLang="zh-CN" sz="1600">
                          <a:ea typeface="宋体" panose="02010600030101010101" pitchFamily="2" charset="-122"/>
                        </a:rPr>
                        <a:t>∨  </a:t>
                      </a:r>
                      <a:endParaRPr lang="zh-CN" altLang="en-US" sz="160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
                        <a:defRPr sz="20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hlink"/>
                        </a:buClr>
                        <a:buSzTx/>
                        <a:buFontTx/>
                        <a:buChar char="•"/>
                        <a:defRPr sz="20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defRPr>
                      </a:lvl5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非</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与</a:t>
                      </a:r>
                    </a:p>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16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或</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1" name="AutoShape 32">
            <a:extLst>
              <a:ext uri="{FF2B5EF4-FFF2-40B4-BE49-F238E27FC236}">
                <a16:creationId xmlns:a16="http://schemas.microsoft.com/office/drawing/2014/main" id="{76665BB5-08F3-4A56-88DB-1C9F8A6A30C4}"/>
              </a:ext>
            </a:extLst>
          </p:cNvPr>
          <p:cNvSpPr>
            <a:spLocks noChangeAspect="1" noChangeArrowheads="1"/>
          </p:cNvSpPr>
          <p:nvPr/>
        </p:nvSpPr>
        <p:spPr bwMode="auto">
          <a:xfrm rot="5400000" flipV="1">
            <a:off x="3560693" y="4610986"/>
            <a:ext cx="102639" cy="192624"/>
          </a:xfrm>
          <a:prstGeom prst="flowChartCollate">
            <a:avLst/>
          </a:prstGeom>
          <a:solidFill>
            <a:srgbClr val="FFFFFF"/>
          </a:solidFill>
          <a:ln w="38100">
            <a:solidFill>
              <a:srgbClr val="000000"/>
            </a:solidFill>
            <a:miter lim="800000"/>
            <a:headEnd/>
            <a:tailEnd/>
          </a:ln>
        </p:spPr>
        <p:txBody>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dirty="0">
              <a:solidFill>
                <a:srgbClr val="000000"/>
              </a:solidFill>
              <a:latin typeface="Arial" panose="020B0604020202020204" pitchFamily="34" charset="0"/>
              <a:ea typeface="楷体_GB2312" pitchFamily="49" charset="-122"/>
            </a:endParaRPr>
          </a:p>
        </p:txBody>
      </p:sp>
      <p:sp>
        <p:nvSpPr>
          <p:cNvPr id="3" name="灯片编号占位符 2">
            <a:extLst>
              <a:ext uri="{FF2B5EF4-FFF2-40B4-BE49-F238E27FC236}">
                <a16:creationId xmlns:a16="http://schemas.microsoft.com/office/drawing/2014/main" id="{FF1D4222-316B-4ED6-8D93-411FB29F0459}"/>
              </a:ext>
            </a:extLst>
          </p:cNvPr>
          <p:cNvSpPr>
            <a:spLocks noGrp="1"/>
          </p:cNvSpPr>
          <p:nvPr>
            <p:ph type="sldNum" sz="quarter" idx="12"/>
          </p:nvPr>
        </p:nvSpPr>
        <p:spPr/>
        <p:txBody>
          <a:bodyPr/>
          <a:lstStyle/>
          <a:p>
            <a:fld id="{47C9E101-E51D-431E-84FA-C029B8655B60}" type="slidenum">
              <a:rPr lang="zh-CN" altLang="en-US" smtClean="0"/>
              <a:pPr/>
              <a:t>49</a:t>
            </a:fld>
            <a:endParaRPr lang="zh-CN" altLang="en-US" dirty="0"/>
          </a:p>
        </p:txBody>
      </p:sp>
      <p:sp>
        <p:nvSpPr>
          <p:cNvPr id="4" name="矩形 3">
            <a:extLst>
              <a:ext uri="{FF2B5EF4-FFF2-40B4-BE49-F238E27FC236}">
                <a16:creationId xmlns:a16="http://schemas.microsoft.com/office/drawing/2014/main" id="{A3732990-61C6-4878-9708-ACB0C135C26A}"/>
              </a:ext>
            </a:extLst>
          </p:cNvPr>
          <p:cNvSpPr/>
          <p:nvPr/>
        </p:nvSpPr>
        <p:spPr>
          <a:xfrm>
            <a:off x="9639300" y="2166218"/>
            <a:ext cx="913962" cy="175432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zh-CN" altLang="en-US" dirty="0">
                <a:ea typeface="楷体_GB2312" pitchFamily="49" charset="-122"/>
              </a:rPr>
              <a:t>从关系的“水平”方向即行的角度来进行</a:t>
            </a:r>
            <a:endParaRPr lang="zh-CN" altLang="en-US" dirty="0"/>
          </a:p>
        </p:txBody>
      </p:sp>
      <p:sp>
        <p:nvSpPr>
          <p:cNvPr id="5" name="矩形 4">
            <a:extLst>
              <a:ext uri="{FF2B5EF4-FFF2-40B4-BE49-F238E27FC236}">
                <a16:creationId xmlns:a16="http://schemas.microsoft.com/office/drawing/2014/main" id="{6D1A42EB-2A6E-4F1F-B52E-1CDC61B72234}"/>
              </a:ext>
            </a:extLst>
          </p:cNvPr>
          <p:cNvSpPr/>
          <p:nvPr/>
        </p:nvSpPr>
        <p:spPr>
          <a:xfrm>
            <a:off x="9639300" y="4553468"/>
            <a:ext cx="913962" cy="120032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zh-CN" altLang="en-US" dirty="0">
                <a:ea typeface="楷体_GB2312" pitchFamily="49" charset="-122"/>
              </a:rPr>
              <a:t>不仅涉及行而且涉及列</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ECA6E6-80E9-4D89-8B93-2497A2FD8BEF}"/>
              </a:ext>
            </a:extLst>
          </p:cNvPr>
          <p:cNvSpPr>
            <a:spLocks noGrp="1"/>
          </p:cNvSpPr>
          <p:nvPr>
            <p:ph type="title"/>
          </p:nvPr>
        </p:nvSpPr>
        <p:spPr/>
        <p:txBody>
          <a:bodyPr/>
          <a:lstStyle/>
          <a:p>
            <a:r>
              <a:rPr lang="en-US" altLang="zh-CN" dirty="0"/>
              <a:t>2.4.1  </a:t>
            </a:r>
            <a:r>
              <a:rPr lang="zh-CN" altLang="en-US" dirty="0"/>
              <a:t>传统的集合运算</a:t>
            </a:r>
          </a:p>
        </p:txBody>
      </p:sp>
      <p:sp>
        <p:nvSpPr>
          <p:cNvPr id="3" name="内容占位符 2">
            <a:extLst>
              <a:ext uri="{FF2B5EF4-FFF2-40B4-BE49-F238E27FC236}">
                <a16:creationId xmlns:a16="http://schemas.microsoft.com/office/drawing/2014/main" id="{FB95E108-5031-4A1F-9466-A1956A349E53}"/>
              </a:ext>
            </a:extLst>
          </p:cNvPr>
          <p:cNvSpPr>
            <a:spLocks noGrp="1"/>
          </p:cNvSpPr>
          <p:nvPr>
            <p:ph idx="1"/>
          </p:nvPr>
        </p:nvSpPr>
        <p:spPr/>
        <p:txBody>
          <a:bodyPr/>
          <a:lstStyle/>
          <a:p>
            <a:r>
              <a:rPr lang="zh-CN" altLang="en-US" dirty="0"/>
              <a:t>并</a:t>
            </a:r>
          </a:p>
          <a:p>
            <a:r>
              <a:rPr lang="zh-CN" altLang="en-US" dirty="0"/>
              <a:t>差</a:t>
            </a:r>
          </a:p>
          <a:p>
            <a:r>
              <a:rPr lang="zh-CN" altLang="en-US" dirty="0"/>
              <a:t>交</a:t>
            </a:r>
          </a:p>
          <a:p>
            <a:r>
              <a:rPr lang="zh-CN" altLang="en-US" dirty="0"/>
              <a:t>广义笛卡尔积</a:t>
            </a:r>
          </a:p>
        </p:txBody>
      </p:sp>
      <p:sp>
        <p:nvSpPr>
          <p:cNvPr id="4" name="灯片编号占位符 3">
            <a:extLst>
              <a:ext uri="{FF2B5EF4-FFF2-40B4-BE49-F238E27FC236}">
                <a16:creationId xmlns:a16="http://schemas.microsoft.com/office/drawing/2014/main" id="{6EBA77BE-EE4C-4B21-AE1E-F4D1DFBBBC04}"/>
              </a:ext>
            </a:extLst>
          </p:cNvPr>
          <p:cNvSpPr>
            <a:spLocks noGrp="1"/>
          </p:cNvSpPr>
          <p:nvPr>
            <p:ph type="sldNum" sz="quarter" idx="12"/>
          </p:nvPr>
        </p:nvSpPr>
        <p:spPr/>
        <p:txBody>
          <a:bodyPr/>
          <a:lstStyle/>
          <a:p>
            <a:fld id="{47C9E101-E51D-431E-84FA-C029B8655B60}" type="slidenum">
              <a:rPr lang="zh-CN" altLang="en-US" smtClean="0"/>
              <a:pPr/>
              <a:t>50</a:t>
            </a:fld>
            <a:endParaRPr lang="zh-CN" altLang="en-US" dirty="0"/>
          </a:p>
        </p:txBody>
      </p:sp>
      <p:sp>
        <p:nvSpPr>
          <p:cNvPr id="5" name="矩形 4">
            <a:extLst>
              <a:ext uri="{FF2B5EF4-FFF2-40B4-BE49-F238E27FC236}">
                <a16:creationId xmlns:a16="http://schemas.microsoft.com/office/drawing/2014/main" id="{3731413D-1146-40CC-92A0-2E80A1858C9F}"/>
              </a:ext>
            </a:extLst>
          </p:cNvPr>
          <p:cNvSpPr/>
          <p:nvPr/>
        </p:nvSpPr>
        <p:spPr>
          <a:xfrm>
            <a:off x="865295" y="3338927"/>
            <a:ext cx="1569660" cy="369332"/>
          </a:xfrm>
          <a:prstGeom prst="rect">
            <a:avLst/>
          </a:prstGeom>
        </p:spPr>
        <p:txBody>
          <a:bodyPr wrap="none">
            <a:spAutoFit/>
          </a:bodyPr>
          <a:lstStyle/>
          <a:p>
            <a:r>
              <a:rPr lang="zh-CN" altLang="en-US" dirty="0"/>
              <a:t>在线课堂自学</a:t>
            </a:r>
          </a:p>
        </p:txBody>
      </p:sp>
    </p:spTree>
    <p:extLst>
      <p:ext uri="{BB962C8B-B14F-4D97-AF65-F5344CB8AC3E}">
        <p14:creationId xmlns:p14="http://schemas.microsoft.com/office/powerpoint/2010/main" val="10063811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322561">
            <a:extLst>
              <a:ext uri="{FF2B5EF4-FFF2-40B4-BE49-F238E27FC236}">
                <a16:creationId xmlns:a16="http://schemas.microsoft.com/office/drawing/2014/main" id="{29BF1CD2-3A6E-4F0C-8FDC-189D139DDD7C}"/>
              </a:ext>
            </a:extLst>
          </p:cNvPr>
          <p:cNvSpPr>
            <a:spLocks noGrp="1" noChangeArrowheads="1"/>
          </p:cNvSpPr>
          <p:nvPr>
            <p:ph type="title"/>
          </p:nvPr>
        </p:nvSpPr>
        <p:spPr/>
        <p:txBody>
          <a:bodyPr/>
          <a:lstStyle/>
          <a:p>
            <a:r>
              <a:rPr lang="en-US" altLang="zh-CN"/>
              <a:t>1. </a:t>
            </a:r>
            <a:r>
              <a:rPr lang="zh-CN" altLang="en-US"/>
              <a:t>并（</a:t>
            </a:r>
            <a:r>
              <a:rPr lang="en-US" altLang="zh-CN"/>
              <a:t>Union</a:t>
            </a:r>
            <a:r>
              <a:rPr lang="zh-CN" altLang="en-US"/>
              <a:t>）</a:t>
            </a:r>
          </a:p>
        </p:txBody>
      </p:sp>
      <p:sp>
        <p:nvSpPr>
          <p:cNvPr id="22531" name="文本占位符 322562">
            <a:extLst>
              <a:ext uri="{FF2B5EF4-FFF2-40B4-BE49-F238E27FC236}">
                <a16:creationId xmlns:a16="http://schemas.microsoft.com/office/drawing/2014/main" id="{594F3A6E-1D53-4A09-A529-91B1E6DF6EBB}"/>
              </a:ext>
            </a:extLst>
          </p:cNvPr>
          <p:cNvSpPr>
            <a:spLocks noGrp="1" noChangeArrowheads="1"/>
          </p:cNvSpPr>
          <p:nvPr>
            <p:ph type="body" idx="1"/>
          </p:nvPr>
        </p:nvSpPr>
        <p:spPr/>
        <p:txBody>
          <a:bodyPr/>
          <a:lstStyle/>
          <a:p>
            <a:r>
              <a:rPr lang="en-US" altLang="zh-CN" i="1" dirty="0"/>
              <a:t>R</a:t>
            </a:r>
            <a:r>
              <a:rPr lang="zh-CN" altLang="en-US" dirty="0"/>
              <a:t>和</a:t>
            </a:r>
            <a:r>
              <a:rPr lang="en-US" altLang="zh-CN" i="1" dirty="0"/>
              <a:t>S</a:t>
            </a:r>
          </a:p>
          <a:p>
            <a:pPr lvl="1"/>
            <a:r>
              <a:rPr lang="zh-CN" altLang="en-US" dirty="0"/>
              <a:t>具有相同的目</a:t>
            </a:r>
            <a:r>
              <a:rPr lang="en-US" altLang="zh-CN" i="1" dirty="0"/>
              <a:t>n</a:t>
            </a:r>
            <a:r>
              <a:rPr lang="zh-CN" altLang="en-US" dirty="0"/>
              <a:t>（即两个关系都有</a:t>
            </a:r>
            <a:r>
              <a:rPr lang="en-US" altLang="zh-CN" i="1" dirty="0"/>
              <a:t>n</a:t>
            </a:r>
            <a:r>
              <a:rPr lang="zh-CN" altLang="en-US" dirty="0"/>
              <a:t>个属性）</a:t>
            </a:r>
          </a:p>
          <a:p>
            <a:pPr lvl="1"/>
            <a:r>
              <a:rPr lang="zh-CN" altLang="en-US" dirty="0"/>
              <a:t>相应的属性取自同一个域</a:t>
            </a:r>
          </a:p>
          <a:p>
            <a:endParaRPr lang="zh-CN" altLang="en-US" dirty="0"/>
          </a:p>
          <a:p>
            <a:r>
              <a:rPr lang="en-US" altLang="zh-CN" i="1" dirty="0"/>
              <a:t>R</a:t>
            </a:r>
            <a:r>
              <a:rPr lang="en-US" altLang="zh-CN" dirty="0"/>
              <a:t>∪</a:t>
            </a:r>
            <a:r>
              <a:rPr lang="en-US" altLang="zh-CN" i="1" dirty="0"/>
              <a:t>S</a:t>
            </a:r>
            <a:r>
              <a:rPr lang="en-US" altLang="zh-CN" dirty="0"/>
              <a:t> </a:t>
            </a:r>
          </a:p>
          <a:p>
            <a:pPr lvl="1"/>
            <a:r>
              <a:rPr lang="zh-CN" altLang="en-US" dirty="0"/>
              <a:t>仍为</a:t>
            </a:r>
            <a:r>
              <a:rPr lang="en-US" altLang="zh-CN" i="1" dirty="0"/>
              <a:t>n</a:t>
            </a:r>
            <a:r>
              <a:rPr lang="zh-CN" altLang="en-US" dirty="0"/>
              <a:t>目关系，由属于</a:t>
            </a:r>
            <a:r>
              <a:rPr lang="en-US" altLang="zh-CN" i="1" dirty="0"/>
              <a:t>R</a:t>
            </a:r>
            <a:r>
              <a:rPr lang="zh-CN" altLang="en-US" dirty="0"/>
              <a:t>或属于</a:t>
            </a:r>
            <a:r>
              <a:rPr lang="en-US" altLang="zh-CN" i="1" dirty="0"/>
              <a:t>S</a:t>
            </a:r>
            <a:r>
              <a:rPr lang="zh-CN" altLang="en-US" dirty="0"/>
              <a:t>的元组组成</a:t>
            </a:r>
          </a:p>
          <a:p>
            <a:pPr marL="342900" lvl="1" indent="0">
              <a:buNone/>
            </a:pPr>
            <a:r>
              <a:rPr lang="en-US" altLang="zh-CN" i="1" dirty="0"/>
              <a:t>        R</a:t>
            </a:r>
            <a:r>
              <a:rPr lang="en-US" altLang="zh-CN" dirty="0"/>
              <a:t>∪</a:t>
            </a:r>
            <a:r>
              <a:rPr lang="en-US" altLang="zh-CN" i="1" dirty="0"/>
              <a:t>S</a:t>
            </a:r>
            <a:r>
              <a:rPr lang="en-US" altLang="zh-CN" dirty="0"/>
              <a:t> = { </a:t>
            </a:r>
            <a:r>
              <a:rPr lang="en-US" altLang="zh-CN" i="1" dirty="0" err="1"/>
              <a:t>t</a:t>
            </a:r>
            <a:r>
              <a:rPr lang="en-US" altLang="zh-CN" dirty="0" err="1"/>
              <a:t>|</a:t>
            </a:r>
            <a:r>
              <a:rPr lang="en-US" altLang="zh-CN" i="1" dirty="0" err="1"/>
              <a:t>t</a:t>
            </a:r>
            <a:r>
              <a:rPr lang="en-US" altLang="zh-CN" i="1" dirty="0"/>
              <a:t> </a:t>
            </a:r>
            <a:r>
              <a:rPr lang="en-US" altLang="zh-CN" dirty="0">
                <a:sym typeface="Symbol" panose="05050102010706020507" pitchFamily="18" charset="2"/>
              </a:rPr>
              <a:t></a:t>
            </a:r>
            <a:r>
              <a:rPr lang="en-US" altLang="zh-CN" dirty="0"/>
              <a:t> </a:t>
            </a:r>
            <a:r>
              <a:rPr lang="en-US" altLang="zh-CN" i="1" dirty="0" err="1"/>
              <a:t>R</a:t>
            </a:r>
            <a:r>
              <a:rPr lang="en-US" altLang="zh-CN" dirty="0" err="1">
                <a:solidFill>
                  <a:srgbClr val="0033CC"/>
                </a:solidFill>
              </a:rPr>
              <a:t>∨</a:t>
            </a:r>
            <a:r>
              <a:rPr lang="en-US" altLang="zh-CN" i="1" dirty="0" err="1"/>
              <a:t>t</a:t>
            </a:r>
            <a:r>
              <a:rPr lang="en-US" altLang="zh-CN" i="1" dirty="0"/>
              <a:t> </a:t>
            </a:r>
            <a:r>
              <a:rPr lang="en-US" altLang="zh-CN" dirty="0">
                <a:sym typeface="Symbol" panose="05050102010706020507" pitchFamily="18" charset="2"/>
              </a:rPr>
              <a:t></a:t>
            </a:r>
            <a:r>
              <a:rPr lang="en-US" altLang="zh-CN" i="1" dirty="0"/>
              <a:t>S </a:t>
            </a:r>
            <a:r>
              <a:rPr lang="en-US" altLang="zh-CN" dirty="0"/>
              <a:t>}</a:t>
            </a:r>
          </a:p>
          <a:p>
            <a:endParaRPr lang="en-US" altLang="zh-CN" dirty="0"/>
          </a:p>
        </p:txBody>
      </p:sp>
      <p:sp>
        <p:nvSpPr>
          <p:cNvPr id="2" name="灯片编号占位符 1">
            <a:extLst>
              <a:ext uri="{FF2B5EF4-FFF2-40B4-BE49-F238E27FC236}">
                <a16:creationId xmlns:a16="http://schemas.microsoft.com/office/drawing/2014/main" id="{6CC207E2-33CD-45BC-B18B-6817B314A9A2}"/>
              </a:ext>
            </a:extLst>
          </p:cNvPr>
          <p:cNvSpPr>
            <a:spLocks noGrp="1"/>
          </p:cNvSpPr>
          <p:nvPr>
            <p:ph type="sldNum" sz="quarter" idx="12"/>
          </p:nvPr>
        </p:nvSpPr>
        <p:spPr/>
        <p:txBody>
          <a:bodyPr/>
          <a:lstStyle/>
          <a:p>
            <a:fld id="{47C9E101-E51D-431E-84FA-C029B8655B60}" type="slidenum">
              <a:rPr lang="zh-CN" altLang="en-US" smtClean="0"/>
              <a:pPr/>
              <a:t>51</a:t>
            </a:fld>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82C03E0F-F61A-448F-939B-CC79C10EE108}"/>
              </a:ext>
            </a:extLst>
          </p:cNvPr>
          <p:cNvSpPr>
            <a:spLocks noGrp="1" noChangeArrowheads="1"/>
          </p:cNvSpPr>
          <p:nvPr>
            <p:ph type="title"/>
          </p:nvPr>
        </p:nvSpPr>
        <p:spPr/>
        <p:txBody>
          <a:bodyPr/>
          <a:lstStyle/>
          <a:p>
            <a:pPr eaLnBrk="1" hangingPunct="1"/>
            <a:r>
              <a:rPr lang="zh-CN" altLang="en-US"/>
              <a:t>并</a:t>
            </a:r>
            <a:r>
              <a:rPr lang="en-US" altLang="zh-CN"/>
              <a:t>(</a:t>
            </a:r>
            <a:r>
              <a:rPr lang="zh-CN" altLang="en-US"/>
              <a:t>续</a:t>
            </a:r>
            <a:r>
              <a:rPr lang="en-US" altLang="zh-CN"/>
              <a:t>)</a:t>
            </a:r>
          </a:p>
        </p:txBody>
      </p:sp>
      <p:graphicFrame>
        <p:nvGraphicFramePr>
          <p:cNvPr id="328988" name="Group 284">
            <a:extLst>
              <a:ext uri="{FF2B5EF4-FFF2-40B4-BE49-F238E27FC236}">
                <a16:creationId xmlns:a16="http://schemas.microsoft.com/office/drawing/2014/main" id="{12FF7CC4-4DA4-43BF-9420-E6EFFC7801C9}"/>
              </a:ext>
            </a:extLst>
          </p:cNvPr>
          <p:cNvGraphicFramePr>
            <a:graphicFrameLocks noGrp="1"/>
          </p:cNvGraphicFramePr>
          <p:nvPr>
            <p:extLst/>
          </p:nvPr>
        </p:nvGraphicFramePr>
        <p:xfrm>
          <a:off x="2700338" y="1268413"/>
          <a:ext cx="2743200" cy="2076452"/>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p>
                  </a:txBody>
                  <a:tcPr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a:t>
                      </a:r>
                    </a:p>
                  </a:txBody>
                  <a:tcPr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b1</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c1</a:t>
                      </a:r>
                    </a:p>
                  </a:txBody>
                  <a:tcPr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c2</a:t>
                      </a:r>
                    </a:p>
                  </a:txBody>
                  <a:tcPr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a2</a:t>
                      </a:r>
                    </a:p>
                  </a:txBody>
                  <a:tcPr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c1</a:t>
                      </a:r>
                    </a:p>
                  </a:txBody>
                  <a:tcPr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328987" name="Group 283">
            <a:extLst>
              <a:ext uri="{FF2B5EF4-FFF2-40B4-BE49-F238E27FC236}">
                <a16:creationId xmlns:a16="http://schemas.microsoft.com/office/drawing/2014/main" id="{AAD71211-6599-47C6-A43E-2D48164C7120}"/>
              </a:ext>
            </a:extLst>
          </p:cNvPr>
          <p:cNvGraphicFramePr>
            <a:graphicFrameLocks noGrp="1"/>
          </p:cNvGraphicFramePr>
          <p:nvPr>
            <p:extLst/>
          </p:nvPr>
        </p:nvGraphicFramePr>
        <p:xfrm>
          <a:off x="7292975" y="2205038"/>
          <a:ext cx="2743200" cy="260546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533284">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p>
                  </a:txBody>
                  <a:tcPr marT="45662" marB="45662"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a:t>
                      </a:r>
                    </a:p>
                  </a:txBody>
                  <a:tcPr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a:t>
                      </a:r>
                    </a:p>
                  </a:txBody>
                  <a:tcPr marT="45662" marB="45662"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517951">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T="45662" marB="45662"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b1</a:t>
                      </a:r>
                    </a:p>
                  </a:txBody>
                  <a:tcPr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c1</a:t>
                      </a:r>
                    </a:p>
                  </a:txBody>
                  <a:tcPr marT="45662" marB="45662"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7951">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T="45662" marB="45662"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c2</a:t>
                      </a:r>
                    </a:p>
                  </a:txBody>
                  <a:tcPr marT="45662" marB="45662"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7951">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T="45662" marB="45662"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b3</a:t>
                      </a:r>
                    </a:p>
                  </a:txBody>
                  <a:tcPr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c2</a:t>
                      </a:r>
                    </a:p>
                  </a:txBody>
                  <a:tcPr marT="45662" marB="45662"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7951">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a2</a:t>
                      </a:r>
                    </a:p>
                  </a:txBody>
                  <a:tcPr marT="45662" marB="45662"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c1</a:t>
                      </a:r>
                    </a:p>
                  </a:txBody>
                  <a:tcPr marT="45662" marB="45662"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328986" name="Group 282">
            <a:extLst>
              <a:ext uri="{FF2B5EF4-FFF2-40B4-BE49-F238E27FC236}">
                <a16:creationId xmlns:a16="http://schemas.microsoft.com/office/drawing/2014/main" id="{9B92D9DC-4FFA-4C41-8EFE-241DD90958AF}"/>
              </a:ext>
            </a:extLst>
          </p:cNvPr>
          <p:cNvGraphicFramePr>
            <a:graphicFrameLocks noGrp="1"/>
          </p:cNvGraphicFramePr>
          <p:nvPr>
            <p:extLst/>
          </p:nvPr>
        </p:nvGraphicFramePr>
        <p:xfrm>
          <a:off x="2711450" y="3716338"/>
          <a:ext cx="2732088" cy="2076452"/>
        </p:xfrm>
        <a:graphic>
          <a:graphicData uri="http://schemas.openxmlformats.org/drawingml/2006/table">
            <a:tbl>
              <a:tblPr/>
              <a:tblGrid>
                <a:gridCol w="911225">
                  <a:extLst>
                    <a:ext uri="{9D8B030D-6E8A-4147-A177-3AD203B41FA5}">
                      <a16:colId xmlns:a16="http://schemas.microsoft.com/office/drawing/2014/main" val="20000"/>
                    </a:ext>
                  </a:extLst>
                </a:gridCol>
                <a:gridCol w="909638">
                  <a:extLst>
                    <a:ext uri="{9D8B030D-6E8A-4147-A177-3AD203B41FA5}">
                      <a16:colId xmlns:a16="http://schemas.microsoft.com/office/drawing/2014/main" val="20001"/>
                    </a:ext>
                  </a:extLst>
                </a:gridCol>
                <a:gridCol w="911225">
                  <a:extLst>
                    <a:ext uri="{9D8B030D-6E8A-4147-A177-3AD203B41FA5}">
                      <a16:colId xmlns:a16="http://schemas.microsoft.com/office/drawing/2014/main" val="20002"/>
                    </a:ext>
                  </a:extLst>
                </a:gridCol>
              </a:tblGrid>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p>
                  </a:txBody>
                  <a:tcPr marL="91423" marR="91423"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a:t>
                      </a:r>
                    </a:p>
                  </a:txBody>
                  <a:tcPr marL="91423" marR="91423"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a:t>
                      </a:r>
                    </a:p>
                  </a:txBody>
                  <a:tcPr marL="91423" marR="91423"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L="91423" marR="91423"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L="91423" marR="91423"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c2</a:t>
                      </a:r>
                    </a:p>
                  </a:txBody>
                  <a:tcPr marL="91423" marR="91423"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L="91423" marR="91423"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b3</a:t>
                      </a:r>
                    </a:p>
                  </a:txBody>
                  <a:tcPr marL="91423" marR="91423"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c2</a:t>
                      </a:r>
                    </a:p>
                  </a:txBody>
                  <a:tcPr marL="91423" marR="91423"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a2</a:t>
                      </a:r>
                    </a:p>
                  </a:txBody>
                  <a:tcPr marL="91423" marR="91423"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L="91423" marR="91423"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c1</a:t>
                      </a:r>
                    </a:p>
                  </a:txBody>
                  <a:tcPr marL="91423" marR="91423"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0735" name="Rectangle 251">
            <a:extLst>
              <a:ext uri="{FF2B5EF4-FFF2-40B4-BE49-F238E27FC236}">
                <a16:creationId xmlns:a16="http://schemas.microsoft.com/office/drawing/2014/main" id="{FF9E4F61-2062-440B-8BA1-E0FCF77DA145}"/>
              </a:ext>
            </a:extLst>
          </p:cNvPr>
          <p:cNvSpPr>
            <a:spLocks noChangeArrowheads="1"/>
          </p:cNvSpPr>
          <p:nvPr/>
        </p:nvSpPr>
        <p:spPr bwMode="auto">
          <a:xfrm>
            <a:off x="2208213" y="1871663"/>
            <a:ext cx="304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b="1" i="1">
                <a:solidFill>
                  <a:srgbClr val="000000"/>
                </a:solidFill>
                <a:ea typeface="宋体" panose="02010600030101010101" pitchFamily="2" charset="-122"/>
              </a:rPr>
              <a:t>R</a:t>
            </a:r>
          </a:p>
        </p:txBody>
      </p:sp>
      <p:sp>
        <p:nvSpPr>
          <p:cNvPr id="70736" name="Rectangle 252">
            <a:extLst>
              <a:ext uri="{FF2B5EF4-FFF2-40B4-BE49-F238E27FC236}">
                <a16:creationId xmlns:a16="http://schemas.microsoft.com/office/drawing/2014/main" id="{4FBC2817-84EF-4A7D-9DAA-E41752A33BDF}"/>
              </a:ext>
            </a:extLst>
          </p:cNvPr>
          <p:cNvSpPr>
            <a:spLocks noChangeArrowheads="1"/>
          </p:cNvSpPr>
          <p:nvPr/>
        </p:nvSpPr>
        <p:spPr bwMode="auto">
          <a:xfrm>
            <a:off x="2243138" y="4321175"/>
            <a:ext cx="304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b="1" i="1">
                <a:solidFill>
                  <a:srgbClr val="000000"/>
                </a:solidFill>
                <a:ea typeface="宋体" panose="02010600030101010101" pitchFamily="2" charset="-122"/>
              </a:rPr>
              <a:t>S</a:t>
            </a:r>
          </a:p>
        </p:txBody>
      </p:sp>
      <p:sp>
        <p:nvSpPr>
          <p:cNvPr id="70737" name="Rectangle 253">
            <a:extLst>
              <a:ext uri="{FF2B5EF4-FFF2-40B4-BE49-F238E27FC236}">
                <a16:creationId xmlns:a16="http://schemas.microsoft.com/office/drawing/2014/main" id="{D30D65BC-4468-418A-BB6F-E8A733BBCB89}"/>
              </a:ext>
            </a:extLst>
          </p:cNvPr>
          <p:cNvSpPr>
            <a:spLocks noChangeArrowheads="1"/>
          </p:cNvSpPr>
          <p:nvPr/>
        </p:nvSpPr>
        <p:spPr bwMode="auto">
          <a:xfrm>
            <a:off x="6311900" y="3113088"/>
            <a:ext cx="838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b="1" i="1" dirty="0">
                <a:solidFill>
                  <a:srgbClr val="000000"/>
                </a:solidFill>
                <a:ea typeface="宋体" panose="02010600030101010101" pitchFamily="2" charset="-122"/>
              </a:rPr>
              <a:t>R</a:t>
            </a:r>
            <a:r>
              <a:rPr kumimoji="1" lang="en-US" altLang="zh-CN" b="1" dirty="0">
                <a:solidFill>
                  <a:srgbClr val="000000"/>
                </a:solidFill>
                <a:ea typeface="宋体" panose="02010600030101010101" pitchFamily="2" charset="-122"/>
              </a:rPr>
              <a:t>∪</a:t>
            </a:r>
            <a:r>
              <a:rPr kumimoji="1" lang="en-US" altLang="zh-CN" b="1" i="1" dirty="0">
                <a:solidFill>
                  <a:srgbClr val="000000"/>
                </a:solidFill>
                <a:ea typeface="宋体" panose="02010600030101010101" pitchFamily="2" charset="-122"/>
              </a:rPr>
              <a:t>S</a:t>
            </a:r>
            <a:r>
              <a:rPr kumimoji="1" lang="en-US" altLang="zh-CN" dirty="0">
                <a:solidFill>
                  <a:srgbClr val="000000"/>
                </a:solidFill>
                <a:ea typeface="宋体" panose="02010600030101010101" pitchFamily="2" charset="-122"/>
              </a:rPr>
              <a:t> </a:t>
            </a:r>
          </a:p>
        </p:txBody>
      </p:sp>
      <p:sp>
        <p:nvSpPr>
          <p:cNvPr id="2" name="灯片编号占位符 1">
            <a:extLst>
              <a:ext uri="{FF2B5EF4-FFF2-40B4-BE49-F238E27FC236}">
                <a16:creationId xmlns:a16="http://schemas.microsoft.com/office/drawing/2014/main" id="{E85352EC-F701-4FE0-AA79-766928AA96CF}"/>
              </a:ext>
            </a:extLst>
          </p:cNvPr>
          <p:cNvSpPr>
            <a:spLocks noGrp="1"/>
          </p:cNvSpPr>
          <p:nvPr>
            <p:ph type="sldNum" sz="quarter" idx="12"/>
          </p:nvPr>
        </p:nvSpPr>
        <p:spPr/>
        <p:txBody>
          <a:bodyPr/>
          <a:lstStyle/>
          <a:p>
            <a:fld id="{47C9E101-E51D-431E-84FA-C029B8655B60}" type="slidenum">
              <a:rPr lang="zh-CN" altLang="en-US" smtClean="0"/>
              <a:pPr/>
              <a:t>52</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328987"/>
                                        </p:tgtEl>
                                        <p:attrNameLst>
                                          <p:attrName>style.visibility</p:attrName>
                                        </p:attrNameLst>
                                      </p:cBhvr>
                                      <p:to>
                                        <p:strVal val="visible"/>
                                      </p:to>
                                    </p:set>
                                    <p:anim calcmode="lin" valueType="num">
                                      <p:cBhvr additive="base">
                                        <p:cTn id="7" dur="500" fill="hold"/>
                                        <p:tgtEl>
                                          <p:spTgt spid="328987"/>
                                        </p:tgtEl>
                                        <p:attrNameLst>
                                          <p:attrName>ppt_x</p:attrName>
                                        </p:attrNameLst>
                                      </p:cBhvr>
                                      <p:tavLst>
                                        <p:tav tm="0">
                                          <p:val>
                                            <p:strVal val="1+#ppt_w/2"/>
                                          </p:val>
                                        </p:tav>
                                        <p:tav tm="100000">
                                          <p:val>
                                            <p:strVal val="#ppt_x"/>
                                          </p:val>
                                        </p:tav>
                                      </p:tavLst>
                                    </p:anim>
                                    <p:anim calcmode="lin" valueType="num">
                                      <p:cBhvr additive="base">
                                        <p:cTn id="8" dur="500" fill="hold"/>
                                        <p:tgtEl>
                                          <p:spTgt spid="3289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334849">
            <a:extLst>
              <a:ext uri="{FF2B5EF4-FFF2-40B4-BE49-F238E27FC236}">
                <a16:creationId xmlns:a16="http://schemas.microsoft.com/office/drawing/2014/main" id="{EC6992E4-8B0B-499C-8950-6B3FE06E38C8}"/>
              </a:ext>
            </a:extLst>
          </p:cNvPr>
          <p:cNvSpPr>
            <a:spLocks noGrp="1" noChangeArrowheads="1"/>
          </p:cNvSpPr>
          <p:nvPr>
            <p:ph type="title"/>
          </p:nvPr>
        </p:nvSpPr>
        <p:spPr/>
        <p:txBody>
          <a:bodyPr/>
          <a:lstStyle/>
          <a:p>
            <a:r>
              <a:rPr lang="en-US" altLang="zh-CN"/>
              <a:t>2. </a:t>
            </a:r>
            <a:r>
              <a:rPr lang="zh-CN" altLang="en-US"/>
              <a:t>差（</a:t>
            </a:r>
            <a:r>
              <a:rPr lang="en-US" altLang="zh-CN"/>
              <a:t>Difference</a:t>
            </a:r>
            <a:r>
              <a:rPr lang="zh-CN" altLang="en-US"/>
              <a:t>）</a:t>
            </a:r>
          </a:p>
        </p:txBody>
      </p:sp>
      <p:sp>
        <p:nvSpPr>
          <p:cNvPr id="24579" name="文本占位符 334850">
            <a:extLst>
              <a:ext uri="{FF2B5EF4-FFF2-40B4-BE49-F238E27FC236}">
                <a16:creationId xmlns:a16="http://schemas.microsoft.com/office/drawing/2014/main" id="{BEF89A37-0A6C-4048-9F19-9C24D85384F2}"/>
              </a:ext>
            </a:extLst>
          </p:cNvPr>
          <p:cNvSpPr>
            <a:spLocks noGrp="1" noChangeArrowheads="1"/>
          </p:cNvSpPr>
          <p:nvPr>
            <p:ph type="body" idx="1"/>
          </p:nvPr>
        </p:nvSpPr>
        <p:spPr/>
        <p:txBody>
          <a:bodyPr/>
          <a:lstStyle/>
          <a:p>
            <a:r>
              <a:rPr lang="en-US" altLang="zh-CN" i="1" dirty="0"/>
              <a:t>R</a:t>
            </a:r>
            <a:r>
              <a:rPr lang="zh-CN" altLang="en-US" dirty="0"/>
              <a:t>和</a:t>
            </a:r>
            <a:r>
              <a:rPr lang="en-US" altLang="zh-CN" i="1" dirty="0"/>
              <a:t>S</a:t>
            </a:r>
          </a:p>
          <a:p>
            <a:pPr lvl="1"/>
            <a:r>
              <a:rPr lang="zh-CN" altLang="en-US" dirty="0"/>
              <a:t>具有相同的目</a:t>
            </a:r>
            <a:r>
              <a:rPr lang="en-US" altLang="zh-CN" i="1" dirty="0"/>
              <a:t>n</a:t>
            </a:r>
          </a:p>
          <a:p>
            <a:pPr lvl="1"/>
            <a:r>
              <a:rPr lang="zh-CN" altLang="en-US" dirty="0"/>
              <a:t>相应的属性取自同一个域</a:t>
            </a:r>
          </a:p>
          <a:p>
            <a:endParaRPr lang="zh-CN" altLang="en-US" dirty="0"/>
          </a:p>
          <a:p>
            <a:r>
              <a:rPr lang="en-US" altLang="zh-CN" i="1" dirty="0"/>
              <a:t>R</a:t>
            </a:r>
            <a:r>
              <a:rPr lang="en-US" altLang="zh-CN" dirty="0"/>
              <a:t> - </a:t>
            </a:r>
            <a:r>
              <a:rPr lang="en-US" altLang="zh-CN" i="1" dirty="0"/>
              <a:t>S</a:t>
            </a:r>
            <a:r>
              <a:rPr lang="en-US" altLang="zh-CN" dirty="0"/>
              <a:t> </a:t>
            </a:r>
          </a:p>
          <a:p>
            <a:pPr lvl="1"/>
            <a:r>
              <a:rPr lang="zh-CN" altLang="en-US" dirty="0"/>
              <a:t>仍为</a:t>
            </a:r>
            <a:r>
              <a:rPr lang="en-US" altLang="zh-CN" i="1" dirty="0"/>
              <a:t>n</a:t>
            </a:r>
            <a:r>
              <a:rPr lang="zh-CN" altLang="en-US" dirty="0"/>
              <a:t>目关系，由属于</a:t>
            </a:r>
            <a:r>
              <a:rPr lang="en-US" altLang="zh-CN" i="1" dirty="0"/>
              <a:t>R</a:t>
            </a:r>
            <a:r>
              <a:rPr lang="zh-CN" altLang="en-US" dirty="0"/>
              <a:t>而不属于</a:t>
            </a:r>
            <a:r>
              <a:rPr lang="en-US" altLang="zh-CN" i="1" dirty="0"/>
              <a:t>S</a:t>
            </a:r>
            <a:r>
              <a:rPr lang="zh-CN" altLang="en-US" dirty="0"/>
              <a:t>的所有元组组成</a:t>
            </a:r>
          </a:p>
          <a:p>
            <a:pPr marL="0" indent="0">
              <a:buNone/>
            </a:pPr>
            <a:r>
              <a:rPr lang="zh-CN" altLang="en-US" dirty="0"/>
              <a:t>        </a:t>
            </a:r>
            <a:r>
              <a:rPr lang="zh-CN" altLang="en-US" sz="2000" dirty="0">
                <a:latin typeface="Verdana" panose="020B0604030504040204" pitchFamily="34" charset="0"/>
              </a:rPr>
              <a:t> </a:t>
            </a:r>
            <a:r>
              <a:rPr lang="en-US" altLang="zh-CN" sz="2000" i="1" dirty="0"/>
              <a:t>R</a:t>
            </a:r>
            <a:r>
              <a:rPr lang="en-US" altLang="zh-CN" sz="2000" dirty="0"/>
              <a:t>-</a:t>
            </a:r>
            <a:r>
              <a:rPr lang="en-US" altLang="zh-CN" sz="2000" i="1" dirty="0"/>
              <a:t>S</a:t>
            </a:r>
            <a:r>
              <a:rPr lang="en-US" altLang="zh-CN" sz="2000" dirty="0"/>
              <a:t> = { </a:t>
            </a:r>
            <a:r>
              <a:rPr lang="en-US" altLang="zh-CN" sz="2000" i="1" dirty="0" err="1"/>
              <a:t>t</a:t>
            </a:r>
            <a:r>
              <a:rPr lang="en-US" altLang="zh-CN" sz="2000" dirty="0" err="1"/>
              <a:t>|</a:t>
            </a:r>
            <a:r>
              <a:rPr lang="en-US" altLang="zh-CN" sz="2000" i="1" dirty="0" err="1"/>
              <a:t>t</a:t>
            </a:r>
            <a:r>
              <a:rPr lang="en-US" altLang="zh-CN" sz="2000" dirty="0" err="1">
                <a:sym typeface="Symbol" panose="05050102010706020507" pitchFamily="18" charset="2"/>
              </a:rPr>
              <a:t></a:t>
            </a:r>
            <a:r>
              <a:rPr lang="en-US" altLang="zh-CN" sz="2000" i="1" dirty="0" err="1"/>
              <a:t>R</a:t>
            </a:r>
            <a:r>
              <a:rPr lang="en-US" altLang="zh-CN" sz="2000" dirty="0" err="1">
                <a:solidFill>
                  <a:srgbClr val="0033CC"/>
                </a:solidFill>
              </a:rPr>
              <a:t>∧</a:t>
            </a:r>
            <a:r>
              <a:rPr lang="en-US" altLang="zh-CN" sz="2000" i="1" dirty="0" err="1"/>
              <a:t>t</a:t>
            </a:r>
            <a:r>
              <a:rPr lang="en-US" altLang="zh-CN" sz="2000" dirty="0" err="1">
                <a:sym typeface="Symbol" panose="05050102010706020507" pitchFamily="18" charset="2"/>
              </a:rPr>
              <a:t></a:t>
            </a:r>
            <a:r>
              <a:rPr lang="en-US" altLang="zh-CN" sz="2000" i="1" dirty="0" err="1"/>
              <a:t>S</a:t>
            </a:r>
            <a:r>
              <a:rPr lang="en-US" altLang="zh-CN" sz="2000" dirty="0"/>
              <a:t> }</a:t>
            </a:r>
            <a:endParaRPr lang="en-US" altLang="zh-CN" dirty="0"/>
          </a:p>
        </p:txBody>
      </p:sp>
      <p:sp>
        <p:nvSpPr>
          <p:cNvPr id="2" name="灯片编号占位符 1">
            <a:extLst>
              <a:ext uri="{FF2B5EF4-FFF2-40B4-BE49-F238E27FC236}">
                <a16:creationId xmlns:a16="http://schemas.microsoft.com/office/drawing/2014/main" id="{A581E983-5772-479A-8FE7-BB588B8F67AD}"/>
              </a:ext>
            </a:extLst>
          </p:cNvPr>
          <p:cNvSpPr>
            <a:spLocks noGrp="1"/>
          </p:cNvSpPr>
          <p:nvPr>
            <p:ph type="sldNum" sz="quarter" idx="12"/>
          </p:nvPr>
        </p:nvSpPr>
        <p:spPr/>
        <p:txBody>
          <a:bodyPr/>
          <a:lstStyle/>
          <a:p>
            <a:fld id="{47C9E101-E51D-431E-84FA-C029B8655B60}" type="slidenum">
              <a:rPr lang="zh-CN" altLang="en-US" smtClean="0"/>
              <a:pPr/>
              <a:t>53</a:t>
            </a:fld>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78858D9F-07B9-43A1-9A86-176CD3677B00}"/>
              </a:ext>
            </a:extLst>
          </p:cNvPr>
          <p:cNvSpPr>
            <a:spLocks noGrp="1" noChangeArrowheads="1"/>
          </p:cNvSpPr>
          <p:nvPr>
            <p:ph type="title"/>
          </p:nvPr>
        </p:nvSpPr>
        <p:spPr/>
        <p:txBody>
          <a:bodyPr/>
          <a:lstStyle/>
          <a:p>
            <a:pPr eaLnBrk="1" hangingPunct="1"/>
            <a:r>
              <a:rPr lang="zh-CN" altLang="en-US"/>
              <a:t>差</a:t>
            </a:r>
            <a:r>
              <a:rPr lang="en-US" altLang="zh-CN"/>
              <a:t>(</a:t>
            </a:r>
            <a:r>
              <a:rPr lang="zh-CN" altLang="en-US"/>
              <a:t>续</a:t>
            </a:r>
            <a:r>
              <a:rPr lang="en-US" altLang="zh-CN"/>
              <a:t>)</a:t>
            </a:r>
          </a:p>
        </p:txBody>
      </p:sp>
      <p:graphicFrame>
        <p:nvGraphicFramePr>
          <p:cNvPr id="332884" name="Group 84">
            <a:extLst>
              <a:ext uri="{FF2B5EF4-FFF2-40B4-BE49-F238E27FC236}">
                <a16:creationId xmlns:a16="http://schemas.microsoft.com/office/drawing/2014/main" id="{7B4860B3-5B27-41C9-A421-AEBE8377DE0F}"/>
              </a:ext>
            </a:extLst>
          </p:cNvPr>
          <p:cNvGraphicFramePr>
            <a:graphicFrameLocks noGrp="1"/>
          </p:cNvGraphicFramePr>
          <p:nvPr>
            <p:extLst/>
          </p:nvPr>
        </p:nvGraphicFramePr>
        <p:xfrm>
          <a:off x="7294563" y="3084513"/>
          <a:ext cx="2743200" cy="1038226"/>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p>
                  </a:txBody>
                  <a:tcPr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a:t>
                      </a:r>
                    </a:p>
                  </a:txBody>
                  <a:tcPr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b1</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c1</a:t>
                      </a:r>
                    </a:p>
                  </a:txBody>
                  <a:tcPr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2723" name="Rectangle 77">
            <a:extLst>
              <a:ext uri="{FF2B5EF4-FFF2-40B4-BE49-F238E27FC236}">
                <a16:creationId xmlns:a16="http://schemas.microsoft.com/office/drawing/2014/main" id="{361690FF-1198-41FA-93E7-BF2485FCC527}"/>
              </a:ext>
            </a:extLst>
          </p:cNvPr>
          <p:cNvSpPr>
            <a:spLocks noChangeArrowheads="1"/>
          </p:cNvSpPr>
          <p:nvPr/>
        </p:nvSpPr>
        <p:spPr bwMode="auto">
          <a:xfrm>
            <a:off x="6383338" y="3160713"/>
            <a:ext cx="838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b="1" i="1">
                <a:solidFill>
                  <a:srgbClr val="000000"/>
                </a:solidFill>
                <a:ea typeface="宋体" panose="02010600030101010101" pitchFamily="2" charset="-122"/>
              </a:rPr>
              <a:t>R</a:t>
            </a:r>
            <a:r>
              <a:rPr kumimoji="1" lang="en-US" altLang="zh-CN" b="1">
                <a:solidFill>
                  <a:srgbClr val="000000"/>
                </a:solidFill>
                <a:ea typeface="宋体" panose="02010600030101010101" pitchFamily="2" charset="-122"/>
              </a:rPr>
              <a:t>-</a:t>
            </a:r>
            <a:r>
              <a:rPr kumimoji="1" lang="en-US" altLang="zh-CN" b="1" i="1">
                <a:solidFill>
                  <a:srgbClr val="000000"/>
                </a:solidFill>
                <a:ea typeface="宋体" panose="02010600030101010101" pitchFamily="2" charset="-122"/>
              </a:rPr>
              <a:t>S</a:t>
            </a:r>
            <a:r>
              <a:rPr kumimoji="1" lang="en-US" altLang="zh-CN" b="1">
                <a:solidFill>
                  <a:srgbClr val="000000"/>
                </a:solidFill>
                <a:ea typeface="宋体" panose="02010600030101010101" pitchFamily="2" charset="-122"/>
              </a:rPr>
              <a:t> </a:t>
            </a:r>
          </a:p>
        </p:txBody>
      </p:sp>
      <p:graphicFrame>
        <p:nvGraphicFramePr>
          <p:cNvPr id="11" name="Group 284">
            <a:extLst>
              <a:ext uri="{FF2B5EF4-FFF2-40B4-BE49-F238E27FC236}">
                <a16:creationId xmlns:a16="http://schemas.microsoft.com/office/drawing/2014/main" id="{E91171DD-C467-4CDD-95AE-6909958E4AA4}"/>
              </a:ext>
            </a:extLst>
          </p:cNvPr>
          <p:cNvGraphicFramePr>
            <a:graphicFrameLocks noGrp="1"/>
          </p:cNvGraphicFramePr>
          <p:nvPr>
            <p:extLst/>
          </p:nvPr>
        </p:nvGraphicFramePr>
        <p:xfrm>
          <a:off x="2700338" y="1268413"/>
          <a:ext cx="2743200" cy="2076452"/>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p>
                  </a:txBody>
                  <a:tcPr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a:t>
                      </a:r>
                    </a:p>
                  </a:txBody>
                  <a:tcPr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b1</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c1</a:t>
                      </a:r>
                    </a:p>
                  </a:txBody>
                  <a:tcPr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c2</a:t>
                      </a:r>
                    </a:p>
                  </a:txBody>
                  <a:tcPr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a2</a:t>
                      </a:r>
                    </a:p>
                  </a:txBody>
                  <a:tcPr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c1</a:t>
                      </a:r>
                    </a:p>
                  </a:txBody>
                  <a:tcPr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2" name="Group 282">
            <a:extLst>
              <a:ext uri="{FF2B5EF4-FFF2-40B4-BE49-F238E27FC236}">
                <a16:creationId xmlns:a16="http://schemas.microsoft.com/office/drawing/2014/main" id="{32720DF8-79D6-4E45-83A4-9FC75E79F5F6}"/>
              </a:ext>
            </a:extLst>
          </p:cNvPr>
          <p:cNvGraphicFramePr>
            <a:graphicFrameLocks noGrp="1"/>
          </p:cNvGraphicFramePr>
          <p:nvPr>
            <p:extLst/>
          </p:nvPr>
        </p:nvGraphicFramePr>
        <p:xfrm>
          <a:off x="2711450" y="3716338"/>
          <a:ext cx="2732088" cy="2076452"/>
        </p:xfrm>
        <a:graphic>
          <a:graphicData uri="http://schemas.openxmlformats.org/drawingml/2006/table">
            <a:tbl>
              <a:tblPr/>
              <a:tblGrid>
                <a:gridCol w="911225">
                  <a:extLst>
                    <a:ext uri="{9D8B030D-6E8A-4147-A177-3AD203B41FA5}">
                      <a16:colId xmlns:a16="http://schemas.microsoft.com/office/drawing/2014/main" val="20000"/>
                    </a:ext>
                  </a:extLst>
                </a:gridCol>
                <a:gridCol w="909638">
                  <a:extLst>
                    <a:ext uri="{9D8B030D-6E8A-4147-A177-3AD203B41FA5}">
                      <a16:colId xmlns:a16="http://schemas.microsoft.com/office/drawing/2014/main" val="20001"/>
                    </a:ext>
                  </a:extLst>
                </a:gridCol>
                <a:gridCol w="911225">
                  <a:extLst>
                    <a:ext uri="{9D8B030D-6E8A-4147-A177-3AD203B41FA5}">
                      <a16:colId xmlns:a16="http://schemas.microsoft.com/office/drawing/2014/main" val="20002"/>
                    </a:ext>
                  </a:extLst>
                </a:gridCol>
              </a:tblGrid>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p>
                  </a:txBody>
                  <a:tcPr marL="91423" marR="91423"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a:t>
                      </a:r>
                    </a:p>
                  </a:txBody>
                  <a:tcPr marL="91423" marR="91423"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a:t>
                      </a:r>
                    </a:p>
                  </a:txBody>
                  <a:tcPr marL="91423" marR="91423"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L="91423" marR="91423"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L="91423" marR="91423"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c2</a:t>
                      </a:r>
                    </a:p>
                  </a:txBody>
                  <a:tcPr marL="91423" marR="91423"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L="91423" marR="91423"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b3</a:t>
                      </a:r>
                    </a:p>
                  </a:txBody>
                  <a:tcPr marL="91423" marR="91423"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c2</a:t>
                      </a:r>
                    </a:p>
                  </a:txBody>
                  <a:tcPr marL="91423" marR="91423"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a2</a:t>
                      </a:r>
                    </a:p>
                  </a:txBody>
                  <a:tcPr marL="91423" marR="91423"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L="91423" marR="91423"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c1</a:t>
                      </a:r>
                    </a:p>
                  </a:txBody>
                  <a:tcPr marL="91423" marR="91423"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2773" name="Rectangle 251">
            <a:extLst>
              <a:ext uri="{FF2B5EF4-FFF2-40B4-BE49-F238E27FC236}">
                <a16:creationId xmlns:a16="http://schemas.microsoft.com/office/drawing/2014/main" id="{7F4E6D41-B5D8-4003-813D-1BB551FF367D}"/>
              </a:ext>
            </a:extLst>
          </p:cNvPr>
          <p:cNvSpPr>
            <a:spLocks noChangeArrowheads="1"/>
          </p:cNvSpPr>
          <p:nvPr/>
        </p:nvSpPr>
        <p:spPr bwMode="auto">
          <a:xfrm>
            <a:off x="2208213" y="1871663"/>
            <a:ext cx="304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b="1" i="1">
                <a:solidFill>
                  <a:srgbClr val="000000"/>
                </a:solidFill>
                <a:ea typeface="宋体" panose="02010600030101010101" pitchFamily="2" charset="-122"/>
              </a:rPr>
              <a:t>R</a:t>
            </a:r>
          </a:p>
        </p:txBody>
      </p:sp>
      <p:sp>
        <p:nvSpPr>
          <p:cNvPr id="72774" name="Rectangle 252">
            <a:extLst>
              <a:ext uri="{FF2B5EF4-FFF2-40B4-BE49-F238E27FC236}">
                <a16:creationId xmlns:a16="http://schemas.microsoft.com/office/drawing/2014/main" id="{1CC8409C-B42D-4E71-95E2-C2DF55EA2292}"/>
              </a:ext>
            </a:extLst>
          </p:cNvPr>
          <p:cNvSpPr>
            <a:spLocks noChangeArrowheads="1"/>
          </p:cNvSpPr>
          <p:nvPr/>
        </p:nvSpPr>
        <p:spPr bwMode="auto">
          <a:xfrm>
            <a:off x="2243138" y="4321175"/>
            <a:ext cx="304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b="1" i="1">
                <a:solidFill>
                  <a:srgbClr val="000000"/>
                </a:solidFill>
                <a:ea typeface="宋体" panose="02010600030101010101" pitchFamily="2" charset="-122"/>
              </a:rPr>
              <a:t>S</a:t>
            </a:r>
          </a:p>
        </p:txBody>
      </p:sp>
      <p:sp>
        <p:nvSpPr>
          <p:cNvPr id="2" name="灯片编号占位符 1">
            <a:extLst>
              <a:ext uri="{FF2B5EF4-FFF2-40B4-BE49-F238E27FC236}">
                <a16:creationId xmlns:a16="http://schemas.microsoft.com/office/drawing/2014/main" id="{36614D9F-9CE2-4FAB-96AE-34C03615A88D}"/>
              </a:ext>
            </a:extLst>
          </p:cNvPr>
          <p:cNvSpPr>
            <a:spLocks noGrp="1"/>
          </p:cNvSpPr>
          <p:nvPr>
            <p:ph type="sldNum" sz="quarter" idx="12"/>
          </p:nvPr>
        </p:nvSpPr>
        <p:spPr/>
        <p:txBody>
          <a:bodyPr/>
          <a:lstStyle/>
          <a:p>
            <a:fld id="{47C9E101-E51D-431E-84FA-C029B8655B60}" type="slidenum">
              <a:rPr lang="zh-CN" altLang="en-US" smtClean="0"/>
              <a:pPr/>
              <a:t>54</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32884"/>
                                        </p:tgtEl>
                                        <p:attrNameLst>
                                          <p:attrName>style.visibility</p:attrName>
                                        </p:attrNameLst>
                                      </p:cBhvr>
                                      <p:to>
                                        <p:strVal val="visible"/>
                                      </p:to>
                                    </p:set>
                                    <p:anim calcmode="lin" valueType="num">
                                      <p:cBhvr additive="base">
                                        <p:cTn id="7" dur="500" fill="hold"/>
                                        <p:tgtEl>
                                          <p:spTgt spid="332884"/>
                                        </p:tgtEl>
                                        <p:attrNameLst>
                                          <p:attrName>ppt_x</p:attrName>
                                        </p:attrNameLst>
                                      </p:cBhvr>
                                      <p:tavLst>
                                        <p:tav tm="0">
                                          <p:val>
                                            <p:strVal val="#ppt_x"/>
                                          </p:val>
                                        </p:tav>
                                        <p:tav tm="100000">
                                          <p:val>
                                            <p:strVal val="#ppt_x"/>
                                          </p:val>
                                        </p:tav>
                                      </p:tavLst>
                                    </p:anim>
                                    <p:anim calcmode="lin" valueType="num">
                                      <p:cBhvr additive="base">
                                        <p:cTn id="8" dur="500" fill="hold"/>
                                        <p:tgtEl>
                                          <p:spTgt spid="3328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335873">
            <a:extLst>
              <a:ext uri="{FF2B5EF4-FFF2-40B4-BE49-F238E27FC236}">
                <a16:creationId xmlns:a16="http://schemas.microsoft.com/office/drawing/2014/main" id="{4F21BA44-AC05-45FA-B0D1-8093165EFE1B}"/>
              </a:ext>
            </a:extLst>
          </p:cNvPr>
          <p:cNvSpPr>
            <a:spLocks noGrp="1" noChangeArrowheads="1"/>
          </p:cNvSpPr>
          <p:nvPr>
            <p:ph type="title"/>
          </p:nvPr>
        </p:nvSpPr>
        <p:spPr/>
        <p:txBody>
          <a:bodyPr/>
          <a:lstStyle/>
          <a:p>
            <a:r>
              <a:rPr lang="en-US" altLang="zh-CN"/>
              <a:t>3. </a:t>
            </a:r>
            <a:r>
              <a:rPr lang="zh-CN" altLang="en-US"/>
              <a:t>交（</a:t>
            </a:r>
            <a:r>
              <a:rPr lang="en-US" altLang="zh-CN"/>
              <a:t>Intersection</a:t>
            </a:r>
            <a:r>
              <a:rPr lang="zh-CN" altLang="en-US"/>
              <a:t>）</a:t>
            </a:r>
          </a:p>
        </p:txBody>
      </p:sp>
      <p:sp>
        <p:nvSpPr>
          <p:cNvPr id="26627" name="文本占位符 335874">
            <a:extLst>
              <a:ext uri="{FF2B5EF4-FFF2-40B4-BE49-F238E27FC236}">
                <a16:creationId xmlns:a16="http://schemas.microsoft.com/office/drawing/2014/main" id="{A0956FE5-C3B8-4B32-8BE1-D076944AFE80}"/>
              </a:ext>
            </a:extLst>
          </p:cNvPr>
          <p:cNvSpPr>
            <a:spLocks noGrp="1" noChangeArrowheads="1"/>
          </p:cNvSpPr>
          <p:nvPr>
            <p:ph type="body" idx="1"/>
          </p:nvPr>
        </p:nvSpPr>
        <p:spPr/>
        <p:txBody>
          <a:bodyPr/>
          <a:lstStyle/>
          <a:p>
            <a:r>
              <a:rPr lang="en-US" altLang="zh-CN" i="1" dirty="0"/>
              <a:t>R</a:t>
            </a:r>
            <a:r>
              <a:rPr lang="zh-CN" altLang="en-US" dirty="0"/>
              <a:t>和</a:t>
            </a:r>
            <a:r>
              <a:rPr lang="en-US" altLang="zh-CN" i="1" dirty="0"/>
              <a:t>S</a:t>
            </a:r>
          </a:p>
          <a:p>
            <a:pPr lvl="1"/>
            <a:r>
              <a:rPr lang="zh-CN" altLang="en-US" dirty="0"/>
              <a:t>具有相同的目</a:t>
            </a:r>
            <a:r>
              <a:rPr lang="en-US" altLang="zh-CN" i="1" dirty="0"/>
              <a:t>n</a:t>
            </a:r>
          </a:p>
          <a:p>
            <a:pPr lvl="1"/>
            <a:r>
              <a:rPr lang="zh-CN" altLang="en-US" dirty="0"/>
              <a:t>相应的属性取自同一个域</a:t>
            </a:r>
          </a:p>
          <a:p>
            <a:endParaRPr lang="zh-CN" altLang="en-US" dirty="0"/>
          </a:p>
          <a:p>
            <a:r>
              <a:rPr lang="en-US" altLang="zh-CN" i="1" dirty="0"/>
              <a:t>R</a:t>
            </a:r>
            <a:r>
              <a:rPr lang="en-US" altLang="zh-CN" dirty="0"/>
              <a:t>∩</a:t>
            </a:r>
            <a:r>
              <a:rPr lang="en-US" altLang="zh-CN" i="1" dirty="0"/>
              <a:t>S</a:t>
            </a:r>
          </a:p>
          <a:p>
            <a:pPr lvl="1"/>
            <a:r>
              <a:rPr lang="zh-CN" altLang="en-US" dirty="0"/>
              <a:t>仍为</a:t>
            </a:r>
            <a:r>
              <a:rPr lang="en-US" altLang="zh-CN" i="1" dirty="0"/>
              <a:t>n</a:t>
            </a:r>
            <a:r>
              <a:rPr lang="zh-CN" altLang="en-US" dirty="0"/>
              <a:t>目关系，由既属于</a:t>
            </a:r>
            <a:r>
              <a:rPr lang="en-US" altLang="zh-CN" i="1" dirty="0"/>
              <a:t>R</a:t>
            </a:r>
            <a:r>
              <a:rPr lang="zh-CN" altLang="en-US" dirty="0"/>
              <a:t>又属于</a:t>
            </a:r>
            <a:r>
              <a:rPr lang="en-US" altLang="zh-CN" i="1" dirty="0"/>
              <a:t>S</a:t>
            </a:r>
            <a:r>
              <a:rPr lang="zh-CN" altLang="en-US" dirty="0"/>
              <a:t>的元组组成</a:t>
            </a:r>
          </a:p>
          <a:p>
            <a:pPr lvl="1" algn="just">
              <a:buNone/>
            </a:pPr>
            <a:r>
              <a:rPr lang="zh-CN" altLang="en-US" dirty="0"/>
              <a:t>		 </a:t>
            </a:r>
            <a:r>
              <a:rPr lang="en-US" altLang="zh-CN" i="1" dirty="0"/>
              <a:t>R</a:t>
            </a:r>
            <a:r>
              <a:rPr lang="en-US" altLang="zh-CN" dirty="0"/>
              <a:t>∩</a:t>
            </a:r>
            <a:r>
              <a:rPr lang="en-US" altLang="zh-CN" i="1" dirty="0"/>
              <a:t>S</a:t>
            </a:r>
            <a:r>
              <a:rPr lang="en-US" altLang="zh-CN" dirty="0"/>
              <a:t> = { </a:t>
            </a:r>
            <a:r>
              <a:rPr lang="en-US" altLang="zh-CN" i="1" dirty="0" err="1"/>
              <a:t>t</a:t>
            </a:r>
            <a:r>
              <a:rPr lang="en-US" altLang="zh-CN" dirty="0" err="1"/>
              <a:t>|</a:t>
            </a:r>
            <a:r>
              <a:rPr lang="en-US" altLang="zh-CN" i="1" dirty="0" err="1"/>
              <a:t>t</a:t>
            </a:r>
            <a:r>
              <a:rPr lang="en-US" altLang="zh-CN" i="1" dirty="0"/>
              <a:t> </a:t>
            </a:r>
            <a:r>
              <a:rPr lang="en-US" altLang="zh-CN" dirty="0">
                <a:sym typeface="Symbol" panose="05050102010706020507" pitchFamily="18" charset="2"/>
              </a:rPr>
              <a:t></a:t>
            </a:r>
            <a:r>
              <a:rPr lang="en-US" altLang="zh-CN" dirty="0"/>
              <a:t> </a:t>
            </a:r>
            <a:r>
              <a:rPr lang="en-US" altLang="zh-CN" i="1" dirty="0" err="1"/>
              <a:t>R</a:t>
            </a:r>
            <a:r>
              <a:rPr lang="en-US" altLang="zh-CN" dirty="0" err="1">
                <a:solidFill>
                  <a:srgbClr val="0033CC"/>
                </a:solidFill>
              </a:rPr>
              <a:t>∧</a:t>
            </a:r>
            <a:r>
              <a:rPr lang="en-US" altLang="zh-CN" i="1" dirty="0" err="1"/>
              <a:t>t</a:t>
            </a:r>
            <a:r>
              <a:rPr lang="en-US" altLang="zh-CN" i="1" dirty="0"/>
              <a:t> </a:t>
            </a:r>
            <a:r>
              <a:rPr lang="en-US" altLang="zh-CN" dirty="0">
                <a:sym typeface="Symbol" panose="05050102010706020507" pitchFamily="18" charset="2"/>
              </a:rPr>
              <a:t></a:t>
            </a:r>
            <a:r>
              <a:rPr lang="en-US" altLang="zh-CN" i="1" dirty="0"/>
              <a:t>S </a:t>
            </a:r>
            <a:r>
              <a:rPr lang="en-US" altLang="zh-CN" dirty="0"/>
              <a:t>}</a:t>
            </a:r>
          </a:p>
          <a:p>
            <a:pPr lvl="1" algn="just">
              <a:buNone/>
            </a:pPr>
            <a:r>
              <a:rPr lang="en-US" altLang="zh-CN" i="1" dirty="0">
                <a:solidFill>
                  <a:srgbClr val="0033CC"/>
                </a:solidFill>
              </a:rPr>
              <a:t>       R</a:t>
            </a:r>
            <a:r>
              <a:rPr lang="en-US" altLang="zh-CN" dirty="0">
                <a:solidFill>
                  <a:srgbClr val="0033CC"/>
                </a:solidFill>
              </a:rPr>
              <a:t>∩</a:t>
            </a:r>
            <a:r>
              <a:rPr lang="en-US" altLang="zh-CN" i="1" dirty="0">
                <a:solidFill>
                  <a:srgbClr val="0033CC"/>
                </a:solidFill>
              </a:rPr>
              <a:t>S</a:t>
            </a:r>
            <a:r>
              <a:rPr lang="en-US" altLang="zh-CN" dirty="0">
                <a:solidFill>
                  <a:srgbClr val="0033CC"/>
                </a:solidFill>
              </a:rPr>
              <a:t> = </a:t>
            </a:r>
            <a:r>
              <a:rPr lang="en-US" altLang="zh-CN" i="1" dirty="0">
                <a:solidFill>
                  <a:srgbClr val="0033CC"/>
                </a:solidFill>
              </a:rPr>
              <a:t>R</a:t>
            </a:r>
            <a:r>
              <a:rPr lang="en-US" altLang="zh-CN" dirty="0">
                <a:solidFill>
                  <a:srgbClr val="0033CC"/>
                </a:solidFill>
              </a:rPr>
              <a:t>–(</a:t>
            </a:r>
            <a:r>
              <a:rPr lang="en-US" altLang="zh-CN" i="1" dirty="0">
                <a:solidFill>
                  <a:srgbClr val="0033CC"/>
                </a:solidFill>
              </a:rPr>
              <a:t>R</a:t>
            </a:r>
            <a:r>
              <a:rPr lang="en-US" altLang="zh-CN" dirty="0">
                <a:solidFill>
                  <a:srgbClr val="0033CC"/>
                </a:solidFill>
              </a:rPr>
              <a:t>-</a:t>
            </a:r>
            <a:r>
              <a:rPr lang="en-US" altLang="zh-CN" i="1" dirty="0">
                <a:solidFill>
                  <a:srgbClr val="0033CC"/>
                </a:solidFill>
              </a:rPr>
              <a:t>S</a:t>
            </a:r>
            <a:r>
              <a:rPr lang="en-US" altLang="zh-CN" dirty="0">
                <a:solidFill>
                  <a:srgbClr val="0033CC"/>
                </a:solidFill>
              </a:rPr>
              <a:t>)</a:t>
            </a:r>
            <a:endParaRPr lang="zh-CN" altLang="en-US" dirty="0">
              <a:solidFill>
                <a:srgbClr val="0033CC"/>
              </a:solidFill>
            </a:endParaRPr>
          </a:p>
        </p:txBody>
      </p:sp>
      <p:sp>
        <p:nvSpPr>
          <p:cNvPr id="2" name="灯片编号占位符 1">
            <a:extLst>
              <a:ext uri="{FF2B5EF4-FFF2-40B4-BE49-F238E27FC236}">
                <a16:creationId xmlns:a16="http://schemas.microsoft.com/office/drawing/2014/main" id="{C4997D84-F3EF-40A9-97E0-1C529D232FAE}"/>
              </a:ext>
            </a:extLst>
          </p:cNvPr>
          <p:cNvSpPr>
            <a:spLocks noGrp="1"/>
          </p:cNvSpPr>
          <p:nvPr>
            <p:ph type="sldNum" sz="quarter" idx="12"/>
          </p:nvPr>
        </p:nvSpPr>
        <p:spPr/>
        <p:txBody>
          <a:bodyPr/>
          <a:lstStyle/>
          <a:p>
            <a:fld id="{47C9E101-E51D-431E-84FA-C029B8655B60}" type="slidenum">
              <a:rPr lang="zh-CN" altLang="en-US" smtClean="0"/>
              <a:pPr/>
              <a:t>55</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2EE74704-B09E-41F2-B9EC-96F7CD6DD9E9}"/>
              </a:ext>
            </a:extLst>
          </p:cNvPr>
          <p:cNvSpPr>
            <a:spLocks noGrp="1" noChangeArrowheads="1"/>
          </p:cNvSpPr>
          <p:nvPr>
            <p:ph type="title"/>
          </p:nvPr>
        </p:nvSpPr>
        <p:spPr/>
        <p:txBody>
          <a:bodyPr/>
          <a:lstStyle/>
          <a:p>
            <a:pPr eaLnBrk="1" hangingPunct="1"/>
            <a:r>
              <a:rPr lang="zh-CN" altLang="en-US"/>
              <a:t>交 </a:t>
            </a:r>
            <a:r>
              <a:rPr lang="en-US" altLang="zh-CN"/>
              <a:t>(</a:t>
            </a:r>
            <a:r>
              <a:rPr lang="zh-CN" altLang="en-US"/>
              <a:t>续</a:t>
            </a:r>
            <a:r>
              <a:rPr lang="en-US" altLang="zh-CN"/>
              <a:t>)</a:t>
            </a:r>
          </a:p>
        </p:txBody>
      </p:sp>
      <p:graphicFrame>
        <p:nvGraphicFramePr>
          <p:cNvPr id="333910" name="Group 86">
            <a:extLst>
              <a:ext uri="{FF2B5EF4-FFF2-40B4-BE49-F238E27FC236}">
                <a16:creationId xmlns:a16="http://schemas.microsoft.com/office/drawing/2014/main" id="{D50016F8-00BD-4BCF-8B82-E1A8514764C0}"/>
              </a:ext>
            </a:extLst>
          </p:cNvPr>
          <p:cNvGraphicFramePr>
            <a:graphicFrameLocks noGrp="1"/>
          </p:cNvGraphicFramePr>
          <p:nvPr>
            <p:extLst/>
          </p:nvPr>
        </p:nvGraphicFramePr>
        <p:xfrm>
          <a:off x="7359650" y="2668588"/>
          <a:ext cx="2743200" cy="155421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518054">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p>
                  </a:txBody>
                  <a:tcPr marT="45675" marB="45675"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a:t>
                      </a:r>
                    </a:p>
                  </a:txBody>
                  <a:tcPr marT="45675" marB="456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a:t>
                      </a:r>
                    </a:p>
                  </a:txBody>
                  <a:tcPr marT="45675" marB="45675"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518054">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T="45675" marB="45675"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T="45675" marB="456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c2</a:t>
                      </a:r>
                    </a:p>
                  </a:txBody>
                  <a:tcPr marT="45675" marB="45675"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054">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a2</a:t>
                      </a:r>
                    </a:p>
                  </a:txBody>
                  <a:tcPr marT="45675" marB="45675"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T="45675" marB="456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c1</a:t>
                      </a:r>
                    </a:p>
                  </a:txBody>
                  <a:tcPr marT="45675" marB="45675"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4775" name="Rectangle 77">
            <a:extLst>
              <a:ext uri="{FF2B5EF4-FFF2-40B4-BE49-F238E27FC236}">
                <a16:creationId xmlns:a16="http://schemas.microsoft.com/office/drawing/2014/main" id="{0E1B1C13-8EF4-456F-9E6D-BF7D30C2D3CE}"/>
              </a:ext>
            </a:extLst>
          </p:cNvPr>
          <p:cNvSpPr>
            <a:spLocks noChangeArrowheads="1"/>
          </p:cNvSpPr>
          <p:nvPr/>
        </p:nvSpPr>
        <p:spPr bwMode="auto">
          <a:xfrm>
            <a:off x="6311900" y="3089275"/>
            <a:ext cx="838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b="1" i="1">
                <a:solidFill>
                  <a:srgbClr val="000000"/>
                </a:solidFill>
                <a:ea typeface="宋体" panose="02010600030101010101" pitchFamily="2" charset="-122"/>
              </a:rPr>
              <a:t>R </a:t>
            </a:r>
            <a:r>
              <a:rPr kumimoji="1" lang="en-US" altLang="zh-CN" b="1">
                <a:solidFill>
                  <a:srgbClr val="000000"/>
                </a:solidFill>
                <a:ea typeface="宋体" panose="02010600030101010101" pitchFamily="2" charset="-122"/>
              </a:rPr>
              <a:t>∩</a:t>
            </a:r>
            <a:r>
              <a:rPr kumimoji="1" lang="en-US" altLang="zh-CN" b="1" i="1">
                <a:solidFill>
                  <a:srgbClr val="000000"/>
                </a:solidFill>
                <a:ea typeface="宋体" panose="02010600030101010101" pitchFamily="2" charset="-122"/>
              </a:rPr>
              <a:t> S</a:t>
            </a:r>
            <a:r>
              <a:rPr kumimoji="1" lang="en-US" altLang="zh-CN">
                <a:solidFill>
                  <a:srgbClr val="000000"/>
                </a:solidFill>
                <a:ea typeface="宋体" panose="02010600030101010101" pitchFamily="2" charset="-122"/>
              </a:rPr>
              <a:t> </a:t>
            </a:r>
          </a:p>
        </p:txBody>
      </p:sp>
      <p:graphicFrame>
        <p:nvGraphicFramePr>
          <p:cNvPr id="11" name="Group 284">
            <a:extLst>
              <a:ext uri="{FF2B5EF4-FFF2-40B4-BE49-F238E27FC236}">
                <a16:creationId xmlns:a16="http://schemas.microsoft.com/office/drawing/2014/main" id="{644AB957-AEBF-4ADA-82C5-19E6B48187B7}"/>
              </a:ext>
            </a:extLst>
          </p:cNvPr>
          <p:cNvGraphicFramePr>
            <a:graphicFrameLocks noGrp="1"/>
          </p:cNvGraphicFramePr>
          <p:nvPr>
            <p:extLst/>
          </p:nvPr>
        </p:nvGraphicFramePr>
        <p:xfrm>
          <a:off x="2700338" y="1268413"/>
          <a:ext cx="2743200" cy="2076452"/>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p>
                  </a:txBody>
                  <a:tcPr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a:t>
                      </a:r>
                    </a:p>
                  </a:txBody>
                  <a:tcPr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b1</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c1</a:t>
                      </a:r>
                    </a:p>
                  </a:txBody>
                  <a:tcPr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c2</a:t>
                      </a:r>
                    </a:p>
                  </a:txBody>
                  <a:tcPr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a2</a:t>
                      </a:r>
                    </a:p>
                  </a:txBody>
                  <a:tcPr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c1</a:t>
                      </a:r>
                    </a:p>
                  </a:txBody>
                  <a:tcPr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2" name="Group 282">
            <a:extLst>
              <a:ext uri="{FF2B5EF4-FFF2-40B4-BE49-F238E27FC236}">
                <a16:creationId xmlns:a16="http://schemas.microsoft.com/office/drawing/2014/main" id="{7A577BE3-5667-4C3F-A028-A3F133CDF029}"/>
              </a:ext>
            </a:extLst>
          </p:cNvPr>
          <p:cNvGraphicFramePr>
            <a:graphicFrameLocks noGrp="1"/>
          </p:cNvGraphicFramePr>
          <p:nvPr>
            <p:extLst/>
          </p:nvPr>
        </p:nvGraphicFramePr>
        <p:xfrm>
          <a:off x="2711450" y="3716338"/>
          <a:ext cx="2732088" cy="2076452"/>
        </p:xfrm>
        <a:graphic>
          <a:graphicData uri="http://schemas.openxmlformats.org/drawingml/2006/table">
            <a:tbl>
              <a:tblPr/>
              <a:tblGrid>
                <a:gridCol w="911225">
                  <a:extLst>
                    <a:ext uri="{9D8B030D-6E8A-4147-A177-3AD203B41FA5}">
                      <a16:colId xmlns:a16="http://schemas.microsoft.com/office/drawing/2014/main" val="20000"/>
                    </a:ext>
                  </a:extLst>
                </a:gridCol>
                <a:gridCol w="909638">
                  <a:extLst>
                    <a:ext uri="{9D8B030D-6E8A-4147-A177-3AD203B41FA5}">
                      <a16:colId xmlns:a16="http://schemas.microsoft.com/office/drawing/2014/main" val="20001"/>
                    </a:ext>
                  </a:extLst>
                </a:gridCol>
                <a:gridCol w="911225">
                  <a:extLst>
                    <a:ext uri="{9D8B030D-6E8A-4147-A177-3AD203B41FA5}">
                      <a16:colId xmlns:a16="http://schemas.microsoft.com/office/drawing/2014/main" val="20002"/>
                    </a:ext>
                  </a:extLst>
                </a:gridCol>
              </a:tblGrid>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p>
                  </a:txBody>
                  <a:tcPr marL="91423" marR="91423"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a:t>
                      </a:r>
                    </a:p>
                  </a:txBody>
                  <a:tcPr marL="91423" marR="91423"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a:t>
                      </a:r>
                    </a:p>
                  </a:txBody>
                  <a:tcPr marL="91423" marR="91423"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L="91423" marR="91423"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L="91423" marR="91423"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c2</a:t>
                      </a:r>
                    </a:p>
                  </a:txBody>
                  <a:tcPr marL="91423" marR="91423"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a1</a:t>
                      </a:r>
                    </a:p>
                  </a:txBody>
                  <a:tcPr marL="91423" marR="91423"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b3</a:t>
                      </a:r>
                    </a:p>
                  </a:txBody>
                  <a:tcPr marL="91423" marR="91423"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c2</a:t>
                      </a:r>
                    </a:p>
                  </a:txBody>
                  <a:tcPr marL="91423" marR="91423"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13">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a2</a:t>
                      </a:r>
                    </a:p>
                  </a:txBody>
                  <a:tcPr marL="91423" marR="91423" marT="45734" marB="4573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b2</a:t>
                      </a:r>
                    </a:p>
                  </a:txBody>
                  <a:tcPr marL="91423" marR="91423"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800" b="0"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c1</a:t>
                      </a:r>
                    </a:p>
                  </a:txBody>
                  <a:tcPr marL="91423" marR="91423" marT="45734" marB="45734"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4825" name="Rectangle 251">
            <a:extLst>
              <a:ext uri="{FF2B5EF4-FFF2-40B4-BE49-F238E27FC236}">
                <a16:creationId xmlns:a16="http://schemas.microsoft.com/office/drawing/2014/main" id="{56B99A22-DBEB-4338-B91D-54EB4BD8180D}"/>
              </a:ext>
            </a:extLst>
          </p:cNvPr>
          <p:cNvSpPr>
            <a:spLocks noChangeArrowheads="1"/>
          </p:cNvSpPr>
          <p:nvPr/>
        </p:nvSpPr>
        <p:spPr bwMode="auto">
          <a:xfrm>
            <a:off x="2208213" y="1871663"/>
            <a:ext cx="304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b="1" i="1">
                <a:solidFill>
                  <a:srgbClr val="000000"/>
                </a:solidFill>
                <a:ea typeface="宋体" panose="02010600030101010101" pitchFamily="2" charset="-122"/>
              </a:rPr>
              <a:t>R</a:t>
            </a:r>
          </a:p>
        </p:txBody>
      </p:sp>
      <p:sp>
        <p:nvSpPr>
          <p:cNvPr id="74826" name="Rectangle 252">
            <a:extLst>
              <a:ext uri="{FF2B5EF4-FFF2-40B4-BE49-F238E27FC236}">
                <a16:creationId xmlns:a16="http://schemas.microsoft.com/office/drawing/2014/main" id="{003CCDFA-30AA-4AF4-85E0-F7929B04EAF0}"/>
              </a:ext>
            </a:extLst>
          </p:cNvPr>
          <p:cNvSpPr>
            <a:spLocks noChangeArrowheads="1"/>
          </p:cNvSpPr>
          <p:nvPr/>
        </p:nvSpPr>
        <p:spPr bwMode="auto">
          <a:xfrm>
            <a:off x="2243138" y="4321175"/>
            <a:ext cx="304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b="1" i="1">
                <a:solidFill>
                  <a:srgbClr val="000000"/>
                </a:solidFill>
                <a:ea typeface="宋体" panose="02010600030101010101" pitchFamily="2" charset="-122"/>
              </a:rPr>
              <a:t>S</a:t>
            </a:r>
          </a:p>
        </p:txBody>
      </p:sp>
      <p:sp>
        <p:nvSpPr>
          <p:cNvPr id="2" name="灯片编号占位符 1">
            <a:extLst>
              <a:ext uri="{FF2B5EF4-FFF2-40B4-BE49-F238E27FC236}">
                <a16:creationId xmlns:a16="http://schemas.microsoft.com/office/drawing/2014/main" id="{915F542C-9DCC-4C55-9197-329B2A0EFC1C}"/>
              </a:ext>
            </a:extLst>
          </p:cNvPr>
          <p:cNvSpPr>
            <a:spLocks noGrp="1"/>
          </p:cNvSpPr>
          <p:nvPr>
            <p:ph type="sldNum" sz="quarter" idx="12"/>
          </p:nvPr>
        </p:nvSpPr>
        <p:spPr/>
        <p:txBody>
          <a:bodyPr/>
          <a:lstStyle/>
          <a:p>
            <a:fld id="{47C9E101-E51D-431E-84FA-C029B8655B60}" type="slidenum">
              <a:rPr lang="zh-CN" altLang="en-US" smtClean="0"/>
              <a:pPr/>
              <a:t>56</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33910"/>
                                        </p:tgtEl>
                                        <p:attrNameLst>
                                          <p:attrName>style.visibility</p:attrName>
                                        </p:attrNameLst>
                                      </p:cBhvr>
                                      <p:to>
                                        <p:strVal val="visible"/>
                                      </p:to>
                                    </p:set>
                                    <p:animEffect transition="in" filter="blinds(horizontal)">
                                      <p:cBhvr>
                                        <p:cTn id="7" dur="500"/>
                                        <p:tgtEl>
                                          <p:spTgt spid="333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338945">
            <a:extLst>
              <a:ext uri="{FF2B5EF4-FFF2-40B4-BE49-F238E27FC236}">
                <a16:creationId xmlns:a16="http://schemas.microsoft.com/office/drawing/2014/main" id="{B57558E3-6FF6-4C60-A85B-D2E80CBD84FA}"/>
              </a:ext>
            </a:extLst>
          </p:cNvPr>
          <p:cNvSpPr>
            <a:spLocks noGrp="1" noChangeArrowheads="1"/>
          </p:cNvSpPr>
          <p:nvPr>
            <p:ph type="title"/>
          </p:nvPr>
        </p:nvSpPr>
        <p:spPr/>
        <p:txBody>
          <a:bodyPr/>
          <a:lstStyle/>
          <a:p>
            <a:r>
              <a:rPr lang="en-US" altLang="zh-CN"/>
              <a:t>4. </a:t>
            </a:r>
            <a:r>
              <a:rPr lang="zh-CN" altLang="en-US"/>
              <a:t>笛卡尔积（</a:t>
            </a:r>
            <a:r>
              <a:rPr lang="en-US" altLang="zh-CN"/>
              <a:t>Cartesian Product</a:t>
            </a:r>
            <a:r>
              <a:rPr lang="zh-CN" altLang="en-US"/>
              <a:t>）</a:t>
            </a:r>
          </a:p>
        </p:txBody>
      </p:sp>
      <p:sp>
        <p:nvSpPr>
          <p:cNvPr id="28675" name="文本占位符 338946">
            <a:extLst>
              <a:ext uri="{FF2B5EF4-FFF2-40B4-BE49-F238E27FC236}">
                <a16:creationId xmlns:a16="http://schemas.microsoft.com/office/drawing/2014/main" id="{5F80DB89-9953-4E21-8955-657657932629}"/>
              </a:ext>
            </a:extLst>
          </p:cNvPr>
          <p:cNvSpPr>
            <a:spLocks noGrp="1" noChangeArrowheads="1"/>
          </p:cNvSpPr>
          <p:nvPr>
            <p:ph type="body" idx="1"/>
          </p:nvPr>
        </p:nvSpPr>
        <p:spPr/>
        <p:txBody>
          <a:bodyPr/>
          <a:lstStyle/>
          <a:p>
            <a:r>
              <a:rPr lang="zh-CN" altLang="en-US" dirty="0"/>
              <a:t>严格地讲应该是广义的笛卡尔积（</a:t>
            </a:r>
            <a:r>
              <a:rPr lang="en-US" altLang="zh-CN" dirty="0"/>
              <a:t>Extended Cartesian Product</a:t>
            </a:r>
            <a:r>
              <a:rPr lang="zh-CN" altLang="en-US" dirty="0"/>
              <a:t>） </a:t>
            </a:r>
          </a:p>
          <a:p>
            <a:r>
              <a:rPr lang="en-US" altLang="zh-CN" i="1" dirty="0"/>
              <a:t>R</a:t>
            </a:r>
            <a:r>
              <a:rPr lang="en-US" altLang="zh-CN" dirty="0"/>
              <a:t>: </a:t>
            </a:r>
            <a:r>
              <a:rPr lang="en-US" altLang="zh-CN" i="1" dirty="0"/>
              <a:t>n</a:t>
            </a:r>
            <a:r>
              <a:rPr lang="zh-CN" altLang="en-US" dirty="0"/>
              <a:t>目关系，</a:t>
            </a:r>
            <a:r>
              <a:rPr lang="en-US" altLang="zh-CN" i="1" dirty="0"/>
              <a:t> k</a:t>
            </a:r>
            <a:r>
              <a:rPr lang="en-US" altLang="zh-CN" baseline="-30000" dirty="0"/>
              <a:t>1</a:t>
            </a:r>
            <a:r>
              <a:rPr lang="zh-CN" altLang="en-US" dirty="0"/>
              <a:t>个元组</a:t>
            </a:r>
          </a:p>
          <a:p>
            <a:r>
              <a:rPr lang="en-US" altLang="zh-CN" i="1" dirty="0"/>
              <a:t>S</a:t>
            </a:r>
            <a:r>
              <a:rPr lang="en-US" altLang="zh-CN" dirty="0"/>
              <a:t>: </a:t>
            </a:r>
            <a:r>
              <a:rPr lang="en-US" altLang="zh-CN" i="1" dirty="0"/>
              <a:t>m</a:t>
            </a:r>
            <a:r>
              <a:rPr lang="zh-CN" altLang="en-US" dirty="0"/>
              <a:t>目关系，</a:t>
            </a:r>
            <a:r>
              <a:rPr lang="en-US" altLang="zh-CN" i="1" dirty="0"/>
              <a:t> k</a:t>
            </a:r>
            <a:r>
              <a:rPr lang="en-US" altLang="zh-CN" baseline="-30000" dirty="0"/>
              <a:t>2</a:t>
            </a:r>
            <a:r>
              <a:rPr lang="zh-CN" altLang="en-US" dirty="0"/>
              <a:t>个元组</a:t>
            </a:r>
          </a:p>
          <a:p>
            <a:endParaRPr lang="en-US" altLang="zh-CN" dirty="0"/>
          </a:p>
          <a:p>
            <a:r>
              <a:rPr lang="en-US" altLang="zh-CN" i="1" dirty="0"/>
              <a:t>R</a:t>
            </a:r>
            <a:r>
              <a:rPr lang="en-US" altLang="zh-CN" dirty="0"/>
              <a:t>×</a:t>
            </a:r>
            <a:r>
              <a:rPr lang="en-US" altLang="zh-CN" i="1" dirty="0"/>
              <a:t>S</a:t>
            </a:r>
            <a:r>
              <a:rPr lang="en-US" altLang="zh-CN" dirty="0"/>
              <a:t> </a:t>
            </a:r>
          </a:p>
          <a:p>
            <a:pPr lvl="1"/>
            <a:r>
              <a:rPr lang="zh-CN" altLang="en-US" dirty="0"/>
              <a:t>列：</a:t>
            </a:r>
            <a:r>
              <a:rPr lang="zh-CN" altLang="en-US" dirty="0">
                <a:solidFill>
                  <a:srgbClr val="0033CC"/>
                </a:solidFill>
              </a:rPr>
              <a:t> </a:t>
            </a:r>
            <a:r>
              <a:rPr lang="zh-CN" altLang="en-US" dirty="0">
                <a:solidFill>
                  <a:srgbClr val="C00000"/>
                </a:solidFill>
              </a:rPr>
              <a:t>（</a:t>
            </a:r>
            <a:r>
              <a:rPr lang="en-US" altLang="zh-CN" i="1" dirty="0" err="1">
                <a:solidFill>
                  <a:srgbClr val="C00000"/>
                </a:solidFill>
              </a:rPr>
              <a:t>n</a:t>
            </a:r>
            <a:r>
              <a:rPr lang="en-US" altLang="zh-CN" dirty="0" err="1">
                <a:solidFill>
                  <a:srgbClr val="C00000"/>
                </a:solidFill>
              </a:rPr>
              <a:t>+</a:t>
            </a:r>
            <a:r>
              <a:rPr lang="en-US" altLang="zh-CN" i="1" dirty="0" err="1">
                <a:solidFill>
                  <a:srgbClr val="C00000"/>
                </a:solidFill>
              </a:rPr>
              <a:t>m</a:t>
            </a:r>
            <a:r>
              <a:rPr lang="zh-CN" altLang="en-US" dirty="0">
                <a:solidFill>
                  <a:srgbClr val="C00000"/>
                </a:solidFill>
              </a:rPr>
              <a:t>）列元组的集合</a:t>
            </a:r>
          </a:p>
          <a:p>
            <a:pPr lvl="2"/>
            <a:r>
              <a:rPr lang="zh-CN" altLang="en-US" dirty="0"/>
              <a:t>元组的前</a:t>
            </a:r>
            <a:r>
              <a:rPr lang="en-US" altLang="zh-CN" i="1" dirty="0"/>
              <a:t>n</a:t>
            </a:r>
            <a:r>
              <a:rPr lang="zh-CN" altLang="en-US" dirty="0"/>
              <a:t>列是关系</a:t>
            </a:r>
            <a:r>
              <a:rPr lang="en-US" altLang="zh-CN" i="1" dirty="0"/>
              <a:t>R</a:t>
            </a:r>
            <a:r>
              <a:rPr lang="zh-CN" altLang="en-US" dirty="0"/>
              <a:t>的一个元组</a:t>
            </a:r>
          </a:p>
          <a:p>
            <a:pPr lvl="2"/>
            <a:r>
              <a:rPr lang="zh-CN" altLang="en-US" dirty="0"/>
              <a:t>后</a:t>
            </a:r>
            <a:r>
              <a:rPr lang="en-US" altLang="zh-CN" i="1" dirty="0"/>
              <a:t>m</a:t>
            </a:r>
            <a:r>
              <a:rPr lang="zh-CN" altLang="en-US" dirty="0"/>
              <a:t>列是关系</a:t>
            </a:r>
            <a:r>
              <a:rPr lang="en-US" altLang="zh-CN" i="1" dirty="0"/>
              <a:t>S</a:t>
            </a:r>
            <a:r>
              <a:rPr lang="zh-CN" altLang="en-US" dirty="0"/>
              <a:t>的一个元组</a:t>
            </a:r>
          </a:p>
          <a:p>
            <a:pPr lvl="1"/>
            <a:r>
              <a:rPr lang="zh-CN" altLang="en-US" dirty="0"/>
              <a:t>行：</a:t>
            </a:r>
            <a:r>
              <a:rPr lang="en-US" altLang="zh-CN" i="1" dirty="0">
                <a:solidFill>
                  <a:srgbClr val="0033CC"/>
                </a:solidFill>
              </a:rPr>
              <a:t> </a:t>
            </a:r>
            <a:r>
              <a:rPr lang="en-US" altLang="zh-CN" i="1" dirty="0">
                <a:solidFill>
                  <a:srgbClr val="C00000"/>
                </a:solidFill>
              </a:rPr>
              <a:t>k</a:t>
            </a:r>
            <a:r>
              <a:rPr lang="en-US" altLang="zh-CN" baseline="-30000" dirty="0">
                <a:solidFill>
                  <a:srgbClr val="C00000"/>
                </a:solidFill>
              </a:rPr>
              <a:t>1</a:t>
            </a:r>
            <a:r>
              <a:rPr lang="en-US" altLang="zh-CN" dirty="0">
                <a:solidFill>
                  <a:srgbClr val="C00000"/>
                </a:solidFill>
              </a:rPr>
              <a:t>×</a:t>
            </a:r>
            <a:r>
              <a:rPr lang="en-US" altLang="zh-CN" i="1" dirty="0">
                <a:solidFill>
                  <a:srgbClr val="C00000"/>
                </a:solidFill>
              </a:rPr>
              <a:t>k</a:t>
            </a:r>
            <a:r>
              <a:rPr lang="en-US" altLang="zh-CN" baseline="-30000" dirty="0">
                <a:solidFill>
                  <a:srgbClr val="C00000"/>
                </a:solidFill>
              </a:rPr>
              <a:t>2</a:t>
            </a:r>
            <a:r>
              <a:rPr lang="zh-CN" altLang="en-US" dirty="0">
                <a:solidFill>
                  <a:srgbClr val="C00000"/>
                </a:solidFill>
              </a:rPr>
              <a:t>个元组</a:t>
            </a:r>
          </a:p>
          <a:p>
            <a:pPr marL="685800" lvl="2" indent="0">
              <a:buNone/>
            </a:pPr>
            <a:r>
              <a:rPr lang="en-US" altLang="zh-CN" sz="1800" i="1" dirty="0">
                <a:solidFill>
                  <a:srgbClr val="000000"/>
                </a:solidFill>
              </a:rPr>
              <a:t>R</a:t>
            </a:r>
            <a:r>
              <a:rPr lang="en-US" altLang="zh-CN" sz="1800" dirty="0">
                <a:solidFill>
                  <a:srgbClr val="000000"/>
                </a:solidFill>
              </a:rPr>
              <a:t>×</a:t>
            </a:r>
            <a:r>
              <a:rPr lang="en-US" altLang="zh-CN" sz="1800" i="1" dirty="0">
                <a:solidFill>
                  <a:srgbClr val="000000"/>
                </a:solidFill>
              </a:rPr>
              <a:t>S</a:t>
            </a:r>
            <a:r>
              <a:rPr lang="en-US" altLang="zh-CN" sz="1800" dirty="0">
                <a:solidFill>
                  <a:srgbClr val="000000"/>
                </a:solidFill>
              </a:rPr>
              <a:t> = {</a:t>
            </a:r>
            <a:r>
              <a:rPr lang="en-US" altLang="zh-CN" sz="1800" i="1" dirty="0">
                <a:solidFill>
                  <a:srgbClr val="000000"/>
                </a:solidFill>
              </a:rPr>
              <a:t>t</a:t>
            </a:r>
            <a:r>
              <a:rPr lang="en-US" altLang="zh-CN" sz="1800" baseline="-30000" dirty="0">
                <a:solidFill>
                  <a:srgbClr val="000000"/>
                </a:solidFill>
              </a:rPr>
              <a:t>r</a:t>
            </a:r>
            <a:r>
              <a:rPr lang="en-US" altLang="zh-CN" sz="1800" dirty="0">
                <a:solidFill>
                  <a:srgbClr val="000000"/>
                </a:solidFill>
              </a:rPr>
              <a:t> </a:t>
            </a:r>
            <a:r>
              <a:rPr lang="en-US" altLang="zh-CN" sz="1800" i="1" dirty="0" err="1">
                <a:solidFill>
                  <a:srgbClr val="000000"/>
                </a:solidFill>
              </a:rPr>
              <a:t>t</a:t>
            </a:r>
            <a:r>
              <a:rPr lang="en-US" altLang="zh-CN" sz="1800" baseline="-30000" dirty="0" err="1">
                <a:solidFill>
                  <a:srgbClr val="000000"/>
                </a:solidFill>
              </a:rPr>
              <a:t>s</a:t>
            </a:r>
            <a:r>
              <a:rPr lang="en-US" altLang="zh-CN" sz="1800" dirty="0">
                <a:solidFill>
                  <a:srgbClr val="000000"/>
                </a:solidFill>
              </a:rPr>
              <a:t> |</a:t>
            </a:r>
            <a:r>
              <a:rPr lang="en-US" altLang="zh-CN" sz="1800" i="1" dirty="0">
                <a:solidFill>
                  <a:srgbClr val="000000"/>
                </a:solidFill>
              </a:rPr>
              <a:t>t</a:t>
            </a:r>
            <a:r>
              <a:rPr lang="en-US" altLang="zh-CN" sz="1800" baseline="-30000" dirty="0">
                <a:solidFill>
                  <a:srgbClr val="000000"/>
                </a:solidFill>
              </a:rPr>
              <a:t>r</a:t>
            </a:r>
            <a:r>
              <a:rPr lang="en-US" altLang="zh-CN" sz="1800" dirty="0">
                <a:solidFill>
                  <a:srgbClr val="000000"/>
                </a:solidFill>
              </a:rPr>
              <a:t> </a:t>
            </a:r>
            <a:r>
              <a:rPr lang="en-US" altLang="zh-CN" sz="1800" dirty="0">
                <a:solidFill>
                  <a:srgbClr val="000000"/>
                </a:solidFill>
                <a:sym typeface="Symbol" panose="05050102010706020507" pitchFamily="18" charset="2"/>
              </a:rPr>
              <a:t></a:t>
            </a:r>
            <a:r>
              <a:rPr lang="en-US" altLang="zh-CN" sz="1800" i="1" dirty="0">
                <a:solidFill>
                  <a:srgbClr val="000000"/>
                </a:solidFill>
              </a:rPr>
              <a:t>R</a:t>
            </a:r>
            <a:r>
              <a:rPr lang="en-US" altLang="zh-CN" sz="1800" dirty="0">
                <a:solidFill>
                  <a:srgbClr val="000000"/>
                </a:solidFill>
              </a:rPr>
              <a:t> ∧ </a:t>
            </a:r>
            <a:r>
              <a:rPr lang="en-US" altLang="zh-CN" sz="1800" i="1" dirty="0" err="1">
                <a:solidFill>
                  <a:srgbClr val="000000"/>
                </a:solidFill>
              </a:rPr>
              <a:t>t</a:t>
            </a:r>
            <a:r>
              <a:rPr lang="en-US" altLang="zh-CN" sz="1800" baseline="-30000" dirty="0" err="1">
                <a:solidFill>
                  <a:srgbClr val="000000"/>
                </a:solidFill>
              </a:rPr>
              <a:t>s</a:t>
            </a:r>
            <a:r>
              <a:rPr lang="en-US" altLang="zh-CN" sz="1800" dirty="0" err="1">
                <a:solidFill>
                  <a:srgbClr val="000000"/>
                </a:solidFill>
                <a:sym typeface="Symbol" panose="05050102010706020507" pitchFamily="18" charset="2"/>
              </a:rPr>
              <a:t></a:t>
            </a:r>
            <a:r>
              <a:rPr lang="en-US" altLang="zh-CN" sz="1800" i="1" dirty="0" err="1">
                <a:solidFill>
                  <a:srgbClr val="000000"/>
                </a:solidFill>
              </a:rPr>
              <a:t>S</a:t>
            </a:r>
            <a:r>
              <a:rPr lang="en-US" altLang="zh-CN" sz="1800" dirty="0">
                <a:solidFill>
                  <a:srgbClr val="000000"/>
                </a:solidFill>
              </a:rPr>
              <a:t>}</a:t>
            </a:r>
          </a:p>
          <a:p>
            <a:endParaRPr lang="en-US" altLang="zh-CN" dirty="0"/>
          </a:p>
        </p:txBody>
      </p:sp>
      <p:sp>
        <p:nvSpPr>
          <p:cNvPr id="4" name="弧形 3">
            <a:extLst>
              <a:ext uri="{FF2B5EF4-FFF2-40B4-BE49-F238E27FC236}">
                <a16:creationId xmlns:a16="http://schemas.microsoft.com/office/drawing/2014/main" id="{B8C14DE9-FCDF-409A-A568-1DB56FE5BB90}"/>
              </a:ext>
            </a:extLst>
          </p:cNvPr>
          <p:cNvSpPr/>
          <p:nvPr/>
        </p:nvSpPr>
        <p:spPr bwMode="auto">
          <a:xfrm>
            <a:off x="2526301" y="5307266"/>
            <a:ext cx="215900" cy="144463"/>
          </a:xfrm>
          <a:prstGeom prst="arc">
            <a:avLst>
              <a:gd name="adj1" fmla="val 11559749"/>
              <a:gd name="adj2" fmla="val 20836597"/>
            </a:avLst>
          </a:prstGeom>
          <a:noFill/>
          <a:ln w="19050" cap="sq" cmpd="sng" algn="ctr">
            <a:solidFill>
              <a:schemeClr val="tx1"/>
            </a:solidFill>
            <a:prstDash val="solid"/>
            <a:round/>
            <a:headEnd type="none" w="sm" len="sm"/>
            <a:tailEnd type="none" w="sm" len="sm"/>
          </a:ln>
          <a:effectLst/>
          <a:extLst/>
        </p:spPr>
        <p:txBody>
          <a:bodyPr wrap="none"/>
          <a:lstStyle/>
          <a:p>
            <a:pPr eaLnBrk="1" hangingPunct="1">
              <a:defRPr/>
            </a:pPr>
            <a:endParaRPr lang="zh-CN" altLang="en-US"/>
          </a:p>
        </p:txBody>
      </p:sp>
      <p:sp>
        <p:nvSpPr>
          <p:cNvPr id="2" name="灯片编号占位符 1">
            <a:extLst>
              <a:ext uri="{FF2B5EF4-FFF2-40B4-BE49-F238E27FC236}">
                <a16:creationId xmlns:a16="http://schemas.microsoft.com/office/drawing/2014/main" id="{D28BF92D-D9FE-47CB-85F9-1B9620605EF2}"/>
              </a:ext>
            </a:extLst>
          </p:cNvPr>
          <p:cNvSpPr>
            <a:spLocks noGrp="1"/>
          </p:cNvSpPr>
          <p:nvPr>
            <p:ph type="sldNum" sz="quarter" idx="12"/>
          </p:nvPr>
        </p:nvSpPr>
        <p:spPr/>
        <p:txBody>
          <a:bodyPr/>
          <a:lstStyle/>
          <a:p>
            <a:fld id="{47C9E101-E51D-431E-84FA-C029B8655B60}" type="slidenum">
              <a:rPr lang="zh-CN" altLang="en-US" smtClean="0"/>
              <a:pPr/>
              <a:t>57</a:t>
            </a:fld>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16B07C7B-0F4A-4D87-AD39-056958516D7D}"/>
              </a:ext>
            </a:extLst>
          </p:cNvPr>
          <p:cNvSpPr>
            <a:spLocks noGrp="1" noChangeArrowheads="1"/>
          </p:cNvSpPr>
          <p:nvPr>
            <p:ph type="title"/>
          </p:nvPr>
        </p:nvSpPr>
        <p:spPr/>
        <p:txBody>
          <a:bodyPr/>
          <a:lstStyle/>
          <a:p>
            <a:pPr eaLnBrk="1" hangingPunct="1"/>
            <a:r>
              <a:rPr lang="zh-CN" altLang="en-US"/>
              <a:t>笛卡尔积示例</a:t>
            </a:r>
          </a:p>
        </p:txBody>
      </p:sp>
      <p:graphicFrame>
        <p:nvGraphicFramePr>
          <p:cNvPr id="551942" name="Object 6">
            <a:extLst>
              <a:ext uri="{FF2B5EF4-FFF2-40B4-BE49-F238E27FC236}">
                <a16:creationId xmlns:a16="http://schemas.microsoft.com/office/drawing/2014/main" id="{A7D3798E-F70A-4F4A-82DD-4008D31772B0}"/>
              </a:ext>
            </a:extLst>
          </p:cNvPr>
          <p:cNvGraphicFramePr>
            <a:graphicFrameLocks noChangeAspect="1"/>
          </p:cNvGraphicFramePr>
          <p:nvPr/>
        </p:nvGraphicFramePr>
        <p:xfrm>
          <a:off x="5664201" y="1484314"/>
          <a:ext cx="4537075" cy="4256087"/>
        </p:xfrm>
        <a:graphic>
          <a:graphicData uri="http://schemas.openxmlformats.org/presentationml/2006/ole">
            <mc:AlternateContent xmlns:mc="http://schemas.openxmlformats.org/markup-compatibility/2006">
              <mc:Choice xmlns:v="urn:schemas-microsoft-com:vml" Requires="v">
                <p:oleObj spid="_x0000_s10266" name="Image" r:id="rId3" imgW="5079365" imgH="4761905" progId="Photoshop.Image.7">
                  <p:embed/>
                </p:oleObj>
              </mc:Choice>
              <mc:Fallback>
                <p:oleObj name="Image" r:id="rId3" imgW="5079365" imgH="4761905" progId="Photoshop.Image.7">
                  <p:embed/>
                  <p:pic>
                    <p:nvPicPr>
                      <p:cNvPr id="551942" name="Object 6">
                        <a:extLst>
                          <a:ext uri="{FF2B5EF4-FFF2-40B4-BE49-F238E27FC236}">
                            <a16:creationId xmlns:a16="http://schemas.microsoft.com/office/drawing/2014/main" id="{A7D3798E-F70A-4F4A-82DD-4008D31772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4201" y="1484314"/>
                        <a:ext cx="4537075" cy="4256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1944" name="Rectangle 8">
            <a:extLst>
              <a:ext uri="{FF2B5EF4-FFF2-40B4-BE49-F238E27FC236}">
                <a16:creationId xmlns:a16="http://schemas.microsoft.com/office/drawing/2014/main" id="{6F89AD4C-8733-4EDD-B27B-E69864B9CF86}"/>
              </a:ext>
            </a:extLst>
          </p:cNvPr>
          <p:cNvSpPr>
            <a:spLocks noChangeArrowheads="1"/>
          </p:cNvSpPr>
          <p:nvPr/>
        </p:nvSpPr>
        <p:spPr bwMode="auto">
          <a:xfrm>
            <a:off x="6019801" y="2301875"/>
            <a:ext cx="1871663" cy="287338"/>
          </a:xfrm>
          <a:prstGeom prst="rect">
            <a:avLst/>
          </a:prstGeom>
          <a:solidFill>
            <a:srgbClr val="CCFFCC">
              <a:alpha val="27843"/>
            </a:srgbClr>
          </a:solidFill>
          <a:ln w="9525">
            <a:solidFill>
              <a:schemeClr val="tx1"/>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45" name="Rectangle 9">
            <a:extLst>
              <a:ext uri="{FF2B5EF4-FFF2-40B4-BE49-F238E27FC236}">
                <a16:creationId xmlns:a16="http://schemas.microsoft.com/office/drawing/2014/main" id="{F3A9976B-2155-4C54-A7B0-817EC57BEA47}"/>
              </a:ext>
            </a:extLst>
          </p:cNvPr>
          <p:cNvSpPr>
            <a:spLocks noChangeArrowheads="1"/>
          </p:cNvSpPr>
          <p:nvPr/>
        </p:nvSpPr>
        <p:spPr bwMode="auto">
          <a:xfrm>
            <a:off x="6019801" y="2686050"/>
            <a:ext cx="1871663" cy="287338"/>
          </a:xfrm>
          <a:prstGeom prst="rect">
            <a:avLst/>
          </a:prstGeom>
          <a:solidFill>
            <a:srgbClr val="CCFFCC">
              <a:alpha val="27843"/>
            </a:srgbClr>
          </a:solidFill>
          <a:ln w="9525">
            <a:solidFill>
              <a:schemeClr val="tx1"/>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46" name="Rectangle 10">
            <a:extLst>
              <a:ext uri="{FF2B5EF4-FFF2-40B4-BE49-F238E27FC236}">
                <a16:creationId xmlns:a16="http://schemas.microsoft.com/office/drawing/2014/main" id="{E9CD5586-9E6A-418D-81C0-A590CFB3CF30}"/>
              </a:ext>
            </a:extLst>
          </p:cNvPr>
          <p:cNvSpPr>
            <a:spLocks noChangeArrowheads="1"/>
          </p:cNvSpPr>
          <p:nvPr/>
        </p:nvSpPr>
        <p:spPr bwMode="auto">
          <a:xfrm>
            <a:off x="6019801" y="3068639"/>
            <a:ext cx="1871663" cy="287337"/>
          </a:xfrm>
          <a:prstGeom prst="rect">
            <a:avLst/>
          </a:prstGeom>
          <a:solidFill>
            <a:srgbClr val="CCFFCC">
              <a:alpha val="27843"/>
            </a:srgbClr>
          </a:solidFill>
          <a:ln w="9525">
            <a:solidFill>
              <a:schemeClr val="tx1"/>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52" name="Rectangle 16">
            <a:extLst>
              <a:ext uri="{FF2B5EF4-FFF2-40B4-BE49-F238E27FC236}">
                <a16:creationId xmlns:a16="http://schemas.microsoft.com/office/drawing/2014/main" id="{415F96C4-1060-47B6-B116-A9099D0521A6}"/>
              </a:ext>
            </a:extLst>
          </p:cNvPr>
          <p:cNvSpPr>
            <a:spLocks noChangeArrowheads="1"/>
          </p:cNvSpPr>
          <p:nvPr/>
        </p:nvSpPr>
        <p:spPr bwMode="auto">
          <a:xfrm>
            <a:off x="6019801" y="3452814"/>
            <a:ext cx="1871663" cy="288925"/>
          </a:xfrm>
          <a:prstGeom prst="rect">
            <a:avLst/>
          </a:prstGeom>
          <a:solidFill>
            <a:srgbClr val="CCFFFF">
              <a:alpha val="27843"/>
            </a:srgbClr>
          </a:solidFill>
          <a:ln w="9525">
            <a:solidFill>
              <a:srgbClr val="FF0000"/>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53" name="Rectangle 17">
            <a:extLst>
              <a:ext uri="{FF2B5EF4-FFF2-40B4-BE49-F238E27FC236}">
                <a16:creationId xmlns:a16="http://schemas.microsoft.com/office/drawing/2014/main" id="{AEE9FAB5-C730-426A-8C43-0EA9679E7FDF}"/>
              </a:ext>
            </a:extLst>
          </p:cNvPr>
          <p:cNvSpPr>
            <a:spLocks noChangeArrowheads="1"/>
          </p:cNvSpPr>
          <p:nvPr/>
        </p:nvSpPr>
        <p:spPr bwMode="auto">
          <a:xfrm>
            <a:off x="6019801" y="3836989"/>
            <a:ext cx="1871663" cy="288925"/>
          </a:xfrm>
          <a:prstGeom prst="rect">
            <a:avLst/>
          </a:prstGeom>
          <a:solidFill>
            <a:srgbClr val="CCFFFF">
              <a:alpha val="27843"/>
            </a:srgbClr>
          </a:solidFill>
          <a:ln w="9525">
            <a:solidFill>
              <a:srgbClr val="FF0000"/>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54" name="Rectangle 18">
            <a:extLst>
              <a:ext uri="{FF2B5EF4-FFF2-40B4-BE49-F238E27FC236}">
                <a16:creationId xmlns:a16="http://schemas.microsoft.com/office/drawing/2014/main" id="{8C35B541-1D86-4340-92AD-C30444AD1440}"/>
              </a:ext>
            </a:extLst>
          </p:cNvPr>
          <p:cNvSpPr>
            <a:spLocks noChangeArrowheads="1"/>
          </p:cNvSpPr>
          <p:nvPr/>
        </p:nvSpPr>
        <p:spPr bwMode="auto">
          <a:xfrm>
            <a:off x="6019801" y="4222751"/>
            <a:ext cx="1871663" cy="288925"/>
          </a:xfrm>
          <a:prstGeom prst="rect">
            <a:avLst/>
          </a:prstGeom>
          <a:solidFill>
            <a:srgbClr val="CCFFFF">
              <a:alpha val="27843"/>
            </a:srgbClr>
          </a:solidFill>
          <a:ln w="9525">
            <a:solidFill>
              <a:srgbClr val="FF0000"/>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55" name="Rectangle 19">
            <a:extLst>
              <a:ext uri="{FF2B5EF4-FFF2-40B4-BE49-F238E27FC236}">
                <a16:creationId xmlns:a16="http://schemas.microsoft.com/office/drawing/2014/main" id="{940CD9BD-FD3E-4C28-A37D-2F7CE53D5F70}"/>
              </a:ext>
            </a:extLst>
          </p:cNvPr>
          <p:cNvSpPr>
            <a:spLocks noChangeArrowheads="1"/>
          </p:cNvSpPr>
          <p:nvPr/>
        </p:nvSpPr>
        <p:spPr bwMode="auto">
          <a:xfrm>
            <a:off x="6019801" y="4606925"/>
            <a:ext cx="1871663" cy="287338"/>
          </a:xfrm>
          <a:prstGeom prst="rect">
            <a:avLst/>
          </a:prstGeom>
          <a:solidFill>
            <a:srgbClr val="99CCFF">
              <a:alpha val="27843"/>
            </a:srgbClr>
          </a:solidFill>
          <a:ln w="9525">
            <a:solidFill>
              <a:srgbClr val="0000FF"/>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56" name="Rectangle 20">
            <a:extLst>
              <a:ext uri="{FF2B5EF4-FFF2-40B4-BE49-F238E27FC236}">
                <a16:creationId xmlns:a16="http://schemas.microsoft.com/office/drawing/2014/main" id="{46492AA7-AF04-44D4-920D-0C400FB3CB5B}"/>
              </a:ext>
            </a:extLst>
          </p:cNvPr>
          <p:cNvSpPr>
            <a:spLocks noChangeArrowheads="1"/>
          </p:cNvSpPr>
          <p:nvPr/>
        </p:nvSpPr>
        <p:spPr bwMode="auto">
          <a:xfrm>
            <a:off x="6019801" y="4991100"/>
            <a:ext cx="1871663" cy="287338"/>
          </a:xfrm>
          <a:prstGeom prst="rect">
            <a:avLst/>
          </a:prstGeom>
          <a:solidFill>
            <a:srgbClr val="99CCFF">
              <a:alpha val="27843"/>
            </a:srgbClr>
          </a:solidFill>
          <a:ln w="9525">
            <a:solidFill>
              <a:srgbClr val="0000FF"/>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57" name="Rectangle 21">
            <a:extLst>
              <a:ext uri="{FF2B5EF4-FFF2-40B4-BE49-F238E27FC236}">
                <a16:creationId xmlns:a16="http://schemas.microsoft.com/office/drawing/2014/main" id="{D7EA07C3-AE8D-413C-80DA-43A562B3469A}"/>
              </a:ext>
            </a:extLst>
          </p:cNvPr>
          <p:cNvSpPr>
            <a:spLocks noChangeArrowheads="1"/>
          </p:cNvSpPr>
          <p:nvPr/>
        </p:nvSpPr>
        <p:spPr bwMode="auto">
          <a:xfrm>
            <a:off x="6019801" y="5373689"/>
            <a:ext cx="1871663" cy="287337"/>
          </a:xfrm>
          <a:prstGeom prst="rect">
            <a:avLst/>
          </a:prstGeom>
          <a:solidFill>
            <a:srgbClr val="99CCFF">
              <a:alpha val="27843"/>
            </a:srgbClr>
          </a:solidFill>
          <a:ln w="9525">
            <a:solidFill>
              <a:srgbClr val="0000FF"/>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58" name="Rectangle 22">
            <a:extLst>
              <a:ext uri="{FF2B5EF4-FFF2-40B4-BE49-F238E27FC236}">
                <a16:creationId xmlns:a16="http://schemas.microsoft.com/office/drawing/2014/main" id="{6C3D09E2-61E7-404E-814C-84DEEBD1C283}"/>
              </a:ext>
            </a:extLst>
          </p:cNvPr>
          <p:cNvSpPr>
            <a:spLocks noChangeArrowheads="1"/>
          </p:cNvSpPr>
          <p:nvPr/>
        </p:nvSpPr>
        <p:spPr bwMode="auto">
          <a:xfrm>
            <a:off x="7983538" y="2298700"/>
            <a:ext cx="1763712" cy="287338"/>
          </a:xfrm>
          <a:prstGeom prst="rect">
            <a:avLst/>
          </a:prstGeom>
          <a:solidFill>
            <a:srgbClr val="FFFF99">
              <a:alpha val="27843"/>
            </a:srgbClr>
          </a:solidFill>
          <a:ln w="9525">
            <a:solidFill>
              <a:srgbClr val="FF0000"/>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59" name="Rectangle 23">
            <a:extLst>
              <a:ext uri="{FF2B5EF4-FFF2-40B4-BE49-F238E27FC236}">
                <a16:creationId xmlns:a16="http://schemas.microsoft.com/office/drawing/2014/main" id="{4349F22F-4DC6-4E23-A8EE-44BDD310D835}"/>
              </a:ext>
            </a:extLst>
          </p:cNvPr>
          <p:cNvSpPr>
            <a:spLocks noChangeArrowheads="1"/>
          </p:cNvSpPr>
          <p:nvPr/>
        </p:nvSpPr>
        <p:spPr bwMode="auto">
          <a:xfrm>
            <a:off x="7983538" y="2684464"/>
            <a:ext cx="1763712" cy="287337"/>
          </a:xfrm>
          <a:prstGeom prst="rect">
            <a:avLst/>
          </a:prstGeom>
          <a:solidFill>
            <a:srgbClr val="FF99CC">
              <a:alpha val="27843"/>
            </a:srgbClr>
          </a:solidFill>
          <a:ln w="9525">
            <a:solidFill>
              <a:schemeClr val="tx1"/>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60" name="Rectangle 24">
            <a:extLst>
              <a:ext uri="{FF2B5EF4-FFF2-40B4-BE49-F238E27FC236}">
                <a16:creationId xmlns:a16="http://schemas.microsoft.com/office/drawing/2014/main" id="{0B87D0E0-8CD7-4B9E-B879-320D3D198D62}"/>
              </a:ext>
            </a:extLst>
          </p:cNvPr>
          <p:cNvSpPr>
            <a:spLocks noChangeArrowheads="1"/>
          </p:cNvSpPr>
          <p:nvPr/>
        </p:nvSpPr>
        <p:spPr bwMode="auto">
          <a:xfrm>
            <a:off x="7983538" y="3070225"/>
            <a:ext cx="1763712" cy="287338"/>
          </a:xfrm>
          <a:prstGeom prst="rect">
            <a:avLst/>
          </a:prstGeom>
          <a:solidFill>
            <a:srgbClr val="CC99FF">
              <a:alpha val="27843"/>
            </a:srgbClr>
          </a:solidFill>
          <a:ln w="9525">
            <a:solidFill>
              <a:srgbClr val="0000FF"/>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61" name="Rectangle 25">
            <a:extLst>
              <a:ext uri="{FF2B5EF4-FFF2-40B4-BE49-F238E27FC236}">
                <a16:creationId xmlns:a16="http://schemas.microsoft.com/office/drawing/2014/main" id="{9C55849F-AF7D-4CA4-93B1-547B6F6F3B34}"/>
              </a:ext>
            </a:extLst>
          </p:cNvPr>
          <p:cNvSpPr>
            <a:spLocks noChangeArrowheads="1"/>
          </p:cNvSpPr>
          <p:nvPr/>
        </p:nvSpPr>
        <p:spPr bwMode="auto">
          <a:xfrm>
            <a:off x="7983538" y="3457575"/>
            <a:ext cx="1763712" cy="287338"/>
          </a:xfrm>
          <a:prstGeom prst="rect">
            <a:avLst/>
          </a:prstGeom>
          <a:solidFill>
            <a:srgbClr val="FFFF99">
              <a:alpha val="27843"/>
            </a:srgbClr>
          </a:solidFill>
          <a:ln w="9525">
            <a:solidFill>
              <a:srgbClr val="FF0000"/>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62" name="Rectangle 26">
            <a:extLst>
              <a:ext uri="{FF2B5EF4-FFF2-40B4-BE49-F238E27FC236}">
                <a16:creationId xmlns:a16="http://schemas.microsoft.com/office/drawing/2014/main" id="{E485D862-4B4E-4CA0-9A6C-F33851135BE7}"/>
              </a:ext>
            </a:extLst>
          </p:cNvPr>
          <p:cNvSpPr>
            <a:spLocks noChangeArrowheads="1"/>
          </p:cNvSpPr>
          <p:nvPr/>
        </p:nvSpPr>
        <p:spPr bwMode="auto">
          <a:xfrm>
            <a:off x="7983538" y="3843339"/>
            <a:ext cx="1763712" cy="287337"/>
          </a:xfrm>
          <a:prstGeom prst="rect">
            <a:avLst/>
          </a:prstGeom>
          <a:solidFill>
            <a:srgbClr val="FF99CC">
              <a:alpha val="27843"/>
            </a:srgbClr>
          </a:solidFill>
          <a:ln w="9525">
            <a:solidFill>
              <a:schemeClr val="tx1"/>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63" name="Rectangle 27">
            <a:extLst>
              <a:ext uri="{FF2B5EF4-FFF2-40B4-BE49-F238E27FC236}">
                <a16:creationId xmlns:a16="http://schemas.microsoft.com/office/drawing/2014/main" id="{7E13A677-51D5-4B03-A91D-6C13CAC4ED5B}"/>
              </a:ext>
            </a:extLst>
          </p:cNvPr>
          <p:cNvSpPr>
            <a:spLocks noChangeArrowheads="1"/>
          </p:cNvSpPr>
          <p:nvPr/>
        </p:nvSpPr>
        <p:spPr bwMode="auto">
          <a:xfrm>
            <a:off x="7983538" y="4229100"/>
            <a:ext cx="1763712" cy="287338"/>
          </a:xfrm>
          <a:prstGeom prst="rect">
            <a:avLst/>
          </a:prstGeom>
          <a:solidFill>
            <a:srgbClr val="CC99FF">
              <a:alpha val="27843"/>
            </a:srgbClr>
          </a:solidFill>
          <a:ln w="9525">
            <a:solidFill>
              <a:srgbClr val="0000FF"/>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64" name="Rectangle 28">
            <a:extLst>
              <a:ext uri="{FF2B5EF4-FFF2-40B4-BE49-F238E27FC236}">
                <a16:creationId xmlns:a16="http://schemas.microsoft.com/office/drawing/2014/main" id="{337A014D-27C0-4A9F-9A79-6A3A5791290E}"/>
              </a:ext>
            </a:extLst>
          </p:cNvPr>
          <p:cNvSpPr>
            <a:spLocks noChangeArrowheads="1"/>
          </p:cNvSpPr>
          <p:nvPr/>
        </p:nvSpPr>
        <p:spPr bwMode="auto">
          <a:xfrm>
            <a:off x="7983538" y="4614864"/>
            <a:ext cx="1763712" cy="287337"/>
          </a:xfrm>
          <a:prstGeom prst="rect">
            <a:avLst/>
          </a:prstGeom>
          <a:solidFill>
            <a:srgbClr val="FFFF99">
              <a:alpha val="27843"/>
            </a:srgbClr>
          </a:solidFill>
          <a:ln w="9525">
            <a:solidFill>
              <a:srgbClr val="FF0000"/>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65" name="Rectangle 29">
            <a:extLst>
              <a:ext uri="{FF2B5EF4-FFF2-40B4-BE49-F238E27FC236}">
                <a16:creationId xmlns:a16="http://schemas.microsoft.com/office/drawing/2014/main" id="{889A4DEB-1DFE-49B7-A05D-E440536365E1}"/>
              </a:ext>
            </a:extLst>
          </p:cNvPr>
          <p:cNvSpPr>
            <a:spLocks noChangeArrowheads="1"/>
          </p:cNvSpPr>
          <p:nvPr/>
        </p:nvSpPr>
        <p:spPr bwMode="auto">
          <a:xfrm>
            <a:off x="7983538" y="5000625"/>
            <a:ext cx="1763712" cy="287338"/>
          </a:xfrm>
          <a:prstGeom prst="rect">
            <a:avLst/>
          </a:prstGeom>
          <a:solidFill>
            <a:srgbClr val="FF99CC">
              <a:alpha val="27843"/>
            </a:srgbClr>
          </a:solidFill>
          <a:ln w="9525">
            <a:solidFill>
              <a:schemeClr val="tx1"/>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51966" name="Rectangle 30">
            <a:extLst>
              <a:ext uri="{FF2B5EF4-FFF2-40B4-BE49-F238E27FC236}">
                <a16:creationId xmlns:a16="http://schemas.microsoft.com/office/drawing/2014/main" id="{C65B7DF8-DD0E-4249-A1FE-31BADA38DEF8}"/>
              </a:ext>
            </a:extLst>
          </p:cNvPr>
          <p:cNvSpPr>
            <a:spLocks noChangeArrowheads="1"/>
          </p:cNvSpPr>
          <p:nvPr/>
        </p:nvSpPr>
        <p:spPr bwMode="auto">
          <a:xfrm>
            <a:off x="7983538" y="5386389"/>
            <a:ext cx="1763712" cy="287337"/>
          </a:xfrm>
          <a:prstGeom prst="rect">
            <a:avLst/>
          </a:prstGeom>
          <a:solidFill>
            <a:srgbClr val="CC99FF">
              <a:alpha val="27843"/>
            </a:srgbClr>
          </a:solidFill>
          <a:ln w="9525">
            <a:solidFill>
              <a:srgbClr val="0000FF"/>
            </a:solidFill>
            <a:miter lim="800000"/>
            <a:headEnd/>
            <a:tailEnd/>
          </a:ln>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pic>
        <p:nvPicPr>
          <p:cNvPr id="76822" name="Picture 31">
            <a:extLst>
              <a:ext uri="{FF2B5EF4-FFF2-40B4-BE49-F238E27FC236}">
                <a16:creationId xmlns:a16="http://schemas.microsoft.com/office/drawing/2014/main" id="{7F8E5A33-A147-4067-9EBD-9114D4233C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6625" y="1021556"/>
            <a:ext cx="29210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23" name="Picture 32">
            <a:extLst>
              <a:ext uri="{FF2B5EF4-FFF2-40B4-BE49-F238E27FC236}">
                <a16:creationId xmlns:a16="http://schemas.microsoft.com/office/drawing/2014/main" id="{6EC10D03-E13F-4D69-9369-9C8C5033CD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52651" y="3713957"/>
            <a:ext cx="2951163" cy="236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23631087-7EF0-49F0-8CDD-11C29FEA4846}"/>
              </a:ext>
            </a:extLst>
          </p:cNvPr>
          <p:cNvSpPr>
            <a:spLocks noGrp="1"/>
          </p:cNvSpPr>
          <p:nvPr>
            <p:ph type="sldNum" sz="quarter" idx="12"/>
          </p:nvPr>
        </p:nvSpPr>
        <p:spPr/>
        <p:txBody>
          <a:bodyPr/>
          <a:lstStyle/>
          <a:p>
            <a:fld id="{47C9E101-E51D-431E-84FA-C029B8655B60}" type="slidenum">
              <a:rPr lang="zh-CN" altLang="en-US" smtClean="0"/>
              <a:pPr/>
              <a:t>58</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1942"/>
                                        </p:tgtEl>
                                        <p:attrNameLst>
                                          <p:attrName>style.visibility</p:attrName>
                                        </p:attrNameLst>
                                      </p:cBhvr>
                                      <p:to>
                                        <p:strVal val="visible"/>
                                      </p:to>
                                    </p:set>
                                    <p:anim calcmode="lin" valueType="num">
                                      <p:cBhvr additive="base">
                                        <p:cTn id="7" dur="500" fill="hold"/>
                                        <p:tgtEl>
                                          <p:spTgt spid="551942"/>
                                        </p:tgtEl>
                                        <p:attrNameLst>
                                          <p:attrName>ppt_x</p:attrName>
                                        </p:attrNameLst>
                                      </p:cBhvr>
                                      <p:tavLst>
                                        <p:tav tm="0">
                                          <p:val>
                                            <p:strVal val="#ppt_x"/>
                                          </p:val>
                                        </p:tav>
                                        <p:tav tm="100000">
                                          <p:val>
                                            <p:strVal val="#ppt_x"/>
                                          </p:val>
                                        </p:tav>
                                      </p:tavLst>
                                    </p:anim>
                                    <p:anim calcmode="lin" valueType="num">
                                      <p:cBhvr additive="base">
                                        <p:cTn id="8" dur="500" fill="hold"/>
                                        <p:tgtEl>
                                          <p:spTgt spid="5519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51944"/>
                                        </p:tgtEl>
                                        <p:attrNameLst>
                                          <p:attrName>style.visibility</p:attrName>
                                        </p:attrNameLst>
                                      </p:cBhvr>
                                      <p:to>
                                        <p:strVal val="visible"/>
                                      </p:to>
                                    </p:set>
                                    <p:anim calcmode="lin" valueType="num">
                                      <p:cBhvr additive="base">
                                        <p:cTn id="13" dur="500" fill="hold"/>
                                        <p:tgtEl>
                                          <p:spTgt spid="551944"/>
                                        </p:tgtEl>
                                        <p:attrNameLst>
                                          <p:attrName>ppt_x</p:attrName>
                                        </p:attrNameLst>
                                      </p:cBhvr>
                                      <p:tavLst>
                                        <p:tav tm="0">
                                          <p:val>
                                            <p:strVal val="#ppt_x"/>
                                          </p:val>
                                        </p:tav>
                                        <p:tav tm="100000">
                                          <p:val>
                                            <p:strVal val="#ppt_x"/>
                                          </p:val>
                                        </p:tav>
                                      </p:tavLst>
                                    </p:anim>
                                    <p:anim calcmode="lin" valueType="num">
                                      <p:cBhvr additive="base">
                                        <p:cTn id="14" dur="500" fill="hold"/>
                                        <p:tgtEl>
                                          <p:spTgt spid="55194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51945"/>
                                        </p:tgtEl>
                                        <p:attrNameLst>
                                          <p:attrName>style.visibility</p:attrName>
                                        </p:attrNameLst>
                                      </p:cBhvr>
                                      <p:to>
                                        <p:strVal val="visible"/>
                                      </p:to>
                                    </p:set>
                                    <p:anim calcmode="lin" valueType="num">
                                      <p:cBhvr additive="base">
                                        <p:cTn id="17" dur="500" fill="hold"/>
                                        <p:tgtEl>
                                          <p:spTgt spid="551945"/>
                                        </p:tgtEl>
                                        <p:attrNameLst>
                                          <p:attrName>ppt_x</p:attrName>
                                        </p:attrNameLst>
                                      </p:cBhvr>
                                      <p:tavLst>
                                        <p:tav tm="0">
                                          <p:val>
                                            <p:strVal val="#ppt_x"/>
                                          </p:val>
                                        </p:tav>
                                        <p:tav tm="100000">
                                          <p:val>
                                            <p:strVal val="#ppt_x"/>
                                          </p:val>
                                        </p:tav>
                                      </p:tavLst>
                                    </p:anim>
                                    <p:anim calcmode="lin" valueType="num">
                                      <p:cBhvr additive="base">
                                        <p:cTn id="18" dur="500" fill="hold"/>
                                        <p:tgtEl>
                                          <p:spTgt spid="55194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51946"/>
                                        </p:tgtEl>
                                        <p:attrNameLst>
                                          <p:attrName>style.visibility</p:attrName>
                                        </p:attrNameLst>
                                      </p:cBhvr>
                                      <p:to>
                                        <p:strVal val="visible"/>
                                      </p:to>
                                    </p:set>
                                    <p:anim calcmode="lin" valueType="num">
                                      <p:cBhvr additive="base">
                                        <p:cTn id="21" dur="500" fill="hold"/>
                                        <p:tgtEl>
                                          <p:spTgt spid="551946"/>
                                        </p:tgtEl>
                                        <p:attrNameLst>
                                          <p:attrName>ppt_x</p:attrName>
                                        </p:attrNameLst>
                                      </p:cBhvr>
                                      <p:tavLst>
                                        <p:tav tm="0">
                                          <p:val>
                                            <p:strVal val="#ppt_x"/>
                                          </p:val>
                                        </p:tav>
                                        <p:tav tm="100000">
                                          <p:val>
                                            <p:strVal val="#ppt_x"/>
                                          </p:val>
                                        </p:tav>
                                      </p:tavLst>
                                    </p:anim>
                                    <p:anim calcmode="lin" valueType="num">
                                      <p:cBhvr additive="base">
                                        <p:cTn id="22" dur="500" fill="hold"/>
                                        <p:tgtEl>
                                          <p:spTgt spid="55194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51958"/>
                                        </p:tgtEl>
                                        <p:attrNameLst>
                                          <p:attrName>style.visibility</p:attrName>
                                        </p:attrNameLst>
                                      </p:cBhvr>
                                      <p:to>
                                        <p:strVal val="visible"/>
                                      </p:to>
                                    </p:set>
                                    <p:anim calcmode="lin" valueType="num">
                                      <p:cBhvr additive="base">
                                        <p:cTn id="27" dur="500" fill="hold"/>
                                        <p:tgtEl>
                                          <p:spTgt spid="551958"/>
                                        </p:tgtEl>
                                        <p:attrNameLst>
                                          <p:attrName>ppt_x</p:attrName>
                                        </p:attrNameLst>
                                      </p:cBhvr>
                                      <p:tavLst>
                                        <p:tav tm="0">
                                          <p:val>
                                            <p:strVal val="#ppt_x"/>
                                          </p:val>
                                        </p:tav>
                                        <p:tav tm="100000">
                                          <p:val>
                                            <p:strVal val="#ppt_x"/>
                                          </p:val>
                                        </p:tav>
                                      </p:tavLst>
                                    </p:anim>
                                    <p:anim calcmode="lin" valueType="num">
                                      <p:cBhvr additive="base">
                                        <p:cTn id="28" dur="500" fill="hold"/>
                                        <p:tgtEl>
                                          <p:spTgt spid="55195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51959"/>
                                        </p:tgtEl>
                                        <p:attrNameLst>
                                          <p:attrName>style.visibility</p:attrName>
                                        </p:attrNameLst>
                                      </p:cBhvr>
                                      <p:to>
                                        <p:strVal val="visible"/>
                                      </p:to>
                                    </p:set>
                                    <p:anim calcmode="lin" valueType="num">
                                      <p:cBhvr additive="base">
                                        <p:cTn id="31" dur="500" fill="hold"/>
                                        <p:tgtEl>
                                          <p:spTgt spid="551959"/>
                                        </p:tgtEl>
                                        <p:attrNameLst>
                                          <p:attrName>ppt_x</p:attrName>
                                        </p:attrNameLst>
                                      </p:cBhvr>
                                      <p:tavLst>
                                        <p:tav tm="0">
                                          <p:val>
                                            <p:strVal val="#ppt_x"/>
                                          </p:val>
                                        </p:tav>
                                        <p:tav tm="100000">
                                          <p:val>
                                            <p:strVal val="#ppt_x"/>
                                          </p:val>
                                        </p:tav>
                                      </p:tavLst>
                                    </p:anim>
                                    <p:anim calcmode="lin" valueType="num">
                                      <p:cBhvr additive="base">
                                        <p:cTn id="32" dur="500" fill="hold"/>
                                        <p:tgtEl>
                                          <p:spTgt spid="55195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51960"/>
                                        </p:tgtEl>
                                        <p:attrNameLst>
                                          <p:attrName>style.visibility</p:attrName>
                                        </p:attrNameLst>
                                      </p:cBhvr>
                                      <p:to>
                                        <p:strVal val="visible"/>
                                      </p:to>
                                    </p:set>
                                    <p:anim calcmode="lin" valueType="num">
                                      <p:cBhvr additive="base">
                                        <p:cTn id="35" dur="500" fill="hold"/>
                                        <p:tgtEl>
                                          <p:spTgt spid="551960"/>
                                        </p:tgtEl>
                                        <p:attrNameLst>
                                          <p:attrName>ppt_x</p:attrName>
                                        </p:attrNameLst>
                                      </p:cBhvr>
                                      <p:tavLst>
                                        <p:tav tm="0">
                                          <p:val>
                                            <p:strVal val="#ppt_x"/>
                                          </p:val>
                                        </p:tav>
                                        <p:tav tm="100000">
                                          <p:val>
                                            <p:strVal val="#ppt_x"/>
                                          </p:val>
                                        </p:tav>
                                      </p:tavLst>
                                    </p:anim>
                                    <p:anim calcmode="lin" valueType="num">
                                      <p:cBhvr additive="base">
                                        <p:cTn id="36" dur="500" fill="hold"/>
                                        <p:tgtEl>
                                          <p:spTgt spid="55196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551952"/>
                                        </p:tgtEl>
                                        <p:attrNameLst>
                                          <p:attrName>style.visibility</p:attrName>
                                        </p:attrNameLst>
                                      </p:cBhvr>
                                      <p:to>
                                        <p:strVal val="visible"/>
                                      </p:to>
                                    </p:set>
                                    <p:anim calcmode="lin" valueType="num">
                                      <p:cBhvr additive="base">
                                        <p:cTn id="41" dur="500" fill="hold"/>
                                        <p:tgtEl>
                                          <p:spTgt spid="551952"/>
                                        </p:tgtEl>
                                        <p:attrNameLst>
                                          <p:attrName>ppt_x</p:attrName>
                                        </p:attrNameLst>
                                      </p:cBhvr>
                                      <p:tavLst>
                                        <p:tav tm="0">
                                          <p:val>
                                            <p:strVal val="#ppt_x"/>
                                          </p:val>
                                        </p:tav>
                                        <p:tav tm="100000">
                                          <p:val>
                                            <p:strVal val="#ppt_x"/>
                                          </p:val>
                                        </p:tav>
                                      </p:tavLst>
                                    </p:anim>
                                    <p:anim calcmode="lin" valueType="num">
                                      <p:cBhvr additive="base">
                                        <p:cTn id="42" dur="500" fill="hold"/>
                                        <p:tgtEl>
                                          <p:spTgt spid="55195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551953"/>
                                        </p:tgtEl>
                                        <p:attrNameLst>
                                          <p:attrName>style.visibility</p:attrName>
                                        </p:attrNameLst>
                                      </p:cBhvr>
                                      <p:to>
                                        <p:strVal val="visible"/>
                                      </p:to>
                                    </p:set>
                                    <p:anim calcmode="lin" valueType="num">
                                      <p:cBhvr additive="base">
                                        <p:cTn id="45" dur="500" fill="hold"/>
                                        <p:tgtEl>
                                          <p:spTgt spid="551953"/>
                                        </p:tgtEl>
                                        <p:attrNameLst>
                                          <p:attrName>ppt_x</p:attrName>
                                        </p:attrNameLst>
                                      </p:cBhvr>
                                      <p:tavLst>
                                        <p:tav tm="0">
                                          <p:val>
                                            <p:strVal val="#ppt_x"/>
                                          </p:val>
                                        </p:tav>
                                        <p:tav tm="100000">
                                          <p:val>
                                            <p:strVal val="#ppt_x"/>
                                          </p:val>
                                        </p:tav>
                                      </p:tavLst>
                                    </p:anim>
                                    <p:anim calcmode="lin" valueType="num">
                                      <p:cBhvr additive="base">
                                        <p:cTn id="46" dur="500" fill="hold"/>
                                        <p:tgtEl>
                                          <p:spTgt spid="551953"/>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551954"/>
                                        </p:tgtEl>
                                        <p:attrNameLst>
                                          <p:attrName>style.visibility</p:attrName>
                                        </p:attrNameLst>
                                      </p:cBhvr>
                                      <p:to>
                                        <p:strVal val="visible"/>
                                      </p:to>
                                    </p:set>
                                    <p:anim calcmode="lin" valueType="num">
                                      <p:cBhvr additive="base">
                                        <p:cTn id="49" dur="500" fill="hold"/>
                                        <p:tgtEl>
                                          <p:spTgt spid="551954"/>
                                        </p:tgtEl>
                                        <p:attrNameLst>
                                          <p:attrName>ppt_x</p:attrName>
                                        </p:attrNameLst>
                                      </p:cBhvr>
                                      <p:tavLst>
                                        <p:tav tm="0">
                                          <p:val>
                                            <p:strVal val="#ppt_x"/>
                                          </p:val>
                                        </p:tav>
                                        <p:tav tm="100000">
                                          <p:val>
                                            <p:strVal val="#ppt_x"/>
                                          </p:val>
                                        </p:tav>
                                      </p:tavLst>
                                    </p:anim>
                                    <p:anim calcmode="lin" valueType="num">
                                      <p:cBhvr additive="base">
                                        <p:cTn id="50" dur="500" fill="hold"/>
                                        <p:tgtEl>
                                          <p:spTgt spid="55195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51961"/>
                                        </p:tgtEl>
                                        <p:attrNameLst>
                                          <p:attrName>style.visibility</p:attrName>
                                        </p:attrNameLst>
                                      </p:cBhvr>
                                      <p:to>
                                        <p:strVal val="visible"/>
                                      </p:to>
                                    </p:set>
                                    <p:anim calcmode="lin" valueType="num">
                                      <p:cBhvr additive="base">
                                        <p:cTn id="55" dur="500" fill="hold"/>
                                        <p:tgtEl>
                                          <p:spTgt spid="551961"/>
                                        </p:tgtEl>
                                        <p:attrNameLst>
                                          <p:attrName>ppt_x</p:attrName>
                                        </p:attrNameLst>
                                      </p:cBhvr>
                                      <p:tavLst>
                                        <p:tav tm="0">
                                          <p:val>
                                            <p:strVal val="#ppt_x"/>
                                          </p:val>
                                        </p:tav>
                                        <p:tav tm="100000">
                                          <p:val>
                                            <p:strVal val="#ppt_x"/>
                                          </p:val>
                                        </p:tav>
                                      </p:tavLst>
                                    </p:anim>
                                    <p:anim calcmode="lin" valueType="num">
                                      <p:cBhvr additive="base">
                                        <p:cTn id="56" dur="500" fill="hold"/>
                                        <p:tgtEl>
                                          <p:spTgt spid="551961"/>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51962"/>
                                        </p:tgtEl>
                                        <p:attrNameLst>
                                          <p:attrName>style.visibility</p:attrName>
                                        </p:attrNameLst>
                                      </p:cBhvr>
                                      <p:to>
                                        <p:strVal val="visible"/>
                                      </p:to>
                                    </p:set>
                                    <p:anim calcmode="lin" valueType="num">
                                      <p:cBhvr additive="base">
                                        <p:cTn id="59" dur="500" fill="hold"/>
                                        <p:tgtEl>
                                          <p:spTgt spid="551962"/>
                                        </p:tgtEl>
                                        <p:attrNameLst>
                                          <p:attrName>ppt_x</p:attrName>
                                        </p:attrNameLst>
                                      </p:cBhvr>
                                      <p:tavLst>
                                        <p:tav tm="0">
                                          <p:val>
                                            <p:strVal val="#ppt_x"/>
                                          </p:val>
                                        </p:tav>
                                        <p:tav tm="100000">
                                          <p:val>
                                            <p:strVal val="#ppt_x"/>
                                          </p:val>
                                        </p:tav>
                                      </p:tavLst>
                                    </p:anim>
                                    <p:anim calcmode="lin" valueType="num">
                                      <p:cBhvr additive="base">
                                        <p:cTn id="60" dur="500" fill="hold"/>
                                        <p:tgtEl>
                                          <p:spTgt spid="551962"/>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51963"/>
                                        </p:tgtEl>
                                        <p:attrNameLst>
                                          <p:attrName>style.visibility</p:attrName>
                                        </p:attrNameLst>
                                      </p:cBhvr>
                                      <p:to>
                                        <p:strVal val="visible"/>
                                      </p:to>
                                    </p:set>
                                    <p:anim calcmode="lin" valueType="num">
                                      <p:cBhvr additive="base">
                                        <p:cTn id="63" dur="500" fill="hold"/>
                                        <p:tgtEl>
                                          <p:spTgt spid="551963"/>
                                        </p:tgtEl>
                                        <p:attrNameLst>
                                          <p:attrName>ppt_x</p:attrName>
                                        </p:attrNameLst>
                                      </p:cBhvr>
                                      <p:tavLst>
                                        <p:tav tm="0">
                                          <p:val>
                                            <p:strVal val="#ppt_x"/>
                                          </p:val>
                                        </p:tav>
                                        <p:tav tm="100000">
                                          <p:val>
                                            <p:strVal val="#ppt_x"/>
                                          </p:val>
                                        </p:tav>
                                      </p:tavLst>
                                    </p:anim>
                                    <p:anim calcmode="lin" valueType="num">
                                      <p:cBhvr additive="base">
                                        <p:cTn id="64" dur="500" fill="hold"/>
                                        <p:tgtEl>
                                          <p:spTgt spid="551963"/>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551955"/>
                                        </p:tgtEl>
                                        <p:attrNameLst>
                                          <p:attrName>style.visibility</p:attrName>
                                        </p:attrNameLst>
                                      </p:cBhvr>
                                      <p:to>
                                        <p:strVal val="visible"/>
                                      </p:to>
                                    </p:set>
                                    <p:anim calcmode="lin" valueType="num">
                                      <p:cBhvr additive="base">
                                        <p:cTn id="69" dur="500" fill="hold"/>
                                        <p:tgtEl>
                                          <p:spTgt spid="551955"/>
                                        </p:tgtEl>
                                        <p:attrNameLst>
                                          <p:attrName>ppt_x</p:attrName>
                                        </p:attrNameLst>
                                      </p:cBhvr>
                                      <p:tavLst>
                                        <p:tav tm="0">
                                          <p:val>
                                            <p:strVal val="#ppt_x"/>
                                          </p:val>
                                        </p:tav>
                                        <p:tav tm="100000">
                                          <p:val>
                                            <p:strVal val="#ppt_x"/>
                                          </p:val>
                                        </p:tav>
                                      </p:tavLst>
                                    </p:anim>
                                    <p:anim calcmode="lin" valueType="num">
                                      <p:cBhvr additive="base">
                                        <p:cTn id="70" dur="500" fill="hold"/>
                                        <p:tgtEl>
                                          <p:spTgt spid="551955"/>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551956"/>
                                        </p:tgtEl>
                                        <p:attrNameLst>
                                          <p:attrName>style.visibility</p:attrName>
                                        </p:attrNameLst>
                                      </p:cBhvr>
                                      <p:to>
                                        <p:strVal val="visible"/>
                                      </p:to>
                                    </p:set>
                                    <p:anim calcmode="lin" valueType="num">
                                      <p:cBhvr additive="base">
                                        <p:cTn id="73" dur="500" fill="hold"/>
                                        <p:tgtEl>
                                          <p:spTgt spid="551956"/>
                                        </p:tgtEl>
                                        <p:attrNameLst>
                                          <p:attrName>ppt_x</p:attrName>
                                        </p:attrNameLst>
                                      </p:cBhvr>
                                      <p:tavLst>
                                        <p:tav tm="0">
                                          <p:val>
                                            <p:strVal val="#ppt_x"/>
                                          </p:val>
                                        </p:tav>
                                        <p:tav tm="100000">
                                          <p:val>
                                            <p:strVal val="#ppt_x"/>
                                          </p:val>
                                        </p:tav>
                                      </p:tavLst>
                                    </p:anim>
                                    <p:anim calcmode="lin" valueType="num">
                                      <p:cBhvr additive="base">
                                        <p:cTn id="74" dur="500" fill="hold"/>
                                        <p:tgtEl>
                                          <p:spTgt spid="551956"/>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551957"/>
                                        </p:tgtEl>
                                        <p:attrNameLst>
                                          <p:attrName>style.visibility</p:attrName>
                                        </p:attrNameLst>
                                      </p:cBhvr>
                                      <p:to>
                                        <p:strVal val="visible"/>
                                      </p:to>
                                    </p:set>
                                    <p:anim calcmode="lin" valueType="num">
                                      <p:cBhvr additive="base">
                                        <p:cTn id="77" dur="500" fill="hold"/>
                                        <p:tgtEl>
                                          <p:spTgt spid="551957"/>
                                        </p:tgtEl>
                                        <p:attrNameLst>
                                          <p:attrName>ppt_x</p:attrName>
                                        </p:attrNameLst>
                                      </p:cBhvr>
                                      <p:tavLst>
                                        <p:tav tm="0">
                                          <p:val>
                                            <p:strVal val="#ppt_x"/>
                                          </p:val>
                                        </p:tav>
                                        <p:tav tm="100000">
                                          <p:val>
                                            <p:strVal val="#ppt_x"/>
                                          </p:val>
                                        </p:tav>
                                      </p:tavLst>
                                    </p:anim>
                                    <p:anim calcmode="lin" valueType="num">
                                      <p:cBhvr additive="base">
                                        <p:cTn id="78" dur="500" fill="hold"/>
                                        <p:tgtEl>
                                          <p:spTgt spid="551957"/>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551964"/>
                                        </p:tgtEl>
                                        <p:attrNameLst>
                                          <p:attrName>style.visibility</p:attrName>
                                        </p:attrNameLst>
                                      </p:cBhvr>
                                      <p:to>
                                        <p:strVal val="visible"/>
                                      </p:to>
                                    </p:set>
                                    <p:anim calcmode="lin" valueType="num">
                                      <p:cBhvr additive="base">
                                        <p:cTn id="83" dur="500" fill="hold"/>
                                        <p:tgtEl>
                                          <p:spTgt spid="551964"/>
                                        </p:tgtEl>
                                        <p:attrNameLst>
                                          <p:attrName>ppt_x</p:attrName>
                                        </p:attrNameLst>
                                      </p:cBhvr>
                                      <p:tavLst>
                                        <p:tav tm="0">
                                          <p:val>
                                            <p:strVal val="#ppt_x"/>
                                          </p:val>
                                        </p:tav>
                                        <p:tav tm="100000">
                                          <p:val>
                                            <p:strVal val="#ppt_x"/>
                                          </p:val>
                                        </p:tav>
                                      </p:tavLst>
                                    </p:anim>
                                    <p:anim calcmode="lin" valueType="num">
                                      <p:cBhvr additive="base">
                                        <p:cTn id="84" dur="500" fill="hold"/>
                                        <p:tgtEl>
                                          <p:spTgt spid="551964"/>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551965"/>
                                        </p:tgtEl>
                                        <p:attrNameLst>
                                          <p:attrName>style.visibility</p:attrName>
                                        </p:attrNameLst>
                                      </p:cBhvr>
                                      <p:to>
                                        <p:strVal val="visible"/>
                                      </p:to>
                                    </p:set>
                                    <p:anim calcmode="lin" valueType="num">
                                      <p:cBhvr additive="base">
                                        <p:cTn id="87" dur="500" fill="hold"/>
                                        <p:tgtEl>
                                          <p:spTgt spid="551965"/>
                                        </p:tgtEl>
                                        <p:attrNameLst>
                                          <p:attrName>ppt_x</p:attrName>
                                        </p:attrNameLst>
                                      </p:cBhvr>
                                      <p:tavLst>
                                        <p:tav tm="0">
                                          <p:val>
                                            <p:strVal val="#ppt_x"/>
                                          </p:val>
                                        </p:tav>
                                        <p:tav tm="100000">
                                          <p:val>
                                            <p:strVal val="#ppt_x"/>
                                          </p:val>
                                        </p:tav>
                                      </p:tavLst>
                                    </p:anim>
                                    <p:anim calcmode="lin" valueType="num">
                                      <p:cBhvr additive="base">
                                        <p:cTn id="88" dur="500" fill="hold"/>
                                        <p:tgtEl>
                                          <p:spTgt spid="551965"/>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551966"/>
                                        </p:tgtEl>
                                        <p:attrNameLst>
                                          <p:attrName>style.visibility</p:attrName>
                                        </p:attrNameLst>
                                      </p:cBhvr>
                                      <p:to>
                                        <p:strVal val="visible"/>
                                      </p:to>
                                    </p:set>
                                    <p:anim calcmode="lin" valueType="num">
                                      <p:cBhvr additive="base">
                                        <p:cTn id="91" dur="500" fill="hold"/>
                                        <p:tgtEl>
                                          <p:spTgt spid="551966"/>
                                        </p:tgtEl>
                                        <p:attrNameLst>
                                          <p:attrName>ppt_x</p:attrName>
                                        </p:attrNameLst>
                                      </p:cBhvr>
                                      <p:tavLst>
                                        <p:tav tm="0">
                                          <p:val>
                                            <p:strVal val="#ppt_x"/>
                                          </p:val>
                                        </p:tav>
                                        <p:tav tm="100000">
                                          <p:val>
                                            <p:strVal val="#ppt_x"/>
                                          </p:val>
                                        </p:tav>
                                      </p:tavLst>
                                    </p:anim>
                                    <p:anim calcmode="lin" valueType="num">
                                      <p:cBhvr additive="base">
                                        <p:cTn id="92" dur="500" fill="hold"/>
                                        <p:tgtEl>
                                          <p:spTgt spid="5519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44" grpId="0" animBg="1"/>
      <p:bldP spid="551945" grpId="0" animBg="1"/>
      <p:bldP spid="551946" grpId="0" animBg="1"/>
      <p:bldP spid="551952" grpId="0" animBg="1"/>
      <p:bldP spid="551953" grpId="0" animBg="1"/>
      <p:bldP spid="551954" grpId="0" animBg="1"/>
      <p:bldP spid="551955" grpId="0" animBg="1"/>
      <p:bldP spid="551956" grpId="0" animBg="1"/>
      <p:bldP spid="551957" grpId="0" animBg="1"/>
      <p:bldP spid="551958" grpId="0" animBg="1"/>
      <p:bldP spid="551959" grpId="0" animBg="1"/>
      <p:bldP spid="551960" grpId="0" animBg="1"/>
      <p:bldP spid="551961" grpId="0" animBg="1"/>
      <p:bldP spid="551962" grpId="0" animBg="1"/>
      <p:bldP spid="551963" grpId="0" animBg="1"/>
      <p:bldP spid="551964" grpId="0" animBg="1"/>
      <p:bldP spid="551965" grpId="0" animBg="1"/>
      <p:bldP spid="55196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510977">
            <a:extLst>
              <a:ext uri="{FF2B5EF4-FFF2-40B4-BE49-F238E27FC236}">
                <a16:creationId xmlns:a16="http://schemas.microsoft.com/office/drawing/2014/main" id="{02EA8516-3F53-4F14-AD12-33BC471A8314}"/>
              </a:ext>
            </a:extLst>
          </p:cNvPr>
          <p:cNvSpPr>
            <a:spLocks noGrp="1" noChangeArrowheads="1"/>
          </p:cNvSpPr>
          <p:nvPr>
            <p:ph type="title"/>
          </p:nvPr>
        </p:nvSpPr>
        <p:spPr/>
        <p:txBody>
          <a:bodyPr/>
          <a:lstStyle/>
          <a:p>
            <a:r>
              <a:rPr lang="en-US" altLang="zh-CN"/>
              <a:t>2.4.2 </a:t>
            </a:r>
            <a:r>
              <a:rPr lang="zh-CN" altLang="en-US"/>
              <a:t>专门的关系运算</a:t>
            </a:r>
          </a:p>
        </p:txBody>
      </p:sp>
      <p:sp>
        <p:nvSpPr>
          <p:cNvPr id="31747" name="文本占位符 510978">
            <a:extLst>
              <a:ext uri="{FF2B5EF4-FFF2-40B4-BE49-F238E27FC236}">
                <a16:creationId xmlns:a16="http://schemas.microsoft.com/office/drawing/2014/main" id="{A0166A53-CDC6-4622-A4D7-49BE64F9A514}"/>
              </a:ext>
            </a:extLst>
          </p:cNvPr>
          <p:cNvSpPr>
            <a:spLocks noGrp="1" noChangeArrowheads="1"/>
          </p:cNvSpPr>
          <p:nvPr>
            <p:ph type="body" idx="1"/>
          </p:nvPr>
        </p:nvSpPr>
        <p:spPr/>
        <p:txBody>
          <a:bodyPr/>
          <a:lstStyle/>
          <a:p>
            <a:r>
              <a:rPr lang="zh-CN" altLang="en-US" dirty="0"/>
              <a:t>表示记号 </a:t>
            </a:r>
            <a:endParaRPr lang="en-US" altLang="zh-CN" dirty="0"/>
          </a:p>
          <a:p>
            <a:pPr marL="0" indent="0">
              <a:buNone/>
            </a:pPr>
            <a:r>
              <a:rPr lang="zh-CN" altLang="en-US" dirty="0"/>
              <a:t>（</a:t>
            </a:r>
            <a:r>
              <a:rPr lang="en-US" altLang="zh-CN" dirty="0"/>
              <a:t>1</a:t>
            </a:r>
            <a:r>
              <a:rPr lang="zh-CN" altLang="en-US" dirty="0"/>
              <a:t>） </a:t>
            </a:r>
            <a:r>
              <a:rPr lang="en-US" altLang="zh-CN" i="1" dirty="0"/>
              <a:t>R</a:t>
            </a:r>
            <a:r>
              <a:rPr lang="zh-CN" altLang="en-US" dirty="0"/>
              <a:t>，</a:t>
            </a:r>
            <a:r>
              <a:rPr lang="en-US" altLang="zh-CN" i="1" dirty="0" err="1"/>
              <a:t>t</a:t>
            </a:r>
            <a:r>
              <a:rPr lang="en-US" altLang="zh-CN" dirty="0" err="1">
                <a:sym typeface="Symbol" panose="05050102010706020507" pitchFamily="18" charset="2"/>
              </a:rPr>
              <a:t></a:t>
            </a:r>
            <a:r>
              <a:rPr lang="en-US" altLang="zh-CN" i="1" dirty="0" err="1"/>
              <a:t>R</a:t>
            </a:r>
            <a:r>
              <a:rPr lang="zh-CN" altLang="en-US" dirty="0"/>
              <a:t>，</a:t>
            </a:r>
            <a:r>
              <a:rPr lang="en-US" altLang="zh-CN" i="1" dirty="0"/>
              <a:t>t</a:t>
            </a:r>
            <a:r>
              <a:rPr lang="en-US" altLang="zh-CN" dirty="0"/>
              <a:t>[</a:t>
            </a:r>
            <a:r>
              <a:rPr lang="en-US" altLang="zh-CN" sz="2000" i="1" dirty="0"/>
              <a:t>A</a:t>
            </a:r>
            <a:r>
              <a:rPr lang="en-US" altLang="zh-CN" sz="2000" i="1" baseline="-25000" dirty="0"/>
              <a:t>i</a:t>
            </a:r>
            <a:r>
              <a:rPr lang="en-US" altLang="zh-CN" dirty="0"/>
              <a:t>]</a:t>
            </a:r>
          </a:p>
          <a:p>
            <a:pPr lvl="1"/>
            <a:r>
              <a:rPr lang="zh-CN" altLang="en-US" dirty="0"/>
              <a:t>设关系模式为</a:t>
            </a:r>
            <a:r>
              <a:rPr lang="en-US" altLang="zh-CN" i="1" dirty="0"/>
              <a:t>R</a:t>
            </a:r>
            <a:r>
              <a:rPr lang="en-US" altLang="zh-CN" dirty="0"/>
              <a:t>(</a:t>
            </a:r>
            <a:r>
              <a:rPr lang="en-US" altLang="zh-CN" i="1" dirty="0"/>
              <a:t>A</a:t>
            </a:r>
            <a:r>
              <a:rPr lang="en-US" altLang="zh-CN" baseline="-30000" dirty="0"/>
              <a:t>1</a:t>
            </a:r>
            <a:r>
              <a:rPr lang="zh-CN" altLang="en-US" dirty="0"/>
              <a:t>，</a:t>
            </a:r>
            <a:r>
              <a:rPr lang="en-US" altLang="zh-CN" i="1" dirty="0"/>
              <a:t>A</a:t>
            </a:r>
            <a:r>
              <a:rPr lang="en-US" altLang="zh-CN" baseline="-30000" dirty="0"/>
              <a:t>2</a:t>
            </a:r>
            <a:r>
              <a:rPr lang="zh-CN" altLang="en-US" dirty="0"/>
              <a:t>，</a:t>
            </a:r>
            <a:r>
              <a:rPr lang="en-US" altLang="zh-CN" dirty="0">
                <a:latin typeface="Verdana" panose="020B0604030504040204" pitchFamily="34" charset="0"/>
              </a:rPr>
              <a:t>…</a:t>
            </a:r>
            <a:r>
              <a:rPr lang="zh-CN" altLang="en-US" dirty="0"/>
              <a:t>，</a:t>
            </a:r>
            <a:r>
              <a:rPr lang="en-US" altLang="zh-CN" i="1" dirty="0"/>
              <a:t>A</a:t>
            </a:r>
            <a:r>
              <a:rPr lang="en-US" altLang="zh-CN" i="1" baseline="-30000" dirty="0"/>
              <a:t>n</a:t>
            </a:r>
            <a:r>
              <a:rPr lang="en-US" altLang="zh-CN" dirty="0"/>
              <a:t>)</a:t>
            </a:r>
            <a:r>
              <a:rPr lang="zh-CN" altLang="en-US" dirty="0"/>
              <a:t>它的一个关系设为</a:t>
            </a:r>
            <a:r>
              <a:rPr lang="en-US" altLang="zh-CN" i="1" dirty="0">
                <a:solidFill>
                  <a:srgbClr val="C00000"/>
                </a:solidFill>
              </a:rPr>
              <a:t>R</a:t>
            </a:r>
          </a:p>
          <a:p>
            <a:pPr lvl="1"/>
            <a:r>
              <a:rPr lang="en-US" altLang="zh-CN" i="1" dirty="0" err="1">
                <a:solidFill>
                  <a:srgbClr val="C00000"/>
                </a:solidFill>
              </a:rPr>
              <a:t>t</a:t>
            </a:r>
            <a:r>
              <a:rPr lang="en-US" altLang="zh-CN" dirty="0" err="1">
                <a:solidFill>
                  <a:srgbClr val="C00000"/>
                </a:solidFill>
                <a:sym typeface="Symbol" panose="05050102010706020507" pitchFamily="18" charset="2"/>
              </a:rPr>
              <a:t></a:t>
            </a:r>
            <a:r>
              <a:rPr lang="en-US" altLang="zh-CN" i="1" dirty="0" err="1">
                <a:solidFill>
                  <a:srgbClr val="C00000"/>
                </a:solidFill>
              </a:rPr>
              <a:t>R</a:t>
            </a:r>
            <a:r>
              <a:rPr lang="zh-CN" altLang="en-US" dirty="0"/>
              <a:t>表示</a:t>
            </a:r>
            <a:r>
              <a:rPr lang="en-US" altLang="zh-CN" i="1" dirty="0"/>
              <a:t>t</a:t>
            </a:r>
            <a:r>
              <a:rPr lang="zh-CN" altLang="en-US" dirty="0"/>
              <a:t>是</a:t>
            </a:r>
            <a:r>
              <a:rPr lang="en-US" altLang="zh-CN" i="1" dirty="0"/>
              <a:t>R</a:t>
            </a:r>
            <a:r>
              <a:rPr lang="zh-CN" altLang="en-US" dirty="0"/>
              <a:t>的一个元组</a:t>
            </a:r>
            <a:endParaRPr lang="en-US" altLang="zh-CN" dirty="0"/>
          </a:p>
          <a:p>
            <a:pPr lvl="1"/>
            <a:r>
              <a:rPr lang="en-US" altLang="zh-CN" i="1" dirty="0">
                <a:solidFill>
                  <a:srgbClr val="C00000"/>
                </a:solidFill>
              </a:rPr>
              <a:t>t</a:t>
            </a:r>
            <a:r>
              <a:rPr lang="en-US" altLang="zh-CN" dirty="0">
                <a:solidFill>
                  <a:srgbClr val="C00000"/>
                </a:solidFill>
              </a:rPr>
              <a:t>[</a:t>
            </a:r>
            <a:r>
              <a:rPr lang="en-US" altLang="zh-CN" i="1" dirty="0">
                <a:solidFill>
                  <a:srgbClr val="C00000"/>
                </a:solidFill>
              </a:rPr>
              <a:t>A</a:t>
            </a:r>
            <a:r>
              <a:rPr lang="en-US" altLang="zh-CN" i="1" baseline="-30000" dirty="0">
                <a:solidFill>
                  <a:srgbClr val="C00000"/>
                </a:solidFill>
              </a:rPr>
              <a:t>i</a:t>
            </a:r>
            <a:r>
              <a:rPr lang="en-US" altLang="zh-CN" dirty="0">
                <a:solidFill>
                  <a:srgbClr val="C00000"/>
                </a:solidFill>
              </a:rPr>
              <a:t>]</a:t>
            </a:r>
            <a:r>
              <a:rPr lang="zh-CN" altLang="en-US" dirty="0"/>
              <a:t>则表示元组</a:t>
            </a:r>
            <a:r>
              <a:rPr lang="en-US" altLang="zh-CN" i="1" dirty="0"/>
              <a:t>t</a:t>
            </a:r>
            <a:r>
              <a:rPr lang="zh-CN" altLang="en-US" dirty="0"/>
              <a:t>中相应于属性</a:t>
            </a:r>
            <a:r>
              <a:rPr lang="en-US" altLang="zh-CN" i="1" dirty="0"/>
              <a:t>A</a:t>
            </a:r>
            <a:r>
              <a:rPr lang="en-US" altLang="zh-CN" i="1" baseline="-30000" dirty="0"/>
              <a:t>i</a:t>
            </a:r>
            <a:r>
              <a:rPr lang="zh-CN" altLang="en-US" dirty="0"/>
              <a:t>的一个分量 </a:t>
            </a:r>
          </a:p>
          <a:p>
            <a:pPr marL="0" indent="0">
              <a:buNone/>
            </a:pPr>
            <a:endParaRPr lang="en-US" altLang="zh-CN" dirty="0"/>
          </a:p>
          <a:p>
            <a:pPr marL="0" indent="0">
              <a:buNone/>
            </a:pPr>
            <a:r>
              <a:rPr lang="zh-CN" altLang="en-US" dirty="0"/>
              <a:t>（</a:t>
            </a:r>
            <a:r>
              <a:rPr lang="en-US" altLang="zh-CN" dirty="0"/>
              <a:t>2</a:t>
            </a:r>
            <a:r>
              <a:rPr lang="zh-CN" altLang="en-US" dirty="0"/>
              <a:t>） </a:t>
            </a:r>
            <a:r>
              <a:rPr lang="en-US" altLang="zh-CN" i="1" dirty="0"/>
              <a:t>A</a:t>
            </a:r>
            <a:r>
              <a:rPr lang="zh-CN" altLang="en-US" dirty="0"/>
              <a:t>，</a:t>
            </a:r>
            <a:r>
              <a:rPr lang="en-US" altLang="zh-CN" i="1" dirty="0"/>
              <a:t>t</a:t>
            </a:r>
            <a:r>
              <a:rPr lang="en-US" altLang="zh-CN" dirty="0"/>
              <a:t>[</a:t>
            </a:r>
            <a:r>
              <a:rPr lang="en-US" altLang="zh-CN" i="1" dirty="0"/>
              <a:t>A</a:t>
            </a:r>
            <a:r>
              <a:rPr lang="en-US" altLang="zh-CN" dirty="0"/>
              <a:t>]</a:t>
            </a:r>
            <a:r>
              <a:rPr lang="zh-CN" altLang="en-US" dirty="0"/>
              <a:t>， </a:t>
            </a:r>
            <a:r>
              <a:rPr lang="en-US" altLang="zh-CN" i="1" dirty="0"/>
              <a:t>A</a:t>
            </a:r>
          </a:p>
          <a:p>
            <a:pPr lvl="1"/>
            <a:r>
              <a:rPr lang="zh-CN" altLang="en-US" dirty="0"/>
              <a:t>若</a:t>
            </a:r>
            <a:r>
              <a:rPr lang="en-US" altLang="zh-CN" i="1" dirty="0">
                <a:solidFill>
                  <a:srgbClr val="C00000"/>
                </a:solidFill>
              </a:rPr>
              <a:t>A</a:t>
            </a:r>
            <a:r>
              <a:rPr lang="en-US" altLang="zh-CN" dirty="0"/>
              <a:t>={</a:t>
            </a:r>
            <a:r>
              <a:rPr lang="en-US" altLang="zh-CN" i="1" dirty="0"/>
              <a:t>A</a:t>
            </a:r>
            <a:r>
              <a:rPr lang="en-US" altLang="zh-CN" i="1" baseline="-30000" dirty="0"/>
              <a:t>i</a:t>
            </a:r>
            <a:r>
              <a:rPr lang="en-US" altLang="zh-CN" baseline="-30000" dirty="0"/>
              <a:t>1</a:t>
            </a:r>
            <a:r>
              <a:rPr lang="zh-CN" altLang="en-US" dirty="0"/>
              <a:t>，</a:t>
            </a:r>
            <a:r>
              <a:rPr lang="en-US" altLang="zh-CN" i="1" dirty="0"/>
              <a:t>A</a:t>
            </a:r>
            <a:r>
              <a:rPr lang="en-US" altLang="zh-CN" i="1" baseline="-30000" dirty="0"/>
              <a:t>i</a:t>
            </a:r>
            <a:r>
              <a:rPr lang="en-US" altLang="zh-CN" baseline="-30000" dirty="0"/>
              <a:t>2</a:t>
            </a:r>
            <a:r>
              <a:rPr lang="zh-CN" altLang="en-US" dirty="0"/>
              <a:t>，</a:t>
            </a:r>
            <a:r>
              <a:rPr lang="en-US" altLang="zh-CN" dirty="0">
                <a:latin typeface="Verdana" panose="020B0604030504040204" pitchFamily="34" charset="0"/>
              </a:rPr>
              <a:t>…</a:t>
            </a:r>
            <a:r>
              <a:rPr lang="zh-CN" altLang="en-US" dirty="0"/>
              <a:t>，</a:t>
            </a:r>
            <a:r>
              <a:rPr lang="en-US" altLang="zh-CN" i="1" dirty="0" err="1"/>
              <a:t>A</a:t>
            </a:r>
            <a:r>
              <a:rPr lang="en-US" altLang="zh-CN" i="1" baseline="-30000" dirty="0" err="1"/>
              <a:t>ik</a:t>
            </a:r>
            <a:r>
              <a:rPr lang="en-US" altLang="zh-CN" dirty="0"/>
              <a:t>} </a:t>
            </a:r>
            <a:r>
              <a:rPr lang="zh-CN" altLang="en-US" dirty="0"/>
              <a:t>，其中</a:t>
            </a:r>
            <a:r>
              <a:rPr lang="en-US" altLang="zh-CN" i="1" dirty="0"/>
              <a:t>A</a:t>
            </a:r>
            <a:r>
              <a:rPr lang="en-US" altLang="zh-CN" i="1" baseline="-30000" dirty="0"/>
              <a:t>i</a:t>
            </a:r>
            <a:r>
              <a:rPr lang="en-US" altLang="zh-CN" baseline="-30000" dirty="0"/>
              <a:t>1</a:t>
            </a:r>
            <a:r>
              <a:rPr lang="zh-CN" altLang="en-US" dirty="0"/>
              <a:t>，</a:t>
            </a:r>
            <a:r>
              <a:rPr lang="en-US" altLang="zh-CN" i="1" dirty="0"/>
              <a:t>A</a:t>
            </a:r>
            <a:r>
              <a:rPr lang="en-US" altLang="zh-CN" i="1" baseline="-30000" dirty="0"/>
              <a:t>i</a:t>
            </a:r>
            <a:r>
              <a:rPr lang="en-US" altLang="zh-CN" baseline="-30000" dirty="0"/>
              <a:t>2</a:t>
            </a:r>
            <a:r>
              <a:rPr lang="zh-CN" altLang="en-US" dirty="0"/>
              <a:t>，</a:t>
            </a:r>
            <a:r>
              <a:rPr lang="en-US" altLang="zh-CN" dirty="0">
                <a:latin typeface="Verdana" panose="020B0604030504040204" pitchFamily="34" charset="0"/>
              </a:rPr>
              <a:t>…</a:t>
            </a:r>
            <a:r>
              <a:rPr lang="zh-CN" altLang="en-US" dirty="0"/>
              <a:t>，</a:t>
            </a:r>
            <a:r>
              <a:rPr lang="en-US" altLang="zh-CN" i="1" dirty="0" err="1"/>
              <a:t>A</a:t>
            </a:r>
            <a:r>
              <a:rPr lang="en-US" altLang="zh-CN" i="1" baseline="-30000" dirty="0" err="1"/>
              <a:t>ik</a:t>
            </a:r>
            <a:r>
              <a:rPr lang="zh-CN" altLang="en-US" dirty="0"/>
              <a:t>是</a:t>
            </a:r>
            <a:r>
              <a:rPr lang="en-US" altLang="zh-CN" i="1" dirty="0"/>
              <a:t>A</a:t>
            </a:r>
            <a:r>
              <a:rPr lang="en-US" altLang="zh-CN" baseline="-30000" dirty="0"/>
              <a:t>1</a:t>
            </a:r>
            <a:r>
              <a:rPr lang="zh-CN" altLang="en-US" dirty="0"/>
              <a:t>，</a:t>
            </a:r>
            <a:r>
              <a:rPr lang="en-US" altLang="zh-CN" i="1" dirty="0"/>
              <a:t>A</a:t>
            </a:r>
            <a:r>
              <a:rPr lang="en-US" altLang="zh-CN" baseline="-30000" dirty="0"/>
              <a:t>2</a:t>
            </a:r>
            <a:r>
              <a:rPr lang="zh-CN" altLang="en-US" dirty="0"/>
              <a:t>，</a:t>
            </a:r>
            <a:r>
              <a:rPr lang="en-US" altLang="zh-CN" dirty="0">
                <a:latin typeface="Verdana" panose="020B0604030504040204" pitchFamily="34" charset="0"/>
              </a:rPr>
              <a:t>…</a:t>
            </a:r>
            <a:r>
              <a:rPr lang="zh-CN" altLang="en-US" dirty="0"/>
              <a:t>，</a:t>
            </a:r>
            <a:r>
              <a:rPr lang="en-US" altLang="zh-CN" i="1" dirty="0"/>
              <a:t>A</a:t>
            </a:r>
            <a:r>
              <a:rPr lang="en-US" altLang="zh-CN" i="1" baseline="-30000" dirty="0"/>
              <a:t>n</a:t>
            </a:r>
            <a:r>
              <a:rPr lang="zh-CN" altLang="en-US" dirty="0"/>
              <a:t>中的一部分，则</a:t>
            </a:r>
            <a:r>
              <a:rPr lang="en-US" altLang="zh-CN" i="1" dirty="0"/>
              <a:t>A</a:t>
            </a:r>
            <a:r>
              <a:rPr lang="zh-CN" altLang="en-US" dirty="0"/>
              <a:t>称为属性列或属性组。</a:t>
            </a:r>
          </a:p>
          <a:p>
            <a:pPr lvl="1"/>
            <a:r>
              <a:rPr lang="en-US" altLang="zh-CN" i="1" dirty="0">
                <a:solidFill>
                  <a:srgbClr val="C00000"/>
                </a:solidFill>
              </a:rPr>
              <a:t>t[A]</a:t>
            </a:r>
            <a:r>
              <a:rPr lang="en-US" altLang="zh-CN" dirty="0"/>
              <a:t>=(</a:t>
            </a:r>
            <a:r>
              <a:rPr lang="en-US" altLang="zh-CN" i="1" dirty="0"/>
              <a:t>t</a:t>
            </a:r>
            <a:r>
              <a:rPr lang="en-US" altLang="zh-CN" dirty="0"/>
              <a:t>[</a:t>
            </a:r>
            <a:r>
              <a:rPr lang="en-US" altLang="zh-CN" i="1" dirty="0"/>
              <a:t>A</a:t>
            </a:r>
            <a:r>
              <a:rPr lang="en-US" altLang="zh-CN" i="1" baseline="-30000" dirty="0"/>
              <a:t>i</a:t>
            </a:r>
            <a:r>
              <a:rPr lang="en-US" altLang="zh-CN" baseline="-30000" dirty="0"/>
              <a:t>1</a:t>
            </a:r>
            <a:r>
              <a:rPr lang="en-US" altLang="zh-CN" dirty="0"/>
              <a:t>]</a:t>
            </a:r>
            <a:r>
              <a:rPr lang="zh-CN" altLang="en-US" dirty="0"/>
              <a:t>，</a:t>
            </a:r>
            <a:r>
              <a:rPr lang="en-US" altLang="zh-CN" i="1" dirty="0"/>
              <a:t>t</a:t>
            </a:r>
            <a:r>
              <a:rPr lang="en-US" altLang="zh-CN" dirty="0"/>
              <a:t>[</a:t>
            </a:r>
            <a:r>
              <a:rPr lang="en-US" altLang="zh-CN" i="1" dirty="0"/>
              <a:t>A</a:t>
            </a:r>
            <a:r>
              <a:rPr lang="en-US" altLang="zh-CN" i="1" baseline="-30000" dirty="0"/>
              <a:t>i</a:t>
            </a:r>
            <a:r>
              <a:rPr lang="en-US" altLang="zh-CN" baseline="-30000" dirty="0"/>
              <a:t>2</a:t>
            </a:r>
            <a:r>
              <a:rPr lang="en-US" altLang="zh-CN" dirty="0"/>
              <a:t>]</a:t>
            </a:r>
            <a:r>
              <a:rPr lang="zh-CN" altLang="en-US" dirty="0"/>
              <a:t>，</a:t>
            </a:r>
            <a:r>
              <a:rPr lang="en-US" altLang="zh-CN" dirty="0">
                <a:latin typeface="Verdana" panose="020B0604030504040204" pitchFamily="34" charset="0"/>
              </a:rPr>
              <a:t>…</a:t>
            </a:r>
            <a:r>
              <a:rPr lang="zh-CN" altLang="en-US" dirty="0"/>
              <a:t>，</a:t>
            </a:r>
            <a:r>
              <a:rPr lang="en-US" altLang="zh-CN" i="1" dirty="0"/>
              <a:t>t</a:t>
            </a:r>
            <a:r>
              <a:rPr lang="en-US" altLang="zh-CN" dirty="0"/>
              <a:t>[</a:t>
            </a:r>
            <a:r>
              <a:rPr lang="en-US" altLang="zh-CN" i="1" dirty="0" err="1"/>
              <a:t>A</a:t>
            </a:r>
            <a:r>
              <a:rPr lang="en-US" altLang="zh-CN" i="1" baseline="-30000" dirty="0" err="1"/>
              <a:t>ik</a:t>
            </a:r>
            <a:r>
              <a:rPr lang="en-US" altLang="zh-CN" dirty="0"/>
              <a:t>])</a:t>
            </a:r>
            <a:r>
              <a:rPr lang="zh-CN" altLang="en-US" dirty="0"/>
              <a:t>表示元组</a:t>
            </a:r>
            <a:r>
              <a:rPr lang="en-US" altLang="zh-CN" i="1" dirty="0"/>
              <a:t>t</a:t>
            </a:r>
            <a:r>
              <a:rPr lang="zh-CN" altLang="en-US" dirty="0"/>
              <a:t>在属性列</a:t>
            </a:r>
            <a:r>
              <a:rPr lang="en-US" altLang="zh-CN" i="1" dirty="0"/>
              <a:t>A</a:t>
            </a:r>
            <a:r>
              <a:rPr lang="zh-CN" altLang="en-US" dirty="0"/>
              <a:t>上诸分量的集合。</a:t>
            </a:r>
          </a:p>
          <a:p>
            <a:pPr lvl="1"/>
            <a:r>
              <a:rPr lang="en-US" altLang="zh-CN" i="1" dirty="0"/>
              <a:t>A</a:t>
            </a:r>
            <a:r>
              <a:rPr lang="zh-CN" altLang="en-US" dirty="0"/>
              <a:t>则表示</a:t>
            </a:r>
            <a:r>
              <a:rPr lang="en-US" altLang="zh-CN" dirty="0"/>
              <a:t>{</a:t>
            </a:r>
            <a:r>
              <a:rPr lang="en-US" altLang="zh-CN" i="1" dirty="0"/>
              <a:t>A</a:t>
            </a:r>
            <a:r>
              <a:rPr lang="en-US" altLang="zh-CN" baseline="-30000" dirty="0"/>
              <a:t>1</a:t>
            </a:r>
            <a:r>
              <a:rPr lang="zh-CN" altLang="en-US" dirty="0"/>
              <a:t>，</a:t>
            </a:r>
            <a:r>
              <a:rPr lang="en-US" altLang="zh-CN" i="1" dirty="0"/>
              <a:t>A</a:t>
            </a:r>
            <a:r>
              <a:rPr lang="en-US" altLang="zh-CN" baseline="-30000" dirty="0"/>
              <a:t>2</a:t>
            </a:r>
            <a:r>
              <a:rPr lang="zh-CN" altLang="en-US" dirty="0"/>
              <a:t>，</a:t>
            </a:r>
            <a:r>
              <a:rPr lang="en-US" altLang="zh-CN" dirty="0">
                <a:latin typeface="Verdana" panose="020B0604030504040204" pitchFamily="34" charset="0"/>
              </a:rPr>
              <a:t>…</a:t>
            </a:r>
            <a:r>
              <a:rPr lang="zh-CN" altLang="en-US" dirty="0"/>
              <a:t>，</a:t>
            </a:r>
            <a:r>
              <a:rPr lang="en-US" altLang="zh-CN" i="1" dirty="0"/>
              <a:t>A</a:t>
            </a:r>
            <a:r>
              <a:rPr lang="en-US" altLang="zh-CN" i="1" baseline="-30000" dirty="0"/>
              <a:t>n</a:t>
            </a:r>
            <a:r>
              <a:rPr lang="en-US" altLang="zh-CN" dirty="0"/>
              <a:t>}</a:t>
            </a:r>
            <a:r>
              <a:rPr lang="zh-CN" altLang="en-US" dirty="0"/>
              <a:t>中去掉</a:t>
            </a:r>
            <a:r>
              <a:rPr lang="en-US" altLang="zh-CN" dirty="0"/>
              <a:t>{</a:t>
            </a:r>
            <a:r>
              <a:rPr lang="en-US" altLang="zh-CN" i="1" dirty="0"/>
              <a:t>A</a:t>
            </a:r>
            <a:r>
              <a:rPr lang="en-US" altLang="zh-CN" i="1" baseline="-30000" dirty="0"/>
              <a:t>i</a:t>
            </a:r>
            <a:r>
              <a:rPr lang="en-US" altLang="zh-CN" baseline="-30000" dirty="0"/>
              <a:t>1</a:t>
            </a:r>
            <a:r>
              <a:rPr lang="zh-CN" altLang="en-US" dirty="0"/>
              <a:t>，</a:t>
            </a:r>
            <a:r>
              <a:rPr lang="en-US" altLang="zh-CN" i="1" dirty="0"/>
              <a:t>A</a:t>
            </a:r>
            <a:r>
              <a:rPr lang="en-US" altLang="zh-CN" i="1" baseline="-30000" dirty="0"/>
              <a:t>i</a:t>
            </a:r>
            <a:r>
              <a:rPr lang="en-US" altLang="zh-CN" baseline="-30000" dirty="0"/>
              <a:t>2</a:t>
            </a:r>
            <a:r>
              <a:rPr lang="zh-CN" altLang="en-US" dirty="0"/>
              <a:t>，</a:t>
            </a:r>
            <a:r>
              <a:rPr lang="en-US" altLang="zh-CN" dirty="0">
                <a:latin typeface="Verdana" panose="020B0604030504040204" pitchFamily="34" charset="0"/>
              </a:rPr>
              <a:t>…</a:t>
            </a:r>
            <a:r>
              <a:rPr lang="zh-CN" altLang="en-US" dirty="0"/>
              <a:t>，</a:t>
            </a:r>
            <a:r>
              <a:rPr lang="en-US" altLang="zh-CN" i="1" dirty="0" err="1"/>
              <a:t>A</a:t>
            </a:r>
            <a:r>
              <a:rPr lang="en-US" altLang="zh-CN" i="1" baseline="-30000" dirty="0" err="1"/>
              <a:t>ik</a:t>
            </a:r>
            <a:r>
              <a:rPr lang="en-US" altLang="zh-CN" dirty="0"/>
              <a:t>}</a:t>
            </a:r>
            <a:r>
              <a:rPr lang="zh-CN" altLang="en-US" dirty="0"/>
              <a:t>后剩余的属性组。 </a:t>
            </a:r>
          </a:p>
          <a:p>
            <a:endParaRPr lang="zh-CN" altLang="en-US" dirty="0"/>
          </a:p>
        </p:txBody>
      </p:sp>
      <p:sp>
        <p:nvSpPr>
          <p:cNvPr id="6" name="Line 5">
            <a:extLst>
              <a:ext uri="{FF2B5EF4-FFF2-40B4-BE49-F238E27FC236}">
                <a16:creationId xmlns:a16="http://schemas.microsoft.com/office/drawing/2014/main" id="{1FDB6B0A-7600-4732-B8EC-367C38D85692}"/>
              </a:ext>
            </a:extLst>
          </p:cNvPr>
          <p:cNvSpPr>
            <a:spLocks noChangeShapeType="1"/>
          </p:cNvSpPr>
          <p:nvPr/>
        </p:nvSpPr>
        <p:spPr bwMode="auto">
          <a:xfrm>
            <a:off x="1459268" y="5631913"/>
            <a:ext cx="2159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5">
            <a:extLst>
              <a:ext uri="{FF2B5EF4-FFF2-40B4-BE49-F238E27FC236}">
                <a16:creationId xmlns:a16="http://schemas.microsoft.com/office/drawing/2014/main" id="{306F4D81-D642-430B-A59C-4A40F4DC3541}"/>
              </a:ext>
            </a:extLst>
          </p:cNvPr>
          <p:cNvSpPr>
            <a:spLocks noChangeShapeType="1"/>
          </p:cNvSpPr>
          <p:nvPr/>
        </p:nvSpPr>
        <p:spPr bwMode="auto">
          <a:xfrm>
            <a:off x="3326571" y="3972563"/>
            <a:ext cx="2159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0D5F7BEF-2162-42A5-BA80-60B6FC58E2DF}"/>
              </a:ext>
            </a:extLst>
          </p:cNvPr>
          <p:cNvSpPr>
            <a:spLocks noGrp="1"/>
          </p:cNvSpPr>
          <p:nvPr>
            <p:ph type="sldNum" sz="quarter" idx="12"/>
          </p:nvPr>
        </p:nvSpPr>
        <p:spPr/>
        <p:txBody>
          <a:bodyPr/>
          <a:lstStyle/>
          <a:p>
            <a:fld id="{47C9E101-E51D-431E-84FA-C029B8655B60}" type="slidenum">
              <a:rPr lang="zh-CN" altLang="en-US" smtClean="0"/>
              <a:pPr/>
              <a:t>59</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747">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747">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747">
                                            <p:txEl>
                                              <p:pRg st="9" end="9"/>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513025">
            <a:extLst>
              <a:ext uri="{FF2B5EF4-FFF2-40B4-BE49-F238E27FC236}">
                <a16:creationId xmlns:a16="http://schemas.microsoft.com/office/drawing/2014/main" id="{48BFD04F-7DA3-4085-B990-5D3F87482C52}"/>
              </a:ext>
            </a:extLst>
          </p:cNvPr>
          <p:cNvSpPr>
            <a:spLocks noGrp="1" noChangeArrowheads="1"/>
          </p:cNvSpPr>
          <p:nvPr>
            <p:ph type="title"/>
          </p:nvPr>
        </p:nvSpPr>
        <p:spPr/>
        <p:txBody>
          <a:bodyPr/>
          <a:lstStyle/>
          <a:p>
            <a:r>
              <a:rPr lang="zh-CN" altLang="en-US"/>
              <a:t>专门的关系运算</a:t>
            </a:r>
            <a:r>
              <a:rPr lang="en-US" altLang="zh-CN"/>
              <a:t>(</a:t>
            </a:r>
            <a:r>
              <a:rPr lang="zh-CN" altLang="en-US"/>
              <a:t>续</a:t>
            </a:r>
            <a:r>
              <a:rPr lang="en-US" altLang="zh-CN"/>
              <a:t>)</a:t>
            </a:r>
          </a:p>
        </p:txBody>
      </p:sp>
      <p:sp>
        <p:nvSpPr>
          <p:cNvPr id="3" name="内容占位符 2">
            <a:extLst>
              <a:ext uri="{FF2B5EF4-FFF2-40B4-BE49-F238E27FC236}">
                <a16:creationId xmlns:a16="http://schemas.microsoft.com/office/drawing/2014/main" id="{1E76EBE6-D563-457C-AB07-BEE0BCADC8F6}"/>
              </a:ext>
            </a:extLst>
          </p:cNvPr>
          <p:cNvSpPr>
            <a:spLocks noGrp="1"/>
          </p:cNvSpPr>
          <p:nvPr>
            <p:ph idx="1"/>
          </p:nvPr>
        </p:nvSpPr>
        <p:spPr/>
        <p:txBody>
          <a:bodyPr/>
          <a:lstStyle/>
          <a:p>
            <a:pPr marL="0" indent="0">
              <a:buNone/>
            </a:pPr>
            <a:r>
              <a:rPr lang="zh-CN" altLang="en-US" sz="2000" dirty="0"/>
              <a:t>（</a:t>
            </a:r>
            <a:r>
              <a:rPr lang="en-US" altLang="zh-CN" sz="2000" dirty="0"/>
              <a:t>3</a:t>
            </a:r>
            <a:r>
              <a:rPr lang="zh-CN" altLang="en-US" sz="2000" dirty="0"/>
              <a:t>）</a:t>
            </a:r>
            <a:r>
              <a:rPr lang="en-US" altLang="zh-CN" sz="2000" i="1" dirty="0"/>
              <a:t>t</a:t>
            </a:r>
            <a:r>
              <a:rPr lang="en-US" altLang="zh-CN" sz="2000" baseline="-30000" dirty="0"/>
              <a:t>r </a:t>
            </a:r>
            <a:r>
              <a:rPr lang="en-US" altLang="zh-CN" sz="2000" i="1" dirty="0" err="1"/>
              <a:t>t</a:t>
            </a:r>
            <a:r>
              <a:rPr lang="en-US" altLang="zh-CN" sz="2000" baseline="-30000" dirty="0" err="1"/>
              <a:t>s</a:t>
            </a:r>
            <a:r>
              <a:rPr lang="en-US" altLang="zh-CN" sz="2000" baseline="-30000" dirty="0"/>
              <a:t> </a:t>
            </a:r>
          </a:p>
          <a:p>
            <a:pPr lvl="1"/>
            <a:r>
              <a:rPr lang="en-US" altLang="zh-CN" i="1" dirty="0"/>
              <a:t>R</a:t>
            </a:r>
            <a:r>
              <a:rPr lang="zh-CN" altLang="en-US" dirty="0"/>
              <a:t>为</a:t>
            </a:r>
            <a:r>
              <a:rPr lang="en-US" altLang="zh-CN" i="1" dirty="0"/>
              <a:t>n</a:t>
            </a:r>
            <a:r>
              <a:rPr lang="zh-CN" altLang="en-US" dirty="0"/>
              <a:t>目关系，</a:t>
            </a:r>
            <a:r>
              <a:rPr lang="en-US" altLang="zh-CN" i="1" dirty="0"/>
              <a:t>S</a:t>
            </a:r>
            <a:r>
              <a:rPr lang="zh-CN" altLang="en-US" dirty="0"/>
              <a:t>为</a:t>
            </a:r>
            <a:r>
              <a:rPr lang="en-US" altLang="zh-CN" i="1" dirty="0"/>
              <a:t>m</a:t>
            </a:r>
            <a:r>
              <a:rPr lang="zh-CN" altLang="en-US" dirty="0"/>
              <a:t>目关系。</a:t>
            </a:r>
            <a:r>
              <a:rPr lang="en-US" altLang="zh-CN" i="1" dirty="0"/>
              <a:t> </a:t>
            </a:r>
          </a:p>
          <a:p>
            <a:pPr lvl="1"/>
            <a:r>
              <a:rPr lang="en-US" altLang="zh-CN" i="1" dirty="0"/>
              <a:t>t</a:t>
            </a:r>
            <a:r>
              <a:rPr lang="en-US" altLang="zh-CN" baseline="-30000" dirty="0"/>
              <a:t>r </a:t>
            </a:r>
            <a:r>
              <a:rPr lang="en-US" altLang="zh-CN" dirty="0">
                <a:sym typeface="Symbol" panose="05050102010706020507" pitchFamily="18" charset="2"/>
              </a:rPr>
              <a:t></a:t>
            </a:r>
            <a:r>
              <a:rPr lang="en-US" altLang="zh-CN" i="1" dirty="0"/>
              <a:t>R</a:t>
            </a:r>
            <a:r>
              <a:rPr lang="zh-CN" altLang="en-US" dirty="0"/>
              <a:t>，</a:t>
            </a:r>
            <a:r>
              <a:rPr lang="en-US" altLang="zh-CN" i="1" dirty="0" err="1"/>
              <a:t>t</a:t>
            </a:r>
            <a:r>
              <a:rPr lang="en-US" altLang="zh-CN" baseline="-30000" dirty="0" err="1"/>
              <a:t>s</a:t>
            </a:r>
            <a:r>
              <a:rPr lang="en-US" altLang="zh-CN" dirty="0" err="1">
                <a:sym typeface="Symbol" panose="05050102010706020507" pitchFamily="18" charset="2"/>
              </a:rPr>
              <a:t></a:t>
            </a:r>
            <a:r>
              <a:rPr lang="en-US" altLang="zh-CN" i="1" dirty="0" err="1"/>
              <a:t>S</a:t>
            </a:r>
            <a:r>
              <a:rPr lang="zh-CN" altLang="en-US" dirty="0"/>
              <a:t>， </a:t>
            </a:r>
            <a:r>
              <a:rPr lang="en-US" altLang="zh-CN" i="1" dirty="0">
                <a:solidFill>
                  <a:srgbClr val="C00000"/>
                </a:solidFill>
              </a:rPr>
              <a:t>t</a:t>
            </a:r>
            <a:r>
              <a:rPr lang="en-US" altLang="zh-CN" baseline="-30000" dirty="0">
                <a:solidFill>
                  <a:srgbClr val="C00000"/>
                </a:solidFill>
              </a:rPr>
              <a:t>r </a:t>
            </a:r>
            <a:r>
              <a:rPr lang="en-US" altLang="zh-CN" i="1" dirty="0" err="1">
                <a:solidFill>
                  <a:srgbClr val="C00000"/>
                </a:solidFill>
              </a:rPr>
              <a:t>t</a:t>
            </a:r>
            <a:r>
              <a:rPr lang="en-US" altLang="zh-CN" baseline="-30000" dirty="0" err="1">
                <a:solidFill>
                  <a:srgbClr val="C00000"/>
                </a:solidFill>
              </a:rPr>
              <a:t>s</a:t>
            </a:r>
            <a:r>
              <a:rPr lang="zh-CN" altLang="en-US" dirty="0"/>
              <a:t>称为元组的连接。</a:t>
            </a:r>
            <a:endParaRPr lang="en-US" altLang="zh-CN" dirty="0"/>
          </a:p>
          <a:p>
            <a:pPr lvl="1"/>
            <a:r>
              <a:rPr lang="zh-CN" altLang="en-US" dirty="0"/>
              <a:t>它是一个</a:t>
            </a:r>
            <a:r>
              <a:rPr lang="en-US" altLang="zh-CN" i="1" dirty="0"/>
              <a:t>n</a:t>
            </a:r>
            <a:r>
              <a:rPr lang="en-US" altLang="zh-CN" dirty="0"/>
              <a:t> + </a:t>
            </a:r>
            <a:r>
              <a:rPr lang="en-US" altLang="zh-CN" i="1" dirty="0"/>
              <a:t>m</a:t>
            </a:r>
            <a:r>
              <a:rPr lang="zh-CN" altLang="en-US" dirty="0"/>
              <a:t>列的元组，前</a:t>
            </a:r>
            <a:r>
              <a:rPr lang="en-US" altLang="zh-CN" i="1" dirty="0"/>
              <a:t>n</a:t>
            </a:r>
            <a:r>
              <a:rPr lang="zh-CN" altLang="en-US" dirty="0"/>
              <a:t>个分量为</a:t>
            </a:r>
            <a:r>
              <a:rPr lang="en-US" altLang="zh-CN" i="1" dirty="0"/>
              <a:t>R</a:t>
            </a:r>
            <a:r>
              <a:rPr lang="zh-CN" altLang="en-US" dirty="0"/>
              <a:t>中的一个</a:t>
            </a:r>
            <a:r>
              <a:rPr lang="en-US" altLang="zh-CN" i="1" dirty="0"/>
              <a:t>n</a:t>
            </a:r>
            <a:r>
              <a:rPr lang="zh-CN" altLang="en-US" dirty="0"/>
              <a:t>元组，后</a:t>
            </a:r>
            <a:r>
              <a:rPr lang="en-US" altLang="zh-CN" i="1" dirty="0"/>
              <a:t>m</a:t>
            </a:r>
            <a:r>
              <a:rPr lang="zh-CN" altLang="en-US" dirty="0"/>
              <a:t>个分量为</a:t>
            </a:r>
            <a:r>
              <a:rPr lang="en-US" altLang="zh-CN" i="1" dirty="0"/>
              <a:t>S</a:t>
            </a:r>
            <a:r>
              <a:rPr lang="zh-CN" altLang="en-US" dirty="0"/>
              <a:t>中的一个</a:t>
            </a:r>
            <a:r>
              <a:rPr lang="en-US" altLang="zh-CN" i="1" dirty="0"/>
              <a:t>m</a:t>
            </a:r>
            <a:r>
              <a:rPr lang="zh-CN" altLang="en-US" dirty="0"/>
              <a:t>元组。</a:t>
            </a:r>
            <a:endParaRPr lang="en-US" altLang="zh-CN" dirty="0"/>
          </a:p>
          <a:p>
            <a:endParaRPr lang="en-US" altLang="zh-CN" dirty="0"/>
          </a:p>
          <a:p>
            <a:pPr marL="0" indent="0">
              <a:buNone/>
            </a:pPr>
            <a:r>
              <a:rPr lang="zh-CN" altLang="en-US" dirty="0"/>
              <a:t>（</a:t>
            </a:r>
            <a:r>
              <a:rPr lang="en-US" altLang="zh-CN" dirty="0"/>
              <a:t>4</a:t>
            </a:r>
            <a:r>
              <a:rPr lang="zh-CN" altLang="en-US" dirty="0"/>
              <a:t>）象集</a:t>
            </a:r>
            <a:r>
              <a:rPr lang="en-US" altLang="zh-CN" sz="2000" i="1" dirty="0" err="1"/>
              <a:t>Z</a:t>
            </a:r>
            <a:r>
              <a:rPr lang="en-US" altLang="zh-CN" sz="2000" baseline="-30000" dirty="0" err="1"/>
              <a:t>x</a:t>
            </a:r>
            <a:endParaRPr lang="en-US" altLang="zh-CN" dirty="0"/>
          </a:p>
          <a:p>
            <a:pPr lvl="1"/>
            <a:r>
              <a:rPr lang="en-US" altLang="zh-CN" dirty="0"/>
              <a:t> </a:t>
            </a:r>
            <a:r>
              <a:rPr lang="zh-CN" altLang="en-US" dirty="0"/>
              <a:t>给定一个关系</a:t>
            </a:r>
            <a:r>
              <a:rPr lang="en-US" altLang="zh-CN" i="1" dirty="0"/>
              <a:t>R</a:t>
            </a:r>
            <a:r>
              <a:rPr lang="zh-CN" altLang="en-US" dirty="0"/>
              <a:t>（</a:t>
            </a:r>
            <a:r>
              <a:rPr lang="en-US" altLang="zh-CN" i="1" dirty="0"/>
              <a:t>X</a:t>
            </a:r>
            <a:r>
              <a:rPr lang="zh-CN" altLang="en-US" dirty="0"/>
              <a:t>，</a:t>
            </a:r>
            <a:r>
              <a:rPr lang="en-US" altLang="zh-CN" i="1" dirty="0"/>
              <a:t>Z</a:t>
            </a:r>
            <a:r>
              <a:rPr lang="zh-CN" altLang="en-US" dirty="0"/>
              <a:t>），</a:t>
            </a:r>
            <a:r>
              <a:rPr lang="en-US" altLang="zh-CN" i="1" dirty="0"/>
              <a:t>X</a:t>
            </a:r>
            <a:r>
              <a:rPr lang="zh-CN" altLang="en-US" dirty="0"/>
              <a:t>和</a:t>
            </a:r>
            <a:r>
              <a:rPr lang="en-US" altLang="zh-CN" i="1" dirty="0"/>
              <a:t>Z</a:t>
            </a:r>
            <a:r>
              <a:rPr lang="zh-CN" altLang="en-US" dirty="0"/>
              <a:t>为属性组。当</a:t>
            </a:r>
            <a:r>
              <a:rPr lang="en-US" altLang="zh-CN" i="1" dirty="0"/>
              <a:t>t</a:t>
            </a:r>
            <a:r>
              <a:rPr lang="en-US" altLang="zh-CN" dirty="0"/>
              <a:t>[</a:t>
            </a:r>
            <a:r>
              <a:rPr lang="en-US" altLang="zh-CN" i="1" dirty="0"/>
              <a:t>X</a:t>
            </a:r>
            <a:r>
              <a:rPr lang="en-US" altLang="zh-CN" dirty="0"/>
              <a:t>]=</a:t>
            </a:r>
            <a:r>
              <a:rPr lang="en-US" altLang="zh-CN" i="1" dirty="0"/>
              <a:t>x</a:t>
            </a:r>
            <a:r>
              <a:rPr lang="zh-CN" altLang="en-US" dirty="0"/>
              <a:t>时，</a:t>
            </a:r>
            <a:r>
              <a:rPr lang="en-US" altLang="zh-CN" i="1" dirty="0"/>
              <a:t>x</a:t>
            </a:r>
            <a:r>
              <a:rPr lang="zh-CN" altLang="en-US" dirty="0"/>
              <a:t>在</a:t>
            </a:r>
            <a:r>
              <a:rPr lang="en-US" altLang="zh-CN" i="1" dirty="0"/>
              <a:t>R</a:t>
            </a:r>
            <a:r>
              <a:rPr lang="zh-CN" altLang="en-US" dirty="0"/>
              <a:t>中的</a:t>
            </a:r>
            <a:r>
              <a:rPr lang="zh-CN" altLang="en-US" dirty="0">
                <a:solidFill>
                  <a:srgbClr val="C00000"/>
                </a:solidFill>
              </a:rPr>
              <a:t>象集（</a:t>
            </a:r>
            <a:r>
              <a:rPr lang="en-US" altLang="zh-CN" dirty="0">
                <a:solidFill>
                  <a:srgbClr val="C00000"/>
                </a:solidFill>
              </a:rPr>
              <a:t>Images Set</a:t>
            </a:r>
            <a:r>
              <a:rPr lang="zh-CN" altLang="en-US" dirty="0">
                <a:solidFill>
                  <a:srgbClr val="C00000"/>
                </a:solidFill>
              </a:rPr>
              <a:t>）</a:t>
            </a:r>
            <a:r>
              <a:rPr lang="zh-CN" altLang="en-US" dirty="0"/>
              <a:t>为：</a:t>
            </a:r>
            <a:endParaRPr lang="en-US" altLang="zh-CN" dirty="0"/>
          </a:p>
          <a:p>
            <a:pPr marL="342900" lvl="1" indent="0">
              <a:buNone/>
            </a:pPr>
            <a:r>
              <a:rPr lang="en-US" altLang="zh-CN" i="1" dirty="0">
                <a:solidFill>
                  <a:srgbClr val="E02920"/>
                </a:solidFill>
              </a:rPr>
              <a:t>              </a:t>
            </a:r>
            <a:r>
              <a:rPr lang="en-US" altLang="zh-CN" i="1" dirty="0" err="1">
                <a:solidFill>
                  <a:srgbClr val="C00000"/>
                </a:solidFill>
              </a:rPr>
              <a:t>Z</a:t>
            </a:r>
            <a:r>
              <a:rPr lang="en-US" altLang="zh-CN" i="1" baseline="-30000" dirty="0" err="1">
                <a:solidFill>
                  <a:srgbClr val="C00000"/>
                </a:solidFill>
              </a:rPr>
              <a:t>x</a:t>
            </a:r>
            <a:r>
              <a:rPr lang="en-US" altLang="zh-CN" dirty="0"/>
              <a:t>={</a:t>
            </a:r>
            <a:r>
              <a:rPr lang="en-US" altLang="zh-CN" i="1" dirty="0"/>
              <a:t>t</a:t>
            </a:r>
            <a:r>
              <a:rPr lang="en-US" altLang="zh-CN" dirty="0"/>
              <a:t>[</a:t>
            </a:r>
            <a:r>
              <a:rPr lang="en-US" altLang="zh-CN" i="1" dirty="0"/>
              <a:t>Z</a:t>
            </a:r>
            <a:r>
              <a:rPr lang="en-US" altLang="zh-CN" dirty="0"/>
              <a:t>]|</a:t>
            </a:r>
            <a:r>
              <a:rPr lang="en-US" altLang="zh-CN" i="1" dirty="0" err="1"/>
              <a:t>t</a:t>
            </a:r>
            <a:r>
              <a:rPr lang="en-US" altLang="zh-CN" dirty="0" err="1">
                <a:sym typeface="Symbol" panose="05050102010706020507" pitchFamily="18" charset="2"/>
              </a:rPr>
              <a:t></a:t>
            </a:r>
            <a:r>
              <a:rPr lang="en-US" altLang="zh-CN" i="1" dirty="0" err="1"/>
              <a:t>R</a:t>
            </a:r>
            <a:r>
              <a:rPr lang="zh-CN" altLang="en-US" dirty="0"/>
              <a:t>，</a:t>
            </a:r>
            <a:r>
              <a:rPr lang="en-US" altLang="zh-CN" i="1" dirty="0"/>
              <a:t>t</a:t>
            </a:r>
            <a:r>
              <a:rPr lang="en-US" altLang="zh-CN" dirty="0"/>
              <a:t>[</a:t>
            </a:r>
            <a:r>
              <a:rPr lang="en-US" altLang="zh-CN" i="1" dirty="0"/>
              <a:t>X</a:t>
            </a:r>
            <a:r>
              <a:rPr lang="en-US" altLang="zh-CN" dirty="0"/>
              <a:t>]=</a:t>
            </a:r>
            <a:r>
              <a:rPr lang="en-US" altLang="zh-CN" i="1" dirty="0"/>
              <a:t>x</a:t>
            </a:r>
            <a:r>
              <a:rPr lang="en-US" altLang="zh-CN" dirty="0"/>
              <a:t>}</a:t>
            </a:r>
          </a:p>
          <a:p>
            <a:pPr lvl="1"/>
            <a:r>
              <a:rPr lang="zh-CN" altLang="en-US" dirty="0"/>
              <a:t>它表示</a:t>
            </a:r>
            <a:r>
              <a:rPr lang="en-US" altLang="zh-CN" i="1" dirty="0"/>
              <a:t>R</a:t>
            </a:r>
            <a:r>
              <a:rPr lang="zh-CN" altLang="en-US" dirty="0"/>
              <a:t>中属性组</a:t>
            </a:r>
            <a:r>
              <a:rPr lang="en-US" altLang="zh-CN" i="1" dirty="0"/>
              <a:t>X</a:t>
            </a:r>
            <a:r>
              <a:rPr lang="zh-CN" altLang="en-US" dirty="0"/>
              <a:t>上值为</a:t>
            </a:r>
            <a:r>
              <a:rPr lang="en-US" altLang="zh-CN" i="1" dirty="0"/>
              <a:t>x</a:t>
            </a:r>
            <a:r>
              <a:rPr lang="zh-CN" altLang="en-US" dirty="0"/>
              <a:t>的诸元组在</a:t>
            </a:r>
            <a:r>
              <a:rPr lang="en-US" altLang="zh-CN" i="1" dirty="0"/>
              <a:t>Z</a:t>
            </a:r>
            <a:r>
              <a:rPr lang="zh-CN" altLang="en-US" dirty="0"/>
              <a:t>上分量的集合 </a:t>
            </a:r>
          </a:p>
        </p:txBody>
      </p:sp>
      <p:sp>
        <p:nvSpPr>
          <p:cNvPr id="2" name="灯片编号占位符 1">
            <a:extLst>
              <a:ext uri="{FF2B5EF4-FFF2-40B4-BE49-F238E27FC236}">
                <a16:creationId xmlns:a16="http://schemas.microsoft.com/office/drawing/2014/main" id="{BE840B65-C044-4BBE-9AA9-3AEBA3CFA36F}"/>
              </a:ext>
            </a:extLst>
          </p:cNvPr>
          <p:cNvSpPr>
            <a:spLocks noGrp="1"/>
          </p:cNvSpPr>
          <p:nvPr>
            <p:ph type="sldNum" sz="quarter" idx="12"/>
          </p:nvPr>
        </p:nvSpPr>
        <p:spPr/>
        <p:txBody>
          <a:bodyPr/>
          <a:lstStyle/>
          <a:p>
            <a:fld id="{47C9E101-E51D-431E-84FA-C029B8655B60}" type="slidenum">
              <a:rPr lang="zh-CN" altLang="en-US" smtClean="0"/>
              <a:pPr/>
              <a:t>60</a:t>
            </a:fld>
            <a:endParaRPr lang="zh-CN" altLang="en-US" dirty="0"/>
          </a:p>
        </p:txBody>
      </p:sp>
      <p:sp>
        <p:nvSpPr>
          <p:cNvPr id="9" name="弧形 8">
            <a:extLst>
              <a:ext uri="{FF2B5EF4-FFF2-40B4-BE49-F238E27FC236}">
                <a16:creationId xmlns:a16="http://schemas.microsoft.com/office/drawing/2014/main" id="{5207236C-CFFD-440D-9AD5-9F609CC486A3}"/>
              </a:ext>
            </a:extLst>
          </p:cNvPr>
          <p:cNvSpPr/>
          <p:nvPr/>
        </p:nvSpPr>
        <p:spPr bwMode="auto">
          <a:xfrm>
            <a:off x="1608701" y="1176755"/>
            <a:ext cx="300037" cy="166688"/>
          </a:xfrm>
          <a:prstGeom prst="arc">
            <a:avLst>
              <a:gd name="adj1" fmla="val 11559749"/>
              <a:gd name="adj2" fmla="val 20836597"/>
            </a:avLst>
          </a:prstGeom>
          <a:noFill/>
          <a:ln w="19050" cap="sq" cmpd="sng" algn="ctr">
            <a:solidFill>
              <a:schemeClr val="tx1"/>
            </a:solidFill>
            <a:prstDash val="solid"/>
            <a:round/>
            <a:headEnd type="none" w="sm" len="sm"/>
            <a:tailEnd type="none" w="sm" len="sm"/>
          </a:ln>
          <a:effectLst/>
          <a:extLst/>
        </p:spPr>
        <p:txBody>
          <a:bodyPr wrap="none"/>
          <a:lstStyle/>
          <a:p>
            <a:pPr eaLnBrk="1" hangingPunct="1">
              <a:defRPr/>
            </a:pPr>
            <a:endParaRPr lang="zh-CN" altLang="en-US"/>
          </a:p>
        </p:txBody>
      </p:sp>
      <p:sp>
        <p:nvSpPr>
          <p:cNvPr id="10" name="弧形 9">
            <a:extLst>
              <a:ext uri="{FF2B5EF4-FFF2-40B4-BE49-F238E27FC236}">
                <a16:creationId xmlns:a16="http://schemas.microsoft.com/office/drawing/2014/main" id="{13CBFBD5-AF76-43AF-9BDF-ADF4E1250463}"/>
              </a:ext>
            </a:extLst>
          </p:cNvPr>
          <p:cNvSpPr/>
          <p:nvPr/>
        </p:nvSpPr>
        <p:spPr bwMode="auto">
          <a:xfrm>
            <a:off x="3121870" y="2014769"/>
            <a:ext cx="300037" cy="166688"/>
          </a:xfrm>
          <a:prstGeom prst="arc">
            <a:avLst>
              <a:gd name="adj1" fmla="val 11559749"/>
              <a:gd name="adj2" fmla="val 20836597"/>
            </a:avLst>
          </a:prstGeom>
          <a:noFill/>
          <a:ln w="19050" cap="sq" cmpd="sng" algn="ctr">
            <a:solidFill>
              <a:srgbClr val="C00000"/>
            </a:solidFill>
            <a:prstDash val="solid"/>
            <a:round/>
            <a:headEnd type="none" w="sm" len="sm"/>
            <a:tailEnd type="none" w="sm" len="sm"/>
          </a:ln>
          <a:effectLst/>
          <a:extLst/>
        </p:spPr>
        <p:txBody>
          <a:bodyPr wrap="none"/>
          <a:lstStyle/>
          <a:p>
            <a:pPr eaLnBrk="1" hangingPunct="1">
              <a:defRPr/>
            </a:pPr>
            <a:endParaRPr lang="zh-CN" altLang="en-US">
              <a:solidFill>
                <a:srgbClr val="C00000"/>
              </a:solidFill>
            </a:endParaRPr>
          </a:p>
        </p:txBody>
      </p:sp>
    </p:spTree>
    <p:extLst>
      <p:ext uri="{BB962C8B-B14F-4D97-AF65-F5344CB8AC3E}">
        <p14:creationId xmlns:p14="http://schemas.microsoft.com/office/powerpoint/2010/main" val="4289402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515073">
            <a:extLst>
              <a:ext uri="{FF2B5EF4-FFF2-40B4-BE49-F238E27FC236}">
                <a16:creationId xmlns:a16="http://schemas.microsoft.com/office/drawing/2014/main" id="{A26B17BF-B88F-410C-8722-8B9960816BD0}"/>
              </a:ext>
            </a:extLst>
          </p:cNvPr>
          <p:cNvSpPr>
            <a:spLocks noGrp="1" noChangeArrowheads="1"/>
          </p:cNvSpPr>
          <p:nvPr>
            <p:ph type="title"/>
          </p:nvPr>
        </p:nvSpPr>
        <p:spPr/>
        <p:txBody>
          <a:bodyPr/>
          <a:lstStyle/>
          <a:p>
            <a:r>
              <a:rPr lang="zh-CN" altLang="en-US"/>
              <a:t>专门的关系运算</a:t>
            </a:r>
            <a:r>
              <a:rPr lang="en-US" altLang="zh-CN"/>
              <a:t>(</a:t>
            </a:r>
            <a:r>
              <a:rPr lang="zh-CN" altLang="en-US"/>
              <a:t>续</a:t>
            </a:r>
            <a:r>
              <a:rPr lang="en-US" altLang="zh-CN"/>
              <a:t>)</a:t>
            </a:r>
          </a:p>
        </p:txBody>
      </p:sp>
      <p:sp>
        <p:nvSpPr>
          <p:cNvPr id="35843" name="文本占位符 515074">
            <a:extLst>
              <a:ext uri="{FF2B5EF4-FFF2-40B4-BE49-F238E27FC236}">
                <a16:creationId xmlns:a16="http://schemas.microsoft.com/office/drawing/2014/main" id="{23A0DE5C-1885-4570-A5E9-B315F2207003}"/>
              </a:ext>
            </a:extLst>
          </p:cNvPr>
          <p:cNvSpPr>
            <a:spLocks noGrp="1" noChangeArrowheads="1"/>
          </p:cNvSpPr>
          <p:nvPr>
            <p:ph sz="half" idx="1"/>
          </p:nvPr>
        </p:nvSpPr>
        <p:spPr/>
        <p:txBody>
          <a:bodyPr/>
          <a:lstStyle/>
          <a:p>
            <a:r>
              <a:rPr lang="zh-CN" altLang="en-US" dirty="0"/>
              <a:t>象集举例 </a:t>
            </a:r>
          </a:p>
        </p:txBody>
      </p:sp>
      <p:sp>
        <p:nvSpPr>
          <p:cNvPr id="5" name="内容占位符 4">
            <a:extLst>
              <a:ext uri="{FF2B5EF4-FFF2-40B4-BE49-F238E27FC236}">
                <a16:creationId xmlns:a16="http://schemas.microsoft.com/office/drawing/2014/main" id="{44A60A50-2415-4E17-B81A-05F86F4D4719}"/>
              </a:ext>
            </a:extLst>
          </p:cNvPr>
          <p:cNvSpPr>
            <a:spLocks noGrp="1"/>
          </p:cNvSpPr>
          <p:nvPr>
            <p:ph sz="half" idx="2"/>
          </p:nvPr>
        </p:nvSpPr>
        <p:spPr>
          <a:xfrm>
            <a:off x="6653144" y="2096146"/>
            <a:ext cx="3886200" cy="4112348"/>
          </a:xfrm>
        </p:spPr>
        <p:txBody>
          <a:bodyPr/>
          <a:lstStyle/>
          <a:p>
            <a:r>
              <a:rPr lang="en-US" altLang="zh-CN" sz="2000" i="1" dirty="0">
                <a:solidFill>
                  <a:srgbClr val="000000"/>
                </a:solidFill>
              </a:rPr>
              <a:t>x</a:t>
            </a:r>
            <a:r>
              <a:rPr lang="en-US" altLang="zh-CN" sz="2000" baseline="-30000" dirty="0">
                <a:solidFill>
                  <a:srgbClr val="000000"/>
                </a:solidFill>
              </a:rPr>
              <a:t>1</a:t>
            </a:r>
            <a:r>
              <a:rPr lang="zh-CN" altLang="en-US" sz="2000" dirty="0">
                <a:solidFill>
                  <a:srgbClr val="000000"/>
                </a:solidFill>
              </a:rPr>
              <a:t>在</a:t>
            </a:r>
            <a:r>
              <a:rPr lang="en-US" altLang="zh-CN" sz="2000" i="1" dirty="0">
                <a:solidFill>
                  <a:srgbClr val="000000"/>
                </a:solidFill>
              </a:rPr>
              <a:t>R</a:t>
            </a:r>
            <a:r>
              <a:rPr lang="zh-CN" altLang="en-US" sz="2000" dirty="0">
                <a:solidFill>
                  <a:srgbClr val="000000"/>
                </a:solidFill>
              </a:rPr>
              <a:t>中的象集为：</a:t>
            </a:r>
            <a:endParaRPr lang="en-US" altLang="zh-CN" sz="2000" dirty="0">
              <a:solidFill>
                <a:srgbClr val="000000"/>
              </a:solidFill>
            </a:endParaRPr>
          </a:p>
          <a:p>
            <a:pPr marL="342900" lvl="1" indent="0">
              <a:buNone/>
            </a:pPr>
            <a:r>
              <a:rPr lang="en-US" altLang="zh-CN" sz="1700" i="1" dirty="0">
                <a:solidFill>
                  <a:srgbClr val="000000"/>
                </a:solidFill>
              </a:rPr>
              <a:t>Z</a:t>
            </a:r>
            <a:r>
              <a:rPr lang="en-US" altLang="zh-CN" sz="1700" i="1" baseline="-25000" dirty="0">
                <a:solidFill>
                  <a:srgbClr val="000000"/>
                </a:solidFill>
              </a:rPr>
              <a:t>x</a:t>
            </a:r>
            <a:r>
              <a:rPr lang="en-US" altLang="zh-CN" sz="1700" baseline="-25000" dirty="0">
                <a:solidFill>
                  <a:srgbClr val="000000"/>
                </a:solidFill>
              </a:rPr>
              <a:t>1</a:t>
            </a:r>
            <a:r>
              <a:rPr lang="en-US" altLang="zh-CN" sz="1700" dirty="0">
                <a:solidFill>
                  <a:srgbClr val="000000"/>
                </a:solidFill>
              </a:rPr>
              <a:t>={</a:t>
            </a:r>
            <a:r>
              <a:rPr lang="en-US" altLang="zh-CN" sz="1700" i="1" dirty="0">
                <a:solidFill>
                  <a:srgbClr val="000000"/>
                </a:solidFill>
              </a:rPr>
              <a:t>Z</a:t>
            </a:r>
            <a:r>
              <a:rPr lang="en-US" altLang="zh-CN" sz="1700" baseline="-30000" dirty="0">
                <a:solidFill>
                  <a:srgbClr val="000000"/>
                </a:solidFill>
              </a:rPr>
              <a:t>1</a:t>
            </a:r>
            <a:r>
              <a:rPr lang="zh-CN" altLang="en-US" sz="1700" baseline="-30000" dirty="0">
                <a:solidFill>
                  <a:srgbClr val="000000"/>
                </a:solidFill>
              </a:rPr>
              <a:t>， </a:t>
            </a:r>
            <a:r>
              <a:rPr lang="en-US" altLang="zh-CN" sz="1700" i="1" dirty="0">
                <a:solidFill>
                  <a:srgbClr val="000000"/>
                </a:solidFill>
              </a:rPr>
              <a:t>Z</a:t>
            </a:r>
            <a:r>
              <a:rPr lang="en-US" altLang="zh-CN" sz="1700" baseline="-30000" dirty="0">
                <a:solidFill>
                  <a:srgbClr val="000000"/>
                </a:solidFill>
              </a:rPr>
              <a:t>2 </a:t>
            </a:r>
            <a:r>
              <a:rPr lang="zh-CN" altLang="en-US" sz="1700" baseline="-30000" dirty="0">
                <a:solidFill>
                  <a:srgbClr val="000000"/>
                </a:solidFill>
              </a:rPr>
              <a:t>， </a:t>
            </a:r>
            <a:r>
              <a:rPr lang="en-US" altLang="zh-CN" sz="1700" i="1" dirty="0">
                <a:solidFill>
                  <a:srgbClr val="000000"/>
                </a:solidFill>
              </a:rPr>
              <a:t>Z</a:t>
            </a:r>
            <a:r>
              <a:rPr lang="en-US" altLang="zh-CN" sz="1700" baseline="-30000" dirty="0">
                <a:solidFill>
                  <a:srgbClr val="000000"/>
                </a:solidFill>
              </a:rPr>
              <a:t>3</a:t>
            </a:r>
            <a:r>
              <a:rPr lang="en-US" altLang="zh-CN" sz="1700" dirty="0">
                <a:solidFill>
                  <a:srgbClr val="000000"/>
                </a:solidFill>
              </a:rPr>
              <a:t>}</a:t>
            </a:r>
          </a:p>
          <a:p>
            <a:pPr marL="0" indent="0">
              <a:buNone/>
            </a:pPr>
            <a:endParaRPr lang="en-US" altLang="zh-CN" dirty="0"/>
          </a:p>
          <a:p>
            <a:r>
              <a:rPr lang="en-US" altLang="zh-CN" sz="2000" i="1" dirty="0">
                <a:solidFill>
                  <a:srgbClr val="000000"/>
                </a:solidFill>
              </a:rPr>
              <a:t>x</a:t>
            </a:r>
            <a:r>
              <a:rPr lang="en-US" altLang="zh-CN" sz="2000" baseline="-30000" dirty="0">
                <a:solidFill>
                  <a:srgbClr val="000000"/>
                </a:solidFill>
              </a:rPr>
              <a:t>2</a:t>
            </a:r>
            <a:r>
              <a:rPr lang="zh-CN" altLang="en-US" sz="2000" dirty="0">
                <a:solidFill>
                  <a:srgbClr val="000000"/>
                </a:solidFill>
              </a:rPr>
              <a:t>在</a:t>
            </a:r>
            <a:r>
              <a:rPr lang="en-US" altLang="zh-CN" sz="2000" i="1" dirty="0">
                <a:solidFill>
                  <a:srgbClr val="000000"/>
                </a:solidFill>
              </a:rPr>
              <a:t>R</a:t>
            </a:r>
            <a:r>
              <a:rPr lang="zh-CN" altLang="en-US" sz="2000" dirty="0">
                <a:solidFill>
                  <a:srgbClr val="000000"/>
                </a:solidFill>
              </a:rPr>
              <a:t>中的象集为：</a:t>
            </a:r>
            <a:endParaRPr lang="en-US" altLang="zh-CN" sz="2000" dirty="0">
              <a:solidFill>
                <a:srgbClr val="000000"/>
              </a:solidFill>
            </a:endParaRPr>
          </a:p>
          <a:p>
            <a:pPr lvl="1">
              <a:buNone/>
            </a:pPr>
            <a:r>
              <a:rPr lang="en-US" altLang="zh-CN" sz="1700" i="1" dirty="0">
                <a:solidFill>
                  <a:srgbClr val="000000"/>
                </a:solidFill>
              </a:rPr>
              <a:t>Z</a:t>
            </a:r>
            <a:r>
              <a:rPr lang="en-US" altLang="zh-CN" sz="1700" i="1" baseline="-25000" dirty="0">
                <a:solidFill>
                  <a:srgbClr val="000000"/>
                </a:solidFill>
              </a:rPr>
              <a:t>x</a:t>
            </a:r>
            <a:r>
              <a:rPr lang="en-US" altLang="zh-CN" sz="1700" baseline="-25000" dirty="0">
                <a:solidFill>
                  <a:srgbClr val="000000"/>
                </a:solidFill>
              </a:rPr>
              <a:t>2</a:t>
            </a:r>
            <a:r>
              <a:rPr lang="en-US" altLang="zh-CN" sz="1700" dirty="0">
                <a:solidFill>
                  <a:srgbClr val="000000"/>
                </a:solidFill>
              </a:rPr>
              <a:t>={</a:t>
            </a:r>
            <a:r>
              <a:rPr lang="en-US" altLang="zh-CN" sz="1700" i="1" dirty="0">
                <a:solidFill>
                  <a:srgbClr val="000000"/>
                </a:solidFill>
              </a:rPr>
              <a:t>Z</a:t>
            </a:r>
            <a:r>
              <a:rPr lang="en-US" altLang="zh-CN" sz="1700" baseline="-30000" dirty="0">
                <a:solidFill>
                  <a:srgbClr val="000000"/>
                </a:solidFill>
              </a:rPr>
              <a:t>2 </a:t>
            </a:r>
            <a:r>
              <a:rPr lang="zh-CN" altLang="en-US" sz="1700" baseline="-30000" dirty="0">
                <a:solidFill>
                  <a:srgbClr val="000000"/>
                </a:solidFill>
              </a:rPr>
              <a:t>， </a:t>
            </a:r>
            <a:r>
              <a:rPr lang="en-US" altLang="zh-CN" sz="1700" i="1" dirty="0">
                <a:solidFill>
                  <a:srgbClr val="000000"/>
                </a:solidFill>
              </a:rPr>
              <a:t>Z</a:t>
            </a:r>
            <a:r>
              <a:rPr lang="en-US" altLang="zh-CN" sz="1700" baseline="-30000" dirty="0">
                <a:solidFill>
                  <a:srgbClr val="000000"/>
                </a:solidFill>
              </a:rPr>
              <a:t>3</a:t>
            </a:r>
            <a:r>
              <a:rPr lang="en-US" altLang="zh-CN" sz="1700" dirty="0">
                <a:solidFill>
                  <a:srgbClr val="000000"/>
                </a:solidFill>
              </a:rPr>
              <a:t>}</a:t>
            </a:r>
          </a:p>
          <a:p>
            <a:pPr lvl="1"/>
            <a:endParaRPr lang="en-US" altLang="zh-CN" sz="1700" i="1" dirty="0">
              <a:solidFill>
                <a:srgbClr val="000000"/>
              </a:solidFill>
            </a:endParaRPr>
          </a:p>
          <a:p>
            <a:r>
              <a:rPr lang="en-US" altLang="zh-CN" sz="2000" i="1" dirty="0">
                <a:solidFill>
                  <a:srgbClr val="000000"/>
                </a:solidFill>
              </a:rPr>
              <a:t>x</a:t>
            </a:r>
            <a:r>
              <a:rPr lang="en-US" altLang="zh-CN" sz="2000" baseline="-30000" dirty="0">
                <a:solidFill>
                  <a:srgbClr val="000000"/>
                </a:solidFill>
              </a:rPr>
              <a:t>3</a:t>
            </a:r>
            <a:r>
              <a:rPr lang="zh-CN" altLang="en-US" sz="2000" dirty="0">
                <a:solidFill>
                  <a:srgbClr val="000000"/>
                </a:solidFill>
              </a:rPr>
              <a:t>在</a:t>
            </a:r>
            <a:r>
              <a:rPr lang="en-US" altLang="zh-CN" sz="2000" i="1" dirty="0">
                <a:solidFill>
                  <a:srgbClr val="000000"/>
                </a:solidFill>
              </a:rPr>
              <a:t>R</a:t>
            </a:r>
            <a:r>
              <a:rPr lang="zh-CN" altLang="en-US" sz="2000" dirty="0">
                <a:solidFill>
                  <a:srgbClr val="000000"/>
                </a:solidFill>
              </a:rPr>
              <a:t>中的象集为：</a:t>
            </a:r>
            <a:endParaRPr lang="en-US" altLang="zh-CN" sz="2000" dirty="0">
              <a:solidFill>
                <a:srgbClr val="000000"/>
              </a:solidFill>
            </a:endParaRPr>
          </a:p>
          <a:p>
            <a:pPr lvl="1">
              <a:buNone/>
            </a:pPr>
            <a:r>
              <a:rPr lang="en-US" altLang="zh-CN" sz="1700" i="1" dirty="0">
                <a:solidFill>
                  <a:srgbClr val="000000"/>
                </a:solidFill>
              </a:rPr>
              <a:t>Z</a:t>
            </a:r>
            <a:r>
              <a:rPr lang="en-US" altLang="zh-CN" sz="1700" i="1" baseline="-25000" dirty="0">
                <a:solidFill>
                  <a:srgbClr val="000000"/>
                </a:solidFill>
              </a:rPr>
              <a:t>x</a:t>
            </a:r>
            <a:r>
              <a:rPr lang="en-US" altLang="zh-CN" sz="1700" baseline="-25000" dirty="0">
                <a:solidFill>
                  <a:srgbClr val="000000"/>
                </a:solidFill>
              </a:rPr>
              <a:t>3</a:t>
            </a:r>
            <a:r>
              <a:rPr lang="en-US" altLang="zh-CN" sz="1700" dirty="0">
                <a:solidFill>
                  <a:srgbClr val="000000"/>
                </a:solidFill>
              </a:rPr>
              <a:t>={</a:t>
            </a:r>
            <a:r>
              <a:rPr lang="en-US" altLang="zh-CN" sz="1700" i="1" dirty="0">
                <a:solidFill>
                  <a:srgbClr val="000000"/>
                </a:solidFill>
              </a:rPr>
              <a:t>Z</a:t>
            </a:r>
            <a:r>
              <a:rPr lang="en-US" altLang="zh-CN" sz="1700" baseline="-30000" dirty="0">
                <a:solidFill>
                  <a:srgbClr val="000000"/>
                </a:solidFill>
              </a:rPr>
              <a:t>1</a:t>
            </a:r>
            <a:r>
              <a:rPr lang="zh-CN" altLang="en-US" sz="1700" baseline="-30000" dirty="0">
                <a:solidFill>
                  <a:srgbClr val="000000"/>
                </a:solidFill>
              </a:rPr>
              <a:t>， </a:t>
            </a:r>
            <a:r>
              <a:rPr lang="en-US" altLang="zh-CN" sz="1700" i="1" dirty="0">
                <a:solidFill>
                  <a:srgbClr val="000000"/>
                </a:solidFill>
              </a:rPr>
              <a:t>Z</a:t>
            </a:r>
            <a:r>
              <a:rPr lang="en-US" altLang="zh-CN" sz="1700" baseline="-30000" dirty="0">
                <a:solidFill>
                  <a:srgbClr val="000000"/>
                </a:solidFill>
              </a:rPr>
              <a:t>3</a:t>
            </a:r>
            <a:r>
              <a:rPr lang="en-US" altLang="zh-CN" sz="1700" dirty="0">
                <a:solidFill>
                  <a:srgbClr val="000000"/>
                </a:solidFill>
              </a:rPr>
              <a:t>}</a:t>
            </a:r>
          </a:p>
          <a:p>
            <a:endParaRPr lang="zh-CN" altLang="en-US" dirty="0"/>
          </a:p>
        </p:txBody>
      </p:sp>
      <p:graphicFrame>
        <p:nvGraphicFramePr>
          <p:cNvPr id="8" name="Group 47">
            <a:extLst>
              <a:ext uri="{FF2B5EF4-FFF2-40B4-BE49-F238E27FC236}">
                <a16:creationId xmlns:a16="http://schemas.microsoft.com/office/drawing/2014/main" id="{7FDAE14D-6236-4ACA-B6C3-A714A5AEFEA9}"/>
              </a:ext>
            </a:extLst>
          </p:cNvPr>
          <p:cNvGraphicFramePr>
            <a:graphicFrameLocks/>
          </p:cNvGraphicFramePr>
          <p:nvPr>
            <p:extLst/>
          </p:nvPr>
        </p:nvGraphicFramePr>
        <p:xfrm>
          <a:off x="3182176" y="2148763"/>
          <a:ext cx="1992312" cy="2560474"/>
        </p:xfrm>
        <a:graphic>
          <a:graphicData uri="http://schemas.openxmlformats.org/drawingml/2006/table">
            <a:tbl>
              <a:tblPr/>
              <a:tblGrid>
                <a:gridCol w="996949">
                  <a:extLst>
                    <a:ext uri="{9D8B030D-6E8A-4147-A177-3AD203B41FA5}">
                      <a16:colId xmlns:a16="http://schemas.microsoft.com/office/drawing/2014/main" val="20000"/>
                    </a:ext>
                  </a:extLst>
                </a:gridCol>
                <a:gridCol w="995363">
                  <a:extLst>
                    <a:ext uri="{9D8B030D-6E8A-4147-A177-3AD203B41FA5}">
                      <a16:colId xmlns:a16="http://schemas.microsoft.com/office/drawing/2014/main" val="20001"/>
                    </a:ext>
                  </a:extLst>
                </a:gridCol>
              </a:tblGrid>
              <a:tr h="33297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a:t>
                      </a:r>
                    </a:p>
                  </a:txBody>
                  <a:tcPr marT="45731" marB="4573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Z</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a:t>
                      </a:r>
                    </a:p>
                  </a:txBody>
                  <a:tcPr marT="45731" marB="4573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31339">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a:t>
                      </a:r>
                    </a:p>
                  </a:txBody>
                  <a:tcPr marT="45731" marB="4573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Z</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31" marB="4573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3297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a:t>
                      </a:r>
                    </a:p>
                  </a:txBody>
                  <a:tcPr marT="45731" marB="4573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Z</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3</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31" marB="4573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32155">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defRPr/>
                      </a:pPr>
                      <a:r>
                        <a:rPr kumimoji="0" lang="en-US" altLang="zh-CN" sz="18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a:t>
                      </a:r>
                    </a:p>
                  </a:txBody>
                  <a:tcPr marT="45731" marB="4573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Z</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31" marB="4573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3297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a:t>
                      </a:r>
                    </a:p>
                  </a:txBody>
                  <a:tcPr marT="45731" marB="4573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Z</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3</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31" marB="4573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31339">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3</a:t>
                      </a:r>
                    </a:p>
                  </a:txBody>
                  <a:tcPr marT="45731" marB="4573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Z</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31" marB="4573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33297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x</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3</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31" marB="4573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Z</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3</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31" marB="4573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 name="矩形 3">
            <a:extLst>
              <a:ext uri="{FF2B5EF4-FFF2-40B4-BE49-F238E27FC236}">
                <a16:creationId xmlns:a16="http://schemas.microsoft.com/office/drawing/2014/main" id="{3C7F9504-D077-45C1-AF03-3F8679670AD8}"/>
              </a:ext>
            </a:extLst>
          </p:cNvPr>
          <p:cNvSpPr/>
          <p:nvPr/>
        </p:nvSpPr>
        <p:spPr>
          <a:xfrm>
            <a:off x="3708388" y="1695283"/>
            <a:ext cx="808235" cy="369332"/>
          </a:xfrm>
          <a:prstGeom prst="rect">
            <a:avLst/>
          </a:prstGeom>
        </p:spPr>
        <p:txBody>
          <a:bodyPr wrap="none">
            <a:spAutoFit/>
          </a:bodyPr>
          <a:lstStyle/>
          <a:p>
            <a:r>
              <a:rPr lang="zh-CN" altLang="en-US" b="1" dirty="0"/>
              <a:t>关系</a:t>
            </a:r>
            <a:r>
              <a:rPr lang="en-US" altLang="zh-CN" b="1" i="1" dirty="0">
                <a:solidFill>
                  <a:srgbClr val="3333FF"/>
                </a:solidFill>
              </a:rPr>
              <a:t>R</a:t>
            </a:r>
            <a:endParaRPr lang="zh-CN" altLang="en-US" b="1" i="1" dirty="0"/>
          </a:p>
        </p:txBody>
      </p:sp>
      <p:sp>
        <p:nvSpPr>
          <p:cNvPr id="2" name="灯片编号占位符 1">
            <a:extLst>
              <a:ext uri="{FF2B5EF4-FFF2-40B4-BE49-F238E27FC236}">
                <a16:creationId xmlns:a16="http://schemas.microsoft.com/office/drawing/2014/main" id="{8335DDC1-8E0A-49C3-929D-13D6A6889805}"/>
              </a:ext>
            </a:extLst>
          </p:cNvPr>
          <p:cNvSpPr>
            <a:spLocks noGrp="1"/>
          </p:cNvSpPr>
          <p:nvPr>
            <p:ph type="sldNum" sz="quarter" idx="12"/>
          </p:nvPr>
        </p:nvSpPr>
        <p:spPr/>
        <p:txBody>
          <a:bodyPr/>
          <a:lstStyle/>
          <a:p>
            <a:fld id="{47C9E101-E51D-431E-84FA-C029B8655B60}" type="slidenum">
              <a:rPr lang="zh-CN" altLang="en-US" smtClean="0"/>
              <a:t>61</a:t>
            </a:fld>
            <a:endParaRPr lang="zh-CN" altLang="en-US"/>
          </a:p>
        </p:txBody>
      </p:sp>
      <p:grpSp>
        <p:nvGrpSpPr>
          <p:cNvPr id="17" name="组合 16">
            <a:extLst>
              <a:ext uri="{FF2B5EF4-FFF2-40B4-BE49-F238E27FC236}">
                <a16:creationId xmlns:a16="http://schemas.microsoft.com/office/drawing/2014/main" id="{03A3132B-070A-469C-A433-1ACD8B9DEF88}"/>
              </a:ext>
            </a:extLst>
          </p:cNvPr>
          <p:cNvGrpSpPr/>
          <p:nvPr/>
        </p:nvGrpSpPr>
        <p:grpSpPr>
          <a:xfrm>
            <a:off x="4489657" y="2211356"/>
            <a:ext cx="2072874" cy="989045"/>
            <a:chOff x="2965657" y="2211355"/>
            <a:chExt cx="2072874" cy="989045"/>
          </a:xfrm>
        </p:grpSpPr>
        <p:sp>
          <p:nvSpPr>
            <p:cNvPr id="9" name="Rectangle 163">
              <a:extLst>
                <a:ext uri="{FF2B5EF4-FFF2-40B4-BE49-F238E27FC236}">
                  <a16:creationId xmlns:a16="http://schemas.microsoft.com/office/drawing/2014/main" id="{0519DCC0-20F2-4238-B781-3F74DE700840}"/>
                </a:ext>
              </a:extLst>
            </p:cNvPr>
            <p:cNvSpPr>
              <a:spLocks noChangeArrowheads="1"/>
            </p:cNvSpPr>
            <p:nvPr/>
          </p:nvSpPr>
          <p:spPr bwMode="auto">
            <a:xfrm>
              <a:off x="2965657" y="2211355"/>
              <a:ext cx="397101" cy="989045"/>
            </a:xfrm>
            <a:prstGeom prst="rect">
              <a:avLst/>
            </a:prstGeom>
            <a:noFill/>
            <a:ln w="254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cxnSp>
          <p:nvCxnSpPr>
            <p:cNvPr id="12" name="连接符: 肘形 11">
              <a:extLst>
                <a:ext uri="{FF2B5EF4-FFF2-40B4-BE49-F238E27FC236}">
                  <a16:creationId xmlns:a16="http://schemas.microsoft.com/office/drawing/2014/main" id="{32DB8312-6649-4394-B097-537FE1951608}"/>
                </a:ext>
              </a:extLst>
            </p:cNvPr>
            <p:cNvCxnSpPr/>
            <p:nvPr/>
          </p:nvCxnSpPr>
          <p:spPr>
            <a:xfrm flipV="1">
              <a:off x="3362756" y="2528596"/>
              <a:ext cx="1675775" cy="177282"/>
            </a:xfrm>
            <a:prstGeom prst="bentConnector3">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BB62C860-FD13-4C0C-8AA6-BEF1ECBFFFD6}"/>
              </a:ext>
            </a:extLst>
          </p:cNvPr>
          <p:cNvGrpSpPr/>
          <p:nvPr/>
        </p:nvGrpSpPr>
        <p:grpSpPr>
          <a:xfrm>
            <a:off x="4489657" y="3256705"/>
            <a:ext cx="2072875" cy="702692"/>
            <a:chOff x="2965656" y="3256704"/>
            <a:chExt cx="2072875" cy="702692"/>
          </a:xfrm>
        </p:grpSpPr>
        <p:sp>
          <p:nvSpPr>
            <p:cNvPr id="10" name="Rectangle 163">
              <a:extLst>
                <a:ext uri="{FF2B5EF4-FFF2-40B4-BE49-F238E27FC236}">
                  <a16:creationId xmlns:a16="http://schemas.microsoft.com/office/drawing/2014/main" id="{97294AB1-DFE4-43C8-96CB-70CC63B0A817}"/>
                </a:ext>
              </a:extLst>
            </p:cNvPr>
            <p:cNvSpPr>
              <a:spLocks noChangeArrowheads="1"/>
            </p:cNvSpPr>
            <p:nvPr/>
          </p:nvSpPr>
          <p:spPr bwMode="auto">
            <a:xfrm>
              <a:off x="2965656" y="3256704"/>
              <a:ext cx="397101" cy="702692"/>
            </a:xfrm>
            <a:prstGeom prst="rect">
              <a:avLst/>
            </a:prstGeom>
            <a:noFill/>
            <a:ln w="25400" cap="sq">
              <a:solidFill>
                <a:srgbClr val="3333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cxnSp>
          <p:nvCxnSpPr>
            <p:cNvPr id="14" name="连接符: 肘形 13">
              <a:extLst>
                <a:ext uri="{FF2B5EF4-FFF2-40B4-BE49-F238E27FC236}">
                  <a16:creationId xmlns:a16="http://schemas.microsoft.com/office/drawing/2014/main" id="{A8E9D13B-DBE6-4A91-A72D-B63A116F03A4}"/>
                </a:ext>
              </a:extLst>
            </p:cNvPr>
            <p:cNvCxnSpPr>
              <a:cxnSpLocks/>
              <a:stCxn id="10" idx="3"/>
            </p:cNvCxnSpPr>
            <p:nvPr/>
          </p:nvCxnSpPr>
          <p:spPr>
            <a:xfrm flipV="1">
              <a:off x="3362757" y="3607732"/>
              <a:ext cx="1675774" cy="318"/>
            </a:xfrm>
            <a:prstGeom prst="bentConnector3">
              <a:avLst/>
            </a:prstGeom>
            <a:ln w="19050">
              <a:solidFill>
                <a:srgbClr val="3333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9F123357-DCC1-4485-A691-73DB7A39C811}"/>
              </a:ext>
            </a:extLst>
          </p:cNvPr>
          <p:cNvGrpSpPr/>
          <p:nvPr/>
        </p:nvGrpSpPr>
        <p:grpSpPr>
          <a:xfrm>
            <a:off x="4489656" y="4009137"/>
            <a:ext cx="1992313" cy="675473"/>
            <a:chOff x="2965655" y="4009137"/>
            <a:chExt cx="1992313" cy="675473"/>
          </a:xfrm>
        </p:grpSpPr>
        <p:sp>
          <p:nvSpPr>
            <p:cNvPr id="11" name="Rectangle 163">
              <a:extLst>
                <a:ext uri="{FF2B5EF4-FFF2-40B4-BE49-F238E27FC236}">
                  <a16:creationId xmlns:a16="http://schemas.microsoft.com/office/drawing/2014/main" id="{0BF77ED8-A2A2-4FB2-B0A3-E685E21809E7}"/>
                </a:ext>
              </a:extLst>
            </p:cNvPr>
            <p:cNvSpPr>
              <a:spLocks noChangeArrowheads="1"/>
            </p:cNvSpPr>
            <p:nvPr/>
          </p:nvSpPr>
          <p:spPr bwMode="auto">
            <a:xfrm>
              <a:off x="2965655" y="4009137"/>
              <a:ext cx="397101" cy="675473"/>
            </a:xfrm>
            <a:prstGeom prst="rect">
              <a:avLst/>
            </a:prstGeom>
            <a:noFill/>
            <a:ln w="25400" cap="sq">
              <a:solidFill>
                <a:srgbClr val="34ACBC"/>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cxnSp>
          <p:nvCxnSpPr>
            <p:cNvPr id="16" name="连接符: 肘形 15">
              <a:extLst>
                <a:ext uri="{FF2B5EF4-FFF2-40B4-BE49-F238E27FC236}">
                  <a16:creationId xmlns:a16="http://schemas.microsoft.com/office/drawing/2014/main" id="{6BBAACF4-7F0C-49FE-8B85-DD0DBC25E87B}"/>
                </a:ext>
              </a:extLst>
            </p:cNvPr>
            <p:cNvCxnSpPr>
              <a:cxnSpLocks/>
              <a:stCxn id="11" idx="3"/>
            </p:cNvCxnSpPr>
            <p:nvPr/>
          </p:nvCxnSpPr>
          <p:spPr>
            <a:xfrm>
              <a:off x="3362756" y="4346874"/>
              <a:ext cx="1595212" cy="219379"/>
            </a:xfrm>
            <a:prstGeom prst="bentConnector3">
              <a:avLst/>
            </a:prstGeom>
            <a:ln w="19050">
              <a:solidFill>
                <a:srgbClr val="34ACBC"/>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22" presetClass="entr" presetSubtype="8"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5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childTnLst>
                                </p:cTn>
                              </p:par>
                              <p:par>
                                <p:cTn id="18" presetID="22" presetClass="entr" presetSubtype="8" fill="hold"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par>
                                <p:cTn id="27" presetID="22" presetClass="entr" presetSubtype="8"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left)">
                                      <p:cBhvr>
                                        <p:cTn id="2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465921">
            <a:extLst>
              <a:ext uri="{FF2B5EF4-FFF2-40B4-BE49-F238E27FC236}">
                <a16:creationId xmlns:a16="http://schemas.microsoft.com/office/drawing/2014/main" id="{3D27D48A-C106-4DB9-A4F2-DD84B79B3665}"/>
              </a:ext>
            </a:extLst>
          </p:cNvPr>
          <p:cNvSpPr>
            <a:spLocks noGrp="1" noChangeArrowheads="1"/>
          </p:cNvSpPr>
          <p:nvPr>
            <p:ph type="title"/>
          </p:nvPr>
        </p:nvSpPr>
        <p:spPr/>
        <p:txBody>
          <a:bodyPr/>
          <a:lstStyle/>
          <a:p>
            <a:r>
              <a:rPr lang="zh-CN" altLang="en-US"/>
              <a:t>专门的关系运算</a:t>
            </a:r>
            <a:r>
              <a:rPr lang="en-US" altLang="zh-CN"/>
              <a:t>(</a:t>
            </a:r>
            <a:r>
              <a:rPr lang="zh-CN" altLang="en-US"/>
              <a:t>续</a:t>
            </a:r>
            <a:r>
              <a:rPr lang="en-US" altLang="zh-CN"/>
              <a:t>)</a:t>
            </a:r>
          </a:p>
        </p:txBody>
      </p:sp>
      <p:sp>
        <p:nvSpPr>
          <p:cNvPr id="36867" name="文本占位符 465922">
            <a:extLst>
              <a:ext uri="{FF2B5EF4-FFF2-40B4-BE49-F238E27FC236}">
                <a16:creationId xmlns:a16="http://schemas.microsoft.com/office/drawing/2014/main" id="{036D8502-8426-42B1-9C45-154FEC60B71C}"/>
              </a:ext>
            </a:extLst>
          </p:cNvPr>
          <p:cNvSpPr>
            <a:spLocks noGrp="1" noChangeArrowheads="1"/>
          </p:cNvSpPr>
          <p:nvPr>
            <p:ph type="body" idx="1"/>
          </p:nvPr>
        </p:nvSpPr>
        <p:spPr/>
        <p:txBody>
          <a:bodyPr/>
          <a:lstStyle/>
          <a:p>
            <a:r>
              <a:rPr lang="zh-CN" altLang="en-US" dirty="0"/>
              <a:t>选择（</a:t>
            </a:r>
            <a:r>
              <a:rPr lang="en-US" altLang="zh-CN" dirty="0"/>
              <a:t>Selection</a:t>
            </a:r>
            <a:r>
              <a:rPr lang="zh-CN" altLang="en-US" dirty="0"/>
              <a:t>） </a:t>
            </a:r>
          </a:p>
          <a:p>
            <a:r>
              <a:rPr lang="zh-CN" altLang="en-US" dirty="0"/>
              <a:t>投影（</a:t>
            </a:r>
            <a:r>
              <a:rPr lang="en-US" altLang="zh-CN" dirty="0"/>
              <a:t>Projection</a:t>
            </a:r>
            <a:r>
              <a:rPr lang="zh-CN" altLang="en-US" dirty="0"/>
              <a:t>） </a:t>
            </a:r>
          </a:p>
          <a:p>
            <a:r>
              <a:rPr lang="zh-CN" altLang="en-US" dirty="0"/>
              <a:t>连接（</a:t>
            </a:r>
            <a:r>
              <a:rPr lang="en-US" altLang="zh-CN" dirty="0"/>
              <a:t>Join</a:t>
            </a:r>
            <a:r>
              <a:rPr lang="zh-CN" altLang="en-US" dirty="0"/>
              <a:t>） </a:t>
            </a:r>
          </a:p>
          <a:p>
            <a:r>
              <a:rPr lang="zh-CN" altLang="en-US" dirty="0"/>
              <a:t>除（</a:t>
            </a:r>
            <a:r>
              <a:rPr lang="en-US" altLang="zh-CN" dirty="0"/>
              <a:t>Division</a:t>
            </a:r>
            <a:r>
              <a:rPr lang="zh-CN" altLang="en-US" dirty="0"/>
              <a:t>） </a:t>
            </a:r>
          </a:p>
        </p:txBody>
      </p:sp>
      <p:sp>
        <p:nvSpPr>
          <p:cNvPr id="2" name="灯片编号占位符 1">
            <a:extLst>
              <a:ext uri="{FF2B5EF4-FFF2-40B4-BE49-F238E27FC236}">
                <a16:creationId xmlns:a16="http://schemas.microsoft.com/office/drawing/2014/main" id="{527ABDC1-80C3-4AB0-A697-73611BE46B40}"/>
              </a:ext>
            </a:extLst>
          </p:cNvPr>
          <p:cNvSpPr>
            <a:spLocks noGrp="1"/>
          </p:cNvSpPr>
          <p:nvPr>
            <p:ph type="sldNum" sz="quarter" idx="12"/>
          </p:nvPr>
        </p:nvSpPr>
        <p:spPr/>
        <p:txBody>
          <a:bodyPr/>
          <a:lstStyle/>
          <a:p>
            <a:fld id="{47C9E101-E51D-431E-84FA-C029B8655B60}" type="slidenum">
              <a:rPr lang="zh-CN" altLang="en-US" smtClean="0"/>
              <a:pPr/>
              <a:t>62</a:t>
            </a:fld>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340993">
            <a:extLst>
              <a:ext uri="{FF2B5EF4-FFF2-40B4-BE49-F238E27FC236}">
                <a16:creationId xmlns:a16="http://schemas.microsoft.com/office/drawing/2014/main" id="{98322B2F-8197-4493-BA65-66418FFD7FA9}"/>
              </a:ext>
            </a:extLst>
          </p:cNvPr>
          <p:cNvSpPr>
            <a:spLocks noGrp="1" noChangeArrowheads="1"/>
          </p:cNvSpPr>
          <p:nvPr>
            <p:ph type="title"/>
          </p:nvPr>
        </p:nvSpPr>
        <p:spPr/>
        <p:txBody>
          <a:bodyPr/>
          <a:lstStyle/>
          <a:p>
            <a:r>
              <a:rPr lang="zh-CN" altLang="en-US"/>
              <a:t>专门的关系运算</a:t>
            </a:r>
            <a:r>
              <a:rPr lang="en-US" altLang="zh-CN"/>
              <a:t>(</a:t>
            </a:r>
            <a:r>
              <a:rPr lang="zh-CN" altLang="en-US"/>
              <a:t>续</a:t>
            </a:r>
            <a:r>
              <a:rPr lang="en-US" altLang="zh-CN"/>
              <a:t>)</a:t>
            </a:r>
          </a:p>
        </p:txBody>
      </p:sp>
      <p:sp>
        <p:nvSpPr>
          <p:cNvPr id="8" name="内容占位符 7">
            <a:extLst>
              <a:ext uri="{FF2B5EF4-FFF2-40B4-BE49-F238E27FC236}">
                <a16:creationId xmlns:a16="http://schemas.microsoft.com/office/drawing/2014/main" id="{F3105BE9-D1BC-4D22-B0D4-93C06C3921BB}"/>
              </a:ext>
            </a:extLst>
          </p:cNvPr>
          <p:cNvSpPr>
            <a:spLocks noGrp="1"/>
          </p:cNvSpPr>
          <p:nvPr>
            <p:ph idx="1"/>
          </p:nvPr>
        </p:nvSpPr>
        <p:spPr/>
        <p:txBody>
          <a:bodyPr>
            <a:normAutofit/>
          </a:bodyPr>
          <a:lstStyle/>
          <a:p>
            <a:r>
              <a:rPr lang="zh-CN" altLang="en-US" dirty="0"/>
              <a:t>设有一个学生</a:t>
            </a:r>
            <a:r>
              <a:rPr lang="en-US" altLang="zh-CN" dirty="0"/>
              <a:t>-</a:t>
            </a:r>
            <a:r>
              <a:rPr lang="zh-CN" altLang="en-US" dirty="0"/>
              <a:t>课程数据库，包括学生关系</a:t>
            </a:r>
            <a:r>
              <a:rPr lang="en-US" altLang="zh-CN" dirty="0"/>
              <a:t>Student</a:t>
            </a:r>
            <a:r>
              <a:rPr lang="zh-CN" altLang="en-US" dirty="0"/>
              <a:t>、课程关系</a:t>
            </a:r>
            <a:r>
              <a:rPr lang="en-US" altLang="zh-CN" dirty="0"/>
              <a:t>Course</a:t>
            </a:r>
            <a:r>
              <a:rPr lang="zh-CN" altLang="en-US" dirty="0"/>
              <a:t>和选修关系</a:t>
            </a:r>
            <a:r>
              <a:rPr lang="en-US" altLang="zh-CN" dirty="0"/>
              <a:t>SC</a:t>
            </a:r>
            <a:r>
              <a:rPr lang="zh-CN" altLang="en-US" dirty="0"/>
              <a:t>。</a:t>
            </a:r>
          </a:p>
          <a:p>
            <a:endParaRPr lang="zh-CN" altLang="en-US" dirty="0"/>
          </a:p>
        </p:txBody>
      </p:sp>
      <p:sp>
        <p:nvSpPr>
          <p:cNvPr id="2" name="灯片编号占位符 1">
            <a:extLst>
              <a:ext uri="{FF2B5EF4-FFF2-40B4-BE49-F238E27FC236}">
                <a16:creationId xmlns:a16="http://schemas.microsoft.com/office/drawing/2014/main" id="{8510C2EC-F989-4F33-AA05-5C83D1C6B109}"/>
              </a:ext>
            </a:extLst>
          </p:cNvPr>
          <p:cNvSpPr>
            <a:spLocks noGrp="1"/>
          </p:cNvSpPr>
          <p:nvPr>
            <p:ph type="sldNum" sz="quarter" idx="12"/>
          </p:nvPr>
        </p:nvSpPr>
        <p:spPr/>
        <p:txBody>
          <a:bodyPr/>
          <a:lstStyle/>
          <a:p>
            <a:fld id="{47C9E101-E51D-431E-84FA-C029B8655B60}" type="slidenum">
              <a:rPr lang="zh-CN" altLang="en-US" smtClean="0"/>
              <a:pPr/>
              <a:t>63</a:t>
            </a:fld>
            <a:endParaRPr lang="zh-CN" altLang="en-US" dirty="0"/>
          </a:p>
        </p:txBody>
      </p:sp>
      <p:graphicFrame>
        <p:nvGraphicFramePr>
          <p:cNvPr id="14" name="表格 13">
            <a:extLst>
              <a:ext uri="{FF2B5EF4-FFF2-40B4-BE49-F238E27FC236}">
                <a16:creationId xmlns:a16="http://schemas.microsoft.com/office/drawing/2014/main" id="{BEFC412F-5B4F-4D3C-99DB-83E56052751D}"/>
              </a:ext>
            </a:extLst>
          </p:cNvPr>
          <p:cNvGraphicFramePr>
            <a:graphicFrameLocks noGrp="1"/>
          </p:cNvGraphicFramePr>
          <p:nvPr>
            <p:extLst>
              <p:ext uri="{D42A27DB-BD31-4B8C-83A1-F6EECF244321}">
                <p14:modId xmlns:p14="http://schemas.microsoft.com/office/powerpoint/2010/main" val="1010802042"/>
              </p:ext>
            </p:extLst>
          </p:nvPr>
        </p:nvGraphicFramePr>
        <p:xfrm>
          <a:off x="243240" y="2547234"/>
          <a:ext cx="4378310" cy="1737260"/>
        </p:xfrm>
        <a:graphic>
          <a:graphicData uri="http://schemas.openxmlformats.org/drawingml/2006/table">
            <a:tbl>
              <a:tblPr firstRow="1" bandRow="1">
                <a:tableStyleId>{5C22544A-7EE6-4342-B048-85BDC9FD1C3A}</a:tableStyleId>
              </a:tblPr>
              <a:tblGrid>
                <a:gridCol w="986470">
                  <a:extLst>
                    <a:ext uri="{9D8B030D-6E8A-4147-A177-3AD203B41FA5}">
                      <a16:colId xmlns:a16="http://schemas.microsoft.com/office/drawing/2014/main" val="20000"/>
                    </a:ext>
                  </a:extLst>
                </a:gridCol>
                <a:gridCol w="764854">
                  <a:extLst>
                    <a:ext uri="{9D8B030D-6E8A-4147-A177-3AD203B41FA5}">
                      <a16:colId xmlns:a16="http://schemas.microsoft.com/office/drawing/2014/main" val="20001"/>
                    </a:ext>
                  </a:extLst>
                </a:gridCol>
                <a:gridCol w="875662">
                  <a:extLst>
                    <a:ext uri="{9D8B030D-6E8A-4147-A177-3AD203B41FA5}">
                      <a16:colId xmlns:a16="http://schemas.microsoft.com/office/drawing/2014/main" val="20002"/>
                    </a:ext>
                  </a:extLst>
                </a:gridCol>
                <a:gridCol w="875662">
                  <a:extLst>
                    <a:ext uri="{9D8B030D-6E8A-4147-A177-3AD203B41FA5}">
                      <a16:colId xmlns:a16="http://schemas.microsoft.com/office/drawing/2014/main" val="20003"/>
                    </a:ext>
                  </a:extLst>
                </a:gridCol>
                <a:gridCol w="875662">
                  <a:extLst>
                    <a:ext uri="{9D8B030D-6E8A-4147-A177-3AD203B41FA5}">
                      <a16:colId xmlns:a16="http://schemas.microsoft.com/office/drawing/2014/main" val="20004"/>
                    </a:ext>
                  </a:extLst>
                </a:gridCol>
              </a:tblGrid>
              <a:tr h="351220">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学号</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Sno</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姓名</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Sname</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性别</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Ssex</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年龄</a:t>
                      </a:r>
                    </a:p>
                    <a:p>
                      <a:pPr algn="ct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Sage</a:t>
                      </a: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所在系</a:t>
                      </a:r>
                    </a:p>
                    <a:p>
                      <a:pPr algn="ctr" eaLnBrk="1" hangingPunct="1"/>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Sdept</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extLst>
                  <a:ext uri="{0D108BD9-81ED-4DB2-BD59-A6C34878D82A}">
                    <a16:rowId xmlns:a16="http://schemas.microsoft.com/office/drawing/2014/main" val="10000"/>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李勇</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20</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1"/>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刘晨</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2"/>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201215123</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王敏</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18</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MA</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3"/>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201215124</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张立</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IS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4"/>
                  </a:ext>
                </a:extLst>
              </a:tr>
            </a:tbl>
          </a:graphicData>
        </a:graphic>
      </p:graphicFrame>
      <p:graphicFrame>
        <p:nvGraphicFramePr>
          <p:cNvPr id="15" name="表格 14">
            <a:extLst>
              <a:ext uri="{FF2B5EF4-FFF2-40B4-BE49-F238E27FC236}">
                <a16:creationId xmlns:a16="http://schemas.microsoft.com/office/drawing/2014/main" id="{09E4B7DB-00B5-407F-BDB3-5C0DF26BA2D5}"/>
              </a:ext>
            </a:extLst>
          </p:cNvPr>
          <p:cNvGraphicFramePr>
            <a:graphicFrameLocks noGrp="1"/>
          </p:cNvGraphicFramePr>
          <p:nvPr>
            <p:extLst>
              <p:ext uri="{D42A27DB-BD31-4B8C-83A1-F6EECF244321}">
                <p14:modId xmlns:p14="http://schemas.microsoft.com/office/powerpoint/2010/main" val="574128779"/>
              </p:ext>
            </p:extLst>
          </p:nvPr>
        </p:nvGraphicFramePr>
        <p:xfrm>
          <a:off x="4759784" y="2544140"/>
          <a:ext cx="3700525" cy="2651824"/>
        </p:xfrm>
        <a:graphic>
          <a:graphicData uri="http://schemas.openxmlformats.org/drawingml/2006/table">
            <a:tbl>
              <a:tblPr firstRow="1" bandRow="1">
                <a:tableStyleId>{5C22544A-7EE6-4342-B048-85BDC9FD1C3A}</a:tableStyleId>
              </a:tblPr>
              <a:tblGrid>
                <a:gridCol w="838806">
                  <a:extLst>
                    <a:ext uri="{9D8B030D-6E8A-4147-A177-3AD203B41FA5}">
                      <a16:colId xmlns:a16="http://schemas.microsoft.com/office/drawing/2014/main" val="20000"/>
                    </a:ext>
                  </a:extLst>
                </a:gridCol>
                <a:gridCol w="1284901">
                  <a:extLst>
                    <a:ext uri="{9D8B030D-6E8A-4147-A177-3AD203B41FA5}">
                      <a16:colId xmlns:a16="http://schemas.microsoft.com/office/drawing/2014/main" val="20001"/>
                    </a:ext>
                  </a:extLst>
                </a:gridCol>
                <a:gridCol w="725845">
                  <a:extLst>
                    <a:ext uri="{9D8B030D-6E8A-4147-A177-3AD203B41FA5}">
                      <a16:colId xmlns:a16="http://schemas.microsoft.com/office/drawing/2014/main" val="20002"/>
                    </a:ext>
                  </a:extLst>
                </a:gridCol>
                <a:gridCol w="850973">
                  <a:extLst>
                    <a:ext uri="{9D8B030D-6E8A-4147-A177-3AD203B41FA5}">
                      <a16:colId xmlns:a16="http://schemas.microsoft.com/office/drawing/2014/main" val="20003"/>
                    </a:ext>
                  </a:extLst>
                </a:gridCol>
              </a:tblGrid>
              <a:tr h="339220">
                <a:tc>
                  <a:txBody>
                    <a:bodyPr/>
                    <a:lstStyle/>
                    <a:p>
                      <a:pPr algn="ct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课程号</a:t>
                      </a:r>
                      <a:endPar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solidFill>
                      <a:schemeClr val="accent1">
                        <a:lumMod val="60000"/>
                        <a:lumOff val="40000"/>
                      </a:schemeClr>
                    </a:solidFill>
                  </a:tcPr>
                </a:tc>
                <a:tc>
                  <a:txBody>
                    <a:bodyPr/>
                    <a:lstStyle/>
                    <a:p>
                      <a:pPr algn="ct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课程名</a:t>
                      </a:r>
                      <a:endPar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Cname</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solidFill>
                      <a:schemeClr val="accent1">
                        <a:lumMod val="60000"/>
                        <a:lumOff val="40000"/>
                      </a:schemeClr>
                    </a:solidFill>
                  </a:tcPr>
                </a:tc>
                <a:tc>
                  <a:txBody>
                    <a:bodyPr/>
                    <a:lstStyle/>
                    <a:p>
                      <a:pPr algn="ct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先行课</a:t>
                      </a:r>
                      <a:endPar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Cpno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solidFill>
                      <a:schemeClr val="accent1">
                        <a:lumMod val="60000"/>
                        <a:lumOff val="40000"/>
                      </a:schemeClr>
                    </a:solidFill>
                  </a:tcPr>
                </a:tc>
                <a:tc>
                  <a:txBody>
                    <a:bodyPr/>
                    <a:lstStyle/>
                    <a:p>
                      <a:pPr algn="ct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学分</a:t>
                      </a:r>
                      <a:endPar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Ccredit</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solidFill>
                      <a:schemeClr val="accent1">
                        <a:lumMod val="60000"/>
                        <a:lumOff val="40000"/>
                      </a:schemeClr>
                    </a:solidFill>
                  </a:tcPr>
                </a:tc>
                <a:extLst>
                  <a:ext uri="{0D108BD9-81ED-4DB2-BD59-A6C34878D82A}">
                    <a16:rowId xmlns:a16="http://schemas.microsoft.com/office/drawing/2014/main" val="10000"/>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数据库</a:t>
                      </a: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1"/>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高等数学</a:t>
                      </a:r>
                    </a:p>
                  </a:txBody>
                  <a:tcPr marT="45724" marB="45724"/>
                </a:tc>
                <a:tc>
                  <a:txBody>
                    <a:bodyPr/>
                    <a:lstStyle/>
                    <a:p>
                      <a:pPr algn="ct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2"/>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信息系统</a:t>
                      </a: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3"/>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操作系统</a:t>
                      </a: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4"/>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数据结构</a:t>
                      </a: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7</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5"/>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计算机导论</a:t>
                      </a:r>
                    </a:p>
                  </a:txBody>
                  <a:tcPr marT="45724" marB="45724"/>
                </a:tc>
                <a:tc>
                  <a:txBody>
                    <a:bodyPr/>
                    <a:lstStyle/>
                    <a:p>
                      <a:pPr algn="ct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6"/>
                  </a:ext>
                </a:extLst>
              </a:tr>
              <a:tr h="200779">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7</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语言</a:t>
                      </a: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7"/>
                  </a:ext>
                </a:extLst>
              </a:tr>
            </a:tbl>
          </a:graphicData>
        </a:graphic>
      </p:graphicFrame>
      <p:graphicFrame>
        <p:nvGraphicFramePr>
          <p:cNvPr id="16" name="表格 15">
            <a:extLst>
              <a:ext uri="{FF2B5EF4-FFF2-40B4-BE49-F238E27FC236}">
                <a16:creationId xmlns:a16="http://schemas.microsoft.com/office/drawing/2014/main" id="{78E7A48A-1B5D-45C4-AABC-FD47278FB406}"/>
              </a:ext>
            </a:extLst>
          </p:cNvPr>
          <p:cNvGraphicFramePr>
            <a:graphicFrameLocks noGrp="1"/>
          </p:cNvGraphicFramePr>
          <p:nvPr>
            <p:extLst>
              <p:ext uri="{D42A27DB-BD31-4B8C-83A1-F6EECF244321}">
                <p14:modId xmlns:p14="http://schemas.microsoft.com/office/powerpoint/2010/main" val="289121834"/>
              </p:ext>
            </p:extLst>
          </p:nvPr>
        </p:nvGraphicFramePr>
        <p:xfrm>
          <a:off x="8623627" y="2551357"/>
          <a:ext cx="2878461" cy="2042304"/>
        </p:xfrm>
        <a:graphic>
          <a:graphicData uri="http://schemas.openxmlformats.org/drawingml/2006/table">
            <a:tbl>
              <a:tblPr firstRow="1" bandRow="1">
                <a:tableStyleId>{5C22544A-7EE6-4342-B048-85BDC9FD1C3A}</a:tableStyleId>
              </a:tblPr>
              <a:tblGrid>
                <a:gridCol w="1060904">
                  <a:extLst>
                    <a:ext uri="{9D8B030D-6E8A-4147-A177-3AD203B41FA5}">
                      <a16:colId xmlns:a16="http://schemas.microsoft.com/office/drawing/2014/main" val="20000"/>
                    </a:ext>
                  </a:extLst>
                </a:gridCol>
                <a:gridCol w="858070">
                  <a:extLst>
                    <a:ext uri="{9D8B030D-6E8A-4147-A177-3AD203B41FA5}">
                      <a16:colId xmlns:a16="http://schemas.microsoft.com/office/drawing/2014/main" val="20001"/>
                    </a:ext>
                  </a:extLst>
                </a:gridCol>
                <a:gridCol w="959487">
                  <a:extLst>
                    <a:ext uri="{9D8B030D-6E8A-4147-A177-3AD203B41FA5}">
                      <a16:colId xmlns:a16="http://schemas.microsoft.com/office/drawing/2014/main" val="20002"/>
                    </a:ext>
                  </a:extLst>
                </a:gridCol>
              </a:tblGrid>
              <a:tr h="222167">
                <a:tc>
                  <a:txBody>
                    <a:bodyPr/>
                    <a:lstStyle/>
                    <a:p>
                      <a:pPr algn="ct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学号</a:t>
                      </a:r>
                      <a:endPar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solidFill>
                      <a:schemeClr val="accent1">
                        <a:lumMod val="60000"/>
                        <a:lumOff val="40000"/>
                      </a:schemeClr>
                    </a:solidFill>
                  </a:tcPr>
                </a:tc>
                <a:tc>
                  <a:txBody>
                    <a:bodyPr/>
                    <a:lstStyle/>
                    <a:p>
                      <a:pPr algn="ct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课程号</a:t>
                      </a:r>
                      <a:endPar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solidFill>
                      <a:schemeClr val="accent1">
                        <a:lumMod val="60000"/>
                        <a:lumOff val="40000"/>
                      </a:schemeClr>
                    </a:solidFill>
                  </a:tcPr>
                </a:tc>
                <a:tc>
                  <a:txBody>
                    <a:bodyPr/>
                    <a:lstStyle/>
                    <a:p>
                      <a:pPr algn="ct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成绩</a:t>
                      </a:r>
                      <a:endPar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Grade</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solidFill>
                      <a:schemeClr val="accent1">
                        <a:lumMod val="60000"/>
                        <a:lumOff val="40000"/>
                      </a:schemeClr>
                    </a:solidFill>
                  </a:tcPr>
                </a:tc>
                <a:extLst>
                  <a:ext uri="{0D108BD9-81ED-4DB2-BD59-A6C34878D82A}">
                    <a16:rowId xmlns:a16="http://schemas.microsoft.com/office/drawing/2014/main" val="10000"/>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92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1"/>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85</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2"/>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88</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3"/>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90</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4"/>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80</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5"/>
                  </a:ext>
                </a:extLst>
              </a:tr>
            </a:tbl>
          </a:graphicData>
        </a:graphic>
      </p:graphicFrame>
      <p:sp>
        <p:nvSpPr>
          <p:cNvPr id="17" name="Rectangle 83">
            <a:extLst>
              <a:ext uri="{FF2B5EF4-FFF2-40B4-BE49-F238E27FC236}">
                <a16:creationId xmlns:a16="http://schemas.microsoft.com/office/drawing/2014/main" id="{FA351CAA-B41C-4877-986C-9C9E38021749}"/>
              </a:ext>
            </a:extLst>
          </p:cNvPr>
          <p:cNvSpPr>
            <a:spLocks noChangeArrowheads="1"/>
          </p:cNvSpPr>
          <p:nvPr/>
        </p:nvSpPr>
        <p:spPr bwMode="auto">
          <a:xfrm>
            <a:off x="1803161" y="2092495"/>
            <a:ext cx="11509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sz="1600" dirty="0">
                <a:solidFill>
                  <a:srgbClr val="000000"/>
                </a:solidFill>
                <a:ea typeface="楷体_GB2312" pitchFamily="49" charset="-122"/>
              </a:rPr>
              <a:t> </a:t>
            </a:r>
            <a:r>
              <a:rPr kumimoji="1" lang="en-US" altLang="zh-CN" sz="1600" b="1" dirty="0">
                <a:solidFill>
                  <a:srgbClr val="000000"/>
                </a:solidFill>
                <a:ea typeface="楷体_GB2312" pitchFamily="49" charset="-122"/>
              </a:rPr>
              <a:t>Student</a:t>
            </a:r>
          </a:p>
        </p:txBody>
      </p:sp>
      <p:sp>
        <p:nvSpPr>
          <p:cNvPr id="18" name="Rectangle 227">
            <a:extLst>
              <a:ext uri="{FF2B5EF4-FFF2-40B4-BE49-F238E27FC236}">
                <a16:creationId xmlns:a16="http://schemas.microsoft.com/office/drawing/2014/main" id="{27896BC9-366D-4651-8543-665715C432D3}"/>
              </a:ext>
            </a:extLst>
          </p:cNvPr>
          <p:cNvSpPr>
            <a:spLocks noChangeArrowheads="1"/>
          </p:cNvSpPr>
          <p:nvPr/>
        </p:nvSpPr>
        <p:spPr bwMode="auto">
          <a:xfrm>
            <a:off x="6295234" y="2126640"/>
            <a:ext cx="914400" cy="387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sz="1600" b="1" dirty="0">
                <a:solidFill>
                  <a:srgbClr val="000000"/>
                </a:solidFill>
                <a:ea typeface="楷体_GB2312" pitchFamily="49" charset="-122"/>
              </a:rPr>
              <a:t>Course</a:t>
            </a:r>
          </a:p>
        </p:txBody>
      </p:sp>
      <p:sp>
        <p:nvSpPr>
          <p:cNvPr id="19" name="Rectangle 185">
            <a:extLst>
              <a:ext uri="{FF2B5EF4-FFF2-40B4-BE49-F238E27FC236}">
                <a16:creationId xmlns:a16="http://schemas.microsoft.com/office/drawing/2014/main" id="{6BB7698E-7B6C-4974-8C59-C37EFFE588E6}"/>
              </a:ext>
            </a:extLst>
          </p:cNvPr>
          <p:cNvSpPr>
            <a:spLocks noChangeArrowheads="1"/>
          </p:cNvSpPr>
          <p:nvPr/>
        </p:nvSpPr>
        <p:spPr bwMode="auto">
          <a:xfrm>
            <a:off x="9614081" y="2185687"/>
            <a:ext cx="7302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sz="1600" b="1" dirty="0">
                <a:solidFill>
                  <a:srgbClr val="000000"/>
                </a:solidFill>
                <a:ea typeface="楷体_GB2312" pitchFamily="49" charset="-122"/>
              </a:rPr>
              <a:t>SC</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339969">
            <a:extLst>
              <a:ext uri="{FF2B5EF4-FFF2-40B4-BE49-F238E27FC236}">
                <a16:creationId xmlns:a16="http://schemas.microsoft.com/office/drawing/2014/main" id="{38BDB1C6-6758-4D17-84D4-2EA31FDA0AC0}"/>
              </a:ext>
            </a:extLst>
          </p:cNvPr>
          <p:cNvSpPr>
            <a:spLocks noGrp="1" noChangeArrowheads="1"/>
          </p:cNvSpPr>
          <p:nvPr>
            <p:ph type="title"/>
          </p:nvPr>
        </p:nvSpPr>
        <p:spPr/>
        <p:txBody>
          <a:bodyPr/>
          <a:lstStyle/>
          <a:p>
            <a:r>
              <a:rPr lang="en-US" altLang="zh-CN" dirty="0"/>
              <a:t>1. </a:t>
            </a:r>
            <a:r>
              <a:rPr lang="zh-CN" altLang="en-US" dirty="0"/>
              <a:t>选择（</a:t>
            </a:r>
            <a:r>
              <a:rPr lang="en-US" altLang="zh-CN" dirty="0"/>
              <a:t>Selection</a:t>
            </a:r>
            <a:r>
              <a:rPr lang="zh-CN" altLang="en-US" dirty="0"/>
              <a:t>） </a:t>
            </a:r>
          </a:p>
        </p:txBody>
      </p:sp>
      <p:sp>
        <p:nvSpPr>
          <p:cNvPr id="40963" name="文本占位符 339970">
            <a:extLst>
              <a:ext uri="{FF2B5EF4-FFF2-40B4-BE49-F238E27FC236}">
                <a16:creationId xmlns:a16="http://schemas.microsoft.com/office/drawing/2014/main" id="{D461D716-770E-48F8-80CD-DFFE11603237}"/>
              </a:ext>
            </a:extLst>
          </p:cNvPr>
          <p:cNvSpPr>
            <a:spLocks noGrp="1" noChangeArrowheads="1"/>
          </p:cNvSpPr>
          <p:nvPr>
            <p:ph idx="1"/>
          </p:nvPr>
        </p:nvSpPr>
        <p:spPr/>
        <p:txBody>
          <a:bodyPr/>
          <a:lstStyle/>
          <a:p>
            <a:r>
              <a:rPr lang="zh-CN" altLang="en-US" dirty="0"/>
              <a:t>选择又称为限制（</a:t>
            </a:r>
            <a:r>
              <a:rPr lang="en-US" altLang="zh-CN" dirty="0"/>
              <a:t>Restriction</a:t>
            </a:r>
            <a:r>
              <a:rPr lang="zh-CN" altLang="en-US" dirty="0"/>
              <a:t>）</a:t>
            </a:r>
          </a:p>
          <a:p>
            <a:r>
              <a:rPr lang="zh-CN" altLang="en-US" dirty="0"/>
              <a:t>选择运算符的含义</a:t>
            </a:r>
          </a:p>
          <a:p>
            <a:pPr lvl="1"/>
            <a:r>
              <a:rPr lang="zh-CN" altLang="en-US" dirty="0"/>
              <a:t>在关系</a:t>
            </a:r>
            <a:r>
              <a:rPr lang="en-US" altLang="zh-CN" dirty="0"/>
              <a:t>R</a:t>
            </a:r>
            <a:r>
              <a:rPr lang="zh-CN" altLang="en-US" dirty="0"/>
              <a:t>中选择满足给定条件的诸元组</a:t>
            </a:r>
          </a:p>
          <a:p>
            <a:pPr marL="342900" lvl="1" indent="0">
              <a:buNone/>
            </a:pPr>
            <a:r>
              <a:rPr lang="zh-CN" altLang="en-US" dirty="0"/>
              <a:t>               </a:t>
            </a:r>
            <a:r>
              <a:rPr lang="en-US" altLang="zh-CN" dirty="0" err="1">
                <a:solidFill>
                  <a:srgbClr val="C00000"/>
                </a:solidFill>
              </a:rPr>
              <a:t>σ</a:t>
            </a:r>
            <a:r>
              <a:rPr lang="en-US" altLang="zh-CN" baseline="-30000" dirty="0" err="1">
                <a:solidFill>
                  <a:srgbClr val="C00000"/>
                </a:solidFill>
              </a:rPr>
              <a:t>F</a:t>
            </a:r>
            <a:r>
              <a:rPr lang="en-US" altLang="zh-CN" dirty="0">
                <a:solidFill>
                  <a:srgbClr val="C00000"/>
                </a:solidFill>
              </a:rPr>
              <a:t>(</a:t>
            </a:r>
            <a:r>
              <a:rPr lang="en-US" altLang="zh-CN" i="1" dirty="0">
                <a:solidFill>
                  <a:srgbClr val="C00000"/>
                </a:solidFill>
              </a:rPr>
              <a:t>R</a:t>
            </a:r>
            <a:r>
              <a:rPr lang="en-US" altLang="zh-CN" dirty="0">
                <a:solidFill>
                  <a:srgbClr val="C00000"/>
                </a:solidFill>
              </a:rPr>
              <a:t>) = {</a:t>
            </a:r>
            <a:r>
              <a:rPr lang="en-US" altLang="zh-CN" i="1" dirty="0" err="1">
                <a:solidFill>
                  <a:srgbClr val="C00000"/>
                </a:solidFill>
              </a:rPr>
              <a:t>t</a:t>
            </a:r>
            <a:r>
              <a:rPr lang="en-US" altLang="zh-CN" dirty="0" err="1">
                <a:solidFill>
                  <a:srgbClr val="C00000"/>
                </a:solidFill>
              </a:rPr>
              <a:t>|</a:t>
            </a:r>
            <a:r>
              <a:rPr lang="en-US" altLang="zh-CN" i="1" dirty="0" err="1">
                <a:solidFill>
                  <a:srgbClr val="C00000"/>
                </a:solidFill>
              </a:rPr>
              <a:t>t</a:t>
            </a:r>
            <a:r>
              <a:rPr lang="en-US" altLang="zh-CN" dirty="0" err="1">
                <a:solidFill>
                  <a:srgbClr val="C00000"/>
                </a:solidFill>
                <a:sym typeface="Symbol" panose="05050102010706020507" pitchFamily="18" charset="2"/>
              </a:rPr>
              <a:t></a:t>
            </a:r>
            <a:r>
              <a:rPr lang="en-US" altLang="zh-CN" i="1" dirty="0" err="1">
                <a:solidFill>
                  <a:srgbClr val="C00000"/>
                </a:solidFill>
              </a:rPr>
              <a:t>R</a:t>
            </a:r>
            <a:r>
              <a:rPr lang="en-US" altLang="zh-CN" dirty="0" err="1">
                <a:solidFill>
                  <a:srgbClr val="C00000"/>
                </a:solidFill>
              </a:rPr>
              <a:t>∧</a:t>
            </a:r>
            <a:r>
              <a:rPr lang="en-US" altLang="zh-CN" i="1" dirty="0" err="1">
                <a:solidFill>
                  <a:srgbClr val="C00000"/>
                </a:solidFill>
              </a:rPr>
              <a:t>F</a:t>
            </a:r>
            <a:r>
              <a:rPr lang="en-US" altLang="zh-CN" dirty="0">
                <a:solidFill>
                  <a:srgbClr val="C00000"/>
                </a:solidFill>
              </a:rPr>
              <a:t>(</a:t>
            </a:r>
            <a:r>
              <a:rPr lang="en-US" altLang="zh-CN" i="1" dirty="0">
                <a:solidFill>
                  <a:srgbClr val="C00000"/>
                </a:solidFill>
              </a:rPr>
              <a:t>t</a:t>
            </a:r>
            <a:r>
              <a:rPr lang="en-US" altLang="zh-CN" dirty="0">
                <a:solidFill>
                  <a:srgbClr val="C00000"/>
                </a:solidFill>
              </a:rPr>
              <a:t>)= '</a:t>
            </a:r>
            <a:r>
              <a:rPr lang="zh-CN" altLang="en-US" dirty="0">
                <a:solidFill>
                  <a:srgbClr val="C00000"/>
                </a:solidFill>
              </a:rPr>
              <a:t>真</a:t>
            </a:r>
            <a:r>
              <a:rPr lang="en-US" altLang="zh-CN" dirty="0">
                <a:solidFill>
                  <a:srgbClr val="C00000"/>
                </a:solidFill>
              </a:rPr>
              <a:t>’}</a:t>
            </a:r>
          </a:p>
          <a:p>
            <a:pPr lvl="1"/>
            <a:r>
              <a:rPr lang="en-US" altLang="zh-CN" i="1" dirty="0"/>
              <a:t>F</a:t>
            </a:r>
            <a:r>
              <a:rPr lang="zh-CN" altLang="en-US" dirty="0"/>
              <a:t>：选择条件，是一个逻辑表达式，取值为“真”或“假”</a:t>
            </a:r>
            <a:endParaRPr lang="en-US" altLang="zh-CN" dirty="0"/>
          </a:p>
          <a:p>
            <a:pPr lvl="2"/>
            <a:r>
              <a:rPr lang="zh-CN" altLang="en-US" dirty="0"/>
              <a:t>基本形式为：</a:t>
            </a:r>
            <a:r>
              <a:rPr lang="en-US" altLang="zh-CN" sz="1600" i="1" dirty="0">
                <a:solidFill>
                  <a:srgbClr val="000000"/>
                </a:solidFill>
              </a:rPr>
              <a:t> </a:t>
            </a:r>
            <a:r>
              <a:rPr lang="en-US" altLang="zh-CN" sz="1600" i="1" dirty="0">
                <a:solidFill>
                  <a:srgbClr val="C00000"/>
                </a:solidFill>
              </a:rPr>
              <a:t>X</a:t>
            </a:r>
            <a:r>
              <a:rPr lang="en-US" altLang="zh-CN" sz="1600" baseline="-25000" dirty="0">
                <a:solidFill>
                  <a:srgbClr val="C00000"/>
                </a:solidFill>
              </a:rPr>
              <a:t>1</a:t>
            </a:r>
            <a:r>
              <a:rPr lang="en-US" altLang="zh-CN" sz="1600" dirty="0">
                <a:solidFill>
                  <a:srgbClr val="C00000"/>
                </a:solidFill>
              </a:rPr>
              <a:t>θ</a:t>
            </a:r>
            <a:r>
              <a:rPr lang="en-US" altLang="zh-CN" sz="1600" i="1" dirty="0">
                <a:solidFill>
                  <a:srgbClr val="C00000"/>
                </a:solidFill>
              </a:rPr>
              <a:t>Y</a:t>
            </a:r>
            <a:r>
              <a:rPr lang="en-US" altLang="zh-CN" sz="1600" baseline="-25000" dirty="0">
                <a:solidFill>
                  <a:srgbClr val="C00000"/>
                </a:solidFill>
              </a:rPr>
              <a:t>1</a:t>
            </a:r>
          </a:p>
          <a:p>
            <a:pPr lvl="2"/>
            <a:r>
              <a:rPr lang="en-US" altLang="zh-CN" sz="1400" i="1" dirty="0">
                <a:solidFill>
                  <a:srgbClr val="000000"/>
                </a:solidFill>
              </a:rPr>
              <a:t>X</a:t>
            </a:r>
            <a:r>
              <a:rPr lang="en-US" altLang="zh-CN" sz="1400" baseline="-25000" dirty="0">
                <a:solidFill>
                  <a:srgbClr val="000000"/>
                </a:solidFill>
              </a:rPr>
              <a:t>1</a:t>
            </a:r>
            <a:r>
              <a:rPr lang="zh-CN" altLang="en-US" sz="1400" dirty="0">
                <a:solidFill>
                  <a:srgbClr val="000000"/>
                </a:solidFill>
              </a:rPr>
              <a:t>，</a:t>
            </a:r>
            <a:r>
              <a:rPr lang="en-US" altLang="zh-CN" sz="1400" i="1" dirty="0">
                <a:solidFill>
                  <a:srgbClr val="000000"/>
                </a:solidFill>
              </a:rPr>
              <a:t>Y</a:t>
            </a:r>
            <a:r>
              <a:rPr lang="en-US" altLang="zh-CN" sz="1400" baseline="-25000" dirty="0">
                <a:solidFill>
                  <a:srgbClr val="000000"/>
                </a:solidFill>
              </a:rPr>
              <a:t>1</a:t>
            </a:r>
            <a:r>
              <a:rPr lang="zh-CN" altLang="en-US" dirty="0"/>
              <a:t>等：属性名、常量、简单函数；属性名也可以用它的序号来代替</a:t>
            </a:r>
          </a:p>
          <a:p>
            <a:pPr lvl="2"/>
            <a:r>
              <a:rPr lang="en-US" altLang="zh-CN" dirty="0"/>
              <a:t>θ</a:t>
            </a:r>
            <a:r>
              <a:rPr lang="zh-CN" altLang="en-US" dirty="0"/>
              <a:t>表示比较运算符，它可以是＞，≥，＜，≤，＝或</a:t>
            </a:r>
            <a:r>
              <a:rPr lang="en-US" altLang="zh-CN" dirty="0"/>
              <a:t>&lt;&gt;</a:t>
            </a:r>
          </a:p>
          <a:p>
            <a:r>
              <a:rPr lang="zh-CN" altLang="en-US" dirty="0"/>
              <a:t>选择运算是从关系</a:t>
            </a:r>
            <a:r>
              <a:rPr lang="en-US" altLang="zh-CN" i="1" dirty="0">
                <a:solidFill>
                  <a:srgbClr val="C00000"/>
                </a:solidFill>
              </a:rPr>
              <a:t>R</a:t>
            </a:r>
            <a:r>
              <a:rPr lang="zh-CN" altLang="en-US" dirty="0"/>
              <a:t>中选取使逻辑表达式</a:t>
            </a:r>
            <a:r>
              <a:rPr lang="en-US" altLang="zh-CN" i="1" dirty="0"/>
              <a:t>F</a:t>
            </a:r>
            <a:r>
              <a:rPr lang="zh-CN" altLang="en-US" dirty="0"/>
              <a:t>为真的元组，是从</a:t>
            </a:r>
            <a:r>
              <a:rPr lang="zh-CN" altLang="en-US" dirty="0">
                <a:solidFill>
                  <a:srgbClr val="C00000"/>
                </a:solidFill>
              </a:rPr>
              <a:t>行</a:t>
            </a:r>
            <a:r>
              <a:rPr lang="zh-CN" altLang="en-US" dirty="0"/>
              <a:t>的角度进行的运算</a:t>
            </a:r>
          </a:p>
        </p:txBody>
      </p:sp>
      <p:sp>
        <p:nvSpPr>
          <p:cNvPr id="2" name="灯片编号占位符 1">
            <a:extLst>
              <a:ext uri="{FF2B5EF4-FFF2-40B4-BE49-F238E27FC236}">
                <a16:creationId xmlns:a16="http://schemas.microsoft.com/office/drawing/2014/main" id="{8A0E378D-C9DC-44BD-A572-BF74AED23B82}"/>
              </a:ext>
            </a:extLst>
          </p:cNvPr>
          <p:cNvSpPr>
            <a:spLocks noGrp="1"/>
          </p:cNvSpPr>
          <p:nvPr>
            <p:ph type="sldNum" sz="quarter" idx="12"/>
          </p:nvPr>
        </p:nvSpPr>
        <p:spPr/>
        <p:txBody>
          <a:bodyPr/>
          <a:lstStyle/>
          <a:p>
            <a:fld id="{47C9E101-E51D-431E-84FA-C029B8655B60}" type="slidenum">
              <a:rPr lang="zh-CN" altLang="en-US" smtClean="0"/>
              <a:pPr/>
              <a:t>64</a:t>
            </a:fld>
            <a:endParaRPr lang="zh-CN" altLang="en-US" dirty="0"/>
          </a:p>
        </p:txBody>
      </p:sp>
      <p:grpSp>
        <p:nvGrpSpPr>
          <p:cNvPr id="4" name="组合 343043">
            <a:extLst>
              <a:ext uri="{FF2B5EF4-FFF2-40B4-BE49-F238E27FC236}">
                <a16:creationId xmlns:a16="http://schemas.microsoft.com/office/drawing/2014/main" id="{199A16AA-6C58-4942-89B4-98AA3FD8114B}"/>
              </a:ext>
            </a:extLst>
          </p:cNvPr>
          <p:cNvGrpSpPr>
            <a:grpSpLocks/>
          </p:cNvGrpSpPr>
          <p:nvPr/>
        </p:nvGrpSpPr>
        <p:grpSpPr bwMode="auto">
          <a:xfrm>
            <a:off x="4013022" y="5398563"/>
            <a:ext cx="3825550" cy="933062"/>
            <a:chOff x="2448" y="1728"/>
            <a:chExt cx="2640" cy="768"/>
          </a:xfrm>
        </p:grpSpPr>
        <p:sp>
          <p:nvSpPr>
            <p:cNvPr id="5" name="矩形 343044">
              <a:extLst>
                <a:ext uri="{FF2B5EF4-FFF2-40B4-BE49-F238E27FC236}">
                  <a16:creationId xmlns:a16="http://schemas.microsoft.com/office/drawing/2014/main" id="{6B40F87B-9E3E-4F23-A772-5633F1117695}"/>
                </a:ext>
              </a:extLst>
            </p:cNvPr>
            <p:cNvSpPr>
              <a:spLocks noChangeArrowheads="1"/>
            </p:cNvSpPr>
            <p:nvPr/>
          </p:nvSpPr>
          <p:spPr bwMode="auto">
            <a:xfrm>
              <a:off x="2448" y="1728"/>
              <a:ext cx="912" cy="96"/>
            </a:xfrm>
            <a:prstGeom prst="rect">
              <a:avLst/>
            </a:prstGeom>
            <a:solidFill>
              <a:srgbClr val="FFFFFF"/>
            </a:solidFill>
            <a:ln w="9525">
              <a:solidFill>
                <a:srgbClr val="000000"/>
              </a:solidFill>
              <a:miter lim="800000"/>
              <a:headEnd/>
              <a:tailEnd/>
            </a:ln>
          </p:spPr>
          <p:txBody>
            <a:bodyPr/>
            <a:lstStyle/>
            <a:p>
              <a:endParaRPr lang="zh-CN" altLang="en-US"/>
            </a:p>
          </p:txBody>
        </p:sp>
        <p:sp>
          <p:nvSpPr>
            <p:cNvPr id="6" name="矩形 343045">
              <a:extLst>
                <a:ext uri="{FF2B5EF4-FFF2-40B4-BE49-F238E27FC236}">
                  <a16:creationId xmlns:a16="http://schemas.microsoft.com/office/drawing/2014/main" id="{BDDE76F0-39E2-4961-A688-479E7E4567B7}"/>
                </a:ext>
              </a:extLst>
            </p:cNvPr>
            <p:cNvSpPr>
              <a:spLocks noChangeArrowheads="1"/>
            </p:cNvSpPr>
            <p:nvPr/>
          </p:nvSpPr>
          <p:spPr bwMode="auto">
            <a:xfrm>
              <a:off x="2448" y="1824"/>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p>
          </p:txBody>
        </p:sp>
        <p:sp>
          <p:nvSpPr>
            <p:cNvPr id="7" name="矩形 343046">
              <a:extLst>
                <a:ext uri="{FF2B5EF4-FFF2-40B4-BE49-F238E27FC236}">
                  <a16:creationId xmlns:a16="http://schemas.microsoft.com/office/drawing/2014/main" id="{57F6DC88-8714-44DE-BF1B-034C28EB7FB6}"/>
                </a:ext>
              </a:extLst>
            </p:cNvPr>
            <p:cNvSpPr>
              <a:spLocks noChangeArrowheads="1"/>
            </p:cNvSpPr>
            <p:nvPr/>
          </p:nvSpPr>
          <p:spPr bwMode="auto">
            <a:xfrm>
              <a:off x="2448" y="1920"/>
              <a:ext cx="912" cy="96"/>
            </a:xfrm>
            <a:prstGeom prst="rect">
              <a:avLst/>
            </a:prstGeom>
            <a:solidFill>
              <a:srgbClr val="FFFFFF"/>
            </a:solidFill>
            <a:ln w="9525">
              <a:solidFill>
                <a:srgbClr val="000000"/>
              </a:solidFill>
              <a:miter lim="800000"/>
              <a:headEnd/>
              <a:tailEnd/>
            </a:ln>
          </p:spPr>
          <p:txBody>
            <a:bodyPr/>
            <a:lstStyle/>
            <a:p>
              <a:endParaRPr lang="zh-CN" altLang="en-US"/>
            </a:p>
          </p:txBody>
        </p:sp>
        <p:sp>
          <p:nvSpPr>
            <p:cNvPr id="8" name="矩形 343047">
              <a:extLst>
                <a:ext uri="{FF2B5EF4-FFF2-40B4-BE49-F238E27FC236}">
                  <a16:creationId xmlns:a16="http://schemas.microsoft.com/office/drawing/2014/main" id="{3385ABC2-CEC9-4C8C-B2F1-8401529F34AB}"/>
                </a:ext>
              </a:extLst>
            </p:cNvPr>
            <p:cNvSpPr>
              <a:spLocks noChangeArrowheads="1"/>
            </p:cNvSpPr>
            <p:nvPr/>
          </p:nvSpPr>
          <p:spPr bwMode="auto">
            <a:xfrm>
              <a:off x="2448" y="2400"/>
              <a:ext cx="912" cy="96"/>
            </a:xfrm>
            <a:prstGeom prst="rect">
              <a:avLst/>
            </a:prstGeom>
            <a:solidFill>
              <a:srgbClr val="FFFFFF"/>
            </a:solidFill>
            <a:ln w="9525">
              <a:solidFill>
                <a:srgbClr val="000000"/>
              </a:solidFill>
              <a:miter lim="800000"/>
              <a:headEnd/>
              <a:tailEnd/>
            </a:ln>
          </p:spPr>
          <p:txBody>
            <a:bodyPr/>
            <a:lstStyle/>
            <a:p>
              <a:endParaRPr lang="zh-CN" altLang="en-US"/>
            </a:p>
          </p:txBody>
        </p:sp>
        <p:sp>
          <p:nvSpPr>
            <p:cNvPr id="9" name="矩形 343048">
              <a:extLst>
                <a:ext uri="{FF2B5EF4-FFF2-40B4-BE49-F238E27FC236}">
                  <a16:creationId xmlns:a16="http://schemas.microsoft.com/office/drawing/2014/main" id="{3579CB33-9F14-4F2C-909F-30AA46F5B3E3}"/>
                </a:ext>
              </a:extLst>
            </p:cNvPr>
            <p:cNvSpPr>
              <a:spLocks noChangeArrowheads="1"/>
            </p:cNvSpPr>
            <p:nvPr/>
          </p:nvSpPr>
          <p:spPr bwMode="auto">
            <a:xfrm>
              <a:off x="2448" y="2016"/>
              <a:ext cx="912" cy="96"/>
            </a:xfrm>
            <a:prstGeom prst="rect">
              <a:avLst/>
            </a:prstGeom>
            <a:solidFill>
              <a:srgbClr val="FFFFFF"/>
            </a:solidFill>
            <a:ln w="9525">
              <a:solidFill>
                <a:srgbClr val="000000"/>
              </a:solidFill>
              <a:miter lim="800000"/>
              <a:headEnd/>
              <a:tailEnd/>
            </a:ln>
          </p:spPr>
          <p:txBody>
            <a:bodyPr/>
            <a:lstStyle/>
            <a:p>
              <a:endParaRPr lang="zh-CN" altLang="en-US"/>
            </a:p>
          </p:txBody>
        </p:sp>
        <p:sp>
          <p:nvSpPr>
            <p:cNvPr id="10" name="矩形 343049">
              <a:extLst>
                <a:ext uri="{FF2B5EF4-FFF2-40B4-BE49-F238E27FC236}">
                  <a16:creationId xmlns:a16="http://schemas.microsoft.com/office/drawing/2014/main" id="{110DE16D-ABB3-4BC5-91A2-0E6E799DA3FD}"/>
                </a:ext>
              </a:extLst>
            </p:cNvPr>
            <p:cNvSpPr>
              <a:spLocks noChangeArrowheads="1"/>
            </p:cNvSpPr>
            <p:nvPr/>
          </p:nvSpPr>
          <p:spPr bwMode="auto">
            <a:xfrm>
              <a:off x="2448" y="2112"/>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p>
          </p:txBody>
        </p:sp>
        <p:sp>
          <p:nvSpPr>
            <p:cNvPr id="11" name="矩形 343050">
              <a:extLst>
                <a:ext uri="{FF2B5EF4-FFF2-40B4-BE49-F238E27FC236}">
                  <a16:creationId xmlns:a16="http://schemas.microsoft.com/office/drawing/2014/main" id="{A708641B-1521-4140-880A-6ADD0D3D4956}"/>
                </a:ext>
              </a:extLst>
            </p:cNvPr>
            <p:cNvSpPr>
              <a:spLocks noChangeArrowheads="1"/>
            </p:cNvSpPr>
            <p:nvPr/>
          </p:nvSpPr>
          <p:spPr bwMode="auto">
            <a:xfrm>
              <a:off x="2448" y="2208"/>
              <a:ext cx="912" cy="96"/>
            </a:xfrm>
            <a:prstGeom prst="rect">
              <a:avLst/>
            </a:prstGeom>
            <a:solidFill>
              <a:srgbClr val="FFFFFF"/>
            </a:solidFill>
            <a:ln w="9525">
              <a:solidFill>
                <a:srgbClr val="000000"/>
              </a:solidFill>
              <a:miter lim="800000"/>
              <a:headEnd/>
              <a:tailEnd/>
            </a:ln>
          </p:spPr>
          <p:txBody>
            <a:bodyPr/>
            <a:lstStyle/>
            <a:p>
              <a:endParaRPr lang="zh-CN" altLang="en-US"/>
            </a:p>
          </p:txBody>
        </p:sp>
        <p:sp>
          <p:nvSpPr>
            <p:cNvPr id="12" name="矩形 343051">
              <a:extLst>
                <a:ext uri="{FF2B5EF4-FFF2-40B4-BE49-F238E27FC236}">
                  <a16:creationId xmlns:a16="http://schemas.microsoft.com/office/drawing/2014/main" id="{25B05A98-A98B-4ABD-A527-285B3CD684D3}"/>
                </a:ext>
              </a:extLst>
            </p:cNvPr>
            <p:cNvSpPr>
              <a:spLocks noChangeArrowheads="1"/>
            </p:cNvSpPr>
            <p:nvPr/>
          </p:nvSpPr>
          <p:spPr bwMode="auto">
            <a:xfrm>
              <a:off x="2448" y="2304"/>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p>
          </p:txBody>
        </p:sp>
        <p:sp>
          <p:nvSpPr>
            <p:cNvPr id="13" name="矩形 343052">
              <a:extLst>
                <a:ext uri="{FF2B5EF4-FFF2-40B4-BE49-F238E27FC236}">
                  <a16:creationId xmlns:a16="http://schemas.microsoft.com/office/drawing/2014/main" id="{8A751885-A847-48A3-BA28-3BFDC77CD652}"/>
                </a:ext>
              </a:extLst>
            </p:cNvPr>
            <p:cNvSpPr>
              <a:spLocks noChangeArrowheads="1"/>
            </p:cNvSpPr>
            <p:nvPr/>
          </p:nvSpPr>
          <p:spPr bwMode="auto">
            <a:xfrm>
              <a:off x="4176" y="2112"/>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p>
          </p:txBody>
        </p:sp>
        <p:sp>
          <p:nvSpPr>
            <p:cNvPr id="14" name="矩形 343053">
              <a:extLst>
                <a:ext uri="{FF2B5EF4-FFF2-40B4-BE49-F238E27FC236}">
                  <a16:creationId xmlns:a16="http://schemas.microsoft.com/office/drawing/2014/main" id="{B7A9B90C-1CAC-4738-9124-AB670652AAAE}"/>
                </a:ext>
              </a:extLst>
            </p:cNvPr>
            <p:cNvSpPr>
              <a:spLocks noChangeArrowheads="1"/>
            </p:cNvSpPr>
            <p:nvPr/>
          </p:nvSpPr>
          <p:spPr bwMode="auto">
            <a:xfrm>
              <a:off x="4176" y="2016"/>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p>
          </p:txBody>
        </p:sp>
        <p:sp>
          <p:nvSpPr>
            <p:cNvPr id="15" name="矩形 343054">
              <a:extLst>
                <a:ext uri="{FF2B5EF4-FFF2-40B4-BE49-F238E27FC236}">
                  <a16:creationId xmlns:a16="http://schemas.microsoft.com/office/drawing/2014/main" id="{CF5223EA-F590-4CF6-8A4A-ED65D9926873}"/>
                </a:ext>
              </a:extLst>
            </p:cNvPr>
            <p:cNvSpPr>
              <a:spLocks noChangeArrowheads="1"/>
            </p:cNvSpPr>
            <p:nvPr/>
          </p:nvSpPr>
          <p:spPr bwMode="auto">
            <a:xfrm>
              <a:off x="4176" y="1920"/>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p>
          </p:txBody>
        </p:sp>
        <p:sp>
          <p:nvSpPr>
            <p:cNvPr id="16" name="右箭头 343055">
              <a:extLst>
                <a:ext uri="{FF2B5EF4-FFF2-40B4-BE49-F238E27FC236}">
                  <a16:creationId xmlns:a16="http://schemas.microsoft.com/office/drawing/2014/main" id="{8AFE9DA2-734F-4D6C-95A7-C6B74FC9B7DC}"/>
                </a:ext>
              </a:extLst>
            </p:cNvPr>
            <p:cNvSpPr>
              <a:spLocks noChangeArrowheads="1"/>
            </p:cNvSpPr>
            <p:nvPr/>
          </p:nvSpPr>
          <p:spPr bwMode="auto">
            <a:xfrm>
              <a:off x="3552" y="2016"/>
              <a:ext cx="528" cy="144"/>
            </a:xfrm>
            <a:prstGeom prst="rightArrow">
              <a:avLst>
                <a:gd name="adj1" fmla="val 50000"/>
                <a:gd name="adj2" fmla="val 91650"/>
              </a:avLst>
            </a:prstGeom>
            <a:solidFill>
              <a:srgbClr val="FFFFFF"/>
            </a:solidFill>
            <a:ln w="9525">
              <a:solidFill>
                <a:srgbClr val="000000"/>
              </a:solidFill>
              <a:miter lim="800000"/>
              <a:headEnd/>
              <a:tailEnd/>
            </a:ln>
          </p:spPr>
          <p:txBody>
            <a:bodyPr/>
            <a:lstStyle/>
            <a:p>
              <a:endParaRPr lang="zh-CN" altLang="en-US"/>
            </a:p>
          </p:txBody>
        </p:sp>
        <p:sp>
          <p:nvSpPr>
            <p:cNvPr id="17" name="文本框 343056">
              <a:extLst>
                <a:ext uri="{FF2B5EF4-FFF2-40B4-BE49-F238E27FC236}">
                  <a16:creationId xmlns:a16="http://schemas.microsoft.com/office/drawing/2014/main" id="{3F3DA2D1-0B58-4F3A-8383-11902B33F853}"/>
                </a:ext>
              </a:extLst>
            </p:cNvPr>
            <p:cNvSpPr txBox="1">
              <a:spLocks noChangeArrowheads="1"/>
            </p:cNvSpPr>
            <p:nvPr/>
          </p:nvSpPr>
          <p:spPr bwMode="auto">
            <a:xfrm>
              <a:off x="3552" y="1728"/>
              <a:ext cx="43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b="1" dirty="0"/>
                <a:t>σ</a:t>
              </a:r>
              <a:endParaRPr lang="en-US" altLang="zh-CN" sz="20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6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6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96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96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1D97EA8-20E7-49FF-A5D2-448C0E488FBE}"/>
              </a:ext>
            </a:extLst>
          </p:cNvPr>
          <p:cNvSpPr>
            <a:spLocks noGrp="1"/>
          </p:cNvSpPr>
          <p:nvPr>
            <p:ph idx="1"/>
          </p:nvPr>
        </p:nvSpPr>
        <p:spPr/>
        <p:txBody>
          <a:bodyPr/>
          <a:lstStyle/>
          <a:p>
            <a:r>
              <a:rPr lang="zh-CN" altLang="en-US" dirty="0"/>
              <a:t>例</a:t>
            </a:r>
            <a:r>
              <a:rPr lang="en-US" altLang="zh-CN" dirty="0"/>
              <a:t>1</a:t>
            </a:r>
            <a:r>
              <a:rPr lang="zh-CN" altLang="en-US" dirty="0"/>
              <a:t>：查询信息系（</a:t>
            </a:r>
            <a:r>
              <a:rPr lang="en-US" altLang="zh-CN" dirty="0"/>
              <a:t>IS</a:t>
            </a:r>
            <a:r>
              <a:rPr lang="zh-CN" altLang="en-US" dirty="0"/>
              <a:t>系）全体学生</a:t>
            </a:r>
            <a:endParaRPr lang="en-US" altLang="zh-CN" dirty="0"/>
          </a:p>
          <a:p>
            <a:pPr lvl="1"/>
            <a:r>
              <a:rPr lang="en-US" altLang="zh-CN" dirty="0" err="1"/>
              <a:t>σ</a:t>
            </a:r>
            <a:r>
              <a:rPr lang="en-US" altLang="zh-CN" baseline="-30000" dirty="0" err="1"/>
              <a:t>Sdept</a:t>
            </a:r>
            <a:r>
              <a:rPr lang="en-US" altLang="zh-CN" dirty="0"/>
              <a:t> </a:t>
            </a:r>
            <a:r>
              <a:rPr lang="en-US" altLang="zh-CN" baseline="-30000" dirty="0"/>
              <a:t>= 'IS' </a:t>
            </a:r>
            <a:r>
              <a:rPr lang="en-US" altLang="zh-CN" dirty="0"/>
              <a:t>(Student)   </a:t>
            </a:r>
            <a:r>
              <a:rPr lang="zh-CN" altLang="en-US" dirty="0"/>
              <a:t>或     </a:t>
            </a:r>
            <a:r>
              <a:rPr lang="en-US" altLang="zh-CN" dirty="0"/>
              <a:t>σ</a:t>
            </a:r>
            <a:r>
              <a:rPr lang="en-US" altLang="zh-CN" baseline="-30000" dirty="0">
                <a:solidFill>
                  <a:srgbClr val="0033CC"/>
                </a:solidFill>
              </a:rPr>
              <a:t>5</a:t>
            </a:r>
            <a:r>
              <a:rPr lang="en-US" altLang="zh-CN" baseline="-30000" dirty="0"/>
              <a:t> ='IS' </a:t>
            </a:r>
            <a:r>
              <a:rPr lang="en-US" altLang="zh-CN" dirty="0"/>
              <a:t>(Student)</a:t>
            </a:r>
          </a:p>
          <a:p>
            <a:pPr lvl="1"/>
            <a:endParaRPr lang="en-US" altLang="zh-CN" dirty="0"/>
          </a:p>
          <a:p>
            <a:r>
              <a:rPr lang="zh-CN" altLang="en-US" dirty="0"/>
              <a:t>查询结果：</a:t>
            </a:r>
            <a:endParaRPr lang="en-US" altLang="zh-CN" dirty="0"/>
          </a:p>
          <a:p>
            <a:endParaRPr lang="zh-CN" altLang="en-US" dirty="0"/>
          </a:p>
        </p:txBody>
      </p:sp>
      <p:graphicFrame>
        <p:nvGraphicFramePr>
          <p:cNvPr id="12" name="表格 11">
            <a:extLst>
              <a:ext uri="{FF2B5EF4-FFF2-40B4-BE49-F238E27FC236}">
                <a16:creationId xmlns:a16="http://schemas.microsoft.com/office/drawing/2014/main" id="{7D887B17-F8F0-4913-BA2A-3717867A518F}"/>
              </a:ext>
            </a:extLst>
          </p:cNvPr>
          <p:cNvGraphicFramePr>
            <a:graphicFrameLocks noGrp="1"/>
          </p:cNvGraphicFramePr>
          <p:nvPr>
            <p:extLst>
              <p:ext uri="{D42A27DB-BD31-4B8C-83A1-F6EECF244321}">
                <p14:modId xmlns:p14="http://schemas.microsoft.com/office/powerpoint/2010/main" val="3338030893"/>
              </p:ext>
            </p:extLst>
          </p:nvPr>
        </p:nvGraphicFramePr>
        <p:xfrm>
          <a:off x="3499946" y="2740926"/>
          <a:ext cx="4378310" cy="1737260"/>
        </p:xfrm>
        <a:graphic>
          <a:graphicData uri="http://schemas.openxmlformats.org/drawingml/2006/table">
            <a:tbl>
              <a:tblPr firstRow="1" bandRow="1">
                <a:tableStyleId>{5C22544A-7EE6-4342-B048-85BDC9FD1C3A}</a:tableStyleId>
              </a:tblPr>
              <a:tblGrid>
                <a:gridCol w="986470">
                  <a:extLst>
                    <a:ext uri="{9D8B030D-6E8A-4147-A177-3AD203B41FA5}">
                      <a16:colId xmlns:a16="http://schemas.microsoft.com/office/drawing/2014/main" val="20000"/>
                    </a:ext>
                  </a:extLst>
                </a:gridCol>
                <a:gridCol w="764854">
                  <a:extLst>
                    <a:ext uri="{9D8B030D-6E8A-4147-A177-3AD203B41FA5}">
                      <a16:colId xmlns:a16="http://schemas.microsoft.com/office/drawing/2014/main" val="20001"/>
                    </a:ext>
                  </a:extLst>
                </a:gridCol>
                <a:gridCol w="875662">
                  <a:extLst>
                    <a:ext uri="{9D8B030D-6E8A-4147-A177-3AD203B41FA5}">
                      <a16:colId xmlns:a16="http://schemas.microsoft.com/office/drawing/2014/main" val="20002"/>
                    </a:ext>
                  </a:extLst>
                </a:gridCol>
                <a:gridCol w="875662">
                  <a:extLst>
                    <a:ext uri="{9D8B030D-6E8A-4147-A177-3AD203B41FA5}">
                      <a16:colId xmlns:a16="http://schemas.microsoft.com/office/drawing/2014/main" val="20003"/>
                    </a:ext>
                  </a:extLst>
                </a:gridCol>
                <a:gridCol w="875662">
                  <a:extLst>
                    <a:ext uri="{9D8B030D-6E8A-4147-A177-3AD203B41FA5}">
                      <a16:colId xmlns:a16="http://schemas.microsoft.com/office/drawing/2014/main" val="20004"/>
                    </a:ext>
                  </a:extLst>
                </a:gridCol>
              </a:tblGrid>
              <a:tr h="351220">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学号</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Sno</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姓名</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Sname</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性别</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Ssex</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年龄</a:t>
                      </a:r>
                    </a:p>
                    <a:p>
                      <a:pPr algn="ct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Sage</a:t>
                      </a: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所在系</a:t>
                      </a:r>
                    </a:p>
                    <a:p>
                      <a:pPr algn="ctr" eaLnBrk="1" hangingPunct="1"/>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Sdept</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extLst>
                  <a:ext uri="{0D108BD9-81ED-4DB2-BD59-A6C34878D82A}">
                    <a16:rowId xmlns:a16="http://schemas.microsoft.com/office/drawing/2014/main" val="10000"/>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李勇</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20</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1"/>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刘晨</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2"/>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201215123</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王敏</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18</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MA</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3"/>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201215124</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张立</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IS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4"/>
                  </a:ext>
                </a:extLst>
              </a:tr>
            </a:tbl>
          </a:graphicData>
        </a:graphic>
      </p:graphicFrame>
      <p:sp>
        <p:nvSpPr>
          <p:cNvPr id="43010" name="标题 345089">
            <a:extLst>
              <a:ext uri="{FF2B5EF4-FFF2-40B4-BE49-F238E27FC236}">
                <a16:creationId xmlns:a16="http://schemas.microsoft.com/office/drawing/2014/main" id="{7045E494-4453-450C-A965-A36E956CF220}"/>
              </a:ext>
            </a:extLst>
          </p:cNvPr>
          <p:cNvSpPr>
            <a:spLocks noGrp="1" noChangeArrowheads="1"/>
          </p:cNvSpPr>
          <p:nvPr>
            <p:ph type="title"/>
          </p:nvPr>
        </p:nvSpPr>
        <p:spPr/>
        <p:txBody>
          <a:bodyPr/>
          <a:lstStyle/>
          <a:p>
            <a:r>
              <a:rPr lang="zh-CN" altLang="en-US"/>
              <a:t>选择（续）</a:t>
            </a:r>
          </a:p>
        </p:txBody>
      </p:sp>
      <p:sp>
        <p:nvSpPr>
          <p:cNvPr id="2" name="灯片编号占位符 1">
            <a:extLst>
              <a:ext uri="{FF2B5EF4-FFF2-40B4-BE49-F238E27FC236}">
                <a16:creationId xmlns:a16="http://schemas.microsoft.com/office/drawing/2014/main" id="{2EF762C4-1552-497F-86C3-7745A7BE3522}"/>
              </a:ext>
            </a:extLst>
          </p:cNvPr>
          <p:cNvSpPr>
            <a:spLocks noGrp="1"/>
          </p:cNvSpPr>
          <p:nvPr>
            <p:ph type="sldNum" sz="quarter" idx="12"/>
          </p:nvPr>
        </p:nvSpPr>
        <p:spPr/>
        <p:txBody>
          <a:bodyPr/>
          <a:lstStyle/>
          <a:p>
            <a:fld id="{47C9E101-E51D-431E-84FA-C029B8655B60}" type="slidenum">
              <a:rPr lang="zh-CN" altLang="en-US" smtClean="0"/>
              <a:pPr/>
              <a:t>65</a:t>
            </a:fld>
            <a:endParaRPr lang="zh-CN" altLang="en-US" dirty="0"/>
          </a:p>
        </p:txBody>
      </p:sp>
      <p:sp>
        <p:nvSpPr>
          <p:cNvPr id="11" name="Rectangle 163">
            <a:extLst>
              <a:ext uri="{FF2B5EF4-FFF2-40B4-BE49-F238E27FC236}">
                <a16:creationId xmlns:a16="http://schemas.microsoft.com/office/drawing/2014/main" id="{D4270CF5-6028-4791-9FCD-12C53B3634C3}"/>
              </a:ext>
            </a:extLst>
          </p:cNvPr>
          <p:cNvSpPr>
            <a:spLocks noChangeArrowheads="1"/>
          </p:cNvSpPr>
          <p:nvPr/>
        </p:nvSpPr>
        <p:spPr bwMode="auto">
          <a:xfrm>
            <a:off x="3544989" y="4180030"/>
            <a:ext cx="4297229" cy="270588"/>
          </a:xfrm>
          <a:prstGeom prst="rect">
            <a:avLst/>
          </a:prstGeom>
          <a:noFill/>
          <a:ln w="254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graphicFrame>
        <p:nvGraphicFramePr>
          <p:cNvPr id="13" name="表格 12">
            <a:extLst>
              <a:ext uri="{FF2B5EF4-FFF2-40B4-BE49-F238E27FC236}">
                <a16:creationId xmlns:a16="http://schemas.microsoft.com/office/drawing/2014/main" id="{5B265027-3DFE-4AC5-B4E9-38E34AD42DEE}"/>
              </a:ext>
            </a:extLst>
          </p:cNvPr>
          <p:cNvGraphicFramePr>
            <a:graphicFrameLocks noGrp="1"/>
          </p:cNvGraphicFramePr>
          <p:nvPr>
            <p:extLst>
              <p:ext uri="{D42A27DB-BD31-4B8C-83A1-F6EECF244321}">
                <p14:modId xmlns:p14="http://schemas.microsoft.com/office/powerpoint/2010/main" val="3406862769"/>
              </p:ext>
            </p:extLst>
          </p:nvPr>
        </p:nvGraphicFramePr>
        <p:xfrm>
          <a:off x="3512708" y="4807711"/>
          <a:ext cx="4378310" cy="822920"/>
        </p:xfrm>
        <a:graphic>
          <a:graphicData uri="http://schemas.openxmlformats.org/drawingml/2006/table">
            <a:tbl>
              <a:tblPr firstRow="1" bandRow="1">
                <a:tableStyleId>{5C22544A-7EE6-4342-B048-85BDC9FD1C3A}</a:tableStyleId>
              </a:tblPr>
              <a:tblGrid>
                <a:gridCol w="986470">
                  <a:extLst>
                    <a:ext uri="{9D8B030D-6E8A-4147-A177-3AD203B41FA5}">
                      <a16:colId xmlns:a16="http://schemas.microsoft.com/office/drawing/2014/main" val="20000"/>
                    </a:ext>
                  </a:extLst>
                </a:gridCol>
                <a:gridCol w="764854">
                  <a:extLst>
                    <a:ext uri="{9D8B030D-6E8A-4147-A177-3AD203B41FA5}">
                      <a16:colId xmlns:a16="http://schemas.microsoft.com/office/drawing/2014/main" val="20001"/>
                    </a:ext>
                  </a:extLst>
                </a:gridCol>
                <a:gridCol w="875662">
                  <a:extLst>
                    <a:ext uri="{9D8B030D-6E8A-4147-A177-3AD203B41FA5}">
                      <a16:colId xmlns:a16="http://schemas.microsoft.com/office/drawing/2014/main" val="20002"/>
                    </a:ext>
                  </a:extLst>
                </a:gridCol>
                <a:gridCol w="875662">
                  <a:extLst>
                    <a:ext uri="{9D8B030D-6E8A-4147-A177-3AD203B41FA5}">
                      <a16:colId xmlns:a16="http://schemas.microsoft.com/office/drawing/2014/main" val="20003"/>
                    </a:ext>
                  </a:extLst>
                </a:gridCol>
                <a:gridCol w="875662">
                  <a:extLst>
                    <a:ext uri="{9D8B030D-6E8A-4147-A177-3AD203B41FA5}">
                      <a16:colId xmlns:a16="http://schemas.microsoft.com/office/drawing/2014/main" val="20004"/>
                    </a:ext>
                  </a:extLst>
                </a:gridCol>
              </a:tblGrid>
              <a:tr h="351220">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学号</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Sno</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姓名</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Sname</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性别</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Ssex</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年龄</a:t>
                      </a:r>
                    </a:p>
                    <a:p>
                      <a:pPr algn="ct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Sage</a:t>
                      </a: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所在系</a:t>
                      </a:r>
                    </a:p>
                    <a:p>
                      <a:pPr algn="ctr" eaLnBrk="1" hangingPunct="1"/>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Sdept</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extLst>
                  <a:ext uri="{0D108BD9-81ED-4DB2-BD59-A6C34878D82A}">
                    <a16:rowId xmlns:a16="http://schemas.microsoft.com/office/drawing/2014/main" val="10000"/>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201215124</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张立</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IS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346113">
            <a:extLst>
              <a:ext uri="{FF2B5EF4-FFF2-40B4-BE49-F238E27FC236}">
                <a16:creationId xmlns:a16="http://schemas.microsoft.com/office/drawing/2014/main" id="{7B379F5F-F98B-44FF-B85F-1738E2DC795C}"/>
              </a:ext>
            </a:extLst>
          </p:cNvPr>
          <p:cNvSpPr>
            <a:spLocks noGrp="1" noChangeArrowheads="1"/>
          </p:cNvSpPr>
          <p:nvPr>
            <p:ph type="title"/>
          </p:nvPr>
        </p:nvSpPr>
        <p:spPr/>
        <p:txBody>
          <a:bodyPr/>
          <a:lstStyle/>
          <a:p>
            <a:r>
              <a:rPr lang="zh-CN" altLang="en-US"/>
              <a:t>选择（续）</a:t>
            </a:r>
          </a:p>
        </p:txBody>
      </p:sp>
      <p:sp>
        <p:nvSpPr>
          <p:cNvPr id="44035" name="文本占位符 346114">
            <a:extLst>
              <a:ext uri="{FF2B5EF4-FFF2-40B4-BE49-F238E27FC236}">
                <a16:creationId xmlns:a16="http://schemas.microsoft.com/office/drawing/2014/main" id="{FC0B1888-3A7A-4CF1-8D8B-DC099945D2BF}"/>
              </a:ext>
            </a:extLst>
          </p:cNvPr>
          <p:cNvSpPr>
            <a:spLocks noGrp="1" noChangeArrowheads="1"/>
          </p:cNvSpPr>
          <p:nvPr>
            <p:ph idx="1"/>
          </p:nvPr>
        </p:nvSpPr>
        <p:spPr/>
        <p:txBody>
          <a:bodyPr/>
          <a:lstStyle/>
          <a:p>
            <a:r>
              <a:rPr lang="zh-CN" altLang="en-US" dirty="0"/>
              <a:t>例</a:t>
            </a:r>
            <a:r>
              <a:rPr lang="en-US" altLang="zh-CN" dirty="0"/>
              <a:t>2</a:t>
            </a:r>
            <a:r>
              <a:rPr lang="zh-CN" altLang="en-US" dirty="0"/>
              <a:t>：查询年龄小于</a:t>
            </a:r>
            <a:r>
              <a:rPr lang="en-US" altLang="zh-CN" dirty="0"/>
              <a:t>20</a:t>
            </a:r>
            <a:r>
              <a:rPr lang="zh-CN" altLang="en-US" dirty="0"/>
              <a:t>岁的学生</a:t>
            </a:r>
          </a:p>
          <a:p>
            <a:pPr lvl="1" algn="just">
              <a:buNone/>
            </a:pPr>
            <a:r>
              <a:rPr lang="en-US" altLang="zh-CN" dirty="0" err="1"/>
              <a:t>σ</a:t>
            </a:r>
            <a:r>
              <a:rPr lang="en-US" altLang="zh-CN" baseline="-30000" dirty="0" err="1"/>
              <a:t>Sage</a:t>
            </a:r>
            <a:r>
              <a:rPr lang="en-US" altLang="zh-CN" baseline="-30000" dirty="0"/>
              <a:t> &lt; 20</a:t>
            </a:r>
            <a:r>
              <a:rPr lang="en-US" altLang="zh-CN" dirty="0"/>
              <a:t>(Student)    </a:t>
            </a:r>
            <a:r>
              <a:rPr lang="zh-CN" altLang="en-US" dirty="0"/>
              <a:t>或    </a:t>
            </a:r>
            <a:r>
              <a:rPr lang="en-US" altLang="zh-CN" dirty="0"/>
              <a:t>σ</a:t>
            </a:r>
            <a:r>
              <a:rPr lang="en-US" altLang="zh-CN" baseline="-30000" dirty="0">
                <a:solidFill>
                  <a:srgbClr val="0033CC"/>
                </a:solidFill>
              </a:rPr>
              <a:t>4</a:t>
            </a:r>
            <a:r>
              <a:rPr lang="en-US" altLang="zh-CN" baseline="-30000" dirty="0"/>
              <a:t> &lt; 20</a:t>
            </a:r>
            <a:r>
              <a:rPr lang="en-US" altLang="zh-CN" dirty="0"/>
              <a:t>(Student)</a:t>
            </a:r>
          </a:p>
          <a:p>
            <a:endParaRPr lang="en-US" altLang="zh-CN" dirty="0"/>
          </a:p>
          <a:p>
            <a:r>
              <a:rPr lang="zh-CN" altLang="en-US" dirty="0"/>
              <a:t>查询结果： </a:t>
            </a:r>
          </a:p>
        </p:txBody>
      </p:sp>
      <p:sp>
        <p:nvSpPr>
          <p:cNvPr id="44036" name="矩形 346242">
            <a:extLst>
              <a:ext uri="{FF2B5EF4-FFF2-40B4-BE49-F238E27FC236}">
                <a16:creationId xmlns:a16="http://schemas.microsoft.com/office/drawing/2014/main" id="{98C15C9F-4E64-4606-BC15-1C262B5561AE}"/>
              </a:ext>
            </a:extLst>
          </p:cNvPr>
          <p:cNvSpPr>
            <a:spLocks noChangeArrowheads="1"/>
          </p:cNvSpPr>
          <p:nvPr/>
        </p:nvSpPr>
        <p:spPr bwMode="auto">
          <a:xfrm>
            <a:off x="1524000" y="5459414"/>
            <a:ext cx="9144000" cy="710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p>
            <a:pPr algn="just"/>
            <a:r>
              <a:rPr lang="en-US" altLang="zh-CN" sz="2200"/>
              <a:t> </a:t>
            </a:r>
            <a:endParaRPr lang="en-US" altLang="zh-CN" sz="1000"/>
          </a:p>
          <a:p>
            <a:pPr eaLnBrk="0" hangingPunct="0"/>
            <a:endParaRPr lang="en-US" altLang="zh-CN"/>
          </a:p>
        </p:txBody>
      </p:sp>
      <p:sp>
        <p:nvSpPr>
          <p:cNvPr id="2" name="灯片编号占位符 1">
            <a:extLst>
              <a:ext uri="{FF2B5EF4-FFF2-40B4-BE49-F238E27FC236}">
                <a16:creationId xmlns:a16="http://schemas.microsoft.com/office/drawing/2014/main" id="{65389C21-822D-4829-95AA-448973750224}"/>
              </a:ext>
            </a:extLst>
          </p:cNvPr>
          <p:cNvSpPr>
            <a:spLocks noGrp="1"/>
          </p:cNvSpPr>
          <p:nvPr>
            <p:ph type="sldNum" sz="quarter" idx="12"/>
          </p:nvPr>
        </p:nvSpPr>
        <p:spPr/>
        <p:txBody>
          <a:bodyPr/>
          <a:lstStyle/>
          <a:p>
            <a:fld id="{47C9E101-E51D-431E-84FA-C029B8655B60}" type="slidenum">
              <a:rPr lang="zh-CN" altLang="en-US" smtClean="0"/>
              <a:pPr/>
              <a:t>66</a:t>
            </a:fld>
            <a:endParaRPr lang="zh-CN" altLang="en-US" dirty="0"/>
          </a:p>
        </p:txBody>
      </p:sp>
      <p:graphicFrame>
        <p:nvGraphicFramePr>
          <p:cNvPr id="12" name="表格 11">
            <a:extLst>
              <a:ext uri="{FF2B5EF4-FFF2-40B4-BE49-F238E27FC236}">
                <a16:creationId xmlns:a16="http://schemas.microsoft.com/office/drawing/2014/main" id="{185930C3-686A-459E-BE51-7FC66C940C6F}"/>
              </a:ext>
            </a:extLst>
          </p:cNvPr>
          <p:cNvGraphicFramePr>
            <a:graphicFrameLocks noGrp="1"/>
          </p:cNvGraphicFramePr>
          <p:nvPr>
            <p:extLst>
              <p:ext uri="{D42A27DB-BD31-4B8C-83A1-F6EECF244321}">
                <p14:modId xmlns:p14="http://schemas.microsoft.com/office/powerpoint/2010/main" val="2563192994"/>
              </p:ext>
            </p:extLst>
          </p:nvPr>
        </p:nvGraphicFramePr>
        <p:xfrm>
          <a:off x="3499946" y="2740926"/>
          <a:ext cx="4378310" cy="1737260"/>
        </p:xfrm>
        <a:graphic>
          <a:graphicData uri="http://schemas.openxmlformats.org/drawingml/2006/table">
            <a:tbl>
              <a:tblPr firstRow="1" bandRow="1">
                <a:tableStyleId>{5C22544A-7EE6-4342-B048-85BDC9FD1C3A}</a:tableStyleId>
              </a:tblPr>
              <a:tblGrid>
                <a:gridCol w="986470">
                  <a:extLst>
                    <a:ext uri="{9D8B030D-6E8A-4147-A177-3AD203B41FA5}">
                      <a16:colId xmlns:a16="http://schemas.microsoft.com/office/drawing/2014/main" val="20000"/>
                    </a:ext>
                  </a:extLst>
                </a:gridCol>
                <a:gridCol w="764854">
                  <a:extLst>
                    <a:ext uri="{9D8B030D-6E8A-4147-A177-3AD203B41FA5}">
                      <a16:colId xmlns:a16="http://schemas.microsoft.com/office/drawing/2014/main" val="20001"/>
                    </a:ext>
                  </a:extLst>
                </a:gridCol>
                <a:gridCol w="875662">
                  <a:extLst>
                    <a:ext uri="{9D8B030D-6E8A-4147-A177-3AD203B41FA5}">
                      <a16:colId xmlns:a16="http://schemas.microsoft.com/office/drawing/2014/main" val="20002"/>
                    </a:ext>
                  </a:extLst>
                </a:gridCol>
                <a:gridCol w="875662">
                  <a:extLst>
                    <a:ext uri="{9D8B030D-6E8A-4147-A177-3AD203B41FA5}">
                      <a16:colId xmlns:a16="http://schemas.microsoft.com/office/drawing/2014/main" val="20003"/>
                    </a:ext>
                  </a:extLst>
                </a:gridCol>
                <a:gridCol w="875662">
                  <a:extLst>
                    <a:ext uri="{9D8B030D-6E8A-4147-A177-3AD203B41FA5}">
                      <a16:colId xmlns:a16="http://schemas.microsoft.com/office/drawing/2014/main" val="20004"/>
                    </a:ext>
                  </a:extLst>
                </a:gridCol>
              </a:tblGrid>
              <a:tr h="351220">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学号</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Sno</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姓名</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Sname</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性别</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Ssex</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年龄</a:t>
                      </a:r>
                    </a:p>
                    <a:p>
                      <a:pPr algn="ct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Sage</a:t>
                      </a: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所在系</a:t>
                      </a:r>
                    </a:p>
                    <a:p>
                      <a:pPr algn="ctr" eaLnBrk="1" hangingPunct="1"/>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Sdept</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extLst>
                  <a:ext uri="{0D108BD9-81ED-4DB2-BD59-A6C34878D82A}">
                    <a16:rowId xmlns:a16="http://schemas.microsoft.com/office/drawing/2014/main" val="10000"/>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李勇</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20</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1"/>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刘晨</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2"/>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201215123</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王敏</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18</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MA</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3"/>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201215124</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张立</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IS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4"/>
                  </a:ext>
                </a:extLst>
              </a:tr>
            </a:tbl>
          </a:graphicData>
        </a:graphic>
      </p:graphicFrame>
      <p:sp>
        <p:nvSpPr>
          <p:cNvPr id="11" name="Rectangle 163">
            <a:extLst>
              <a:ext uri="{FF2B5EF4-FFF2-40B4-BE49-F238E27FC236}">
                <a16:creationId xmlns:a16="http://schemas.microsoft.com/office/drawing/2014/main" id="{3CBB2DB7-56B5-457A-8C2C-CD92D6F55205}"/>
              </a:ext>
            </a:extLst>
          </p:cNvPr>
          <p:cNvSpPr>
            <a:spLocks noChangeArrowheads="1"/>
          </p:cNvSpPr>
          <p:nvPr/>
        </p:nvSpPr>
        <p:spPr bwMode="auto">
          <a:xfrm>
            <a:off x="3513459" y="3567510"/>
            <a:ext cx="4234168" cy="878365"/>
          </a:xfrm>
          <a:prstGeom prst="rect">
            <a:avLst/>
          </a:prstGeom>
          <a:noFill/>
          <a:ln w="254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graphicFrame>
        <p:nvGraphicFramePr>
          <p:cNvPr id="13" name="表格 12">
            <a:extLst>
              <a:ext uri="{FF2B5EF4-FFF2-40B4-BE49-F238E27FC236}">
                <a16:creationId xmlns:a16="http://schemas.microsoft.com/office/drawing/2014/main" id="{18042DCB-A457-41EF-A8A2-51259CD73E55}"/>
              </a:ext>
            </a:extLst>
          </p:cNvPr>
          <p:cNvGraphicFramePr>
            <a:graphicFrameLocks noGrp="1"/>
          </p:cNvGraphicFramePr>
          <p:nvPr>
            <p:extLst>
              <p:ext uri="{D42A27DB-BD31-4B8C-83A1-F6EECF244321}">
                <p14:modId xmlns:p14="http://schemas.microsoft.com/office/powerpoint/2010/main" val="1763177148"/>
              </p:ext>
            </p:extLst>
          </p:nvPr>
        </p:nvGraphicFramePr>
        <p:xfrm>
          <a:off x="3440638" y="4636541"/>
          <a:ext cx="4378310" cy="1432480"/>
        </p:xfrm>
        <a:graphic>
          <a:graphicData uri="http://schemas.openxmlformats.org/drawingml/2006/table">
            <a:tbl>
              <a:tblPr firstRow="1" bandRow="1">
                <a:tableStyleId>{5C22544A-7EE6-4342-B048-85BDC9FD1C3A}</a:tableStyleId>
              </a:tblPr>
              <a:tblGrid>
                <a:gridCol w="986470">
                  <a:extLst>
                    <a:ext uri="{9D8B030D-6E8A-4147-A177-3AD203B41FA5}">
                      <a16:colId xmlns:a16="http://schemas.microsoft.com/office/drawing/2014/main" val="20000"/>
                    </a:ext>
                  </a:extLst>
                </a:gridCol>
                <a:gridCol w="764854">
                  <a:extLst>
                    <a:ext uri="{9D8B030D-6E8A-4147-A177-3AD203B41FA5}">
                      <a16:colId xmlns:a16="http://schemas.microsoft.com/office/drawing/2014/main" val="20001"/>
                    </a:ext>
                  </a:extLst>
                </a:gridCol>
                <a:gridCol w="875662">
                  <a:extLst>
                    <a:ext uri="{9D8B030D-6E8A-4147-A177-3AD203B41FA5}">
                      <a16:colId xmlns:a16="http://schemas.microsoft.com/office/drawing/2014/main" val="20002"/>
                    </a:ext>
                  </a:extLst>
                </a:gridCol>
                <a:gridCol w="875662">
                  <a:extLst>
                    <a:ext uri="{9D8B030D-6E8A-4147-A177-3AD203B41FA5}">
                      <a16:colId xmlns:a16="http://schemas.microsoft.com/office/drawing/2014/main" val="20003"/>
                    </a:ext>
                  </a:extLst>
                </a:gridCol>
                <a:gridCol w="875662">
                  <a:extLst>
                    <a:ext uri="{9D8B030D-6E8A-4147-A177-3AD203B41FA5}">
                      <a16:colId xmlns:a16="http://schemas.microsoft.com/office/drawing/2014/main" val="20004"/>
                    </a:ext>
                  </a:extLst>
                </a:gridCol>
              </a:tblGrid>
              <a:tr h="351220">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学号</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Sno</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姓名</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Sname</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性别</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Ssex</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年龄</a:t>
                      </a:r>
                    </a:p>
                    <a:p>
                      <a:pPr algn="ct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Sage</a:t>
                      </a: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所在系</a:t>
                      </a:r>
                    </a:p>
                    <a:p>
                      <a:pPr algn="ctr" eaLnBrk="1" hangingPunct="1"/>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Sdept</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extLst>
                  <a:ext uri="{0D108BD9-81ED-4DB2-BD59-A6C34878D82A}">
                    <a16:rowId xmlns:a16="http://schemas.microsoft.com/office/drawing/2014/main" val="10000"/>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刘晨</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2"/>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201215123</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王敏</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18</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MA</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3"/>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201215124</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张立</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IS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347137">
            <a:extLst>
              <a:ext uri="{FF2B5EF4-FFF2-40B4-BE49-F238E27FC236}">
                <a16:creationId xmlns:a16="http://schemas.microsoft.com/office/drawing/2014/main" id="{FE74DE17-E344-4D2E-9DF6-6BF4D0FE9AFC}"/>
              </a:ext>
            </a:extLst>
          </p:cNvPr>
          <p:cNvSpPr>
            <a:spLocks noGrp="1" noChangeArrowheads="1"/>
          </p:cNvSpPr>
          <p:nvPr>
            <p:ph type="title"/>
          </p:nvPr>
        </p:nvSpPr>
        <p:spPr/>
        <p:txBody>
          <a:bodyPr/>
          <a:lstStyle/>
          <a:p>
            <a:r>
              <a:rPr lang="en-US" altLang="zh-CN" dirty="0"/>
              <a:t>2. </a:t>
            </a:r>
            <a:r>
              <a:rPr lang="zh-CN" altLang="en-US" dirty="0"/>
              <a:t>投影（</a:t>
            </a:r>
            <a:r>
              <a:rPr lang="en-US" altLang="zh-CN" dirty="0"/>
              <a:t>Projection</a:t>
            </a:r>
            <a:r>
              <a:rPr lang="zh-CN" altLang="en-US" dirty="0"/>
              <a:t>） </a:t>
            </a:r>
          </a:p>
        </p:txBody>
      </p:sp>
      <p:sp>
        <p:nvSpPr>
          <p:cNvPr id="45059" name="文本占位符 347138">
            <a:extLst>
              <a:ext uri="{FF2B5EF4-FFF2-40B4-BE49-F238E27FC236}">
                <a16:creationId xmlns:a16="http://schemas.microsoft.com/office/drawing/2014/main" id="{9048FE4E-656F-45D4-952B-C258228D70FF}"/>
              </a:ext>
            </a:extLst>
          </p:cNvPr>
          <p:cNvSpPr>
            <a:spLocks noGrp="1" noChangeArrowheads="1"/>
          </p:cNvSpPr>
          <p:nvPr>
            <p:ph type="body" idx="1"/>
          </p:nvPr>
        </p:nvSpPr>
        <p:spPr/>
        <p:txBody>
          <a:bodyPr>
            <a:normAutofit lnSpcReduction="10000"/>
          </a:bodyPr>
          <a:lstStyle/>
          <a:p>
            <a:r>
              <a:rPr lang="zh-CN" altLang="en-US" dirty="0"/>
              <a:t>投影运算符的含义</a:t>
            </a:r>
          </a:p>
          <a:p>
            <a:pPr lvl="1"/>
            <a:r>
              <a:rPr lang="zh-CN" altLang="en-US" dirty="0"/>
              <a:t>从</a:t>
            </a:r>
            <a:r>
              <a:rPr lang="en-US" altLang="zh-CN" i="1" dirty="0"/>
              <a:t>R</a:t>
            </a:r>
            <a:r>
              <a:rPr lang="zh-CN" altLang="en-US" dirty="0"/>
              <a:t>中选择出若干属性列组成新的关系</a:t>
            </a:r>
          </a:p>
          <a:p>
            <a:pPr marL="342900" lvl="1" indent="0">
              <a:buNone/>
            </a:pPr>
            <a:r>
              <a:rPr lang="zh-CN" altLang="en-US" dirty="0"/>
              <a:t>              </a:t>
            </a:r>
            <a:r>
              <a:rPr lang="en-US" altLang="zh-CN" dirty="0">
                <a:solidFill>
                  <a:srgbClr val="C00000"/>
                </a:solidFill>
              </a:rPr>
              <a:t>π</a:t>
            </a:r>
            <a:r>
              <a:rPr lang="en-US" altLang="zh-CN" i="1" baseline="-30000" dirty="0">
                <a:solidFill>
                  <a:srgbClr val="C00000"/>
                </a:solidFill>
              </a:rPr>
              <a:t>A</a:t>
            </a:r>
            <a:r>
              <a:rPr lang="en-US" altLang="zh-CN" dirty="0">
                <a:solidFill>
                  <a:srgbClr val="C00000"/>
                </a:solidFill>
              </a:rPr>
              <a:t>(</a:t>
            </a:r>
            <a:r>
              <a:rPr lang="en-US" altLang="zh-CN" i="1" dirty="0">
                <a:solidFill>
                  <a:srgbClr val="C00000"/>
                </a:solidFill>
              </a:rPr>
              <a:t>R</a:t>
            </a:r>
            <a:r>
              <a:rPr lang="en-US" altLang="zh-CN" dirty="0">
                <a:solidFill>
                  <a:srgbClr val="C00000"/>
                </a:solidFill>
              </a:rPr>
              <a:t>) = { </a:t>
            </a:r>
            <a:r>
              <a:rPr lang="en-US" altLang="zh-CN" i="1" dirty="0">
                <a:solidFill>
                  <a:srgbClr val="C00000"/>
                </a:solidFill>
              </a:rPr>
              <a:t>t</a:t>
            </a:r>
            <a:r>
              <a:rPr lang="en-US" altLang="zh-CN" dirty="0">
                <a:solidFill>
                  <a:srgbClr val="C00000"/>
                </a:solidFill>
              </a:rPr>
              <a:t>[</a:t>
            </a:r>
            <a:r>
              <a:rPr lang="en-US" altLang="zh-CN" i="1" dirty="0">
                <a:solidFill>
                  <a:srgbClr val="C00000"/>
                </a:solidFill>
              </a:rPr>
              <a:t>A</a:t>
            </a:r>
            <a:r>
              <a:rPr lang="en-US" altLang="zh-CN" dirty="0">
                <a:solidFill>
                  <a:srgbClr val="C00000"/>
                </a:solidFill>
              </a:rPr>
              <a:t>] | </a:t>
            </a:r>
            <a:r>
              <a:rPr lang="en-US" altLang="zh-CN" i="1" dirty="0">
                <a:solidFill>
                  <a:srgbClr val="C00000"/>
                </a:solidFill>
              </a:rPr>
              <a:t>t </a:t>
            </a:r>
            <a:r>
              <a:rPr lang="en-US" altLang="zh-CN" dirty="0">
                <a:solidFill>
                  <a:srgbClr val="C00000"/>
                </a:solidFill>
                <a:sym typeface="Symbol" panose="05050102010706020507" pitchFamily="18" charset="2"/>
              </a:rPr>
              <a:t></a:t>
            </a:r>
            <a:r>
              <a:rPr lang="en-US" altLang="zh-CN" i="1" dirty="0">
                <a:solidFill>
                  <a:srgbClr val="C00000"/>
                </a:solidFill>
              </a:rPr>
              <a:t>R</a:t>
            </a:r>
            <a:r>
              <a:rPr lang="en-US" altLang="zh-CN" dirty="0">
                <a:solidFill>
                  <a:srgbClr val="C00000"/>
                </a:solidFill>
              </a:rPr>
              <a:t> }</a:t>
            </a:r>
          </a:p>
          <a:p>
            <a:pPr lvl="1"/>
            <a:r>
              <a:rPr lang="en-US" altLang="zh-CN" i="1" dirty="0"/>
              <a:t>A</a:t>
            </a:r>
            <a:r>
              <a:rPr lang="zh-CN" altLang="en-US" dirty="0"/>
              <a:t>：</a:t>
            </a:r>
            <a:r>
              <a:rPr lang="en-US" altLang="zh-CN" i="1" dirty="0"/>
              <a:t>R</a:t>
            </a:r>
            <a:r>
              <a:rPr lang="zh-CN" altLang="en-US" dirty="0"/>
              <a:t>中的属性列</a:t>
            </a:r>
          </a:p>
          <a:p>
            <a:endParaRPr lang="en-US" altLang="zh-CN" dirty="0"/>
          </a:p>
          <a:p>
            <a:r>
              <a:rPr lang="zh-CN" altLang="en-US" dirty="0"/>
              <a:t>投影操作主要是从</a:t>
            </a:r>
            <a:r>
              <a:rPr lang="zh-CN" altLang="en-US" dirty="0">
                <a:solidFill>
                  <a:srgbClr val="C00000"/>
                </a:solidFill>
              </a:rPr>
              <a:t>列</a:t>
            </a:r>
            <a:r>
              <a:rPr lang="zh-CN" altLang="en-US" dirty="0"/>
              <a:t>的角度进行运算</a:t>
            </a:r>
            <a:endParaRPr lang="en-US" altLang="zh-CN" dirty="0"/>
          </a:p>
          <a:p>
            <a:endParaRPr lang="en-US" altLang="zh-CN" dirty="0"/>
          </a:p>
          <a:p>
            <a:endParaRPr lang="en-US" altLang="zh-CN" dirty="0"/>
          </a:p>
          <a:p>
            <a:endParaRPr lang="en-US" altLang="zh-CN" dirty="0"/>
          </a:p>
          <a:p>
            <a:endParaRPr lang="en-US" altLang="zh-CN" dirty="0"/>
          </a:p>
          <a:p>
            <a:r>
              <a:rPr lang="zh-CN" altLang="en-US" dirty="0"/>
              <a:t>投影之后不仅取消了原关系中的某些列，而且还可能取消某些元组（避免重复行）</a:t>
            </a:r>
            <a:endParaRPr lang="en-US" altLang="zh-CN" dirty="0"/>
          </a:p>
          <a:p>
            <a:endParaRPr lang="en-US" altLang="zh-CN" dirty="0"/>
          </a:p>
        </p:txBody>
      </p:sp>
      <p:grpSp>
        <p:nvGrpSpPr>
          <p:cNvPr id="4" name="Group 27">
            <a:extLst>
              <a:ext uri="{FF2B5EF4-FFF2-40B4-BE49-F238E27FC236}">
                <a16:creationId xmlns:a16="http://schemas.microsoft.com/office/drawing/2014/main" id="{2840E643-7C81-4D44-BB02-ECEF3B866C68}"/>
              </a:ext>
            </a:extLst>
          </p:cNvPr>
          <p:cNvGrpSpPr>
            <a:grpSpLocks/>
          </p:cNvGrpSpPr>
          <p:nvPr/>
        </p:nvGrpSpPr>
        <p:grpSpPr bwMode="auto">
          <a:xfrm>
            <a:off x="3670684" y="3915479"/>
            <a:ext cx="2006082" cy="1035698"/>
            <a:chOff x="1536" y="1584"/>
            <a:chExt cx="1728" cy="1008"/>
          </a:xfrm>
        </p:grpSpPr>
        <p:sp>
          <p:nvSpPr>
            <p:cNvPr id="5" name="AutoShape 16">
              <a:extLst>
                <a:ext uri="{FF2B5EF4-FFF2-40B4-BE49-F238E27FC236}">
                  <a16:creationId xmlns:a16="http://schemas.microsoft.com/office/drawing/2014/main" id="{C04321BE-6BB8-48DA-B36B-A62FF604DBEF}"/>
                </a:ext>
              </a:extLst>
            </p:cNvPr>
            <p:cNvSpPr>
              <a:spLocks noChangeArrowheads="1"/>
            </p:cNvSpPr>
            <p:nvPr/>
          </p:nvSpPr>
          <p:spPr bwMode="auto">
            <a:xfrm>
              <a:off x="2352" y="2016"/>
              <a:ext cx="528" cy="144"/>
            </a:xfrm>
            <a:prstGeom prst="rightArrow">
              <a:avLst>
                <a:gd name="adj1" fmla="val 50000"/>
                <a:gd name="adj2" fmla="val 91667"/>
              </a:avLst>
            </a:prstGeom>
            <a:solidFill>
              <a:srgbClr val="FFFFFF"/>
            </a:solidFill>
            <a:ln w="9525">
              <a:solidFill>
                <a:srgbClr val="000000"/>
              </a:solidFill>
              <a:miter lim="800000"/>
              <a:headEnd/>
              <a:tailEnd/>
            </a:ln>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6" name="Text Box 17">
              <a:extLst>
                <a:ext uri="{FF2B5EF4-FFF2-40B4-BE49-F238E27FC236}">
                  <a16:creationId xmlns:a16="http://schemas.microsoft.com/office/drawing/2014/main" id="{14EDD420-33AD-4823-B0B8-1B873AB832E9}"/>
                </a:ext>
              </a:extLst>
            </p:cNvPr>
            <p:cNvSpPr txBox="1">
              <a:spLocks noChangeArrowheads="1"/>
            </p:cNvSpPr>
            <p:nvPr/>
          </p:nvSpPr>
          <p:spPr bwMode="auto">
            <a:xfrm>
              <a:off x="2352" y="1728"/>
              <a:ext cx="432"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a:spcBef>
                  <a:spcPct val="50000"/>
                </a:spcBef>
                <a:buClrTx/>
                <a:buSzTx/>
                <a:buFontTx/>
                <a:buNone/>
              </a:pPr>
              <a:r>
                <a:rPr kumimoji="1" lang="en-US" altLang="zh-CN" sz="1800" b="1" dirty="0">
                  <a:solidFill>
                    <a:srgbClr val="000000"/>
                  </a:solidFill>
                  <a:ea typeface="楷体_GB2312" pitchFamily="49" charset="-122"/>
                </a:rPr>
                <a:t>π</a:t>
              </a:r>
              <a:endParaRPr kumimoji="1" lang="en-US" altLang="zh-CN" sz="1800" dirty="0">
                <a:solidFill>
                  <a:srgbClr val="000000"/>
                </a:solidFill>
                <a:ea typeface="楷体_GB2312" pitchFamily="49" charset="-122"/>
              </a:endParaRPr>
            </a:p>
          </p:txBody>
        </p:sp>
        <p:sp>
          <p:nvSpPr>
            <p:cNvPr id="7" name="Rectangle 19">
              <a:extLst>
                <a:ext uri="{FF2B5EF4-FFF2-40B4-BE49-F238E27FC236}">
                  <a16:creationId xmlns:a16="http://schemas.microsoft.com/office/drawing/2014/main" id="{A41EA7B7-EC4B-459A-B13B-280392AFFAD2}"/>
                </a:ext>
              </a:extLst>
            </p:cNvPr>
            <p:cNvSpPr>
              <a:spLocks noChangeArrowheads="1"/>
            </p:cNvSpPr>
            <p:nvPr/>
          </p:nvSpPr>
          <p:spPr bwMode="auto">
            <a:xfrm>
              <a:off x="1536" y="1584"/>
              <a:ext cx="96" cy="1008"/>
            </a:xfrm>
            <a:prstGeom prst="rect">
              <a:avLst/>
            </a:prstGeom>
            <a:solidFill>
              <a:srgbClr val="FFFFFF"/>
            </a:solidFill>
            <a:ln w="9525">
              <a:solidFill>
                <a:srgbClr val="000000"/>
              </a:solidFill>
              <a:miter lim="800000"/>
              <a:headEnd/>
              <a:tailEnd/>
            </a:ln>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8" name="Rectangle 20" descr="浅色下对角线">
              <a:extLst>
                <a:ext uri="{FF2B5EF4-FFF2-40B4-BE49-F238E27FC236}">
                  <a16:creationId xmlns:a16="http://schemas.microsoft.com/office/drawing/2014/main" id="{99232D34-6D0C-418E-AE2D-6FE2141ADF81}"/>
                </a:ext>
              </a:extLst>
            </p:cNvPr>
            <p:cNvSpPr>
              <a:spLocks noChangeArrowheads="1"/>
            </p:cNvSpPr>
            <p:nvPr/>
          </p:nvSpPr>
          <p:spPr bwMode="auto">
            <a:xfrm>
              <a:off x="1632" y="1584"/>
              <a:ext cx="96" cy="1008"/>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9" name="Rectangle 21">
              <a:extLst>
                <a:ext uri="{FF2B5EF4-FFF2-40B4-BE49-F238E27FC236}">
                  <a16:creationId xmlns:a16="http://schemas.microsoft.com/office/drawing/2014/main" id="{03E8D170-273F-410A-9538-DC07748A74BB}"/>
                </a:ext>
              </a:extLst>
            </p:cNvPr>
            <p:cNvSpPr>
              <a:spLocks noChangeArrowheads="1"/>
            </p:cNvSpPr>
            <p:nvPr/>
          </p:nvSpPr>
          <p:spPr bwMode="auto">
            <a:xfrm>
              <a:off x="1728" y="1584"/>
              <a:ext cx="96" cy="1008"/>
            </a:xfrm>
            <a:prstGeom prst="rect">
              <a:avLst/>
            </a:prstGeom>
            <a:solidFill>
              <a:srgbClr val="FFFFFF"/>
            </a:solidFill>
            <a:ln w="9525">
              <a:solidFill>
                <a:srgbClr val="000000"/>
              </a:solidFill>
              <a:miter lim="800000"/>
              <a:headEnd/>
              <a:tailEnd/>
            </a:ln>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10" name="Rectangle 22">
              <a:extLst>
                <a:ext uri="{FF2B5EF4-FFF2-40B4-BE49-F238E27FC236}">
                  <a16:creationId xmlns:a16="http://schemas.microsoft.com/office/drawing/2014/main" id="{9C7FB28E-ABD9-45F1-AF0A-025B62A2EC62}"/>
                </a:ext>
              </a:extLst>
            </p:cNvPr>
            <p:cNvSpPr>
              <a:spLocks noChangeArrowheads="1"/>
            </p:cNvSpPr>
            <p:nvPr/>
          </p:nvSpPr>
          <p:spPr bwMode="auto">
            <a:xfrm>
              <a:off x="1824" y="1584"/>
              <a:ext cx="96" cy="1008"/>
            </a:xfrm>
            <a:prstGeom prst="rect">
              <a:avLst/>
            </a:prstGeom>
            <a:solidFill>
              <a:srgbClr val="FFFFFF"/>
            </a:solidFill>
            <a:ln w="9525">
              <a:solidFill>
                <a:srgbClr val="000000"/>
              </a:solidFill>
              <a:miter lim="800000"/>
              <a:headEnd/>
              <a:tailEnd/>
            </a:ln>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11" name="Rectangle 23" descr="浅色下对角线">
              <a:extLst>
                <a:ext uri="{FF2B5EF4-FFF2-40B4-BE49-F238E27FC236}">
                  <a16:creationId xmlns:a16="http://schemas.microsoft.com/office/drawing/2014/main" id="{8984E106-DA47-4596-8917-1F5643FF6005}"/>
                </a:ext>
              </a:extLst>
            </p:cNvPr>
            <p:cNvSpPr>
              <a:spLocks noChangeArrowheads="1"/>
            </p:cNvSpPr>
            <p:nvPr/>
          </p:nvSpPr>
          <p:spPr bwMode="auto">
            <a:xfrm>
              <a:off x="1920" y="1584"/>
              <a:ext cx="96" cy="1008"/>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12" name="Rectangle 24">
              <a:extLst>
                <a:ext uri="{FF2B5EF4-FFF2-40B4-BE49-F238E27FC236}">
                  <a16:creationId xmlns:a16="http://schemas.microsoft.com/office/drawing/2014/main" id="{3B59322F-BE9B-41AA-AFA1-B4400F4D519A}"/>
                </a:ext>
              </a:extLst>
            </p:cNvPr>
            <p:cNvSpPr>
              <a:spLocks noChangeArrowheads="1"/>
            </p:cNvSpPr>
            <p:nvPr/>
          </p:nvSpPr>
          <p:spPr bwMode="auto">
            <a:xfrm>
              <a:off x="2016" y="1584"/>
              <a:ext cx="96" cy="1008"/>
            </a:xfrm>
            <a:prstGeom prst="rect">
              <a:avLst/>
            </a:prstGeom>
            <a:solidFill>
              <a:srgbClr val="FFFFFF"/>
            </a:solidFill>
            <a:ln w="9525">
              <a:solidFill>
                <a:srgbClr val="000000"/>
              </a:solidFill>
              <a:miter lim="800000"/>
              <a:headEnd/>
              <a:tailEnd/>
            </a:ln>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13" name="Rectangle 25" descr="浅色下对角线">
              <a:extLst>
                <a:ext uri="{FF2B5EF4-FFF2-40B4-BE49-F238E27FC236}">
                  <a16:creationId xmlns:a16="http://schemas.microsoft.com/office/drawing/2014/main" id="{2F861018-0708-4336-9B63-1295B5236E87}"/>
                </a:ext>
              </a:extLst>
            </p:cNvPr>
            <p:cNvSpPr>
              <a:spLocks noChangeArrowheads="1"/>
            </p:cNvSpPr>
            <p:nvPr/>
          </p:nvSpPr>
          <p:spPr bwMode="auto">
            <a:xfrm>
              <a:off x="3072" y="1584"/>
              <a:ext cx="96" cy="1008"/>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14" name="Rectangle 26" descr="浅色下对角线">
              <a:extLst>
                <a:ext uri="{FF2B5EF4-FFF2-40B4-BE49-F238E27FC236}">
                  <a16:creationId xmlns:a16="http://schemas.microsoft.com/office/drawing/2014/main" id="{8E5A34A4-964B-494B-A6B2-196A57EA96D8}"/>
                </a:ext>
              </a:extLst>
            </p:cNvPr>
            <p:cNvSpPr>
              <a:spLocks noChangeArrowheads="1"/>
            </p:cNvSpPr>
            <p:nvPr/>
          </p:nvSpPr>
          <p:spPr bwMode="auto">
            <a:xfrm>
              <a:off x="3168" y="1584"/>
              <a:ext cx="96" cy="1008"/>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grpSp>
      <p:sp>
        <p:nvSpPr>
          <p:cNvPr id="2" name="灯片编号占位符 1">
            <a:extLst>
              <a:ext uri="{FF2B5EF4-FFF2-40B4-BE49-F238E27FC236}">
                <a16:creationId xmlns:a16="http://schemas.microsoft.com/office/drawing/2014/main" id="{8400499D-2B14-4174-B543-AEAAA008AB48}"/>
              </a:ext>
            </a:extLst>
          </p:cNvPr>
          <p:cNvSpPr>
            <a:spLocks noGrp="1"/>
          </p:cNvSpPr>
          <p:nvPr>
            <p:ph type="sldNum" sz="quarter" idx="12"/>
          </p:nvPr>
        </p:nvSpPr>
        <p:spPr/>
        <p:txBody>
          <a:bodyPr/>
          <a:lstStyle/>
          <a:p>
            <a:fld id="{47C9E101-E51D-431E-84FA-C029B8655B60}" type="slidenum">
              <a:rPr lang="zh-CN" altLang="en-US" smtClean="0"/>
              <a:pPr/>
              <a:t>67</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9">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505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350209">
            <a:extLst>
              <a:ext uri="{FF2B5EF4-FFF2-40B4-BE49-F238E27FC236}">
                <a16:creationId xmlns:a16="http://schemas.microsoft.com/office/drawing/2014/main" id="{525180CA-A9ED-438C-97E8-1FB9B1BA196F}"/>
              </a:ext>
            </a:extLst>
          </p:cNvPr>
          <p:cNvSpPr>
            <a:spLocks noGrp="1" noChangeArrowheads="1"/>
          </p:cNvSpPr>
          <p:nvPr>
            <p:ph type="title"/>
          </p:nvPr>
        </p:nvSpPr>
        <p:spPr/>
        <p:txBody>
          <a:bodyPr/>
          <a:lstStyle/>
          <a:p>
            <a:r>
              <a:rPr lang="zh-CN" altLang="en-US"/>
              <a:t>投影（续）</a:t>
            </a:r>
          </a:p>
        </p:txBody>
      </p:sp>
      <p:sp>
        <p:nvSpPr>
          <p:cNvPr id="47107" name="文本占位符 350210">
            <a:extLst>
              <a:ext uri="{FF2B5EF4-FFF2-40B4-BE49-F238E27FC236}">
                <a16:creationId xmlns:a16="http://schemas.microsoft.com/office/drawing/2014/main" id="{20A7313C-AFFF-41DF-93D8-1922C96B6D42}"/>
              </a:ext>
            </a:extLst>
          </p:cNvPr>
          <p:cNvSpPr>
            <a:spLocks noGrp="1" noChangeArrowheads="1"/>
          </p:cNvSpPr>
          <p:nvPr>
            <p:ph idx="1"/>
          </p:nvPr>
        </p:nvSpPr>
        <p:spPr/>
        <p:txBody>
          <a:bodyPr/>
          <a:lstStyle/>
          <a:p>
            <a:r>
              <a:rPr lang="zh-CN" altLang="en-US" dirty="0"/>
              <a:t>例</a:t>
            </a:r>
            <a:r>
              <a:rPr lang="en-US" altLang="zh-CN" dirty="0"/>
              <a:t>3</a:t>
            </a:r>
            <a:r>
              <a:rPr lang="zh-CN" altLang="en-US" dirty="0"/>
              <a:t>：查询学生的姓名和所在系</a:t>
            </a:r>
          </a:p>
          <a:p>
            <a:pPr lvl="1"/>
            <a:r>
              <a:rPr lang="zh-CN" altLang="en-US" dirty="0"/>
              <a:t>即求</a:t>
            </a:r>
            <a:r>
              <a:rPr lang="en-US" altLang="zh-CN" dirty="0"/>
              <a:t>Student</a:t>
            </a:r>
            <a:r>
              <a:rPr lang="zh-CN" altLang="en-US" dirty="0"/>
              <a:t>关系上学生姓名和所在系两个属性上的投影</a:t>
            </a:r>
          </a:p>
          <a:p>
            <a:pPr marL="342900" lvl="1" indent="0">
              <a:buNone/>
            </a:pPr>
            <a:r>
              <a:rPr lang="en-US" altLang="zh-CN" dirty="0"/>
              <a:t>     π</a:t>
            </a:r>
            <a:r>
              <a:rPr lang="en-US" altLang="zh-CN" baseline="-30000" dirty="0" err="1"/>
              <a:t>Sname</a:t>
            </a:r>
            <a:r>
              <a:rPr lang="zh-CN" altLang="en-US" baseline="-30000" dirty="0"/>
              <a:t>，</a:t>
            </a:r>
            <a:r>
              <a:rPr lang="en-US" altLang="zh-CN" baseline="-30000" dirty="0" err="1"/>
              <a:t>Sdept</a:t>
            </a:r>
            <a:r>
              <a:rPr lang="en-US" altLang="zh-CN" dirty="0"/>
              <a:t>(Student)    </a:t>
            </a:r>
            <a:r>
              <a:rPr lang="zh-CN" altLang="en-US" dirty="0"/>
              <a:t>或    </a:t>
            </a:r>
            <a:r>
              <a:rPr lang="en-US" altLang="zh-CN" dirty="0"/>
              <a:t>π</a:t>
            </a:r>
            <a:r>
              <a:rPr lang="en-US" altLang="zh-CN" baseline="-30000" dirty="0">
                <a:solidFill>
                  <a:srgbClr val="0033CC"/>
                </a:solidFill>
              </a:rPr>
              <a:t>2</a:t>
            </a:r>
            <a:r>
              <a:rPr lang="zh-CN" altLang="en-US" baseline="-30000" dirty="0">
                <a:solidFill>
                  <a:srgbClr val="0033CC"/>
                </a:solidFill>
              </a:rPr>
              <a:t>，</a:t>
            </a:r>
            <a:r>
              <a:rPr lang="en-US" altLang="zh-CN" baseline="-30000" dirty="0">
                <a:solidFill>
                  <a:srgbClr val="0033CC"/>
                </a:solidFill>
              </a:rPr>
              <a:t>5</a:t>
            </a:r>
            <a:r>
              <a:rPr lang="en-US" altLang="zh-CN" dirty="0"/>
              <a:t>(Student)</a:t>
            </a:r>
          </a:p>
          <a:p>
            <a:pPr marL="342900" lvl="1" indent="0">
              <a:buNone/>
            </a:pPr>
            <a:endParaRPr lang="en-US" altLang="zh-CN" dirty="0"/>
          </a:p>
          <a:p>
            <a:r>
              <a:rPr lang="zh-CN" altLang="en-US" dirty="0"/>
              <a:t>查询结果：</a:t>
            </a:r>
          </a:p>
          <a:p>
            <a:endParaRPr lang="zh-CN" altLang="en-US" dirty="0"/>
          </a:p>
        </p:txBody>
      </p:sp>
      <p:sp>
        <p:nvSpPr>
          <p:cNvPr id="2" name="灯片编号占位符 1">
            <a:extLst>
              <a:ext uri="{FF2B5EF4-FFF2-40B4-BE49-F238E27FC236}">
                <a16:creationId xmlns:a16="http://schemas.microsoft.com/office/drawing/2014/main" id="{C3BDF527-84F1-47AB-9BE5-ED0D6ADA22E0}"/>
              </a:ext>
            </a:extLst>
          </p:cNvPr>
          <p:cNvSpPr>
            <a:spLocks noGrp="1"/>
          </p:cNvSpPr>
          <p:nvPr>
            <p:ph type="sldNum" sz="quarter" idx="12"/>
          </p:nvPr>
        </p:nvSpPr>
        <p:spPr/>
        <p:txBody>
          <a:bodyPr/>
          <a:lstStyle/>
          <a:p>
            <a:fld id="{47C9E101-E51D-431E-84FA-C029B8655B60}" type="slidenum">
              <a:rPr lang="zh-CN" altLang="en-US" smtClean="0"/>
              <a:pPr/>
              <a:t>68</a:t>
            </a:fld>
            <a:endParaRPr lang="zh-CN" altLang="en-US" dirty="0"/>
          </a:p>
        </p:txBody>
      </p:sp>
      <p:graphicFrame>
        <p:nvGraphicFramePr>
          <p:cNvPr id="10" name="表格 9">
            <a:extLst>
              <a:ext uri="{FF2B5EF4-FFF2-40B4-BE49-F238E27FC236}">
                <a16:creationId xmlns:a16="http://schemas.microsoft.com/office/drawing/2014/main" id="{6CA667B9-265F-4DBA-8C76-ED6FD0FD2B88}"/>
              </a:ext>
            </a:extLst>
          </p:cNvPr>
          <p:cNvGraphicFramePr>
            <a:graphicFrameLocks noGrp="1"/>
          </p:cNvGraphicFramePr>
          <p:nvPr>
            <p:extLst>
              <p:ext uri="{D42A27DB-BD31-4B8C-83A1-F6EECF244321}">
                <p14:modId xmlns:p14="http://schemas.microsoft.com/office/powerpoint/2010/main" val="2003023967"/>
              </p:ext>
            </p:extLst>
          </p:nvPr>
        </p:nvGraphicFramePr>
        <p:xfrm>
          <a:off x="3499946" y="2691382"/>
          <a:ext cx="4378310" cy="1737260"/>
        </p:xfrm>
        <a:graphic>
          <a:graphicData uri="http://schemas.openxmlformats.org/drawingml/2006/table">
            <a:tbl>
              <a:tblPr firstRow="1" bandRow="1">
                <a:tableStyleId>{5C22544A-7EE6-4342-B048-85BDC9FD1C3A}</a:tableStyleId>
              </a:tblPr>
              <a:tblGrid>
                <a:gridCol w="986470">
                  <a:extLst>
                    <a:ext uri="{9D8B030D-6E8A-4147-A177-3AD203B41FA5}">
                      <a16:colId xmlns:a16="http://schemas.microsoft.com/office/drawing/2014/main" val="20000"/>
                    </a:ext>
                  </a:extLst>
                </a:gridCol>
                <a:gridCol w="764854">
                  <a:extLst>
                    <a:ext uri="{9D8B030D-6E8A-4147-A177-3AD203B41FA5}">
                      <a16:colId xmlns:a16="http://schemas.microsoft.com/office/drawing/2014/main" val="20001"/>
                    </a:ext>
                  </a:extLst>
                </a:gridCol>
                <a:gridCol w="875662">
                  <a:extLst>
                    <a:ext uri="{9D8B030D-6E8A-4147-A177-3AD203B41FA5}">
                      <a16:colId xmlns:a16="http://schemas.microsoft.com/office/drawing/2014/main" val="20002"/>
                    </a:ext>
                  </a:extLst>
                </a:gridCol>
                <a:gridCol w="875662">
                  <a:extLst>
                    <a:ext uri="{9D8B030D-6E8A-4147-A177-3AD203B41FA5}">
                      <a16:colId xmlns:a16="http://schemas.microsoft.com/office/drawing/2014/main" val="20003"/>
                    </a:ext>
                  </a:extLst>
                </a:gridCol>
                <a:gridCol w="875662">
                  <a:extLst>
                    <a:ext uri="{9D8B030D-6E8A-4147-A177-3AD203B41FA5}">
                      <a16:colId xmlns:a16="http://schemas.microsoft.com/office/drawing/2014/main" val="20004"/>
                    </a:ext>
                  </a:extLst>
                </a:gridCol>
              </a:tblGrid>
              <a:tr h="351220">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学号</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Sno</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姓名</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Sname</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性别</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Ssex</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年龄</a:t>
                      </a:r>
                    </a:p>
                    <a:p>
                      <a:pPr algn="ct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Sage</a:t>
                      </a: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所在系</a:t>
                      </a:r>
                    </a:p>
                    <a:p>
                      <a:pPr algn="ctr" eaLnBrk="1" hangingPunct="1"/>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Sdept</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extLst>
                  <a:ext uri="{0D108BD9-81ED-4DB2-BD59-A6C34878D82A}">
                    <a16:rowId xmlns:a16="http://schemas.microsoft.com/office/drawing/2014/main" val="10000"/>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李勇</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20</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1"/>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刘晨</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2"/>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201215123</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王敏</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18</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MA</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3"/>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201215124</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张立</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IS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4"/>
                  </a:ext>
                </a:extLst>
              </a:tr>
            </a:tbl>
          </a:graphicData>
        </a:graphic>
      </p:graphicFrame>
      <p:sp>
        <p:nvSpPr>
          <p:cNvPr id="8" name="Rectangle 163">
            <a:extLst>
              <a:ext uri="{FF2B5EF4-FFF2-40B4-BE49-F238E27FC236}">
                <a16:creationId xmlns:a16="http://schemas.microsoft.com/office/drawing/2014/main" id="{DFAACBDB-6156-4A2F-8930-1D48114B1151}"/>
              </a:ext>
            </a:extLst>
          </p:cNvPr>
          <p:cNvSpPr>
            <a:spLocks noChangeArrowheads="1"/>
          </p:cNvSpPr>
          <p:nvPr/>
        </p:nvSpPr>
        <p:spPr bwMode="auto">
          <a:xfrm>
            <a:off x="7022946" y="2691675"/>
            <a:ext cx="792245" cy="1737259"/>
          </a:xfrm>
          <a:prstGeom prst="rect">
            <a:avLst/>
          </a:prstGeom>
          <a:noFill/>
          <a:ln w="254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9" name="Rectangle 163">
            <a:extLst>
              <a:ext uri="{FF2B5EF4-FFF2-40B4-BE49-F238E27FC236}">
                <a16:creationId xmlns:a16="http://schemas.microsoft.com/office/drawing/2014/main" id="{5E8B754A-E885-4B41-BA3A-5B6F2C1FC73C}"/>
              </a:ext>
            </a:extLst>
          </p:cNvPr>
          <p:cNvSpPr>
            <a:spLocks noChangeArrowheads="1"/>
          </p:cNvSpPr>
          <p:nvPr/>
        </p:nvSpPr>
        <p:spPr bwMode="auto">
          <a:xfrm>
            <a:off x="4522987" y="2691674"/>
            <a:ext cx="702155" cy="1733762"/>
          </a:xfrm>
          <a:prstGeom prst="rect">
            <a:avLst/>
          </a:prstGeom>
          <a:noFill/>
          <a:ln w="254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graphicFrame>
        <p:nvGraphicFramePr>
          <p:cNvPr id="11" name="表格 10">
            <a:extLst>
              <a:ext uri="{FF2B5EF4-FFF2-40B4-BE49-F238E27FC236}">
                <a16:creationId xmlns:a16="http://schemas.microsoft.com/office/drawing/2014/main" id="{B4007D3B-F5B5-46C6-A300-B8C30553A29C}"/>
              </a:ext>
            </a:extLst>
          </p:cNvPr>
          <p:cNvGraphicFramePr>
            <a:graphicFrameLocks noGrp="1"/>
          </p:cNvGraphicFramePr>
          <p:nvPr>
            <p:extLst>
              <p:ext uri="{D42A27DB-BD31-4B8C-83A1-F6EECF244321}">
                <p14:modId xmlns:p14="http://schemas.microsoft.com/office/powerpoint/2010/main" val="2909961497"/>
              </p:ext>
            </p:extLst>
          </p:nvPr>
        </p:nvGraphicFramePr>
        <p:xfrm>
          <a:off x="4616295" y="4654564"/>
          <a:ext cx="1640516" cy="1737260"/>
        </p:xfrm>
        <a:graphic>
          <a:graphicData uri="http://schemas.openxmlformats.org/drawingml/2006/table">
            <a:tbl>
              <a:tblPr firstRow="1" bandRow="1">
                <a:tableStyleId>{5C22544A-7EE6-4342-B048-85BDC9FD1C3A}</a:tableStyleId>
              </a:tblPr>
              <a:tblGrid>
                <a:gridCol w="764854">
                  <a:extLst>
                    <a:ext uri="{9D8B030D-6E8A-4147-A177-3AD203B41FA5}">
                      <a16:colId xmlns:a16="http://schemas.microsoft.com/office/drawing/2014/main" val="20001"/>
                    </a:ext>
                  </a:extLst>
                </a:gridCol>
                <a:gridCol w="875662">
                  <a:extLst>
                    <a:ext uri="{9D8B030D-6E8A-4147-A177-3AD203B41FA5}">
                      <a16:colId xmlns:a16="http://schemas.microsoft.com/office/drawing/2014/main" val="20004"/>
                    </a:ext>
                  </a:extLst>
                </a:gridCol>
              </a:tblGrid>
              <a:tr h="351220">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姓名</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Sname</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所在系</a:t>
                      </a:r>
                    </a:p>
                    <a:p>
                      <a:pPr algn="ctr" eaLnBrk="1" hangingPunct="1"/>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Sdept</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extLst>
                  <a:ext uri="{0D108BD9-81ED-4DB2-BD59-A6C34878D82A}">
                    <a16:rowId xmlns:a16="http://schemas.microsoft.com/office/drawing/2014/main" val="10000"/>
                  </a:ext>
                </a:extLst>
              </a:tr>
              <a:tr h="198516">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李勇</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1"/>
                  </a:ext>
                </a:extLst>
              </a:tr>
              <a:tr h="198516">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刘晨</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2"/>
                  </a:ext>
                </a:extLst>
              </a:tr>
              <a:tr h="198516">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王敏</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MA</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3"/>
                  </a:ext>
                </a:extLst>
              </a:tr>
              <a:tr h="198516">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张立</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IS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351233">
            <a:extLst>
              <a:ext uri="{FF2B5EF4-FFF2-40B4-BE49-F238E27FC236}">
                <a16:creationId xmlns:a16="http://schemas.microsoft.com/office/drawing/2014/main" id="{9F074AFE-C417-461C-85BC-56CBCD697939}"/>
              </a:ext>
            </a:extLst>
          </p:cNvPr>
          <p:cNvSpPr>
            <a:spLocks noGrp="1" noChangeArrowheads="1"/>
          </p:cNvSpPr>
          <p:nvPr>
            <p:ph type="title"/>
          </p:nvPr>
        </p:nvSpPr>
        <p:spPr/>
        <p:txBody>
          <a:bodyPr/>
          <a:lstStyle/>
          <a:p>
            <a:r>
              <a:rPr lang="zh-CN" altLang="en-US"/>
              <a:t>投影（续）</a:t>
            </a:r>
          </a:p>
        </p:txBody>
      </p:sp>
      <p:sp>
        <p:nvSpPr>
          <p:cNvPr id="3" name="内容占位符 2">
            <a:extLst>
              <a:ext uri="{FF2B5EF4-FFF2-40B4-BE49-F238E27FC236}">
                <a16:creationId xmlns:a16="http://schemas.microsoft.com/office/drawing/2014/main" id="{7975EAE4-F1D0-4CCE-B9B4-7E7999B931F6}"/>
              </a:ext>
            </a:extLst>
          </p:cNvPr>
          <p:cNvSpPr>
            <a:spLocks noGrp="1"/>
          </p:cNvSpPr>
          <p:nvPr>
            <p:ph idx="1"/>
          </p:nvPr>
        </p:nvSpPr>
        <p:spPr/>
        <p:txBody>
          <a:bodyPr/>
          <a:lstStyle/>
          <a:p>
            <a:r>
              <a:rPr lang="zh-CN" altLang="en-US" dirty="0"/>
              <a:t>例</a:t>
            </a:r>
            <a:r>
              <a:rPr lang="en-US" altLang="zh-CN" dirty="0"/>
              <a:t>4</a:t>
            </a:r>
            <a:r>
              <a:rPr lang="zh-CN" altLang="en-US" dirty="0"/>
              <a:t>：查询学生关系</a:t>
            </a:r>
            <a:r>
              <a:rPr lang="en-US" altLang="zh-CN" dirty="0"/>
              <a:t>Student</a:t>
            </a:r>
            <a:r>
              <a:rPr lang="zh-CN" altLang="en-US" dirty="0"/>
              <a:t>中都有哪些系</a:t>
            </a:r>
            <a:endParaRPr lang="en-US" altLang="zh-CN" dirty="0"/>
          </a:p>
          <a:p>
            <a:pPr marL="342900" lvl="1" indent="0">
              <a:buNone/>
            </a:pPr>
            <a:r>
              <a:rPr lang="en-US" altLang="zh-CN" sz="1700" dirty="0"/>
              <a:t>     π</a:t>
            </a:r>
            <a:r>
              <a:rPr lang="en-US" altLang="zh-CN" sz="1700" baseline="-30000" dirty="0" err="1"/>
              <a:t>Sdept</a:t>
            </a:r>
            <a:r>
              <a:rPr lang="en-US" altLang="zh-CN" sz="1700" dirty="0"/>
              <a:t>(Student)</a:t>
            </a:r>
          </a:p>
          <a:p>
            <a:pPr marL="342900" lvl="1" indent="0">
              <a:buNone/>
            </a:pPr>
            <a:endParaRPr lang="en-US" altLang="zh-CN" sz="1700" dirty="0"/>
          </a:p>
          <a:p>
            <a:r>
              <a:rPr lang="zh-CN" altLang="en-US" dirty="0"/>
              <a:t>结果：</a:t>
            </a:r>
            <a:endParaRPr lang="en-US" altLang="zh-CN" sz="2000" dirty="0"/>
          </a:p>
          <a:p>
            <a:endParaRPr lang="zh-CN" altLang="en-US" dirty="0"/>
          </a:p>
        </p:txBody>
      </p:sp>
      <p:graphicFrame>
        <p:nvGraphicFramePr>
          <p:cNvPr id="7" name="表格 6">
            <a:extLst>
              <a:ext uri="{FF2B5EF4-FFF2-40B4-BE49-F238E27FC236}">
                <a16:creationId xmlns:a16="http://schemas.microsoft.com/office/drawing/2014/main" id="{31328A83-26C2-4344-BFDA-3433FDD11BD0}"/>
              </a:ext>
            </a:extLst>
          </p:cNvPr>
          <p:cNvGraphicFramePr>
            <a:graphicFrameLocks noGrp="1"/>
          </p:cNvGraphicFramePr>
          <p:nvPr>
            <p:extLst>
              <p:ext uri="{D42A27DB-BD31-4B8C-83A1-F6EECF244321}">
                <p14:modId xmlns:p14="http://schemas.microsoft.com/office/powerpoint/2010/main" val="3899249566"/>
              </p:ext>
            </p:extLst>
          </p:nvPr>
        </p:nvGraphicFramePr>
        <p:xfrm>
          <a:off x="7330865" y="3195631"/>
          <a:ext cx="760137" cy="1341040"/>
        </p:xfrm>
        <a:graphic>
          <a:graphicData uri="http://schemas.openxmlformats.org/drawingml/2006/table">
            <a:tbl>
              <a:tblPr firstRow="1" bandRow="1">
                <a:tableStyleId>{5C22544A-7EE6-4342-B048-85BDC9FD1C3A}</a:tableStyleId>
              </a:tblPr>
              <a:tblGrid>
                <a:gridCol w="760137">
                  <a:extLst>
                    <a:ext uri="{9D8B030D-6E8A-4147-A177-3AD203B41FA5}">
                      <a16:colId xmlns:a16="http://schemas.microsoft.com/office/drawing/2014/main" val="20000"/>
                    </a:ext>
                  </a:extLst>
                </a:gridCol>
              </a:tblGrid>
              <a:tr h="289522">
                <a:tc>
                  <a:txBody>
                    <a:bodyPr/>
                    <a:lstStyle/>
                    <a:p>
                      <a:pPr algn="ctr"/>
                      <a:r>
                        <a:rPr kumimoji="1" lang="en-US" altLang="zh-CN" sz="1600" b="1"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Sdept</a:t>
                      </a:r>
                      <a:endParaRPr lang="zh-CN" altLang="en-US" sz="16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91367" marR="91367" marT="45710" marB="45710"/>
                </a:tc>
                <a:extLst>
                  <a:ext uri="{0D108BD9-81ED-4DB2-BD59-A6C34878D82A}">
                    <a16:rowId xmlns:a16="http://schemas.microsoft.com/office/drawing/2014/main" val="10000"/>
                  </a:ext>
                </a:extLst>
              </a:tr>
              <a:tr h="289522">
                <a:tc>
                  <a:txBody>
                    <a:bodyPr/>
                    <a:lstStyle/>
                    <a:p>
                      <a:pPr algn="ct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marL="91367" marR="91367" marT="45710" marB="45710"/>
                </a:tc>
                <a:extLst>
                  <a:ext uri="{0D108BD9-81ED-4DB2-BD59-A6C34878D82A}">
                    <a16:rowId xmlns:a16="http://schemas.microsoft.com/office/drawing/2014/main" val="10001"/>
                  </a:ext>
                </a:extLst>
              </a:tr>
              <a:tr h="289522">
                <a:tc>
                  <a:txBody>
                    <a:bodyPr/>
                    <a:lstStyle/>
                    <a:p>
                      <a:pPr algn="ct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MA</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marL="91367" marR="91367" marT="45710" marB="45710"/>
                </a:tc>
                <a:extLst>
                  <a:ext uri="{0D108BD9-81ED-4DB2-BD59-A6C34878D82A}">
                    <a16:rowId xmlns:a16="http://schemas.microsoft.com/office/drawing/2014/main" val="10002"/>
                  </a:ext>
                </a:extLst>
              </a:tr>
              <a:tr h="289522">
                <a:tc>
                  <a:txBody>
                    <a:bodyPr/>
                    <a:lstStyle/>
                    <a:p>
                      <a:pPr algn="ct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IS</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marL="91367" marR="91367" marT="45710" marB="45710"/>
                </a:tc>
                <a:extLst>
                  <a:ext uri="{0D108BD9-81ED-4DB2-BD59-A6C34878D82A}">
                    <a16:rowId xmlns:a16="http://schemas.microsoft.com/office/drawing/2014/main" val="10003"/>
                  </a:ext>
                </a:extLst>
              </a:tr>
            </a:tbl>
          </a:graphicData>
        </a:graphic>
      </p:graphicFrame>
      <p:sp>
        <p:nvSpPr>
          <p:cNvPr id="2" name="灯片编号占位符 1">
            <a:extLst>
              <a:ext uri="{FF2B5EF4-FFF2-40B4-BE49-F238E27FC236}">
                <a16:creationId xmlns:a16="http://schemas.microsoft.com/office/drawing/2014/main" id="{3841A77F-9CD1-482C-AE6D-2A7DA4EBC091}"/>
              </a:ext>
            </a:extLst>
          </p:cNvPr>
          <p:cNvSpPr>
            <a:spLocks noGrp="1"/>
          </p:cNvSpPr>
          <p:nvPr>
            <p:ph type="sldNum" sz="quarter" idx="12"/>
          </p:nvPr>
        </p:nvSpPr>
        <p:spPr/>
        <p:txBody>
          <a:bodyPr/>
          <a:lstStyle/>
          <a:p>
            <a:fld id="{47C9E101-E51D-431E-84FA-C029B8655B60}" type="slidenum">
              <a:rPr lang="zh-CN" altLang="en-US" smtClean="0"/>
              <a:pPr/>
              <a:t>69</a:t>
            </a:fld>
            <a:endParaRPr lang="zh-CN" altLang="en-US" dirty="0"/>
          </a:p>
        </p:txBody>
      </p:sp>
      <p:graphicFrame>
        <p:nvGraphicFramePr>
          <p:cNvPr id="6" name="表格 5">
            <a:extLst>
              <a:ext uri="{FF2B5EF4-FFF2-40B4-BE49-F238E27FC236}">
                <a16:creationId xmlns:a16="http://schemas.microsoft.com/office/drawing/2014/main" id="{580B94AB-3D6E-4517-8999-0F7A5A1D0C55}"/>
              </a:ext>
            </a:extLst>
          </p:cNvPr>
          <p:cNvGraphicFramePr>
            <a:graphicFrameLocks noGrp="1"/>
          </p:cNvGraphicFramePr>
          <p:nvPr>
            <p:extLst>
              <p:ext uri="{D42A27DB-BD31-4B8C-83A1-F6EECF244321}">
                <p14:modId xmlns:p14="http://schemas.microsoft.com/office/powerpoint/2010/main" val="3636896706"/>
              </p:ext>
            </p:extLst>
          </p:nvPr>
        </p:nvGraphicFramePr>
        <p:xfrm>
          <a:off x="1864835" y="2962905"/>
          <a:ext cx="4372414" cy="1737260"/>
        </p:xfrm>
        <a:graphic>
          <a:graphicData uri="http://schemas.openxmlformats.org/drawingml/2006/table">
            <a:tbl>
              <a:tblPr firstRow="1" bandRow="1">
                <a:tableStyleId>{5C22544A-7EE6-4342-B048-85BDC9FD1C3A}</a:tableStyleId>
              </a:tblPr>
              <a:tblGrid>
                <a:gridCol w="1063047">
                  <a:extLst>
                    <a:ext uri="{9D8B030D-6E8A-4147-A177-3AD203B41FA5}">
                      <a16:colId xmlns:a16="http://schemas.microsoft.com/office/drawing/2014/main" val="20000"/>
                    </a:ext>
                  </a:extLst>
                </a:gridCol>
                <a:gridCol w="828816">
                  <a:extLst>
                    <a:ext uri="{9D8B030D-6E8A-4147-A177-3AD203B41FA5}">
                      <a16:colId xmlns:a16="http://schemas.microsoft.com/office/drawing/2014/main" val="20001"/>
                    </a:ext>
                  </a:extLst>
                </a:gridCol>
                <a:gridCol w="731585">
                  <a:extLst>
                    <a:ext uri="{9D8B030D-6E8A-4147-A177-3AD203B41FA5}">
                      <a16:colId xmlns:a16="http://schemas.microsoft.com/office/drawing/2014/main" val="20002"/>
                    </a:ext>
                  </a:extLst>
                </a:gridCol>
                <a:gridCol w="874483">
                  <a:extLst>
                    <a:ext uri="{9D8B030D-6E8A-4147-A177-3AD203B41FA5}">
                      <a16:colId xmlns:a16="http://schemas.microsoft.com/office/drawing/2014/main" val="20003"/>
                    </a:ext>
                  </a:extLst>
                </a:gridCol>
                <a:gridCol w="874483">
                  <a:extLst>
                    <a:ext uri="{9D8B030D-6E8A-4147-A177-3AD203B41FA5}">
                      <a16:colId xmlns:a16="http://schemas.microsoft.com/office/drawing/2014/main" val="20004"/>
                    </a:ext>
                  </a:extLst>
                </a:gridCol>
              </a:tblGrid>
              <a:tr h="351220">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学号</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Sno</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姓名</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Sname</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性别</a:t>
                      </a:r>
                    </a:p>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Ssex</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年龄</a:t>
                      </a:r>
                    </a:p>
                    <a:p>
                      <a:pPr algn="ct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Sage</a:t>
                      </a:r>
                    </a:p>
                  </a:txBody>
                  <a:tcPr marT="45710" marB="45710">
                    <a:solidFill>
                      <a:schemeClr val="accent1">
                        <a:lumMod val="60000"/>
                        <a:lumOff val="40000"/>
                      </a:schemeClr>
                    </a:solidFill>
                  </a:tcPr>
                </a:tc>
                <a:tc>
                  <a:txBody>
                    <a:bodyPr/>
                    <a:lstStyle/>
                    <a:p>
                      <a:pPr algn="ctr" eaLnBrk="1" hangingPunct="1"/>
                      <a:r>
                        <a:rPr kumimoji="1"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所在系</a:t>
                      </a:r>
                    </a:p>
                    <a:p>
                      <a:pPr algn="ctr" eaLnBrk="1" hangingPunct="1"/>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Sdept</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extLst>
                  <a:ext uri="{0D108BD9-81ED-4DB2-BD59-A6C34878D82A}">
                    <a16:rowId xmlns:a16="http://schemas.microsoft.com/office/drawing/2014/main" val="10000"/>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李勇</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20</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1"/>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刘晨</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2"/>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201215123</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王敏</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18</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MA</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3"/>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201215124</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张立</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IS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4"/>
                  </a:ext>
                </a:extLst>
              </a:tr>
            </a:tbl>
          </a:graphicData>
        </a:graphic>
      </p:graphicFrame>
      <p:sp>
        <p:nvSpPr>
          <p:cNvPr id="8" name="Rectangle 163">
            <a:extLst>
              <a:ext uri="{FF2B5EF4-FFF2-40B4-BE49-F238E27FC236}">
                <a16:creationId xmlns:a16="http://schemas.microsoft.com/office/drawing/2014/main" id="{290CC1A0-7ED8-4A2E-BBE4-C6ABBC620695}"/>
              </a:ext>
            </a:extLst>
          </p:cNvPr>
          <p:cNvSpPr>
            <a:spLocks noChangeArrowheads="1"/>
          </p:cNvSpPr>
          <p:nvPr/>
        </p:nvSpPr>
        <p:spPr bwMode="auto">
          <a:xfrm>
            <a:off x="5429168" y="2971915"/>
            <a:ext cx="662474" cy="1737259"/>
          </a:xfrm>
          <a:prstGeom prst="rect">
            <a:avLst/>
          </a:prstGeom>
          <a:noFill/>
          <a:ln w="254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4" name="矩形 3">
            <a:extLst>
              <a:ext uri="{FF2B5EF4-FFF2-40B4-BE49-F238E27FC236}">
                <a16:creationId xmlns:a16="http://schemas.microsoft.com/office/drawing/2014/main" id="{68E9BCE0-99FA-4715-87C2-2ACBF03DE9BF}"/>
              </a:ext>
            </a:extLst>
          </p:cNvPr>
          <p:cNvSpPr/>
          <p:nvPr/>
        </p:nvSpPr>
        <p:spPr>
          <a:xfrm>
            <a:off x="5607342" y="3853170"/>
            <a:ext cx="363894" cy="177282"/>
          </a:xfrm>
          <a:prstGeom prst="rect">
            <a:avLst/>
          </a:prstGeom>
          <a:solidFill>
            <a:srgbClr val="E9ED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circle(in)">
                                      <p:cBhvr>
                                        <p:cTn id="18" dur="20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352257">
            <a:extLst>
              <a:ext uri="{FF2B5EF4-FFF2-40B4-BE49-F238E27FC236}">
                <a16:creationId xmlns:a16="http://schemas.microsoft.com/office/drawing/2014/main" id="{CE91212A-8865-481F-B7B6-3F2712437E16}"/>
              </a:ext>
            </a:extLst>
          </p:cNvPr>
          <p:cNvSpPr>
            <a:spLocks noGrp="1" noChangeArrowheads="1"/>
          </p:cNvSpPr>
          <p:nvPr>
            <p:ph type="title"/>
          </p:nvPr>
        </p:nvSpPr>
        <p:spPr/>
        <p:txBody>
          <a:bodyPr/>
          <a:lstStyle/>
          <a:p>
            <a:r>
              <a:rPr lang="en-US" altLang="zh-CN" dirty="0"/>
              <a:t>3. </a:t>
            </a:r>
            <a:r>
              <a:rPr lang="zh-CN" altLang="en-US" dirty="0"/>
              <a:t>连接（</a:t>
            </a:r>
            <a:r>
              <a:rPr lang="en-US" altLang="zh-CN" dirty="0"/>
              <a:t>Join</a:t>
            </a:r>
            <a:r>
              <a:rPr lang="zh-CN" altLang="en-US" dirty="0"/>
              <a:t>） </a:t>
            </a:r>
          </a:p>
        </p:txBody>
      </p:sp>
      <p:sp>
        <p:nvSpPr>
          <p:cNvPr id="50179" name="文本占位符 352258">
            <a:extLst>
              <a:ext uri="{FF2B5EF4-FFF2-40B4-BE49-F238E27FC236}">
                <a16:creationId xmlns:a16="http://schemas.microsoft.com/office/drawing/2014/main" id="{2681F162-A8C2-4068-9391-191974DB79C1}"/>
              </a:ext>
            </a:extLst>
          </p:cNvPr>
          <p:cNvSpPr>
            <a:spLocks noGrp="1" noChangeArrowheads="1"/>
          </p:cNvSpPr>
          <p:nvPr>
            <p:ph type="body" idx="1"/>
          </p:nvPr>
        </p:nvSpPr>
        <p:spPr/>
        <p:txBody>
          <a:bodyPr/>
          <a:lstStyle/>
          <a:p>
            <a:r>
              <a:rPr lang="zh-CN" altLang="en-US" dirty="0"/>
              <a:t>连接也称为</a:t>
            </a:r>
            <a:r>
              <a:rPr lang="en-US" altLang="zh-CN" dirty="0">
                <a:solidFill>
                  <a:srgbClr val="C00000"/>
                </a:solidFill>
              </a:rPr>
              <a:t>θ</a:t>
            </a:r>
            <a:r>
              <a:rPr lang="zh-CN" altLang="en-US" dirty="0"/>
              <a:t>连接</a:t>
            </a:r>
          </a:p>
          <a:p>
            <a:r>
              <a:rPr lang="zh-CN" altLang="en-US" dirty="0"/>
              <a:t>连接运算的含义</a:t>
            </a:r>
          </a:p>
          <a:p>
            <a:pPr lvl="1"/>
            <a:r>
              <a:rPr lang="zh-CN" altLang="en-US" dirty="0"/>
              <a:t>从两个关系的笛卡尔积中选取属性间满足一定条件的元组</a:t>
            </a:r>
          </a:p>
          <a:p>
            <a:pPr lvl="1"/>
            <a:endParaRPr lang="en-US" altLang="zh-CN" dirty="0"/>
          </a:p>
          <a:p>
            <a:pPr lvl="1"/>
            <a:endParaRPr lang="en-US" altLang="zh-CN" dirty="0"/>
          </a:p>
          <a:p>
            <a:pPr lvl="2"/>
            <a:r>
              <a:rPr lang="en-US" altLang="zh-CN" i="1" dirty="0"/>
              <a:t>A</a:t>
            </a:r>
            <a:r>
              <a:rPr lang="zh-CN" altLang="en-US" dirty="0"/>
              <a:t>和</a:t>
            </a:r>
            <a:r>
              <a:rPr lang="en-US" altLang="zh-CN" i="1" dirty="0"/>
              <a:t>B</a:t>
            </a:r>
            <a:r>
              <a:rPr lang="zh-CN" altLang="en-US" dirty="0"/>
              <a:t>：分别为</a:t>
            </a:r>
            <a:r>
              <a:rPr lang="en-US" altLang="zh-CN" i="1" dirty="0"/>
              <a:t>R</a:t>
            </a:r>
            <a:r>
              <a:rPr lang="zh-CN" altLang="en-US" dirty="0"/>
              <a:t>和</a:t>
            </a:r>
            <a:r>
              <a:rPr lang="en-US" altLang="zh-CN" i="1" dirty="0"/>
              <a:t>S</a:t>
            </a:r>
            <a:r>
              <a:rPr lang="zh-CN" altLang="en-US" dirty="0"/>
              <a:t>上度数相等且可比的属性组</a:t>
            </a:r>
          </a:p>
          <a:p>
            <a:pPr lvl="2"/>
            <a:r>
              <a:rPr lang="en-US" altLang="zh-CN" i="1" dirty="0"/>
              <a:t>θ</a:t>
            </a:r>
            <a:r>
              <a:rPr lang="zh-CN" altLang="en-US" dirty="0"/>
              <a:t>：比较运算符</a:t>
            </a:r>
            <a:r>
              <a:rPr lang="en-US" altLang="zh-CN" dirty="0"/>
              <a:t> </a:t>
            </a:r>
          </a:p>
          <a:p>
            <a:pPr lvl="1"/>
            <a:endParaRPr lang="en-US" altLang="zh-CN" dirty="0"/>
          </a:p>
          <a:p>
            <a:pPr lvl="1"/>
            <a:r>
              <a:rPr lang="zh-CN" altLang="en-US" dirty="0"/>
              <a:t>连接运算从</a:t>
            </a:r>
            <a:r>
              <a:rPr lang="en-US" altLang="zh-CN" dirty="0"/>
              <a:t>R</a:t>
            </a:r>
            <a:r>
              <a:rPr lang="zh-CN" altLang="en-US" dirty="0"/>
              <a:t>和</a:t>
            </a:r>
            <a:r>
              <a:rPr lang="en-US" altLang="zh-CN" dirty="0"/>
              <a:t>S</a:t>
            </a:r>
            <a:r>
              <a:rPr lang="zh-CN" altLang="en-US" dirty="0"/>
              <a:t>的广义笛卡尔积</a:t>
            </a:r>
            <a:r>
              <a:rPr lang="en-US" altLang="zh-CN" i="1" dirty="0"/>
              <a:t>R</a:t>
            </a:r>
            <a:r>
              <a:rPr lang="en-US" altLang="zh-CN" dirty="0"/>
              <a:t>×</a:t>
            </a:r>
            <a:r>
              <a:rPr lang="en-US" altLang="zh-CN" i="1" dirty="0"/>
              <a:t>S</a:t>
            </a:r>
            <a:r>
              <a:rPr lang="zh-CN" altLang="en-US" dirty="0"/>
              <a:t>中选取（</a:t>
            </a:r>
            <a:r>
              <a:rPr lang="en-US" altLang="zh-CN" i="1" dirty="0"/>
              <a:t>R</a:t>
            </a:r>
            <a:r>
              <a:rPr lang="zh-CN" altLang="en-US" dirty="0"/>
              <a:t>关系）在</a:t>
            </a:r>
            <a:r>
              <a:rPr lang="en-US" altLang="zh-CN" i="1" dirty="0"/>
              <a:t>A</a:t>
            </a:r>
            <a:r>
              <a:rPr lang="zh-CN" altLang="en-US" dirty="0"/>
              <a:t>属性组上的值与（</a:t>
            </a:r>
            <a:r>
              <a:rPr lang="en-US" altLang="zh-CN" i="1" dirty="0"/>
              <a:t>S</a:t>
            </a:r>
            <a:r>
              <a:rPr lang="zh-CN" altLang="en-US" dirty="0"/>
              <a:t>关系）在</a:t>
            </a:r>
            <a:r>
              <a:rPr lang="en-US" altLang="zh-CN" i="1" dirty="0"/>
              <a:t>B</a:t>
            </a:r>
            <a:r>
              <a:rPr lang="zh-CN" altLang="en-US" dirty="0"/>
              <a:t>属性组上值满足</a:t>
            </a:r>
            <a:r>
              <a:rPr lang="zh-CN" altLang="en-US" dirty="0">
                <a:solidFill>
                  <a:srgbClr val="C00000"/>
                </a:solidFill>
              </a:rPr>
              <a:t>比较关系</a:t>
            </a:r>
            <a:r>
              <a:rPr lang="en-US" altLang="zh-CN" dirty="0">
                <a:solidFill>
                  <a:srgbClr val="C00000"/>
                </a:solidFill>
              </a:rPr>
              <a:t>θ</a:t>
            </a:r>
            <a:r>
              <a:rPr lang="zh-CN" altLang="en-US" dirty="0"/>
              <a:t>的元组。</a:t>
            </a:r>
          </a:p>
        </p:txBody>
      </p:sp>
      <p:grpSp>
        <p:nvGrpSpPr>
          <p:cNvPr id="4" name="组合 3">
            <a:extLst>
              <a:ext uri="{FF2B5EF4-FFF2-40B4-BE49-F238E27FC236}">
                <a16:creationId xmlns:a16="http://schemas.microsoft.com/office/drawing/2014/main" id="{786FE41F-6586-448D-A4F6-2712041BBB31}"/>
              </a:ext>
            </a:extLst>
          </p:cNvPr>
          <p:cNvGrpSpPr/>
          <p:nvPr/>
        </p:nvGrpSpPr>
        <p:grpSpPr>
          <a:xfrm>
            <a:off x="2216303" y="2770361"/>
            <a:ext cx="6344816" cy="603250"/>
            <a:chOff x="1344159" y="5095936"/>
            <a:chExt cx="6344816" cy="603250"/>
          </a:xfrm>
        </p:grpSpPr>
        <p:sp>
          <p:nvSpPr>
            <p:cNvPr id="3" name="矩形 2">
              <a:extLst>
                <a:ext uri="{FF2B5EF4-FFF2-40B4-BE49-F238E27FC236}">
                  <a16:creationId xmlns:a16="http://schemas.microsoft.com/office/drawing/2014/main" id="{3101F52A-0342-4FD9-B713-31E1365043B5}"/>
                </a:ext>
              </a:extLst>
            </p:cNvPr>
            <p:cNvSpPr/>
            <p:nvPr/>
          </p:nvSpPr>
          <p:spPr>
            <a:xfrm>
              <a:off x="1344159" y="5143308"/>
              <a:ext cx="6344816" cy="372153"/>
            </a:xfrm>
            <a:prstGeom prst="rect">
              <a:avLst/>
            </a:prstGeom>
          </p:spPr>
          <p:txBody>
            <a:bodyPr wrap="square">
              <a:spAutoFit/>
            </a:bodyPr>
            <a:lstStyle/>
            <a:p>
              <a:pPr marL="342900" lvl="1" algn="just" defTabSz="685800">
                <a:lnSpc>
                  <a:spcPct val="110000"/>
                </a:lnSpc>
                <a:spcBef>
                  <a:spcPts val="375"/>
                </a:spcBef>
              </a:pPr>
              <a:r>
                <a:rPr lang="zh-CN" altLang="en-US"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b="1" i="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R       S</a:t>
              </a:r>
              <a:r>
                <a:rPr lang="en-US" altLang="zh-CN"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 {</a:t>
              </a:r>
              <a:r>
                <a:rPr kumimoji="1" lang="en-US" altLang="zh-CN" b="1" i="1" dirty="0">
                  <a:solidFill>
                    <a:srgbClr val="000000"/>
                  </a:solidFill>
                  <a:latin typeface="Times New Roman" panose="02020603050405020304" pitchFamily="18" charset="0"/>
                  <a:ea typeface="楷体_GB2312" pitchFamily="49" charset="-122"/>
                  <a:cs typeface="Times New Roman" panose="02020603050405020304" pitchFamily="18" charset="0"/>
                </a:rPr>
                <a:t>t</a:t>
              </a:r>
              <a:r>
                <a:rPr kumimoji="1" lang="en-US" altLang="zh-CN" b="1"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r </a:t>
              </a:r>
              <a:r>
                <a:rPr kumimoji="1" lang="en-US" altLang="zh-CN" b="1" i="1" dirty="0" err="1">
                  <a:solidFill>
                    <a:srgbClr val="000000"/>
                  </a:solidFill>
                  <a:latin typeface="Times New Roman" panose="02020603050405020304" pitchFamily="18" charset="0"/>
                  <a:ea typeface="楷体_GB2312" pitchFamily="49" charset="-122"/>
                  <a:cs typeface="Times New Roman" panose="02020603050405020304" pitchFamily="18" charset="0"/>
                </a:rPr>
                <a:t>t</a:t>
              </a:r>
              <a:r>
                <a:rPr kumimoji="1" lang="en-US" altLang="zh-CN" b="1" baseline="-30000" dirty="0" err="1">
                  <a:solidFill>
                    <a:srgbClr val="000000"/>
                  </a:solidFill>
                  <a:latin typeface="Times New Roman" panose="02020603050405020304" pitchFamily="18" charset="0"/>
                  <a:ea typeface="楷体_GB2312" pitchFamily="49" charset="-122"/>
                  <a:cs typeface="Times New Roman" panose="02020603050405020304" pitchFamily="18" charset="0"/>
                </a:rPr>
                <a:t>s</a:t>
              </a:r>
              <a:r>
                <a:rPr lang="en-US" altLang="zh-CN" b="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t</a:t>
              </a:r>
              <a:r>
                <a:rPr lang="en-US" altLang="zh-CN" b="1" baseline="-30000"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1" i="1" baseline="-30000"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t</a:t>
              </a:r>
              <a:r>
                <a:rPr lang="en-US" altLang="zh-CN" b="1" baseline="-30000"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s</a:t>
              </a:r>
              <a:r>
                <a:rPr lang="en-US" altLang="zh-CN" b="1" i="1" baseline="-30000"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S</a:t>
              </a:r>
              <a:r>
                <a:rPr lang="en-US" altLang="zh-CN" b="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t</a:t>
              </a:r>
              <a:r>
                <a:rPr lang="en-US" altLang="zh-CN" b="1" baseline="-30000"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b="1" i="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a:t>
              </a:r>
              <a:r>
                <a:rPr lang="en-US" altLang="zh-CN"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b="1" dirty="0" err="1">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θ</a:t>
              </a:r>
              <a:r>
                <a:rPr lang="en-US" altLang="zh-CN"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t</a:t>
              </a:r>
              <a:r>
                <a:rPr lang="en-US" altLang="zh-CN" b="1" baseline="-30000"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s</a:t>
              </a:r>
              <a:r>
                <a:rPr lang="en-US" altLang="zh-CN"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b="1" i="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B</a:t>
              </a:r>
              <a:r>
                <a:rPr lang="en-US" altLang="zh-CN"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p>
          </p:txBody>
        </p:sp>
        <p:grpSp>
          <p:nvGrpSpPr>
            <p:cNvPr id="15" name="组合 352271">
              <a:extLst>
                <a:ext uri="{FF2B5EF4-FFF2-40B4-BE49-F238E27FC236}">
                  <a16:creationId xmlns:a16="http://schemas.microsoft.com/office/drawing/2014/main" id="{B004EBFF-B0C1-4734-BCE9-3748BA507811}"/>
                </a:ext>
              </a:extLst>
            </p:cNvPr>
            <p:cNvGrpSpPr>
              <a:grpSpLocks/>
            </p:cNvGrpSpPr>
            <p:nvPr/>
          </p:nvGrpSpPr>
          <p:grpSpPr bwMode="auto">
            <a:xfrm>
              <a:off x="1735654" y="5095936"/>
              <a:ext cx="1600200" cy="603250"/>
              <a:chOff x="1113" y="2247"/>
              <a:chExt cx="1008" cy="380"/>
            </a:xfrm>
          </p:grpSpPr>
          <p:grpSp>
            <p:nvGrpSpPr>
              <p:cNvPr id="16" name="组合 352259">
                <a:extLst>
                  <a:ext uri="{FF2B5EF4-FFF2-40B4-BE49-F238E27FC236}">
                    <a16:creationId xmlns:a16="http://schemas.microsoft.com/office/drawing/2014/main" id="{978274CF-A937-4529-B475-989EC7691B62}"/>
                  </a:ext>
                </a:extLst>
              </p:cNvPr>
              <p:cNvGrpSpPr>
                <a:grpSpLocks/>
              </p:cNvGrpSpPr>
              <p:nvPr/>
            </p:nvGrpSpPr>
            <p:grpSpPr bwMode="auto">
              <a:xfrm>
                <a:off x="1113" y="2247"/>
                <a:ext cx="1008" cy="380"/>
                <a:chOff x="2298" y="6343"/>
                <a:chExt cx="705" cy="363"/>
              </a:xfrm>
            </p:grpSpPr>
            <p:sp>
              <p:nvSpPr>
                <p:cNvPr id="18" name="流程图: 对照 352260">
                  <a:extLst>
                    <a:ext uri="{FF2B5EF4-FFF2-40B4-BE49-F238E27FC236}">
                      <a16:creationId xmlns:a16="http://schemas.microsoft.com/office/drawing/2014/main" id="{B9E89454-8B57-497A-9587-ED5531EA3648}"/>
                    </a:ext>
                  </a:extLst>
                </p:cNvPr>
                <p:cNvSpPr>
                  <a:spLocks noChangeArrowheads="1"/>
                </p:cNvSpPr>
                <p:nvPr/>
              </p:nvSpPr>
              <p:spPr bwMode="auto">
                <a:xfrm rot="5400000" flipV="1">
                  <a:off x="2612" y="6414"/>
                  <a:ext cx="78" cy="142"/>
                </a:xfrm>
                <a:prstGeom prst="flowChartCollate">
                  <a:avLst/>
                </a:prstGeom>
                <a:solidFill>
                  <a:srgbClr val="FFFFFF"/>
                </a:solidFill>
                <a:ln w="6350">
                  <a:solidFill>
                    <a:srgbClr val="000000"/>
                  </a:solidFill>
                  <a:miter lim="800000"/>
                  <a:headEnd/>
                  <a:tailEnd/>
                </a:ln>
              </p:spPr>
              <p:txBody>
                <a:bodyPr/>
                <a:lstStyle/>
                <a:p>
                  <a:endParaRPr lang="zh-CN" altLang="en-US"/>
                </a:p>
              </p:txBody>
            </p:sp>
            <p:sp>
              <p:nvSpPr>
                <p:cNvPr id="19" name="文本框 352261">
                  <a:extLst>
                    <a:ext uri="{FF2B5EF4-FFF2-40B4-BE49-F238E27FC236}">
                      <a16:creationId xmlns:a16="http://schemas.microsoft.com/office/drawing/2014/main" id="{7CD89206-297F-47BE-93CB-D467719F91F9}"/>
                    </a:ext>
                  </a:extLst>
                </p:cNvPr>
                <p:cNvSpPr txBox="1">
                  <a:spLocks noChangeArrowheads="1"/>
                </p:cNvSpPr>
                <p:nvPr/>
              </p:nvSpPr>
              <p:spPr bwMode="auto">
                <a:xfrm flipV="1">
                  <a:off x="2298" y="6343"/>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lnSpc>
                      <a:spcPct val="80000"/>
                    </a:lnSpc>
                  </a:pPr>
                  <a:r>
                    <a:rPr lang="en-US" altLang="zh-CN" sz="600" i="1"/>
                    <a:t> </a:t>
                  </a:r>
                  <a:endParaRPr lang="en-US" altLang="zh-CN" sz="600"/>
                </a:p>
              </p:txBody>
            </p:sp>
          </p:grpSp>
          <p:sp>
            <p:nvSpPr>
              <p:cNvPr id="17" name="矩形 352265">
                <a:extLst>
                  <a:ext uri="{FF2B5EF4-FFF2-40B4-BE49-F238E27FC236}">
                    <a16:creationId xmlns:a16="http://schemas.microsoft.com/office/drawing/2014/main" id="{ED6B0776-400D-4C24-9131-B3E7738D4292}"/>
                  </a:ext>
                </a:extLst>
              </p:cNvPr>
              <p:cNvSpPr>
                <a:spLocks noChangeArrowheads="1"/>
              </p:cNvSpPr>
              <p:nvPr/>
            </p:nvSpPr>
            <p:spPr bwMode="auto">
              <a:xfrm>
                <a:off x="1313" y="2337"/>
                <a:ext cx="55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800" b="1" i="1" dirty="0"/>
                  <a:t> </a:t>
                </a:r>
                <a:r>
                  <a:rPr lang="en-US" altLang="zh-CN" sz="1200" b="1" i="1" dirty="0" err="1">
                    <a:solidFill>
                      <a:srgbClr val="C00000"/>
                    </a:solidFill>
                    <a:latin typeface="Times New Roman" panose="02020603050405020304" pitchFamily="18" charset="0"/>
                    <a:cs typeface="Times New Roman" panose="02020603050405020304" pitchFamily="18" charset="0"/>
                  </a:rPr>
                  <a:t>A</a:t>
                </a:r>
                <a:r>
                  <a:rPr lang="en-US" altLang="zh-CN" sz="1200" b="1" dirty="0" err="1">
                    <a:solidFill>
                      <a:srgbClr val="C00000"/>
                    </a:solidFill>
                    <a:latin typeface="Times New Roman" panose="02020603050405020304" pitchFamily="18" charset="0"/>
                    <a:cs typeface="Times New Roman" panose="02020603050405020304" pitchFamily="18" charset="0"/>
                  </a:rPr>
                  <a:t>θ</a:t>
                </a:r>
                <a:r>
                  <a:rPr lang="en-US" altLang="zh-CN" sz="1200" b="1" i="1" dirty="0" err="1">
                    <a:solidFill>
                      <a:srgbClr val="C00000"/>
                    </a:solidFill>
                    <a:latin typeface="Times New Roman" panose="02020603050405020304" pitchFamily="18" charset="0"/>
                    <a:cs typeface="Times New Roman" panose="02020603050405020304" pitchFamily="18" charset="0"/>
                  </a:rPr>
                  <a:t>B</a:t>
                </a:r>
                <a:endParaRPr lang="en-US" altLang="zh-CN" sz="1200" b="1" i="1" dirty="0">
                  <a:solidFill>
                    <a:srgbClr val="C00000"/>
                  </a:solidFill>
                  <a:latin typeface="Times New Roman" panose="02020603050405020304" pitchFamily="18" charset="0"/>
                  <a:cs typeface="Times New Roman" panose="02020603050405020304" pitchFamily="18" charset="0"/>
                </a:endParaRPr>
              </a:p>
            </p:txBody>
          </p:sp>
        </p:grpSp>
        <p:sp>
          <p:nvSpPr>
            <p:cNvPr id="20" name="弧形 19">
              <a:extLst>
                <a:ext uri="{FF2B5EF4-FFF2-40B4-BE49-F238E27FC236}">
                  <a16:creationId xmlns:a16="http://schemas.microsoft.com/office/drawing/2014/main" id="{F5E19731-FB93-4BF2-8D8F-27B68D411017}"/>
                </a:ext>
              </a:extLst>
            </p:cNvPr>
            <p:cNvSpPr/>
            <p:nvPr/>
          </p:nvSpPr>
          <p:spPr bwMode="auto">
            <a:xfrm>
              <a:off x="3185835" y="5171450"/>
              <a:ext cx="300037" cy="153987"/>
            </a:xfrm>
            <a:prstGeom prst="arc">
              <a:avLst>
                <a:gd name="adj1" fmla="val 11559749"/>
                <a:gd name="adj2" fmla="val 20836597"/>
              </a:avLst>
            </a:prstGeom>
            <a:noFill/>
            <a:ln w="19050" cap="sq" cmpd="sng" algn="ctr">
              <a:solidFill>
                <a:schemeClr val="tx1"/>
              </a:solidFill>
              <a:prstDash val="solid"/>
              <a:round/>
              <a:headEnd type="none" w="sm" len="sm"/>
              <a:tailEnd type="none" w="sm" len="sm"/>
            </a:ln>
            <a:effectLst/>
            <a:extLst/>
          </p:spPr>
          <p:txBody>
            <a:bodyPr wrap="none"/>
            <a:lstStyle/>
            <a:p>
              <a:pPr eaLnBrk="1" hangingPunct="1">
                <a:defRPr/>
              </a:pPr>
              <a:endParaRPr lang="zh-CN" altLang="en-US"/>
            </a:p>
          </p:txBody>
        </p:sp>
      </p:grpSp>
      <p:sp>
        <p:nvSpPr>
          <p:cNvPr id="2" name="灯片编号占位符 1">
            <a:extLst>
              <a:ext uri="{FF2B5EF4-FFF2-40B4-BE49-F238E27FC236}">
                <a16:creationId xmlns:a16="http://schemas.microsoft.com/office/drawing/2014/main" id="{08D2108A-C7B7-4ACD-AE5F-67D0C703057E}"/>
              </a:ext>
            </a:extLst>
          </p:cNvPr>
          <p:cNvSpPr>
            <a:spLocks noGrp="1"/>
          </p:cNvSpPr>
          <p:nvPr>
            <p:ph type="sldNum" sz="quarter" idx="12"/>
          </p:nvPr>
        </p:nvSpPr>
        <p:spPr/>
        <p:txBody>
          <a:bodyPr/>
          <a:lstStyle/>
          <a:p>
            <a:fld id="{47C9E101-E51D-431E-84FA-C029B8655B60}" type="slidenum">
              <a:rPr lang="zh-CN" altLang="en-US" smtClean="0"/>
              <a:pPr/>
              <a:t>70</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7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353281">
            <a:extLst>
              <a:ext uri="{FF2B5EF4-FFF2-40B4-BE49-F238E27FC236}">
                <a16:creationId xmlns:a16="http://schemas.microsoft.com/office/drawing/2014/main" id="{7F730A5E-59D9-424B-905B-241548228FEA}"/>
              </a:ext>
            </a:extLst>
          </p:cNvPr>
          <p:cNvSpPr>
            <a:spLocks noGrp="1" noChangeArrowheads="1"/>
          </p:cNvSpPr>
          <p:nvPr>
            <p:ph type="title"/>
          </p:nvPr>
        </p:nvSpPr>
        <p:spPr/>
        <p:txBody>
          <a:bodyPr/>
          <a:lstStyle/>
          <a:p>
            <a:r>
              <a:rPr lang="en-US" altLang="zh-CN"/>
              <a:t> </a:t>
            </a:r>
            <a:r>
              <a:rPr lang="zh-CN" altLang="en-US"/>
              <a:t>连接</a:t>
            </a:r>
            <a:r>
              <a:rPr lang="en-US" altLang="zh-CN"/>
              <a:t>(</a:t>
            </a:r>
            <a:r>
              <a:rPr lang="zh-CN" altLang="en-US"/>
              <a:t>续</a:t>
            </a:r>
            <a:r>
              <a:rPr lang="en-US" altLang="zh-CN"/>
              <a:t>) </a:t>
            </a:r>
          </a:p>
        </p:txBody>
      </p:sp>
      <p:sp>
        <p:nvSpPr>
          <p:cNvPr id="51203" name="文本占位符 353287">
            <a:extLst>
              <a:ext uri="{FF2B5EF4-FFF2-40B4-BE49-F238E27FC236}">
                <a16:creationId xmlns:a16="http://schemas.microsoft.com/office/drawing/2014/main" id="{210BC53B-134B-491B-89CF-9EFB3EBD697C}"/>
              </a:ext>
            </a:extLst>
          </p:cNvPr>
          <p:cNvSpPr>
            <a:spLocks noGrp="1" noChangeArrowheads="1"/>
          </p:cNvSpPr>
          <p:nvPr>
            <p:ph type="body" idx="1"/>
          </p:nvPr>
        </p:nvSpPr>
        <p:spPr/>
        <p:txBody>
          <a:bodyPr>
            <a:normAutofit lnSpcReduction="10000"/>
          </a:bodyPr>
          <a:lstStyle/>
          <a:p>
            <a:r>
              <a:rPr lang="zh-CN" altLang="en-US" dirty="0"/>
              <a:t>两类常用连接运算</a:t>
            </a:r>
          </a:p>
          <a:p>
            <a:pPr lvl="1"/>
            <a:r>
              <a:rPr lang="zh-CN" altLang="en-US" dirty="0">
                <a:solidFill>
                  <a:srgbClr val="C00000"/>
                </a:solidFill>
              </a:rPr>
              <a:t>等值连接（</a:t>
            </a:r>
            <a:r>
              <a:rPr lang="en-US" altLang="zh-CN" dirty="0">
                <a:solidFill>
                  <a:srgbClr val="C00000"/>
                </a:solidFill>
              </a:rPr>
              <a:t>equijoin</a:t>
            </a:r>
            <a:r>
              <a:rPr lang="zh-CN" altLang="en-US" dirty="0">
                <a:solidFill>
                  <a:srgbClr val="C00000"/>
                </a:solidFill>
              </a:rPr>
              <a:t>） </a:t>
            </a:r>
          </a:p>
          <a:p>
            <a:pPr lvl="2"/>
            <a:r>
              <a:rPr lang="zh-CN" altLang="en-US" dirty="0"/>
              <a:t>什么是等值连接</a:t>
            </a:r>
          </a:p>
          <a:p>
            <a:pPr lvl="3"/>
            <a:r>
              <a:rPr lang="en-US" altLang="zh-CN" dirty="0"/>
              <a:t>θ</a:t>
            </a:r>
            <a:r>
              <a:rPr lang="zh-CN" altLang="en-US" dirty="0"/>
              <a:t>为</a:t>
            </a:r>
            <a:r>
              <a:rPr lang="zh-CN" altLang="en-US" dirty="0">
                <a:solidFill>
                  <a:srgbClr val="C00000"/>
                </a:solidFill>
              </a:rPr>
              <a:t>“＝”</a:t>
            </a:r>
            <a:r>
              <a:rPr lang="zh-CN" altLang="en-US" dirty="0"/>
              <a:t>的连接运算称为等值连接 </a:t>
            </a:r>
          </a:p>
          <a:p>
            <a:pPr lvl="2"/>
            <a:r>
              <a:rPr lang="zh-CN" altLang="en-US" dirty="0"/>
              <a:t>等值连接的含义</a:t>
            </a:r>
          </a:p>
          <a:p>
            <a:pPr lvl="3" algn="just"/>
            <a:r>
              <a:rPr lang="zh-CN" altLang="en-US" dirty="0"/>
              <a:t>从关系</a:t>
            </a:r>
            <a:r>
              <a:rPr lang="en-US" altLang="zh-CN" i="1" dirty="0"/>
              <a:t>R</a:t>
            </a:r>
            <a:r>
              <a:rPr lang="zh-CN" altLang="en-US" dirty="0"/>
              <a:t>与</a:t>
            </a:r>
            <a:r>
              <a:rPr lang="en-US" altLang="zh-CN" i="1" dirty="0"/>
              <a:t>S</a:t>
            </a:r>
            <a:r>
              <a:rPr lang="zh-CN" altLang="en-US" dirty="0"/>
              <a:t>的广义笛卡尔积中选取</a:t>
            </a:r>
            <a:r>
              <a:rPr lang="en-US" altLang="zh-CN" i="1" dirty="0">
                <a:solidFill>
                  <a:srgbClr val="C00000"/>
                </a:solidFill>
              </a:rPr>
              <a:t>A</a:t>
            </a:r>
            <a:r>
              <a:rPr lang="zh-CN" altLang="en-US" dirty="0">
                <a:solidFill>
                  <a:srgbClr val="C00000"/>
                </a:solidFill>
              </a:rPr>
              <a:t>、</a:t>
            </a:r>
            <a:r>
              <a:rPr lang="en-US" altLang="zh-CN" i="1" dirty="0">
                <a:solidFill>
                  <a:srgbClr val="C00000"/>
                </a:solidFill>
              </a:rPr>
              <a:t>B</a:t>
            </a:r>
            <a:r>
              <a:rPr lang="zh-CN" altLang="en-US" dirty="0">
                <a:solidFill>
                  <a:srgbClr val="C00000"/>
                </a:solidFill>
              </a:rPr>
              <a:t>属性值相等</a:t>
            </a:r>
            <a:r>
              <a:rPr lang="zh-CN" altLang="en-US" dirty="0"/>
              <a:t>的那些元组，即等值连接为：</a:t>
            </a:r>
          </a:p>
          <a:p>
            <a:pPr marL="1162050" lvl="2">
              <a:buNone/>
            </a:pPr>
            <a:r>
              <a:rPr lang="zh-CN" altLang="en-US" sz="1600" dirty="0"/>
              <a:t>       </a:t>
            </a:r>
            <a:endParaRPr lang="en-US" altLang="zh-CN" sz="1600" dirty="0"/>
          </a:p>
          <a:p>
            <a:pPr marL="1162050" lvl="2">
              <a:buNone/>
            </a:pPr>
            <a:endParaRPr lang="en-US" altLang="zh-CN" dirty="0"/>
          </a:p>
          <a:p>
            <a:pPr lvl="1"/>
            <a:r>
              <a:rPr lang="zh-CN" altLang="en-US" dirty="0">
                <a:solidFill>
                  <a:srgbClr val="C00000"/>
                </a:solidFill>
              </a:rPr>
              <a:t>自然连接（</a:t>
            </a:r>
            <a:r>
              <a:rPr lang="en-US" altLang="zh-CN" dirty="0">
                <a:solidFill>
                  <a:srgbClr val="C00000"/>
                </a:solidFill>
              </a:rPr>
              <a:t>Natural join</a:t>
            </a:r>
            <a:r>
              <a:rPr lang="zh-CN" altLang="en-US" dirty="0">
                <a:solidFill>
                  <a:srgbClr val="C00000"/>
                </a:solidFill>
              </a:rPr>
              <a:t>） </a:t>
            </a:r>
          </a:p>
          <a:p>
            <a:pPr lvl="2"/>
            <a:r>
              <a:rPr lang="zh-CN" altLang="en-US" dirty="0"/>
              <a:t>自然连接是一种特殊的等值连接</a:t>
            </a:r>
          </a:p>
          <a:p>
            <a:pPr lvl="3"/>
            <a:r>
              <a:rPr lang="zh-CN" altLang="en-US" dirty="0"/>
              <a:t>两个关系中进行比较的分量必须是</a:t>
            </a:r>
            <a:r>
              <a:rPr lang="zh-CN" altLang="en-US" dirty="0">
                <a:solidFill>
                  <a:srgbClr val="C00000"/>
                </a:solidFill>
              </a:rPr>
              <a:t>相同</a:t>
            </a:r>
            <a:r>
              <a:rPr lang="zh-CN" altLang="en-US" dirty="0"/>
              <a:t>的属性组</a:t>
            </a:r>
          </a:p>
          <a:p>
            <a:pPr lvl="3"/>
            <a:r>
              <a:rPr lang="zh-CN" altLang="en-US" dirty="0"/>
              <a:t>在结果中把</a:t>
            </a:r>
            <a:r>
              <a:rPr lang="zh-CN" altLang="en-US" dirty="0">
                <a:solidFill>
                  <a:srgbClr val="C00000"/>
                </a:solidFill>
              </a:rPr>
              <a:t>重复的属性列去掉</a:t>
            </a:r>
          </a:p>
          <a:p>
            <a:pPr lvl="2"/>
            <a:r>
              <a:rPr lang="zh-CN" altLang="en-US" dirty="0"/>
              <a:t>自然连接的含义</a:t>
            </a:r>
          </a:p>
          <a:p>
            <a:pPr lvl="3"/>
            <a:r>
              <a:rPr lang="en-US" altLang="zh-CN" i="1" dirty="0"/>
              <a:t>R</a:t>
            </a:r>
            <a:r>
              <a:rPr lang="zh-CN" altLang="en-US" dirty="0"/>
              <a:t>和</a:t>
            </a:r>
            <a:r>
              <a:rPr lang="en-US" altLang="zh-CN" i="1" dirty="0"/>
              <a:t>S</a:t>
            </a:r>
            <a:r>
              <a:rPr lang="zh-CN" altLang="en-US" dirty="0"/>
              <a:t>具有相同的属性组</a:t>
            </a:r>
            <a:r>
              <a:rPr lang="en-US" altLang="zh-CN" i="1" dirty="0"/>
              <a:t>B</a:t>
            </a:r>
          </a:p>
        </p:txBody>
      </p:sp>
      <p:grpSp>
        <p:nvGrpSpPr>
          <p:cNvPr id="17" name="组合 16">
            <a:extLst>
              <a:ext uri="{FF2B5EF4-FFF2-40B4-BE49-F238E27FC236}">
                <a16:creationId xmlns:a16="http://schemas.microsoft.com/office/drawing/2014/main" id="{5212332A-2A5E-4E30-89B2-6A4D6D68A1E6}"/>
              </a:ext>
            </a:extLst>
          </p:cNvPr>
          <p:cNvGrpSpPr/>
          <p:nvPr/>
        </p:nvGrpSpPr>
        <p:grpSpPr>
          <a:xfrm>
            <a:off x="2851521" y="3521815"/>
            <a:ext cx="6344816" cy="551122"/>
            <a:chOff x="1344159" y="5143308"/>
            <a:chExt cx="6344816" cy="551122"/>
          </a:xfrm>
        </p:grpSpPr>
        <p:sp>
          <p:nvSpPr>
            <p:cNvPr id="18" name="矩形 17">
              <a:extLst>
                <a:ext uri="{FF2B5EF4-FFF2-40B4-BE49-F238E27FC236}">
                  <a16:creationId xmlns:a16="http://schemas.microsoft.com/office/drawing/2014/main" id="{C1EF7839-61C2-473B-A828-218A66D586DD}"/>
                </a:ext>
              </a:extLst>
            </p:cNvPr>
            <p:cNvSpPr/>
            <p:nvPr/>
          </p:nvSpPr>
          <p:spPr>
            <a:xfrm>
              <a:off x="1344159" y="5143308"/>
              <a:ext cx="6344816" cy="341055"/>
            </a:xfrm>
            <a:prstGeom prst="rect">
              <a:avLst/>
            </a:prstGeom>
          </p:spPr>
          <p:txBody>
            <a:bodyPr wrap="square">
              <a:spAutoFit/>
            </a:bodyPr>
            <a:lstStyle/>
            <a:p>
              <a:pPr marL="342900" lvl="1" algn="just" defTabSz="685800">
                <a:lnSpc>
                  <a:spcPct val="110000"/>
                </a:lnSpc>
                <a:spcBef>
                  <a:spcPts val="375"/>
                </a:spcBef>
              </a:pPr>
              <a:r>
                <a:rPr lang="zh-CN" altLang="en-US" sz="1600"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600" b="1" i="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R       S</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 {</a:t>
              </a:r>
              <a:r>
                <a:rPr kumimoji="1" lang="en-US" altLang="zh-CN" sz="1600" b="1" i="1" dirty="0">
                  <a:solidFill>
                    <a:srgbClr val="000000"/>
                  </a:solidFill>
                  <a:latin typeface="Times New Roman" panose="02020603050405020304" pitchFamily="18" charset="0"/>
                  <a:ea typeface="楷体_GB2312" pitchFamily="49" charset="-122"/>
                  <a:cs typeface="Times New Roman" panose="02020603050405020304" pitchFamily="18" charset="0"/>
                </a:rPr>
                <a:t>t</a:t>
              </a:r>
              <a:r>
                <a:rPr kumimoji="1" lang="en-US" altLang="zh-CN" sz="1600" b="1"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r </a:t>
              </a:r>
              <a:r>
                <a:rPr kumimoji="1" lang="en-US" altLang="zh-CN" sz="1600" b="1" i="1" dirty="0" err="1">
                  <a:solidFill>
                    <a:srgbClr val="000000"/>
                  </a:solidFill>
                  <a:latin typeface="Times New Roman" panose="02020603050405020304" pitchFamily="18" charset="0"/>
                  <a:ea typeface="楷体_GB2312" pitchFamily="49" charset="-122"/>
                  <a:cs typeface="Times New Roman" panose="02020603050405020304" pitchFamily="18" charset="0"/>
                </a:rPr>
                <a:t>t</a:t>
              </a:r>
              <a:r>
                <a:rPr kumimoji="1" lang="en-US" altLang="zh-CN" sz="1600" b="1" baseline="-30000" dirty="0" err="1">
                  <a:solidFill>
                    <a:srgbClr val="000000"/>
                  </a:solidFill>
                  <a:latin typeface="Times New Roman" panose="02020603050405020304" pitchFamily="18" charset="0"/>
                  <a:ea typeface="楷体_GB2312" pitchFamily="49" charset="-122"/>
                  <a:cs typeface="Times New Roman" panose="02020603050405020304" pitchFamily="18" charset="0"/>
                </a:rPr>
                <a:t>s</a:t>
              </a:r>
              <a:r>
                <a:rPr lang="en-US" altLang="zh-CN" sz="1600" b="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600"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t</a:t>
              </a:r>
              <a:r>
                <a:rPr lang="en-US" altLang="zh-CN" sz="1600" b="1" baseline="-30000"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1600" b="1" i="1" baseline="-30000"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600"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1600" b="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600"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t</a:t>
              </a:r>
              <a:r>
                <a:rPr lang="en-US" altLang="zh-CN" sz="1600" b="1" baseline="-30000"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s</a:t>
              </a:r>
              <a:r>
                <a:rPr lang="en-US" altLang="zh-CN" sz="1600" b="1" i="1" baseline="-30000"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sz="1600"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S</a:t>
              </a:r>
              <a:r>
                <a:rPr lang="en-US" altLang="zh-CN" sz="1600" b="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600"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t</a:t>
              </a:r>
              <a:r>
                <a:rPr lang="en-US" altLang="zh-CN" sz="1600" b="1" baseline="-30000"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600" b="1" i="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600" b="1"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600"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t</a:t>
              </a:r>
              <a:r>
                <a:rPr lang="en-US" altLang="zh-CN" sz="1600" b="1" baseline="-30000"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s</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600" b="1" i="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p>
          </p:txBody>
        </p:sp>
        <p:grpSp>
          <p:nvGrpSpPr>
            <p:cNvPr id="19" name="组合 352271">
              <a:extLst>
                <a:ext uri="{FF2B5EF4-FFF2-40B4-BE49-F238E27FC236}">
                  <a16:creationId xmlns:a16="http://schemas.microsoft.com/office/drawing/2014/main" id="{27BE7717-D091-43F9-B4D2-DC64DFF282CA}"/>
                </a:ext>
              </a:extLst>
            </p:cNvPr>
            <p:cNvGrpSpPr>
              <a:grpSpLocks/>
            </p:cNvGrpSpPr>
            <p:nvPr/>
          </p:nvGrpSpPr>
          <p:grpSpPr bwMode="auto">
            <a:xfrm>
              <a:off x="2035696" y="5238817"/>
              <a:ext cx="876301" cy="455613"/>
              <a:chOff x="1302" y="2337"/>
              <a:chExt cx="552" cy="287"/>
            </a:xfrm>
          </p:grpSpPr>
          <p:sp>
            <p:nvSpPr>
              <p:cNvPr id="23" name="流程图: 对照 352260">
                <a:extLst>
                  <a:ext uri="{FF2B5EF4-FFF2-40B4-BE49-F238E27FC236}">
                    <a16:creationId xmlns:a16="http://schemas.microsoft.com/office/drawing/2014/main" id="{5344003B-707B-460B-9F1C-22F7CDA7982B}"/>
                  </a:ext>
                </a:extLst>
              </p:cNvPr>
              <p:cNvSpPr>
                <a:spLocks noChangeArrowheads="1"/>
              </p:cNvSpPr>
              <p:nvPr/>
            </p:nvSpPr>
            <p:spPr bwMode="auto">
              <a:xfrm rot="5400000" flipV="1">
                <a:off x="1549" y="2301"/>
                <a:ext cx="85" cy="157"/>
              </a:xfrm>
              <a:prstGeom prst="flowChartCollate">
                <a:avLst/>
              </a:prstGeom>
              <a:solidFill>
                <a:srgbClr val="FFFFFF"/>
              </a:solidFill>
              <a:ln w="6350">
                <a:solidFill>
                  <a:srgbClr val="000000"/>
                </a:solidFill>
                <a:miter lim="800000"/>
                <a:headEnd/>
                <a:tailEnd/>
              </a:ln>
            </p:spPr>
            <p:txBody>
              <a:bodyPr/>
              <a:lstStyle/>
              <a:p>
                <a:endParaRPr lang="zh-CN" altLang="en-US" sz="1600"/>
              </a:p>
            </p:txBody>
          </p:sp>
          <p:sp>
            <p:nvSpPr>
              <p:cNvPr id="22" name="矩形 352265">
                <a:extLst>
                  <a:ext uri="{FF2B5EF4-FFF2-40B4-BE49-F238E27FC236}">
                    <a16:creationId xmlns:a16="http://schemas.microsoft.com/office/drawing/2014/main" id="{39ADE7E5-C3D1-4346-8CFA-EF748D0F6858}"/>
                  </a:ext>
                </a:extLst>
              </p:cNvPr>
              <p:cNvSpPr>
                <a:spLocks noChangeArrowheads="1"/>
              </p:cNvSpPr>
              <p:nvPr/>
            </p:nvSpPr>
            <p:spPr bwMode="auto">
              <a:xfrm>
                <a:off x="1302" y="2337"/>
                <a:ext cx="552"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1400" b="1" i="1" dirty="0"/>
                  <a:t> </a:t>
                </a:r>
                <a:r>
                  <a:rPr lang="en-US" altLang="zh-CN" sz="1400" b="1" i="1" dirty="0">
                    <a:solidFill>
                      <a:srgbClr val="C00000"/>
                    </a:solidFill>
                    <a:latin typeface="Times New Roman" panose="02020603050405020304" pitchFamily="18" charset="0"/>
                    <a:cs typeface="Times New Roman" panose="02020603050405020304" pitchFamily="18" charset="0"/>
                  </a:rPr>
                  <a:t>A</a:t>
                </a:r>
                <a:r>
                  <a:rPr lang="en-US" altLang="zh-CN" sz="1400" b="1" dirty="0">
                    <a:solidFill>
                      <a:srgbClr val="C00000"/>
                    </a:solidFill>
                    <a:latin typeface="Times New Roman" panose="02020603050405020304" pitchFamily="18" charset="0"/>
                    <a:cs typeface="Times New Roman" panose="02020603050405020304" pitchFamily="18" charset="0"/>
                  </a:rPr>
                  <a:t>=</a:t>
                </a:r>
                <a:r>
                  <a:rPr lang="en-US" altLang="zh-CN" sz="1400" b="1" i="1" dirty="0">
                    <a:solidFill>
                      <a:srgbClr val="C00000"/>
                    </a:solidFill>
                    <a:latin typeface="Times New Roman" panose="02020603050405020304" pitchFamily="18" charset="0"/>
                    <a:cs typeface="Times New Roman" panose="02020603050405020304" pitchFamily="18" charset="0"/>
                  </a:rPr>
                  <a:t>B</a:t>
                </a:r>
              </a:p>
            </p:txBody>
          </p:sp>
        </p:grpSp>
        <p:sp>
          <p:nvSpPr>
            <p:cNvPr id="20" name="弧形 19">
              <a:extLst>
                <a:ext uri="{FF2B5EF4-FFF2-40B4-BE49-F238E27FC236}">
                  <a16:creationId xmlns:a16="http://schemas.microsoft.com/office/drawing/2014/main" id="{81BA7062-1DAA-43FE-9342-68AB114EF870}"/>
                </a:ext>
              </a:extLst>
            </p:cNvPr>
            <p:cNvSpPr/>
            <p:nvPr/>
          </p:nvSpPr>
          <p:spPr bwMode="auto">
            <a:xfrm>
              <a:off x="3016092" y="5163851"/>
              <a:ext cx="300037" cy="153987"/>
            </a:xfrm>
            <a:prstGeom prst="arc">
              <a:avLst>
                <a:gd name="adj1" fmla="val 11559749"/>
                <a:gd name="adj2" fmla="val 20836597"/>
              </a:avLst>
            </a:prstGeom>
            <a:noFill/>
            <a:ln w="19050" cap="sq" cmpd="sng" algn="ctr">
              <a:solidFill>
                <a:schemeClr val="tx1"/>
              </a:solidFill>
              <a:prstDash val="solid"/>
              <a:round/>
              <a:headEnd type="none" w="sm" len="sm"/>
              <a:tailEnd type="none" w="sm" len="sm"/>
            </a:ln>
            <a:effectLst/>
            <a:extLst/>
          </p:spPr>
          <p:txBody>
            <a:bodyPr wrap="none"/>
            <a:lstStyle/>
            <a:p>
              <a:pPr eaLnBrk="1" hangingPunct="1">
                <a:defRPr/>
              </a:pPr>
              <a:endParaRPr lang="zh-CN" altLang="en-US" sz="1600"/>
            </a:p>
          </p:txBody>
        </p:sp>
      </p:grpSp>
      <p:grpSp>
        <p:nvGrpSpPr>
          <p:cNvPr id="25" name="组合 24">
            <a:extLst>
              <a:ext uri="{FF2B5EF4-FFF2-40B4-BE49-F238E27FC236}">
                <a16:creationId xmlns:a16="http://schemas.microsoft.com/office/drawing/2014/main" id="{0BDFEC0D-FACE-48CE-B978-3DDA3362F372}"/>
              </a:ext>
            </a:extLst>
          </p:cNvPr>
          <p:cNvGrpSpPr/>
          <p:nvPr/>
        </p:nvGrpSpPr>
        <p:grpSpPr>
          <a:xfrm>
            <a:off x="3785401" y="5597541"/>
            <a:ext cx="6344816" cy="341055"/>
            <a:chOff x="1344159" y="5143308"/>
            <a:chExt cx="6344816" cy="341055"/>
          </a:xfrm>
        </p:grpSpPr>
        <p:sp>
          <p:nvSpPr>
            <p:cNvPr id="26" name="矩形 25">
              <a:extLst>
                <a:ext uri="{FF2B5EF4-FFF2-40B4-BE49-F238E27FC236}">
                  <a16:creationId xmlns:a16="http://schemas.microsoft.com/office/drawing/2014/main" id="{238BF0D8-782D-404A-86CE-D09E4024AC60}"/>
                </a:ext>
              </a:extLst>
            </p:cNvPr>
            <p:cNvSpPr/>
            <p:nvPr/>
          </p:nvSpPr>
          <p:spPr>
            <a:xfrm>
              <a:off x="1344159" y="5143308"/>
              <a:ext cx="6344816" cy="341055"/>
            </a:xfrm>
            <a:prstGeom prst="rect">
              <a:avLst/>
            </a:prstGeom>
          </p:spPr>
          <p:txBody>
            <a:bodyPr wrap="square">
              <a:spAutoFit/>
            </a:bodyPr>
            <a:lstStyle/>
            <a:p>
              <a:pPr marL="342900" lvl="1" algn="just" defTabSz="685800">
                <a:lnSpc>
                  <a:spcPct val="110000"/>
                </a:lnSpc>
                <a:spcBef>
                  <a:spcPts val="375"/>
                </a:spcBef>
              </a:pPr>
              <a:r>
                <a:rPr lang="zh-CN" altLang="en-US" sz="1600"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600" b="1" i="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R       S</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 {</a:t>
              </a:r>
              <a:r>
                <a:rPr kumimoji="1" lang="en-US" altLang="zh-CN" sz="1600" b="1" i="1" dirty="0">
                  <a:solidFill>
                    <a:srgbClr val="000000"/>
                  </a:solidFill>
                  <a:latin typeface="Times New Roman" panose="02020603050405020304" pitchFamily="18" charset="0"/>
                  <a:ea typeface="楷体_GB2312" pitchFamily="49" charset="-122"/>
                  <a:cs typeface="Times New Roman" panose="02020603050405020304" pitchFamily="18" charset="0"/>
                </a:rPr>
                <a:t>t</a:t>
              </a:r>
              <a:r>
                <a:rPr kumimoji="1" lang="en-US" altLang="zh-CN" sz="1600" b="1"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r </a:t>
              </a:r>
              <a:r>
                <a:rPr kumimoji="1" lang="en-US" altLang="zh-CN" sz="1600" b="1" i="1" dirty="0" err="1">
                  <a:solidFill>
                    <a:srgbClr val="000000"/>
                  </a:solidFill>
                  <a:latin typeface="Times New Roman" panose="02020603050405020304" pitchFamily="18" charset="0"/>
                  <a:ea typeface="楷体_GB2312" pitchFamily="49" charset="-122"/>
                  <a:cs typeface="Times New Roman" panose="02020603050405020304" pitchFamily="18" charset="0"/>
                </a:rPr>
                <a:t>t</a:t>
              </a:r>
              <a:r>
                <a:rPr kumimoji="1" lang="en-US" altLang="zh-CN" sz="1600" b="1" baseline="-30000" dirty="0" err="1">
                  <a:solidFill>
                    <a:srgbClr val="000000"/>
                  </a:solidFill>
                  <a:latin typeface="Times New Roman" panose="02020603050405020304" pitchFamily="18" charset="0"/>
                  <a:ea typeface="楷体_GB2312" pitchFamily="49" charset="-122"/>
                  <a:cs typeface="Times New Roman" panose="02020603050405020304" pitchFamily="18" charset="0"/>
                </a:rPr>
                <a:t>s</a:t>
              </a:r>
              <a:r>
                <a:rPr lang="en-US" altLang="zh-CN" sz="1600" b="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600"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t</a:t>
              </a:r>
              <a:r>
                <a:rPr lang="en-US" altLang="zh-CN" sz="1600" b="1" baseline="-30000"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1600" b="1" i="1" baseline="-30000"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600"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1600" b="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600"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t</a:t>
              </a:r>
              <a:r>
                <a:rPr lang="en-US" altLang="zh-CN" sz="1600" b="1" baseline="-30000"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s</a:t>
              </a:r>
              <a:r>
                <a:rPr lang="en-US" altLang="zh-CN" sz="1600" b="1" i="1" baseline="-30000"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sz="1600"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S</a:t>
              </a:r>
              <a:r>
                <a:rPr lang="en-US" altLang="zh-CN" sz="1600" b="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600"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t</a:t>
              </a:r>
              <a:r>
                <a:rPr lang="en-US" altLang="zh-CN" sz="1600" b="1" baseline="-30000"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600" b="1" i="1"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600" b="1"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600" b="1" i="1"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t</a:t>
              </a:r>
              <a:r>
                <a:rPr lang="en-US" altLang="zh-CN" sz="1600" b="1" baseline="-30000" dirty="0" err="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s</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600" b="1" i="1"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16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29" name="流程图: 对照 352260">
              <a:extLst>
                <a:ext uri="{FF2B5EF4-FFF2-40B4-BE49-F238E27FC236}">
                  <a16:creationId xmlns:a16="http://schemas.microsoft.com/office/drawing/2014/main" id="{EC10F5C5-3EE2-4005-908B-047FB70CBE27}"/>
                </a:ext>
              </a:extLst>
            </p:cNvPr>
            <p:cNvSpPr>
              <a:spLocks noChangeArrowheads="1"/>
            </p:cNvSpPr>
            <p:nvPr/>
          </p:nvSpPr>
          <p:spPr bwMode="auto">
            <a:xfrm rot="5400000" flipV="1">
              <a:off x="2427809" y="5181667"/>
              <a:ext cx="134938" cy="249238"/>
            </a:xfrm>
            <a:prstGeom prst="flowChartCollate">
              <a:avLst/>
            </a:prstGeom>
            <a:solidFill>
              <a:srgbClr val="FFFFFF"/>
            </a:solidFill>
            <a:ln w="6350">
              <a:solidFill>
                <a:srgbClr val="000000"/>
              </a:solidFill>
              <a:miter lim="800000"/>
              <a:headEnd/>
              <a:tailEnd/>
            </a:ln>
          </p:spPr>
          <p:txBody>
            <a:bodyPr/>
            <a:lstStyle/>
            <a:p>
              <a:endParaRPr lang="zh-CN" altLang="en-US" sz="1600"/>
            </a:p>
          </p:txBody>
        </p:sp>
        <p:sp>
          <p:nvSpPr>
            <p:cNvPr id="28" name="弧形 27">
              <a:extLst>
                <a:ext uri="{FF2B5EF4-FFF2-40B4-BE49-F238E27FC236}">
                  <a16:creationId xmlns:a16="http://schemas.microsoft.com/office/drawing/2014/main" id="{30AF2311-A0C1-4A39-846E-B69D853ECD7D}"/>
                </a:ext>
              </a:extLst>
            </p:cNvPr>
            <p:cNvSpPr/>
            <p:nvPr/>
          </p:nvSpPr>
          <p:spPr bwMode="auto">
            <a:xfrm>
              <a:off x="3042712" y="5152299"/>
              <a:ext cx="300037" cy="153987"/>
            </a:xfrm>
            <a:prstGeom prst="arc">
              <a:avLst>
                <a:gd name="adj1" fmla="val 11559749"/>
                <a:gd name="adj2" fmla="val 20836597"/>
              </a:avLst>
            </a:prstGeom>
            <a:noFill/>
            <a:ln w="19050" cap="sq" cmpd="sng" algn="ctr">
              <a:solidFill>
                <a:schemeClr val="tx1"/>
              </a:solidFill>
              <a:prstDash val="solid"/>
              <a:round/>
              <a:headEnd type="none" w="sm" len="sm"/>
              <a:tailEnd type="none" w="sm" len="sm"/>
            </a:ln>
            <a:effectLst/>
            <a:extLst/>
          </p:spPr>
          <p:txBody>
            <a:bodyPr wrap="none"/>
            <a:lstStyle/>
            <a:p>
              <a:pPr eaLnBrk="1" hangingPunct="1">
                <a:defRPr/>
              </a:pPr>
              <a:endParaRPr lang="zh-CN" altLang="en-US" sz="1600"/>
            </a:p>
          </p:txBody>
        </p:sp>
      </p:grpSp>
      <p:sp>
        <p:nvSpPr>
          <p:cNvPr id="2" name="灯片编号占位符 1">
            <a:extLst>
              <a:ext uri="{FF2B5EF4-FFF2-40B4-BE49-F238E27FC236}">
                <a16:creationId xmlns:a16="http://schemas.microsoft.com/office/drawing/2014/main" id="{123A9CEC-0875-4E10-81B0-C56AAB80B33A}"/>
              </a:ext>
            </a:extLst>
          </p:cNvPr>
          <p:cNvSpPr>
            <a:spLocks noGrp="1"/>
          </p:cNvSpPr>
          <p:nvPr>
            <p:ph type="sldNum" sz="quarter" idx="12"/>
          </p:nvPr>
        </p:nvSpPr>
        <p:spPr/>
        <p:txBody>
          <a:bodyPr/>
          <a:lstStyle/>
          <a:p>
            <a:fld id="{47C9E101-E51D-431E-84FA-C029B8655B60}" type="slidenum">
              <a:rPr lang="zh-CN" altLang="en-US" smtClean="0"/>
              <a:pPr/>
              <a:t>71</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0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0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0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0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0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120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20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20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120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203">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203">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355329">
            <a:extLst>
              <a:ext uri="{FF2B5EF4-FFF2-40B4-BE49-F238E27FC236}">
                <a16:creationId xmlns:a16="http://schemas.microsoft.com/office/drawing/2014/main" id="{9BE6CF94-76FC-48D8-92F2-F15AE30EC4AD}"/>
              </a:ext>
            </a:extLst>
          </p:cNvPr>
          <p:cNvSpPr>
            <a:spLocks noGrp="1" noChangeArrowheads="1"/>
          </p:cNvSpPr>
          <p:nvPr>
            <p:ph type="title"/>
          </p:nvPr>
        </p:nvSpPr>
        <p:spPr/>
        <p:txBody>
          <a:bodyPr/>
          <a:lstStyle/>
          <a:p>
            <a:r>
              <a:rPr lang="zh-CN" altLang="en-US"/>
              <a:t>连接</a:t>
            </a:r>
            <a:r>
              <a:rPr lang="en-US" altLang="zh-CN"/>
              <a:t>(</a:t>
            </a:r>
            <a:r>
              <a:rPr lang="zh-CN" altLang="en-US"/>
              <a:t>续</a:t>
            </a:r>
            <a:r>
              <a:rPr lang="en-US" altLang="zh-CN"/>
              <a:t>)</a:t>
            </a:r>
          </a:p>
        </p:txBody>
      </p:sp>
      <p:sp>
        <p:nvSpPr>
          <p:cNvPr id="53251" name="文本占位符 355330">
            <a:extLst>
              <a:ext uri="{FF2B5EF4-FFF2-40B4-BE49-F238E27FC236}">
                <a16:creationId xmlns:a16="http://schemas.microsoft.com/office/drawing/2014/main" id="{3C3CE550-06CF-45ED-8E9C-D313CF50BBB5}"/>
              </a:ext>
            </a:extLst>
          </p:cNvPr>
          <p:cNvSpPr>
            <a:spLocks noGrp="1" noChangeArrowheads="1"/>
          </p:cNvSpPr>
          <p:nvPr>
            <p:ph type="body" idx="1"/>
          </p:nvPr>
        </p:nvSpPr>
        <p:spPr/>
        <p:txBody>
          <a:bodyPr/>
          <a:lstStyle/>
          <a:p>
            <a:r>
              <a:rPr lang="zh-CN" altLang="en-US" dirty="0"/>
              <a:t>一般的连接操作是从</a:t>
            </a:r>
            <a:r>
              <a:rPr lang="zh-CN" altLang="en-US" dirty="0">
                <a:solidFill>
                  <a:srgbClr val="C00000"/>
                </a:solidFill>
              </a:rPr>
              <a:t>行</a:t>
            </a:r>
            <a:r>
              <a:rPr lang="zh-CN" altLang="en-US" dirty="0"/>
              <a:t>的角度进行运算。</a:t>
            </a:r>
          </a:p>
          <a:p>
            <a:endParaRPr lang="zh-CN" altLang="en-US" dirty="0"/>
          </a:p>
          <a:p>
            <a:endParaRPr lang="zh-CN" altLang="en-US" dirty="0"/>
          </a:p>
          <a:p>
            <a:endParaRPr lang="zh-CN" altLang="en-US" dirty="0"/>
          </a:p>
          <a:p>
            <a:endParaRPr lang="zh-CN" altLang="en-US" dirty="0"/>
          </a:p>
          <a:p>
            <a:pPr marL="0" indent="0">
              <a:buNone/>
            </a:pPr>
            <a:r>
              <a:rPr lang="zh-CN" altLang="en-US" dirty="0"/>
              <a:t>		</a:t>
            </a:r>
          </a:p>
          <a:p>
            <a:endParaRPr lang="en-US" altLang="zh-CN" dirty="0"/>
          </a:p>
          <a:p>
            <a:endParaRPr lang="en-US" altLang="zh-CN" dirty="0"/>
          </a:p>
          <a:p>
            <a:r>
              <a:rPr lang="zh-CN" altLang="en-US" dirty="0"/>
              <a:t>自然连接还需要取消重复列，所以是同时从</a:t>
            </a:r>
            <a:r>
              <a:rPr lang="zh-CN" altLang="en-US" dirty="0">
                <a:solidFill>
                  <a:srgbClr val="C00000"/>
                </a:solidFill>
              </a:rPr>
              <a:t>行和列</a:t>
            </a:r>
            <a:r>
              <a:rPr lang="zh-CN" altLang="en-US" dirty="0"/>
              <a:t>的角度进行运算。 </a:t>
            </a:r>
          </a:p>
        </p:txBody>
      </p:sp>
      <p:grpSp>
        <p:nvGrpSpPr>
          <p:cNvPr id="53252" name="组合 355371">
            <a:extLst>
              <a:ext uri="{FF2B5EF4-FFF2-40B4-BE49-F238E27FC236}">
                <a16:creationId xmlns:a16="http://schemas.microsoft.com/office/drawing/2014/main" id="{28397BD1-BE8B-44E1-A9CE-C6072A4B47EF}"/>
              </a:ext>
            </a:extLst>
          </p:cNvPr>
          <p:cNvGrpSpPr>
            <a:grpSpLocks/>
          </p:cNvGrpSpPr>
          <p:nvPr/>
        </p:nvGrpSpPr>
        <p:grpSpPr bwMode="auto">
          <a:xfrm>
            <a:off x="3119534" y="1863013"/>
            <a:ext cx="5486400" cy="2286000"/>
            <a:chOff x="1728" y="1632"/>
            <a:chExt cx="3456" cy="1440"/>
          </a:xfrm>
        </p:grpSpPr>
        <p:grpSp>
          <p:nvGrpSpPr>
            <p:cNvPr id="53253" name="组合 355345">
              <a:extLst>
                <a:ext uri="{FF2B5EF4-FFF2-40B4-BE49-F238E27FC236}">
                  <a16:creationId xmlns:a16="http://schemas.microsoft.com/office/drawing/2014/main" id="{2687EE10-DA42-47F0-B00D-2768B61A5131}"/>
                </a:ext>
              </a:extLst>
            </p:cNvPr>
            <p:cNvGrpSpPr>
              <a:grpSpLocks/>
            </p:cNvGrpSpPr>
            <p:nvPr/>
          </p:nvGrpSpPr>
          <p:grpSpPr bwMode="auto">
            <a:xfrm>
              <a:off x="2064" y="1680"/>
              <a:ext cx="912" cy="768"/>
              <a:chOff x="1536" y="1632"/>
              <a:chExt cx="912" cy="768"/>
            </a:xfrm>
          </p:grpSpPr>
          <p:sp>
            <p:nvSpPr>
              <p:cNvPr id="53254" name="矩形 355332">
                <a:extLst>
                  <a:ext uri="{FF2B5EF4-FFF2-40B4-BE49-F238E27FC236}">
                    <a16:creationId xmlns:a16="http://schemas.microsoft.com/office/drawing/2014/main" id="{EE1147DF-9FD8-49DE-8A53-F7A5B2BDAA7B}"/>
                  </a:ext>
                </a:extLst>
              </p:cNvPr>
              <p:cNvSpPr>
                <a:spLocks noChangeArrowheads="1"/>
              </p:cNvSpPr>
              <p:nvPr/>
            </p:nvSpPr>
            <p:spPr bwMode="auto">
              <a:xfrm>
                <a:off x="1536" y="1632"/>
                <a:ext cx="912" cy="96"/>
              </a:xfrm>
              <a:prstGeom prst="rect">
                <a:avLst/>
              </a:prstGeom>
              <a:solidFill>
                <a:srgbClr val="FFFFFF"/>
              </a:solid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55" name="矩形 355333">
                <a:extLst>
                  <a:ext uri="{FF2B5EF4-FFF2-40B4-BE49-F238E27FC236}">
                    <a16:creationId xmlns:a16="http://schemas.microsoft.com/office/drawing/2014/main" id="{F8D0D830-2816-485A-AE50-FBEA6C2CB9CC}"/>
                  </a:ext>
                </a:extLst>
              </p:cNvPr>
              <p:cNvSpPr>
                <a:spLocks noChangeArrowheads="1"/>
              </p:cNvSpPr>
              <p:nvPr/>
            </p:nvSpPr>
            <p:spPr bwMode="auto">
              <a:xfrm>
                <a:off x="1536" y="1728"/>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56" name="矩形 355334">
                <a:extLst>
                  <a:ext uri="{FF2B5EF4-FFF2-40B4-BE49-F238E27FC236}">
                    <a16:creationId xmlns:a16="http://schemas.microsoft.com/office/drawing/2014/main" id="{720DAEC9-242C-4155-98B9-E54B20189852}"/>
                  </a:ext>
                </a:extLst>
              </p:cNvPr>
              <p:cNvSpPr>
                <a:spLocks noChangeArrowheads="1"/>
              </p:cNvSpPr>
              <p:nvPr/>
            </p:nvSpPr>
            <p:spPr bwMode="auto">
              <a:xfrm>
                <a:off x="1536" y="1824"/>
                <a:ext cx="912" cy="96"/>
              </a:xfrm>
              <a:prstGeom prst="rect">
                <a:avLst/>
              </a:prstGeom>
              <a:solidFill>
                <a:srgbClr val="FFFFFF"/>
              </a:solid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57" name="矩形 355335">
                <a:extLst>
                  <a:ext uri="{FF2B5EF4-FFF2-40B4-BE49-F238E27FC236}">
                    <a16:creationId xmlns:a16="http://schemas.microsoft.com/office/drawing/2014/main" id="{0632F3E7-277F-404F-9F61-B56944B5CB04}"/>
                  </a:ext>
                </a:extLst>
              </p:cNvPr>
              <p:cNvSpPr>
                <a:spLocks noChangeArrowheads="1"/>
              </p:cNvSpPr>
              <p:nvPr/>
            </p:nvSpPr>
            <p:spPr bwMode="auto">
              <a:xfrm>
                <a:off x="1536" y="2304"/>
                <a:ext cx="912" cy="96"/>
              </a:xfrm>
              <a:prstGeom prst="rect">
                <a:avLst/>
              </a:prstGeom>
              <a:solidFill>
                <a:srgbClr val="FFFFFF"/>
              </a:solid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58" name="矩形 355336">
                <a:extLst>
                  <a:ext uri="{FF2B5EF4-FFF2-40B4-BE49-F238E27FC236}">
                    <a16:creationId xmlns:a16="http://schemas.microsoft.com/office/drawing/2014/main" id="{44A0D283-FA5D-44D8-994B-BBB9CFC1FDA9}"/>
                  </a:ext>
                </a:extLst>
              </p:cNvPr>
              <p:cNvSpPr>
                <a:spLocks noChangeArrowheads="1"/>
              </p:cNvSpPr>
              <p:nvPr/>
            </p:nvSpPr>
            <p:spPr bwMode="auto">
              <a:xfrm>
                <a:off x="1536" y="1920"/>
                <a:ext cx="912" cy="96"/>
              </a:xfrm>
              <a:prstGeom prst="rect">
                <a:avLst/>
              </a:prstGeom>
              <a:solidFill>
                <a:srgbClr val="FFFFFF"/>
              </a:solid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59" name="矩形 355337">
                <a:extLst>
                  <a:ext uri="{FF2B5EF4-FFF2-40B4-BE49-F238E27FC236}">
                    <a16:creationId xmlns:a16="http://schemas.microsoft.com/office/drawing/2014/main" id="{BB9F28AF-8606-4193-99ED-9F9215C7409A}"/>
                  </a:ext>
                </a:extLst>
              </p:cNvPr>
              <p:cNvSpPr>
                <a:spLocks noChangeArrowheads="1"/>
              </p:cNvSpPr>
              <p:nvPr/>
            </p:nvSpPr>
            <p:spPr bwMode="auto">
              <a:xfrm>
                <a:off x="1536" y="2016"/>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60" name="矩形 355338">
                <a:extLst>
                  <a:ext uri="{FF2B5EF4-FFF2-40B4-BE49-F238E27FC236}">
                    <a16:creationId xmlns:a16="http://schemas.microsoft.com/office/drawing/2014/main" id="{D5D09FD4-F335-4DEA-8ACC-6DCCBD307563}"/>
                  </a:ext>
                </a:extLst>
              </p:cNvPr>
              <p:cNvSpPr>
                <a:spLocks noChangeArrowheads="1"/>
              </p:cNvSpPr>
              <p:nvPr/>
            </p:nvSpPr>
            <p:spPr bwMode="auto">
              <a:xfrm>
                <a:off x="1536" y="2112"/>
                <a:ext cx="912" cy="96"/>
              </a:xfrm>
              <a:prstGeom prst="rect">
                <a:avLst/>
              </a:prstGeom>
              <a:solidFill>
                <a:srgbClr val="FFFFFF"/>
              </a:solid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61" name="矩形 355339">
                <a:extLst>
                  <a:ext uri="{FF2B5EF4-FFF2-40B4-BE49-F238E27FC236}">
                    <a16:creationId xmlns:a16="http://schemas.microsoft.com/office/drawing/2014/main" id="{953639F8-0201-4463-A381-2A318BF7206C}"/>
                  </a:ext>
                </a:extLst>
              </p:cNvPr>
              <p:cNvSpPr>
                <a:spLocks noChangeArrowheads="1"/>
              </p:cNvSpPr>
              <p:nvPr/>
            </p:nvSpPr>
            <p:spPr bwMode="auto">
              <a:xfrm>
                <a:off x="1536" y="2208"/>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grpSp>
        <p:sp>
          <p:nvSpPr>
            <p:cNvPr id="53262" name="右箭头 355343">
              <a:extLst>
                <a:ext uri="{FF2B5EF4-FFF2-40B4-BE49-F238E27FC236}">
                  <a16:creationId xmlns:a16="http://schemas.microsoft.com/office/drawing/2014/main" id="{20881853-AB84-4FBE-8C2F-3279C3685E67}"/>
                </a:ext>
              </a:extLst>
            </p:cNvPr>
            <p:cNvSpPr>
              <a:spLocks noChangeArrowheads="1"/>
            </p:cNvSpPr>
            <p:nvPr/>
          </p:nvSpPr>
          <p:spPr bwMode="auto">
            <a:xfrm rot="2235391">
              <a:off x="3072" y="2352"/>
              <a:ext cx="480" cy="144"/>
            </a:xfrm>
            <a:prstGeom prst="rightArrow">
              <a:avLst>
                <a:gd name="adj1" fmla="val 50000"/>
                <a:gd name="adj2" fmla="val 83318"/>
              </a:avLst>
            </a:prstGeom>
            <a:solidFill>
              <a:srgbClr val="FFFFFF"/>
            </a:solid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53263" name="组合 355354">
              <a:extLst>
                <a:ext uri="{FF2B5EF4-FFF2-40B4-BE49-F238E27FC236}">
                  <a16:creationId xmlns:a16="http://schemas.microsoft.com/office/drawing/2014/main" id="{08401ECF-A5D9-45EF-8E9B-A03DA4706C2F}"/>
                </a:ext>
              </a:extLst>
            </p:cNvPr>
            <p:cNvGrpSpPr>
              <a:grpSpLocks/>
            </p:cNvGrpSpPr>
            <p:nvPr/>
          </p:nvGrpSpPr>
          <p:grpSpPr bwMode="auto">
            <a:xfrm>
              <a:off x="2304" y="2688"/>
              <a:ext cx="528" cy="384"/>
              <a:chOff x="1536" y="2544"/>
              <a:chExt cx="912" cy="384"/>
            </a:xfrm>
          </p:grpSpPr>
          <p:sp>
            <p:nvSpPr>
              <p:cNvPr id="53264" name="矩形 355346">
                <a:extLst>
                  <a:ext uri="{FF2B5EF4-FFF2-40B4-BE49-F238E27FC236}">
                    <a16:creationId xmlns:a16="http://schemas.microsoft.com/office/drawing/2014/main" id="{6586D154-8CD5-44FF-A8DD-276F39292208}"/>
                  </a:ext>
                </a:extLst>
              </p:cNvPr>
              <p:cNvSpPr>
                <a:spLocks noChangeArrowheads="1"/>
              </p:cNvSpPr>
              <p:nvPr/>
            </p:nvSpPr>
            <p:spPr bwMode="auto">
              <a:xfrm>
                <a:off x="1536" y="2544"/>
                <a:ext cx="912" cy="96"/>
              </a:xfrm>
              <a:prstGeom prst="rect">
                <a:avLst/>
              </a:prstGeom>
              <a:solidFill>
                <a:srgbClr val="FFFFFF"/>
              </a:solid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65" name="矩形 355347">
                <a:extLst>
                  <a:ext uri="{FF2B5EF4-FFF2-40B4-BE49-F238E27FC236}">
                    <a16:creationId xmlns:a16="http://schemas.microsoft.com/office/drawing/2014/main" id="{D5C2C7CF-F575-4AA7-A809-3B14745AFA6D}"/>
                  </a:ext>
                </a:extLst>
              </p:cNvPr>
              <p:cNvSpPr>
                <a:spLocks noChangeArrowheads="1"/>
              </p:cNvSpPr>
              <p:nvPr/>
            </p:nvSpPr>
            <p:spPr bwMode="auto">
              <a:xfrm>
                <a:off x="1536" y="2640"/>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66" name="矩形 355348">
                <a:extLst>
                  <a:ext uri="{FF2B5EF4-FFF2-40B4-BE49-F238E27FC236}">
                    <a16:creationId xmlns:a16="http://schemas.microsoft.com/office/drawing/2014/main" id="{CCAFC645-2EE7-4200-B8AA-E107AB6A1CCB}"/>
                  </a:ext>
                </a:extLst>
              </p:cNvPr>
              <p:cNvSpPr>
                <a:spLocks noChangeArrowheads="1"/>
              </p:cNvSpPr>
              <p:nvPr/>
            </p:nvSpPr>
            <p:spPr bwMode="auto">
              <a:xfrm>
                <a:off x="1536" y="2736"/>
                <a:ext cx="912" cy="96"/>
              </a:xfrm>
              <a:prstGeom prst="rect">
                <a:avLst/>
              </a:prstGeom>
              <a:solidFill>
                <a:srgbClr val="FFFFFF"/>
              </a:solid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67" name="矩形 355350">
                <a:extLst>
                  <a:ext uri="{FF2B5EF4-FFF2-40B4-BE49-F238E27FC236}">
                    <a16:creationId xmlns:a16="http://schemas.microsoft.com/office/drawing/2014/main" id="{6A2A7070-DC18-4E1B-8F36-D1C438AA9554}"/>
                  </a:ext>
                </a:extLst>
              </p:cNvPr>
              <p:cNvSpPr>
                <a:spLocks noChangeArrowheads="1"/>
              </p:cNvSpPr>
              <p:nvPr/>
            </p:nvSpPr>
            <p:spPr bwMode="auto">
              <a:xfrm>
                <a:off x="1536" y="2832"/>
                <a:ext cx="912" cy="96"/>
              </a:xfrm>
              <a:prstGeom prst="rect">
                <a:avLst/>
              </a:prstGeom>
              <a:solidFill>
                <a:srgbClr val="FFFFFF"/>
              </a:solid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grpSp>
        <p:grpSp>
          <p:nvGrpSpPr>
            <p:cNvPr id="53268" name="组合 355370">
              <a:extLst>
                <a:ext uri="{FF2B5EF4-FFF2-40B4-BE49-F238E27FC236}">
                  <a16:creationId xmlns:a16="http://schemas.microsoft.com/office/drawing/2014/main" id="{6D39AD27-469A-44D5-BE30-91A72EF89090}"/>
                </a:ext>
              </a:extLst>
            </p:cNvPr>
            <p:cNvGrpSpPr>
              <a:grpSpLocks/>
            </p:cNvGrpSpPr>
            <p:nvPr/>
          </p:nvGrpSpPr>
          <p:grpSpPr bwMode="auto">
            <a:xfrm>
              <a:off x="2688" y="2448"/>
              <a:ext cx="1008" cy="432"/>
              <a:chOff x="2688" y="2448"/>
              <a:chExt cx="1008" cy="432"/>
            </a:xfrm>
          </p:grpSpPr>
          <p:grpSp>
            <p:nvGrpSpPr>
              <p:cNvPr id="53269" name="组合 355356">
                <a:extLst>
                  <a:ext uri="{FF2B5EF4-FFF2-40B4-BE49-F238E27FC236}">
                    <a16:creationId xmlns:a16="http://schemas.microsoft.com/office/drawing/2014/main" id="{57B03A6C-D780-468B-A368-9FB7F390B7B4}"/>
                  </a:ext>
                </a:extLst>
              </p:cNvPr>
              <p:cNvGrpSpPr>
                <a:grpSpLocks/>
              </p:cNvGrpSpPr>
              <p:nvPr/>
            </p:nvGrpSpPr>
            <p:grpSpPr bwMode="auto">
              <a:xfrm>
                <a:off x="2688" y="2496"/>
                <a:ext cx="1008" cy="384"/>
                <a:chOff x="2325" y="6446"/>
                <a:chExt cx="705" cy="367"/>
              </a:xfrm>
            </p:grpSpPr>
            <p:sp>
              <p:nvSpPr>
                <p:cNvPr id="53270" name="流程图: 对照 355357">
                  <a:extLst>
                    <a:ext uri="{FF2B5EF4-FFF2-40B4-BE49-F238E27FC236}">
                      <a16:creationId xmlns:a16="http://schemas.microsoft.com/office/drawing/2014/main" id="{9FFCF48C-027F-45F7-896E-3752906F5992}"/>
                    </a:ext>
                  </a:extLst>
                </p:cNvPr>
                <p:cNvSpPr>
                  <a:spLocks noChangeArrowheads="1"/>
                </p:cNvSpPr>
                <p:nvPr/>
              </p:nvSpPr>
              <p:spPr bwMode="auto">
                <a:xfrm rot="5400000" flipV="1">
                  <a:off x="2612" y="6414"/>
                  <a:ext cx="78" cy="142"/>
                </a:xfrm>
                <a:prstGeom prst="flowChartCollate">
                  <a:avLst/>
                </a:prstGeom>
                <a:solidFill>
                  <a:srgbClr val="FFFFFF"/>
                </a:solidFill>
                <a:ln w="6350">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71" name="文本框 355358">
                  <a:extLst>
                    <a:ext uri="{FF2B5EF4-FFF2-40B4-BE49-F238E27FC236}">
                      <a16:creationId xmlns:a16="http://schemas.microsoft.com/office/drawing/2014/main" id="{76F5FBF7-6507-4BBE-A097-D2762D876754}"/>
                    </a:ext>
                  </a:extLst>
                </p:cNvPr>
                <p:cNvSpPr txBox="1">
                  <a:spLocks noChangeArrowheads="1"/>
                </p:cNvSpPr>
                <p:nvPr/>
              </p:nvSpPr>
              <p:spPr bwMode="auto">
                <a:xfrm flipV="1">
                  <a:off x="2325" y="6450"/>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lnSpc>
                      <a:spcPct val="80000"/>
                    </a:lnSpc>
                  </a:pPr>
                  <a:endParaRPr lang="zh-CN" altLang="zh-CN" sz="600" dirty="0">
                    <a:latin typeface="Times New Roman" panose="02020603050405020304" pitchFamily="18" charset="0"/>
                    <a:cs typeface="Times New Roman" panose="02020603050405020304" pitchFamily="18" charset="0"/>
                  </a:endParaRPr>
                </a:p>
              </p:txBody>
            </p:sp>
          </p:grpSp>
          <p:sp>
            <p:nvSpPr>
              <p:cNvPr id="53272" name="矩形 355359">
                <a:extLst>
                  <a:ext uri="{FF2B5EF4-FFF2-40B4-BE49-F238E27FC236}">
                    <a16:creationId xmlns:a16="http://schemas.microsoft.com/office/drawing/2014/main" id="{C46B0859-6ED6-4C6E-9877-9CE021269B2E}"/>
                  </a:ext>
                </a:extLst>
              </p:cNvPr>
              <p:cNvSpPr>
                <a:spLocks noChangeArrowheads="1"/>
              </p:cNvSpPr>
              <p:nvPr/>
            </p:nvSpPr>
            <p:spPr bwMode="auto">
              <a:xfrm>
                <a:off x="2832" y="2448"/>
                <a:ext cx="576"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800" b="1" i="1" dirty="0">
                    <a:latin typeface="Times New Roman" panose="02020603050405020304" pitchFamily="18" charset="0"/>
                    <a:cs typeface="Times New Roman" panose="02020603050405020304" pitchFamily="18" charset="0"/>
                  </a:rPr>
                  <a:t> </a:t>
                </a:r>
                <a:r>
                  <a:rPr lang="en-US" altLang="zh-CN" sz="1600" b="1" i="1" dirty="0" err="1">
                    <a:latin typeface="Times New Roman" panose="02020603050405020304" pitchFamily="18" charset="0"/>
                    <a:cs typeface="Times New Roman" panose="02020603050405020304" pitchFamily="18" charset="0"/>
                  </a:rPr>
                  <a:t>A</a:t>
                </a:r>
                <a:r>
                  <a:rPr lang="en-US" altLang="zh-CN" sz="1600" b="1" dirty="0" err="1">
                    <a:latin typeface="Times New Roman" panose="02020603050405020304" pitchFamily="18" charset="0"/>
                    <a:cs typeface="Times New Roman" panose="02020603050405020304" pitchFamily="18" charset="0"/>
                  </a:rPr>
                  <a:t>θ</a:t>
                </a:r>
                <a:r>
                  <a:rPr lang="en-US" altLang="zh-CN" sz="1600" b="1" i="1" dirty="0" err="1">
                    <a:latin typeface="Times New Roman" panose="02020603050405020304" pitchFamily="18" charset="0"/>
                    <a:cs typeface="Times New Roman" panose="02020603050405020304" pitchFamily="18" charset="0"/>
                  </a:rPr>
                  <a:t>B</a:t>
                </a:r>
                <a:endParaRPr lang="en-US" altLang="zh-CN" sz="1600" b="1" i="1" dirty="0">
                  <a:latin typeface="Times New Roman" panose="02020603050405020304" pitchFamily="18" charset="0"/>
                  <a:cs typeface="Times New Roman" panose="02020603050405020304" pitchFamily="18" charset="0"/>
                </a:endParaRPr>
              </a:p>
            </p:txBody>
          </p:sp>
        </p:grpSp>
        <p:sp>
          <p:nvSpPr>
            <p:cNvPr id="53273" name="右箭头 355360">
              <a:extLst>
                <a:ext uri="{FF2B5EF4-FFF2-40B4-BE49-F238E27FC236}">
                  <a16:creationId xmlns:a16="http://schemas.microsoft.com/office/drawing/2014/main" id="{763BF81C-BC16-4F74-B629-AA3813D9DC39}"/>
                </a:ext>
              </a:extLst>
            </p:cNvPr>
            <p:cNvSpPr>
              <a:spLocks noChangeArrowheads="1"/>
            </p:cNvSpPr>
            <p:nvPr/>
          </p:nvSpPr>
          <p:spPr bwMode="auto">
            <a:xfrm rot="-1832436">
              <a:off x="3120" y="2736"/>
              <a:ext cx="384" cy="96"/>
            </a:xfrm>
            <a:prstGeom prst="rightArrow">
              <a:avLst>
                <a:gd name="adj1" fmla="val 50000"/>
                <a:gd name="adj2" fmla="val 100000"/>
              </a:avLst>
            </a:prstGeom>
            <a:solidFill>
              <a:srgbClr val="FFFFFF"/>
            </a:solid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53274" name="组合 355366">
              <a:extLst>
                <a:ext uri="{FF2B5EF4-FFF2-40B4-BE49-F238E27FC236}">
                  <a16:creationId xmlns:a16="http://schemas.microsoft.com/office/drawing/2014/main" id="{94C1C9E8-1414-4AAB-B072-F887C22CB4A7}"/>
                </a:ext>
              </a:extLst>
            </p:cNvPr>
            <p:cNvGrpSpPr>
              <a:grpSpLocks/>
            </p:cNvGrpSpPr>
            <p:nvPr/>
          </p:nvGrpSpPr>
          <p:grpSpPr bwMode="auto">
            <a:xfrm>
              <a:off x="3744" y="2400"/>
              <a:ext cx="1440" cy="288"/>
              <a:chOff x="3216" y="2352"/>
              <a:chExt cx="1440" cy="288"/>
            </a:xfrm>
          </p:grpSpPr>
          <p:sp>
            <p:nvSpPr>
              <p:cNvPr id="53275" name="矩形 355340">
                <a:extLst>
                  <a:ext uri="{FF2B5EF4-FFF2-40B4-BE49-F238E27FC236}">
                    <a16:creationId xmlns:a16="http://schemas.microsoft.com/office/drawing/2014/main" id="{F10CEC68-7608-4D79-8416-E8BB95BB92F9}"/>
                  </a:ext>
                </a:extLst>
              </p:cNvPr>
              <p:cNvSpPr>
                <a:spLocks noChangeArrowheads="1"/>
              </p:cNvSpPr>
              <p:nvPr/>
            </p:nvSpPr>
            <p:spPr bwMode="auto">
              <a:xfrm>
                <a:off x="3216" y="2544"/>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76" name="矩形 355341">
                <a:extLst>
                  <a:ext uri="{FF2B5EF4-FFF2-40B4-BE49-F238E27FC236}">
                    <a16:creationId xmlns:a16="http://schemas.microsoft.com/office/drawing/2014/main" id="{6E94BA24-A75D-48C4-97B5-FF432761E325}"/>
                  </a:ext>
                </a:extLst>
              </p:cNvPr>
              <p:cNvSpPr>
                <a:spLocks noChangeArrowheads="1"/>
              </p:cNvSpPr>
              <p:nvPr/>
            </p:nvSpPr>
            <p:spPr bwMode="auto">
              <a:xfrm>
                <a:off x="3216" y="2448"/>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77" name="矩形 355342">
                <a:extLst>
                  <a:ext uri="{FF2B5EF4-FFF2-40B4-BE49-F238E27FC236}">
                    <a16:creationId xmlns:a16="http://schemas.microsoft.com/office/drawing/2014/main" id="{4582C86E-9852-4541-8581-A68CE593BE78}"/>
                  </a:ext>
                </a:extLst>
              </p:cNvPr>
              <p:cNvSpPr>
                <a:spLocks noChangeArrowheads="1"/>
              </p:cNvSpPr>
              <p:nvPr/>
            </p:nvSpPr>
            <p:spPr bwMode="auto">
              <a:xfrm>
                <a:off x="3216" y="2352"/>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78" name="矩形 355362">
                <a:extLst>
                  <a:ext uri="{FF2B5EF4-FFF2-40B4-BE49-F238E27FC236}">
                    <a16:creationId xmlns:a16="http://schemas.microsoft.com/office/drawing/2014/main" id="{56F42D7A-7264-41C2-AED1-7D69A0B5CE7D}"/>
                  </a:ext>
                </a:extLst>
              </p:cNvPr>
              <p:cNvSpPr>
                <a:spLocks noChangeArrowheads="1"/>
              </p:cNvSpPr>
              <p:nvPr/>
            </p:nvSpPr>
            <p:spPr bwMode="auto">
              <a:xfrm>
                <a:off x="4128" y="2352"/>
                <a:ext cx="528"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79" name="矩形 355363">
                <a:extLst>
                  <a:ext uri="{FF2B5EF4-FFF2-40B4-BE49-F238E27FC236}">
                    <a16:creationId xmlns:a16="http://schemas.microsoft.com/office/drawing/2014/main" id="{26502141-A8B0-4379-BC84-5FF73FAD941A}"/>
                  </a:ext>
                </a:extLst>
              </p:cNvPr>
              <p:cNvSpPr>
                <a:spLocks noChangeArrowheads="1"/>
              </p:cNvSpPr>
              <p:nvPr/>
            </p:nvSpPr>
            <p:spPr bwMode="auto">
              <a:xfrm>
                <a:off x="4128" y="2448"/>
                <a:ext cx="528"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3280" name="矩形 355364">
                <a:extLst>
                  <a:ext uri="{FF2B5EF4-FFF2-40B4-BE49-F238E27FC236}">
                    <a16:creationId xmlns:a16="http://schemas.microsoft.com/office/drawing/2014/main" id="{4E8480A3-AC24-4E3F-A35C-012C9E9386CF}"/>
                  </a:ext>
                </a:extLst>
              </p:cNvPr>
              <p:cNvSpPr>
                <a:spLocks noChangeArrowheads="1"/>
              </p:cNvSpPr>
              <p:nvPr/>
            </p:nvSpPr>
            <p:spPr bwMode="auto">
              <a:xfrm>
                <a:off x="4128" y="2544"/>
                <a:ext cx="528"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a:latin typeface="Times New Roman" panose="02020603050405020304" pitchFamily="18" charset="0"/>
                  <a:cs typeface="Times New Roman" panose="02020603050405020304" pitchFamily="18" charset="0"/>
                </a:endParaRPr>
              </a:p>
            </p:txBody>
          </p:sp>
        </p:grpSp>
        <p:sp>
          <p:nvSpPr>
            <p:cNvPr id="53281" name="文本框 355367">
              <a:extLst>
                <a:ext uri="{FF2B5EF4-FFF2-40B4-BE49-F238E27FC236}">
                  <a16:creationId xmlns:a16="http://schemas.microsoft.com/office/drawing/2014/main" id="{940FA4B2-B9F5-403E-AA94-80E968A0D086}"/>
                </a:ext>
              </a:extLst>
            </p:cNvPr>
            <p:cNvSpPr txBox="1">
              <a:spLocks noChangeArrowheads="1"/>
            </p:cNvSpPr>
            <p:nvPr/>
          </p:nvSpPr>
          <p:spPr bwMode="auto">
            <a:xfrm>
              <a:off x="1728" y="1632"/>
              <a:ext cx="2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b="1" i="1" dirty="0">
                  <a:latin typeface="Times New Roman" panose="02020603050405020304" pitchFamily="18" charset="0"/>
                  <a:cs typeface="Times New Roman" panose="02020603050405020304" pitchFamily="18" charset="0"/>
                </a:rPr>
                <a:t>R</a:t>
              </a:r>
              <a:endParaRPr lang="en-US" altLang="zh-CN" i="1" dirty="0">
                <a:latin typeface="Times New Roman" panose="02020603050405020304" pitchFamily="18" charset="0"/>
                <a:cs typeface="Times New Roman" panose="02020603050405020304" pitchFamily="18" charset="0"/>
              </a:endParaRPr>
            </a:p>
          </p:txBody>
        </p:sp>
        <p:sp>
          <p:nvSpPr>
            <p:cNvPr id="53282" name="文本框 355368">
              <a:extLst>
                <a:ext uri="{FF2B5EF4-FFF2-40B4-BE49-F238E27FC236}">
                  <a16:creationId xmlns:a16="http://schemas.microsoft.com/office/drawing/2014/main" id="{1CF8639B-BEE6-404A-B55C-1CA80E8EEBF2}"/>
                </a:ext>
              </a:extLst>
            </p:cNvPr>
            <p:cNvSpPr txBox="1">
              <a:spLocks noChangeArrowheads="1"/>
            </p:cNvSpPr>
            <p:nvPr/>
          </p:nvSpPr>
          <p:spPr bwMode="auto">
            <a:xfrm>
              <a:off x="1920" y="2688"/>
              <a:ext cx="2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b="1" i="1" dirty="0">
                  <a:latin typeface="Times New Roman" panose="02020603050405020304" pitchFamily="18" charset="0"/>
                  <a:cs typeface="Times New Roman" panose="02020603050405020304" pitchFamily="18" charset="0"/>
                </a:rPr>
                <a:t>S</a:t>
              </a:r>
              <a:endParaRPr lang="en-US" altLang="zh-CN" i="1" dirty="0">
                <a:latin typeface="Times New Roman" panose="02020603050405020304" pitchFamily="18" charset="0"/>
                <a:cs typeface="Times New Roman" panose="02020603050405020304" pitchFamily="18" charset="0"/>
              </a:endParaRPr>
            </a:p>
          </p:txBody>
        </p:sp>
      </p:grpSp>
      <p:sp>
        <p:nvSpPr>
          <p:cNvPr id="2" name="灯片编号占位符 1">
            <a:extLst>
              <a:ext uri="{FF2B5EF4-FFF2-40B4-BE49-F238E27FC236}">
                <a16:creationId xmlns:a16="http://schemas.microsoft.com/office/drawing/2014/main" id="{4024AF20-D4A4-459A-942B-3C24BE93CE23}"/>
              </a:ext>
            </a:extLst>
          </p:cNvPr>
          <p:cNvSpPr>
            <a:spLocks noGrp="1"/>
          </p:cNvSpPr>
          <p:nvPr>
            <p:ph type="sldNum" sz="quarter" idx="12"/>
          </p:nvPr>
        </p:nvSpPr>
        <p:spPr/>
        <p:txBody>
          <a:bodyPr/>
          <a:lstStyle/>
          <a:p>
            <a:fld id="{47C9E101-E51D-431E-84FA-C029B8655B60}" type="slidenum">
              <a:rPr lang="zh-CN" altLang="en-US" smtClean="0"/>
              <a:pPr/>
              <a:t>72</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47734677-16F6-4E72-84EF-2AF3D1BAD727}"/>
              </a:ext>
            </a:extLst>
          </p:cNvPr>
          <p:cNvSpPr>
            <a:spLocks noGrp="1" noChangeArrowheads="1"/>
          </p:cNvSpPr>
          <p:nvPr>
            <p:ph type="title"/>
          </p:nvPr>
        </p:nvSpPr>
        <p:spPr/>
        <p:txBody>
          <a:bodyPr/>
          <a:lstStyle/>
          <a:p>
            <a:r>
              <a:rPr lang="zh-CN" altLang="en-US"/>
              <a:t>连接</a:t>
            </a:r>
            <a:r>
              <a:rPr lang="en-US" altLang="zh-CN"/>
              <a:t>(</a:t>
            </a:r>
            <a:r>
              <a:rPr lang="zh-CN" altLang="en-US"/>
              <a:t>续</a:t>
            </a:r>
            <a:r>
              <a:rPr lang="en-US" altLang="zh-CN"/>
              <a:t>)</a:t>
            </a:r>
          </a:p>
        </p:txBody>
      </p:sp>
      <p:sp>
        <p:nvSpPr>
          <p:cNvPr id="94211" name="Rectangle 3">
            <a:extLst>
              <a:ext uri="{FF2B5EF4-FFF2-40B4-BE49-F238E27FC236}">
                <a16:creationId xmlns:a16="http://schemas.microsoft.com/office/drawing/2014/main" id="{F14BBF89-F18E-49C2-B362-8778EC55EA58}"/>
              </a:ext>
            </a:extLst>
          </p:cNvPr>
          <p:cNvSpPr>
            <a:spLocks noGrp="1" noChangeArrowheads="1"/>
          </p:cNvSpPr>
          <p:nvPr>
            <p:ph type="body" idx="1"/>
          </p:nvPr>
        </p:nvSpPr>
        <p:spPr/>
        <p:txBody>
          <a:bodyPr/>
          <a:lstStyle/>
          <a:p>
            <a:r>
              <a:rPr lang="zh-CN" altLang="en-US" dirty="0"/>
              <a:t>例</a:t>
            </a:r>
            <a:r>
              <a:rPr lang="en-US" altLang="zh-CN" dirty="0"/>
              <a:t>5</a:t>
            </a:r>
            <a:r>
              <a:rPr lang="zh-CN" altLang="en-US" dirty="0"/>
              <a:t>：</a:t>
            </a:r>
            <a:endParaRPr lang="en-US" altLang="zh-CN" dirty="0"/>
          </a:p>
        </p:txBody>
      </p:sp>
      <p:sp>
        <p:nvSpPr>
          <p:cNvPr id="94212" name="Rectangle 196">
            <a:extLst>
              <a:ext uri="{FF2B5EF4-FFF2-40B4-BE49-F238E27FC236}">
                <a16:creationId xmlns:a16="http://schemas.microsoft.com/office/drawing/2014/main" id="{940FCB00-7D37-4A51-809F-149E18ADE6D1}"/>
              </a:ext>
            </a:extLst>
          </p:cNvPr>
          <p:cNvSpPr>
            <a:spLocks noChangeArrowheads="1"/>
          </p:cNvSpPr>
          <p:nvPr/>
        </p:nvSpPr>
        <p:spPr bwMode="auto">
          <a:xfrm>
            <a:off x="1949451" y="1660526"/>
            <a:ext cx="44291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sz="2400" b="1" i="1">
                <a:solidFill>
                  <a:srgbClr val="000000"/>
                </a:solidFill>
                <a:ea typeface="楷体_GB2312" pitchFamily="49" charset="-122"/>
              </a:rPr>
              <a:t>R</a:t>
            </a:r>
          </a:p>
        </p:txBody>
      </p:sp>
      <p:grpSp>
        <p:nvGrpSpPr>
          <p:cNvPr id="94213" name="组合 5">
            <a:extLst>
              <a:ext uri="{FF2B5EF4-FFF2-40B4-BE49-F238E27FC236}">
                <a16:creationId xmlns:a16="http://schemas.microsoft.com/office/drawing/2014/main" id="{FD5B8D18-ED17-4836-B17E-5F9C00973171}"/>
              </a:ext>
            </a:extLst>
          </p:cNvPr>
          <p:cNvGrpSpPr>
            <a:grpSpLocks/>
          </p:cNvGrpSpPr>
          <p:nvPr/>
        </p:nvGrpSpPr>
        <p:grpSpPr bwMode="auto">
          <a:xfrm>
            <a:off x="5391150" y="2111376"/>
            <a:ext cx="1366838" cy="773113"/>
            <a:chOff x="3866434" y="2111003"/>
            <a:chExt cx="1368078" cy="773897"/>
          </a:xfrm>
        </p:grpSpPr>
        <p:sp>
          <p:nvSpPr>
            <p:cNvPr id="94309" name="AutoShape 385">
              <a:extLst>
                <a:ext uri="{FF2B5EF4-FFF2-40B4-BE49-F238E27FC236}">
                  <a16:creationId xmlns:a16="http://schemas.microsoft.com/office/drawing/2014/main" id="{B2F16EAD-9790-43D0-A7D3-62EDB4746784}"/>
                </a:ext>
              </a:extLst>
            </p:cNvPr>
            <p:cNvSpPr>
              <a:spLocks noChangeArrowheads="1"/>
            </p:cNvSpPr>
            <p:nvPr/>
          </p:nvSpPr>
          <p:spPr bwMode="auto">
            <a:xfrm rot="16200000" flipV="1">
              <a:off x="4370164" y="2237993"/>
              <a:ext cx="206375" cy="341313"/>
            </a:xfrm>
            <a:prstGeom prst="flowChartCollate">
              <a:avLst/>
            </a:prstGeom>
            <a:solidFill>
              <a:srgbClr val="FFFFFF"/>
            </a:solidFill>
            <a:ln w="6350">
              <a:solidFill>
                <a:srgbClr val="000000"/>
              </a:solidFill>
              <a:miter lim="800000"/>
              <a:headEnd/>
              <a:tailEnd/>
            </a:ln>
          </p:spPr>
          <p:txBody>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94310" name="Rectangle 387">
              <a:extLst>
                <a:ext uri="{FF2B5EF4-FFF2-40B4-BE49-F238E27FC236}">
                  <a16:creationId xmlns:a16="http://schemas.microsoft.com/office/drawing/2014/main" id="{73764EC5-3247-4D7B-9230-0A8A360706BE}"/>
                </a:ext>
              </a:extLst>
            </p:cNvPr>
            <p:cNvSpPr>
              <a:spLocks noChangeArrowheads="1"/>
            </p:cNvSpPr>
            <p:nvPr/>
          </p:nvSpPr>
          <p:spPr bwMode="auto">
            <a:xfrm>
              <a:off x="3978050" y="2511837"/>
              <a:ext cx="990601"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a:lnSpc>
                  <a:spcPct val="80000"/>
                </a:lnSpc>
                <a:spcBef>
                  <a:spcPct val="0"/>
                </a:spcBef>
                <a:buClrTx/>
                <a:buSzTx/>
                <a:buFontTx/>
                <a:buNone/>
              </a:pPr>
              <a:r>
                <a:rPr lang="en-US" altLang="zh-CN" sz="1600" i="1" dirty="0">
                  <a:solidFill>
                    <a:srgbClr val="000000"/>
                  </a:solidFill>
                  <a:ea typeface="楷体_GB2312" pitchFamily="49" charset="-122"/>
                </a:rPr>
                <a:t>C</a:t>
              </a:r>
              <a:r>
                <a:rPr lang="zh-CN" altLang="en-US" sz="1600" dirty="0">
                  <a:solidFill>
                    <a:srgbClr val="000000"/>
                  </a:solidFill>
                  <a:ea typeface="楷体_GB2312" pitchFamily="49" charset="-122"/>
                </a:rPr>
                <a:t>＜</a:t>
              </a:r>
              <a:r>
                <a:rPr lang="en-US" altLang="zh-CN" sz="1600" i="1" dirty="0">
                  <a:solidFill>
                    <a:srgbClr val="000000"/>
                  </a:solidFill>
                  <a:ea typeface="楷体_GB2312" pitchFamily="49" charset="-122"/>
                </a:rPr>
                <a:t>E</a:t>
              </a:r>
              <a:endParaRPr kumimoji="1" lang="en-US" altLang="zh-CN" sz="2400" dirty="0">
                <a:solidFill>
                  <a:srgbClr val="000000"/>
                </a:solidFill>
                <a:ea typeface="楷体_GB2312" pitchFamily="49" charset="-122"/>
              </a:endParaRPr>
            </a:p>
          </p:txBody>
        </p:sp>
        <p:sp>
          <p:nvSpPr>
            <p:cNvPr id="94311" name="Rectangle 388">
              <a:extLst>
                <a:ext uri="{FF2B5EF4-FFF2-40B4-BE49-F238E27FC236}">
                  <a16:creationId xmlns:a16="http://schemas.microsoft.com/office/drawing/2014/main" id="{9BCB0549-6613-4214-AA17-3E2BB32CAB8C}"/>
                </a:ext>
              </a:extLst>
            </p:cNvPr>
            <p:cNvSpPr>
              <a:spLocks noChangeArrowheads="1"/>
            </p:cNvSpPr>
            <p:nvPr/>
          </p:nvSpPr>
          <p:spPr bwMode="auto">
            <a:xfrm>
              <a:off x="3866434" y="2111003"/>
              <a:ext cx="136807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buFont typeface="Wingdings" panose="05000000000000000000" pitchFamily="2" charset="2"/>
                <a:buNone/>
              </a:pPr>
              <a:r>
                <a:rPr lang="en-US" altLang="zh-CN" b="1" i="1">
                  <a:solidFill>
                    <a:srgbClr val="000000"/>
                  </a:solidFill>
                  <a:ea typeface="楷体_GB2312" pitchFamily="49" charset="-122"/>
                </a:rPr>
                <a:t> </a:t>
              </a:r>
              <a:r>
                <a:rPr lang="en-US" altLang="zh-CN" sz="2400" b="1" i="1">
                  <a:solidFill>
                    <a:srgbClr val="000000"/>
                  </a:solidFill>
                  <a:ea typeface="楷体_GB2312" pitchFamily="49" charset="-122"/>
                </a:rPr>
                <a:t>R</a:t>
              </a:r>
              <a:r>
                <a:rPr lang="en-US" altLang="zh-CN" b="1" i="1">
                  <a:solidFill>
                    <a:srgbClr val="000000"/>
                  </a:solidFill>
                  <a:ea typeface="楷体_GB2312" pitchFamily="49" charset="-122"/>
                </a:rPr>
                <a:t> </a:t>
              </a:r>
              <a:r>
                <a:rPr lang="en-US" altLang="zh-CN" b="1">
                  <a:solidFill>
                    <a:srgbClr val="000000"/>
                  </a:solidFill>
                  <a:ea typeface="楷体_GB2312" pitchFamily="49" charset="-122"/>
                </a:rPr>
                <a:t>    </a:t>
              </a:r>
              <a:r>
                <a:rPr lang="en-US" altLang="zh-CN" sz="2400" b="1" i="1">
                  <a:solidFill>
                    <a:srgbClr val="000000"/>
                  </a:solidFill>
                  <a:ea typeface="楷体_GB2312" pitchFamily="49" charset="-122"/>
                </a:rPr>
                <a:t>S</a:t>
              </a:r>
              <a:r>
                <a:rPr lang="en-US" altLang="zh-CN" b="1">
                  <a:solidFill>
                    <a:srgbClr val="000000"/>
                  </a:solidFill>
                  <a:ea typeface="楷体_GB2312" pitchFamily="49" charset="-122"/>
                </a:rPr>
                <a:t> </a:t>
              </a:r>
            </a:p>
          </p:txBody>
        </p:sp>
      </p:grpSp>
      <p:graphicFrame>
        <p:nvGraphicFramePr>
          <p:cNvPr id="2" name="表格 1">
            <a:extLst>
              <a:ext uri="{FF2B5EF4-FFF2-40B4-BE49-F238E27FC236}">
                <a16:creationId xmlns:a16="http://schemas.microsoft.com/office/drawing/2014/main" id="{6E09CF12-C682-40AD-9D65-F76DC32A4E77}"/>
              </a:ext>
            </a:extLst>
          </p:cNvPr>
          <p:cNvGraphicFramePr>
            <a:graphicFrameLocks noGrp="1"/>
          </p:cNvGraphicFramePr>
          <p:nvPr/>
        </p:nvGraphicFramePr>
        <p:xfrm>
          <a:off x="2424113" y="1716088"/>
          <a:ext cx="1939926" cy="1981200"/>
        </p:xfrm>
        <a:graphic>
          <a:graphicData uri="http://schemas.openxmlformats.org/drawingml/2006/table">
            <a:tbl>
              <a:tblPr firstRow="1" bandRow="1">
                <a:tableStyleId>{5C22544A-7EE6-4342-B048-85BDC9FD1C3A}</a:tableStyleId>
              </a:tblPr>
              <a:tblGrid>
                <a:gridCol w="646642">
                  <a:extLst>
                    <a:ext uri="{9D8B030D-6E8A-4147-A177-3AD203B41FA5}">
                      <a16:colId xmlns:a16="http://schemas.microsoft.com/office/drawing/2014/main" val="20000"/>
                    </a:ext>
                  </a:extLst>
                </a:gridCol>
                <a:gridCol w="646642">
                  <a:extLst>
                    <a:ext uri="{9D8B030D-6E8A-4147-A177-3AD203B41FA5}">
                      <a16:colId xmlns:a16="http://schemas.microsoft.com/office/drawing/2014/main" val="20001"/>
                    </a:ext>
                  </a:extLst>
                </a:gridCol>
                <a:gridCol w="646642">
                  <a:extLst>
                    <a:ext uri="{9D8B030D-6E8A-4147-A177-3AD203B41FA5}">
                      <a16:colId xmlns:a16="http://schemas.microsoft.com/office/drawing/2014/main" val="20002"/>
                    </a:ext>
                  </a:extLst>
                </a:gridCol>
              </a:tblGrid>
              <a:tr h="370840">
                <a:tc>
                  <a:txBody>
                    <a:bodyPr/>
                    <a:lstStyle/>
                    <a:p>
                      <a:pPr algn="ctr"/>
                      <a:r>
                        <a:rPr lang="en-US" altLang="zh-CN" sz="2000" i="1" dirty="0">
                          <a:latin typeface="Times New Roman" panose="02020603050405020304" pitchFamily="18" charset="0"/>
                          <a:cs typeface="Times New Roman" panose="02020603050405020304" pitchFamily="18" charset="0"/>
                        </a:rPr>
                        <a:t>A</a:t>
                      </a:r>
                      <a:endParaRPr lang="zh-CN" altLang="en-US" sz="2000" i="1"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i="1" dirty="0">
                          <a:latin typeface="Times New Roman" panose="02020603050405020304" pitchFamily="18" charset="0"/>
                          <a:cs typeface="Times New Roman" panose="02020603050405020304" pitchFamily="18" charset="0"/>
                        </a:rPr>
                        <a:t>B</a:t>
                      </a:r>
                      <a:endParaRPr lang="zh-CN" altLang="en-US" sz="2000" i="1"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i="1" dirty="0">
                          <a:latin typeface="Times New Roman" panose="02020603050405020304" pitchFamily="18" charset="0"/>
                          <a:cs typeface="Times New Roman" panose="02020603050405020304" pitchFamily="18" charset="0"/>
                        </a:rPr>
                        <a:t>C</a:t>
                      </a:r>
                      <a:endParaRPr lang="zh-CN" altLang="en-US" sz="2000" i="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pPr algn="ctr" eaLnBrk="1" hangingPunct="1">
                        <a:spcBef>
                          <a:spcPct val="0"/>
                        </a:spcBef>
                        <a:buClrTx/>
                        <a:buSzTx/>
                        <a:buFontTx/>
                        <a:buNone/>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5</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i="0"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6</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8</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4</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12</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graphicFrame>
        <p:nvGraphicFramePr>
          <p:cNvPr id="3" name="表格 2">
            <a:extLst>
              <a:ext uri="{FF2B5EF4-FFF2-40B4-BE49-F238E27FC236}">
                <a16:creationId xmlns:a16="http://schemas.microsoft.com/office/drawing/2014/main" id="{C6AD662E-3579-423E-A309-D607F3945B08}"/>
              </a:ext>
            </a:extLst>
          </p:cNvPr>
          <p:cNvGraphicFramePr>
            <a:graphicFrameLocks noGrp="1"/>
          </p:cNvGraphicFramePr>
          <p:nvPr/>
        </p:nvGraphicFramePr>
        <p:xfrm>
          <a:off x="2424113" y="3860801"/>
          <a:ext cx="1943100" cy="2301873"/>
        </p:xfrm>
        <a:graphic>
          <a:graphicData uri="http://schemas.openxmlformats.org/drawingml/2006/table">
            <a:tbl>
              <a:tblPr firstRow="1" bandRow="1">
                <a:tableStyleId>{5C22544A-7EE6-4342-B048-85BDC9FD1C3A}</a:tableStyleId>
              </a:tblPr>
              <a:tblGrid>
                <a:gridCol w="9715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tblGrid>
              <a:tr h="370942">
                <a:tc>
                  <a:txBody>
                    <a:bodyPr/>
                    <a:lstStyle/>
                    <a:p>
                      <a:pPr algn="ctr"/>
                      <a:r>
                        <a:rPr lang="en-US" altLang="zh-CN" sz="1800" i="1" dirty="0">
                          <a:latin typeface="Times New Roman" panose="02020603050405020304" pitchFamily="18" charset="0"/>
                          <a:cs typeface="Times New Roman" panose="02020603050405020304" pitchFamily="18" charset="0"/>
                        </a:rPr>
                        <a:t>B</a:t>
                      </a:r>
                      <a:endParaRPr lang="zh-CN" altLang="en-US" sz="1800" i="1" dirty="0">
                        <a:latin typeface="Times New Roman" panose="02020603050405020304" pitchFamily="18" charset="0"/>
                        <a:cs typeface="Times New Roman" panose="02020603050405020304" pitchFamily="18" charset="0"/>
                      </a:endParaRPr>
                    </a:p>
                  </a:txBody>
                  <a:tcPr marL="91388" marR="91388" marT="45733" marB="45733"/>
                </a:tc>
                <a:tc>
                  <a:txBody>
                    <a:bodyPr/>
                    <a:lstStyle/>
                    <a:p>
                      <a:pPr algn="ctr"/>
                      <a:r>
                        <a:rPr lang="en-US" altLang="zh-CN" sz="1800" i="1" dirty="0">
                          <a:latin typeface="Times New Roman" panose="02020603050405020304" pitchFamily="18" charset="0"/>
                          <a:cs typeface="Times New Roman" panose="02020603050405020304" pitchFamily="18" charset="0"/>
                        </a:rPr>
                        <a:t>E</a:t>
                      </a:r>
                      <a:endParaRPr lang="zh-CN" altLang="en-US" sz="1800" i="1"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0"/>
                  </a:ext>
                </a:extLst>
              </a:tr>
              <a:tr h="39634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388" marR="91388" marT="45733" marB="45733"/>
                </a:tc>
                <a:tc>
                  <a:txBody>
                    <a:bodyPr/>
                    <a:lstStyle/>
                    <a:p>
                      <a:pPr algn="ctr"/>
                      <a:r>
                        <a:rPr lang="en-US" altLang="zh-CN" sz="1800" dirty="0">
                          <a:latin typeface="Times New Roman" panose="02020603050405020304" pitchFamily="18" charset="0"/>
                          <a:cs typeface="Times New Roman" panose="02020603050405020304" pitchFamily="18" charset="0"/>
                        </a:rPr>
                        <a:t>3</a:t>
                      </a:r>
                      <a:endParaRPr lang="zh-CN" altLang="en-US" sz="1800"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1"/>
                  </a:ext>
                </a:extLst>
              </a:tr>
              <a:tr h="39634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i="0"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388" marR="91388" marT="45733" marB="45733"/>
                </a:tc>
                <a:tc>
                  <a:txBody>
                    <a:bodyPr/>
                    <a:lstStyle/>
                    <a:p>
                      <a:pPr algn="ctr"/>
                      <a:r>
                        <a:rPr lang="en-US" altLang="zh-CN" sz="1800" dirty="0">
                          <a:latin typeface="Times New Roman" panose="02020603050405020304" pitchFamily="18" charset="0"/>
                          <a:cs typeface="Times New Roman" panose="02020603050405020304" pitchFamily="18" charset="0"/>
                        </a:rPr>
                        <a:t>7</a:t>
                      </a:r>
                      <a:endParaRPr lang="zh-CN" altLang="en-US" sz="1800"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2"/>
                  </a:ext>
                </a:extLst>
              </a:tr>
              <a:tr h="39634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388" marR="91388" marT="45733" marB="45733"/>
                </a:tc>
                <a:tc>
                  <a:txBody>
                    <a:bodyPr/>
                    <a:lstStyle/>
                    <a:p>
                      <a:pPr algn="ctr"/>
                      <a:r>
                        <a:rPr lang="en-US" altLang="zh-CN" sz="1800" dirty="0">
                          <a:latin typeface="Times New Roman" panose="02020603050405020304" pitchFamily="18" charset="0"/>
                          <a:cs typeface="Times New Roman" panose="02020603050405020304" pitchFamily="18" charset="0"/>
                        </a:rPr>
                        <a:t>10</a:t>
                      </a:r>
                      <a:endParaRPr lang="zh-CN" altLang="en-US" sz="1800"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3"/>
                  </a:ext>
                </a:extLst>
              </a:tr>
              <a:tr h="37094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18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18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1800" b="1" dirty="0">
                        <a:solidFill>
                          <a:srgbClr val="000000"/>
                        </a:solidFill>
                        <a:latin typeface="Times New Roman" panose="02020603050405020304" pitchFamily="18" charset="0"/>
                        <a:ea typeface="+mn-ea"/>
                        <a:cs typeface="Times New Roman" panose="02020603050405020304" pitchFamily="18" charset="0"/>
                      </a:endParaRPr>
                    </a:p>
                  </a:txBody>
                  <a:tcPr marL="91388" marR="91388" marT="45733" marB="45733"/>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4"/>
                  </a:ext>
                </a:extLst>
              </a:tr>
              <a:tr h="37094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18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1800" b="1" baseline="-30000" dirty="0">
                          <a:solidFill>
                            <a:srgbClr val="000000"/>
                          </a:solidFill>
                          <a:latin typeface="Times New Roman" panose="02020603050405020304" pitchFamily="18" charset="0"/>
                          <a:ea typeface="+mn-ea"/>
                          <a:cs typeface="Times New Roman" panose="02020603050405020304" pitchFamily="18" charset="0"/>
                        </a:rPr>
                        <a:t>5</a:t>
                      </a:r>
                      <a:endParaRPr kumimoji="1" lang="en-US" altLang="zh-CN" sz="1800" b="1" dirty="0">
                        <a:solidFill>
                          <a:srgbClr val="000000"/>
                        </a:solidFill>
                        <a:latin typeface="Times New Roman" panose="02020603050405020304" pitchFamily="18" charset="0"/>
                        <a:ea typeface="+mn-ea"/>
                        <a:cs typeface="Times New Roman" panose="02020603050405020304" pitchFamily="18" charset="0"/>
                      </a:endParaRPr>
                    </a:p>
                  </a:txBody>
                  <a:tcPr marL="91388" marR="91388" marT="45733" marB="45733"/>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5"/>
                  </a:ext>
                </a:extLst>
              </a:tr>
            </a:tbl>
          </a:graphicData>
        </a:graphic>
      </p:graphicFrame>
      <p:graphicFrame>
        <p:nvGraphicFramePr>
          <p:cNvPr id="4" name="表格 3">
            <a:extLst>
              <a:ext uri="{FF2B5EF4-FFF2-40B4-BE49-F238E27FC236}">
                <a16:creationId xmlns:a16="http://schemas.microsoft.com/office/drawing/2014/main" id="{422239B4-89C8-4F63-9551-6FC357AB4943}"/>
              </a:ext>
            </a:extLst>
          </p:cNvPr>
          <p:cNvGraphicFramePr>
            <a:graphicFrameLocks noGrp="1"/>
          </p:cNvGraphicFramePr>
          <p:nvPr/>
        </p:nvGraphicFramePr>
        <p:xfrm>
          <a:off x="5519738" y="2852738"/>
          <a:ext cx="4392610" cy="2378076"/>
        </p:xfrm>
        <a:graphic>
          <a:graphicData uri="http://schemas.openxmlformats.org/drawingml/2006/table">
            <a:tbl>
              <a:tblPr firstRow="1" bandRow="1">
                <a:tableStyleId>{5C22544A-7EE6-4342-B048-85BDC9FD1C3A}</a:tableStyleId>
              </a:tblPr>
              <a:tblGrid>
                <a:gridCol w="878522">
                  <a:extLst>
                    <a:ext uri="{9D8B030D-6E8A-4147-A177-3AD203B41FA5}">
                      <a16:colId xmlns:a16="http://schemas.microsoft.com/office/drawing/2014/main" val="20000"/>
                    </a:ext>
                  </a:extLst>
                </a:gridCol>
                <a:gridCol w="878522">
                  <a:extLst>
                    <a:ext uri="{9D8B030D-6E8A-4147-A177-3AD203B41FA5}">
                      <a16:colId xmlns:a16="http://schemas.microsoft.com/office/drawing/2014/main" val="20001"/>
                    </a:ext>
                  </a:extLst>
                </a:gridCol>
                <a:gridCol w="878522">
                  <a:extLst>
                    <a:ext uri="{9D8B030D-6E8A-4147-A177-3AD203B41FA5}">
                      <a16:colId xmlns:a16="http://schemas.microsoft.com/office/drawing/2014/main" val="20002"/>
                    </a:ext>
                  </a:extLst>
                </a:gridCol>
                <a:gridCol w="878522">
                  <a:extLst>
                    <a:ext uri="{9D8B030D-6E8A-4147-A177-3AD203B41FA5}">
                      <a16:colId xmlns:a16="http://schemas.microsoft.com/office/drawing/2014/main" val="20003"/>
                    </a:ext>
                  </a:extLst>
                </a:gridCol>
                <a:gridCol w="878522">
                  <a:extLst>
                    <a:ext uri="{9D8B030D-6E8A-4147-A177-3AD203B41FA5}">
                      <a16:colId xmlns:a16="http://schemas.microsoft.com/office/drawing/2014/main" val="20004"/>
                    </a:ext>
                  </a:extLst>
                </a:gridCol>
              </a:tblGrid>
              <a:tr h="396346">
                <a:tc>
                  <a:txBody>
                    <a:bodyPr/>
                    <a:lstStyle/>
                    <a:p>
                      <a:pPr algn="ctr"/>
                      <a:r>
                        <a:rPr lang="en-US" altLang="zh-CN" sz="2000" i="1" dirty="0">
                          <a:latin typeface="Times New Roman" panose="02020603050405020304" pitchFamily="18" charset="0"/>
                          <a:cs typeface="Times New Roman" panose="02020603050405020304" pitchFamily="18" charset="0"/>
                        </a:rPr>
                        <a:t>A</a:t>
                      </a:r>
                      <a:endParaRPr lang="zh-CN" altLang="en-US" sz="2000" i="1" dirty="0">
                        <a:latin typeface="Times New Roman" panose="02020603050405020304" pitchFamily="18" charset="0"/>
                        <a:cs typeface="Times New Roman" panose="02020603050405020304" pitchFamily="18" charset="0"/>
                      </a:endParaRPr>
                    </a:p>
                  </a:txBody>
                  <a:tcPr marL="91443" marR="91443" marT="45732" marB="45732"/>
                </a:tc>
                <a:tc>
                  <a:txBody>
                    <a:bodyPr/>
                    <a:lstStyle/>
                    <a:p>
                      <a:pPr algn="ctr"/>
                      <a:r>
                        <a:rPr lang="en-US" altLang="zh-CN" sz="2000" i="1" dirty="0">
                          <a:latin typeface="Times New Roman" panose="02020603050405020304" pitchFamily="18" charset="0"/>
                          <a:cs typeface="Times New Roman" panose="02020603050405020304" pitchFamily="18" charset="0"/>
                        </a:rPr>
                        <a:t>R.B</a:t>
                      </a:r>
                      <a:endParaRPr lang="zh-CN" altLang="en-US" sz="2000" i="1" dirty="0">
                        <a:latin typeface="Times New Roman" panose="02020603050405020304" pitchFamily="18" charset="0"/>
                        <a:cs typeface="Times New Roman" panose="02020603050405020304" pitchFamily="18" charset="0"/>
                      </a:endParaRPr>
                    </a:p>
                  </a:txBody>
                  <a:tcPr marL="91443" marR="91443" marT="45732" marB="45732"/>
                </a:tc>
                <a:tc>
                  <a:txBody>
                    <a:bodyPr/>
                    <a:lstStyle/>
                    <a:p>
                      <a:pPr algn="ctr"/>
                      <a:r>
                        <a:rPr lang="en-US" altLang="zh-CN" sz="2000" i="1" dirty="0">
                          <a:latin typeface="Times New Roman" panose="02020603050405020304" pitchFamily="18" charset="0"/>
                          <a:cs typeface="Times New Roman" panose="02020603050405020304" pitchFamily="18" charset="0"/>
                        </a:rPr>
                        <a:t>C</a:t>
                      </a:r>
                      <a:endParaRPr lang="zh-CN" altLang="en-US" sz="2000" i="1" dirty="0">
                        <a:latin typeface="Times New Roman" panose="02020603050405020304" pitchFamily="18" charset="0"/>
                        <a:cs typeface="Times New Roman" panose="02020603050405020304" pitchFamily="18" charset="0"/>
                      </a:endParaRPr>
                    </a:p>
                  </a:txBody>
                  <a:tcPr marL="91443" marR="91443" marT="45732" marB="45732"/>
                </a:tc>
                <a:tc>
                  <a:txBody>
                    <a:bodyPr/>
                    <a:lstStyle/>
                    <a:p>
                      <a:pPr algn="ctr"/>
                      <a:r>
                        <a:rPr lang="en-US" altLang="zh-CN" sz="2000" i="1" dirty="0">
                          <a:latin typeface="Times New Roman" panose="02020603050405020304" pitchFamily="18" charset="0"/>
                          <a:cs typeface="Times New Roman" panose="02020603050405020304" pitchFamily="18" charset="0"/>
                        </a:rPr>
                        <a:t>S.B</a:t>
                      </a:r>
                      <a:endParaRPr lang="zh-CN" altLang="en-US" sz="2000" i="1" dirty="0">
                        <a:latin typeface="Times New Roman" panose="02020603050405020304" pitchFamily="18" charset="0"/>
                        <a:cs typeface="Times New Roman" panose="02020603050405020304" pitchFamily="18" charset="0"/>
                      </a:endParaRPr>
                    </a:p>
                  </a:txBody>
                  <a:tcPr marL="91443" marR="91443" marT="45732" marB="45732"/>
                </a:tc>
                <a:tc>
                  <a:txBody>
                    <a:bodyPr/>
                    <a:lstStyle/>
                    <a:p>
                      <a:pPr algn="ctr"/>
                      <a:r>
                        <a:rPr lang="en-US" altLang="zh-CN" sz="2000" i="1" dirty="0">
                          <a:latin typeface="Times New Roman" panose="02020603050405020304" pitchFamily="18" charset="0"/>
                          <a:cs typeface="Times New Roman" panose="02020603050405020304" pitchFamily="18" charset="0"/>
                        </a:rPr>
                        <a:t>E</a:t>
                      </a:r>
                      <a:endParaRPr lang="zh-CN" altLang="en-US" sz="2000" i="1" dirty="0">
                        <a:latin typeface="Times New Roman" panose="02020603050405020304" pitchFamily="18" charset="0"/>
                        <a:cs typeface="Times New Roman" panose="02020603050405020304" pitchFamily="18" charset="0"/>
                      </a:endParaRPr>
                    </a:p>
                  </a:txBody>
                  <a:tcPr marL="91443" marR="91443" marT="45732" marB="45732"/>
                </a:tc>
                <a:extLst>
                  <a:ext uri="{0D108BD9-81ED-4DB2-BD59-A6C34878D82A}">
                    <a16:rowId xmlns:a16="http://schemas.microsoft.com/office/drawing/2014/main" val="10000"/>
                  </a:ext>
                </a:extLst>
              </a:tr>
              <a:tr h="3963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marT="45732" marB="4573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marT="45732" marB="45732"/>
                </a:tc>
                <a:tc>
                  <a:txBody>
                    <a:bodyPr/>
                    <a:lstStyle/>
                    <a:p>
                      <a:pPr algn="ctr"/>
                      <a:r>
                        <a:rPr lang="en-US" altLang="zh-CN" sz="2000" dirty="0">
                          <a:latin typeface="Times New Roman" panose="02020603050405020304" pitchFamily="18" charset="0"/>
                          <a:cs typeface="Times New Roman" panose="02020603050405020304" pitchFamily="18" charset="0"/>
                        </a:rPr>
                        <a:t>5</a:t>
                      </a:r>
                      <a:endParaRPr lang="zh-CN" altLang="en-US" sz="2000" dirty="0">
                        <a:latin typeface="Times New Roman" panose="02020603050405020304" pitchFamily="18" charset="0"/>
                        <a:cs typeface="Times New Roman" panose="02020603050405020304" pitchFamily="18" charset="0"/>
                      </a:endParaRPr>
                    </a:p>
                  </a:txBody>
                  <a:tcPr marL="91443" marR="91443" marT="45732" marB="4573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marT="45732" marB="45732"/>
                </a:tc>
                <a:tc>
                  <a:txBody>
                    <a:bodyPr/>
                    <a:lstStyle/>
                    <a:p>
                      <a:pPr algn="ctr"/>
                      <a:r>
                        <a:rPr lang="en-US" altLang="zh-CN" sz="2000" dirty="0">
                          <a:latin typeface="Times New Roman" panose="02020603050405020304" pitchFamily="18" charset="0"/>
                          <a:cs typeface="Times New Roman" panose="02020603050405020304" pitchFamily="18" charset="0"/>
                        </a:rPr>
                        <a:t>7</a:t>
                      </a:r>
                      <a:endParaRPr lang="zh-CN" altLang="en-US" sz="2000" dirty="0">
                        <a:latin typeface="Times New Roman" panose="02020603050405020304" pitchFamily="18" charset="0"/>
                        <a:cs typeface="Times New Roman" panose="02020603050405020304" pitchFamily="18" charset="0"/>
                      </a:endParaRPr>
                    </a:p>
                  </a:txBody>
                  <a:tcPr marL="91443" marR="91443" marT="45732" marB="45732"/>
                </a:tc>
                <a:extLst>
                  <a:ext uri="{0D108BD9-81ED-4DB2-BD59-A6C34878D82A}">
                    <a16:rowId xmlns:a16="http://schemas.microsoft.com/office/drawing/2014/main" val="10001"/>
                  </a:ext>
                </a:extLst>
              </a:tr>
              <a:tr h="3963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marT="45732" marB="4573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marT="45732" marB="45732"/>
                </a:tc>
                <a:tc>
                  <a:txBody>
                    <a:bodyPr/>
                    <a:lstStyle/>
                    <a:p>
                      <a:pPr algn="ctr"/>
                      <a:r>
                        <a:rPr lang="en-US" altLang="zh-CN" sz="2000" dirty="0">
                          <a:latin typeface="Times New Roman" panose="02020603050405020304" pitchFamily="18" charset="0"/>
                          <a:cs typeface="Times New Roman" panose="02020603050405020304" pitchFamily="18" charset="0"/>
                        </a:rPr>
                        <a:t>5</a:t>
                      </a:r>
                      <a:endParaRPr lang="zh-CN" altLang="en-US" sz="2000" dirty="0">
                        <a:latin typeface="Times New Roman" panose="02020603050405020304" pitchFamily="18" charset="0"/>
                        <a:cs typeface="Times New Roman" panose="02020603050405020304" pitchFamily="18" charset="0"/>
                      </a:endParaRPr>
                    </a:p>
                  </a:txBody>
                  <a:tcPr marL="91443" marR="91443" marT="45732" marB="4573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marT="45732" marB="45732"/>
                </a:tc>
                <a:tc>
                  <a:txBody>
                    <a:bodyPr/>
                    <a:lstStyle/>
                    <a:p>
                      <a:pPr algn="ctr"/>
                      <a:r>
                        <a:rPr lang="en-US" altLang="zh-CN" sz="2000" dirty="0">
                          <a:latin typeface="Times New Roman" panose="02020603050405020304" pitchFamily="18" charset="0"/>
                          <a:cs typeface="Times New Roman" panose="02020603050405020304" pitchFamily="18" charset="0"/>
                        </a:rPr>
                        <a:t>10</a:t>
                      </a:r>
                      <a:endParaRPr lang="zh-CN" altLang="en-US" sz="2000" dirty="0">
                        <a:latin typeface="Times New Roman" panose="02020603050405020304" pitchFamily="18" charset="0"/>
                        <a:cs typeface="Times New Roman" panose="02020603050405020304" pitchFamily="18" charset="0"/>
                      </a:endParaRPr>
                    </a:p>
                  </a:txBody>
                  <a:tcPr marL="91443" marR="91443" marT="45732" marB="45732"/>
                </a:tc>
                <a:extLst>
                  <a:ext uri="{0D108BD9-81ED-4DB2-BD59-A6C34878D82A}">
                    <a16:rowId xmlns:a16="http://schemas.microsoft.com/office/drawing/2014/main" val="10002"/>
                  </a:ext>
                </a:extLst>
              </a:tr>
              <a:tr h="3963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marT="45732" marB="4573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marT="45732" marB="45732"/>
                </a:tc>
                <a:tc>
                  <a:txBody>
                    <a:bodyPr/>
                    <a:lstStyle/>
                    <a:p>
                      <a:pPr algn="ctr"/>
                      <a:r>
                        <a:rPr lang="en-US" altLang="zh-CN" sz="2000" dirty="0">
                          <a:latin typeface="Times New Roman" panose="02020603050405020304" pitchFamily="18" charset="0"/>
                          <a:cs typeface="Times New Roman" panose="02020603050405020304" pitchFamily="18" charset="0"/>
                        </a:rPr>
                        <a:t>6</a:t>
                      </a:r>
                      <a:endParaRPr lang="zh-CN" altLang="en-US" sz="2000" dirty="0">
                        <a:latin typeface="Times New Roman" panose="02020603050405020304" pitchFamily="18" charset="0"/>
                        <a:cs typeface="Times New Roman" panose="02020603050405020304" pitchFamily="18" charset="0"/>
                      </a:endParaRPr>
                    </a:p>
                  </a:txBody>
                  <a:tcPr marL="91443" marR="91443" marT="45732" marB="4573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marT="45732" marB="45732"/>
                </a:tc>
                <a:tc>
                  <a:txBody>
                    <a:bodyPr/>
                    <a:lstStyle/>
                    <a:p>
                      <a:pPr algn="ctr"/>
                      <a:r>
                        <a:rPr lang="en-US" altLang="zh-CN" sz="2000" dirty="0">
                          <a:latin typeface="Times New Roman" panose="02020603050405020304" pitchFamily="18" charset="0"/>
                          <a:cs typeface="Times New Roman" panose="02020603050405020304" pitchFamily="18" charset="0"/>
                        </a:rPr>
                        <a:t>7</a:t>
                      </a:r>
                      <a:endParaRPr lang="zh-CN" altLang="en-US" sz="2000" dirty="0">
                        <a:latin typeface="Times New Roman" panose="02020603050405020304" pitchFamily="18" charset="0"/>
                        <a:cs typeface="Times New Roman" panose="02020603050405020304" pitchFamily="18" charset="0"/>
                      </a:endParaRPr>
                    </a:p>
                  </a:txBody>
                  <a:tcPr marL="91443" marR="91443" marT="45732" marB="45732"/>
                </a:tc>
                <a:extLst>
                  <a:ext uri="{0D108BD9-81ED-4DB2-BD59-A6C34878D82A}">
                    <a16:rowId xmlns:a16="http://schemas.microsoft.com/office/drawing/2014/main" val="10003"/>
                  </a:ext>
                </a:extLst>
              </a:tr>
              <a:tr h="3963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marT="45732" marB="4573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marT="45732" marB="45732"/>
                </a:tc>
                <a:tc>
                  <a:txBody>
                    <a:bodyPr/>
                    <a:lstStyle/>
                    <a:p>
                      <a:pPr algn="ctr"/>
                      <a:r>
                        <a:rPr lang="en-US" altLang="zh-CN" sz="2000" dirty="0">
                          <a:latin typeface="Times New Roman" panose="02020603050405020304" pitchFamily="18" charset="0"/>
                          <a:cs typeface="Times New Roman" panose="02020603050405020304" pitchFamily="18" charset="0"/>
                        </a:rPr>
                        <a:t>6</a:t>
                      </a:r>
                      <a:endParaRPr lang="zh-CN" altLang="en-US" sz="2000" dirty="0">
                        <a:latin typeface="Times New Roman" panose="02020603050405020304" pitchFamily="18" charset="0"/>
                        <a:cs typeface="Times New Roman" panose="02020603050405020304" pitchFamily="18" charset="0"/>
                      </a:endParaRPr>
                    </a:p>
                  </a:txBody>
                  <a:tcPr marL="91443" marR="91443" marT="45732" marB="4573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marT="45732" marB="45732"/>
                </a:tc>
                <a:tc>
                  <a:txBody>
                    <a:bodyPr/>
                    <a:lstStyle/>
                    <a:p>
                      <a:pPr algn="ctr"/>
                      <a:r>
                        <a:rPr lang="en-US" altLang="zh-CN" sz="2000" dirty="0">
                          <a:latin typeface="Times New Roman" panose="02020603050405020304" pitchFamily="18" charset="0"/>
                          <a:cs typeface="Times New Roman" panose="02020603050405020304" pitchFamily="18" charset="0"/>
                        </a:rPr>
                        <a:t>10</a:t>
                      </a:r>
                      <a:endParaRPr lang="zh-CN" altLang="en-US" sz="2000" dirty="0">
                        <a:latin typeface="Times New Roman" panose="02020603050405020304" pitchFamily="18" charset="0"/>
                        <a:cs typeface="Times New Roman" panose="02020603050405020304" pitchFamily="18" charset="0"/>
                      </a:endParaRPr>
                    </a:p>
                  </a:txBody>
                  <a:tcPr marL="91443" marR="91443" marT="45732" marB="45732"/>
                </a:tc>
                <a:extLst>
                  <a:ext uri="{0D108BD9-81ED-4DB2-BD59-A6C34878D82A}">
                    <a16:rowId xmlns:a16="http://schemas.microsoft.com/office/drawing/2014/main" val="10004"/>
                  </a:ext>
                </a:extLst>
              </a:tr>
              <a:tr h="3963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marT="45732" marB="4573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marT="45732" marB="45732"/>
                </a:tc>
                <a:tc>
                  <a:txBody>
                    <a:bodyPr/>
                    <a:lstStyle/>
                    <a:p>
                      <a:pPr algn="ctr"/>
                      <a:r>
                        <a:rPr lang="en-US" altLang="zh-CN" sz="2000" dirty="0">
                          <a:latin typeface="Times New Roman" panose="02020603050405020304" pitchFamily="18" charset="0"/>
                          <a:cs typeface="Times New Roman" panose="02020603050405020304" pitchFamily="18" charset="0"/>
                        </a:rPr>
                        <a:t>8</a:t>
                      </a:r>
                      <a:endParaRPr lang="zh-CN" altLang="en-US" sz="2000" dirty="0">
                        <a:latin typeface="Times New Roman" panose="02020603050405020304" pitchFamily="18" charset="0"/>
                        <a:cs typeface="Times New Roman" panose="02020603050405020304" pitchFamily="18" charset="0"/>
                      </a:endParaRPr>
                    </a:p>
                  </a:txBody>
                  <a:tcPr marL="91443" marR="91443" marT="45732" marB="4573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marT="45732" marB="45732"/>
                </a:tc>
                <a:tc>
                  <a:txBody>
                    <a:bodyPr/>
                    <a:lstStyle/>
                    <a:p>
                      <a:pPr algn="ctr"/>
                      <a:r>
                        <a:rPr lang="en-US" altLang="zh-CN" sz="2000" dirty="0">
                          <a:latin typeface="Times New Roman" panose="02020603050405020304" pitchFamily="18" charset="0"/>
                          <a:cs typeface="Times New Roman" panose="02020603050405020304" pitchFamily="18" charset="0"/>
                        </a:rPr>
                        <a:t>10</a:t>
                      </a:r>
                      <a:endParaRPr lang="zh-CN" altLang="en-US" sz="2000" dirty="0">
                        <a:latin typeface="Times New Roman" panose="02020603050405020304" pitchFamily="18" charset="0"/>
                        <a:cs typeface="Times New Roman" panose="02020603050405020304" pitchFamily="18" charset="0"/>
                      </a:endParaRPr>
                    </a:p>
                  </a:txBody>
                  <a:tcPr marL="91443" marR="91443" marT="45732" marB="45732"/>
                </a:tc>
                <a:extLst>
                  <a:ext uri="{0D108BD9-81ED-4DB2-BD59-A6C34878D82A}">
                    <a16:rowId xmlns:a16="http://schemas.microsoft.com/office/drawing/2014/main" val="10005"/>
                  </a:ext>
                </a:extLst>
              </a:tr>
            </a:tbl>
          </a:graphicData>
        </a:graphic>
      </p:graphicFrame>
      <p:sp>
        <p:nvSpPr>
          <p:cNvPr id="94307" name="Rectangle 196">
            <a:extLst>
              <a:ext uri="{FF2B5EF4-FFF2-40B4-BE49-F238E27FC236}">
                <a16:creationId xmlns:a16="http://schemas.microsoft.com/office/drawing/2014/main" id="{DEE8915A-991F-445D-86BA-CB134C70191A}"/>
              </a:ext>
            </a:extLst>
          </p:cNvPr>
          <p:cNvSpPr>
            <a:spLocks noChangeArrowheads="1"/>
          </p:cNvSpPr>
          <p:nvPr/>
        </p:nvSpPr>
        <p:spPr bwMode="auto">
          <a:xfrm>
            <a:off x="1949451" y="3789364"/>
            <a:ext cx="44291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sz="2400" b="1" i="1">
                <a:solidFill>
                  <a:srgbClr val="000000"/>
                </a:solidFill>
                <a:ea typeface="楷体_GB2312" pitchFamily="49" charset="-122"/>
              </a:rPr>
              <a:t>S</a:t>
            </a:r>
          </a:p>
        </p:txBody>
      </p:sp>
      <p:sp>
        <p:nvSpPr>
          <p:cNvPr id="7" name="文本框 6">
            <a:extLst>
              <a:ext uri="{FF2B5EF4-FFF2-40B4-BE49-F238E27FC236}">
                <a16:creationId xmlns:a16="http://schemas.microsoft.com/office/drawing/2014/main" id="{992959C0-7B2A-4807-80AC-3F591BAF1BA6}"/>
              </a:ext>
            </a:extLst>
          </p:cNvPr>
          <p:cNvSpPr txBox="1">
            <a:spLocks noChangeArrowheads="1"/>
          </p:cNvSpPr>
          <p:nvPr/>
        </p:nvSpPr>
        <p:spPr bwMode="auto">
          <a:xfrm>
            <a:off x="5502276" y="5373688"/>
            <a:ext cx="4410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a:spcBef>
                <a:spcPct val="0"/>
              </a:spcBef>
              <a:buClrTx/>
              <a:buSzTx/>
              <a:buFontTx/>
              <a:buNone/>
            </a:pPr>
            <a:r>
              <a:rPr lang="zh-CN" altLang="en-US" sz="2000" dirty="0">
                <a:latin typeface="微软雅黑" panose="020B0503020204020204" pitchFamily="34" charset="-122"/>
              </a:rPr>
              <a:t>非等值连接</a:t>
            </a:r>
          </a:p>
        </p:txBody>
      </p:sp>
      <p:sp>
        <p:nvSpPr>
          <p:cNvPr id="5" name="灯片编号占位符 4">
            <a:extLst>
              <a:ext uri="{FF2B5EF4-FFF2-40B4-BE49-F238E27FC236}">
                <a16:creationId xmlns:a16="http://schemas.microsoft.com/office/drawing/2014/main" id="{382C9DAD-FDC0-4FD9-A688-D348C9A9AB6D}"/>
              </a:ext>
            </a:extLst>
          </p:cNvPr>
          <p:cNvSpPr>
            <a:spLocks noGrp="1"/>
          </p:cNvSpPr>
          <p:nvPr>
            <p:ph type="sldNum" sz="quarter" idx="12"/>
          </p:nvPr>
        </p:nvSpPr>
        <p:spPr/>
        <p:txBody>
          <a:bodyPr/>
          <a:lstStyle/>
          <a:p>
            <a:fld id="{47C9E101-E51D-431E-84FA-C029B8655B60}" type="slidenum">
              <a:rPr lang="zh-CN" altLang="en-US" smtClean="0"/>
              <a:pPr/>
              <a:t>73</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par>
                                <p:cTn id="8" presetID="16" presetClass="entr" presetSubtype="21"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inVertic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0BFA1074-3CF2-42A4-AF3A-6D916508D87C}"/>
              </a:ext>
            </a:extLst>
          </p:cNvPr>
          <p:cNvSpPr>
            <a:spLocks noGrp="1" noChangeArrowheads="1"/>
          </p:cNvSpPr>
          <p:nvPr>
            <p:ph type="title"/>
          </p:nvPr>
        </p:nvSpPr>
        <p:spPr/>
        <p:txBody>
          <a:bodyPr/>
          <a:lstStyle/>
          <a:p>
            <a:r>
              <a:rPr lang="zh-CN" altLang="en-US"/>
              <a:t>连接</a:t>
            </a:r>
            <a:r>
              <a:rPr lang="en-US" altLang="zh-CN"/>
              <a:t>(</a:t>
            </a:r>
            <a:r>
              <a:rPr lang="zh-CN" altLang="en-US"/>
              <a:t>续</a:t>
            </a:r>
            <a:r>
              <a:rPr lang="en-US" altLang="zh-CN"/>
              <a:t>)</a:t>
            </a:r>
          </a:p>
        </p:txBody>
      </p:sp>
      <p:sp>
        <p:nvSpPr>
          <p:cNvPr id="3" name="内容占位符 2">
            <a:extLst>
              <a:ext uri="{FF2B5EF4-FFF2-40B4-BE49-F238E27FC236}">
                <a16:creationId xmlns:a16="http://schemas.microsoft.com/office/drawing/2014/main" id="{9DE0617B-B2AC-411D-81F4-74F587ABFF1B}"/>
              </a:ext>
            </a:extLst>
          </p:cNvPr>
          <p:cNvSpPr>
            <a:spLocks noGrp="1"/>
          </p:cNvSpPr>
          <p:nvPr>
            <p:ph idx="1"/>
          </p:nvPr>
        </p:nvSpPr>
        <p:spPr/>
        <p:txBody>
          <a:bodyPr/>
          <a:lstStyle/>
          <a:p>
            <a:r>
              <a:rPr lang="zh-CN" altLang="en-US" dirty="0"/>
              <a:t>例</a:t>
            </a:r>
            <a:r>
              <a:rPr lang="en-US" altLang="zh-CN" dirty="0"/>
              <a:t>5 :(</a:t>
            </a:r>
            <a:r>
              <a:rPr lang="zh-CN" altLang="en-US" dirty="0"/>
              <a:t>续</a:t>
            </a:r>
            <a:r>
              <a:rPr lang="en-US" altLang="zh-CN" dirty="0"/>
              <a:t>)</a:t>
            </a:r>
          </a:p>
          <a:p>
            <a:endParaRPr lang="zh-CN" altLang="en-US" dirty="0"/>
          </a:p>
        </p:txBody>
      </p:sp>
      <p:sp>
        <p:nvSpPr>
          <p:cNvPr id="95235" name="Rectangle 196">
            <a:extLst>
              <a:ext uri="{FF2B5EF4-FFF2-40B4-BE49-F238E27FC236}">
                <a16:creationId xmlns:a16="http://schemas.microsoft.com/office/drawing/2014/main" id="{5C028094-33F6-45AA-8A62-9B0D9509B0ED}"/>
              </a:ext>
            </a:extLst>
          </p:cNvPr>
          <p:cNvSpPr>
            <a:spLocks noChangeArrowheads="1"/>
          </p:cNvSpPr>
          <p:nvPr/>
        </p:nvSpPr>
        <p:spPr bwMode="auto">
          <a:xfrm>
            <a:off x="1949451" y="1660526"/>
            <a:ext cx="44291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sz="2400" b="1" i="1">
                <a:solidFill>
                  <a:srgbClr val="000000"/>
                </a:solidFill>
                <a:ea typeface="楷体_GB2312" pitchFamily="49" charset="-122"/>
              </a:rPr>
              <a:t>R</a:t>
            </a:r>
          </a:p>
        </p:txBody>
      </p:sp>
      <p:graphicFrame>
        <p:nvGraphicFramePr>
          <p:cNvPr id="175" name="表格 174">
            <a:extLst>
              <a:ext uri="{FF2B5EF4-FFF2-40B4-BE49-F238E27FC236}">
                <a16:creationId xmlns:a16="http://schemas.microsoft.com/office/drawing/2014/main" id="{54B0A3A4-7B21-42E5-8EED-FA759BD14136}"/>
              </a:ext>
            </a:extLst>
          </p:cNvPr>
          <p:cNvGraphicFramePr>
            <a:graphicFrameLocks noGrp="1"/>
          </p:cNvGraphicFramePr>
          <p:nvPr/>
        </p:nvGraphicFramePr>
        <p:xfrm>
          <a:off x="2424113" y="1716088"/>
          <a:ext cx="1939926" cy="1981200"/>
        </p:xfrm>
        <a:graphic>
          <a:graphicData uri="http://schemas.openxmlformats.org/drawingml/2006/table">
            <a:tbl>
              <a:tblPr firstRow="1" bandRow="1">
                <a:tableStyleId>{5C22544A-7EE6-4342-B048-85BDC9FD1C3A}</a:tableStyleId>
              </a:tblPr>
              <a:tblGrid>
                <a:gridCol w="646642">
                  <a:extLst>
                    <a:ext uri="{9D8B030D-6E8A-4147-A177-3AD203B41FA5}">
                      <a16:colId xmlns:a16="http://schemas.microsoft.com/office/drawing/2014/main" val="20000"/>
                    </a:ext>
                  </a:extLst>
                </a:gridCol>
                <a:gridCol w="646642">
                  <a:extLst>
                    <a:ext uri="{9D8B030D-6E8A-4147-A177-3AD203B41FA5}">
                      <a16:colId xmlns:a16="http://schemas.microsoft.com/office/drawing/2014/main" val="20001"/>
                    </a:ext>
                  </a:extLst>
                </a:gridCol>
                <a:gridCol w="646642">
                  <a:extLst>
                    <a:ext uri="{9D8B030D-6E8A-4147-A177-3AD203B41FA5}">
                      <a16:colId xmlns:a16="http://schemas.microsoft.com/office/drawing/2014/main" val="20002"/>
                    </a:ext>
                  </a:extLst>
                </a:gridCol>
              </a:tblGrid>
              <a:tr h="370840">
                <a:tc>
                  <a:txBody>
                    <a:bodyPr/>
                    <a:lstStyle/>
                    <a:p>
                      <a:pPr algn="ctr"/>
                      <a:r>
                        <a:rPr lang="en-US" altLang="zh-CN" sz="2000" i="1" dirty="0">
                          <a:latin typeface="Times New Roman" panose="02020603050405020304" pitchFamily="18" charset="0"/>
                          <a:cs typeface="Times New Roman" panose="02020603050405020304" pitchFamily="18" charset="0"/>
                        </a:rPr>
                        <a:t>A</a:t>
                      </a:r>
                      <a:endParaRPr lang="zh-CN" altLang="en-US" sz="2000" i="1"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i="1" dirty="0">
                          <a:latin typeface="Times New Roman" panose="02020603050405020304" pitchFamily="18" charset="0"/>
                          <a:cs typeface="Times New Roman" panose="02020603050405020304" pitchFamily="18" charset="0"/>
                        </a:rPr>
                        <a:t>B</a:t>
                      </a:r>
                      <a:endParaRPr lang="zh-CN" altLang="en-US" sz="2000" i="1"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i="1" dirty="0">
                          <a:latin typeface="Times New Roman" panose="02020603050405020304" pitchFamily="18" charset="0"/>
                          <a:cs typeface="Times New Roman" panose="02020603050405020304" pitchFamily="18" charset="0"/>
                        </a:rPr>
                        <a:t>C</a:t>
                      </a:r>
                      <a:endParaRPr lang="zh-CN" altLang="en-US" sz="2000" i="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pPr algn="ctr" eaLnBrk="1" hangingPunct="1">
                        <a:spcBef>
                          <a:spcPct val="0"/>
                        </a:spcBef>
                        <a:buClrTx/>
                        <a:buSzTx/>
                        <a:buFontTx/>
                        <a:buNone/>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5</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i="0"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6</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8</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4</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12</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graphicFrame>
        <p:nvGraphicFramePr>
          <p:cNvPr id="176" name="表格 175">
            <a:extLst>
              <a:ext uri="{FF2B5EF4-FFF2-40B4-BE49-F238E27FC236}">
                <a16:creationId xmlns:a16="http://schemas.microsoft.com/office/drawing/2014/main" id="{E0C326AC-5A55-4B9D-907A-A951AAFAF057}"/>
              </a:ext>
            </a:extLst>
          </p:cNvPr>
          <p:cNvGraphicFramePr>
            <a:graphicFrameLocks noGrp="1"/>
          </p:cNvGraphicFramePr>
          <p:nvPr/>
        </p:nvGraphicFramePr>
        <p:xfrm>
          <a:off x="2424113" y="3860801"/>
          <a:ext cx="1943100" cy="2301873"/>
        </p:xfrm>
        <a:graphic>
          <a:graphicData uri="http://schemas.openxmlformats.org/drawingml/2006/table">
            <a:tbl>
              <a:tblPr firstRow="1" bandRow="1">
                <a:tableStyleId>{5C22544A-7EE6-4342-B048-85BDC9FD1C3A}</a:tableStyleId>
              </a:tblPr>
              <a:tblGrid>
                <a:gridCol w="9715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tblGrid>
              <a:tr h="370942">
                <a:tc>
                  <a:txBody>
                    <a:bodyPr/>
                    <a:lstStyle/>
                    <a:p>
                      <a:pPr algn="ctr"/>
                      <a:r>
                        <a:rPr lang="en-US" altLang="zh-CN" sz="1800" i="1" dirty="0">
                          <a:latin typeface="Times New Roman" panose="02020603050405020304" pitchFamily="18" charset="0"/>
                          <a:cs typeface="Times New Roman" panose="02020603050405020304" pitchFamily="18" charset="0"/>
                        </a:rPr>
                        <a:t>B</a:t>
                      </a:r>
                      <a:endParaRPr lang="zh-CN" altLang="en-US" sz="1800" i="1" dirty="0">
                        <a:latin typeface="Times New Roman" panose="02020603050405020304" pitchFamily="18" charset="0"/>
                        <a:cs typeface="Times New Roman" panose="02020603050405020304" pitchFamily="18" charset="0"/>
                      </a:endParaRPr>
                    </a:p>
                  </a:txBody>
                  <a:tcPr marL="91388" marR="91388" marT="45733" marB="45733"/>
                </a:tc>
                <a:tc>
                  <a:txBody>
                    <a:bodyPr/>
                    <a:lstStyle/>
                    <a:p>
                      <a:pPr algn="ctr"/>
                      <a:r>
                        <a:rPr lang="en-US" altLang="zh-CN" sz="1800" i="1" dirty="0">
                          <a:latin typeface="Times New Roman" panose="02020603050405020304" pitchFamily="18" charset="0"/>
                          <a:cs typeface="Times New Roman" panose="02020603050405020304" pitchFamily="18" charset="0"/>
                        </a:rPr>
                        <a:t>E</a:t>
                      </a:r>
                      <a:endParaRPr lang="zh-CN" altLang="en-US" sz="1800" i="1"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0"/>
                  </a:ext>
                </a:extLst>
              </a:tr>
              <a:tr h="39634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388" marR="91388" marT="45733" marB="45733"/>
                </a:tc>
                <a:tc>
                  <a:txBody>
                    <a:bodyPr/>
                    <a:lstStyle/>
                    <a:p>
                      <a:pPr algn="ctr"/>
                      <a:r>
                        <a:rPr lang="en-US" altLang="zh-CN" sz="1800" dirty="0">
                          <a:latin typeface="Times New Roman" panose="02020603050405020304" pitchFamily="18" charset="0"/>
                          <a:cs typeface="Times New Roman" panose="02020603050405020304" pitchFamily="18" charset="0"/>
                        </a:rPr>
                        <a:t>3</a:t>
                      </a:r>
                      <a:endParaRPr lang="zh-CN" altLang="en-US" sz="1800"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1"/>
                  </a:ext>
                </a:extLst>
              </a:tr>
              <a:tr h="39634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i="0"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388" marR="91388" marT="45733" marB="45733"/>
                </a:tc>
                <a:tc>
                  <a:txBody>
                    <a:bodyPr/>
                    <a:lstStyle/>
                    <a:p>
                      <a:pPr algn="ctr"/>
                      <a:r>
                        <a:rPr lang="en-US" altLang="zh-CN" sz="1800" dirty="0">
                          <a:latin typeface="Times New Roman" panose="02020603050405020304" pitchFamily="18" charset="0"/>
                          <a:cs typeface="Times New Roman" panose="02020603050405020304" pitchFamily="18" charset="0"/>
                        </a:rPr>
                        <a:t>7</a:t>
                      </a:r>
                      <a:endParaRPr lang="zh-CN" altLang="en-US" sz="1800"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2"/>
                  </a:ext>
                </a:extLst>
              </a:tr>
              <a:tr h="39634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388" marR="91388" marT="45733" marB="45733"/>
                </a:tc>
                <a:tc>
                  <a:txBody>
                    <a:bodyPr/>
                    <a:lstStyle/>
                    <a:p>
                      <a:pPr algn="ctr"/>
                      <a:r>
                        <a:rPr lang="en-US" altLang="zh-CN" sz="1800" dirty="0">
                          <a:latin typeface="Times New Roman" panose="02020603050405020304" pitchFamily="18" charset="0"/>
                          <a:cs typeface="Times New Roman" panose="02020603050405020304" pitchFamily="18" charset="0"/>
                        </a:rPr>
                        <a:t>10</a:t>
                      </a:r>
                      <a:endParaRPr lang="zh-CN" altLang="en-US" sz="1800"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3"/>
                  </a:ext>
                </a:extLst>
              </a:tr>
              <a:tr h="37094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18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18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1800" b="1" dirty="0">
                        <a:solidFill>
                          <a:srgbClr val="000000"/>
                        </a:solidFill>
                        <a:latin typeface="Times New Roman" panose="02020603050405020304" pitchFamily="18" charset="0"/>
                        <a:ea typeface="+mn-ea"/>
                        <a:cs typeface="Times New Roman" panose="02020603050405020304" pitchFamily="18" charset="0"/>
                      </a:endParaRPr>
                    </a:p>
                  </a:txBody>
                  <a:tcPr marL="91388" marR="91388" marT="45733" marB="45733"/>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4"/>
                  </a:ext>
                </a:extLst>
              </a:tr>
              <a:tr h="37094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18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1800" b="1" baseline="-30000" dirty="0">
                          <a:solidFill>
                            <a:srgbClr val="000000"/>
                          </a:solidFill>
                          <a:latin typeface="Times New Roman" panose="02020603050405020304" pitchFamily="18" charset="0"/>
                          <a:ea typeface="+mn-ea"/>
                          <a:cs typeface="Times New Roman" panose="02020603050405020304" pitchFamily="18" charset="0"/>
                        </a:rPr>
                        <a:t>5</a:t>
                      </a:r>
                      <a:endParaRPr kumimoji="1" lang="en-US" altLang="zh-CN" sz="1800" b="1" dirty="0">
                        <a:solidFill>
                          <a:srgbClr val="000000"/>
                        </a:solidFill>
                        <a:latin typeface="Times New Roman" panose="02020603050405020304" pitchFamily="18" charset="0"/>
                        <a:ea typeface="+mn-ea"/>
                        <a:cs typeface="Times New Roman" panose="02020603050405020304" pitchFamily="18" charset="0"/>
                      </a:endParaRPr>
                    </a:p>
                  </a:txBody>
                  <a:tcPr marL="91388" marR="91388" marT="45733" marB="45733"/>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5"/>
                  </a:ext>
                </a:extLst>
              </a:tr>
            </a:tbl>
          </a:graphicData>
        </a:graphic>
      </p:graphicFrame>
      <p:sp>
        <p:nvSpPr>
          <p:cNvPr id="95285" name="Rectangle 196">
            <a:extLst>
              <a:ext uri="{FF2B5EF4-FFF2-40B4-BE49-F238E27FC236}">
                <a16:creationId xmlns:a16="http://schemas.microsoft.com/office/drawing/2014/main" id="{D3692902-AA1C-4816-B3F9-174A455A62C6}"/>
              </a:ext>
            </a:extLst>
          </p:cNvPr>
          <p:cNvSpPr>
            <a:spLocks noChangeArrowheads="1"/>
          </p:cNvSpPr>
          <p:nvPr/>
        </p:nvSpPr>
        <p:spPr bwMode="auto">
          <a:xfrm>
            <a:off x="1949451" y="3789364"/>
            <a:ext cx="44291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sz="2400" b="1" i="1">
                <a:solidFill>
                  <a:srgbClr val="000000"/>
                </a:solidFill>
                <a:ea typeface="楷体_GB2312" pitchFamily="49" charset="-122"/>
              </a:rPr>
              <a:t>S</a:t>
            </a:r>
          </a:p>
        </p:txBody>
      </p:sp>
      <p:graphicFrame>
        <p:nvGraphicFramePr>
          <p:cNvPr id="183" name="表格 182">
            <a:extLst>
              <a:ext uri="{FF2B5EF4-FFF2-40B4-BE49-F238E27FC236}">
                <a16:creationId xmlns:a16="http://schemas.microsoft.com/office/drawing/2014/main" id="{F6339357-676E-4E59-AF65-0B33F65C2FD7}"/>
              </a:ext>
            </a:extLst>
          </p:cNvPr>
          <p:cNvGraphicFramePr>
            <a:graphicFrameLocks noGrp="1"/>
          </p:cNvGraphicFramePr>
          <p:nvPr/>
        </p:nvGraphicFramePr>
        <p:xfrm>
          <a:off x="5519738" y="2852738"/>
          <a:ext cx="4392610" cy="1981200"/>
        </p:xfrm>
        <a:graphic>
          <a:graphicData uri="http://schemas.openxmlformats.org/drawingml/2006/table">
            <a:tbl>
              <a:tblPr firstRow="1" bandRow="1">
                <a:tableStyleId>{5C22544A-7EE6-4342-B048-85BDC9FD1C3A}</a:tableStyleId>
              </a:tblPr>
              <a:tblGrid>
                <a:gridCol w="878522">
                  <a:extLst>
                    <a:ext uri="{9D8B030D-6E8A-4147-A177-3AD203B41FA5}">
                      <a16:colId xmlns:a16="http://schemas.microsoft.com/office/drawing/2014/main" val="20000"/>
                    </a:ext>
                  </a:extLst>
                </a:gridCol>
                <a:gridCol w="878522">
                  <a:extLst>
                    <a:ext uri="{9D8B030D-6E8A-4147-A177-3AD203B41FA5}">
                      <a16:colId xmlns:a16="http://schemas.microsoft.com/office/drawing/2014/main" val="20001"/>
                    </a:ext>
                  </a:extLst>
                </a:gridCol>
                <a:gridCol w="878522">
                  <a:extLst>
                    <a:ext uri="{9D8B030D-6E8A-4147-A177-3AD203B41FA5}">
                      <a16:colId xmlns:a16="http://schemas.microsoft.com/office/drawing/2014/main" val="20002"/>
                    </a:ext>
                  </a:extLst>
                </a:gridCol>
                <a:gridCol w="878522">
                  <a:extLst>
                    <a:ext uri="{9D8B030D-6E8A-4147-A177-3AD203B41FA5}">
                      <a16:colId xmlns:a16="http://schemas.microsoft.com/office/drawing/2014/main" val="20003"/>
                    </a:ext>
                  </a:extLst>
                </a:gridCol>
                <a:gridCol w="878522">
                  <a:extLst>
                    <a:ext uri="{9D8B030D-6E8A-4147-A177-3AD203B41FA5}">
                      <a16:colId xmlns:a16="http://schemas.microsoft.com/office/drawing/2014/main" val="20004"/>
                    </a:ext>
                  </a:extLst>
                </a:gridCol>
              </a:tblGrid>
              <a:tr h="370840">
                <a:tc>
                  <a:txBody>
                    <a:bodyPr/>
                    <a:lstStyle/>
                    <a:p>
                      <a:pPr algn="ctr"/>
                      <a:r>
                        <a:rPr lang="en-US" altLang="zh-CN" sz="2000" i="1" dirty="0">
                          <a:latin typeface="Times New Roman" panose="02020603050405020304" pitchFamily="18" charset="0"/>
                          <a:cs typeface="Times New Roman" panose="02020603050405020304" pitchFamily="18" charset="0"/>
                        </a:rPr>
                        <a:t>A</a:t>
                      </a:r>
                      <a:endParaRPr lang="zh-CN" altLang="en-US" sz="2000" i="1" dirty="0">
                        <a:latin typeface="Times New Roman" panose="02020603050405020304" pitchFamily="18" charset="0"/>
                        <a:cs typeface="Times New Roman" panose="02020603050405020304" pitchFamily="18" charset="0"/>
                      </a:endParaRPr>
                    </a:p>
                  </a:txBody>
                  <a:tcPr marL="91443" marR="91443"/>
                </a:tc>
                <a:tc>
                  <a:txBody>
                    <a:bodyPr/>
                    <a:lstStyle/>
                    <a:p>
                      <a:pPr algn="ctr"/>
                      <a:r>
                        <a:rPr lang="en-US" altLang="zh-CN" sz="2000" i="1" dirty="0">
                          <a:latin typeface="Times New Roman" panose="02020603050405020304" pitchFamily="18" charset="0"/>
                          <a:cs typeface="Times New Roman" panose="02020603050405020304" pitchFamily="18" charset="0"/>
                        </a:rPr>
                        <a:t>R.B</a:t>
                      </a:r>
                      <a:endParaRPr lang="zh-CN" altLang="en-US" sz="2000" i="1" dirty="0">
                        <a:latin typeface="Times New Roman" panose="02020603050405020304" pitchFamily="18" charset="0"/>
                        <a:cs typeface="Times New Roman" panose="02020603050405020304" pitchFamily="18" charset="0"/>
                      </a:endParaRPr>
                    </a:p>
                  </a:txBody>
                  <a:tcPr marL="91443" marR="91443"/>
                </a:tc>
                <a:tc>
                  <a:txBody>
                    <a:bodyPr/>
                    <a:lstStyle/>
                    <a:p>
                      <a:pPr algn="ctr"/>
                      <a:r>
                        <a:rPr lang="en-US" altLang="zh-CN" sz="2000" i="1" dirty="0">
                          <a:latin typeface="Times New Roman" panose="02020603050405020304" pitchFamily="18" charset="0"/>
                          <a:cs typeface="Times New Roman" panose="02020603050405020304" pitchFamily="18" charset="0"/>
                        </a:rPr>
                        <a:t>C</a:t>
                      </a:r>
                      <a:endParaRPr lang="zh-CN" altLang="en-US" sz="2000" i="1" dirty="0">
                        <a:latin typeface="Times New Roman" panose="02020603050405020304" pitchFamily="18" charset="0"/>
                        <a:cs typeface="Times New Roman" panose="02020603050405020304" pitchFamily="18" charset="0"/>
                      </a:endParaRPr>
                    </a:p>
                  </a:txBody>
                  <a:tcPr marL="91443" marR="91443"/>
                </a:tc>
                <a:tc>
                  <a:txBody>
                    <a:bodyPr/>
                    <a:lstStyle/>
                    <a:p>
                      <a:pPr algn="ctr"/>
                      <a:r>
                        <a:rPr lang="en-US" altLang="zh-CN" sz="2000" i="1" dirty="0">
                          <a:latin typeface="Times New Roman" panose="02020603050405020304" pitchFamily="18" charset="0"/>
                          <a:cs typeface="Times New Roman" panose="02020603050405020304" pitchFamily="18" charset="0"/>
                        </a:rPr>
                        <a:t>S.B</a:t>
                      </a:r>
                      <a:endParaRPr lang="zh-CN" altLang="en-US" sz="2000" i="1" dirty="0">
                        <a:latin typeface="Times New Roman" panose="02020603050405020304" pitchFamily="18" charset="0"/>
                        <a:cs typeface="Times New Roman" panose="02020603050405020304" pitchFamily="18" charset="0"/>
                      </a:endParaRPr>
                    </a:p>
                  </a:txBody>
                  <a:tcPr marL="91443" marR="91443"/>
                </a:tc>
                <a:tc>
                  <a:txBody>
                    <a:bodyPr/>
                    <a:lstStyle/>
                    <a:p>
                      <a:pPr algn="ctr"/>
                      <a:r>
                        <a:rPr lang="en-US" altLang="zh-CN" sz="2000" i="1" dirty="0">
                          <a:latin typeface="Times New Roman" panose="02020603050405020304" pitchFamily="18" charset="0"/>
                          <a:cs typeface="Times New Roman" panose="02020603050405020304" pitchFamily="18" charset="0"/>
                        </a:rPr>
                        <a:t>E</a:t>
                      </a:r>
                      <a:endParaRPr lang="zh-CN" altLang="en-US" sz="2000" i="1" dirty="0">
                        <a:latin typeface="Times New Roman" panose="02020603050405020304" pitchFamily="18" charset="0"/>
                        <a:cs typeface="Times New Roman" panose="02020603050405020304" pitchFamily="18" charset="0"/>
                      </a:endParaRPr>
                    </a:p>
                  </a:txBody>
                  <a:tcPr marL="91443" marR="91443"/>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a:tc>
                <a:tc>
                  <a:txBody>
                    <a:bodyPr/>
                    <a:lstStyle/>
                    <a:p>
                      <a:pPr algn="ctr"/>
                      <a:r>
                        <a:rPr lang="en-US" altLang="zh-CN" sz="2000" dirty="0">
                          <a:latin typeface="Times New Roman" panose="02020603050405020304" pitchFamily="18" charset="0"/>
                          <a:cs typeface="Times New Roman" panose="02020603050405020304" pitchFamily="18" charset="0"/>
                        </a:rPr>
                        <a:t>5</a:t>
                      </a:r>
                      <a:endParaRPr lang="zh-CN" altLang="en-US" sz="2000" dirty="0">
                        <a:latin typeface="Times New Roman" panose="02020603050405020304" pitchFamily="18" charset="0"/>
                        <a:cs typeface="Times New Roman" panose="02020603050405020304" pitchFamily="18" charset="0"/>
                      </a:endParaRPr>
                    </a:p>
                  </a:txBody>
                  <a:tcPr marL="91443" marR="9144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a:tc>
                <a:tc>
                  <a:txBody>
                    <a:bodyPr/>
                    <a:lstStyle/>
                    <a:p>
                      <a:pPr algn="ctr"/>
                      <a:r>
                        <a:rPr lang="en-US" altLang="zh-CN" sz="2000" dirty="0">
                          <a:latin typeface="Times New Roman" panose="02020603050405020304" pitchFamily="18" charset="0"/>
                          <a:cs typeface="Times New Roman" panose="02020603050405020304" pitchFamily="18" charset="0"/>
                        </a:rPr>
                        <a:t>3</a:t>
                      </a:r>
                      <a:endParaRPr lang="zh-CN" altLang="en-US" sz="2000" dirty="0">
                        <a:latin typeface="Times New Roman" panose="02020603050405020304" pitchFamily="18" charset="0"/>
                        <a:cs typeface="Times New Roman" panose="02020603050405020304" pitchFamily="18" charset="0"/>
                      </a:endParaRPr>
                    </a:p>
                  </a:txBody>
                  <a:tcPr marL="91443" marR="91443"/>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a:tc>
                <a:tc>
                  <a:txBody>
                    <a:bodyPr/>
                    <a:lstStyle/>
                    <a:p>
                      <a:pPr algn="ctr"/>
                      <a:r>
                        <a:rPr lang="en-US" altLang="zh-CN" sz="2000" dirty="0">
                          <a:latin typeface="Times New Roman" panose="02020603050405020304" pitchFamily="18" charset="0"/>
                          <a:cs typeface="Times New Roman" panose="02020603050405020304" pitchFamily="18" charset="0"/>
                        </a:rPr>
                        <a:t>6</a:t>
                      </a:r>
                      <a:endParaRPr lang="zh-CN" altLang="en-US" sz="2000" dirty="0">
                        <a:latin typeface="Times New Roman" panose="02020603050405020304" pitchFamily="18" charset="0"/>
                        <a:cs typeface="Times New Roman" panose="02020603050405020304" pitchFamily="18" charset="0"/>
                      </a:endParaRPr>
                    </a:p>
                  </a:txBody>
                  <a:tcPr marL="91443" marR="9144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a:tc>
                <a:tc>
                  <a:txBody>
                    <a:bodyPr/>
                    <a:lstStyle/>
                    <a:p>
                      <a:pPr algn="ctr"/>
                      <a:r>
                        <a:rPr lang="en-US" altLang="zh-CN" sz="2000" dirty="0">
                          <a:latin typeface="Times New Roman" panose="02020603050405020304" pitchFamily="18" charset="0"/>
                          <a:cs typeface="Times New Roman" panose="02020603050405020304" pitchFamily="18" charset="0"/>
                        </a:rPr>
                        <a:t>7</a:t>
                      </a:r>
                      <a:endParaRPr lang="zh-CN" altLang="en-US" sz="2000" dirty="0">
                        <a:latin typeface="Times New Roman" panose="02020603050405020304" pitchFamily="18" charset="0"/>
                        <a:cs typeface="Times New Roman" panose="02020603050405020304" pitchFamily="18" charset="0"/>
                      </a:endParaRPr>
                    </a:p>
                  </a:txBody>
                  <a:tcPr marL="91443" marR="91443"/>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a:tc>
                <a:tc>
                  <a:txBody>
                    <a:bodyPr/>
                    <a:lstStyle/>
                    <a:p>
                      <a:pPr algn="ctr"/>
                      <a:r>
                        <a:rPr lang="en-US" altLang="zh-CN" sz="2000" dirty="0">
                          <a:latin typeface="Times New Roman" panose="02020603050405020304" pitchFamily="18" charset="0"/>
                          <a:cs typeface="Times New Roman" panose="02020603050405020304" pitchFamily="18" charset="0"/>
                        </a:rPr>
                        <a:t>8</a:t>
                      </a:r>
                      <a:endParaRPr lang="zh-CN" altLang="en-US" sz="2000" dirty="0">
                        <a:latin typeface="Times New Roman" panose="02020603050405020304" pitchFamily="18" charset="0"/>
                        <a:cs typeface="Times New Roman" panose="02020603050405020304" pitchFamily="18" charset="0"/>
                      </a:endParaRPr>
                    </a:p>
                  </a:txBody>
                  <a:tcPr marL="91443" marR="9144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a:tc>
                <a:tc>
                  <a:txBody>
                    <a:bodyPr/>
                    <a:lstStyle/>
                    <a:p>
                      <a:pPr algn="ctr"/>
                      <a:r>
                        <a:rPr lang="en-US" altLang="zh-CN" sz="2000" dirty="0">
                          <a:latin typeface="Times New Roman" panose="02020603050405020304" pitchFamily="18" charset="0"/>
                          <a:cs typeface="Times New Roman" panose="02020603050405020304" pitchFamily="18" charset="0"/>
                        </a:rPr>
                        <a:t>10</a:t>
                      </a:r>
                      <a:endParaRPr lang="zh-CN" altLang="en-US" sz="2000" dirty="0">
                        <a:latin typeface="Times New Roman" panose="02020603050405020304" pitchFamily="18" charset="0"/>
                        <a:cs typeface="Times New Roman" panose="02020603050405020304" pitchFamily="18" charset="0"/>
                      </a:endParaRPr>
                    </a:p>
                  </a:txBody>
                  <a:tcPr marL="91443" marR="91443"/>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a:tc>
                <a:tc>
                  <a:txBody>
                    <a:bodyPr/>
                    <a:lstStyle/>
                    <a:p>
                      <a:pPr algn="ctr"/>
                      <a:r>
                        <a:rPr lang="en-US" altLang="zh-CN" sz="2000" dirty="0">
                          <a:latin typeface="Times New Roman" panose="02020603050405020304" pitchFamily="18" charset="0"/>
                          <a:cs typeface="Times New Roman" panose="02020603050405020304" pitchFamily="18" charset="0"/>
                        </a:rPr>
                        <a:t>8</a:t>
                      </a:r>
                      <a:endParaRPr lang="zh-CN" altLang="en-US" sz="2000" dirty="0">
                        <a:latin typeface="Times New Roman" panose="02020603050405020304" pitchFamily="18" charset="0"/>
                        <a:cs typeface="Times New Roman" panose="02020603050405020304" pitchFamily="18" charset="0"/>
                      </a:endParaRPr>
                    </a:p>
                  </a:txBody>
                  <a:tcPr marL="91443" marR="9144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43" marR="91443"/>
                </a:tc>
                <a:tc>
                  <a:txBody>
                    <a:bodyPr/>
                    <a:lstStyle/>
                    <a:p>
                      <a:pPr algn="ctr"/>
                      <a:r>
                        <a:rPr lang="en-US" altLang="zh-CN" sz="2000" dirty="0">
                          <a:latin typeface="Times New Roman" panose="02020603050405020304" pitchFamily="18" charset="0"/>
                          <a:cs typeface="Times New Roman" panose="02020603050405020304" pitchFamily="18" charset="0"/>
                        </a:rPr>
                        <a:t>2</a:t>
                      </a:r>
                      <a:endParaRPr lang="zh-CN" altLang="en-US" sz="2000" dirty="0">
                        <a:latin typeface="Times New Roman" panose="02020603050405020304" pitchFamily="18" charset="0"/>
                        <a:cs typeface="Times New Roman" panose="02020603050405020304" pitchFamily="18" charset="0"/>
                      </a:endParaRPr>
                    </a:p>
                  </a:txBody>
                  <a:tcPr marL="91443" marR="91443"/>
                </a:tc>
                <a:extLst>
                  <a:ext uri="{0D108BD9-81ED-4DB2-BD59-A6C34878D82A}">
                    <a16:rowId xmlns:a16="http://schemas.microsoft.com/office/drawing/2014/main" val="10004"/>
                  </a:ext>
                </a:extLst>
              </a:tr>
            </a:tbl>
          </a:graphicData>
        </a:graphic>
      </p:graphicFrame>
      <p:grpSp>
        <p:nvGrpSpPr>
          <p:cNvPr id="95324" name="组合 183">
            <a:extLst>
              <a:ext uri="{FF2B5EF4-FFF2-40B4-BE49-F238E27FC236}">
                <a16:creationId xmlns:a16="http://schemas.microsoft.com/office/drawing/2014/main" id="{6CC6333F-A62A-42BD-ACAE-F12BFA1A8071}"/>
              </a:ext>
            </a:extLst>
          </p:cNvPr>
          <p:cNvGrpSpPr>
            <a:grpSpLocks/>
          </p:cNvGrpSpPr>
          <p:nvPr/>
        </p:nvGrpSpPr>
        <p:grpSpPr bwMode="auto">
          <a:xfrm>
            <a:off x="5391150" y="2111376"/>
            <a:ext cx="1366838" cy="773113"/>
            <a:chOff x="3866434" y="2111003"/>
            <a:chExt cx="1368078" cy="773897"/>
          </a:xfrm>
        </p:grpSpPr>
        <p:sp>
          <p:nvSpPr>
            <p:cNvPr id="95327" name="AutoShape 385">
              <a:extLst>
                <a:ext uri="{FF2B5EF4-FFF2-40B4-BE49-F238E27FC236}">
                  <a16:creationId xmlns:a16="http://schemas.microsoft.com/office/drawing/2014/main" id="{D39B7F90-BCA7-4DDB-A62F-C9F66B383602}"/>
                </a:ext>
              </a:extLst>
            </p:cNvPr>
            <p:cNvSpPr>
              <a:spLocks noChangeArrowheads="1"/>
            </p:cNvSpPr>
            <p:nvPr/>
          </p:nvSpPr>
          <p:spPr bwMode="auto">
            <a:xfrm rot="16200000" flipV="1">
              <a:off x="4370164" y="2237993"/>
              <a:ext cx="206375" cy="341313"/>
            </a:xfrm>
            <a:prstGeom prst="flowChartCollate">
              <a:avLst/>
            </a:prstGeom>
            <a:solidFill>
              <a:srgbClr val="FFFFFF"/>
            </a:solidFill>
            <a:ln w="6350">
              <a:solidFill>
                <a:srgbClr val="000000"/>
              </a:solidFill>
              <a:miter lim="800000"/>
              <a:headEnd/>
              <a:tailEnd/>
            </a:ln>
          </p:spPr>
          <p:txBody>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95328" name="Rectangle 387">
              <a:extLst>
                <a:ext uri="{FF2B5EF4-FFF2-40B4-BE49-F238E27FC236}">
                  <a16:creationId xmlns:a16="http://schemas.microsoft.com/office/drawing/2014/main" id="{BEA66082-E2D9-417C-A8DE-4A205966E169}"/>
                </a:ext>
              </a:extLst>
            </p:cNvPr>
            <p:cNvSpPr>
              <a:spLocks noChangeArrowheads="1"/>
            </p:cNvSpPr>
            <p:nvPr/>
          </p:nvSpPr>
          <p:spPr bwMode="auto">
            <a:xfrm>
              <a:off x="3978050" y="2511837"/>
              <a:ext cx="990601"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a:lnSpc>
                  <a:spcPct val="80000"/>
                </a:lnSpc>
                <a:spcBef>
                  <a:spcPct val="0"/>
                </a:spcBef>
                <a:buClrTx/>
                <a:buSzTx/>
                <a:buFontTx/>
                <a:buNone/>
              </a:pPr>
              <a:r>
                <a:rPr lang="en-US" altLang="zh-CN" sz="1600" i="1">
                  <a:solidFill>
                    <a:srgbClr val="000000"/>
                  </a:solidFill>
                  <a:ea typeface="楷体_GB2312" pitchFamily="49" charset="-122"/>
                </a:rPr>
                <a:t>R.B=S.B</a:t>
              </a:r>
              <a:endParaRPr kumimoji="1" lang="en-US" altLang="zh-CN" sz="2400">
                <a:solidFill>
                  <a:srgbClr val="000000"/>
                </a:solidFill>
                <a:ea typeface="楷体_GB2312" pitchFamily="49" charset="-122"/>
              </a:endParaRPr>
            </a:p>
          </p:txBody>
        </p:sp>
        <p:sp>
          <p:nvSpPr>
            <p:cNvPr id="95329" name="Rectangle 388">
              <a:extLst>
                <a:ext uri="{FF2B5EF4-FFF2-40B4-BE49-F238E27FC236}">
                  <a16:creationId xmlns:a16="http://schemas.microsoft.com/office/drawing/2014/main" id="{362AEC81-7352-4903-A57E-E5B5DF17BE36}"/>
                </a:ext>
              </a:extLst>
            </p:cNvPr>
            <p:cNvSpPr>
              <a:spLocks noChangeArrowheads="1"/>
            </p:cNvSpPr>
            <p:nvPr/>
          </p:nvSpPr>
          <p:spPr bwMode="auto">
            <a:xfrm>
              <a:off x="3866434" y="2111003"/>
              <a:ext cx="136807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buFont typeface="Wingdings" panose="05000000000000000000" pitchFamily="2" charset="2"/>
                <a:buNone/>
              </a:pPr>
              <a:r>
                <a:rPr lang="en-US" altLang="zh-CN" b="1" i="1">
                  <a:solidFill>
                    <a:srgbClr val="000000"/>
                  </a:solidFill>
                  <a:ea typeface="楷体_GB2312" pitchFamily="49" charset="-122"/>
                </a:rPr>
                <a:t> </a:t>
              </a:r>
              <a:r>
                <a:rPr lang="en-US" altLang="zh-CN" sz="2400" b="1" i="1">
                  <a:solidFill>
                    <a:srgbClr val="000000"/>
                  </a:solidFill>
                  <a:ea typeface="楷体_GB2312" pitchFamily="49" charset="-122"/>
                </a:rPr>
                <a:t>R</a:t>
              </a:r>
              <a:r>
                <a:rPr lang="en-US" altLang="zh-CN" b="1" i="1">
                  <a:solidFill>
                    <a:srgbClr val="000000"/>
                  </a:solidFill>
                  <a:ea typeface="楷体_GB2312" pitchFamily="49" charset="-122"/>
                </a:rPr>
                <a:t> </a:t>
              </a:r>
              <a:r>
                <a:rPr lang="en-US" altLang="zh-CN" b="1">
                  <a:solidFill>
                    <a:srgbClr val="000000"/>
                  </a:solidFill>
                  <a:ea typeface="楷体_GB2312" pitchFamily="49" charset="-122"/>
                </a:rPr>
                <a:t>    </a:t>
              </a:r>
              <a:r>
                <a:rPr lang="en-US" altLang="zh-CN" sz="2400" b="1" i="1">
                  <a:solidFill>
                    <a:srgbClr val="000000"/>
                  </a:solidFill>
                  <a:ea typeface="楷体_GB2312" pitchFamily="49" charset="-122"/>
                </a:rPr>
                <a:t>S</a:t>
              </a:r>
              <a:r>
                <a:rPr lang="en-US" altLang="zh-CN" b="1">
                  <a:solidFill>
                    <a:srgbClr val="000000"/>
                  </a:solidFill>
                  <a:ea typeface="楷体_GB2312" pitchFamily="49" charset="-122"/>
                </a:rPr>
                <a:t> </a:t>
              </a:r>
            </a:p>
          </p:txBody>
        </p:sp>
      </p:grpSp>
      <p:sp>
        <p:nvSpPr>
          <p:cNvPr id="189" name="文本框 188">
            <a:extLst>
              <a:ext uri="{FF2B5EF4-FFF2-40B4-BE49-F238E27FC236}">
                <a16:creationId xmlns:a16="http://schemas.microsoft.com/office/drawing/2014/main" id="{CD40795D-0D5F-4915-802E-97EDB3A0E598}"/>
              </a:ext>
            </a:extLst>
          </p:cNvPr>
          <p:cNvSpPr txBox="1">
            <a:spLocks noChangeArrowheads="1"/>
          </p:cNvSpPr>
          <p:nvPr/>
        </p:nvSpPr>
        <p:spPr bwMode="auto">
          <a:xfrm>
            <a:off x="5502276" y="4941888"/>
            <a:ext cx="4410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a:spcBef>
                <a:spcPct val="0"/>
              </a:spcBef>
              <a:buClrTx/>
              <a:buSzTx/>
              <a:buFontTx/>
              <a:buNone/>
            </a:pPr>
            <a:r>
              <a:rPr lang="zh-CN" altLang="en-US" sz="2000">
                <a:latin typeface="微软雅黑" panose="020B0503020204020204" pitchFamily="34" charset="-122"/>
              </a:rPr>
              <a:t>等值连接</a:t>
            </a:r>
          </a:p>
        </p:txBody>
      </p:sp>
      <p:sp>
        <p:nvSpPr>
          <p:cNvPr id="2" name="灯片编号占位符 1">
            <a:extLst>
              <a:ext uri="{FF2B5EF4-FFF2-40B4-BE49-F238E27FC236}">
                <a16:creationId xmlns:a16="http://schemas.microsoft.com/office/drawing/2014/main" id="{DA3E9856-7097-41AF-80F2-9B3A69F097F8}"/>
              </a:ext>
            </a:extLst>
          </p:cNvPr>
          <p:cNvSpPr>
            <a:spLocks noGrp="1"/>
          </p:cNvSpPr>
          <p:nvPr>
            <p:ph type="sldNum" sz="quarter" idx="12"/>
          </p:nvPr>
        </p:nvSpPr>
        <p:spPr/>
        <p:txBody>
          <a:bodyPr/>
          <a:lstStyle/>
          <a:p>
            <a:fld id="{47C9E101-E51D-431E-84FA-C029B8655B60}" type="slidenum">
              <a:rPr lang="zh-CN" altLang="en-US" smtClean="0"/>
              <a:pPr/>
              <a:t>74</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89"/>
                                        </p:tgtEl>
                                        <p:attrNameLst>
                                          <p:attrName>style.visibility</p:attrName>
                                        </p:attrNameLst>
                                      </p:cBhvr>
                                      <p:to>
                                        <p:strVal val="visible"/>
                                      </p:to>
                                    </p:set>
                                    <p:animEffect transition="in" filter="circle(in)">
                                      <p:cBhvr>
                                        <p:cTn id="7" dur="2000"/>
                                        <p:tgtEl>
                                          <p:spTgt spid="189"/>
                                        </p:tgtEl>
                                      </p:cBhvr>
                                    </p:animEffect>
                                  </p:childTnLst>
                                </p:cTn>
                              </p:par>
                              <p:par>
                                <p:cTn id="8" presetID="6" presetClass="entr" presetSubtype="16" fill="hold" nodeType="withEffect">
                                  <p:stCondLst>
                                    <p:cond delay="0"/>
                                  </p:stCondLst>
                                  <p:childTnLst>
                                    <p:set>
                                      <p:cBhvr>
                                        <p:cTn id="9" dur="1" fill="hold">
                                          <p:stCondLst>
                                            <p:cond delay="0"/>
                                          </p:stCondLst>
                                        </p:cTn>
                                        <p:tgtEl>
                                          <p:spTgt spid="183"/>
                                        </p:tgtEl>
                                        <p:attrNameLst>
                                          <p:attrName>style.visibility</p:attrName>
                                        </p:attrNameLst>
                                      </p:cBhvr>
                                      <p:to>
                                        <p:strVal val="visible"/>
                                      </p:to>
                                    </p:set>
                                    <p:animEffect transition="in" filter="circle(in)">
                                      <p:cBhvr>
                                        <p:cTn id="10" dur="20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C7351A1E-3DE4-47F7-8B06-252EB9AD05C8}"/>
              </a:ext>
            </a:extLst>
          </p:cNvPr>
          <p:cNvSpPr>
            <a:spLocks noGrp="1" noChangeArrowheads="1"/>
          </p:cNvSpPr>
          <p:nvPr>
            <p:ph type="title"/>
          </p:nvPr>
        </p:nvSpPr>
        <p:spPr/>
        <p:txBody>
          <a:bodyPr/>
          <a:lstStyle/>
          <a:p>
            <a:r>
              <a:rPr lang="zh-CN" altLang="en-US"/>
              <a:t>连接</a:t>
            </a:r>
            <a:r>
              <a:rPr lang="en-US" altLang="zh-CN"/>
              <a:t>(</a:t>
            </a:r>
            <a:r>
              <a:rPr lang="zh-CN" altLang="en-US"/>
              <a:t>续</a:t>
            </a:r>
            <a:r>
              <a:rPr lang="en-US" altLang="zh-CN"/>
              <a:t>)</a:t>
            </a:r>
          </a:p>
        </p:txBody>
      </p:sp>
      <p:sp>
        <p:nvSpPr>
          <p:cNvPr id="3" name="内容占位符 2">
            <a:extLst>
              <a:ext uri="{FF2B5EF4-FFF2-40B4-BE49-F238E27FC236}">
                <a16:creationId xmlns:a16="http://schemas.microsoft.com/office/drawing/2014/main" id="{360196D6-F044-4438-A31C-9F988E3148DA}"/>
              </a:ext>
            </a:extLst>
          </p:cNvPr>
          <p:cNvSpPr>
            <a:spLocks noGrp="1"/>
          </p:cNvSpPr>
          <p:nvPr>
            <p:ph idx="1"/>
          </p:nvPr>
        </p:nvSpPr>
        <p:spPr/>
        <p:txBody>
          <a:bodyPr/>
          <a:lstStyle/>
          <a:p>
            <a:r>
              <a:rPr lang="zh-CN" altLang="en-US" dirty="0"/>
              <a:t>例</a:t>
            </a:r>
            <a:r>
              <a:rPr lang="en-US" altLang="zh-CN" dirty="0"/>
              <a:t>5 :(</a:t>
            </a:r>
            <a:r>
              <a:rPr lang="zh-CN" altLang="en-US" dirty="0"/>
              <a:t>续</a:t>
            </a:r>
            <a:r>
              <a:rPr lang="en-US" altLang="zh-CN" dirty="0"/>
              <a:t>)</a:t>
            </a:r>
          </a:p>
        </p:txBody>
      </p:sp>
      <p:sp>
        <p:nvSpPr>
          <p:cNvPr id="96259" name="Rectangle 196">
            <a:extLst>
              <a:ext uri="{FF2B5EF4-FFF2-40B4-BE49-F238E27FC236}">
                <a16:creationId xmlns:a16="http://schemas.microsoft.com/office/drawing/2014/main" id="{09F3C0F9-5884-455C-9660-AE2B27C09A63}"/>
              </a:ext>
            </a:extLst>
          </p:cNvPr>
          <p:cNvSpPr>
            <a:spLocks noChangeArrowheads="1"/>
          </p:cNvSpPr>
          <p:nvPr/>
        </p:nvSpPr>
        <p:spPr bwMode="auto">
          <a:xfrm>
            <a:off x="1949451" y="1660526"/>
            <a:ext cx="44291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sz="2400" b="1" i="1">
                <a:solidFill>
                  <a:srgbClr val="000000"/>
                </a:solidFill>
                <a:ea typeface="楷体_GB2312" pitchFamily="49" charset="-122"/>
              </a:rPr>
              <a:t>R</a:t>
            </a:r>
          </a:p>
        </p:txBody>
      </p:sp>
      <p:graphicFrame>
        <p:nvGraphicFramePr>
          <p:cNvPr id="235" name="表格 234">
            <a:extLst>
              <a:ext uri="{FF2B5EF4-FFF2-40B4-BE49-F238E27FC236}">
                <a16:creationId xmlns:a16="http://schemas.microsoft.com/office/drawing/2014/main" id="{261FE4A9-1DB1-4EDD-835B-6A62AE5DDB0B}"/>
              </a:ext>
            </a:extLst>
          </p:cNvPr>
          <p:cNvGraphicFramePr>
            <a:graphicFrameLocks noGrp="1"/>
          </p:cNvGraphicFramePr>
          <p:nvPr/>
        </p:nvGraphicFramePr>
        <p:xfrm>
          <a:off x="2424113" y="1716088"/>
          <a:ext cx="1939926" cy="1981200"/>
        </p:xfrm>
        <a:graphic>
          <a:graphicData uri="http://schemas.openxmlformats.org/drawingml/2006/table">
            <a:tbl>
              <a:tblPr firstRow="1" bandRow="1">
                <a:tableStyleId>{5C22544A-7EE6-4342-B048-85BDC9FD1C3A}</a:tableStyleId>
              </a:tblPr>
              <a:tblGrid>
                <a:gridCol w="646642">
                  <a:extLst>
                    <a:ext uri="{9D8B030D-6E8A-4147-A177-3AD203B41FA5}">
                      <a16:colId xmlns:a16="http://schemas.microsoft.com/office/drawing/2014/main" val="20000"/>
                    </a:ext>
                  </a:extLst>
                </a:gridCol>
                <a:gridCol w="646642">
                  <a:extLst>
                    <a:ext uri="{9D8B030D-6E8A-4147-A177-3AD203B41FA5}">
                      <a16:colId xmlns:a16="http://schemas.microsoft.com/office/drawing/2014/main" val="20001"/>
                    </a:ext>
                  </a:extLst>
                </a:gridCol>
                <a:gridCol w="646642">
                  <a:extLst>
                    <a:ext uri="{9D8B030D-6E8A-4147-A177-3AD203B41FA5}">
                      <a16:colId xmlns:a16="http://schemas.microsoft.com/office/drawing/2014/main" val="20002"/>
                    </a:ext>
                  </a:extLst>
                </a:gridCol>
              </a:tblGrid>
              <a:tr h="370840">
                <a:tc>
                  <a:txBody>
                    <a:bodyPr/>
                    <a:lstStyle/>
                    <a:p>
                      <a:pPr algn="ctr"/>
                      <a:r>
                        <a:rPr lang="en-US" altLang="zh-CN" sz="2000" i="1" dirty="0">
                          <a:latin typeface="Times New Roman" panose="02020603050405020304" pitchFamily="18" charset="0"/>
                          <a:cs typeface="Times New Roman" panose="02020603050405020304" pitchFamily="18" charset="0"/>
                        </a:rPr>
                        <a:t>A</a:t>
                      </a:r>
                      <a:endParaRPr lang="zh-CN" altLang="en-US" sz="2000" i="1"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i="1" dirty="0">
                          <a:latin typeface="Times New Roman" panose="02020603050405020304" pitchFamily="18" charset="0"/>
                          <a:cs typeface="Times New Roman" panose="02020603050405020304" pitchFamily="18" charset="0"/>
                        </a:rPr>
                        <a:t>B</a:t>
                      </a:r>
                      <a:endParaRPr lang="zh-CN" altLang="en-US" sz="2000" i="1"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i="1" dirty="0">
                          <a:latin typeface="Times New Roman" panose="02020603050405020304" pitchFamily="18" charset="0"/>
                          <a:cs typeface="Times New Roman" panose="02020603050405020304" pitchFamily="18" charset="0"/>
                        </a:rPr>
                        <a:t>C</a:t>
                      </a:r>
                      <a:endParaRPr lang="zh-CN" altLang="en-US" sz="2000" i="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pPr algn="ctr" eaLnBrk="1" hangingPunct="1">
                        <a:spcBef>
                          <a:spcPct val="0"/>
                        </a:spcBef>
                        <a:buClrTx/>
                        <a:buSzTx/>
                        <a:buFontTx/>
                        <a:buNone/>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5</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i="0"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6</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8</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4</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12</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graphicFrame>
        <p:nvGraphicFramePr>
          <p:cNvPr id="236" name="表格 235">
            <a:extLst>
              <a:ext uri="{FF2B5EF4-FFF2-40B4-BE49-F238E27FC236}">
                <a16:creationId xmlns:a16="http://schemas.microsoft.com/office/drawing/2014/main" id="{1EDC8412-E7EB-4954-9734-BD71B1FE3C8A}"/>
              </a:ext>
            </a:extLst>
          </p:cNvPr>
          <p:cNvGraphicFramePr>
            <a:graphicFrameLocks noGrp="1"/>
          </p:cNvGraphicFramePr>
          <p:nvPr/>
        </p:nvGraphicFramePr>
        <p:xfrm>
          <a:off x="2424113" y="3860801"/>
          <a:ext cx="1943100" cy="2301873"/>
        </p:xfrm>
        <a:graphic>
          <a:graphicData uri="http://schemas.openxmlformats.org/drawingml/2006/table">
            <a:tbl>
              <a:tblPr firstRow="1" bandRow="1">
                <a:tableStyleId>{5C22544A-7EE6-4342-B048-85BDC9FD1C3A}</a:tableStyleId>
              </a:tblPr>
              <a:tblGrid>
                <a:gridCol w="9715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tblGrid>
              <a:tr h="370942">
                <a:tc>
                  <a:txBody>
                    <a:bodyPr/>
                    <a:lstStyle/>
                    <a:p>
                      <a:pPr algn="ctr"/>
                      <a:r>
                        <a:rPr lang="en-US" altLang="zh-CN" sz="1800" i="1" dirty="0">
                          <a:latin typeface="Times New Roman" panose="02020603050405020304" pitchFamily="18" charset="0"/>
                          <a:cs typeface="Times New Roman" panose="02020603050405020304" pitchFamily="18" charset="0"/>
                        </a:rPr>
                        <a:t>B</a:t>
                      </a:r>
                      <a:endParaRPr lang="zh-CN" altLang="en-US" sz="1800" i="1" dirty="0">
                        <a:latin typeface="Times New Roman" panose="02020603050405020304" pitchFamily="18" charset="0"/>
                        <a:cs typeface="Times New Roman" panose="02020603050405020304" pitchFamily="18" charset="0"/>
                      </a:endParaRPr>
                    </a:p>
                  </a:txBody>
                  <a:tcPr marL="91388" marR="91388" marT="45733" marB="45733"/>
                </a:tc>
                <a:tc>
                  <a:txBody>
                    <a:bodyPr/>
                    <a:lstStyle/>
                    <a:p>
                      <a:pPr algn="ctr"/>
                      <a:r>
                        <a:rPr lang="en-US" altLang="zh-CN" sz="1800" i="1" dirty="0">
                          <a:latin typeface="Times New Roman" panose="02020603050405020304" pitchFamily="18" charset="0"/>
                          <a:cs typeface="Times New Roman" panose="02020603050405020304" pitchFamily="18" charset="0"/>
                        </a:rPr>
                        <a:t>E</a:t>
                      </a:r>
                      <a:endParaRPr lang="zh-CN" altLang="en-US" sz="1800" i="1"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0"/>
                  </a:ext>
                </a:extLst>
              </a:tr>
              <a:tr h="39634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388" marR="91388" marT="45733" marB="45733"/>
                </a:tc>
                <a:tc>
                  <a:txBody>
                    <a:bodyPr/>
                    <a:lstStyle/>
                    <a:p>
                      <a:pPr algn="ctr"/>
                      <a:r>
                        <a:rPr lang="en-US" altLang="zh-CN" sz="1800" dirty="0">
                          <a:latin typeface="Times New Roman" panose="02020603050405020304" pitchFamily="18" charset="0"/>
                          <a:cs typeface="Times New Roman" panose="02020603050405020304" pitchFamily="18" charset="0"/>
                        </a:rPr>
                        <a:t>3</a:t>
                      </a:r>
                      <a:endParaRPr lang="zh-CN" altLang="en-US" sz="1800"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1"/>
                  </a:ext>
                </a:extLst>
              </a:tr>
              <a:tr h="39634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i="0"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388" marR="91388" marT="45733" marB="45733"/>
                </a:tc>
                <a:tc>
                  <a:txBody>
                    <a:bodyPr/>
                    <a:lstStyle/>
                    <a:p>
                      <a:pPr algn="ctr"/>
                      <a:r>
                        <a:rPr lang="en-US" altLang="zh-CN" sz="1800" dirty="0">
                          <a:latin typeface="Times New Roman" panose="02020603050405020304" pitchFamily="18" charset="0"/>
                          <a:cs typeface="Times New Roman" panose="02020603050405020304" pitchFamily="18" charset="0"/>
                        </a:rPr>
                        <a:t>7</a:t>
                      </a:r>
                      <a:endParaRPr lang="zh-CN" altLang="en-US" sz="1800"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2"/>
                  </a:ext>
                </a:extLst>
              </a:tr>
              <a:tr h="39634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388" marR="91388" marT="45733" marB="45733"/>
                </a:tc>
                <a:tc>
                  <a:txBody>
                    <a:bodyPr/>
                    <a:lstStyle/>
                    <a:p>
                      <a:pPr algn="ctr"/>
                      <a:r>
                        <a:rPr lang="en-US" altLang="zh-CN" sz="1800" dirty="0">
                          <a:latin typeface="Times New Roman" panose="02020603050405020304" pitchFamily="18" charset="0"/>
                          <a:cs typeface="Times New Roman" panose="02020603050405020304" pitchFamily="18" charset="0"/>
                        </a:rPr>
                        <a:t>10</a:t>
                      </a:r>
                      <a:endParaRPr lang="zh-CN" altLang="en-US" sz="1800"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3"/>
                  </a:ext>
                </a:extLst>
              </a:tr>
              <a:tr h="37094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18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18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1800" b="1" dirty="0">
                        <a:solidFill>
                          <a:srgbClr val="000000"/>
                        </a:solidFill>
                        <a:latin typeface="Times New Roman" panose="02020603050405020304" pitchFamily="18" charset="0"/>
                        <a:ea typeface="+mn-ea"/>
                        <a:cs typeface="Times New Roman" panose="02020603050405020304" pitchFamily="18" charset="0"/>
                      </a:endParaRPr>
                    </a:p>
                  </a:txBody>
                  <a:tcPr marL="91388" marR="91388" marT="45733" marB="45733"/>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4"/>
                  </a:ext>
                </a:extLst>
              </a:tr>
              <a:tr h="37094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18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1800" b="1" baseline="-30000" dirty="0">
                          <a:solidFill>
                            <a:srgbClr val="000000"/>
                          </a:solidFill>
                          <a:latin typeface="Times New Roman" panose="02020603050405020304" pitchFamily="18" charset="0"/>
                          <a:ea typeface="+mn-ea"/>
                          <a:cs typeface="Times New Roman" panose="02020603050405020304" pitchFamily="18" charset="0"/>
                        </a:rPr>
                        <a:t>5</a:t>
                      </a:r>
                      <a:endParaRPr kumimoji="1" lang="en-US" altLang="zh-CN" sz="1800" b="1" dirty="0">
                        <a:solidFill>
                          <a:srgbClr val="000000"/>
                        </a:solidFill>
                        <a:latin typeface="Times New Roman" panose="02020603050405020304" pitchFamily="18" charset="0"/>
                        <a:ea typeface="+mn-ea"/>
                        <a:cs typeface="Times New Roman" panose="02020603050405020304" pitchFamily="18" charset="0"/>
                      </a:endParaRPr>
                    </a:p>
                  </a:txBody>
                  <a:tcPr marL="91388" marR="91388" marT="45733" marB="45733"/>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388" marR="91388" marT="45733" marB="45733"/>
                </a:tc>
                <a:extLst>
                  <a:ext uri="{0D108BD9-81ED-4DB2-BD59-A6C34878D82A}">
                    <a16:rowId xmlns:a16="http://schemas.microsoft.com/office/drawing/2014/main" val="10005"/>
                  </a:ext>
                </a:extLst>
              </a:tr>
            </a:tbl>
          </a:graphicData>
        </a:graphic>
      </p:graphicFrame>
      <p:sp>
        <p:nvSpPr>
          <p:cNvPr id="96309" name="Rectangle 196">
            <a:extLst>
              <a:ext uri="{FF2B5EF4-FFF2-40B4-BE49-F238E27FC236}">
                <a16:creationId xmlns:a16="http://schemas.microsoft.com/office/drawing/2014/main" id="{7CB5F0FD-86D1-4DB4-BE25-853F04417B84}"/>
              </a:ext>
            </a:extLst>
          </p:cNvPr>
          <p:cNvSpPr>
            <a:spLocks noChangeArrowheads="1"/>
          </p:cNvSpPr>
          <p:nvPr/>
        </p:nvSpPr>
        <p:spPr bwMode="auto">
          <a:xfrm>
            <a:off x="1949451" y="3789364"/>
            <a:ext cx="44291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sz="2400" b="1" i="1">
                <a:solidFill>
                  <a:srgbClr val="000000"/>
                </a:solidFill>
                <a:ea typeface="楷体_GB2312" pitchFamily="49" charset="-122"/>
              </a:rPr>
              <a:t>S</a:t>
            </a:r>
          </a:p>
        </p:txBody>
      </p:sp>
      <p:graphicFrame>
        <p:nvGraphicFramePr>
          <p:cNvPr id="243" name="表格 242">
            <a:extLst>
              <a:ext uri="{FF2B5EF4-FFF2-40B4-BE49-F238E27FC236}">
                <a16:creationId xmlns:a16="http://schemas.microsoft.com/office/drawing/2014/main" id="{8A365D68-CF3E-4BED-9A9E-944403415B8D}"/>
              </a:ext>
            </a:extLst>
          </p:cNvPr>
          <p:cNvGraphicFramePr>
            <a:graphicFrameLocks noGrp="1"/>
          </p:cNvGraphicFramePr>
          <p:nvPr/>
        </p:nvGraphicFramePr>
        <p:xfrm>
          <a:off x="5519738" y="2852738"/>
          <a:ext cx="3514724" cy="1981200"/>
        </p:xfrm>
        <a:graphic>
          <a:graphicData uri="http://schemas.openxmlformats.org/drawingml/2006/table">
            <a:tbl>
              <a:tblPr firstRow="1" bandRow="1">
                <a:tableStyleId>{5C22544A-7EE6-4342-B048-85BDC9FD1C3A}</a:tableStyleId>
              </a:tblPr>
              <a:tblGrid>
                <a:gridCol w="878681">
                  <a:extLst>
                    <a:ext uri="{9D8B030D-6E8A-4147-A177-3AD203B41FA5}">
                      <a16:colId xmlns:a16="http://schemas.microsoft.com/office/drawing/2014/main" val="20000"/>
                    </a:ext>
                  </a:extLst>
                </a:gridCol>
                <a:gridCol w="878681">
                  <a:extLst>
                    <a:ext uri="{9D8B030D-6E8A-4147-A177-3AD203B41FA5}">
                      <a16:colId xmlns:a16="http://schemas.microsoft.com/office/drawing/2014/main" val="20001"/>
                    </a:ext>
                  </a:extLst>
                </a:gridCol>
                <a:gridCol w="878681">
                  <a:extLst>
                    <a:ext uri="{9D8B030D-6E8A-4147-A177-3AD203B41FA5}">
                      <a16:colId xmlns:a16="http://schemas.microsoft.com/office/drawing/2014/main" val="20002"/>
                    </a:ext>
                  </a:extLst>
                </a:gridCol>
                <a:gridCol w="878681">
                  <a:extLst>
                    <a:ext uri="{9D8B030D-6E8A-4147-A177-3AD203B41FA5}">
                      <a16:colId xmlns:a16="http://schemas.microsoft.com/office/drawing/2014/main" val="20003"/>
                    </a:ext>
                  </a:extLst>
                </a:gridCol>
              </a:tblGrid>
              <a:tr h="370840">
                <a:tc>
                  <a:txBody>
                    <a:bodyPr/>
                    <a:lstStyle/>
                    <a:p>
                      <a:pPr algn="ctr"/>
                      <a:r>
                        <a:rPr lang="en-US" altLang="zh-CN" sz="2000" i="1" dirty="0">
                          <a:latin typeface="Times New Roman" panose="02020603050405020304" pitchFamily="18" charset="0"/>
                          <a:cs typeface="Times New Roman" panose="02020603050405020304" pitchFamily="18" charset="0"/>
                        </a:rPr>
                        <a:t>A</a:t>
                      </a:r>
                      <a:endParaRPr lang="zh-CN" altLang="en-US" sz="2000" i="1" dirty="0">
                        <a:latin typeface="Times New Roman" panose="02020603050405020304" pitchFamily="18" charset="0"/>
                        <a:cs typeface="Times New Roman" panose="02020603050405020304" pitchFamily="18" charset="0"/>
                      </a:endParaRPr>
                    </a:p>
                  </a:txBody>
                  <a:tcPr marL="91459" marR="91459"/>
                </a:tc>
                <a:tc>
                  <a:txBody>
                    <a:bodyPr/>
                    <a:lstStyle/>
                    <a:p>
                      <a:pPr algn="ctr"/>
                      <a:r>
                        <a:rPr lang="en-US" altLang="zh-CN" sz="2000" i="1" dirty="0">
                          <a:latin typeface="Times New Roman" panose="02020603050405020304" pitchFamily="18" charset="0"/>
                          <a:cs typeface="Times New Roman" panose="02020603050405020304" pitchFamily="18" charset="0"/>
                        </a:rPr>
                        <a:t>B</a:t>
                      </a:r>
                      <a:endParaRPr lang="zh-CN" altLang="en-US" sz="2000" i="1" dirty="0">
                        <a:latin typeface="Times New Roman" panose="02020603050405020304" pitchFamily="18" charset="0"/>
                        <a:cs typeface="Times New Roman" panose="02020603050405020304" pitchFamily="18" charset="0"/>
                      </a:endParaRPr>
                    </a:p>
                  </a:txBody>
                  <a:tcPr marL="91459" marR="91459"/>
                </a:tc>
                <a:tc>
                  <a:txBody>
                    <a:bodyPr/>
                    <a:lstStyle/>
                    <a:p>
                      <a:pPr algn="ctr"/>
                      <a:r>
                        <a:rPr lang="en-US" altLang="zh-CN" sz="2000" i="1" dirty="0">
                          <a:latin typeface="Times New Roman" panose="02020603050405020304" pitchFamily="18" charset="0"/>
                          <a:cs typeface="Times New Roman" panose="02020603050405020304" pitchFamily="18" charset="0"/>
                        </a:rPr>
                        <a:t>C</a:t>
                      </a:r>
                      <a:endParaRPr lang="zh-CN" altLang="en-US" sz="2000" i="1" dirty="0">
                        <a:latin typeface="Times New Roman" panose="02020603050405020304" pitchFamily="18" charset="0"/>
                        <a:cs typeface="Times New Roman" panose="02020603050405020304" pitchFamily="18" charset="0"/>
                      </a:endParaRPr>
                    </a:p>
                  </a:txBody>
                  <a:tcPr marL="91459" marR="91459"/>
                </a:tc>
                <a:tc>
                  <a:txBody>
                    <a:bodyPr/>
                    <a:lstStyle/>
                    <a:p>
                      <a:pPr algn="ctr"/>
                      <a:r>
                        <a:rPr lang="en-US" altLang="zh-CN" sz="2000" i="1" dirty="0">
                          <a:latin typeface="Times New Roman" panose="02020603050405020304" pitchFamily="18" charset="0"/>
                          <a:cs typeface="Times New Roman" panose="02020603050405020304" pitchFamily="18" charset="0"/>
                        </a:rPr>
                        <a:t>E</a:t>
                      </a:r>
                      <a:endParaRPr lang="zh-CN" altLang="en-US" sz="2000" i="1" dirty="0">
                        <a:latin typeface="Times New Roman" panose="02020603050405020304" pitchFamily="18" charset="0"/>
                        <a:cs typeface="Times New Roman" panose="02020603050405020304" pitchFamily="18" charset="0"/>
                      </a:endParaRPr>
                    </a:p>
                  </a:txBody>
                  <a:tcPr marL="91459" marR="91459"/>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59" marR="9145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59" marR="91459"/>
                </a:tc>
                <a:tc>
                  <a:txBody>
                    <a:bodyPr/>
                    <a:lstStyle/>
                    <a:p>
                      <a:pPr algn="ctr"/>
                      <a:r>
                        <a:rPr lang="en-US" altLang="zh-CN" sz="2000" dirty="0">
                          <a:latin typeface="Times New Roman" panose="02020603050405020304" pitchFamily="18" charset="0"/>
                          <a:cs typeface="Times New Roman" panose="02020603050405020304" pitchFamily="18" charset="0"/>
                        </a:rPr>
                        <a:t>5</a:t>
                      </a:r>
                      <a:endParaRPr lang="zh-CN" altLang="en-US" sz="2000" dirty="0">
                        <a:latin typeface="Times New Roman" panose="02020603050405020304" pitchFamily="18" charset="0"/>
                        <a:cs typeface="Times New Roman" panose="02020603050405020304" pitchFamily="18" charset="0"/>
                      </a:endParaRPr>
                    </a:p>
                  </a:txBody>
                  <a:tcPr marL="91459" marR="91459"/>
                </a:tc>
                <a:tc>
                  <a:txBody>
                    <a:bodyPr/>
                    <a:lstStyle/>
                    <a:p>
                      <a:pPr algn="ctr"/>
                      <a:r>
                        <a:rPr lang="en-US" altLang="zh-CN" sz="2000" dirty="0">
                          <a:latin typeface="Times New Roman" panose="02020603050405020304" pitchFamily="18" charset="0"/>
                          <a:cs typeface="Times New Roman" panose="02020603050405020304" pitchFamily="18" charset="0"/>
                        </a:rPr>
                        <a:t>3</a:t>
                      </a:r>
                      <a:endParaRPr lang="zh-CN" altLang="en-US" sz="2000" dirty="0">
                        <a:latin typeface="Times New Roman" panose="02020603050405020304" pitchFamily="18" charset="0"/>
                        <a:cs typeface="Times New Roman" panose="02020603050405020304" pitchFamily="18" charset="0"/>
                      </a:endParaRPr>
                    </a:p>
                  </a:txBody>
                  <a:tcPr marL="91459" marR="91459"/>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59" marR="9145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59" marR="91459"/>
                </a:tc>
                <a:tc>
                  <a:txBody>
                    <a:bodyPr/>
                    <a:lstStyle/>
                    <a:p>
                      <a:pPr algn="ctr"/>
                      <a:r>
                        <a:rPr lang="en-US" altLang="zh-CN" sz="2000" dirty="0">
                          <a:latin typeface="Times New Roman" panose="02020603050405020304" pitchFamily="18" charset="0"/>
                          <a:cs typeface="Times New Roman" panose="02020603050405020304" pitchFamily="18" charset="0"/>
                        </a:rPr>
                        <a:t>6</a:t>
                      </a:r>
                      <a:endParaRPr lang="zh-CN" altLang="en-US" sz="2000" dirty="0">
                        <a:latin typeface="Times New Roman" panose="02020603050405020304" pitchFamily="18" charset="0"/>
                        <a:cs typeface="Times New Roman" panose="02020603050405020304" pitchFamily="18" charset="0"/>
                      </a:endParaRPr>
                    </a:p>
                  </a:txBody>
                  <a:tcPr marL="91459" marR="91459"/>
                </a:tc>
                <a:tc>
                  <a:txBody>
                    <a:bodyPr/>
                    <a:lstStyle/>
                    <a:p>
                      <a:pPr algn="ctr"/>
                      <a:r>
                        <a:rPr lang="en-US" altLang="zh-CN" sz="2000" dirty="0">
                          <a:latin typeface="Times New Roman" panose="02020603050405020304" pitchFamily="18" charset="0"/>
                          <a:cs typeface="Times New Roman" panose="02020603050405020304" pitchFamily="18" charset="0"/>
                        </a:rPr>
                        <a:t>7</a:t>
                      </a:r>
                      <a:endParaRPr lang="zh-CN" altLang="en-US" sz="2000" dirty="0">
                        <a:latin typeface="Times New Roman" panose="02020603050405020304" pitchFamily="18" charset="0"/>
                        <a:cs typeface="Times New Roman" panose="02020603050405020304" pitchFamily="18" charset="0"/>
                      </a:endParaRPr>
                    </a:p>
                  </a:txBody>
                  <a:tcPr marL="91459" marR="91459"/>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59" marR="9145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59" marR="91459"/>
                </a:tc>
                <a:tc>
                  <a:txBody>
                    <a:bodyPr/>
                    <a:lstStyle/>
                    <a:p>
                      <a:pPr algn="ctr"/>
                      <a:r>
                        <a:rPr lang="en-US" altLang="zh-CN" sz="2000" dirty="0">
                          <a:latin typeface="Times New Roman" panose="02020603050405020304" pitchFamily="18" charset="0"/>
                          <a:cs typeface="Times New Roman" panose="02020603050405020304" pitchFamily="18" charset="0"/>
                        </a:rPr>
                        <a:t>8</a:t>
                      </a:r>
                      <a:endParaRPr lang="zh-CN" altLang="en-US" sz="2000" dirty="0">
                        <a:latin typeface="Times New Roman" panose="02020603050405020304" pitchFamily="18" charset="0"/>
                        <a:cs typeface="Times New Roman" panose="02020603050405020304" pitchFamily="18" charset="0"/>
                      </a:endParaRPr>
                    </a:p>
                  </a:txBody>
                  <a:tcPr marL="91459" marR="91459"/>
                </a:tc>
                <a:tc>
                  <a:txBody>
                    <a:bodyPr/>
                    <a:lstStyle/>
                    <a:p>
                      <a:pPr algn="ctr"/>
                      <a:r>
                        <a:rPr lang="en-US" altLang="zh-CN" sz="2000" dirty="0">
                          <a:latin typeface="Times New Roman" panose="02020603050405020304" pitchFamily="18" charset="0"/>
                          <a:cs typeface="Times New Roman" panose="02020603050405020304" pitchFamily="18" charset="0"/>
                        </a:rPr>
                        <a:t>10</a:t>
                      </a:r>
                      <a:endParaRPr lang="zh-CN" altLang="en-US" sz="2000" dirty="0">
                        <a:latin typeface="Times New Roman" panose="02020603050405020304" pitchFamily="18" charset="0"/>
                        <a:cs typeface="Times New Roman" panose="02020603050405020304" pitchFamily="18" charset="0"/>
                      </a:endParaRPr>
                    </a:p>
                  </a:txBody>
                  <a:tcPr marL="91459" marR="91459"/>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59" marR="91459"/>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000000"/>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000000"/>
                        </a:solidFill>
                        <a:latin typeface="Times New Roman" panose="02020603050405020304" pitchFamily="18" charset="0"/>
                        <a:ea typeface="+mn-ea"/>
                        <a:cs typeface="Times New Roman" panose="02020603050405020304" pitchFamily="18" charset="0"/>
                      </a:endParaRPr>
                    </a:p>
                  </a:txBody>
                  <a:tcPr marL="91459" marR="91459"/>
                </a:tc>
                <a:tc>
                  <a:txBody>
                    <a:bodyPr/>
                    <a:lstStyle/>
                    <a:p>
                      <a:pPr algn="ctr"/>
                      <a:r>
                        <a:rPr lang="en-US" altLang="zh-CN" sz="2000" dirty="0">
                          <a:latin typeface="Times New Roman" panose="02020603050405020304" pitchFamily="18" charset="0"/>
                          <a:cs typeface="Times New Roman" panose="02020603050405020304" pitchFamily="18" charset="0"/>
                        </a:rPr>
                        <a:t>8</a:t>
                      </a:r>
                      <a:endParaRPr lang="zh-CN" altLang="en-US" sz="2000" dirty="0">
                        <a:latin typeface="Times New Roman" panose="02020603050405020304" pitchFamily="18" charset="0"/>
                        <a:cs typeface="Times New Roman" panose="02020603050405020304" pitchFamily="18" charset="0"/>
                      </a:endParaRPr>
                    </a:p>
                  </a:txBody>
                  <a:tcPr marL="91459" marR="91459"/>
                </a:tc>
                <a:tc>
                  <a:txBody>
                    <a:bodyPr/>
                    <a:lstStyle/>
                    <a:p>
                      <a:pPr algn="ctr"/>
                      <a:r>
                        <a:rPr lang="en-US" altLang="zh-CN" sz="2000" dirty="0">
                          <a:latin typeface="Times New Roman" panose="02020603050405020304" pitchFamily="18" charset="0"/>
                          <a:cs typeface="Times New Roman" panose="02020603050405020304" pitchFamily="18" charset="0"/>
                        </a:rPr>
                        <a:t>2</a:t>
                      </a:r>
                      <a:endParaRPr lang="zh-CN" altLang="en-US" sz="2000" dirty="0">
                        <a:latin typeface="Times New Roman" panose="02020603050405020304" pitchFamily="18" charset="0"/>
                        <a:cs typeface="Times New Roman" panose="02020603050405020304" pitchFamily="18" charset="0"/>
                      </a:endParaRPr>
                    </a:p>
                  </a:txBody>
                  <a:tcPr marL="91459" marR="91459"/>
                </a:tc>
                <a:extLst>
                  <a:ext uri="{0D108BD9-81ED-4DB2-BD59-A6C34878D82A}">
                    <a16:rowId xmlns:a16="http://schemas.microsoft.com/office/drawing/2014/main" val="10004"/>
                  </a:ext>
                </a:extLst>
              </a:tr>
            </a:tbl>
          </a:graphicData>
        </a:graphic>
      </p:graphicFrame>
      <p:grpSp>
        <p:nvGrpSpPr>
          <p:cNvPr id="96342" name="组合 243">
            <a:extLst>
              <a:ext uri="{FF2B5EF4-FFF2-40B4-BE49-F238E27FC236}">
                <a16:creationId xmlns:a16="http://schemas.microsoft.com/office/drawing/2014/main" id="{9D91BFF6-A9A3-465F-92E9-520C09ED0723}"/>
              </a:ext>
            </a:extLst>
          </p:cNvPr>
          <p:cNvGrpSpPr>
            <a:grpSpLocks/>
          </p:cNvGrpSpPr>
          <p:nvPr/>
        </p:nvGrpSpPr>
        <p:grpSpPr bwMode="auto">
          <a:xfrm>
            <a:off x="5391150" y="2332038"/>
            <a:ext cx="1366838" cy="665162"/>
            <a:chOff x="3866434" y="2111003"/>
            <a:chExt cx="1368078" cy="669925"/>
          </a:xfrm>
        </p:grpSpPr>
        <p:sp>
          <p:nvSpPr>
            <p:cNvPr id="96345" name="AutoShape 385">
              <a:extLst>
                <a:ext uri="{FF2B5EF4-FFF2-40B4-BE49-F238E27FC236}">
                  <a16:creationId xmlns:a16="http://schemas.microsoft.com/office/drawing/2014/main" id="{9BE512A2-BA0A-4D4D-B501-ADFC2AC01517}"/>
                </a:ext>
              </a:extLst>
            </p:cNvPr>
            <p:cNvSpPr>
              <a:spLocks noChangeArrowheads="1"/>
            </p:cNvSpPr>
            <p:nvPr/>
          </p:nvSpPr>
          <p:spPr bwMode="auto">
            <a:xfrm rot="16200000" flipV="1">
              <a:off x="4370164" y="2237993"/>
              <a:ext cx="206375" cy="341313"/>
            </a:xfrm>
            <a:prstGeom prst="flowChartCollate">
              <a:avLst/>
            </a:prstGeom>
            <a:solidFill>
              <a:srgbClr val="FFFFFF"/>
            </a:solidFill>
            <a:ln w="6350">
              <a:solidFill>
                <a:srgbClr val="000000"/>
              </a:solidFill>
              <a:miter lim="800000"/>
              <a:headEnd/>
              <a:tailEnd/>
            </a:ln>
          </p:spPr>
          <p:txBody>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96346" name="Rectangle 388">
              <a:extLst>
                <a:ext uri="{FF2B5EF4-FFF2-40B4-BE49-F238E27FC236}">
                  <a16:creationId xmlns:a16="http://schemas.microsoft.com/office/drawing/2014/main" id="{D21D70B4-2481-41E1-88C6-32F021F405F8}"/>
                </a:ext>
              </a:extLst>
            </p:cNvPr>
            <p:cNvSpPr>
              <a:spLocks noChangeArrowheads="1"/>
            </p:cNvSpPr>
            <p:nvPr/>
          </p:nvSpPr>
          <p:spPr bwMode="auto">
            <a:xfrm>
              <a:off x="3866434" y="2111003"/>
              <a:ext cx="136807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buFont typeface="Wingdings" panose="05000000000000000000" pitchFamily="2" charset="2"/>
                <a:buNone/>
              </a:pPr>
              <a:r>
                <a:rPr lang="en-US" altLang="zh-CN" b="1" i="1">
                  <a:solidFill>
                    <a:srgbClr val="000000"/>
                  </a:solidFill>
                  <a:ea typeface="楷体_GB2312" pitchFamily="49" charset="-122"/>
                </a:rPr>
                <a:t> </a:t>
              </a:r>
              <a:r>
                <a:rPr lang="en-US" altLang="zh-CN" sz="2400" b="1" i="1">
                  <a:solidFill>
                    <a:srgbClr val="000000"/>
                  </a:solidFill>
                  <a:ea typeface="楷体_GB2312" pitchFamily="49" charset="-122"/>
                </a:rPr>
                <a:t>R</a:t>
              </a:r>
              <a:r>
                <a:rPr lang="en-US" altLang="zh-CN" b="1" i="1">
                  <a:solidFill>
                    <a:srgbClr val="000000"/>
                  </a:solidFill>
                  <a:ea typeface="楷体_GB2312" pitchFamily="49" charset="-122"/>
                </a:rPr>
                <a:t> </a:t>
              </a:r>
              <a:r>
                <a:rPr lang="en-US" altLang="zh-CN" b="1">
                  <a:solidFill>
                    <a:srgbClr val="000000"/>
                  </a:solidFill>
                  <a:ea typeface="楷体_GB2312" pitchFamily="49" charset="-122"/>
                </a:rPr>
                <a:t>    </a:t>
              </a:r>
              <a:r>
                <a:rPr lang="en-US" altLang="zh-CN" sz="2400" b="1" i="1">
                  <a:solidFill>
                    <a:srgbClr val="000000"/>
                  </a:solidFill>
                  <a:ea typeface="楷体_GB2312" pitchFamily="49" charset="-122"/>
                </a:rPr>
                <a:t>S</a:t>
              </a:r>
              <a:r>
                <a:rPr lang="en-US" altLang="zh-CN" b="1">
                  <a:solidFill>
                    <a:srgbClr val="000000"/>
                  </a:solidFill>
                  <a:ea typeface="楷体_GB2312" pitchFamily="49" charset="-122"/>
                </a:rPr>
                <a:t> </a:t>
              </a:r>
            </a:p>
          </p:txBody>
        </p:sp>
      </p:grpSp>
      <p:sp>
        <p:nvSpPr>
          <p:cNvPr id="248" name="文本框 247">
            <a:extLst>
              <a:ext uri="{FF2B5EF4-FFF2-40B4-BE49-F238E27FC236}">
                <a16:creationId xmlns:a16="http://schemas.microsoft.com/office/drawing/2014/main" id="{92DC67D2-9699-40CE-B06B-5FDA7EEF1953}"/>
              </a:ext>
            </a:extLst>
          </p:cNvPr>
          <p:cNvSpPr txBox="1">
            <a:spLocks noChangeArrowheads="1"/>
          </p:cNvSpPr>
          <p:nvPr/>
        </p:nvSpPr>
        <p:spPr bwMode="auto">
          <a:xfrm>
            <a:off x="5502276" y="4941888"/>
            <a:ext cx="3546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a:spcBef>
                <a:spcPct val="0"/>
              </a:spcBef>
              <a:buClrTx/>
              <a:buSzTx/>
              <a:buFontTx/>
              <a:buNone/>
            </a:pPr>
            <a:r>
              <a:rPr lang="zh-CN" altLang="en-US" sz="2000">
                <a:latin typeface="微软雅黑" panose="020B0503020204020204" pitchFamily="34" charset="-122"/>
              </a:rPr>
              <a:t>自然连接</a:t>
            </a:r>
          </a:p>
        </p:txBody>
      </p:sp>
      <p:sp>
        <p:nvSpPr>
          <p:cNvPr id="2" name="灯片编号占位符 1">
            <a:extLst>
              <a:ext uri="{FF2B5EF4-FFF2-40B4-BE49-F238E27FC236}">
                <a16:creationId xmlns:a16="http://schemas.microsoft.com/office/drawing/2014/main" id="{F7EEBADE-8D5A-48E8-8CD5-E863F52BD808}"/>
              </a:ext>
            </a:extLst>
          </p:cNvPr>
          <p:cNvSpPr>
            <a:spLocks noGrp="1"/>
          </p:cNvSpPr>
          <p:nvPr>
            <p:ph type="sldNum" sz="quarter" idx="12"/>
          </p:nvPr>
        </p:nvSpPr>
        <p:spPr/>
        <p:txBody>
          <a:bodyPr/>
          <a:lstStyle/>
          <a:p>
            <a:fld id="{47C9E101-E51D-431E-84FA-C029B8655B60}" type="slidenum">
              <a:rPr lang="zh-CN" altLang="en-US" smtClean="0"/>
              <a:pPr/>
              <a:t>75</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48"/>
                                        </p:tgtEl>
                                        <p:attrNameLst>
                                          <p:attrName>style.visibility</p:attrName>
                                        </p:attrNameLst>
                                      </p:cBhvr>
                                      <p:to>
                                        <p:strVal val="visible"/>
                                      </p:to>
                                    </p:set>
                                    <p:animEffect transition="in" filter="wipe(down)">
                                      <p:cBhvr>
                                        <p:cTn id="7" dur="500"/>
                                        <p:tgtEl>
                                          <p:spTgt spid="248"/>
                                        </p:tgtEl>
                                      </p:cBhvr>
                                    </p:animEffect>
                                  </p:childTnLst>
                                </p:cTn>
                              </p:par>
                              <p:par>
                                <p:cTn id="8" presetID="22" presetClass="entr" presetSubtype="4" fill="hold" nodeType="withEffect">
                                  <p:stCondLst>
                                    <p:cond delay="0"/>
                                  </p:stCondLst>
                                  <p:childTnLst>
                                    <p:set>
                                      <p:cBhvr>
                                        <p:cTn id="9" dur="1" fill="hold">
                                          <p:stCondLst>
                                            <p:cond delay="0"/>
                                          </p:stCondLst>
                                        </p:cTn>
                                        <p:tgtEl>
                                          <p:spTgt spid="243"/>
                                        </p:tgtEl>
                                        <p:attrNameLst>
                                          <p:attrName>style.visibility</p:attrName>
                                        </p:attrNameLst>
                                      </p:cBhvr>
                                      <p:to>
                                        <p:strVal val="visible"/>
                                      </p:to>
                                    </p:set>
                                    <p:animEffect transition="in" filter="wipe(down)">
                                      <p:cBhvr>
                                        <p:cTn id="10" dur="50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516097">
            <a:extLst>
              <a:ext uri="{FF2B5EF4-FFF2-40B4-BE49-F238E27FC236}">
                <a16:creationId xmlns:a16="http://schemas.microsoft.com/office/drawing/2014/main" id="{FF259A1A-E95A-439B-B929-FC22D8A95574}"/>
              </a:ext>
            </a:extLst>
          </p:cNvPr>
          <p:cNvSpPr>
            <a:spLocks noGrp="1" noChangeArrowheads="1"/>
          </p:cNvSpPr>
          <p:nvPr>
            <p:ph type="title"/>
          </p:nvPr>
        </p:nvSpPr>
        <p:spPr/>
        <p:txBody>
          <a:bodyPr/>
          <a:lstStyle/>
          <a:p>
            <a:r>
              <a:rPr lang="zh-CN" altLang="en-US"/>
              <a:t>连接</a:t>
            </a:r>
            <a:r>
              <a:rPr lang="en-US" altLang="zh-CN"/>
              <a:t>(</a:t>
            </a:r>
            <a:r>
              <a:rPr lang="zh-CN" altLang="en-US"/>
              <a:t>续</a:t>
            </a:r>
            <a:r>
              <a:rPr lang="en-US" altLang="zh-CN"/>
              <a:t>)</a:t>
            </a:r>
          </a:p>
        </p:txBody>
      </p:sp>
      <p:sp>
        <p:nvSpPr>
          <p:cNvPr id="58371" name="文本占位符 516098">
            <a:extLst>
              <a:ext uri="{FF2B5EF4-FFF2-40B4-BE49-F238E27FC236}">
                <a16:creationId xmlns:a16="http://schemas.microsoft.com/office/drawing/2014/main" id="{5760ACF1-A579-4FA6-ACD4-E05596D853FF}"/>
              </a:ext>
            </a:extLst>
          </p:cNvPr>
          <p:cNvSpPr>
            <a:spLocks noGrp="1" noChangeArrowheads="1"/>
          </p:cNvSpPr>
          <p:nvPr>
            <p:ph type="body" idx="1"/>
          </p:nvPr>
        </p:nvSpPr>
        <p:spPr/>
        <p:txBody>
          <a:bodyPr>
            <a:normAutofit/>
          </a:bodyPr>
          <a:lstStyle/>
          <a:p>
            <a:r>
              <a:rPr lang="zh-CN" altLang="en-US" dirty="0"/>
              <a:t>关系</a:t>
            </a:r>
            <a:r>
              <a:rPr lang="en-US" altLang="zh-CN" i="1" dirty="0"/>
              <a:t>R</a:t>
            </a:r>
            <a:r>
              <a:rPr lang="zh-CN" altLang="en-US" dirty="0"/>
              <a:t>和</a:t>
            </a:r>
            <a:r>
              <a:rPr lang="en-US" altLang="zh-CN" i="1" dirty="0"/>
              <a:t>S</a:t>
            </a:r>
            <a:r>
              <a:rPr lang="zh-CN" altLang="en-US" dirty="0"/>
              <a:t>在做自然连接时，选择两个关系在公共属性上值相等的元素构成新关系。此时，关系</a:t>
            </a:r>
            <a:r>
              <a:rPr lang="en-US" altLang="zh-CN" i="1" dirty="0"/>
              <a:t>R</a:t>
            </a:r>
            <a:r>
              <a:rPr lang="zh-CN" altLang="en-US" dirty="0"/>
              <a:t>和</a:t>
            </a:r>
            <a:r>
              <a:rPr lang="en-US" altLang="zh-CN" i="1" dirty="0"/>
              <a:t>S</a:t>
            </a:r>
            <a:r>
              <a:rPr lang="zh-CN" altLang="en-US" dirty="0"/>
              <a:t>中都可能有某些元组被舍弃这些被舍弃的元组称为</a:t>
            </a:r>
            <a:r>
              <a:rPr lang="zh-CN" altLang="en-US" dirty="0">
                <a:solidFill>
                  <a:srgbClr val="C00000"/>
                </a:solidFill>
              </a:rPr>
              <a:t>悬浮元组</a:t>
            </a:r>
            <a:r>
              <a:rPr lang="zh-CN" altLang="en-US" dirty="0"/>
              <a:t>。</a:t>
            </a:r>
            <a:endParaRPr lang="en-US" altLang="zh-CN" dirty="0"/>
          </a:p>
          <a:p>
            <a:endParaRPr lang="en-US" altLang="zh-CN" dirty="0"/>
          </a:p>
          <a:p>
            <a:r>
              <a:rPr lang="zh-CN" altLang="en-US" dirty="0"/>
              <a:t>外连接（</a:t>
            </a:r>
            <a:r>
              <a:rPr lang="en-US" altLang="zh-CN" dirty="0"/>
              <a:t>Outer Join</a:t>
            </a:r>
            <a:r>
              <a:rPr lang="zh-CN" altLang="en-US" dirty="0"/>
              <a:t>）</a:t>
            </a:r>
            <a:endParaRPr lang="en-US" altLang="zh-CN" dirty="0"/>
          </a:p>
          <a:p>
            <a:pPr lvl="1"/>
            <a:r>
              <a:rPr lang="zh-CN" altLang="en-US" dirty="0"/>
              <a:t>如果把舍弃的元组也保存在结果关系中，而在其他属性上填</a:t>
            </a:r>
            <a:r>
              <a:rPr lang="zh-CN" altLang="en-US" dirty="0">
                <a:solidFill>
                  <a:srgbClr val="C00000"/>
                </a:solidFill>
              </a:rPr>
              <a:t>空值</a:t>
            </a:r>
            <a:r>
              <a:rPr lang="en-US" altLang="zh-CN" dirty="0">
                <a:solidFill>
                  <a:srgbClr val="C00000"/>
                </a:solidFill>
              </a:rPr>
              <a:t>(Null)</a:t>
            </a:r>
            <a:r>
              <a:rPr lang="zh-CN" altLang="en-US" dirty="0"/>
              <a:t>，这种连接就叫做</a:t>
            </a:r>
            <a:r>
              <a:rPr lang="zh-CN" altLang="en-US" dirty="0">
                <a:solidFill>
                  <a:srgbClr val="C00000"/>
                </a:solidFill>
              </a:rPr>
              <a:t>外连接（</a:t>
            </a:r>
            <a:r>
              <a:rPr lang="en-US" altLang="zh-CN" dirty="0">
                <a:solidFill>
                  <a:srgbClr val="C00000"/>
                </a:solidFill>
              </a:rPr>
              <a:t>OUTER JOIN</a:t>
            </a:r>
            <a:r>
              <a:rPr lang="zh-CN" altLang="en-US" dirty="0">
                <a:solidFill>
                  <a:srgbClr val="C00000"/>
                </a:solidFill>
              </a:rPr>
              <a:t>）</a:t>
            </a:r>
            <a:r>
              <a:rPr lang="zh-CN" altLang="en-US" dirty="0"/>
              <a:t>。</a:t>
            </a:r>
            <a:endParaRPr lang="en-US" altLang="zh-CN" dirty="0"/>
          </a:p>
          <a:p>
            <a:pPr lvl="1"/>
            <a:r>
              <a:rPr lang="zh-CN" altLang="en-US" dirty="0">
                <a:solidFill>
                  <a:srgbClr val="3333FF"/>
                </a:solidFill>
              </a:rPr>
              <a:t>左外连接</a:t>
            </a:r>
          </a:p>
          <a:p>
            <a:pPr lvl="2"/>
            <a:r>
              <a:rPr lang="zh-CN" altLang="en-US" dirty="0"/>
              <a:t>如果只把左边关系</a:t>
            </a:r>
            <a:r>
              <a:rPr lang="en-US" altLang="zh-CN" i="1" dirty="0"/>
              <a:t>R</a:t>
            </a:r>
            <a:r>
              <a:rPr lang="zh-CN" altLang="en-US" dirty="0"/>
              <a:t>中要舍弃的元组保留就叫做</a:t>
            </a:r>
            <a:r>
              <a:rPr lang="zh-CN" altLang="en-US" dirty="0">
                <a:solidFill>
                  <a:srgbClr val="C00000"/>
                </a:solidFill>
              </a:rPr>
              <a:t>左外连接</a:t>
            </a:r>
            <a:r>
              <a:rPr lang="en-US" altLang="zh-CN" dirty="0"/>
              <a:t>(LEFT OUTER JOIN</a:t>
            </a:r>
            <a:r>
              <a:rPr lang="zh-CN" altLang="en-US" dirty="0"/>
              <a:t>或</a:t>
            </a:r>
            <a:r>
              <a:rPr lang="en-US" altLang="zh-CN" dirty="0"/>
              <a:t>LEFT JOIN)</a:t>
            </a:r>
          </a:p>
          <a:p>
            <a:pPr lvl="1"/>
            <a:r>
              <a:rPr lang="zh-CN" altLang="en-US" dirty="0">
                <a:solidFill>
                  <a:srgbClr val="3333FF"/>
                </a:solidFill>
              </a:rPr>
              <a:t>右外连接</a:t>
            </a:r>
          </a:p>
          <a:p>
            <a:pPr lvl="2"/>
            <a:r>
              <a:rPr lang="zh-CN" altLang="en-US" dirty="0"/>
              <a:t>如果只把右边关系</a:t>
            </a:r>
            <a:r>
              <a:rPr lang="en-US" altLang="zh-CN" i="1" dirty="0"/>
              <a:t>S</a:t>
            </a:r>
            <a:r>
              <a:rPr lang="zh-CN" altLang="en-US" dirty="0"/>
              <a:t>中要舍弃的元组保留就叫做</a:t>
            </a:r>
            <a:r>
              <a:rPr lang="zh-CN" altLang="en-US" dirty="0">
                <a:solidFill>
                  <a:srgbClr val="C00000"/>
                </a:solidFill>
              </a:rPr>
              <a:t>右外连接</a:t>
            </a:r>
            <a:r>
              <a:rPr lang="en-US" altLang="zh-CN" dirty="0"/>
              <a:t>(RIGHT OUTER JOIN</a:t>
            </a:r>
            <a:r>
              <a:rPr lang="zh-CN" altLang="en-US" dirty="0"/>
              <a:t>或</a:t>
            </a:r>
            <a:r>
              <a:rPr lang="en-US" altLang="zh-CN" dirty="0"/>
              <a:t>RIGHT JOIN)</a:t>
            </a:r>
            <a:r>
              <a:rPr lang="zh-CN" altLang="en-US" dirty="0"/>
              <a:t>。 </a:t>
            </a:r>
          </a:p>
        </p:txBody>
      </p:sp>
      <p:sp>
        <p:nvSpPr>
          <p:cNvPr id="2" name="灯片编号占位符 1">
            <a:extLst>
              <a:ext uri="{FF2B5EF4-FFF2-40B4-BE49-F238E27FC236}">
                <a16:creationId xmlns:a16="http://schemas.microsoft.com/office/drawing/2014/main" id="{A45DAF39-4FFD-4EDE-8329-36431D31363A}"/>
              </a:ext>
            </a:extLst>
          </p:cNvPr>
          <p:cNvSpPr>
            <a:spLocks noGrp="1"/>
          </p:cNvSpPr>
          <p:nvPr>
            <p:ph type="sldNum" sz="quarter" idx="12"/>
          </p:nvPr>
        </p:nvSpPr>
        <p:spPr/>
        <p:txBody>
          <a:bodyPr/>
          <a:lstStyle/>
          <a:p>
            <a:fld id="{47C9E101-E51D-431E-84FA-C029B8655B60}" type="slidenum">
              <a:rPr lang="zh-CN" altLang="en-US" smtClean="0"/>
              <a:pPr/>
              <a:t>76</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371">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837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37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37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3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5166" name="Group 94">
            <a:extLst>
              <a:ext uri="{FF2B5EF4-FFF2-40B4-BE49-F238E27FC236}">
                <a16:creationId xmlns:a16="http://schemas.microsoft.com/office/drawing/2014/main" id="{BCB7D192-132F-4AAC-9B9B-1B194F4A3A1C}"/>
              </a:ext>
            </a:extLst>
          </p:cNvPr>
          <p:cNvGraphicFramePr>
            <a:graphicFrameLocks noGrp="1"/>
          </p:cNvGraphicFramePr>
          <p:nvPr>
            <p:extLst/>
          </p:nvPr>
        </p:nvGraphicFramePr>
        <p:xfrm>
          <a:off x="6167438" y="4417115"/>
          <a:ext cx="4105274" cy="2027239"/>
        </p:xfrm>
        <a:graphic>
          <a:graphicData uri="http://schemas.openxmlformats.org/drawingml/2006/table">
            <a:tbl>
              <a:tblPr/>
              <a:tblGrid>
                <a:gridCol w="808260">
                  <a:extLst>
                    <a:ext uri="{9D8B030D-6E8A-4147-A177-3AD203B41FA5}">
                      <a16:colId xmlns:a16="http://schemas.microsoft.com/office/drawing/2014/main" val="20000"/>
                    </a:ext>
                  </a:extLst>
                </a:gridCol>
                <a:gridCol w="1032950">
                  <a:extLst>
                    <a:ext uri="{9D8B030D-6E8A-4147-A177-3AD203B41FA5}">
                      <a16:colId xmlns:a16="http://schemas.microsoft.com/office/drawing/2014/main" val="20001"/>
                    </a:ext>
                  </a:extLst>
                </a:gridCol>
                <a:gridCol w="1345019">
                  <a:extLst>
                    <a:ext uri="{9D8B030D-6E8A-4147-A177-3AD203B41FA5}">
                      <a16:colId xmlns:a16="http://schemas.microsoft.com/office/drawing/2014/main" val="20002"/>
                    </a:ext>
                  </a:extLst>
                </a:gridCol>
                <a:gridCol w="919045">
                  <a:extLst>
                    <a:ext uri="{9D8B030D-6E8A-4147-A177-3AD203B41FA5}">
                      <a16:colId xmlns:a16="http://schemas.microsoft.com/office/drawing/2014/main" val="20003"/>
                    </a:ext>
                  </a:extLst>
                </a:gridCol>
              </a:tblGrid>
              <a:tr h="396192">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姓名</a:t>
                      </a:r>
                    </a:p>
                  </a:txBody>
                  <a:tcPr marL="91453" marR="91453"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住址</a:t>
                      </a:r>
                    </a:p>
                  </a:txBody>
                  <a:tcPr marL="91453" marR="91453"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工作单位</a:t>
                      </a:r>
                    </a:p>
                  </a:txBody>
                  <a:tcPr marL="91453" marR="91453"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工资</a:t>
                      </a:r>
                    </a:p>
                  </a:txBody>
                  <a:tcPr marL="91453" marR="91453"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1097">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张三</a:t>
                      </a:r>
                    </a:p>
                  </a:txBody>
                  <a:tcPr marL="91453" marR="91453"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河大</a:t>
                      </a:r>
                    </a:p>
                  </a:txBody>
                  <a:tcPr marL="91453" marR="91453"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清华同方</a:t>
                      </a:r>
                    </a:p>
                  </a:txBody>
                  <a:tcPr marL="91453" marR="91453"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1500</a:t>
                      </a:r>
                    </a:p>
                  </a:txBody>
                  <a:tcPr marL="91453" marR="91453"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66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李四</a:t>
                      </a:r>
                    </a:p>
                  </a:txBody>
                  <a:tcPr marL="91453" marR="91453"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苹果园</a:t>
                      </a:r>
                    </a:p>
                  </a:txBody>
                  <a:tcPr marL="91453" marR="91453"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北大方正</a:t>
                      </a:r>
                    </a:p>
                  </a:txBody>
                  <a:tcPr marL="91453" marR="91453"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2400</a:t>
                      </a:r>
                    </a:p>
                  </a:txBody>
                  <a:tcPr marL="91453" marR="91453"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1097">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cs typeface="Times New Roman" panose="02020603050405020304" pitchFamily="18" charset="0"/>
                        </a:rPr>
                        <a:t>王五</a:t>
                      </a:r>
                    </a:p>
                  </a:txBody>
                  <a:tcPr marL="91453" marR="91453"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cs typeface="Times New Roman" panose="02020603050405020304" pitchFamily="18" charset="0"/>
                        </a:rPr>
                        <a:t>中山路</a:t>
                      </a:r>
                    </a:p>
                  </a:txBody>
                  <a:tcPr marL="91453" marR="91453"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kern="1200" cap="none" normalizeH="0" baseline="0" dirty="0">
                          <a:ln>
                            <a:noFill/>
                          </a:ln>
                          <a:solidFill>
                            <a:srgbClr val="C00000"/>
                          </a:solidFill>
                          <a:effectLst/>
                          <a:latin typeface="Times New Roman" panose="02020603050405020304" pitchFamily="18" charset="0"/>
                          <a:ea typeface="微软雅黑" panose="020B0503020204020204" pitchFamily="34" charset="-122"/>
                          <a:cs typeface="Times New Roman" panose="02020603050405020304" pitchFamily="18" charset="0"/>
                        </a:rPr>
                        <a:t>NULL</a:t>
                      </a:r>
                    </a:p>
                  </a:txBody>
                  <a:tcPr marL="91453" marR="91453"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kern="1200" cap="none" normalizeH="0" baseline="0" dirty="0">
                          <a:ln>
                            <a:noFill/>
                          </a:ln>
                          <a:solidFill>
                            <a:srgbClr val="C00000"/>
                          </a:solidFill>
                          <a:effectLst/>
                          <a:latin typeface="Times New Roman" panose="02020603050405020304" pitchFamily="18" charset="0"/>
                          <a:ea typeface="微软雅黑" panose="020B0503020204020204" pitchFamily="34" charset="-122"/>
                          <a:cs typeface="Times New Roman" panose="02020603050405020304" pitchFamily="18" charset="0"/>
                        </a:rPr>
                        <a:t>NULL</a:t>
                      </a:r>
                    </a:p>
                  </a:txBody>
                  <a:tcPr marL="91453" marR="91453"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192">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赵六</a:t>
                      </a:r>
                    </a:p>
                  </a:txBody>
                  <a:tcPr marL="91453" marR="91453" marT="45696" marB="456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南关</a:t>
                      </a:r>
                    </a:p>
                  </a:txBody>
                  <a:tcPr marL="91453" marR="91453"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四川长虹</a:t>
                      </a:r>
                    </a:p>
                  </a:txBody>
                  <a:tcPr marL="91453" marR="91453" marT="45696" marB="456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1800</a:t>
                      </a:r>
                    </a:p>
                  </a:txBody>
                  <a:tcPr marL="91453" marR="91453" marT="45696" marB="456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15198" name="Text Box 126">
            <a:extLst>
              <a:ext uri="{FF2B5EF4-FFF2-40B4-BE49-F238E27FC236}">
                <a16:creationId xmlns:a16="http://schemas.microsoft.com/office/drawing/2014/main" id="{8C9DEC7A-D90B-4E57-9DA6-391F2EFA553B}"/>
              </a:ext>
            </a:extLst>
          </p:cNvPr>
          <p:cNvSpPr txBox="1">
            <a:spLocks noChangeArrowheads="1"/>
          </p:cNvSpPr>
          <p:nvPr/>
        </p:nvSpPr>
        <p:spPr bwMode="auto">
          <a:xfrm>
            <a:off x="6096001" y="3912289"/>
            <a:ext cx="201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zh-CN" altLang="en-US" sz="2400" b="1">
                <a:solidFill>
                  <a:srgbClr val="3333FF"/>
                </a:solidFill>
                <a:latin typeface="微软雅黑" panose="020B0503020204020204" pitchFamily="34" charset="-122"/>
              </a:rPr>
              <a:t>左外连接</a:t>
            </a:r>
          </a:p>
        </p:txBody>
      </p:sp>
      <p:sp>
        <p:nvSpPr>
          <p:cNvPr id="98339" name="Text Box 2">
            <a:extLst>
              <a:ext uri="{FF2B5EF4-FFF2-40B4-BE49-F238E27FC236}">
                <a16:creationId xmlns:a16="http://schemas.microsoft.com/office/drawing/2014/main" id="{5AC80DF4-9069-450E-9AF8-AA008CC27634}"/>
              </a:ext>
            </a:extLst>
          </p:cNvPr>
          <p:cNvSpPr txBox="1">
            <a:spLocks noChangeArrowheads="1"/>
          </p:cNvSpPr>
          <p:nvPr/>
        </p:nvSpPr>
        <p:spPr bwMode="auto">
          <a:xfrm>
            <a:off x="1919288" y="816664"/>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zh-CN" altLang="en-US" sz="2400" b="1" dirty="0">
                <a:solidFill>
                  <a:srgbClr val="000000"/>
                </a:solidFill>
                <a:latin typeface="微软雅黑" panose="020B0503020204020204" pitchFamily="34" charset="-122"/>
              </a:rPr>
              <a:t>客户</a:t>
            </a:r>
            <a:r>
              <a:rPr lang="en-US" altLang="zh-CN" sz="2400" b="1" dirty="0">
                <a:solidFill>
                  <a:srgbClr val="000000"/>
                </a:solidFill>
                <a:latin typeface="微软雅黑" panose="020B0503020204020204" pitchFamily="34" charset="-122"/>
              </a:rPr>
              <a:t>1</a:t>
            </a:r>
          </a:p>
        </p:txBody>
      </p:sp>
      <p:sp>
        <p:nvSpPr>
          <p:cNvPr id="98340" name="Text Box 3">
            <a:extLst>
              <a:ext uri="{FF2B5EF4-FFF2-40B4-BE49-F238E27FC236}">
                <a16:creationId xmlns:a16="http://schemas.microsoft.com/office/drawing/2014/main" id="{211CE94D-A409-42C4-ADE9-EBE69E9292A9}"/>
              </a:ext>
            </a:extLst>
          </p:cNvPr>
          <p:cNvSpPr txBox="1">
            <a:spLocks noChangeArrowheads="1"/>
          </p:cNvSpPr>
          <p:nvPr/>
        </p:nvSpPr>
        <p:spPr bwMode="auto">
          <a:xfrm>
            <a:off x="5086350" y="816664"/>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zh-CN" altLang="en-US" sz="2400" b="1">
                <a:solidFill>
                  <a:srgbClr val="000000"/>
                </a:solidFill>
                <a:latin typeface="微软雅黑" panose="020B0503020204020204" pitchFamily="34" charset="-122"/>
              </a:rPr>
              <a:t>客户</a:t>
            </a:r>
            <a:r>
              <a:rPr lang="en-US" altLang="zh-CN" sz="2400" b="1">
                <a:solidFill>
                  <a:srgbClr val="000000"/>
                </a:solidFill>
                <a:latin typeface="微软雅黑" panose="020B0503020204020204" pitchFamily="34" charset="-122"/>
              </a:rPr>
              <a:t>2</a:t>
            </a:r>
          </a:p>
        </p:txBody>
      </p:sp>
      <p:graphicFrame>
        <p:nvGraphicFramePr>
          <p:cNvPr id="12" name="Group 4">
            <a:extLst>
              <a:ext uri="{FF2B5EF4-FFF2-40B4-BE49-F238E27FC236}">
                <a16:creationId xmlns:a16="http://schemas.microsoft.com/office/drawing/2014/main" id="{645E4507-5180-4706-8E83-4A6F0917005A}"/>
              </a:ext>
            </a:extLst>
          </p:cNvPr>
          <p:cNvGraphicFramePr>
            <a:graphicFrameLocks noGrp="1"/>
          </p:cNvGraphicFramePr>
          <p:nvPr>
            <p:extLst/>
          </p:nvPr>
        </p:nvGraphicFramePr>
        <p:xfrm>
          <a:off x="1992313" y="1392926"/>
          <a:ext cx="2520950" cy="2232026"/>
        </p:xfrm>
        <a:graphic>
          <a:graphicData uri="http://schemas.openxmlformats.org/drawingml/2006/table">
            <a:tbl>
              <a:tblPr/>
              <a:tblGrid>
                <a:gridCol w="1008063">
                  <a:extLst>
                    <a:ext uri="{9D8B030D-6E8A-4147-A177-3AD203B41FA5}">
                      <a16:colId xmlns:a16="http://schemas.microsoft.com/office/drawing/2014/main" val="20000"/>
                    </a:ext>
                  </a:extLst>
                </a:gridCol>
                <a:gridCol w="1512887">
                  <a:extLst>
                    <a:ext uri="{9D8B030D-6E8A-4147-A177-3AD203B41FA5}">
                      <a16:colId xmlns:a16="http://schemas.microsoft.com/office/drawing/2014/main" val="20001"/>
                    </a:ext>
                  </a:extLst>
                </a:gridCol>
              </a:tblGrid>
              <a:tr h="43103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姓名</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住址</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8684">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张三</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河大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0249">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李四</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苹果园</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03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王五</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中山路</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03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赵六</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南关</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3" name="Group 24">
            <a:extLst>
              <a:ext uri="{FF2B5EF4-FFF2-40B4-BE49-F238E27FC236}">
                <a16:creationId xmlns:a16="http://schemas.microsoft.com/office/drawing/2014/main" id="{07DE7D28-1954-4F11-9E20-364CF4A99339}"/>
              </a:ext>
            </a:extLst>
          </p:cNvPr>
          <p:cNvGraphicFramePr>
            <a:graphicFrameLocks noGrp="1"/>
          </p:cNvGraphicFramePr>
          <p:nvPr>
            <p:extLst/>
          </p:nvPr>
        </p:nvGraphicFramePr>
        <p:xfrm>
          <a:off x="5159376" y="1392926"/>
          <a:ext cx="4824413" cy="2232024"/>
        </p:xfrm>
        <a:graphic>
          <a:graphicData uri="http://schemas.openxmlformats.org/drawingml/2006/table">
            <a:tbl>
              <a:tblPr/>
              <a:tblGrid>
                <a:gridCol w="1223963">
                  <a:extLst>
                    <a:ext uri="{9D8B030D-6E8A-4147-A177-3AD203B41FA5}">
                      <a16:colId xmlns:a16="http://schemas.microsoft.com/office/drawing/2014/main" val="20000"/>
                    </a:ext>
                  </a:extLst>
                </a:gridCol>
                <a:gridCol w="1992312">
                  <a:extLst>
                    <a:ext uri="{9D8B030D-6E8A-4147-A177-3AD203B41FA5}">
                      <a16:colId xmlns:a16="http://schemas.microsoft.com/office/drawing/2014/main" val="20001"/>
                    </a:ext>
                  </a:extLst>
                </a:gridCol>
                <a:gridCol w="1608138">
                  <a:extLst>
                    <a:ext uri="{9D8B030D-6E8A-4147-A177-3AD203B41FA5}">
                      <a16:colId xmlns:a16="http://schemas.microsoft.com/office/drawing/2014/main" val="20002"/>
                    </a:ext>
                  </a:extLst>
                </a:gridCol>
              </a:tblGrid>
              <a:tr h="446952">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姓名</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工作单位</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工资</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5584">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张三</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清华同方</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1500</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6952">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李四</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北大方正</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2400</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5584">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李红</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海尔集团</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2300</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6952">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赵六</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四川长虹</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1800</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8387" name="Text Box 50">
            <a:extLst>
              <a:ext uri="{FF2B5EF4-FFF2-40B4-BE49-F238E27FC236}">
                <a16:creationId xmlns:a16="http://schemas.microsoft.com/office/drawing/2014/main" id="{56AF3978-263C-4B34-B303-1222278FA230}"/>
              </a:ext>
            </a:extLst>
          </p:cNvPr>
          <p:cNvSpPr txBox="1">
            <a:spLocks noChangeArrowheads="1"/>
          </p:cNvSpPr>
          <p:nvPr/>
        </p:nvSpPr>
        <p:spPr bwMode="auto">
          <a:xfrm>
            <a:off x="1919288" y="3912289"/>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zh-CN" altLang="en-US" sz="2400" b="1" dirty="0">
                <a:solidFill>
                  <a:srgbClr val="000000"/>
                </a:solidFill>
                <a:latin typeface="微软雅黑" panose="020B0503020204020204" pitchFamily="34" charset="-122"/>
              </a:rPr>
              <a:t>自然连接</a:t>
            </a:r>
          </a:p>
        </p:txBody>
      </p:sp>
      <p:graphicFrame>
        <p:nvGraphicFramePr>
          <p:cNvPr id="15" name="Group 51">
            <a:extLst>
              <a:ext uri="{FF2B5EF4-FFF2-40B4-BE49-F238E27FC236}">
                <a16:creationId xmlns:a16="http://schemas.microsoft.com/office/drawing/2014/main" id="{A5EAD5A2-634E-414D-B598-52656E5DE2E4}"/>
              </a:ext>
            </a:extLst>
          </p:cNvPr>
          <p:cNvGraphicFramePr>
            <a:graphicFrameLocks noGrp="1"/>
          </p:cNvGraphicFramePr>
          <p:nvPr>
            <p:extLst/>
          </p:nvPr>
        </p:nvGraphicFramePr>
        <p:xfrm>
          <a:off x="1992313" y="4417114"/>
          <a:ext cx="3922712" cy="1657352"/>
        </p:xfrm>
        <a:graphic>
          <a:graphicData uri="http://schemas.openxmlformats.org/drawingml/2006/table">
            <a:tbl>
              <a:tblPr/>
              <a:tblGrid>
                <a:gridCol w="844667">
                  <a:extLst>
                    <a:ext uri="{9D8B030D-6E8A-4147-A177-3AD203B41FA5}">
                      <a16:colId xmlns:a16="http://schemas.microsoft.com/office/drawing/2014/main" val="20000"/>
                    </a:ext>
                  </a:extLst>
                </a:gridCol>
                <a:gridCol w="1026901">
                  <a:extLst>
                    <a:ext uri="{9D8B030D-6E8A-4147-A177-3AD203B41FA5}">
                      <a16:colId xmlns:a16="http://schemas.microsoft.com/office/drawing/2014/main" val="20001"/>
                    </a:ext>
                  </a:extLst>
                </a:gridCol>
                <a:gridCol w="1266335">
                  <a:extLst>
                    <a:ext uri="{9D8B030D-6E8A-4147-A177-3AD203B41FA5}">
                      <a16:colId xmlns:a16="http://schemas.microsoft.com/office/drawing/2014/main" val="20002"/>
                    </a:ext>
                  </a:extLst>
                </a:gridCol>
                <a:gridCol w="784809">
                  <a:extLst>
                    <a:ext uri="{9D8B030D-6E8A-4147-A177-3AD203B41FA5}">
                      <a16:colId xmlns:a16="http://schemas.microsoft.com/office/drawing/2014/main" val="20003"/>
                    </a:ext>
                  </a:extLst>
                </a:gridCol>
              </a:tblGrid>
              <a:tr h="414338">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姓名</a:t>
                      </a:r>
                    </a:p>
                  </a:txBody>
                  <a:tcPr marL="91412" marR="914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住址</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工作单位</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工资</a:t>
                      </a:r>
                    </a:p>
                  </a:txBody>
                  <a:tcPr marL="91412" marR="914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张三</a:t>
                      </a:r>
                    </a:p>
                  </a:txBody>
                  <a:tcPr marL="91412" marR="914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河大</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清华同方</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1500</a:t>
                      </a:r>
                    </a:p>
                  </a:txBody>
                  <a:tcPr marL="91412" marR="914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338">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李四</a:t>
                      </a:r>
                    </a:p>
                  </a:txBody>
                  <a:tcPr marL="91412" marR="914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苹果园</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北大方正</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2400</a:t>
                      </a:r>
                    </a:p>
                  </a:txBody>
                  <a:tcPr marL="91412" marR="914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4338">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赵六</a:t>
                      </a:r>
                    </a:p>
                  </a:txBody>
                  <a:tcPr marL="91412" marR="914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南关</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四川长虹</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1800</a:t>
                      </a:r>
                    </a:p>
                  </a:txBody>
                  <a:tcPr marL="91412" marR="914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 name="标题 2">
            <a:extLst>
              <a:ext uri="{FF2B5EF4-FFF2-40B4-BE49-F238E27FC236}">
                <a16:creationId xmlns:a16="http://schemas.microsoft.com/office/drawing/2014/main" id="{1CB4C580-7305-4C4B-A1E6-5B66D6DF1A61}"/>
              </a:ext>
            </a:extLst>
          </p:cNvPr>
          <p:cNvSpPr>
            <a:spLocks noGrp="1"/>
          </p:cNvSpPr>
          <p:nvPr>
            <p:ph type="title"/>
          </p:nvPr>
        </p:nvSpPr>
        <p:spPr/>
        <p:txBody>
          <a:bodyPr/>
          <a:lstStyle/>
          <a:p>
            <a:r>
              <a:rPr lang="zh-CN" altLang="en-US" dirty="0"/>
              <a:t>外连接</a:t>
            </a:r>
          </a:p>
        </p:txBody>
      </p:sp>
      <p:sp>
        <p:nvSpPr>
          <p:cNvPr id="2" name="灯片编号占位符 1">
            <a:extLst>
              <a:ext uri="{FF2B5EF4-FFF2-40B4-BE49-F238E27FC236}">
                <a16:creationId xmlns:a16="http://schemas.microsoft.com/office/drawing/2014/main" id="{0D2EE7A8-C5E3-4DC7-B00B-B7ADE2F51AC3}"/>
              </a:ext>
            </a:extLst>
          </p:cNvPr>
          <p:cNvSpPr>
            <a:spLocks noGrp="1"/>
          </p:cNvSpPr>
          <p:nvPr>
            <p:ph type="sldNum" sz="quarter" idx="12"/>
          </p:nvPr>
        </p:nvSpPr>
        <p:spPr/>
        <p:txBody>
          <a:bodyPr/>
          <a:lstStyle/>
          <a:p>
            <a:fld id="{47C9E101-E51D-431E-84FA-C029B8655B60}" type="slidenum">
              <a:rPr lang="zh-CN" altLang="en-US" smtClean="0"/>
              <a:t>77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83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15198"/>
                                        </p:tgtEl>
                                        <p:attrNameLst>
                                          <p:attrName>style.visibility</p:attrName>
                                        </p:attrNameLst>
                                      </p:cBhvr>
                                      <p:to>
                                        <p:strVal val="visible"/>
                                      </p:to>
                                    </p:set>
                                    <p:animEffect transition="in" filter="blinds(horizontal)">
                                      <p:cBhvr>
                                        <p:cTn id="15" dur="500"/>
                                        <p:tgtEl>
                                          <p:spTgt spid="515198"/>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515166"/>
                                        </p:tgtEl>
                                        <p:attrNameLst>
                                          <p:attrName>style.visibility</p:attrName>
                                        </p:attrNameLst>
                                      </p:cBhvr>
                                      <p:to>
                                        <p:strVal val="visible"/>
                                      </p:to>
                                    </p:set>
                                    <p:animEffect transition="in" filter="box(in)">
                                      <p:cBhvr>
                                        <p:cTn id="20" dur="500"/>
                                        <p:tgtEl>
                                          <p:spTgt spid="515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198" grpId="0"/>
      <p:bldP spid="9838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a:extLst>
              <a:ext uri="{FF2B5EF4-FFF2-40B4-BE49-F238E27FC236}">
                <a16:creationId xmlns:a16="http://schemas.microsoft.com/office/drawing/2014/main" id="{046424E5-8060-4B65-BD0C-AAAB12FFD6F0}"/>
              </a:ext>
            </a:extLst>
          </p:cNvPr>
          <p:cNvSpPr txBox="1">
            <a:spLocks noChangeArrowheads="1"/>
          </p:cNvSpPr>
          <p:nvPr/>
        </p:nvSpPr>
        <p:spPr bwMode="auto">
          <a:xfrm>
            <a:off x="1919288" y="835316"/>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zh-CN" altLang="en-US" sz="2400" b="1">
                <a:solidFill>
                  <a:srgbClr val="000000"/>
                </a:solidFill>
                <a:latin typeface="微软雅黑" panose="020B0503020204020204" pitchFamily="34" charset="-122"/>
              </a:rPr>
              <a:t>客户</a:t>
            </a:r>
            <a:r>
              <a:rPr lang="en-US" altLang="zh-CN" sz="2400" b="1">
                <a:solidFill>
                  <a:srgbClr val="000000"/>
                </a:solidFill>
                <a:latin typeface="微软雅黑" panose="020B0503020204020204" pitchFamily="34" charset="-122"/>
              </a:rPr>
              <a:t>1</a:t>
            </a:r>
          </a:p>
        </p:txBody>
      </p:sp>
      <p:sp>
        <p:nvSpPr>
          <p:cNvPr id="99331" name="Text Box 3">
            <a:extLst>
              <a:ext uri="{FF2B5EF4-FFF2-40B4-BE49-F238E27FC236}">
                <a16:creationId xmlns:a16="http://schemas.microsoft.com/office/drawing/2014/main" id="{E17734F0-045F-4472-86A7-5AD97564C623}"/>
              </a:ext>
            </a:extLst>
          </p:cNvPr>
          <p:cNvSpPr txBox="1">
            <a:spLocks noChangeArrowheads="1"/>
          </p:cNvSpPr>
          <p:nvPr/>
        </p:nvSpPr>
        <p:spPr bwMode="auto">
          <a:xfrm>
            <a:off x="5086350" y="835316"/>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zh-CN" altLang="en-US" sz="2400" b="1">
                <a:solidFill>
                  <a:srgbClr val="000000"/>
                </a:solidFill>
                <a:latin typeface="微软雅黑" panose="020B0503020204020204" pitchFamily="34" charset="-122"/>
              </a:rPr>
              <a:t>客户</a:t>
            </a:r>
            <a:r>
              <a:rPr lang="en-US" altLang="zh-CN" sz="2400" b="1">
                <a:solidFill>
                  <a:srgbClr val="000000"/>
                </a:solidFill>
                <a:latin typeface="微软雅黑" panose="020B0503020204020204" pitchFamily="34" charset="-122"/>
              </a:rPr>
              <a:t>2</a:t>
            </a:r>
          </a:p>
        </p:txBody>
      </p:sp>
      <p:graphicFrame>
        <p:nvGraphicFramePr>
          <p:cNvPr id="549892" name="Group 4">
            <a:extLst>
              <a:ext uri="{FF2B5EF4-FFF2-40B4-BE49-F238E27FC236}">
                <a16:creationId xmlns:a16="http://schemas.microsoft.com/office/drawing/2014/main" id="{6FFD2A81-55D3-4976-A40E-BB3E4AF4D840}"/>
              </a:ext>
            </a:extLst>
          </p:cNvPr>
          <p:cNvGraphicFramePr>
            <a:graphicFrameLocks noGrp="1"/>
          </p:cNvGraphicFramePr>
          <p:nvPr>
            <p:extLst/>
          </p:nvPr>
        </p:nvGraphicFramePr>
        <p:xfrm>
          <a:off x="1992313" y="1411578"/>
          <a:ext cx="2520950" cy="2232026"/>
        </p:xfrm>
        <a:graphic>
          <a:graphicData uri="http://schemas.openxmlformats.org/drawingml/2006/table">
            <a:tbl>
              <a:tblPr/>
              <a:tblGrid>
                <a:gridCol w="1008063">
                  <a:extLst>
                    <a:ext uri="{9D8B030D-6E8A-4147-A177-3AD203B41FA5}">
                      <a16:colId xmlns:a16="http://schemas.microsoft.com/office/drawing/2014/main" val="20000"/>
                    </a:ext>
                  </a:extLst>
                </a:gridCol>
                <a:gridCol w="1512887">
                  <a:extLst>
                    <a:ext uri="{9D8B030D-6E8A-4147-A177-3AD203B41FA5}">
                      <a16:colId xmlns:a16="http://schemas.microsoft.com/office/drawing/2014/main" val="20001"/>
                    </a:ext>
                  </a:extLst>
                </a:gridCol>
              </a:tblGrid>
              <a:tr h="43103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姓名</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住址</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8684">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张三</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河大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0249">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李四</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苹果园</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03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王五</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中山路</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03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赵六</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南关</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49912" name="Group 24">
            <a:extLst>
              <a:ext uri="{FF2B5EF4-FFF2-40B4-BE49-F238E27FC236}">
                <a16:creationId xmlns:a16="http://schemas.microsoft.com/office/drawing/2014/main" id="{7FE83ADC-1E9A-4719-9589-2941C8B52EBA}"/>
              </a:ext>
            </a:extLst>
          </p:cNvPr>
          <p:cNvGraphicFramePr>
            <a:graphicFrameLocks noGrp="1"/>
          </p:cNvGraphicFramePr>
          <p:nvPr>
            <p:extLst/>
          </p:nvPr>
        </p:nvGraphicFramePr>
        <p:xfrm>
          <a:off x="5159376" y="1411578"/>
          <a:ext cx="4824413" cy="2232024"/>
        </p:xfrm>
        <a:graphic>
          <a:graphicData uri="http://schemas.openxmlformats.org/drawingml/2006/table">
            <a:tbl>
              <a:tblPr/>
              <a:tblGrid>
                <a:gridCol w="1223963">
                  <a:extLst>
                    <a:ext uri="{9D8B030D-6E8A-4147-A177-3AD203B41FA5}">
                      <a16:colId xmlns:a16="http://schemas.microsoft.com/office/drawing/2014/main" val="20000"/>
                    </a:ext>
                  </a:extLst>
                </a:gridCol>
                <a:gridCol w="1992312">
                  <a:extLst>
                    <a:ext uri="{9D8B030D-6E8A-4147-A177-3AD203B41FA5}">
                      <a16:colId xmlns:a16="http://schemas.microsoft.com/office/drawing/2014/main" val="20001"/>
                    </a:ext>
                  </a:extLst>
                </a:gridCol>
                <a:gridCol w="1608138">
                  <a:extLst>
                    <a:ext uri="{9D8B030D-6E8A-4147-A177-3AD203B41FA5}">
                      <a16:colId xmlns:a16="http://schemas.microsoft.com/office/drawing/2014/main" val="20002"/>
                    </a:ext>
                  </a:extLst>
                </a:gridCol>
              </a:tblGrid>
              <a:tr h="446952">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姓名</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工作单位</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工资</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5584">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张三</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清华同方</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1500</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6952">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李四</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北大方正</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2400</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5584">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李红</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海尔集团</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2300</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6952">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赵六</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四川长虹</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1800</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9378" name="Text Box 50">
            <a:extLst>
              <a:ext uri="{FF2B5EF4-FFF2-40B4-BE49-F238E27FC236}">
                <a16:creationId xmlns:a16="http://schemas.microsoft.com/office/drawing/2014/main" id="{39E2FA8E-D45C-41C3-9D10-1811452D0761}"/>
              </a:ext>
            </a:extLst>
          </p:cNvPr>
          <p:cNvSpPr txBox="1">
            <a:spLocks noChangeArrowheads="1"/>
          </p:cNvSpPr>
          <p:nvPr/>
        </p:nvSpPr>
        <p:spPr bwMode="auto">
          <a:xfrm>
            <a:off x="1919288" y="3930941"/>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zh-CN" altLang="en-US" sz="2400" b="1">
                <a:solidFill>
                  <a:srgbClr val="000000"/>
                </a:solidFill>
                <a:latin typeface="微软雅黑" panose="020B0503020204020204" pitchFamily="34" charset="-122"/>
              </a:rPr>
              <a:t>自然连接</a:t>
            </a:r>
          </a:p>
        </p:txBody>
      </p:sp>
      <p:graphicFrame>
        <p:nvGraphicFramePr>
          <p:cNvPr id="549939" name="Group 51">
            <a:extLst>
              <a:ext uri="{FF2B5EF4-FFF2-40B4-BE49-F238E27FC236}">
                <a16:creationId xmlns:a16="http://schemas.microsoft.com/office/drawing/2014/main" id="{CA453A98-AE5F-4E06-9397-2B6827CE769C}"/>
              </a:ext>
            </a:extLst>
          </p:cNvPr>
          <p:cNvGraphicFramePr>
            <a:graphicFrameLocks noGrp="1"/>
          </p:cNvGraphicFramePr>
          <p:nvPr>
            <p:extLst/>
          </p:nvPr>
        </p:nvGraphicFramePr>
        <p:xfrm>
          <a:off x="1992313" y="4435766"/>
          <a:ext cx="3922712" cy="1657352"/>
        </p:xfrm>
        <a:graphic>
          <a:graphicData uri="http://schemas.openxmlformats.org/drawingml/2006/table">
            <a:tbl>
              <a:tblPr/>
              <a:tblGrid>
                <a:gridCol w="844667">
                  <a:extLst>
                    <a:ext uri="{9D8B030D-6E8A-4147-A177-3AD203B41FA5}">
                      <a16:colId xmlns:a16="http://schemas.microsoft.com/office/drawing/2014/main" val="20000"/>
                    </a:ext>
                  </a:extLst>
                </a:gridCol>
                <a:gridCol w="1026901">
                  <a:extLst>
                    <a:ext uri="{9D8B030D-6E8A-4147-A177-3AD203B41FA5}">
                      <a16:colId xmlns:a16="http://schemas.microsoft.com/office/drawing/2014/main" val="20001"/>
                    </a:ext>
                  </a:extLst>
                </a:gridCol>
                <a:gridCol w="1266335">
                  <a:extLst>
                    <a:ext uri="{9D8B030D-6E8A-4147-A177-3AD203B41FA5}">
                      <a16:colId xmlns:a16="http://schemas.microsoft.com/office/drawing/2014/main" val="20002"/>
                    </a:ext>
                  </a:extLst>
                </a:gridCol>
                <a:gridCol w="784809">
                  <a:extLst>
                    <a:ext uri="{9D8B030D-6E8A-4147-A177-3AD203B41FA5}">
                      <a16:colId xmlns:a16="http://schemas.microsoft.com/office/drawing/2014/main" val="20003"/>
                    </a:ext>
                  </a:extLst>
                </a:gridCol>
              </a:tblGrid>
              <a:tr h="414338">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姓名</a:t>
                      </a:r>
                    </a:p>
                  </a:txBody>
                  <a:tcPr marL="91412" marR="914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住址</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工作单位</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工资</a:t>
                      </a:r>
                    </a:p>
                  </a:txBody>
                  <a:tcPr marL="91412" marR="914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张三</a:t>
                      </a:r>
                    </a:p>
                  </a:txBody>
                  <a:tcPr marL="91412" marR="914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河大</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清华同方</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1500</a:t>
                      </a:r>
                    </a:p>
                  </a:txBody>
                  <a:tcPr marL="91412" marR="914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338">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李四</a:t>
                      </a:r>
                    </a:p>
                  </a:txBody>
                  <a:tcPr marL="91412" marR="914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苹果园</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北大方正</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2400</a:t>
                      </a:r>
                    </a:p>
                  </a:txBody>
                  <a:tcPr marL="91412" marR="914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4338">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赵六</a:t>
                      </a:r>
                    </a:p>
                  </a:txBody>
                  <a:tcPr marL="91412" marR="914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南关</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四川长虹</a:t>
                      </a:r>
                    </a:p>
                  </a:txBody>
                  <a:tcPr marL="91412" marR="914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1800</a:t>
                      </a:r>
                    </a:p>
                  </a:txBody>
                  <a:tcPr marL="91412" marR="914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49998" name="Text Box 110">
            <a:extLst>
              <a:ext uri="{FF2B5EF4-FFF2-40B4-BE49-F238E27FC236}">
                <a16:creationId xmlns:a16="http://schemas.microsoft.com/office/drawing/2014/main" id="{A16C8054-67E3-4FA1-861C-5926D84A0B38}"/>
              </a:ext>
            </a:extLst>
          </p:cNvPr>
          <p:cNvSpPr txBox="1">
            <a:spLocks noChangeArrowheads="1"/>
          </p:cNvSpPr>
          <p:nvPr/>
        </p:nvSpPr>
        <p:spPr bwMode="auto">
          <a:xfrm>
            <a:off x="6096001" y="3935703"/>
            <a:ext cx="201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zh-CN" altLang="en-US" sz="2400" b="1" dirty="0">
                <a:solidFill>
                  <a:srgbClr val="3333FF"/>
                </a:solidFill>
                <a:latin typeface="微软雅黑" panose="020B0503020204020204" pitchFamily="34" charset="-122"/>
              </a:rPr>
              <a:t>右外连接</a:t>
            </a:r>
          </a:p>
        </p:txBody>
      </p:sp>
      <p:graphicFrame>
        <p:nvGraphicFramePr>
          <p:cNvPr id="549999" name="Group 111">
            <a:extLst>
              <a:ext uri="{FF2B5EF4-FFF2-40B4-BE49-F238E27FC236}">
                <a16:creationId xmlns:a16="http://schemas.microsoft.com/office/drawing/2014/main" id="{903EC25D-840C-4C11-A220-D9072F419896}"/>
              </a:ext>
            </a:extLst>
          </p:cNvPr>
          <p:cNvGraphicFramePr>
            <a:graphicFrameLocks noGrp="1"/>
          </p:cNvGraphicFramePr>
          <p:nvPr>
            <p:extLst/>
          </p:nvPr>
        </p:nvGraphicFramePr>
        <p:xfrm>
          <a:off x="6167438" y="4435766"/>
          <a:ext cx="4103688" cy="2016124"/>
        </p:xfrm>
        <a:graphic>
          <a:graphicData uri="http://schemas.openxmlformats.org/drawingml/2006/table">
            <a:tbl>
              <a:tblPr/>
              <a:tblGrid>
                <a:gridCol w="792163">
                  <a:extLst>
                    <a:ext uri="{9D8B030D-6E8A-4147-A177-3AD203B41FA5}">
                      <a16:colId xmlns:a16="http://schemas.microsoft.com/office/drawing/2014/main" val="20000"/>
                    </a:ext>
                  </a:extLst>
                </a:gridCol>
                <a:gridCol w="1079500">
                  <a:extLst>
                    <a:ext uri="{9D8B030D-6E8A-4147-A177-3AD203B41FA5}">
                      <a16:colId xmlns:a16="http://schemas.microsoft.com/office/drawing/2014/main" val="20001"/>
                    </a:ext>
                  </a:extLst>
                </a:gridCol>
                <a:gridCol w="1368425">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tblGrid>
              <a:tr h="40938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姓名</a:t>
                      </a: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住址</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工作单位</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工资</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1686">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张三</a:t>
                      </a: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河大</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清华同方</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1500</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1686">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李四</a:t>
                      </a: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苹果园</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北大方正</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2400</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1686">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李红</a:t>
                      </a: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kern="1200" cap="none" normalizeH="0" baseline="0" dirty="0">
                          <a:ln>
                            <a:noFill/>
                          </a:ln>
                          <a:solidFill>
                            <a:srgbClr val="C00000"/>
                          </a:solidFill>
                          <a:effectLst/>
                          <a:latin typeface="Times New Roman" panose="02020603050405020304" pitchFamily="18" charset="0"/>
                          <a:ea typeface="微软雅黑" panose="020B0503020204020204" pitchFamily="34" charset="-122"/>
                          <a:cs typeface="Times New Roman" panose="02020603050405020304" pitchFamily="18" charset="0"/>
                        </a:rPr>
                        <a:t>NULL</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海尔集团</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kern="1200" cap="none" normalizeH="0" baseline="0" dirty="0">
                          <a:ln>
                            <a:noFill/>
                          </a:ln>
                          <a:solidFill>
                            <a:srgbClr val="C00000"/>
                          </a:solidFill>
                          <a:effectLst/>
                          <a:latin typeface="Times New Roman" panose="02020603050405020304" pitchFamily="18" charset="0"/>
                          <a:ea typeface="微软雅黑" panose="020B0503020204020204" pitchFamily="34" charset="-122"/>
                          <a:cs typeface="Times New Roman" panose="02020603050405020304" pitchFamily="18" charset="0"/>
                        </a:rPr>
                        <a:t>2300</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1686">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赵六</a:t>
                      </a:r>
                    </a:p>
                  </a:txBody>
                  <a:tcPr marT="45704" marB="457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南关</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四川长虹</a:t>
                      </a:r>
                    </a:p>
                  </a:txBody>
                  <a:tcPr marT="45704" marB="457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1800</a:t>
                      </a:r>
                    </a:p>
                  </a:txBody>
                  <a:tcPr marT="45704" marB="457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94884590-077E-46F7-A135-072D723297BA}"/>
              </a:ext>
            </a:extLst>
          </p:cNvPr>
          <p:cNvSpPr>
            <a:spLocks noGrp="1"/>
          </p:cNvSpPr>
          <p:nvPr>
            <p:ph type="sldNum" sz="quarter" idx="12"/>
          </p:nvPr>
        </p:nvSpPr>
        <p:spPr/>
        <p:txBody>
          <a:bodyPr/>
          <a:lstStyle/>
          <a:p>
            <a:fld id="{47C9E101-E51D-431E-84FA-C029B8655B60}" type="slidenum">
              <a:rPr lang="zh-CN" altLang="en-US" smtClean="0"/>
              <a:t>78</a:t>
            </a:fld>
            <a:endParaRPr lang="zh-CN" altLang="en-US"/>
          </a:p>
        </p:txBody>
      </p:sp>
      <p:sp>
        <p:nvSpPr>
          <p:cNvPr id="13" name="标题 2">
            <a:extLst>
              <a:ext uri="{FF2B5EF4-FFF2-40B4-BE49-F238E27FC236}">
                <a16:creationId xmlns:a16="http://schemas.microsoft.com/office/drawing/2014/main" id="{9118BF5C-9DD1-47EB-A4A2-7B88715A9093}"/>
              </a:ext>
            </a:extLst>
          </p:cNvPr>
          <p:cNvSpPr>
            <a:spLocks noGrp="1"/>
          </p:cNvSpPr>
          <p:nvPr>
            <p:ph type="title"/>
          </p:nvPr>
        </p:nvSpPr>
        <p:spPr>
          <a:xfrm>
            <a:off x="1281113" y="238125"/>
            <a:ext cx="9553575" cy="512763"/>
          </a:xfrm>
        </p:spPr>
        <p:txBody>
          <a:bodyPr/>
          <a:lstStyle/>
          <a:p>
            <a:r>
              <a:rPr lang="zh-CN" altLang="en-US" dirty="0"/>
              <a:t>外连接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549998"/>
                                        </p:tgtEl>
                                        <p:attrNameLst>
                                          <p:attrName>style.visibility</p:attrName>
                                        </p:attrNameLst>
                                      </p:cBhvr>
                                      <p:to>
                                        <p:strVal val="visible"/>
                                      </p:to>
                                    </p:set>
                                    <p:animEffect transition="in" filter="blinds(horizontal)">
                                      <p:cBhvr>
                                        <p:cTn id="7" dur="500"/>
                                        <p:tgtEl>
                                          <p:spTgt spid="5499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549999"/>
                                        </p:tgtEl>
                                        <p:attrNameLst>
                                          <p:attrName>style.visibility</p:attrName>
                                        </p:attrNameLst>
                                      </p:cBhvr>
                                      <p:to>
                                        <p:strVal val="visible"/>
                                      </p:to>
                                    </p:set>
                                    <p:animEffect transition="in" filter="box(in)">
                                      <p:cBhvr>
                                        <p:cTn id="12" dur="500"/>
                                        <p:tgtEl>
                                          <p:spTgt spid="549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999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a:extLst>
              <a:ext uri="{FF2B5EF4-FFF2-40B4-BE49-F238E27FC236}">
                <a16:creationId xmlns:a16="http://schemas.microsoft.com/office/drawing/2014/main" id="{EF9D07A3-0FB8-4B79-8306-C9681A30A7ED}"/>
              </a:ext>
            </a:extLst>
          </p:cNvPr>
          <p:cNvSpPr txBox="1">
            <a:spLocks noChangeArrowheads="1"/>
          </p:cNvSpPr>
          <p:nvPr/>
        </p:nvSpPr>
        <p:spPr bwMode="auto">
          <a:xfrm>
            <a:off x="1847851" y="840667"/>
            <a:ext cx="201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zh-CN" altLang="en-US" sz="2400" b="1">
                <a:solidFill>
                  <a:srgbClr val="000000"/>
                </a:solidFill>
                <a:latin typeface="微软雅黑" panose="020B0503020204020204" pitchFamily="34" charset="-122"/>
              </a:rPr>
              <a:t>左外连接</a:t>
            </a:r>
          </a:p>
        </p:txBody>
      </p:sp>
      <p:sp>
        <p:nvSpPr>
          <p:cNvPr id="100355" name="Text Box 3">
            <a:extLst>
              <a:ext uri="{FF2B5EF4-FFF2-40B4-BE49-F238E27FC236}">
                <a16:creationId xmlns:a16="http://schemas.microsoft.com/office/drawing/2014/main" id="{D66BE02D-F0BB-498D-8078-62A74FA66312}"/>
              </a:ext>
            </a:extLst>
          </p:cNvPr>
          <p:cNvSpPr txBox="1">
            <a:spLocks noChangeArrowheads="1"/>
          </p:cNvSpPr>
          <p:nvPr/>
        </p:nvSpPr>
        <p:spPr bwMode="auto">
          <a:xfrm>
            <a:off x="6240464" y="827967"/>
            <a:ext cx="201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zh-CN" altLang="en-US" sz="2400" b="1">
                <a:solidFill>
                  <a:srgbClr val="000000"/>
                </a:solidFill>
                <a:latin typeface="微软雅黑" panose="020B0503020204020204" pitchFamily="34" charset="-122"/>
              </a:rPr>
              <a:t>右外连接</a:t>
            </a:r>
          </a:p>
        </p:txBody>
      </p:sp>
      <p:sp>
        <p:nvSpPr>
          <p:cNvPr id="100356" name="Text Box 4">
            <a:extLst>
              <a:ext uri="{FF2B5EF4-FFF2-40B4-BE49-F238E27FC236}">
                <a16:creationId xmlns:a16="http://schemas.microsoft.com/office/drawing/2014/main" id="{DB1B630F-9592-4424-9746-50A87519B37A}"/>
              </a:ext>
            </a:extLst>
          </p:cNvPr>
          <p:cNvSpPr txBox="1">
            <a:spLocks noChangeArrowheads="1"/>
          </p:cNvSpPr>
          <p:nvPr/>
        </p:nvSpPr>
        <p:spPr bwMode="auto">
          <a:xfrm>
            <a:off x="1860551" y="3687055"/>
            <a:ext cx="201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zh-CN" altLang="en-US" sz="2400" b="1" dirty="0">
                <a:solidFill>
                  <a:srgbClr val="3333FF"/>
                </a:solidFill>
                <a:latin typeface="微软雅黑" panose="020B0503020204020204" pitchFamily="34" charset="-122"/>
              </a:rPr>
              <a:t>全外连接</a:t>
            </a:r>
          </a:p>
        </p:txBody>
      </p:sp>
      <p:graphicFrame>
        <p:nvGraphicFramePr>
          <p:cNvPr id="516231" name="Group 135">
            <a:extLst>
              <a:ext uri="{FF2B5EF4-FFF2-40B4-BE49-F238E27FC236}">
                <a16:creationId xmlns:a16="http://schemas.microsoft.com/office/drawing/2014/main" id="{E08303AE-57E9-4D7B-BCB1-7EFAB12693D0}"/>
              </a:ext>
            </a:extLst>
          </p:cNvPr>
          <p:cNvGraphicFramePr>
            <a:graphicFrameLocks noGrp="1"/>
          </p:cNvGraphicFramePr>
          <p:nvPr>
            <p:extLst/>
          </p:nvPr>
        </p:nvGraphicFramePr>
        <p:xfrm>
          <a:off x="1919289" y="1312155"/>
          <a:ext cx="4178299" cy="2087564"/>
        </p:xfrm>
        <a:graphic>
          <a:graphicData uri="http://schemas.openxmlformats.org/drawingml/2006/table">
            <a:tbl>
              <a:tblPr/>
              <a:tblGrid>
                <a:gridCol w="822637">
                  <a:extLst>
                    <a:ext uri="{9D8B030D-6E8A-4147-A177-3AD203B41FA5}">
                      <a16:colId xmlns:a16="http://schemas.microsoft.com/office/drawing/2014/main" val="20000"/>
                    </a:ext>
                  </a:extLst>
                </a:gridCol>
                <a:gridCol w="1051324">
                  <a:extLst>
                    <a:ext uri="{9D8B030D-6E8A-4147-A177-3AD203B41FA5}">
                      <a16:colId xmlns:a16="http://schemas.microsoft.com/office/drawing/2014/main" val="20001"/>
                    </a:ext>
                  </a:extLst>
                </a:gridCol>
                <a:gridCol w="1368945">
                  <a:extLst>
                    <a:ext uri="{9D8B030D-6E8A-4147-A177-3AD203B41FA5}">
                      <a16:colId xmlns:a16="http://schemas.microsoft.com/office/drawing/2014/main" val="20002"/>
                    </a:ext>
                  </a:extLst>
                </a:gridCol>
                <a:gridCol w="935393">
                  <a:extLst>
                    <a:ext uri="{9D8B030D-6E8A-4147-A177-3AD203B41FA5}">
                      <a16:colId xmlns:a16="http://schemas.microsoft.com/office/drawing/2014/main" val="20003"/>
                    </a:ext>
                  </a:extLst>
                </a:gridCol>
              </a:tblGrid>
              <a:tr h="415925">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姓名</a:t>
                      </a:r>
                    </a:p>
                  </a:txBody>
                  <a:tcPr marL="91475" marR="9147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住址</a:t>
                      </a:r>
                    </a:p>
                  </a:txBody>
                  <a:tcPr marL="91475" marR="914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工作单位</a:t>
                      </a:r>
                    </a:p>
                  </a:txBody>
                  <a:tcPr marL="91475" marR="914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工资</a:t>
                      </a:r>
                    </a:p>
                  </a:txBody>
                  <a:tcPr marL="91475" marR="9147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张三</a:t>
                      </a:r>
                    </a:p>
                  </a:txBody>
                  <a:tcPr marL="91475" marR="9147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河大</a:t>
                      </a:r>
                    </a:p>
                  </a:txBody>
                  <a:tcPr marL="91475" marR="914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清华同方</a:t>
                      </a:r>
                    </a:p>
                  </a:txBody>
                  <a:tcPr marL="91475" marR="914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1500</a:t>
                      </a:r>
                    </a:p>
                  </a:txBody>
                  <a:tcPr marL="91475" marR="9147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910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李四</a:t>
                      </a:r>
                    </a:p>
                  </a:txBody>
                  <a:tcPr marL="91475" marR="9147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苹果园</a:t>
                      </a:r>
                    </a:p>
                  </a:txBody>
                  <a:tcPr marL="91475" marR="914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北大方正</a:t>
                      </a:r>
                    </a:p>
                  </a:txBody>
                  <a:tcPr marL="91475" marR="914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2400</a:t>
                      </a:r>
                    </a:p>
                  </a:txBody>
                  <a:tcPr marL="91475" marR="9147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王五</a:t>
                      </a:r>
                    </a:p>
                  </a:txBody>
                  <a:tcPr marL="91475" marR="9147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中山路</a:t>
                      </a:r>
                    </a:p>
                  </a:txBody>
                  <a:tcPr marL="91475" marR="914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cs typeface="Times New Roman" panose="02020603050405020304" pitchFamily="18" charset="0"/>
                        </a:rPr>
                        <a:t>NULL</a:t>
                      </a:r>
                    </a:p>
                  </a:txBody>
                  <a:tcPr marL="91475" marR="914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rgbClr val="C00000"/>
                          </a:solidFill>
                          <a:effectLst/>
                          <a:latin typeface="Times New Roman" panose="02020603050405020304" pitchFamily="18" charset="0"/>
                          <a:ea typeface="微软雅黑" panose="020B0503020204020204" pitchFamily="34" charset="-122"/>
                          <a:cs typeface="Times New Roman" panose="02020603050405020304" pitchFamily="18" charset="0"/>
                        </a:rPr>
                        <a:t>NULL</a:t>
                      </a:r>
                    </a:p>
                  </a:txBody>
                  <a:tcPr marL="91475" marR="9147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7513">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赵六</a:t>
                      </a:r>
                    </a:p>
                  </a:txBody>
                  <a:tcPr marL="91475" marR="9147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南关</a:t>
                      </a:r>
                    </a:p>
                  </a:txBody>
                  <a:tcPr marL="91475" marR="914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四川长虹</a:t>
                      </a:r>
                    </a:p>
                  </a:txBody>
                  <a:tcPr marL="91475" marR="9147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1800</a:t>
                      </a:r>
                    </a:p>
                  </a:txBody>
                  <a:tcPr marL="91475" marR="9147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16237" name="Group 141">
            <a:extLst>
              <a:ext uri="{FF2B5EF4-FFF2-40B4-BE49-F238E27FC236}">
                <a16:creationId xmlns:a16="http://schemas.microsoft.com/office/drawing/2014/main" id="{D843C9F8-94EF-40D0-AE85-A27B8B9F487E}"/>
              </a:ext>
            </a:extLst>
          </p:cNvPr>
          <p:cNvGraphicFramePr>
            <a:graphicFrameLocks noGrp="1"/>
          </p:cNvGraphicFramePr>
          <p:nvPr>
            <p:extLst/>
          </p:nvPr>
        </p:nvGraphicFramePr>
        <p:xfrm>
          <a:off x="6311900" y="1316917"/>
          <a:ext cx="4103688" cy="2082802"/>
        </p:xfrm>
        <a:graphic>
          <a:graphicData uri="http://schemas.openxmlformats.org/drawingml/2006/table">
            <a:tbl>
              <a:tblPr/>
              <a:tblGrid>
                <a:gridCol w="792163">
                  <a:extLst>
                    <a:ext uri="{9D8B030D-6E8A-4147-A177-3AD203B41FA5}">
                      <a16:colId xmlns:a16="http://schemas.microsoft.com/office/drawing/2014/main" val="20000"/>
                    </a:ext>
                  </a:extLst>
                </a:gridCol>
                <a:gridCol w="1079500">
                  <a:extLst>
                    <a:ext uri="{9D8B030D-6E8A-4147-A177-3AD203B41FA5}">
                      <a16:colId xmlns:a16="http://schemas.microsoft.com/office/drawing/2014/main" val="20001"/>
                    </a:ext>
                  </a:extLst>
                </a:gridCol>
                <a:gridCol w="1368425">
                  <a:extLst>
                    <a:ext uri="{9D8B030D-6E8A-4147-A177-3AD203B41FA5}">
                      <a16:colId xmlns:a16="http://schemas.microsoft.com/office/drawing/2014/main" val="20002"/>
                    </a:ext>
                  </a:extLst>
                </a:gridCol>
                <a:gridCol w="863600">
                  <a:extLst>
                    <a:ext uri="{9D8B030D-6E8A-4147-A177-3AD203B41FA5}">
                      <a16:colId xmlns:a16="http://schemas.microsoft.com/office/drawing/2014/main" val="20003"/>
                    </a:ext>
                  </a:extLst>
                </a:gridCol>
              </a:tblGrid>
              <a:tr h="422918">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姓名</a:t>
                      </a: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住址</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工作单位</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工资</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97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张三</a:t>
                      </a: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河大</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清华同方</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1500</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97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李四</a:t>
                      </a: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苹果园</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北大方正</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2400</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497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李红</a:t>
                      </a: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kern="1200" cap="none" normalizeH="0" baseline="0" dirty="0">
                          <a:ln>
                            <a:noFill/>
                          </a:ln>
                          <a:solidFill>
                            <a:srgbClr val="C00000"/>
                          </a:solidFill>
                          <a:effectLst/>
                          <a:latin typeface="Times New Roman" panose="02020603050405020304" pitchFamily="18" charset="0"/>
                          <a:ea typeface="微软雅黑" panose="020B0503020204020204" pitchFamily="34" charset="-122"/>
                          <a:cs typeface="Times New Roman" panose="02020603050405020304" pitchFamily="18" charset="0"/>
                        </a:rPr>
                        <a:t>NULL</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海尔集团</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2300</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497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赵六</a:t>
                      </a: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南关</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四川长虹</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1800</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16165" name="Group 69">
            <a:extLst>
              <a:ext uri="{FF2B5EF4-FFF2-40B4-BE49-F238E27FC236}">
                <a16:creationId xmlns:a16="http://schemas.microsoft.com/office/drawing/2014/main" id="{4132F186-DFE6-41D6-ADB0-2764E411A24C}"/>
              </a:ext>
            </a:extLst>
          </p:cNvPr>
          <p:cNvGraphicFramePr>
            <a:graphicFrameLocks noGrp="1"/>
          </p:cNvGraphicFramePr>
          <p:nvPr>
            <p:extLst/>
          </p:nvPr>
        </p:nvGraphicFramePr>
        <p:xfrm>
          <a:off x="3359150" y="3766430"/>
          <a:ext cx="6070600" cy="2513010"/>
        </p:xfrm>
        <a:graphic>
          <a:graphicData uri="http://schemas.openxmlformats.org/drawingml/2006/table">
            <a:tbl>
              <a:tblPr/>
              <a:tblGrid>
                <a:gridCol w="1517650">
                  <a:extLst>
                    <a:ext uri="{9D8B030D-6E8A-4147-A177-3AD203B41FA5}">
                      <a16:colId xmlns:a16="http://schemas.microsoft.com/office/drawing/2014/main" val="20000"/>
                    </a:ext>
                  </a:extLst>
                </a:gridCol>
                <a:gridCol w="1517650">
                  <a:extLst>
                    <a:ext uri="{9D8B030D-6E8A-4147-A177-3AD203B41FA5}">
                      <a16:colId xmlns:a16="http://schemas.microsoft.com/office/drawing/2014/main" val="20001"/>
                    </a:ext>
                  </a:extLst>
                </a:gridCol>
                <a:gridCol w="1517650">
                  <a:extLst>
                    <a:ext uri="{9D8B030D-6E8A-4147-A177-3AD203B41FA5}">
                      <a16:colId xmlns:a16="http://schemas.microsoft.com/office/drawing/2014/main" val="20002"/>
                    </a:ext>
                  </a:extLst>
                </a:gridCol>
                <a:gridCol w="1517650">
                  <a:extLst>
                    <a:ext uri="{9D8B030D-6E8A-4147-A177-3AD203B41FA5}">
                      <a16:colId xmlns:a16="http://schemas.microsoft.com/office/drawing/2014/main" val="20003"/>
                    </a:ext>
                  </a:extLst>
                </a:gridCol>
              </a:tblGrid>
              <a:tr h="418835">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姓名</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住址</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工作单位</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工资</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8835">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张三</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河大</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清华同方</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1500</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8835">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李四</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苹果园</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北大方正</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2400</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8835">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王五</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中山路</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kern="1200" cap="none" normalizeH="0" baseline="0" dirty="0">
                          <a:ln>
                            <a:noFill/>
                          </a:ln>
                          <a:solidFill>
                            <a:srgbClr val="C00000"/>
                          </a:solidFill>
                          <a:effectLst/>
                          <a:latin typeface="Times New Roman" panose="02020603050405020304" pitchFamily="18" charset="0"/>
                          <a:ea typeface="微软雅黑" panose="020B0503020204020204" pitchFamily="34" charset="-122"/>
                          <a:cs typeface="Times New Roman" panose="02020603050405020304" pitchFamily="18" charset="0"/>
                        </a:rPr>
                        <a:t>NULL</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kern="1200" cap="none" normalizeH="0" baseline="0" dirty="0">
                          <a:ln>
                            <a:noFill/>
                          </a:ln>
                          <a:solidFill>
                            <a:srgbClr val="C00000"/>
                          </a:solidFill>
                          <a:effectLst/>
                          <a:latin typeface="Times New Roman" panose="02020603050405020304" pitchFamily="18" charset="0"/>
                          <a:ea typeface="微软雅黑" panose="020B0503020204020204" pitchFamily="34" charset="-122"/>
                          <a:cs typeface="Times New Roman" panose="02020603050405020304" pitchFamily="18" charset="0"/>
                        </a:rPr>
                        <a:t>NULL</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8835">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赵六</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楷体_GB2312"/>
                        </a:rPr>
                        <a:t>南关</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四川长虹</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楷体_GB2312"/>
                        </a:rPr>
                        <a:t>1800</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8835">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李红</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kern="1200" cap="none" normalizeH="0" baseline="0" dirty="0">
                          <a:ln>
                            <a:noFill/>
                          </a:ln>
                          <a:solidFill>
                            <a:srgbClr val="C00000"/>
                          </a:solidFill>
                          <a:effectLst/>
                          <a:latin typeface="Times New Roman" panose="02020603050405020304" pitchFamily="18" charset="0"/>
                          <a:ea typeface="微软雅黑" panose="020B0503020204020204" pitchFamily="34" charset="-122"/>
                          <a:cs typeface="Times New Roman" panose="02020603050405020304" pitchFamily="18" charset="0"/>
                        </a:rPr>
                        <a:t>NULL</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zh-CN" altLang="en-US" sz="20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海尔集团</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20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楷体_GB2312"/>
                        </a:rPr>
                        <a:t>2300</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2" name="标题 2">
            <a:extLst>
              <a:ext uri="{FF2B5EF4-FFF2-40B4-BE49-F238E27FC236}">
                <a16:creationId xmlns:a16="http://schemas.microsoft.com/office/drawing/2014/main" id="{20C40F28-B939-4E7F-8E33-0929E5180003}"/>
              </a:ext>
            </a:extLst>
          </p:cNvPr>
          <p:cNvSpPr>
            <a:spLocks noGrp="1"/>
          </p:cNvSpPr>
          <p:nvPr>
            <p:ph type="title"/>
          </p:nvPr>
        </p:nvSpPr>
        <p:spPr/>
        <p:txBody>
          <a:bodyPr/>
          <a:lstStyle/>
          <a:p>
            <a:r>
              <a:rPr lang="zh-CN" altLang="en-US" dirty="0"/>
              <a:t>外连接</a:t>
            </a:r>
          </a:p>
        </p:txBody>
      </p:sp>
      <p:sp>
        <p:nvSpPr>
          <p:cNvPr id="2" name="灯片编号占位符 1">
            <a:extLst>
              <a:ext uri="{FF2B5EF4-FFF2-40B4-BE49-F238E27FC236}">
                <a16:creationId xmlns:a16="http://schemas.microsoft.com/office/drawing/2014/main" id="{4DB6B4A9-85D2-413F-8681-566CCC9BE2B5}"/>
              </a:ext>
            </a:extLst>
          </p:cNvPr>
          <p:cNvSpPr>
            <a:spLocks noGrp="1"/>
          </p:cNvSpPr>
          <p:nvPr>
            <p:ph type="sldNum" sz="quarter" idx="12"/>
          </p:nvPr>
        </p:nvSpPr>
        <p:spPr/>
        <p:txBody>
          <a:bodyPr/>
          <a:lstStyle/>
          <a:p>
            <a:fld id="{47C9E101-E51D-431E-84FA-C029B8655B60}" type="slidenum">
              <a:rPr lang="zh-CN" altLang="en-US" smtClean="0"/>
              <a:t>79</a:t>
            </a:fld>
            <a:endParaRPr lang="zh-CN" altLang="en-US"/>
          </a:p>
        </p:txBody>
      </p:sp>
      <p:sp>
        <p:nvSpPr>
          <p:cNvPr id="10" name="思想气泡: 云 9">
            <a:extLst>
              <a:ext uri="{FF2B5EF4-FFF2-40B4-BE49-F238E27FC236}">
                <a16:creationId xmlns:a16="http://schemas.microsoft.com/office/drawing/2014/main" id="{7528E350-613E-4148-B1B0-FF73AABF9D68}"/>
              </a:ext>
            </a:extLst>
          </p:cNvPr>
          <p:cNvSpPr/>
          <p:nvPr/>
        </p:nvSpPr>
        <p:spPr>
          <a:xfrm>
            <a:off x="9564093" y="4270013"/>
            <a:ext cx="2444621" cy="1247275"/>
          </a:xfrm>
          <a:prstGeom prst="cloudCallout">
            <a:avLst>
              <a:gd name="adj1" fmla="val -77519"/>
              <a:gd name="adj2" fmla="val 2772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思考：程序设计中如何表示空值？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616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circle(in)">
                                      <p:cBhvr>
                                        <p:cTn id="13"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6" grpId="0"/>
      <p:bldP spid="10"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B1ED3B-B522-4589-A238-1F59CE2AB9F0}"/>
              </a:ext>
            </a:extLst>
          </p:cNvPr>
          <p:cNvSpPr>
            <a:spLocks noGrp="1"/>
          </p:cNvSpPr>
          <p:nvPr>
            <p:ph type="title"/>
          </p:nvPr>
        </p:nvSpPr>
        <p:spPr>
          <a:noFill/>
        </p:spPr>
        <p:txBody>
          <a:bodyPr/>
          <a:lstStyle/>
          <a:p>
            <a:r>
              <a:rPr lang="zh-CN" altLang="en-US" dirty="0">
                <a:solidFill>
                  <a:srgbClr val="FF0000"/>
                </a:solidFill>
              </a:rPr>
              <a:t>问题：连接运算适用于何种场景？</a:t>
            </a:r>
            <a:endParaRPr lang="zh-CN" altLang="en-US" dirty="0"/>
          </a:p>
        </p:txBody>
      </p:sp>
      <p:sp>
        <p:nvSpPr>
          <p:cNvPr id="4" name="灯片编号占位符 3">
            <a:extLst>
              <a:ext uri="{FF2B5EF4-FFF2-40B4-BE49-F238E27FC236}">
                <a16:creationId xmlns:a16="http://schemas.microsoft.com/office/drawing/2014/main" id="{9549A4F1-72AC-4E3A-B98A-3CE9B4D405B9}"/>
              </a:ext>
            </a:extLst>
          </p:cNvPr>
          <p:cNvSpPr>
            <a:spLocks noGrp="1"/>
          </p:cNvSpPr>
          <p:nvPr>
            <p:ph type="sldNum" sz="quarter" idx="12"/>
          </p:nvPr>
        </p:nvSpPr>
        <p:spPr/>
        <p:txBody>
          <a:bodyPr/>
          <a:lstStyle/>
          <a:p>
            <a:fld id="{E63F6D5D-9733-4D44-9C56-AEFEDD5A4BA7}" type="slidenum">
              <a:rPr lang="en-US" smtClean="0"/>
              <a:pPr/>
              <a:t>80</a:t>
            </a:fld>
            <a:endParaRPr lang="en-US" dirty="0"/>
          </a:p>
        </p:txBody>
      </p:sp>
      <p:sp>
        <p:nvSpPr>
          <p:cNvPr id="15" name="Rectangle 88">
            <a:extLst>
              <a:ext uri="{FF2B5EF4-FFF2-40B4-BE49-F238E27FC236}">
                <a16:creationId xmlns:a16="http://schemas.microsoft.com/office/drawing/2014/main" id="{120E78C1-8E0F-40B0-95B0-D71D49B1D157}"/>
              </a:ext>
            </a:extLst>
          </p:cNvPr>
          <p:cNvSpPr>
            <a:spLocks noChangeArrowheads="1"/>
          </p:cNvSpPr>
          <p:nvPr/>
        </p:nvSpPr>
        <p:spPr bwMode="auto">
          <a:xfrm>
            <a:off x="5217259" y="4922643"/>
            <a:ext cx="6705601" cy="584775"/>
          </a:xfrm>
          <a:prstGeom prst="rect">
            <a:avLst/>
          </a:prstGeom>
          <a:solidFill>
            <a:srgbClr val="FFFF00"/>
          </a:solidFill>
          <a:ln w="9525">
            <a:noFill/>
            <a:miter lim="800000"/>
            <a:headEnd/>
            <a:tailEnd/>
          </a:ln>
          <a:effectLst/>
        </p:spPr>
        <p:txBody>
          <a:bodyPr wrap="square" anchor="ctr">
            <a:spAutoFit/>
          </a:bodyPr>
          <a:lstStyle/>
          <a:p>
            <a:pPr algn="ctr">
              <a:defRPr/>
            </a:pPr>
            <a:r>
              <a:rPr lang="zh-CN" altLang="en-US" sz="3200" dirty="0">
                <a:solidFill>
                  <a:srgbClr val="FF000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通过连接运算可以实现多表查询</a:t>
            </a:r>
            <a:r>
              <a:rPr lang="zh-CN" altLang="en-US" sz="3200" dirty="0">
                <a:solidFill>
                  <a:srgbClr val="0000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 </a:t>
            </a:r>
          </a:p>
        </p:txBody>
      </p:sp>
      <p:cxnSp>
        <p:nvCxnSpPr>
          <p:cNvPr id="16" name="直接连接符 15">
            <a:extLst>
              <a:ext uri="{FF2B5EF4-FFF2-40B4-BE49-F238E27FC236}">
                <a16:creationId xmlns:a16="http://schemas.microsoft.com/office/drawing/2014/main" id="{73874C9D-D592-478A-8DE1-A80D041CF4CA}"/>
              </a:ext>
            </a:extLst>
          </p:cNvPr>
          <p:cNvCxnSpPr>
            <a:cxnSpLocks/>
          </p:cNvCxnSpPr>
          <p:nvPr/>
        </p:nvCxnSpPr>
        <p:spPr>
          <a:xfrm>
            <a:off x="4985282" y="1229856"/>
            <a:ext cx="0" cy="5198784"/>
          </a:xfrm>
          <a:prstGeom prst="line">
            <a:avLst/>
          </a:prstGeom>
          <a:ln w="19050">
            <a:prstDash val="dashDot"/>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id="{5B83F0CB-41F9-41A6-A5BC-B9F33C577513}"/>
              </a:ext>
            </a:extLst>
          </p:cNvPr>
          <p:cNvPicPr>
            <a:picLocks noChangeAspect="1"/>
          </p:cNvPicPr>
          <p:nvPr/>
        </p:nvPicPr>
        <p:blipFill>
          <a:blip r:embed="rId2"/>
          <a:stretch>
            <a:fillRect/>
          </a:stretch>
        </p:blipFill>
        <p:spPr>
          <a:xfrm>
            <a:off x="101350" y="1447835"/>
            <a:ext cx="4666318" cy="4800600"/>
          </a:xfrm>
          <a:prstGeom prst="rect">
            <a:avLst/>
          </a:prstGeom>
        </p:spPr>
      </p:pic>
      <p:pic>
        <p:nvPicPr>
          <p:cNvPr id="18" name="图片 17">
            <a:extLst>
              <a:ext uri="{FF2B5EF4-FFF2-40B4-BE49-F238E27FC236}">
                <a16:creationId xmlns:a16="http://schemas.microsoft.com/office/drawing/2014/main" id="{4DD89FB2-6219-4C7B-9FF7-3ADE9CDEB8BE}"/>
              </a:ext>
            </a:extLst>
          </p:cNvPr>
          <p:cNvPicPr>
            <a:picLocks noChangeAspect="1"/>
          </p:cNvPicPr>
          <p:nvPr/>
        </p:nvPicPr>
        <p:blipFill>
          <a:blip r:embed="rId3"/>
          <a:stretch>
            <a:fillRect/>
          </a:stretch>
        </p:blipFill>
        <p:spPr>
          <a:xfrm>
            <a:off x="5235279" y="1533847"/>
            <a:ext cx="6248400" cy="1219200"/>
          </a:xfrm>
          <a:prstGeom prst="rect">
            <a:avLst/>
          </a:prstGeom>
        </p:spPr>
      </p:pic>
      <p:pic>
        <p:nvPicPr>
          <p:cNvPr id="19" name="图片 18">
            <a:extLst>
              <a:ext uri="{FF2B5EF4-FFF2-40B4-BE49-F238E27FC236}">
                <a16:creationId xmlns:a16="http://schemas.microsoft.com/office/drawing/2014/main" id="{B063227A-6C1C-4B7C-9737-542F531DF615}"/>
              </a:ext>
            </a:extLst>
          </p:cNvPr>
          <p:cNvPicPr>
            <a:picLocks noChangeAspect="1"/>
          </p:cNvPicPr>
          <p:nvPr/>
        </p:nvPicPr>
        <p:blipFill>
          <a:blip r:embed="rId4"/>
          <a:stretch>
            <a:fillRect/>
          </a:stretch>
        </p:blipFill>
        <p:spPr>
          <a:xfrm>
            <a:off x="5230774" y="3073598"/>
            <a:ext cx="4264089" cy="1091590"/>
          </a:xfrm>
          <a:prstGeom prst="rect">
            <a:avLst/>
          </a:prstGeom>
        </p:spPr>
      </p:pic>
    </p:spTree>
    <p:extLst>
      <p:ext uri="{BB962C8B-B14F-4D97-AF65-F5344CB8AC3E}">
        <p14:creationId xmlns:p14="http://schemas.microsoft.com/office/powerpoint/2010/main" val="2113300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1000"/>
                                        <p:tgtEl>
                                          <p:spTgt spid="18"/>
                                        </p:tgtEl>
                                      </p:cBhvr>
                                    </p:animEffect>
                                    <p:anim calcmode="lin" valueType="num">
                                      <p:cBhvr>
                                        <p:cTn id="15" dur="1000" fill="hold"/>
                                        <p:tgtEl>
                                          <p:spTgt spid="18"/>
                                        </p:tgtEl>
                                        <p:attrNameLst>
                                          <p:attrName>ppt_x</p:attrName>
                                        </p:attrNameLst>
                                      </p:cBhvr>
                                      <p:tavLst>
                                        <p:tav tm="0">
                                          <p:val>
                                            <p:strVal val="#ppt_x"/>
                                          </p:val>
                                        </p:tav>
                                        <p:tav tm="100000">
                                          <p:val>
                                            <p:strVal val="#ppt_x"/>
                                          </p:val>
                                        </p:tav>
                                      </p:tavLst>
                                    </p:anim>
                                    <p:anim calcmode="lin" valueType="num">
                                      <p:cBhvr>
                                        <p:cTn id="1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1000"/>
                                        <p:tgtEl>
                                          <p:spTgt spid="19"/>
                                        </p:tgtEl>
                                      </p:cBhvr>
                                    </p:animEffect>
                                    <p:anim calcmode="lin" valueType="num">
                                      <p:cBhvr>
                                        <p:cTn id="22" dur="1000" fill="hold"/>
                                        <p:tgtEl>
                                          <p:spTgt spid="19"/>
                                        </p:tgtEl>
                                        <p:attrNameLst>
                                          <p:attrName>ppt_x</p:attrName>
                                        </p:attrNameLst>
                                      </p:cBhvr>
                                      <p:tavLst>
                                        <p:tav tm="0">
                                          <p:val>
                                            <p:strVal val="#ppt_x"/>
                                          </p:val>
                                        </p:tav>
                                        <p:tav tm="100000">
                                          <p:val>
                                            <p:strVal val="#ppt_x"/>
                                          </p:val>
                                        </p:tav>
                                      </p:tavLst>
                                    </p:anim>
                                    <p:anim calcmode="lin" valueType="num">
                                      <p:cBhvr>
                                        <p:cTn id="2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356353">
            <a:extLst>
              <a:ext uri="{FF2B5EF4-FFF2-40B4-BE49-F238E27FC236}">
                <a16:creationId xmlns:a16="http://schemas.microsoft.com/office/drawing/2014/main" id="{3576F2D3-537C-42FD-ACF8-98B6F0B1FB37}"/>
              </a:ext>
            </a:extLst>
          </p:cNvPr>
          <p:cNvSpPr>
            <a:spLocks noGrp="1" noChangeArrowheads="1"/>
          </p:cNvSpPr>
          <p:nvPr>
            <p:ph type="title"/>
          </p:nvPr>
        </p:nvSpPr>
        <p:spPr/>
        <p:txBody>
          <a:bodyPr/>
          <a:lstStyle/>
          <a:p>
            <a:r>
              <a:rPr lang="en-US" altLang="zh-CN" dirty="0"/>
              <a:t>4. </a:t>
            </a:r>
            <a:r>
              <a:rPr lang="zh-CN" altLang="en-US" dirty="0"/>
              <a:t>除（</a:t>
            </a:r>
            <a:r>
              <a:rPr lang="en-US" altLang="zh-CN" dirty="0"/>
              <a:t>Division</a:t>
            </a:r>
            <a:r>
              <a:rPr lang="zh-CN" altLang="en-US" dirty="0"/>
              <a:t>） </a:t>
            </a:r>
          </a:p>
        </p:txBody>
      </p:sp>
      <p:sp>
        <p:nvSpPr>
          <p:cNvPr id="61443" name="文本占位符 356354">
            <a:extLst>
              <a:ext uri="{FF2B5EF4-FFF2-40B4-BE49-F238E27FC236}">
                <a16:creationId xmlns:a16="http://schemas.microsoft.com/office/drawing/2014/main" id="{8F2E60A1-C7E2-41E8-AEC6-7D37EF49697E}"/>
              </a:ext>
            </a:extLst>
          </p:cNvPr>
          <p:cNvSpPr>
            <a:spLocks noGrp="1" noChangeArrowheads="1"/>
          </p:cNvSpPr>
          <p:nvPr>
            <p:ph type="body" idx="1"/>
          </p:nvPr>
        </p:nvSpPr>
        <p:spPr/>
        <p:txBody>
          <a:bodyPr/>
          <a:lstStyle/>
          <a:p>
            <a:r>
              <a:rPr lang="zh-CN" altLang="en-US" dirty="0"/>
              <a:t>给定关系</a:t>
            </a:r>
            <a:r>
              <a:rPr lang="en-US" altLang="zh-CN" i="1" dirty="0"/>
              <a:t>R</a:t>
            </a:r>
            <a:r>
              <a:rPr lang="en-US" altLang="zh-CN" dirty="0"/>
              <a:t> (</a:t>
            </a:r>
            <a:r>
              <a:rPr lang="en-US" altLang="zh-CN" i="1" dirty="0">
                <a:solidFill>
                  <a:srgbClr val="C00000"/>
                </a:solidFill>
              </a:rPr>
              <a:t>X</a:t>
            </a:r>
            <a:r>
              <a:rPr lang="zh-CN" altLang="en-US" dirty="0"/>
              <a:t>，</a:t>
            </a:r>
            <a:r>
              <a:rPr lang="en-US" altLang="zh-CN" i="1" dirty="0">
                <a:solidFill>
                  <a:srgbClr val="3333FF"/>
                </a:solidFill>
              </a:rPr>
              <a:t>Y</a:t>
            </a:r>
            <a:r>
              <a:rPr lang="en-US" altLang="zh-CN" dirty="0"/>
              <a:t>) </a:t>
            </a:r>
            <a:r>
              <a:rPr lang="zh-CN" altLang="en-US" dirty="0"/>
              <a:t>和</a:t>
            </a:r>
            <a:r>
              <a:rPr lang="en-US" altLang="zh-CN" i="1" dirty="0"/>
              <a:t>S</a:t>
            </a:r>
            <a:r>
              <a:rPr lang="en-US" altLang="zh-CN" dirty="0"/>
              <a:t> (</a:t>
            </a:r>
            <a:r>
              <a:rPr lang="en-US" altLang="zh-CN" i="1" dirty="0">
                <a:solidFill>
                  <a:srgbClr val="3333FF"/>
                </a:solidFill>
              </a:rPr>
              <a:t>Y</a:t>
            </a:r>
            <a:r>
              <a:rPr lang="zh-CN" altLang="en-US" dirty="0"/>
              <a:t>，</a:t>
            </a:r>
            <a:r>
              <a:rPr lang="en-US" altLang="zh-CN" i="1" dirty="0"/>
              <a:t>Z</a:t>
            </a:r>
            <a:r>
              <a:rPr lang="en-US" altLang="zh-CN" dirty="0"/>
              <a:t>)</a:t>
            </a:r>
            <a:r>
              <a:rPr lang="zh-CN" altLang="en-US" dirty="0"/>
              <a:t>，其中</a:t>
            </a:r>
            <a:r>
              <a:rPr lang="en-US" altLang="zh-CN" i="1" dirty="0"/>
              <a:t>X</a:t>
            </a:r>
            <a:r>
              <a:rPr lang="zh-CN" altLang="en-US" dirty="0"/>
              <a:t>，</a:t>
            </a:r>
            <a:r>
              <a:rPr lang="en-US" altLang="zh-CN" i="1" dirty="0"/>
              <a:t>Y</a:t>
            </a:r>
            <a:r>
              <a:rPr lang="zh-CN" altLang="en-US" dirty="0"/>
              <a:t>，</a:t>
            </a:r>
            <a:r>
              <a:rPr lang="en-US" altLang="zh-CN" i="1" dirty="0"/>
              <a:t>Z</a:t>
            </a:r>
            <a:r>
              <a:rPr lang="zh-CN" altLang="en-US" dirty="0"/>
              <a:t>为属性组。</a:t>
            </a:r>
            <a:r>
              <a:rPr lang="en-US" altLang="zh-CN" i="1" dirty="0"/>
              <a:t>R</a:t>
            </a:r>
            <a:r>
              <a:rPr lang="zh-CN" altLang="en-US" dirty="0"/>
              <a:t>中的</a:t>
            </a:r>
            <a:r>
              <a:rPr lang="en-US" altLang="zh-CN" i="1" dirty="0">
                <a:solidFill>
                  <a:srgbClr val="3333FF"/>
                </a:solidFill>
              </a:rPr>
              <a:t>Y</a:t>
            </a:r>
            <a:r>
              <a:rPr lang="zh-CN" altLang="en-US" dirty="0"/>
              <a:t>与</a:t>
            </a:r>
            <a:r>
              <a:rPr lang="en-US" altLang="zh-CN" i="1" dirty="0"/>
              <a:t>S</a:t>
            </a:r>
            <a:r>
              <a:rPr lang="zh-CN" altLang="en-US" dirty="0"/>
              <a:t>中的</a:t>
            </a:r>
            <a:r>
              <a:rPr lang="en-US" altLang="zh-CN" i="1" dirty="0">
                <a:solidFill>
                  <a:srgbClr val="3333FF"/>
                </a:solidFill>
              </a:rPr>
              <a:t>Y</a:t>
            </a:r>
            <a:r>
              <a:rPr lang="zh-CN" altLang="en-US" dirty="0"/>
              <a:t>可以有不同的属性名，但必须出自</a:t>
            </a:r>
            <a:r>
              <a:rPr lang="zh-CN" altLang="en-US" dirty="0">
                <a:solidFill>
                  <a:srgbClr val="C00000"/>
                </a:solidFill>
              </a:rPr>
              <a:t>相同的域集</a:t>
            </a:r>
            <a:r>
              <a:rPr lang="zh-CN" altLang="en-US" dirty="0"/>
              <a:t>。</a:t>
            </a:r>
          </a:p>
          <a:p>
            <a:endParaRPr lang="en-US" altLang="zh-CN" dirty="0"/>
          </a:p>
          <a:p>
            <a:r>
              <a:rPr lang="en-US" altLang="zh-CN" i="1" dirty="0"/>
              <a:t>R</a:t>
            </a:r>
            <a:r>
              <a:rPr lang="zh-CN" altLang="en-US" dirty="0"/>
              <a:t>与</a:t>
            </a:r>
            <a:r>
              <a:rPr lang="en-US" altLang="zh-CN" i="1" dirty="0"/>
              <a:t>S</a:t>
            </a:r>
            <a:r>
              <a:rPr lang="zh-CN" altLang="en-US" dirty="0"/>
              <a:t>的除运算得到一个新的关系</a:t>
            </a:r>
            <a:r>
              <a:rPr lang="en-US" altLang="zh-CN" i="1" dirty="0">
                <a:solidFill>
                  <a:srgbClr val="C00000"/>
                </a:solidFill>
              </a:rPr>
              <a:t>P</a:t>
            </a:r>
            <a:r>
              <a:rPr lang="en-US" altLang="zh-CN" dirty="0">
                <a:solidFill>
                  <a:srgbClr val="C00000"/>
                </a:solidFill>
              </a:rPr>
              <a:t>(</a:t>
            </a:r>
            <a:r>
              <a:rPr lang="en-US" altLang="zh-CN" i="1" dirty="0">
                <a:solidFill>
                  <a:srgbClr val="C00000"/>
                </a:solidFill>
              </a:rPr>
              <a:t>X</a:t>
            </a:r>
            <a:r>
              <a:rPr lang="en-US" altLang="zh-CN" dirty="0">
                <a:solidFill>
                  <a:srgbClr val="C00000"/>
                </a:solidFill>
              </a:rPr>
              <a:t>)</a:t>
            </a:r>
            <a:r>
              <a:rPr lang="zh-CN" altLang="en-US" dirty="0"/>
              <a:t>，</a:t>
            </a:r>
            <a:r>
              <a:rPr lang="en-US" altLang="zh-CN" i="1" dirty="0"/>
              <a:t>P</a:t>
            </a:r>
            <a:r>
              <a:rPr lang="zh-CN" altLang="en-US" dirty="0"/>
              <a:t>是</a:t>
            </a:r>
            <a:r>
              <a:rPr lang="en-US" altLang="zh-CN" i="1" dirty="0"/>
              <a:t>R</a:t>
            </a:r>
            <a:r>
              <a:rPr lang="zh-CN" altLang="en-US" dirty="0"/>
              <a:t>中满足下列条件的元组在 </a:t>
            </a:r>
            <a:r>
              <a:rPr lang="en-US" altLang="zh-CN" i="1" dirty="0"/>
              <a:t>X</a:t>
            </a:r>
            <a:r>
              <a:rPr lang="en-US" altLang="zh-CN" dirty="0"/>
              <a:t> </a:t>
            </a:r>
            <a:r>
              <a:rPr lang="zh-CN" altLang="en-US" dirty="0"/>
              <a:t>属性列上的</a:t>
            </a:r>
            <a:r>
              <a:rPr lang="zh-CN" altLang="en-US" dirty="0">
                <a:solidFill>
                  <a:srgbClr val="C00000"/>
                </a:solidFill>
              </a:rPr>
              <a:t>投影</a:t>
            </a:r>
            <a:r>
              <a:rPr lang="zh-CN" altLang="en-US" dirty="0"/>
              <a:t>。</a:t>
            </a:r>
          </a:p>
          <a:p>
            <a:r>
              <a:rPr lang="zh-CN" altLang="en-US" dirty="0"/>
              <a:t>元组在</a:t>
            </a:r>
            <a:r>
              <a:rPr lang="en-US" altLang="zh-CN" i="1" dirty="0"/>
              <a:t>X</a:t>
            </a:r>
            <a:r>
              <a:rPr lang="zh-CN" altLang="en-US" dirty="0"/>
              <a:t>上分量值</a:t>
            </a:r>
            <a:r>
              <a:rPr lang="en-US" altLang="zh-CN" i="1" dirty="0"/>
              <a:t>x</a:t>
            </a:r>
            <a:r>
              <a:rPr lang="zh-CN" altLang="en-US" dirty="0"/>
              <a:t>的象集</a:t>
            </a:r>
            <a:r>
              <a:rPr lang="en-US" altLang="zh-CN" i="1" dirty="0" err="1">
                <a:solidFill>
                  <a:srgbClr val="000000"/>
                </a:solidFill>
              </a:rPr>
              <a:t>Y</a:t>
            </a:r>
            <a:r>
              <a:rPr lang="en-US" altLang="zh-CN" i="1" baseline="-30000" dirty="0" err="1">
                <a:solidFill>
                  <a:srgbClr val="000000"/>
                </a:solidFill>
              </a:rPr>
              <a:t>x</a:t>
            </a:r>
            <a:r>
              <a:rPr lang="zh-CN" altLang="en-US" dirty="0"/>
              <a:t>包含</a:t>
            </a:r>
            <a:r>
              <a:rPr lang="en-US" altLang="zh-CN" i="1" dirty="0"/>
              <a:t>S</a:t>
            </a:r>
            <a:r>
              <a:rPr lang="zh-CN" altLang="en-US" dirty="0"/>
              <a:t>在</a:t>
            </a:r>
            <a:r>
              <a:rPr lang="en-US" altLang="zh-CN" i="1" dirty="0"/>
              <a:t>Y</a:t>
            </a:r>
            <a:r>
              <a:rPr lang="zh-CN" altLang="en-US" dirty="0"/>
              <a:t>上投影的集合，记做：</a:t>
            </a:r>
            <a:endParaRPr lang="en-US" altLang="zh-CN" dirty="0"/>
          </a:p>
          <a:p>
            <a:pPr marL="0" indent="0">
              <a:buNone/>
            </a:pPr>
            <a:r>
              <a:rPr lang="en-US" altLang="zh-CN" dirty="0">
                <a:solidFill>
                  <a:srgbClr val="000000"/>
                </a:solidFill>
              </a:rPr>
              <a:t>                 </a:t>
            </a:r>
            <a:r>
              <a:rPr lang="en-US" altLang="zh-CN" i="1" dirty="0">
                <a:solidFill>
                  <a:srgbClr val="000000"/>
                </a:solidFill>
              </a:rPr>
              <a:t>R</a:t>
            </a:r>
            <a:r>
              <a:rPr lang="en-US" altLang="zh-CN" dirty="0">
                <a:solidFill>
                  <a:srgbClr val="C00000"/>
                </a:solidFill>
              </a:rPr>
              <a:t>÷</a:t>
            </a:r>
            <a:r>
              <a:rPr lang="en-US" altLang="zh-CN" i="1" dirty="0">
                <a:solidFill>
                  <a:srgbClr val="000000"/>
                </a:solidFill>
              </a:rPr>
              <a:t>S</a:t>
            </a:r>
            <a:r>
              <a:rPr lang="en-US" altLang="zh-CN" dirty="0">
                <a:solidFill>
                  <a:srgbClr val="000000"/>
                </a:solidFill>
              </a:rPr>
              <a:t> = {</a:t>
            </a:r>
            <a:r>
              <a:rPr lang="en-US" altLang="zh-CN" i="1" dirty="0">
                <a:solidFill>
                  <a:srgbClr val="000000"/>
                </a:solidFill>
              </a:rPr>
              <a:t>t</a:t>
            </a:r>
            <a:r>
              <a:rPr lang="en-US" altLang="zh-CN" i="1" baseline="-30000" dirty="0">
                <a:solidFill>
                  <a:srgbClr val="000000"/>
                </a:solidFill>
              </a:rPr>
              <a:t>r</a:t>
            </a:r>
            <a:r>
              <a:rPr lang="en-US" altLang="zh-CN" baseline="-30000" dirty="0">
                <a:solidFill>
                  <a:srgbClr val="000000"/>
                </a:solidFill>
              </a:rPr>
              <a:t> </a:t>
            </a:r>
            <a:r>
              <a:rPr lang="en-US" altLang="zh-CN" dirty="0">
                <a:solidFill>
                  <a:srgbClr val="000000"/>
                </a:solidFill>
              </a:rPr>
              <a:t>[</a:t>
            </a:r>
            <a:r>
              <a:rPr lang="en-US" altLang="zh-CN" i="1" dirty="0">
                <a:solidFill>
                  <a:srgbClr val="000000"/>
                </a:solidFill>
              </a:rPr>
              <a:t>X</a:t>
            </a:r>
            <a:r>
              <a:rPr lang="en-US" altLang="zh-CN" dirty="0">
                <a:solidFill>
                  <a:srgbClr val="000000"/>
                </a:solidFill>
              </a:rPr>
              <a:t>] | </a:t>
            </a:r>
            <a:r>
              <a:rPr lang="en-US" altLang="zh-CN" i="1" dirty="0">
                <a:solidFill>
                  <a:srgbClr val="000000"/>
                </a:solidFill>
              </a:rPr>
              <a:t>t</a:t>
            </a:r>
            <a:r>
              <a:rPr lang="en-US" altLang="zh-CN" i="1" baseline="-30000" dirty="0">
                <a:solidFill>
                  <a:srgbClr val="000000"/>
                </a:solidFill>
              </a:rPr>
              <a:t>r</a:t>
            </a:r>
            <a:r>
              <a:rPr lang="en-US" altLang="zh-CN" baseline="-30000" dirty="0">
                <a:solidFill>
                  <a:srgbClr val="000000"/>
                </a:solidFill>
              </a:rPr>
              <a:t> </a:t>
            </a:r>
            <a:r>
              <a:rPr lang="en-US" altLang="zh-CN" dirty="0">
                <a:solidFill>
                  <a:srgbClr val="000000"/>
                </a:solidFill>
                <a:sym typeface="Symbol" panose="05050102010706020507" pitchFamily="18" charset="2"/>
              </a:rPr>
              <a:t></a:t>
            </a:r>
            <a:r>
              <a:rPr lang="en-US" altLang="zh-CN" dirty="0">
                <a:solidFill>
                  <a:srgbClr val="000000"/>
                </a:solidFill>
              </a:rPr>
              <a:t> </a:t>
            </a:r>
            <a:r>
              <a:rPr lang="en-US" altLang="zh-CN" i="1" dirty="0">
                <a:solidFill>
                  <a:srgbClr val="000000"/>
                </a:solidFill>
              </a:rPr>
              <a:t>R</a:t>
            </a:r>
            <a:r>
              <a:rPr lang="en-US" altLang="zh-CN" dirty="0">
                <a:solidFill>
                  <a:srgbClr val="000000"/>
                </a:solidFill>
              </a:rPr>
              <a:t>∧</a:t>
            </a:r>
            <a:r>
              <a:rPr lang="en-US" altLang="zh-CN" i="1" dirty="0">
                <a:solidFill>
                  <a:srgbClr val="000000"/>
                </a:solidFill>
              </a:rPr>
              <a:t>π</a:t>
            </a:r>
            <a:r>
              <a:rPr lang="en-US" altLang="zh-CN" i="1" baseline="-30000" dirty="0">
                <a:solidFill>
                  <a:srgbClr val="000000"/>
                </a:solidFill>
              </a:rPr>
              <a:t>Y</a:t>
            </a:r>
            <a:r>
              <a:rPr lang="en-US" altLang="zh-CN" dirty="0">
                <a:solidFill>
                  <a:srgbClr val="000000"/>
                </a:solidFill>
              </a:rPr>
              <a:t> (</a:t>
            </a:r>
            <a:r>
              <a:rPr lang="en-US" altLang="zh-CN" i="1" dirty="0">
                <a:solidFill>
                  <a:srgbClr val="000000"/>
                </a:solidFill>
              </a:rPr>
              <a:t>S</a:t>
            </a:r>
            <a:r>
              <a:rPr lang="en-US" altLang="zh-CN" dirty="0">
                <a:solidFill>
                  <a:srgbClr val="000000"/>
                </a:solidFill>
              </a:rPr>
              <a:t>) </a:t>
            </a:r>
            <a:r>
              <a:rPr lang="en-US" altLang="zh-CN" dirty="0">
                <a:solidFill>
                  <a:srgbClr val="000000"/>
                </a:solidFill>
                <a:sym typeface="Symbol" panose="05050102010706020507" pitchFamily="18" charset="2"/>
              </a:rPr>
              <a:t></a:t>
            </a:r>
            <a:r>
              <a:rPr lang="en-US" altLang="zh-CN" dirty="0">
                <a:solidFill>
                  <a:srgbClr val="000000"/>
                </a:solidFill>
              </a:rPr>
              <a:t> </a:t>
            </a:r>
            <a:r>
              <a:rPr lang="en-US" altLang="zh-CN" i="1" dirty="0" err="1">
                <a:solidFill>
                  <a:srgbClr val="000000"/>
                </a:solidFill>
              </a:rPr>
              <a:t>Y</a:t>
            </a:r>
            <a:r>
              <a:rPr lang="en-US" altLang="zh-CN" i="1" baseline="-30000" dirty="0" err="1">
                <a:solidFill>
                  <a:srgbClr val="000000"/>
                </a:solidFill>
              </a:rPr>
              <a:t>x</a:t>
            </a:r>
            <a:r>
              <a:rPr lang="en-US" altLang="zh-CN" dirty="0">
                <a:solidFill>
                  <a:srgbClr val="000000"/>
                </a:solidFill>
              </a:rPr>
              <a:t> }</a:t>
            </a:r>
          </a:p>
          <a:p>
            <a:pPr lvl="1"/>
            <a:r>
              <a:rPr lang="en-US" altLang="zh-CN" i="1" dirty="0" err="1">
                <a:solidFill>
                  <a:srgbClr val="000000"/>
                </a:solidFill>
              </a:rPr>
              <a:t>Y</a:t>
            </a:r>
            <a:r>
              <a:rPr lang="en-US" altLang="zh-CN" i="1" baseline="-30000" dirty="0" err="1">
                <a:solidFill>
                  <a:srgbClr val="000000"/>
                </a:solidFill>
              </a:rPr>
              <a:t>x</a:t>
            </a:r>
            <a:r>
              <a:rPr lang="en-US" altLang="zh-CN" baseline="-30000" dirty="0">
                <a:solidFill>
                  <a:srgbClr val="000000"/>
                </a:solidFill>
              </a:rPr>
              <a:t> </a:t>
            </a:r>
            <a:r>
              <a:rPr lang="zh-CN" altLang="en-US" dirty="0"/>
              <a:t>：</a:t>
            </a:r>
            <a:r>
              <a:rPr lang="en-US" altLang="zh-CN" i="1" dirty="0"/>
              <a:t>x</a:t>
            </a:r>
            <a:r>
              <a:rPr lang="zh-CN" altLang="en-US" dirty="0"/>
              <a:t>在</a:t>
            </a:r>
            <a:r>
              <a:rPr lang="en-US" altLang="zh-CN" i="1" dirty="0"/>
              <a:t>R</a:t>
            </a:r>
            <a:r>
              <a:rPr lang="zh-CN" altLang="en-US" dirty="0"/>
              <a:t>中的象集，</a:t>
            </a:r>
            <a:r>
              <a:rPr lang="en-US" altLang="zh-CN" dirty="0">
                <a:solidFill>
                  <a:srgbClr val="000000"/>
                </a:solidFill>
              </a:rPr>
              <a:t> </a:t>
            </a:r>
            <a:r>
              <a:rPr lang="en-US" altLang="zh-CN" i="1" dirty="0">
                <a:solidFill>
                  <a:srgbClr val="000000"/>
                </a:solidFill>
              </a:rPr>
              <a:t>x</a:t>
            </a:r>
            <a:r>
              <a:rPr lang="en-US" altLang="zh-CN" dirty="0">
                <a:solidFill>
                  <a:srgbClr val="000000"/>
                </a:solidFill>
              </a:rPr>
              <a:t> = </a:t>
            </a:r>
            <a:r>
              <a:rPr lang="en-US" altLang="zh-CN" i="1" dirty="0">
                <a:solidFill>
                  <a:srgbClr val="000000"/>
                </a:solidFill>
              </a:rPr>
              <a:t>t</a:t>
            </a:r>
            <a:r>
              <a:rPr lang="en-US" altLang="zh-CN" i="1" baseline="-30000" dirty="0">
                <a:solidFill>
                  <a:srgbClr val="000000"/>
                </a:solidFill>
              </a:rPr>
              <a:t>r</a:t>
            </a:r>
            <a:r>
              <a:rPr lang="en-US" altLang="zh-CN" dirty="0">
                <a:solidFill>
                  <a:srgbClr val="000000"/>
                </a:solidFill>
              </a:rPr>
              <a:t>[</a:t>
            </a:r>
            <a:r>
              <a:rPr lang="en-US" altLang="zh-CN" i="1" dirty="0">
                <a:solidFill>
                  <a:srgbClr val="000000"/>
                </a:solidFill>
              </a:rPr>
              <a:t>X</a:t>
            </a:r>
            <a:r>
              <a:rPr lang="en-US" altLang="zh-CN" dirty="0">
                <a:solidFill>
                  <a:srgbClr val="000000"/>
                </a:solidFill>
              </a:rPr>
              <a:t>]</a:t>
            </a:r>
          </a:p>
          <a:p>
            <a:endParaRPr lang="en-US" altLang="zh-CN" dirty="0"/>
          </a:p>
          <a:p>
            <a:r>
              <a:rPr lang="zh-CN" altLang="en-US" dirty="0"/>
              <a:t>除操作是同时从行和列角度进行运算</a:t>
            </a:r>
            <a:endParaRPr lang="en-US" altLang="zh-CN" dirty="0"/>
          </a:p>
          <a:p>
            <a:pPr lvl="1"/>
            <a:endParaRPr lang="en-US" altLang="zh-CN" dirty="0"/>
          </a:p>
        </p:txBody>
      </p:sp>
      <p:grpSp>
        <p:nvGrpSpPr>
          <p:cNvPr id="6" name="组合 357418">
            <a:extLst>
              <a:ext uri="{FF2B5EF4-FFF2-40B4-BE49-F238E27FC236}">
                <a16:creationId xmlns:a16="http://schemas.microsoft.com/office/drawing/2014/main" id="{6402DF3C-5CD1-42F1-B2FD-3CD5F62A3AFB}"/>
              </a:ext>
            </a:extLst>
          </p:cNvPr>
          <p:cNvGrpSpPr>
            <a:grpSpLocks/>
          </p:cNvGrpSpPr>
          <p:nvPr/>
        </p:nvGrpSpPr>
        <p:grpSpPr bwMode="auto">
          <a:xfrm>
            <a:off x="6295092" y="4979331"/>
            <a:ext cx="2767400" cy="1544927"/>
            <a:chOff x="1728" y="1536"/>
            <a:chExt cx="2400" cy="1414"/>
          </a:xfrm>
        </p:grpSpPr>
        <p:grpSp>
          <p:nvGrpSpPr>
            <p:cNvPr id="7" name="组合 357395">
              <a:extLst>
                <a:ext uri="{FF2B5EF4-FFF2-40B4-BE49-F238E27FC236}">
                  <a16:creationId xmlns:a16="http://schemas.microsoft.com/office/drawing/2014/main" id="{349911A4-9CF3-4D59-A5EB-EC985B065476}"/>
                </a:ext>
              </a:extLst>
            </p:cNvPr>
            <p:cNvGrpSpPr>
              <a:grpSpLocks/>
            </p:cNvGrpSpPr>
            <p:nvPr/>
          </p:nvGrpSpPr>
          <p:grpSpPr bwMode="auto">
            <a:xfrm>
              <a:off x="2064" y="1632"/>
              <a:ext cx="912" cy="768"/>
              <a:chOff x="1536" y="1632"/>
              <a:chExt cx="912" cy="768"/>
            </a:xfrm>
          </p:grpSpPr>
          <p:sp>
            <p:nvSpPr>
              <p:cNvPr id="22" name="矩形 357396">
                <a:extLst>
                  <a:ext uri="{FF2B5EF4-FFF2-40B4-BE49-F238E27FC236}">
                    <a16:creationId xmlns:a16="http://schemas.microsoft.com/office/drawing/2014/main" id="{8B2C31BF-04F4-4822-820D-9681B89E1070}"/>
                  </a:ext>
                </a:extLst>
              </p:cNvPr>
              <p:cNvSpPr>
                <a:spLocks noChangeArrowheads="1"/>
              </p:cNvSpPr>
              <p:nvPr/>
            </p:nvSpPr>
            <p:spPr bwMode="auto">
              <a:xfrm>
                <a:off x="1536" y="1632"/>
                <a:ext cx="912" cy="96"/>
              </a:xfrm>
              <a:prstGeom prst="rect">
                <a:avLst/>
              </a:prstGeom>
              <a:solidFill>
                <a:srgbClr val="FFFFFF"/>
              </a:solid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23" name="矩形 357397">
                <a:extLst>
                  <a:ext uri="{FF2B5EF4-FFF2-40B4-BE49-F238E27FC236}">
                    <a16:creationId xmlns:a16="http://schemas.microsoft.com/office/drawing/2014/main" id="{515AFA56-3D59-4632-8D9E-D440F933163C}"/>
                  </a:ext>
                </a:extLst>
              </p:cNvPr>
              <p:cNvSpPr>
                <a:spLocks noChangeArrowheads="1"/>
              </p:cNvSpPr>
              <p:nvPr/>
            </p:nvSpPr>
            <p:spPr bwMode="auto">
              <a:xfrm>
                <a:off x="1536" y="1728"/>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24" name="矩形 357398">
                <a:extLst>
                  <a:ext uri="{FF2B5EF4-FFF2-40B4-BE49-F238E27FC236}">
                    <a16:creationId xmlns:a16="http://schemas.microsoft.com/office/drawing/2014/main" id="{5BBA8721-8230-42C2-BF9C-31FCEFA449A6}"/>
                  </a:ext>
                </a:extLst>
              </p:cNvPr>
              <p:cNvSpPr>
                <a:spLocks noChangeArrowheads="1"/>
              </p:cNvSpPr>
              <p:nvPr/>
            </p:nvSpPr>
            <p:spPr bwMode="auto">
              <a:xfrm>
                <a:off x="1536" y="1824"/>
                <a:ext cx="912" cy="96"/>
              </a:xfrm>
              <a:prstGeom prst="rect">
                <a:avLst/>
              </a:prstGeom>
              <a:solidFill>
                <a:srgbClr val="FFFFFF"/>
              </a:solid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25" name="矩形 357399">
                <a:extLst>
                  <a:ext uri="{FF2B5EF4-FFF2-40B4-BE49-F238E27FC236}">
                    <a16:creationId xmlns:a16="http://schemas.microsoft.com/office/drawing/2014/main" id="{BEC7288A-8A46-4D27-BAD6-813CC5AE2496}"/>
                  </a:ext>
                </a:extLst>
              </p:cNvPr>
              <p:cNvSpPr>
                <a:spLocks noChangeArrowheads="1"/>
              </p:cNvSpPr>
              <p:nvPr/>
            </p:nvSpPr>
            <p:spPr bwMode="auto">
              <a:xfrm>
                <a:off x="1536" y="2304"/>
                <a:ext cx="912" cy="96"/>
              </a:xfrm>
              <a:prstGeom prst="rect">
                <a:avLst/>
              </a:prstGeom>
              <a:solidFill>
                <a:srgbClr val="FFFFFF"/>
              </a:solid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26" name="矩形 357400">
                <a:extLst>
                  <a:ext uri="{FF2B5EF4-FFF2-40B4-BE49-F238E27FC236}">
                    <a16:creationId xmlns:a16="http://schemas.microsoft.com/office/drawing/2014/main" id="{05DED976-5AF4-4BC1-8101-4D706EEEBE52}"/>
                  </a:ext>
                </a:extLst>
              </p:cNvPr>
              <p:cNvSpPr>
                <a:spLocks noChangeArrowheads="1"/>
              </p:cNvSpPr>
              <p:nvPr/>
            </p:nvSpPr>
            <p:spPr bwMode="auto">
              <a:xfrm>
                <a:off x="1536" y="1920"/>
                <a:ext cx="912" cy="96"/>
              </a:xfrm>
              <a:prstGeom prst="rect">
                <a:avLst/>
              </a:prstGeom>
              <a:solidFill>
                <a:srgbClr val="FFFFFF"/>
              </a:solid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27" name="矩形 357401">
                <a:extLst>
                  <a:ext uri="{FF2B5EF4-FFF2-40B4-BE49-F238E27FC236}">
                    <a16:creationId xmlns:a16="http://schemas.microsoft.com/office/drawing/2014/main" id="{0809BBA6-074C-4893-B618-6DBFC3891518}"/>
                  </a:ext>
                </a:extLst>
              </p:cNvPr>
              <p:cNvSpPr>
                <a:spLocks noChangeArrowheads="1"/>
              </p:cNvSpPr>
              <p:nvPr/>
            </p:nvSpPr>
            <p:spPr bwMode="auto">
              <a:xfrm>
                <a:off x="1536" y="2016"/>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28" name="矩形 357402">
                <a:extLst>
                  <a:ext uri="{FF2B5EF4-FFF2-40B4-BE49-F238E27FC236}">
                    <a16:creationId xmlns:a16="http://schemas.microsoft.com/office/drawing/2014/main" id="{593B30EC-07B0-4D3A-9AF9-9A05DA2ED127}"/>
                  </a:ext>
                </a:extLst>
              </p:cNvPr>
              <p:cNvSpPr>
                <a:spLocks noChangeArrowheads="1"/>
              </p:cNvSpPr>
              <p:nvPr/>
            </p:nvSpPr>
            <p:spPr bwMode="auto">
              <a:xfrm>
                <a:off x="1536" y="2112"/>
                <a:ext cx="912" cy="96"/>
              </a:xfrm>
              <a:prstGeom prst="rect">
                <a:avLst/>
              </a:prstGeom>
              <a:solidFill>
                <a:srgbClr val="FFFFFF"/>
              </a:solid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29" name="矩形 357403">
                <a:extLst>
                  <a:ext uri="{FF2B5EF4-FFF2-40B4-BE49-F238E27FC236}">
                    <a16:creationId xmlns:a16="http://schemas.microsoft.com/office/drawing/2014/main" id="{A3B5C703-F427-4309-8BAC-B3BF223D7B49}"/>
                  </a:ext>
                </a:extLst>
              </p:cNvPr>
              <p:cNvSpPr>
                <a:spLocks noChangeArrowheads="1"/>
              </p:cNvSpPr>
              <p:nvPr/>
            </p:nvSpPr>
            <p:spPr bwMode="auto">
              <a:xfrm>
                <a:off x="1536" y="2208"/>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grpSp>
        <p:sp>
          <p:nvSpPr>
            <p:cNvPr id="8" name="右箭头 357404">
              <a:extLst>
                <a:ext uri="{FF2B5EF4-FFF2-40B4-BE49-F238E27FC236}">
                  <a16:creationId xmlns:a16="http://schemas.microsoft.com/office/drawing/2014/main" id="{7099C660-9756-41AA-B2CB-1F2D3BEF777E}"/>
                </a:ext>
              </a:extLst>
            </p:cNvPr>
            <p:cNvSpPr>
              <a:spLocks noChangeArrowheads="1"/>
            </p:cNvSpPr>
            <p:nvPr/>
          </p:nvSpPr>
          <p:spPr bwMode="auto">
            <a:xfrm rot="2235391">
              <a:off x="3072" y="2304"/>
              <a:ext cx="480" cy="144"/>
            </a:xfrm>
            <a:prstGeom prst="rightArrow">
              <a:avLst>
                <a:gd name="adj1" fmla="val 50000"/>
                <a:gd name="adj2" fmla="val 83318"/>
              </a:avLst>
            </a:prstGeom>
            <a:solidFill>
              <a:srgbClr val="FFFFFF"/>
            </a:solid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9" name="矩形 357405">
              <a:extLst>
                <a:ext uri="{FF2B5EF4-FFF2-40B4-BE49-F238E27FC236}">
                  <a16:creationId xmlns:a16="http://schemas.microsoft.com/office/drawing/2014/main" id="{E7C99950-E234-4AB0-95EB-5CD2A5A8C1D0}"/>
                </a:ext>
              </a:extLst>
            </p:cNvPr>
            <p:cNvSpPr>
              <a:spLocks noChangeArrowheads="1"/>
            </p:cNvSpPr>
            <p:nvPr/>
          </p:nvSpPr>
          <p:spPr bwMode="auto">
            <a:xfrm>
              <a:off x="2448" y="2640"/>
              <a:ext cx="528" cy="96"/>
            </a:xfrm>
            <a:prstGeom prst="rect">
              <a:avLst/>
            </a:prstGeom>
            <a:solidFill>
              <a:srgbClr val="FFFFFF"/>
            </a:solid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10" name="矩形 357406">
              <a:extLst>
                <a:ext uri="{FF2B5EF4-FFF2-40B4-BE49-F238E27FC236}">
                  <a16:creationId xmlns:a16="http://schemas.microsoft.com/office/drawing/2014/main" id="{799D59AD-C217-4CD1-9FA7-508EBDBE3A44}"/>
                </a:ext>
              </a:extLst>
            </p:cNvPr>
            <p:cNvSpPr>
              <a:spLocks noChangeArrowheads="1"/>
            </p:cNvSpPr>
            <p:nvPr/>
          </p:nvSpPr>
          <p:spPr bwMode="auto">
            <a:xfrm>
              <a:off x="2448" y="2832"/>
              <a:ext cx="528" cy="96"/>
            </a:xfrm>
            <a:prstGeom prst="rect">
              <a:avLst/>
            </a:prstGeom>
            <a:solidFill>
              <a:srgbClr val="FFFFFF"/>
            </a:solid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11" name="矩形 357407">
              <a:extLst>
                <a:ext uri="{FF2B5EF4-FFF2-40B4-BE49-F238E27FC236}">
                  <a16:creationId xmlns:a16="http://schemas.microsoft.com/office/drawing/2014/main" id="{5F2FC83F-276F-4C6E-A8B5-5901D895FFBA}"/>
                </a:ext>
              </a:extLst>
            </p:cNvPr>
            <p:cNvSpPr>
              <a:spLocks noChangeArrowheads="1"/>
            </p:cNvSpPr>
            <p:nvPr/>
          </p:nvSpPr>
          <p:spPr bwMode="auto">
            <a:xfrm>
              <a:off x="2448" y="2736"/>
              <a:ext cx="528" cy="96"/>
            </a:xfrm>
            <a:prstGeom prst="rect">
              <a:avLst/>
            </a:prstGeom>
            <a:solidFill>
              <a:srgbClr val="FFFFFF"/>
            </a:solid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12" name="矩形 357408">
              <a:extLst>
                <a:ext uri="{FF2B5EF4-FFF2-40B4-BE49-F238E27FC236}">
                  <a16:creationId xmlns:a16="http://schemas.microsoft.com/office/drawing/2014/main" id="{4E24D176-8F80-4ADE-8CF0-E8398B74FD90}"/>
                </a:ext>
              </a:extLst>
            </p:cNvPr>
            <p:cNvSpPr>
              <a:spLocks noChangeArrowheads="1"/>
            </p:cNvSpPr>
            <p:nvPr/>
          </p:nvSpPr>
          <p:spPr bwMode="auto">
            <a:xfrm>
              <a:off x="2928" y="2304"/>
              <a:ext cx="576"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1600" dirty="0">
                  <a:solidFill>
                    <a:srgbClr val="C00000"/>
                  </a:solidFill>
                  <a:latin typeface="Times New Roman" panose="02020603050405020304" pitchFamily="18" charset="0"/>
                  <a:cs typeface="Times New Roman" panose="02020603050405020304" pitchFamily="18" charset="0"/>
                </a:rPr>
                <a:t>÷</a:t>
              </a:r>
            </a:p>
          </p:txBody>
        </p:sp>
        <p:sp>
          <p:nvSpPr>
            <p:cNvPr id="13" name="右箭头 357409">
              <a:extLst>
                <a:ext uri="{FF2B5EF4-FFF2-40B4-BE49-F238E27FC236}">
                  <a16:creationId xmlns:a16="http://schemas.microsoft.com/office/drawing/2014/main" id="{20609150-D3FD-4EA8-AE11-40302BBB7349}"/>
                </a:ext>
              </a:extLst>
            </p:cNvPr>
            <p:cNvSpPr>
              <a:spLocks noChangeArrowheads="1"/>
            </p:cNvSpPr>
            <p:nvPr/>
          </p:nvSpPr>
          <p:spPr bwMode="auto">
            <a:xfrm rot="-1832436">
              <a:off x="3132" y="2684"/>
              <a:ext cx="384" cy="144"/>
            </a:xfrm>
            <a:prstGeom prst="rightArrow">
              <a:avLst>
                <a:gd name="adj1" fmla="val 50000"/>
                <a:gd name="adj2" fmla="val 66654"/>
              </a:avLst>
            </a:prstGeom>
            <a:solidFill>
              <a:srgbClr val="FFFFFF"/>
            </a:solid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14" name="矩形 357410">
              <a:extLst>
                <a:ext uri="{FF2B5EF4-FFF2-40B4-BE49-F238E27FC236}">
                  <a16:creationId xmlns:a16="http://schemas.microsoft.com/office/drawing/2014/main" id="{0D824E87-80E3-4D9E-860A-A76C6B2209DF}"/>
                </a:ext>
              </a:extLst>
            </p:cNvPr>
            <p:cNvSpPr>
              <a:spLocks noChangeArrowheads="1"/>
            </p:cNvSpPr>
            <p:nvPr/>
          </p:nvSpPr>
          <p:spPr bwMode="auto">
            <a:xfrm>
              <a:off x="3744" y="2544"/>
              <a:ext cx="384"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15" name="矩形 357411">
              <a:extLst>
                <a:ext uri="{FF2B5EF4-FFF2-40B4-BE49-F238E27FC236}">
                  <a16:creationId xmlns:a16="http://schemas.microsoft.com/office/drawing/2014/main" id="{5A5FAD8A-069C-4C34-88DC-BB3E772B1A6F}"/>
                </a:ext>
              </a:extLst>
            </p:cNvPr>
            <p:cNvSpPr>
              <a:spLocks noChangeArrowheads="1"/>
            </p:cNvSpPr>
            <p:nvPr/>
          </p:nvSpPr>
          <p:spPr bwMode="auto">
            <a:xfrm>
              <a:off x="3744" y="2448"/>
              <a:ext cx="384"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16" name="矩形 357412">
              <a:extLst>
                <a:ext uri="{FF2B5EF4-FFF2-40B4-BE49-F238E27FC236}">
                  <a16:creationId xmlns:a16="http://schemas.microsoft.com/office/drawing/2014/main" id="{0D104231-01C2-4695-93C3-6BC3825DB319}"/>
                </a:ext>
              </a:extLst>
            </p:cNvPr>
            <p:cNvSpPr>
              <a:spLocks noChangeArrowheads="1"/>
            </p:cNvSpPr>
            <p:nvPr/>
          </p:nvSpPr>
          <p:spPr bwMode="auto">
            <a:xfrm>
              <a:off x="2064" y="1536"/>
              <a:ext cx="912" cy="96"/>
            </a:xfrm>
            <a:prstGeom prst="rect">
              <a:avLst/>
            </a:prstGeom>
            <a:pattFill prst="ltDnDiag">
              <a:fgClr>
                <a:srgbClr val="000000"/>
              </a:fgClr>
              <a:bgClr>
                <a:srgbClr val="FFFFFF"/>
              </a:bgClr>
            </a:pattFill>
            <a:ln w="9525">
              <a:solidFill>
                <a:srgbClr val="000000"/>
              </a:solidFill>
              <a:miter lim="800000"/>
              <a:headEnd/>
              <a:tailEnd/>
            </a:ln>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17" name="文本框 357413">
              <a:extLst>
                <a:ext uri="{FF2B5EF4-FFF2-40B4-BE49-F238E27FC236}">
                  <a16:creationId xmlns:a16="http://schemas.microsoft.com/office/drawing/2014/main" id="{5C8E7D9C-C9CF-4BEC-A101-5F00F9AE58FE}"/>
                </a:ext>
              </a:extLst>
            </p:cNvPr>
            <p:cNvSpPr txBox="1">
              <a:spLocks noChangeArrowheads="1"/>
            </p:cNvSpPr>
            <p:nvPr/>
          </p:nvSpPr>
          <p:spPr bwMode="auto">
            <a:xfrm>
              <a:off x="1728" y="1584"/>
              <a:ext cx="28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600" b="1">
                  <a:latin typeface="Times New Roman" panose="02020603050405020304" pitchFamily="18" charset="0"/>
                  <a:cs typeface="Times New Roman" panose="02020603050405020304" pitchFamily="18" charset="0"/>
                </a:rPr>
                <a:t>R</a:t>
              </a:r>
              <a:endParaRPr lang="en-US" altLang="zh-CN" sz="1600">
                <a:latin typeface="Times New Roman" panose="02020603050405020304" pitchFamily="18" charset="0"/>
                <a:cs typeface="Times New Roman" panose="02020603050405020304" pitchFamily="18" charset="0"/>
              </a:endParaRPr>
            </a:p>
          </p:txBody>
        </p:sp>
        <p:sp>
          <p:nvSpPr>
            <p:cNvPr id="18" name="文本框 357414">
              <a:extLst>
                <a:ext uri="{FF2B5EF4-FFF2-40B4-BE49-F238E27FC236}">
                  <a16:creationId xmlns:a16="http://schemas.microsoft.com/office/drawing/2014/main" id="{2393AA97-8FB4-4E73-8756-B82301BA3F5D}"/>
                </a:ext>
              </a:extLst>
            </p:cNvPr>
            <p:cNvSpPr txBox="1">
              <a:spLocks noChangeArrowheads="1"/>
            </p:cNvSpPr>
            <p:nvPr/>
          </p:nvSpPr>
          <p:spPr bwMode="auto">
            <a:xfrm>
              <a:off x="2064" y="2640"/>
              <a:ext cx="28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600" b="1">
                  <a:latin typeface="Times New Roman" panose="02020603050405020304" pitchFamily="18" charset="0"/>
                  <a:cs typeface="Times New Roman" panose="02020603050405020304" pitchFamily="18" charset="0"/>
                </a:rPr>
                <a:t>S</a:t>
              </a:r>
              <a:endParaRPr lang="en-US" altLang="zh-CN" sz="1600">
                <a:latin typeface="Times New Roman" panose="02020603050405020304" pitchFamily="18" charset="0"/>
                <a:cs typeface="Times New Roman" panose="02020603050405020304" pitchFamily="18" charset="0"/>
              </a:endParaRPr>
            </a:p>
          </p:txBody>
        </p:sp>
        <p:sp>
          <p:nvSpPr>
            <p:cNvPr id="19" name="直接连接符 357415">
              <a:extLst>
                <a:ext uri="{FF2B5EF4-FFF2-40B4-BE49-F238E27FC236}">
                  <a16:creationId xmlns:a16="http://schemas.microsoft.com/office/drawing/2014/main" id="{2664B3F9-DFB0-46AF-BB74-17156AB0AB3D}"/>
                </a:ext>
              </a:extLst>
            </p:cNvPr>
            <p:cNvSpPr>
              <a:spLocks noChangeShapeType="1"/>
            </p:cNvSpPr>
            <p:nvPr/>
          </p:nvSpPr>
          <p:spPr bwMode="auto">
            <a:xfrm>
              <a:off x="2448" y="1536"/>
              <a:ext cx="0" cy="86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20" name="直接连接符 357416">
              <a:extLst>
                <a:ext uri="{FF2B5EF4-FFF2-40B4-BE49-F238E27FC236}">
                  <a16:creationId xmlns:a16="http://schemas.microsoft.com/office/drawing/2014/main" id="{5B59D994-9747-4BA4-83AB-DB881755D931}"/>
                </a:ext>
              </a:extLst>
            </p:cNvPr>
            <p:cNvSpPr>
              <a:spLocks noChangeShapeType="1"/>
            </p:cNvSpPr>
            <p:nvPr/>
          </p:nvSpPr>
          <p:spPr bwMode="auto">
            <a:xfrm>
              <a:off x="2784" y="2640"/>
              <a:ext cx="0" cy="2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21" name="直接连接符 357417">
              <a:extLst>
                <a:ext uri="{FF2B5EF4-FFF2-40B4-BE49-F238E27FC236}">
                  <a16:creationId xmlns:a16="http://schemas.microsoft.com/office/drawing/2014/main" id="{D625A35F-E854-4812-B5FE-E645AADF8A19}"/>
                </a:ext>
              </a:extLst>
            </p:cNvPr>
            <p:cNvSpPr>
              <a:spLocks noChangeShapeType="1"/>
            </p:cNvSpPr>
            <p:nvPr/>
          </p:nvSpPr>
          <p:spPr bwMode="auto">
            <a:xfrm>
              <a:off x="2784" y="1536"/>
              <a:ext cx="0" cy="86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grpSp>
      <p:sp>
        <p:nvSpPr>
          <p:cNvPr id="2" name="灯片编号占位符 1">
            <a:extLst>
              <a:ext uri="{FF2B5EF4-FFF2-40B4-BE49-F238E27FC236}">
                <a16:creationId xmlns:a16="http://schemas.microsoft.com/office/drawing/2014/main" id="{ECFD479C-2AC3-43AC-92D9-CAB5FE9DDBFA}"/>
              </a:ext>
            </a:extLst>
          </p:cNvPr>
          <p:cNvSpPr>
            <a:spLocks noGrp="1"/>
          </p:cNvSpPr>
          <p:nvPr>
            <p:ph type="sldNum" sz="quarter" idx="12"/>
          </p:nvPr>
        </p:nvSpPr>
        <p:spPr/>
        <p:txBody>
          <a:bodyPr/>
          <a:lstStyle/>
          <a:p>
            <a:fld id="{47C9E101-E51D-431E-84FA-C029B8655B60}" type="slidenum">
              <a:rPr lang="zh-CN" altLang="en-US" smtClean="0"/>
              <a:pPr/>
              <a:t>81</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4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4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44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4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A933F87D-6D42-45CD-82A1-52303B1DEFF4}"/>
              </a:ext>
            </a:extLst>
          </p:cNvPr>
          <p:cNvSpPr>
            <a:spLocks noGrp="1" noChangeArrowheads="1"/>
          </p:cNvSpPr>
          <p:nvPr>
            <p:ph type="title"/>
          </p:nvPr>
        </p:nvSpPr>
        <p:spPr/>
        <p:txBody>
          <a:bodyPr/>
          <a:lstStyle/>
          <a:p>
            <a:pPr eaLnBrk="1" hangingPunct="1"/>
            <a:r>
              <a:rPr lang="zh-CN" altLang="en-US" dirty="0"/>
              <a:t>除</a:t>
            </a:r>
            <a:r>
              <a:rPr lang="en-US" altLang="zh-CN" dirty="0"/>
              <a:t>(</a:t>
            </a:r>
            <a:r>
              <a:rPr lang="zh-CN" altLang="en-US" dirty="0"/>
              <a:t>续</a:t>
            </a:r>
            <a:r>
              <a:rPr lang="en-US" altLang="zh-CN" dirty="0"/>
              <a:t>)</a:t>
            </a:r>
          </a:p>
        </p:txBody>
      </p:sp>
      <p:sp>
        <p:nvSpPr>
          <p:cNvPr id="105475" name="Rectangle 256">
            <a:extLst>
              <a:ext uri="{FF2B5EF4-FFF2-40B4-BE49-F238E27FC236}">
                <a16:creationId xmlns:a16="http://schemas.microsoft.com/office/drawing/2014/main" id="{32B48B0F-3C83-4696-8178-EE440D280B91}"/>
              </a:ext>
            </a:extLst>
          </p:cNvPr>
          <p:cNvSpPr>
            <a:spLocks noChangeArrowheads="1"/>
          </p:cNvSpPr>
          <p:nvPr/>
        </p:nvSpPr>
        <p:spPr bwMode="auto">
          <a:xfrm>
            <a:off x="1378113" y="137423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sz="2400" b="1" i="1" dirty="0">
                <a:solidFill>
                  <a:srgbClr val="000000"/>
                </a:solidFill>
                <a:ea typeface="楷体_GB2312" pitchFamily="49" charset="-122"/>
              </a:rPr>
              <a:t>R</a:t>
            </a:r>
          </a:p>
        </p:txBody>
      </p:sp>
      <p:sp>
        <p:nvSpPr>
          <p:cNvPr id="105476" name="Rectangle 257">
            <a:extLst>
              <a:ext uri="{FF2B5EF4-FFF2-40B4-BE49-F238E27FC236}">
                <a16:creationId xmlns:a16="http://schemas.microsoft.com/office/drawing/2014/main" id="{932D6441-6FC6-4504-926E-42CCF7D166B8}"/>
              </a:ext>
            </a:extLst>
          </p:cNvPr>
          <p:cNvSpPr>
            <a:spLocks noChangeArrowheads="1"/>
          </p:cNvSpPr>
          <p:nvPr/>
        </p:nvSpPr>
        <p:spPr bwMode="auto">
          <a:xfrm>
            <a:off x="4827977" y="1420192"/>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ctr" eaLnBrk="1" hangingPunct="1">
              <a:spcBef>
                <a:spcPct val="0"/>
              </a:spcBef>
              <a:buClrTx/>
              <a:buSzTx/>
              <a:buFontTx/>
              <a:buNone/>
            </a:pPr>
            <a:r>
              <a:rPr kumimoji="1" lang="en-US" altLang="zh-CN" sz="2400" b="1" i="1" dirty="0">
                <a:solidFill>
                  <a:srgbClr val="000000"/>
                </a:solidFill>
                <a:ea typeface="楷体_GB2312" pitchFamily="49" charset="-122"/>
              </a:rPr>
              <a:t>S</a:t>
            </a:r>
          </a:p>
        </p:txBody>
      </p:sp>
      <p:sp>
        <p:nvSpPr>
          <p:cNvPr id="443651" name="Rectangle 259">
            <a:extLst>
              <a:ext uri="{FF2B5EF4-FFF2-40B4-BE49-F238E27FC236}">
                <a16:creationId xmlns:a16="http://schemas.microsoft.com/office/drawing/2014/main" id="{45428E45-C74B-4ADB-8AED-D2BA79A849CE}"/>
              </a:ext>
            </a:extLst>
          </p:cNvPr>
          <p:cNvSpPr>
            <a:spLocks noGrp="1" noChangeArrowheads="1"/>
          </p:cNvSpPr>
          <p:nvPr>
            <p:ph type="body" idx="1"/>
          </p:nvPr>
        </p:nvSpPr>
        <p:spPr>
          <a:xfrm>
            <a:off x="5285176" y="3430912"/>
            <a:ext cx="5854287" cy="2969888"/>
          </a:xfrm>
        </p:spPr>
        <p:txBody>
          <a:bodyPr>
            <a:normAutofit lnSpcReduction="10000"/>
          </a:bodyPr>
          <a:lstStyle/>
          <a:p>
            <a:pPr>
              <a:defRPr/>
            </a:pPr>
            <a:r>
              <a:rPr lang="zh-CN" altLang="en-US" sz="2000" dirty="0"/>
              <a:t>分析：关系</a:t>
            </a:r>
            <a:r>
              <a:rPr lang="en-US" altLang="zh-CN" sz="2000" i="1" dirty="0"/>
              <a:t>R</a:t>
            </a:r>
            <a:r>
              <a:rPr lang="zh-CN" altLang="en-US" sz="2000" dirty="0"/>
              <a:t>中，</a:t>
            </a:r>
            <a:r>
              <a:rPr lang="en-US" altLang="zh-CN" sz="2000" i="1" dirty="0"/>
              <a:t>A</a:t>
            </a:r>
            <a:r>
              <a:rPr lang="zh-CN" altLang="en-US" sz="2000" dirty="0"/>
              <a:t>取值</a:t>
            </a:r>
            <a:r>
              <a:rPr lang="en-US" altLang="zh-CN" sz="2000" dirty="0"/>
              <a:t>{</a:t>
            </a:r>
            <a:r>
              <a:rPr kumimoji="1" lang="en-US" altLang="zh-CN" sz="2000" i="1" dirty="0"/>
              <a:t>a</a:t>
            </a:r>
            <a:r>
              <a:rPr kumimoji="1" lang="en-US" altLang="zh-CN" sz="2000" dirty="0"/>
              <a:t>1, </a:t>
            </a:r>
            <a:r>
              <a:rPr kumimoji="1" lang="en-US" altLang="zh-CN" sz="2000" i="1" dirty="0"/>
              <a:t>a</a:t>
            </a:r>
            <a:r>
              <a:rPr kumimoji="1" lang="en-US" altLang="zh-CN" sz="2000" dirty="0"/>
              <a:t>2, </a:t>
            </a:r>
            <a:r>
              <a:rPr kumimoji="1" lang="en-US" altLang="zh-CN" sz="2000" i="1" dirty="0"/>
              <a:t>a</a:t>
            </a:r>
            <a:r>
              <a:rPr kumimoji="1" lang="en-US" altLang="zh-CN" sz="2000" dirty="0"/>
              <a:t>3, </a:t>
            </a:r>
            <a:r>
              <a:rPr kumimoji="1" lang="en-US" altLang="zh-CN" sz="2000" i="1" dirty="0"/>
              <a:t>a</a:t>
            </a:r>
            <a:r>
              <a:rPr kumimoji="1" lang="en-US" altLang="zh-CN" sz="2000" dirty="0"/>
              <a:t>4</a:t>
            </a:r>
            <a:r>
              <a:rPr lang="en-US" altLang="zh-CN" sz="2000" dirty="0"/>
              <a:t>}</a:t>
            </a:r>
            <a:endParaRPr lang="zh-CN" altLang="en-US" sz="2000" dirty="0"/>
          </a:p>
          <a:p>
            <a:pPr lvl="1">
              <a:defRPr/>
            </a:pPr>
            <a:r>
              <a:rPr kumimoji="1" lang="en-US" altLang="zh-CN" sz="1700" i="1" dirty="0"/>
              <a:t>a</a:t>
            </a:r>
            <a:r>
              <a:rPr kumimoji="1" lang="en-US" altLang="zh-CN" sz="1700" dirty="0"/>
              <a:t>1</a:t>
            </a:r>
            <a:r>
              <a:rPr kumimoji="1" lang="zh-CN" altLang="en-US" sz="1700" dirty="0"/>
              <a:t>象集</a:t>
            </a:r>
            <a:r>
              <a:rPr kumimoji="1" lang="en-US" altLang="zh-CN" sz="1700" dirty="0"/>
              <a:t>{ (</a:t>
            </a:r>
            <a:r>
              <a:rPr kumimoji="1" lang="en-US" altLang="zh-CN" sz="1700" i="1" dirty="0"/>
              <a:t>b</a:t>
            </a:r>
            <a:r>
              <a:rPr kumimoji="1" lang="en-US" altLang="zh-CN" sz="1700" dirty="0"/>
              <a:t>1,</a:t>
            </a:r>
            <a:r>
              <a:rPr kumimoji="1" lang="en-US" altLang="zh-CN" sz="1700" i="1" dirty="0"/>
              <a:t>c</a:t>
            </a:r>
            <a:r>
              <a:rPr kumimoji="1" lang="en-US" altLang="zh-CN" sz="1700" dirty="0"/>
              <a:t>2),(</a:t>
            </a:r>
            <a:r>
              <a:rPr kumimoji="1" lang="en-US" altLang="zh-CN" sz="1700" i="1" dirty="0"/>
              <a:t>b</a:t>
            </a:r>
            <a:r>
              <a:rPr kumimoji="1" lang="en-US" altLang="zh-CN" sz="1700" dirty="0"/>
              <a:t>2,</a:t>
            </a:r>
            <a:r>
              <a:rPr kumimoji="1" lang="en-US" altLang="zh-CN" sz="1700" i="1" dirty="0"/>
              <a:t>c</a:t>
            </a:r>
            <a:r>
              <a:rPr kumimoji="1" lang="en-US" altLang="zh-CN" sz="1700" dirty="0"/>
              <a:t>3),(</a:t>
            </a:r>
            <a:r>
              <a:rPr kumimoji="1" lang="en-US" altLang="zh-CN" sz="1700" i="1" dirty="0"/>
              <a:t>b</a:t>
            </a:r>
            <a:r>
              <a:rPr kumimoji="1" lang="en-US" altLang="zh-CN" sz="1700" dirty="0"/>
              <a:t>2,</a:t>
            </a:r>
            <a:r>
              <a:rPr kumimoji="1" lang="en-US" altLang="zh-CN" sz="1700" i="1" dirty="0"/>
              <a:t>c</a:t>
            </a:r>
            <a:r>
              <a:rPr kumimoji="1" lang="en-US" altLang="zh-CN" sz="1700" dirty="0"/>
              <a:t>1) }</a:t>
            </a:r>
          </a:p>
          <a:p>
            <a:pPr lvl="1">
              <a:defRPr/>
            </a:pPr>
            <a:r>
              <a:rPr kumimoji="1" lang="en-US" altLang="zh-CN" sz="1700" i="1" dirty="0"/>
              <a:t>a</a:t>
            </a:r>
            <a:r>
              <a:rPr kumimoji="1" lang="en-US" altLang="zh-CN" sz="1700" dirty="0"/>
              <a:t>2</a:t>
            </a:r>
            <a:r>
              <a:rPr kumimoji="1" lang="zh-CN" altLang="en-US" sz="1700" dirty="0"/>
              <a:t>象集</a:t>
            </a:r>
            <a:r>
              <a:rPr kumimoji="1" lang="en-US" altLang="zh-CN" sz="1700" dirty="0"/>
              <a:t>{ (</a:t>
            </a:r>
            <a:r>
              <a:rPr kumimoji="1" lang="en-US" altLang="zh-CN" sz="1700" i="1" dirty="0"/>
              <a:t>b</a:t>
            </a:r>
            <a:r>
              <a:rPr kumimoji="1" lang="en-US" altLang="zh-CN" sz="1700" dirty="0"/>
              <a:t>3,</a:t>
            </a:r>
            <a:r>
              <a:rPr kumimoji="1" lang="en-US" altLang="zh-CN" sz="1700" i="1" dirty="0"/>
              <a:t>c</a:t>
            </a:r>
            <a:r>
              <a:rPr kumimoji="1" lang="en-US" altLang="zh-CN" sz="1700" dirty="0"/>
              <a:t>7),(</a:t>
            </a:r>
            <a:r>
              <a:rPr kumimoji="1" lang="en-US" altLang="zh-CN" sz="1700" i="1" dirty="0"/>
              <a:t>b</a:t>
            </a:r>
            <a:r>
              <a:rPr kumimoji="1" lang="en-US" altLang="zh-CN" sz="1700" dirty="0"/>
              <a:t>2,</a:t>
            </a:r>
            <a:r>
              <a:rPr kumimoji="1" lang="en-US" altLang="zh-CN" sz="1700" i="1" dirty="0"/>
              <a:t>c</a:t>
            </a:r>
            <a:r>
              <a:rPr kumimoji="1" lang="en-US" altLang="zh-CN" sz="1700" dirty="0"/>
              <a:t>3) }</a:t>
            </a:r>
          </a:p>
          <a:p>
            <a:pPr lvl="1">
              <a:defRPr/>
            </a:pPr>
            <a:r>
              <a:rPr kumimoji="1" lang="en-US" altLang="zh-CN" sz="1700" i="1" dirty="0"/>
              <a:t>a</a:t>
            </a:r>
            <a:r>
              <a:rPr kumimoji="1" lang="en-US" altLang="zh-CN" sz="1700" dirty="0"/>
              <a:t>3</a:t>
            </a:r>
            <a:r>
              <a:rPr kumimoji="1" lang="zh-CN" altLang="en-US" sz="1700" dirty="0"/>
              <a:t>象集</a:t>
            </a:r>
            <a:r>
              <a:rPr kumimoji="1" lang="en-US" altLang="zh-CN" sz="1700" dirty="0"/>
              <a:t>{ (</a:t>
            </a:r>
            <a:r>
              <a:rPr kumimoji="1" lang="en-US" altLang="zh-CN" sz="1700" i="1" dirty="0"/>
              <a:t>b</a:t>
            </a:r>
            <a:r>
              <a:rPr kumimoji="1" lang="en-US" altLang="zh-CN" sz="1700" dirty="0"/>
              <a:t>4,</a:t>
            </a:r>
            <a:r>
              <a:rPr kumimoji="1" lang="en-US" altLang="zh-CN" sz="1700" i="1" dirty="0"/>
              <a:t>c</a:t>
            </a:r>
            <a:r>
              <a:rPr kumimoji="1" lang="en-US" altLang="zh-CN" sz="1700" dirty="0"/>
              <a:t>6) }</a:t>
            </a:r>
          </a:p>
          <a:p>
            <a:pPr lvl="1">
              <a:defRPr/>
            </a:pPr>
            <a:r>
              <a:rPr kumimoji="1" lang="en-US" altLang="zh-CN" sz="1700" i="1" dirty="0"/>
              <a:t>a</a:t>
            </a:r>
            <a:r>
              <a:rPr kumimoji="1" lang="en-US" altLang="zh-CN" sz="1700" dirty="0"/>
              <a:t>4</a:t>
            </a:r>
            <a:r>
              <a:rPr kumimoji="1" lang="zh-CN" altLang="en-US" sz="1700" dirty="0"/>
              <a:t>象集</a:t>
            </a:r>
            <a:r>
              <a:rPr kumimoji="1" lang="en-US" altLang="zh-CN" sz="1700" dirty="0"/>
              <a:t>{ (</a:t>
            </a:r>
            <a:r>
              <a:rPr kumimoji="1" lang="en-US" altLang="zh-CN" sz="1700" i="1" dirty="0"/>
              <a:t>b</a:t>
            </a:r>
            <a:r>
              <a:rPr kumimoji="1" lang="en-US" altLang="zh-CN" sz="1700" dirty="0"/>
              <a:t>6,</a:t>
            </a:r>
            <a:r>
              <a:rPr kumimoji="1" lang="en-US" altLang="zh-CN" sz="1700" i="1" dirty="0"/>
              <a:t>c</a:t>
            </a:r>
            <a:r>
              <a:rPr kumimoji="1" lang="en-US" altLang="zh-CN" sz="1700" dirty="0"/>
              <a:t>6) }</a:t>
            </a:r>
          </a:p>
          <a:p>
            <a:pPr>
              <a:defRPr/>
            </a:pPr>
            <a:r>
              <a:rPr kumimoji="1" lang="en-US" altLang="zh-CN" sz="2000" i="1" dirty="0"/>
              <a:t>S</a:t>
            </a:r>
            <a:r>
              <a:rPr kumimoji="1" lang="zh-CN" altLang="en-US" sz="2000" dirty="0"/>
              <a:t>在</a:t>
            </a:r>
            <a:r>
              <a:rPr kumimoji="1" lang="en-US" altLang="zh-CN" sz="2000" dirty="0"/>
              <a:t>(</a:t>
            </a:r>
            <a:r>
              <a:rPr kumimoji="1" lang="en-US" altLang="zh-CN" sz="2000" i="1" dirty="0"/>
              <a:t>B</a:t>
            </a:r>
            <a:r>
              <a:rPr kumimoji="1" lang="en-US" altLang="zh-CN" sz="2000" dirty="0"/>
              <a:t>,</a:t>
            </a:r>
            <a:r>
              <a:rPr kumimoji="1" lang="en-US" altLang="zh-CN" sz="2000" i="1" dirty="0"/>
              <a:t>C</a:t>
            </a:r>
            <a:r>
              <a:rPr kumimoji="1" lang="en-US" altLang="zh-CN" sz="2000" dirty="0"/>
              <a:t>)</a:t>
            </a:r>
            <a:r>
              <a:rPr kumimoji="1" lang="zh-CN" altLang="en-US" sz="2000" dirty="0"/>
              <a:t>上投影</a:t>
            </a:r>
            <a:r>
              <a:rPr kumimoji="1" lang="en-US" altLang="zh-CN" sz="2000" dirty="0"/>
              <a:t>{ (</a:t>
            </a:r>
            <a:r>
              <a:rPr kumimoji="1" lang="en-US" altLang="zh-CN" sz="2000" i="1" dirty="0"/>
              <a:t>b</a:t>
            </a:r>
            <a:r>
              <a:rPr kumimoji="1" lang="en-US" altLang="zh-CN" sz="2000" dirty="0"/>
              <a:t>1,</a:t>
            </a:r>
            <a:r>
              <a:rPr kumimoji="1" lang="en-US" altLang="zh-CN" sz="2000" i="1" dirty="0"/>
              <a:t>c</a:t>
            </a:r>
            <a:r>
              <a:rPr kumimoji="1" lang="en-US" altLang="zh-CN" sz="2000" dirty="0"/>
              <a:t>2),(</a:t>
            </a:r>
            <a:r>
              <a:rPr kumimoji="1" lang="en-US" altLang="zh-CN" sz="2000" i="1" dirty="0"/>
              <a:t>b</a:t>
            </a:r>
            <a:r>
              <a:rPr kumimoji="1" lang="en-US" altLang="zh-CN" sz="2000" dirty="0"/>
              <a:t>2,</a:t>
            </a:r>
            <a:r>
              <a:rPr kumimoji="1" lang="en-US" altLang="zh-CN" sz="2000" i="1" dirty="0"/>
              <a:t>c</a:t>
            </a:r>
            <a:r>
              <a:rPr kumimoji="1" lang="en-US" altLang="zh-CN" sz="2000" dirty="0"/>
              <a:t>1),(</a:t>
            </a:r>
            <a:r>
              <a:rPr kumimoji="1" lang="en-US" altLang="zh-CN" sz="2000" i="1" dirty="0"/>
              <a:t>b</a:t>
            </a:r>
            <a:r>
              <a:rPr kumimoji="1" lang="en-US" altLang="zh-CN" sz="2000" dirty="0"/>
              <a:t>2,</a:t>
            </a:r>
            <a:r>
              <a:rPr kumimoji="1" lang="en-US" altLang="zh-CN" sz="2000" i="1" dirty="0"/>
              <a:t>c</a:t>
            </a:r>
            <a:r>
              <a:rPr kumimoji="1" lang="en-US" altLang="zh-CN" sz="2000" dirty="0"/>
              <a:t>3) }</a:t>
            </a:r>
          </a:p>
          <a:p>
            <a:r>
              <a:rPr lang="zh-CN" altLang="en-US" sz="2000" dirty="0">
                <a:solidFill>
                  <a:srgbClr val="C00000"/>
                </a:solidFill>
              </a:rPr>
              <a:t>只有</a:t>
            </a:r>
            <a:r>
              <a:rPr lang="en-US" altLang="zh-CN" sz="2000" i="1" dirty="0">
                <a:solidFill>
                  <a:srgbClr val="C00000"/>
                </a:solidFill>
              </a:rPr>
              <a:t>a</a:t>
            </a:r>
            <a:r>
              <a:rPr lang="en-US" altLang="zh-CN" sz="2000" dirty="0">
                <a:solidFill>
                  <a:srgbClr val="C00000"/>
                </a:solidFill>
              </a:rPr>
              <a:t>1</a:t>
            </a:r>
            <a:r>
              <a:rPr lang="zh-CN" altLang="en-US" sz="2000" dirty="0">
                <a:solidFill>
                  <a:srgbClr val="C00000"/>
                </a:solidFill>
              </a:rPr>
              <a:t>的象集包含了</a:t>
            </a:r>
            <a:r>
              <a:rPr lang="en-US" altLang="zh-CN" sz="2000" i="1" dirty="0">
                <a:solidFill>
                  <a:srgbClr val="C00000"/>
                </a:solidFill>
              </a:rPr>
              <a:t>S</a:t>
            </a:r>
            <a:r>
              <a:rPr lang="zh-CN" altLang="en-US" sz="2000" dirty="0">
                <a:solidFill>
                  <a:srgbClr val="C00000"/>
                </a:solidFill>
              </a:rPr>
              <a:t>在</a:t>
            </a:r>
            <a:r>
              <a:rPr lang="en-US" altLang="zh-CN" sz="2000" dirty="0">
                <a:solidFill>
                  <a:srgbClr val="C00000"/>
                </a:solidFill>
              </a:rPr>
              <a:t>(</a:t>
            </a:r>
            <a:r>
              <a:rPr lang="en-US" altLang="zh-CN" sz="2000" i="1" dirty="0">
                <a:solidFill>
                  <a:srgbClr val="C00000"/>
                </a:solidFill>
              </a:rPr>
              <a:t>B</a:t>
            </a:r>
            <a:r>
              <a:rPr lang="zh-CN" altLang="en-US" sz="2000" dirty="0">
                <a:solidFill>
                  <a:srgbClr val="C00000"/>
                </a:solidFill>
              </a:rPr>
              <a:t>，</a:t>
            </a:r>
            <a:r>
              <a:rPr lang="en-US" altLang="zh-CN" sz="2000" i="1" dirty="0">
                <a:solidFill>
                  <a:srgbClr val="C00000"/>
                </a:solidFill>
              </a:rPr>
              <a:t>C</a:t>
            </a:r>
            <a:r>
              <a:rPr lang="en-US" altLang="zh-CN" sz="2000" dirty="0">
                <a:solidFill>
                  <a:srgbClr val="C00000"/>
                </a:solidFill>
              </a:rPr>
              <a:t>)</a:t>
            </a:r>
            <a:r>
              <a:rPr lang="zh-CN" altLang="en-US" sz="2000" dirty="0">
                <a:solidFill>
                  <a:srgbClr val="C00000"/>
                </a:solidFill>
              </a:rPr>
              <a:t>属性组上的投影，所以 </a:t>
            </a:r>
            <a:r>
              <a:rPr lang="en-US" altLang="zh-CN" sz="2000" i="1" dirty="0">
                <a:solidFill>
                  <a:srgbClr val="C00000"/>
                </a:solidFill>
              </a:rPr>
              <a:t>R</a:t>
            </a:r>
            <a:r>
              <a:rPr lang="en-US" altLang="zh-CN" sz="2000" dirty="0">
                <a:solidFill>
                  <a:srgbClr val="C00000"/>
                </a:solidFill>
              </a:rPr>
              <a:t>÷</a:t>
            </a:r>
            <a:r>
              <a:rPr lang="en-US" altLang="zh-CN" sz="2000" i="1" dirty="0">
                <a:solidFill>
                  <a:srgbClr val="C00000"/>
                </a:solidFill>
              </a:rPr>
              <a:t>S </a:t>
            </a:r>
            <a:r>
              <a:rPr lang="en-US" altLang="zh-CN" sz="2000" dirty="0">
                <a:solidFill>
                  <a:srgbClr val="C00000"/>
                </a:solidFill>
              </a:rPr>
              <a:t>={</a:t>
            </a:r>
            <a:r>
              <a:rPr lang="en-US" altLang="zh-CN" sz="2000" i="1" dirty="0">
                <a:solidFill>
                  <a:srgbClr val="C00000"/>
                </a:solidFill>
              </a:rPr>
              <a:t>a</a:t>
            </a:r>
            <a:r>
              <a:rPr lang="en-US" altLang="zh-CN" sz="2000" dirty="0">
                <a:solidFill>
                  <a:srgbClr val="C00000"/>
                </a:solidFill>
              </a:rPr>
              <a:t>1} </a:t>
            </a:r>
            <a:endParaRPr kumimoji="1" lang="en-US" altLang="zh-CN" sz="2000" dirty="0">
              <a:solidFill>
                <a:srgbClr val="C00000"/>
              </a:solidFill>
            </a:endParaRPr>
          </a:p>
        </p:txBody>
      </p:sp>
      <p:graphicFrame>
        <p:nvGraphicFramePr>
          <p:cNvPr id="2" name="表格 1">
            <a:extLst>
              <a:ext uri="{FF2B5EF4-FFF2-40B4-BE49-F238E27FC236}">
                <a16:creationId xmlns:a16="http://schemas.microsoft.com/office/drawing/2014/main" id="{AB3A67B3-F836-4F21-BA88-6AB03DD8CC20}"/>
              </a:ext>
            </a:extLst>
          </p:cNvPr>
          <p:cNvGraphicFramePr>
            <a:graphicFrameLocks noGrp="1"/>
          </p:cNvGraphicFramePr>
          <p:nvPr>
            <p:extLst/>
          </p:nvPr>
        </p:nvGraphicFramePr>
        <p:xfrm>
          <a:off x="2135187" y="1595978"/>
          <a:ext cx="2519364" cy="3887792"/>
        </p:xfrm>
        <a:graphic>
          <a:graphicData uri="http://schemas.openxmlformats.org/drawingml/2006/table">
            <a:tbl>
              <a:tblPr firstRow="1" bandRow="1">
                <a:tableStyleId>{5C22544A-7EE6-4342-B048-85BDC9FD1C3A}</a:tableStyleId>
              </a:tblPr>
              <a:tblGrid>
                <a:gridCol w="839788">
                  <a:extLst>
                    <a:ext uri="{9D8B030D-6E8A-4147-A177-3AD203B41FA5}">
                      <a16:colId xmlns:a16="http://schemas.microsoft.com/office/drawing/2014/main" val="20000"/>
                    </a:ext>
                  </a:extLst>
                </a:gridCol>
                <a:gridCol w="839788">
                  <a:extLst>
                    <a:ext uri="{9D8B030D-6E8A-4147-A177-3AD203B41FA5}">
                      <a16:colId xmlns:a16="http://schemas.microsoft.com/office/drawing/2014/main" val="20001"/>
                    </a:ext>
                  </a:extLst>
                </a:gridCol>
                <a:gridCol w="839788">
                  <a:extLst>
                    <a:ext uri="{9D8B030D-6E8A-4147-A177-3AD203B41FA5}">
                      <a16:colId xmlns:a16="http://schemas.microsoft.com/office/drawing/2014/main" val="20002"/>
                    </a:ext>
                  </a:extLst>
                </a:gridCol>
              </a:tblGrid>
              <a:tr h="485974">
                <a:tc>
                  <a:txBody>
                    <a:bodyPr/>
                    <a:lstStyle/>
                    <a:p>
                      <a:pPr algn="ctr"/>
                      <a:r>
                        <a:rPr lang="en-US" altLang="zh-CN" sz="2000" i="1" dirty="0">
                          <a:latin typeface="Times New Roman" panose="02020603050405020304" pitchFamily="18" charset="0"/>
                          <a:cs typeface="Times New Roman" panose="02020603050405020304" pitchFamily="18" charset="0"/>
                        </a:rPr>
                        <a:t>A</a:t>
                      </a:r>
                      <a:endParaRPr lang="zh-CN" altLang="en-US" sz="2000" i="1" dirty="0">
                        <a:latin typeface="Times New Roman" panose="02020603050405020304" pitchFamily="18" charset="0"/>
                        <a:cs typeface="Times New Roman" panose="02020603050405020304" pitchFamily="18" charset="0"/>
                      </a:endParaRPr>
                    </a:p>
                  </a:txBody>
                  <a:tcPr marL="91431" marR="91431" marT="45715" marB="45715"/>
                </a:tc>
                <a:tc>
                  <a:txBody>
                    <a:bodyPr/>
                    <a:lstStyle/>
                    <a:p>
                      <a:pPr algn="ctr"/>
                      <a:r>
                        <a:rPr lang="en-US" altLang="zh-CN" sz="2000" i="1" dirty="0">
                          <a:latin typeface="Times New Roman" panose="02020603050405020304" pitchFamily="18" charset="0"/>
                          <a:cs typeface="Times New Roman" panose="02020603050405020304" pitchFamily="18" charset="0"/>
                        </a:rPr>
                        <a:t>B</a:t>
                      </a:r>
                      <a:endParaRPr lang="zh-CN" altLang="en-US" sz="2000" i="1" dirty="0">
                        <a:latin typeface="Times New Roman" panose="02020603050405020304" pitchFamily="18" charset="0"/>
                        <a:cs typeface="Times New Roman" panose="02020603050405020304" pitchFamily="18" charset="0"/>
                      </a:endParaRPr>
                    </a:p>
                  </a:txBody>
                  <a:tcPr marL="91431" marR="91431" marT="45715" marB="45715"/>
                </a:tc>
                <a:tc>
                  <a:txBody>
                    <a:bodyPr/>
                    <a:lstStyle/>
                    <a:p>
                      <a:pPr algn="ctr"/>
                      <a:r>
                        <a:rPr lang="en-US" altLang="zh-CN" sz="2000" i="1" dirty="0">
                          <a:latin typeface="Times New Roman" panose="02020603050405020304" pitchFamily="18" charset="0"/>
                          <a:cs typeface="Times New Roman" panose="02020603050405020304" pitchFamily="18" charset="0"/>
                        </a:rPr>
                        <a:t>C</a:t>
                      </a:r>
                      <a:endParaRPr lang="zh-CN" altLang="en-US" sz="2000" i="1" dirty="0">
                        <a:latin typeface="Times New Roman" panose="02020603050405020304" pitchFamily="18" charset="0"/>
                        <a:cs typeface="Times New Roman" panose="02020603050405020304" pitchFamily="18" charset="0"/>
                      </a:endParaRPr>
                    </a:p>
                  </a:txBody>
                  <a:tcPr marL="91431" marR="91431" marT="45715" marB="45715"/>
                </a:tc>
                <a:extLst>
                  <a:ext uri="{0D108BD9-81ED-4DB2-BD59-A6C34878D82A}">
                    <a16:rowId xmlns:a16="http://schemas.microsoft.com/office/drawing/2014/main" val="10000"/>
                  </a:ext>
                </a:extLst>
              </a:tr>
              <a:tr h="4859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C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C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C00000"/>
                        </a:solidFill>
                        <a:latin typeface="Times New Roman" panose="02020603050405020304" pitchFamily="18" charset="0"/>
                        <a:ea typeface="+mn-ea"/>
                        <a:cs typeface="Times New Roman" panose="02020603050405020304" pitchFamily="18" charset="0"/>
                      </a:endParaRPr>
                    </a:p>
                  </a:txBody>
                  <a:tcPr marL="91431" marR="91431" marT="45715" marB="45715"/>
                </a:tc>
                <a:tc>
                  <a:txBody>
                    <a:bodyPr/>
                    <a:lstStyle/>
                    <a:p>
                      <a:pPr algn="ctr"/>
                      <a:r>
                        <a:rPr kumimoji="1" lang="en-US" altLang="zh-CN" sz="2000" b="1" i="1" dirty="0">
                          <a:solidFill>
                            <a:srgbClr val="C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C00000"/>
                          </a:solidFill>
                          <a:latin typeface="Times New Roman" panose="02020603050405020304" pitchFamily="18" charset="0"/>
                          <a:ea typeface="+mn-ea"/>
                          <a:cs typeface="Times New Roman" panose="02020603050405020304" pitchFamily="18" charset="0"/>
                        </a:rPr>
                        <a:t>1</a:t>
                      </a:r>
                      <a:endParaRPr lang="zh-CN" altLang="en-US" sz="2000" dirty="0">
                        <a:solidFill>
                          <a:srgbClr val="C00000"/>
                        </a:solidFill>
                        <a:latin typeface="Times New Roman" panose="02020603050405020304" pitchFamily="18" charset="0"/>
                        <a:cs typeface="Times New Roman" panose="02020603050405020304" pitchFamily="18" charset="0"/>
                      </a:endParaRPr>
                    </a:p>
                  </a:txBody>
                  <a:tcPr marL="91431" marR="91431" marT="45715" marB="45715"/>
                </a:tc>
                <a:tc>
                  <a:txBody>
                    <a:bodyPr/>
                    <a:lstStyle/>
                    <a:p>
                      <a:pPr algn="ctr"/>
                      <a:r>
                        <a:rPr kumimoji="1" lang="en-US" altLang="zh-CN" sz="2000" b="1" i="1" dirty="0">
                          <a:solidFill>
                            <a:srgbClr val="C00000"/>
                          </a:solidFill>
                          <a:latin typeface="Times New Roman" panose="02020603050405020304" pitchFamily="18" charset="0"/>
                          <a:ea typeface="+mn-ea"/>
                          <a:cs typeface="Times New Roman" panose="02020603050405020304" pitchFamily="18" charset="0"/>
                        </a:rPr>
                        <a:t>c</a:t>
                      </a:r>
                      <a:r>
                        <a:rPr kumimoji="1" lang="en-US" altLang="zh-CN" sz="2000" b="1" baseline="-30000" dirty="0">
                          <a:solidFill>
                            <a:srgbClr val="C00000"/>
                          </a:solidFill>
                          <a:latin typeface="Times New Roman" panose="02020603050405020304" pitchFamily="18" charset="0"/>
                          <a:ea typeface="+mn-ea"/>
                          <a:cs typeface="Times New Roman" panose="02020603050405020304" pitchFamily="18" charset="0"/>
                        </a:rPr>
                        <a:t>2</a:t>
                      </a:r>
                      <a:endParaRPr lang="zh-CN" altLang="en-US" sz="2000" dirty="0">
                        <a:solidFill>
                          <a:srgbClr val="C00000"/>
                        </a:solidFill>
                        <a:latin typeface="Times New Roman" panose="02020603050405020304" pitchFamily="18" charset="0"/>
                        <a:cs typeface="Times New Roman" panose="02020603050405020304" pitchFamily="18" charset="0"/>
                      </a:endParaRPr>
                    </a:p>
                  </a:txBody>
                  <a:tcPr marL="91431" marR="91431" marT="45715" marB="45715"/>
                </a:tc>
                <a:extLst>
                  <a:ext uri="{0D108BD9-81ED-4DB2-BD59-A6C34878D82A}">
                    <a16:rowId xmlns:a16="http://schemas.microsoft.com/office/drawing/2014/main" val="10001"/>
                  </a:ext>
                </a:extLst>
              </a:tr>
              <a:tr h="4859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34ACBC"/>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34ACBC"/>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34ACBC"/>
                        </a:solidFill>
                        <a:latin typeface="Times New Roman" panose="02020603050405020304" pitchFamily="18" charset="0"/>
                        <a:ea typeface="+mn-ea"/>
                        <a:cs typeface="Times New Roman" panose="02020603050405020304" pitchFamily="18" charset="0"/>
                      </a:endParaRPr>
                    </a:p>
                  </a:txBody>
                  <a:tcPr marL="91431" marR="91431" marT="45715" marB="45715"/>
                </a:tc>
                <a:tc>
                  <a:txBody>
                    <a:bodyPr/>
                    <a:lstStyle/>
                    <a:p>
                      <a:pPr algn="ctr"/>
                      <a:r>
                        <a:rPr kumimoji="1" lang="en-US" altLang="zh-CN" sz="2000" b="1" i="1" dirty="0">
                          <a:solidFill>
                            <a:srgbClr val="34ACBC"/>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34ACBC"/>
                          </a:solidFill>
                          <a:latin typeface="Times New Roman" panose="02020603050405020304" pitchFamily="18" charset="0"/>
                          <a:ea typeface="+mn-ea"/>
                          <a:cs typeface="Times New Roman" panose="02020603050405020304" pitchFamily="18" charset="0"/>
                        </a:rPr>
                        <a:t>3</a:t>
                      </a:r>
                      <a:endParaRPr lang="zh-CN" altLang="en-US" sz="2000" dirty="0">
                        <a:solidFill>
                          <a:srgbClr val="34ACBC"/>
                        </a:solidFill>
                        <a:latin typeface="Times New Roman" panose="02020603050405020304" pitchFamily="18" charset="0"/>
                        <a:cs typeface="Times New Roman" panose="02020603050405020304" pitchFamily="18" charset="0"/>
                      </a:endParaRPr>
                    </a:p>
                  </a:txBody>
                  <a:tcPr marL="91431" marR="91431" marT="45715" marB="45715"/>
                </a:tc>
                <a:tc>
                  <a:txBody>
                    <a:bodyPr/>
                    <a:lstStyle/>
                    <a:p>
                      <a:pPr algn="ctr"/>
                      <a:r>
                        <a:rPr kumimoji="1" lang="en-US" altLang="zh-CN" sz="2000" b="1" i="1" dirty="0">
                          <a:solidFill>
                            <a:srgbClr val="34ACBC"/>
                          </a:solidFill>
                          <a:latin typeface="Times New Roman" panose="02020603050405020304" pitchFamily="18" charset="0"/>
                          <a:ea typeface="+mn-ea"/>
                          <a:cs typeface="Times New Roman" panose="02020603050405020304" pitchFamily="18" charset="0"/>
                        </a:rPr>
                        <a:t>c</a:t>
                      </a:r>
                      <a:r>
                        <a:rPr kumimoji="1" lang="en-US" altLang="zh-CN" sz="2000" b="1" baseline="-30000" dirty="0">
                          <a:solidFill>
                            <a:srgbClr val="34ACBC"/>
                          </a:solidFill>
                          <a:latin typeface="Times New Roman" panose="02020603050405020304" pitchFamily="18" charset="0"/>
                          <a:ea typeface="+mn-ea"/>
                          <a:cs typeface="Times New Roman" panose="02020603050405020304" pitchFamily="18" charset="0"/>
                        </a:rPr>
                        <a:t>7</a:t>
                      </a:r>
                      <a:endParaRPr lang="zh-CN" altLang="en-US" sz="2000" dirty="0">
                        <a:solidFill>
                          <a:srgbClr val="34ACBC"/>
                        </a:solidFill>
                        <a:latin typeface="Times New Roman" panose="02020603050405020304" pitchFamily="18" charset="0"/>
                        <a:cs typeface="Times New Roman" panose="02020603050405020304" pitchFamily="18" charset="0"/>
                      </a:endParaRPr>
                    </a:p>
                  </a:txBody>
                  <a:tcPr marL="91431" marR="91431" marT="45715" marB="45715"/>
                </a:tc>
                <a:extLst>
                  <a:ext uri="{0D108BD9-81ED-4DB2-BD59-A6C34878D82A}">
                    <a16:rowId xmlns:a16="http://schemas.microsoft.com/office/drawing/2014/main" val="10002"/>
                  </a:ext>
                </a:extLst>
              </a:tr>
              <a:tr h="4859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3333FF"/>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3333FF"/>
                          </a:solidFill>
                          <a:latin typeface="Times New Roman" panose="02020603050405020304" pitchFamily="18" charset="0"/>
                          <a:ea typeface="+mn-ea"/>
                          <a:cs typeface="Times New Roman" panose="02020603050405020304" pitchFamily="18" charset="0"/>
                        </a:rPr>
                        <a:t>3</a:t>
                      </a:r>
                      <a:endParaRPr kumimoji="1" lang="en-US" altLang="zh-CN" sz="2000" b="1" dirty="0">
                        <a:solidFill>
                          <a:srgbClr val="3333FF"/>
                        </a:solidFill>
                        <a:latin typeface="Times New Roman" panose="02020603050405020304" pitchFamily="18" charset="0"/>
                        <a:ea typeface="+mn-ea"/>
                        <a:cs typeface="Times New Roman" panose="02020603050405020304" pitchFamily="18" charset="0"/>
                      </a:endParaRPr>
                    </a:p>
                  </a:txBody>
                  <a:tcPr marL="91431" marR="91431" marT="45715" marB="45715"/>
                </a:tc>
                <a:tc>
                  <a:txBody>
                    <a:bodyPr/>
                    <a:lstStyle/>
                    <a:p>
                      <a:pPr algn="ctr"/>
                      <a:r>
                        <a:rPr kumimoji="1" lang="en-US" altLang="zh-CN" sz="2000" b="1" i="1" dirty="0">
                          <a:solidFill>
                            <a:srgbClr val="3333FF"/>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3333FF"/>
                          </a:solidFill>
                          <a:latin typeface="Times New Roman" panose="02020603050405020304" pitchFamily="18" charset="0"/>
                          <a:ea typeface="+mn-ea"/>
                          <a:cs typeface="Times New Roman" panose="02020603050405020304" pitchFamily="18" charset="0"/>
                        </a:rPr>
                        <a:t>4</a:t>
                      </a:r>
                      <a:endParaRPr lang="zh-CN" altLang="en-US" sz="2000" dirty="0">
                        <a:solidFill>
                          <a:srgbClr val="3333FF"/>
                        </a:solidFill>
                        <a:latin typeface="Times New Roman" panose="02020603050405020304" pitchFamily="18" charset="0"/>
                        <a:cs typeface="Times New Roman" panose="02020603050405020304" pitchFamily="18" charset="0"/>
                      </a:endParaRPr>
                    </a:p>
                  </a:txBody>
                  <a:tcPr marL="91431" marR="91431" marT="45715" marB="45715"/>
                </a:tc>
                <a:tc>
                  <a:txBody>
                    <a:bodyPr/>
                    <a:lstStyle/>
                    <a:p>
                      <a:pPr algn="ctr"/>
                      <a:r>
                        <a:rPr kumimoji="1" lang="en-US" altLang="zh-CN" sz="2000" b="1" i="1" dirty="0">
                          <a:solidFill>
                            <a:srgbClr val="3333FF"/>
                          </a:solidFill>
                          <a:latin typeface="Times New Roman" panose="02020603050405020304" pitchFamily="18" charset="0"/>
                          <a:ea typeface="+mn-ea"/>
                          <a:cs typeface="Times New Roman" panose="02020603050405020304" pitchFamily="18" charset="0"/>
                        </a:rPr>
                        <a:t>c</a:t>
                      </a:r>
                      <a:r>
                        <a:rPr kumimoji="1" lang="en-US" altLang="zh-CN" sz="2000" b="1" baseline="-30000" dirty="0">
                          <a:solidFill>
                            <a:srgbClr val="3333FF"/>
                          </a:solidFill>
                          <a:latin typeface="Times New Roman" panose="02020603050405020304" pitchFamily="18" charset="0"/>
                          <a:ea typeface="+mn-ea"/>
                          <a:cs typeface="Times New Roman" panose="02020603050405020304" pitchFamily="18" charset="0"/>
                        </a:rPr>
                        <a:t>6</a:t>
                      </a:r>
                      <a:endParaRPr lang="zh-CN" altLang="en-US" sz="2000" dirty="0">
                        <a:solidFill>
                          <a:srgbClr val="3333FF"/>
                        </a:solidFill>
                        <a:latin typeface="Times New Roman" panose="02020603050405020304" pitchFamily="18" charset="0"/>
                        <a:cs typeface="Times New Roman" panose="02020603050405020304" pitchFamily="18" charset="0"/>
                      </a:endParaRPr>
                    </a:p>
                  </a:txBody>
                  <a:tcPr marL="91431" marR="91431" marT="45715" marB="45715"/>
                </a:tc>
                <a:extLst>
                  <a:ext uri="{0D108BD9-81ED-4DB2-BD59-A6C34878D82A}">
                    <a16:rowId xmlns:a16="http://schemas.microsoft.com/office/drawing/2014/main" val="10003"/>
                  </a:ext>
                </a:extLst>
              </a:tr>
              <a:tr h="4859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C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C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C00000"/>
                        </a:solidFill>
                        <a:latin typeface="Times New Roman" panose="02020603050405020304" pitchFamily="18" charset="0"/>
                        <a:ea typeface="+mn-ea"/>
                        <a:cs typeface="Times New Roman" panose="02020603050405020304" pitchFamily="18" charset="0"/>
                      </a:endParaRPr>
                    </a:p>
                  </a:txBody>
                  <a:tcPr marL="91431" marR="91431" marT="45715" marB="45715"/>
                </a:tc>
                <a:tc>
                  <a:txBody>
                    <a:bodyPr/>
                    <a:lstStyle/>
                    <a:p>
                      <a:pPr algn="ctr"/>
                      <a:r>
                        <a:rPr kumimoji="1" lang="en-US" altLang="zh-CN" sz="2000" b="1" i="1" dirty="0">
                          <a:solidFill>
                            <a:srgbClr val="C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C00000"/>
                          </a:solidFill>
                          <a:latin typeface="Times New Roman" panose="02020603050405020304" pitchFamily="18" charset="0"/>
                          <a:ea typeface="+mn-ea"/>
                          <a:cs typeface="Times New Roman" panose="02020603050405020304" pitchFamily="18" charset="0"/>
                        </a:rPr>
                        <a:t>2</a:t>
                      </a:r>
                      <a:endParaRPr lang="zh-CN" altLang="en-US" sz="2000" dirty="0">
                        <a:solidFill>
                          <a:srgbClr val="C00000"/>
                        </a:solidFill>
                        <a:latin typeface="Times New Roman" panose="02020603050405020304" pitchFamily="18" charset="0"/>
                        <a:cs typeface="Times New Roman" panose="02020603050405020304" pitchFamily="18" charset="0"/>
                      </a:endParaRPr>
                    </a:p>
                  </a:txBody>
                  <a:tcPr marL="91431" marR="91431" marT="45715" marB="45715"/>
                </a:tc>
                <a:tc>
                  <a:txBody>
                    <a:bodyPr/>
                    <a:lstStyle/>
                    <a:p>
                      <a:pPr algn="ctr"/>
                      <a:r>
                        <a:rPr kumimoji="1" lang="en-US" altLang="zh-CN" sz="2000" b="1" i="1" dirty="0">
                          <a:solidFill>
                            <a:srgbClr val="C00000"/>
                          </a:solidFill>
                          <a:latin typeface="Times New Roman" panose="02020603050405020304" pitchFamily="18" charset="0"/>
                          <a:ea typeface="+mn-ea"/>
                          <a:cs typeface="Times New Roman" panose="02020603050405020304" pitchFamily="18" charset="0"/>
                        </a:rPr>
                        <a:t>c</a:t>
                      </a:r>
                      <a:r>
                        <a:rPr kumimoji="1" lang="en-US" altLang="zh-CN" sz="2000" b="1" baseline="-30000" dirty="0">
                          <a:solidFill>
                            <a:srgbClr val="C00000"/>
                          </a:solidFill>
                          <a:latin typeface="Times New Roman" panose="02020603050405020304" pitchFamily="18" charset="0"/>
                          <a:ea typeface="+mn-ea"/>
                          <a:cs typeface="Times New Roman" panose="02020603050405020304" pitchFamily="18" charset="0"/>
                        </a:rPr>
                        <a:t>3</a:t>
                      </a:r>
                      <a:endParaRPr lang="zh-CN" altLang="en-US" sz="2000" dirty="0">
                        <a:solidFill>
                          <a:srgbClr val="C00000"/>
                        </a:solidFill>
                        <a:latin typeface="Times New Roman" panose="02020603050405020304" pitchFamily="18" charset="0"/>
                        <a:cs typeface="Times New Roman" panose="02020603050405020304" pitchFamily="18" charset="0"/>
                      </a:endParaRPr>
                    </a:p>
                  </a:txBody>
                  <a:tcPr marL="91431" marR="91431" marT="45715" marB="45715"/>
                </a:tc>
                <a:extLst>
                  <a:ext uri="{0D108BD9-81ED-4DB2-BD59-A6C34878D82A}">
                    <a16:rowId xmlns:a16="http://schemas.microsoft.com/office/drawing/2014/main" val="10004"/>
                  </a:ext>
                </a:extLst>
              </a:tr>
              <a:tr h="4859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chemeClr val="tx1"/>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chemeClr val="tx1"/>
                          </a:solidFill>
                          <a:latin typeface="Times New Roman" panose="02020603050405020304" pitchFamily="18" charset="0"/>
                          <a:ea typeface="+mn-ea"/>
                          <a:cs typeface="Times New Roman" panose="02020603050405020304" pitchFamily="18" charset="0"/>
                        </a:rPr>
                        <a:t>4</a:t>
                      </a:r>
                      <a:endParaRPr kumimoji="1" lang="en-US" altLang="zh-CN" sz="2000" b="1" dirty="0">
                        <a:solidFill>
                          <a:schemeClr val="tx1"/>
                        </a:solidFill>
                        <a:latin typeface="Times New Roman" panose="02020603050405020304" pitchFamily="18" charset="0"/>
                        <a:ea typeface="+mn-ea"/>
                        <a:cs typeface="Times New Roman" panose="02020603050405020304" pitchFamily="18" charset="0"/>
                      </a:endParaRPr>
                    </a:p>
                  </a:txBody>
                  <a:tcPr marL="91431" marR="91431" marT="45715" marB="45715"/>
                </a:tc>
                <a:tc>
                  <a:txBody>
                    <a:bodyPr/>
                    <a:lstStyle/>
                    <a:p>
                      <a:pPr algn="ctr"/>
                      <a:r>
                        <a:rPr kumimoji="1" lang="en-US" altLang="zh-CN" sz="2000" b="1" i="1" dirty="0">
                          <a:solidFill>
                            <a:schemeClr val="tx1"/>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chemeClr val="tx1"/>
                          </a:solidFill>
                          <a:latin typeface="Times New Roman" panose="02020603050405020304" pitchFamily="18" charset="0"/>
                          <a:ea typeface="+mn-ea"/>
                          <a:cs typeface="Times New Roman" panose="02020603050405020304" pitchFamily="18" charset="0"/>
                        </a:rPr>
                        <a:t>6</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marL="91431" marR="91431" marT="45715" marB="45715"/>
                </a:tc>
                <a:tc>
                  <a:txBody>
                    <a:bodyPr/>
                    <a:lstStyle/>
                    <a:p>
                      <a:pPr algn="ctr"/>
                      <a:r>
                        <a:rPr kumimoji="1" lang="en-US" altLang="zh-CN" sz="2000" b="1" i="1" dirty="0">
                          <a:solidFill>
                            <a:schemeClr val="tx1"/>
                          </a:solidFill>
                          <a:latin typeface="Times New Roman" panose="02020603050405020304" pitchFamily="18" charset="0"/>
                          <a:ea typeface="+mn-ea"/>
                          <a:cs typeface="Times New Roman" panose="02020603050405020304" pitchFamily="18" charset="0"/>
                        </a:rPr>
                        <a:t>c</a:t>
                      </a:r>
                      <a:r>
                        <a:rPr kumimoji="1" lang="en-US" altLang="zh-CN" sz="2000" b="1" baseline="-30000" dirty="0">
                          <a:solidFill>
                            <a:schemeClr val="tx1"/>
                          </a:solidFill>
                          <a:latin typeface="Times New Roman" panose="02020603050405020304" pitchFamily="18" charset="0"/>
                          <a:ea typeface="+mn-ea"/>
                          <a:cs typeface="Times New Roman" panose="02020603050405020304" pitchFamily="18" charset="0"/>
                        </a:rPr>
                        <a:t>6</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marL="91431" marR="91431" marT="45715" marB="45715"/>
                </a:tc>
                <a:extLst>
                  <a:ext uri="{0D108BD9-81ED-4DB2-BD59-A6C34878D82A}">
                    <a16:rowId xmlns:a16="http://schemas.microsoft.com/office/drawing/2014/main" val="10005"/>
                  </a:ext>
                </a:extLst>
              </a:tr>
              <a:tr h="4859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34ACBC"/>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34ACBC"/>
                          </a:solidFill>
                          <a:latin typeface="Times New Roman" panose="02020603050405020304" pitchFamily="18" charset="0"/>
                          <a:ea typeface="+mn-ea"/>
                          <a:cs typeface="Times New Roman" panose="02020603050405020304" pitchFamily="18" charset="0"/>
                        </a:rPr>
                        <a:t>2</a:t>
                      </a:r>
                      <a:endParaRPr kumimoji="1" lang="en-US" altLang="zh-CN" sz="2000" b="1" dirty="0">
                        <a:solidFill>
                          <a:srgbClr val="34ACBC"/>
                        </a:solidFill>
                        <a:latin typeface="Times New Roman" panose="02020603050405020304" pitchFamily="18" charset="0"/>
                        <a:ea typeface="+mn-ea"/>
                        <a:cs typeface="Times New Roman" panose="02020603050405020304" pitchFamily="18" charset="0"/>
                      </a:endParaRPr>
                    </a:p>
                  </a:txBody>
                  <a:tcPr marL="91431" marR="91431" marT="45715" marB="45715"/>
                </a:tc>
                <a:tc>
                  <a:txBody>
                    <a:bodyPr/>
                    <a:lstStyle/>
                    <a:p>
                      <a:pPr algn="ctr"/>
                      <a:r>
                        <a:rPr kumimoji="1" lang="en-US" altLang="zh-CN" sz="2000" b="1" i="1" dirty="0">
                          <a:solidFill>
                            <a:srgbClr val="34ACBC"/>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34ACBC"/>
                          </a:solidFill>
                          <a:latin typeface="Times New Roman" panose="02020603050405020304" pitchFamily="18" charset="0"/>
                          <a:ea typeface="+mn-ea"/>
                          <a:cs typeface="Times New Roman" panose="02020603050405020304" pitchFamily="18" charset="0"/>
                        </a:rPr>
                        <a:t>2</a:t>
                      </a:r>
                      <a:endParaRPr lang="zh-CN" altLang="en-US" sz="2000" dirty="0">
                        <a:solidFill>
                          <a:srgbClr val="34ACBC"/>
                        </a:solidFill>
                        <a:latin typeface="Times New Roman" panose="02020603050405020304" pitchFamily="18" charset="0"/>
                        <a:cs typeface="Times New Roman" panose="02020603050405020304" pitchFamily="18" charset="0"/>
                      </a:endParaRPr>
                    </a:p>
                  </a:txBody>
                  <a:tcPr marL="91431" marR="91431" marT="45715" marB="45715"/>
                </a:tc>
                <a:tc>
                  <a:txBody>
                    <a:bodyPr/>
                    <a:lstStyle/>
                    <a:p>
                      <a:pPr algn="ctr"/>
                      <a:r>
                        <a:rPr kumimoji="1" lang="en-US" altLang="zh-CN" sz="2000" b="1" i="1" dirty="0">
                          <a:solidFill>
                            <a:srgbClr val="34ACBC"/>
                          </a:solidFill>
                          <a:latin typeface="Times New Roman" panose="02020603050405020304" pitchFamily="18" charset="0"/>
                          <a:ea typeface="+mn-ea"/>
                          <a:cs typeface="Times New Roman" panose="02020603050405020304" pitchFamily="18" charset="0"/>
                        </a:rPr>
                        <a:t>c</a:t>
                      </a:r>
                      <a:r>
                        <a:rPr kumimoji="1" lang="en-US" altLang="zh-CN" sz="2000" b="1" baseline="-30000" dirty="0">
                          <a:solidFill>
                            <a:srgbClr val="34ACBC"/>
                          </a:solidFill>
                          <a:latin typeface="Times New Roman" panose="02020603050405020304" pitchFamily="18" charset="0"/>
                          <a:ea typeface="+mn-ea"/>
                          <a:cs typeface="Times New Roman" panose="02020603050405020304" pitchFamily="18" charset="0"/>
                        </a:rPr>
                        <a:t>3</a:t>
                      </a:r>
                      <a:endParaRPr lang="zh-CN" altLang="en-US" sz="2000" dirty="0">
                        <a:solidFill>
                          <a:srgbClr val="34ACBC"/>
                        </a:solidFill>
                        <a:latin typeface="Times New Roman" panose="02020603050405020304" pitchFamily="18" charset="0"/>
                        <a:cs typeface="Times New Roman" panose="02020603050405020304" pitchFamily="18" charset="0"/>
                      </a:endParaRPr>
                    </a:p>
                  </a:txBody>
                  <a:tcPr marL="91431" marR="91431" marT="45715" marB="45715"/>
                </a:tc>
                <a:extLst>
                  <a:ext uri="{0D108BD9-81ED-4DB2-BD59-A6C34878D82A}">
                    <a16:rowId xmlns:a16="http://schemas.microsoft.com/office/drawing/2014/main" val="10006"/>
                  </a:ext>
                </a:extLst>
              </a:tr>
              <a:tr h="48597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C00000"/>
                          </a:solidFill>
                          <a:latin typeface="Times New Roman" panose="02020603050405020304" pitchFamily="18" charset="0"/>
                          <a:ea typeface="+mn-ea"/>
                          <a:cs typeface="Times New Roman" panose="02020603050405020304" pitchFamily="18" charset="0"/>
                        </a:rPr>
                        <a:t>a</a:t>
                      </a:r>
                      <a:r>
                        <a:rPr kumimoji="1" lang="en-US" altLang="zh-CN" sz="2000" b="1" baseline="-30000" dirty="0">
                          <a:solidFill>
                            <a:srgbClr val="C00000"/>
                          </a:solidFill>
                          <a:latin typeface="Times New Roman" panose="02020603050405020304" pitchFamily="18" charset="0"/>
                          <a:ea typeface="+mn-ea"/>
                          <a:cs typeface="Times New Roman" panose="02020603050405020304" pitchFamily="18" charset="0"/>
                        </a:rPr>
                        <a:t>1</a:t>
                      </a:r>
                      <a:endParaRPr kumimoji="1" lang="en-US" altLang="zh-CN" sz="2000" b="1" dirty="0">
                        <a:solidFill>
                          <a:srgbClr val="C00000"/>
                        </a:solidFill>
                        <a:latin typeface="Times New Roman" panose="02020603050405020304" pitchFamily="18" charset="0"/>
                        <a:ea typeface="+mn-ea"/>
                        <a:cs typeface="Times New Roman" panose="02020603050405020304" pitchFamily="18" charset="0"/>
                      </a:endParaRPr>
                    </a:p>
                  </a:txBody>
                  <a:tcPr marL="91431" marR="91431" marT="45715" marB="45715"/>
                </a:tc>
                <a:tc>
                  <a:txBody>
                    <a:bodyPr/>
                    <a:lstStyle/>
                    <a:p>
                      <a:pPr algn="ctr"/>
                      <a:r>
                        <a:rPr kumimoji="1" lang="en-US" altLang="zh-CN" sz="2000" b="1" i="1" dirty="0">
                          <a:solidFill>
                            <a:srgbClr val="C00000"/>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C00000"/>
                          </a:solidFill>
                          <a:latin typeface="Times New Roman" panose="02020603050405020304" pitchFamily="18" charset="0"/>
                          <a:ea typeface="+mn-ea"/>
                          <a:cs typeface="Times New Roman" panose="02020603050405020304" pitchFamily="18" charset="0"/>
                        </a:rPr>
                        <a:t>2</a:t>
                      </a:r>
                      <a:endParaRPr lang="zh-CN" altLang="en-US" sz="2000" dirty="0">
                        <a:solidFill>
                          <a:srgbClr val="C00000"/>
                        </a:solidFill>
                        <a:latin typeface="Times New Roman" panose="02020603050405020304" pitchFamily="18" charset="0"/>
                        <a:cs typeface="Times New Roman" panose="02020603050405020304" pitchFamily="18" charset="0"/>
                      </a:endParaRPr>
                    </a:p>
                  </a:txBody>
                  <a:tcPr marL="91431" marR="91431" marT="45715" marB="45715"/>
                </a:tc>
                <a:tc>
                  <a:txBody>
                    <a:bodyPr/>
                    <a:lstStyle/>
                    <a:p>
                      <a:pPr algn="ctr"/>
                      <a:r>
                        <a:rPr kumimoji="1" lang="en-US" altLang="zh-CN" sz="2000" b="1" i="1" dirty="0">
                          <a:solidFill>
                            <a:srgbClr val="C00000"/>
                          </a:solidFill>
                          <a:latin typeface="Times New Roman" panose="02020603050405020304" pitchFamily="18" charset="0"/>
                          <a:ea typeface="+mn-ea"/>
                          <a:cs typeface="Times New Roman" panose="02020603050405020304" pitchFamily="18" charset="0"/>
                        </a:rPr>
                        <a:t>c</a:t>
                      </a:r>
                      <a:r>
                        <a:rPr kumimoji="1" lang="en-US" altLang="zh-CN" sz="2000" b="1" baseline="-30000" dirty="0">
                          <a:solidFill>
                            <a:srgbClr val="C00000"/>
                          </a:solidFill>
                          <a:latin typeface="Times New Roman" panose="02020603050405020304" pitchFamily="18" charset="0"/>
                          <a:ea typeface="+mn-ea"/>
                          <a:cs typeface="Times New Roman" panose="02020603050405020304" pitchFamily="18" charset="0"/>
                        </a:rPr>
                        <a:t>1</a:t>
                      </a:r>
                      <a:endParaRPr lang="zh-CN" altLang="en-US" sz="2000" dirty="0">
                        <a:solidFill>
                          <a:srgbClr val="C00000"/>
                        </a:solidFill>
                        <a:latin typeface="Times New Roman" panose="02020603050405020304" pitchFamily="18" charset="0"/>
                        <a:cs typeface="Times New Roman" panose="02020603050405020304" pitchFamily="18" charset="0"/>
                      </a:endParaRPr>
                    </a:p>
                  </a:txBody>
                  <a:tcPr marL="91431" marR="91431" marT="45715" marB="45715"/>
                </a:tc>
                <a:extLst>
                  <a:ext uri="{0D108BD9-81ED-4DB2-BD59-A6C34878D82A}">
                    <a16:rowId xmlns:a16="http://schemas.microsoft.com/office/drawing/2014/main" val="10007"/>
                  </a:ext>
                </a:extLst>
              </a:tr>
            </a:tbl>
          </a:graphicData>
        </a:graphic>
      </p:graphicFrame>
      <p:graphicFrame>
        <p:nvGraphicFramePr>
          <p:cNvPr id="3" name="表格 2">
            <a:extLst>
              <a:ext uri="{FF2B5EF4-FFF2-40B4-BE49-F238E27FC236}">
                <a16:creationId xmlns:a16="http://schemas.microsoft.com/office/drawing/2014/main" id="{315C7422-2DF1-4E33-ABDF-9591D6CA56A7}"/>
              </a:ext>
            </a:extLst>
          </p:cNvPr>
          <p:cNvGraphicFramePr>
            <a:graphicFrameLocks noGrp="1"/>
          </p:cNvGraphicFramePr>
          <p:nvPr>
            <p:extLst/>
          </p:nvPr>
        </p:nvGraphicFramePr>
        <p:xfrm>
          <a:off x="5545139" y="1593321"/>
          <a:ext cx="2519361" cy="1558940"/>
        </p:xfrm>
        <a:graphic>
          <a:graphicData uri="http://schemas.openxmlformats.org/drawingml/2006/table">
            <a:tbl>
              <a:tblPr firstRow="1" bandRow="1">
                <a:tableStyleId>{5C22544A-7EE6-4342-B048-85BDC9FD1C3A}</a:tableStyleId>
              </a:tblPr>
              <a:tblGrid>
                <a:gridCol w="839787">
                  <a:extLst>
                    <a:ext uri="{9D8B030D-6E8A-4147-A177-3AD203B41FA5}">
                      <a16:colId xmlns:a16="http://schemas.microsoft.com/office/drawing/2014/main" val="20000"/>
                    </a:ext>
                  </a:extLst>
                </a:gridCol>
                <a:gridCol w="839787">
                  <a:extLst>
                    <a:ext uri="{9D8B030D-6E8A-4147-A177-3AD203B41FA5}">
                      <a16:colId xmlns:a16="http://schemas.microsoft.com/office/drawing/2014/main" val="20001"/>
                    </a:ext>
                  </a:extLst>
                </a:gridCol>
                <a:gridCol w="839787">
                  <a:extLst>
                    <a:ext uri="{9D8B030D-6E8A-4147-A177-3AD203B41FA5}">
                      <a16:colId xmlns:a16="http://schemas.microsoft.com/office/drawing/2014/main" val="20002"/>
                    </a:ext>
                  </a:extLst>
                </a:gridCol>
              </a:tblGrid>
              <a:tr h="370484">
                <a:tc>
                  <a:txBody>
                    <a:bodyPr/>
                    <a:lstStyle/>
                    <a:p>
                      <a:pPr algn="ctr"/>
                      <a:r>
                        <a:rPr lang="en-US" altLang="zh-CN" sz="1800" i="1" dirty="0">
                          <a:latin typeface="Times New Roman" panose="02020603050405020304" pitchFamily="18" charset="0"/>
                          <a:cs typeface="Times New Roman" panose="02020603050405020304" pitchFamily="18" charset="0"/>
                        </a:rPr>
                        <a:t>B</a:t>
                      </a:r>
                      <a:endParaRPr lang="zh-CN" altLang="en-US" sz="1800" i="1" dirty="0">
                        <a:latin typeface="Times New Roman" panose="02020603050405020304" pitchFamily="18" charset="0"/>
                        <a:cs typeface="Times New Roman" panose="02020603050405020304" pitchFamily="18" charset="0"/>
                      </a:endParaRPr>
                    </a:p>
                  </a:txBody>
                  <a:tcPr marL="91407" marR="91407" marT="45676" marB="45676"/>
                </a:tc>
                <a:tc>
                  <a:txBody>
                    <a:bodyPr/>
                    <a:lstStyle/>
                    <a:p>
                      <a:pPr algn="ctr"/>
                      <a:r>
                        <a:rPr lang="en-US" altLang="zh-CN" sz="1800" i="1" dirty="0">
                          <a:latin typeface="Times New Roman" panose="02020603050405020304" pitchFamily="18" charset="0"/>
                          <a:cs typeface="Times New Roman" panose="02020603050405020304" pitchFamily="18" charset="0"/>
                        </a:rPr>
                        <a:t>C</a:t>
                      </a:r>
                      <a:endParaRPr lang="zh-CN" altLang="en-US" sz="1800" i="1" dirty="0">
                        <a:latin typeface="Times New Roman" panose="02020603050405020304" pitchFamily="18" charset="0"/>
                        <a:cs typeface="Times New Roman" panose="02020603050405020304" pitchFamily="18" charset="0"/>
                      </a:endParaRPr>
                    </a:p>
                  </a:txBody>
                  <a:tcPr marL="91407" marR="91407" marT="45676" marB="45676"/>
                </a:tc>
                <a:tc>
                  <a:txBody>
                    <a:bodyPr/>
                    <a:lstStyle/>
                    <a:p>
                      <a:pPr algn="ctr"/>
                      <a:r>
                        <a:rPr lang="en-US" altLang="zh-CN" sz="1800" i="1" dirty="0">
                          <a:latin typeface="Times New Roman" panose="02020603050405020304" pitchFamily="18" charset="0"/>
                          <a:cs typeface="Times New Roman" panose="02020603050405020304" pitchFamily="18" charset="0"/>
                        </a:rPr>
                        <a:t>D</a:t>
                      </a:r>
                      <a:endParaRPr lang="zh-CN" altLang="en-US" sz="1800" i="1" dirty="0">
                        <a:latin typeface="Times New Roman" panose="02020603050405020304" pitchFamily="18" charset="0"/>
                        <a:cs typeface="Times New Roman" panose="02020603050405020304" pitchFamily="18" charset="0"/>
                      </a:endParaRPr>
                    </a:p>
                  </a:txBody>
                  <a:tcPr marL="91407" marR="91407" marT="45676" marB="45676"/>
                </a:tc>
                <a:extLst>
                  <a:ext uri="{0D108BD9-81ED-4DB2-BD59-A6C34878D82A}">
                    <a16:rowId xmlns:a16="http://schemas.microsoft.com/office/drawing/2014/main" val="10000"/>
                  </a:ext>
                </a:extLst>
              </a:tr>
              <a:tr h="396147">
                <a:tc>
                  <a:txBody>
                    <a:bodyPr/>
                    <a:lstStyle/>
                    <a:p>
                      <a:pPr algn="ctr"/>
                      <a:r>
                        <a:rPr kumimoji="1" lang="en-US" altLang="zh-CN" sz="2000" b="1" i="1" dirty="0">
                          <a:solidFill>
                            <a:srgbClr val="3333FF"/>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3333FF"/>
                          </a:solidFill>
                          <a:latin typeface="Times New Roman" panose="02020603050405020304" pitchFamily="18" charset="0"/>
                          <a:ea typeface="+mn-ea"/>
                          <a:cs typeface="Times New Roman" panose="02020603050405020304" pitchFamily="18" charset="0"/>
                        </a:rPr>
                        <a:t>1</a:t>
                      </a:r>
                      <a:endParaRPr lang="zh-CN" altLang="en-US" sz="2000" dirty="0">
                        <a:solidFill>
                          <a:srgbClr val="3333FF"/>
                        </a:solidFill>
                        <a:latin typeface="Times New Roman" panose="02020603050405020304" pitchFamily="18" charset="0"/>
                        <a:cs typeface="Times New Roman" panose="02020603050405020304" pitchFamily="18" charset="0"/>
                      </a:endParaRPr>
                    </a:p>
                  </a:txBody>
                  <a:tcPr marL="91407" marR="91407" marT="45676" marB="45676"/>
                </a:tc>
                <a:tc>
                  <a:txBody>
                    <a:bodyPr/>
                    <a:lstStyle/>
                    <a:p>
                      <a:pPr algn="ctr"/>
                      <a:r>
                        <a:rPr kumimoji="1" lang="en-US" altLang="zh-CN" sz="2000" b="1" i="1" dirty="0">
                          <a:solidFill>
                            <a:srgbClr val="3333FF"/>
                          </a:solidFill>
                          <a:latin typeface="Times New Roman" panose="02020603050405020304" pitchFamily="18" charset="0"/>
                          <a:ea typeface="+mn-ea"/>
                          <a:cs typeface="Times New Roman" panose="02020603050405020304" pitchFamily="18" charset="0"/>
                        </a:rPr>
                        <a:t>c</a:t>
                      </a:r>
                      <a:r>
                        <a:rPr kumimoji="1" lang="en-US" altLang="zh-CN" sz="2000" b="1" baseline="-30000" dirty="0">
                          <a:solidFill>
                            <a:srgbClr val="3333FF"/>
                          </a:solidFill>
                          <a:latin typeface="Times New Roman" panose="02020603050405020304" pitchFamily="18" charset="0"/>
                          <a:ea typeface="+mn-ea"/>
                          <a:cs typeface="Times New Roman" panose="02020603050405020304" pitchFamily="18" charset="0"/>
                        </a:rPr>
                        <a:t>2</a:t>
                      </a:r>
                      <a:endParaRPr lang="zh-CN" altLang="en-US" sz="2000" dirty="0">
                        <a:solidFill>
                          <a:srgbClr val="3333FF"/>
                        </a:solidFill>
                        <a:latin typeface="Times New Roman" panose="02020603050405020304" pitchFamily="18" charset="0"/>
                        <a:cs typeface="Times New Roman" panose="02020603050405020304" pitchFamily="18" charset="0"/>
                      </a:endParaRPr>
                    </a:p>
                  </a:txBody>
                  <a:tcPr marL="91407" marR="91407" marT="45676" marB="4567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zh-CN" sz="1800" b="1" i="1" dirty="0">
                          <a:solidFill>
                            <a:schemeClr val="tx1"/>
                          </a:solidFill>
                          <a:latin typeface="Times New Roman" panose="02020603050405020304" pitchFamily="18" charset="0"/>
                          <a:ea typeface="+mn-ea"/>
                          <a:cs typeface="Times New Roman" panose="02020603050405020304" pitchFamily="18" charset="0"/>
                        </a:rPr>
                        <a:t>d</a:t>
                      </a:r>
                      <a:r>
                        <a:rPr kumimoji="1" lang="en-US" altLang="zh-CN" sz="1800" b="1" baseline="-30000" dirty="0">
                          <a:solidFill>
                            <a:schemeClr val="tx1"/>
                          </a:solidFill>
                          <a:latin typeface="Times New Roman" panose="02020603050405020304" pitchFamily="18" charset="0"/>
                          <a:ea typeface="+mn-ea"/>
                          <a:cs typeface="Times New Roman" panose="02020603050405020304" pitchFamily="18" charset="0"/>
                        </a:rPr>
                        <a:t>1</a:t>
                      </a:r>
                      <a:endParaRPr lang="zh-CN" altLang="en-US" sz="1800" dirty="0">
                        <a:solidFill>
                          <a:schemeClr val="tx1"/>
                        </a:solidFill>
                        <a:latin typeface="Times New Roman" panose="02020603050405020304" pitchFamily="18" charset="0"/>
                        <a:cs typeface="Times New Roman" panose="02020603050405020304" pitchFamily="18" charset="0"/>
                      </a:endParaRPr>
                    </a:p>
                  </a:txBody>
                  <a:tcPr marL="91407" marR="91407" marT="45676" marB="45676"/>
                </a:tc>
                <a:extLst>
                  <a:ext uri="{0D108BD9-81ED-4DB2-BD59-A6C34878D82A}">
                    <a16:rowId xmlns:a16="http://schemas.microsoft.com/office/drawing/2014/main" val="10001"/>
                  </a:ext>
                </a:extLst>
              </a:tr>
              <a:tr h="396147">
                <a:tc>
                  <a:txBody>
                    <a:bodyPr/>
                    <a:lstStyle/>
                    <a:p>
                      <a:pPr algn="ctr"/>
                      <a:r>
                        <a:rPr kumimoji="1" lang="en-US" altLang="zh-CN" sz="2000" b="1" i="1" dirty="0">
                          <a:solidFill>
                            <a:srgbClr val="3333FF"/>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3333FF"/>
                          </a:solidFill>
                          <a:latin typeface="Times New Roman" panose="02020603050405020304" pitchFamily="18" charset="0"/>
                          <a:ea typeface="+mn-ea"/>
                          <a:cs typeface="Times New Roman" panose="02020603050405020304" pitchFamily="18" charset="0"/>
                        </a:rPr>
                        <a:t>2</a:t>
                      </a:r>
                      <a:endParaRPr lang="zh-CN" altLang="en-US" sz="2000" dirty="0">
                        <a:solidFill>
                          <a:srgbClr val="3333FF"/>
                        </a:solidFill>
                        <a:latin typeface="Times New Roman" panose="02020603050405020304" pitchFamily="18" charset="0"/>
                        <a:cs typeface="Times New Roman" panose="02020603050405020304" pitchFamily="18" charset="0"/>
                      </a:endParaRPr>
                    </a:p>
                  </a:txBody>
                  <a:tcPr marL="91407" marR="91407" marT="45676" marB="45676"/>
                </a:tc>
                <a:tc>
                  <a:txBody>
                    <a:bodyPr/>
                    <a:lstStyle/>
                    <a:p>
                      <a:pPr algn="ctr"/>
                      <a:r>
                        <a:rPr kumimoji="1" lang="en-US" altLang="zh-CN" sz="2000" b="1" i="1" dirty="0">
                          <a:solidFill>
                            <a:srgbClr val="3333FF"/>
                          </a:solidFill>
                          <a:latin typeface="Times New Roman" panose="02020603050405020304" pitchFamily="18" charset="0"/>
                          <a:ea typeface="+mn-ea"/>
                          <a:cs typeface="Times New Roman" panose="02020603050405020304" pitchFamily="18" charset="0"/>
                        </a:rPr>
                        <a:t>c</a:t>
                      </a:r>
                      <a:r>
                        <a:rPr kumimoji="1" lang="en-US" altLang="zh-CN" sz="2000" b="1" baseline="-30000" dirty="0">
                          <a:solidFill>
                            <a:srgbClr val="3333FF"/>
                          </a:solidFill>
                          <a:latin typeface="Times New Roman" panose="02020603050405020304" pitchFamily="18" charset="0"/>
                          <a:ea typeface="+mn-ea"/>
                          <a:cs typeface="Times New Roman" panose="02020603050405020304" pitchFamily="18" charset="0"/>
                        </a:rPr>
                        <a:t>1</a:t>
                      </a:r>
                      <a:endParaRPr lang="zh-CN" altLang="en-US" sz="2000" dirty="0">
                        <a:solidFill>
                          <a:srgbClr val="3333FF"/>
                        </a:solidFill>
                        <a:latin typeface="Times New Roman" panose="02020603050405020304" pitchFamily="18" charset="0"/>
                        <a:cs typeface="Times New Roman" panose="02020603050405020304" pitchFamily="18" charset="0"/>
                      </a:endParaRPr>
                    </a:p>
                  </a:txBody>
                  <a:tcPr marL="91407" marR="91407" marT="45676" marB="45676"/>
                </a:tc>
                <a:tc>
                  <a:txBody>
                    <a:bodyPr/>
                    <a:lstStyle/>
                    <a:p>
                      <a:pPr algn="ctr"/>
                      <a:r>
                        <a:rPr kumimoji="1" lang="en-US" altLang="zh-CN" sz="1800" b="1" i="1" dirty="0">
                          <a:solidFill>
                            <a:schemeClr val="tx1"/>
                          </a:solidFill>
                          <a:latin typeface="Times New Roman" panose="02020603050405020304" pitchFamily="18" charset="0"/>
                          <a:ea typeface="+mn-ea"/>
                          <a:cs typeface="Times New Roman" panose="02020603050405020304" pitchFamily="18" charset="0"/>
                        </a:rPr>
                        <a:t>d</a:t>
                      </a:r>
                      <a:r>
                        <a:rPr kumimoji="1" lang="en-US" altLang="zh-CN" sz="1800" b="1" baseline="-30000" dirty="0">
                          <a:solidFill>
                            <a:schemeClr val="tx1"/>
                          </a:solidFill>
                          <a:latin typeface="Times New Roman" panose="02020603050405020304" pitchFamily="18" charset="0"/>
                          <a:ea typeface="+mn-ea"/>
                          <a:cs typeface="Times New Roman" panose="02020603050405020304" pitchFamily="18" charset="0"/>
                        </a:rPr>
                        <a:t>1</a:t>
                      </a:r>
                      <a:endParaRPr lang="zh-CN" altLang="en-US" sz="1800" dirty="0">
                        <a:solidFill>
                          <a:schemeClr val="tx1"/>
                        </a:solidFill>
                        <a:latin typeface="Times New Roman" panose="02020603050405020304" pitchFamily="18" charset="0"/>
                        <a:cs typeface="Times New Roman" panose="02020603050405020304" pitchFamily="18" charset="0"/>
                      </a:endParaRPr>
                    </a:p>
                  </a:txBody>
                  <a:tcPr marL="91407" marR="91407" marT="45676" marB="45676"/>
                </a:tc>
                <a:extLst>
                  <a:ext uri="{0D108BD9-81ED-4DB2-BD59-A6C34878D82A}">
                    <a16:rowId xmlns:a16="http://schemas.microsoft.com/office/drawing/2014/main" val="10002"/>
                  </a:ext>
                </a:extLst>
              </a:tr>
              <a:tr h="396147">
                <a:tc>
                  <a:txBody>
                    <a:bodyPr/>
                    <a:lstStyle/>
                    <a:p>
                      <a:pPr algn="ctr"/>
                      <a:r>
                        <a:rPr kumimoji="1" lang="en-US" altLang="zh-CN" sz="2000" b="1" i="1" dirty="0">
                          <a:solidFill>
                            <a:srgbClr val="3333FF"/>
                          </a:solidFill>
                          <a:latin typeface="Times New Roman" panose="02020603050405020304" pitchFamily="18" charset="0"/>
                          <a:ea typeface="+mn-ea"/>
                          <a:cs typeface="Times New Roman" panose="02020603050405020304" pitchFamily="18" charset="0"/>
                        </a:rPr>
                        <a:t>b</a:t>
                      </a:r>
                      <a:r>
                        <a:rPr kumimoji="1" lang="en-US" altLang="zh-CN" sz="2000" b="1" baseline="-30000" dirty="0">
                          <a:solidFill>
                            <a:srgbClr val="3333FF"/>
                          </a:solidFill>
                          <a:latin typeface="Times New Roman" panose="02020603050405020304" pitchFamily="18" charset="0"/>
                          <a:ea typeface="+mn-ea"/>
                          <a:cs typeface="Times New Roman" panose="02020603050405020304" pitchFamily="18" charset="0"/>
                        </a:rPr>
                        <a:t>2</a:t>
                      </a:r>
                      <a:endParaRPr lang="zh-CN" altLang="en-US" sz="2000" dirty="0">
                        <a:solidFill>
                          <a:srgbClr val="3333FF"/>
                        </a:solidFill>
                        <a:latin typeface="Times New Roman" panose="02020603050405020304" pitchFamily="18" charset="0"/>
                        <a:cs typeface="Times New Roman" panose="02020603050405020304" pitchFamily="18" charset="0"/>
                      </a:endParaRPr>
                    </a:p>
                  </a:txBody>
                  <a:tcPr marL="91407" marR="91407" marT="45676" marB="45676"/>
                </a:tc>
                <a:tc>
                  <a:txBody>
                    <a:bodyPr/>
                    <a:lstStyle/>
                    <a:p>
                      <a:pPr algn="ctr"/>
                      <a:r>
                        <a:rPr kumimoji="1" lang="en-US" altLang="zh-CN" sz="2000" b="1" i="1" dirty="0">
                          <a:solidFill>
                            <a:srgbClr val="3333FF"/>
                          </a:solidFill>
                          <a:latin typeface="Times New Roman" panose="02020603050405020304" pitchFamily="18" charset="0"/>
                          <a:ea typeface="+mn-ea"/>
                          <a:cs typeface="Times New Roman" panose="02020603050405020304" pitchFamily="18" charset="0"/>
                        </a:rPr>
                        <a:t>c</a:t>
                      </a:r>
                      <a:r>
                        <a:rPr kumimoji="1" lang="en-US" altLang="zh-CN" sz="2000" b="1" baseline="-30000" dirty="0">
                          <a:solidFill>
                            <a:srgbClr val="3333FF"/>
                          </a:solidFill>
                          <a:latin typeface="Times New Roman" panose="02020603050405020304" pitchFamily="18" charset="0"/>
                          <a:ea typeface="+mn-ea"/>
                          <a:cs typeface="Times New Roman" panose="02020603050405020304" pitchFamily="18" charset="0"/>
                        </a:rPr>
                        <a:t>3</a:t>
                      </a:r>
                      <a:endParaRPr lang="zh-CN" altLang="en-US" sz="2000" dirty="0">
                        <a:solidFill>
                          <a:srgbClr val="3333FF"/>
                        </a:solidFill>
                        <a:latin typeface="Times New Roman" panose="02020603050405020304" pitchFamily="18" charset="0"/>
                        <a:cs typeface="Times New Roman" panose="02020603050405020304" pitchFamily="18" charset="0"/>
                      </a:endParaRPr>
                    </a:p>
                  </a:txBody>
                  <a:tcPr marL="91407" marR="91407" marT="45676" marB="45676"/>
                </a:tc>
                <a:tc>
                  <a:txBody>
                    <a:bodyPr/>
                    <a:lstStyle/>
                    <a:p>
                      <a:pPr algn="ctr"/>
                      <a:r>
                        <a:rPr kumimoji="1" lang="en-US" altLang="zh-CN" sz="1800" b="1" i="1" dirty="0">
                          <a:solidFill>
                            <a:schemeClr val="tx1"/>
                          </a:solidFill>
                          <a:latin typeface="Times New Roman" panose="02020603050405020304" pitchFamily="18" charset="0"/>
                          <a:ea typeface="+mn-ea"/>
                          <a:cs typeface="Times New Roman" panose="02020603050405020304" pitchFamily="18" charset="0"/>
                        </a:rPr>
                        <a:t>d</a:t>
                      </a:r>
                      <a:r>
                        <a:rPr kumimoji="1" lang="en-US" altLang="zh-CN" sz="1800" b="1" baseline="-30000" dirty="0">
                          <a:solidFill>
                            <a:schemeClr val="tx1"/>
                          </a:solidFill>
                          <a:latin typeface="Times New Roman" panose="02020603050405020304" pitchFamily="18" charset="0"/>
                          <a:ea typeface="+mn-ea"/>
                          <a:cs typeface="Times New Roman" panose="02020603050405020304" pitchFamily="18" charset="0"/>
                        </a:rPr>
                        <a:t>2</a:t>
                      </a:r>
                      <a:endParaRPr lang="zh-CN" altLang="en-US" sz="1800" dirty="0">
                        <a:solidFill>
                          <a:schemeClr val="tx1"/>
                        </a:solidFill>
                        <a:latin typeface="Times New Roman" panose="02020603050405020304" pitchFamily="18" charset="0"/>
                        <a:cs typeface="Times New Roman" panose="02020603050405020304" pitchFamily="18" charset="0"/>
                      </a:endParaRPr>
                    </a:p>
                  </a:txBody>
                  <a:tcPr marL="91407" marR="91407" marT="45676" marB="45676"/>
                </a:tc>
                <a:extLst>
                  <a:ext uri="{0D108BD9-81ED-4DB2-BD59-A6C34878D82A}">
                    <a16:rowId xmlns:a16="http://schemas.microsoft.com/office/drawing/2014/main" val="10003"/>
                  </a:ext>
                </a:extLst>
              </a:tr>
            </a:tbl>
          </a:graphicData>
        </a:graphic>
      </p:graphicFrame>
      <p:graphicFrame>
        <p:nvGraphicFramePr>
          <p:cNvPr id="4" name="表格 3">
            <a:extLst>
              <a:ext uri="{FF2B5EF4-FFF2-40B4-BE49-F238E27FC236}">
                <a16:creationId xmlns:a16="http://schemas.microsoft.com/office/drawing/2014/main" id="{4370691D-5C70-49AC-BFDC-70DB3C154B3F}"/>
              </a:ext>
            </a:extLst>
          </p:cNvPr>
          <p:cNvGraphicFramePr>
            <a:graphicFrameLocks noGrp="1"/>
          </p:cNvGraphicFramePr>
          <p:nvPr>
            <p:extLst/>
          </p:nvPr>
        </p:nvGraphicFramePr>
        <p:xfrm>
          <a:off x="9191527" y="1612259"/>
          <a:ext cx="1081088" cy="792692"/>
        </p:xfrm>
        <a:graphic>
          <a:graphicData uri="http://schemas.openxmlformats.org/drawingml/2006/table">
            <a:tbl>
              <a:tblPr firstRow="1" bandRow="1">
                <a:tableStyleId>{5C22544A-7EE6-4342-B048-85BDC9FD1C3A}</a:tableStyleId>
              </a:tblPr>
              <a:tblGrid>
                <a:gridCol w="1081088">
                  <a:extLst>
                    <a:ext uri="{9D8B030D-6E8A-4147-A177-3AD203B41FA5}">
                      <a16:colId xmlns:a16="http://schemas.microsoft.com/office/drawing/2014/main" val="20000"/>
                    </a:ext>
                  </a:extLst>
                </a:gridCol>
              </a:tblGrid>
              <a:tr h="3963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i="1" dirty="0">
                          <a:latin typeface="Times New Roman" panose="02020603050405020304" pitchFamily="18" charset="0"/>
                          <a:cs typeface="Times New Roman" panose="02020603050405020304" pitchFamily="18" charset="0"/>
                        </a:rPr>
                        <a:t>A</a:t>
                      </a:r>
                      <a:endParaRPr lang="zh-CN" altLang="en-US" sz="2000" b="1" i="1" dirty="0">
                        <a:latin typeface="Times New Roman" panose="02020603050405020304" pitchFamily="18" charset="0"/>
                        <a:cs typeface="Times New Roman" panose="02020603050405020304" pitchFamily="18" charset="0"/>
                      </a:endParaRPr>
                    </a:p>
                  </a:txBody>
                  <a:tcPr marL="91476" marR="91476" marT="45732" marB="45732"/>
                </a:tc>
                <a:extLst>
                  <a:ext uri="{0D108BD9-81ED-4DB2-BD59-A6C34878D82A}">
                    <a16:rowId xmlns:a16="http://schemas.microsoft.com/office/drawing/2014/main" val="10000"/>
                  </a:ext>
                </a:extLst>
              </a:tr>
              <a:tr h="39634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en-US" altLang="zh-CN" sz="2000" b="1" i="1" dirty="0">
                          <a:solidFill>
                            <a:srgbClr val="000000"/>
                          </a:solidFill>
                          <a:latin typeface="Times New Roman" panose="02020603050405020304" pitchFamily="18" charset="0"/>
                          <a:ea typeface="+mn-ea"/>
                          <a:cs typeface="Times New Roman" panose="02020603050405020304" pitchFamily="18" charset="0"/>
                        </a:rPr>
                        <a:t>a</a:t>
                      </a:r>
                      <a:r>
                        <a:rPr kumimoji="1" lang="en-US" altLang="zh-CN" sz="2000" b="1" i="1" baseline="-30000" dirty="0">
                          <a:solidFill>
                            <a:srgbClr val="000000"/>
                          </a:solidFill>
                          <a:latin typeface="Times New Roman" panose="02020603050405020304" pitchFamily="18" charset="0"/>
                          <a:ea typeface="+mn-ea"/>
                          <a:cs typeface="Times New Roman" panose="02020603050405020304" pitchFamily="18" charset="0"/>
                        </a:rPr>
                        <a:t>1</a:t>
                      </a:r>
                      <a:endParaRPr kumimoji="1" lang="en-US" altLang="zh-CN" sz="2000" b="1" i="1" dirty="0">
                        <a:solidFill>
                          <a:srgbClr val="000000"/>
                        </a:solidFill>
                        <a:latin typeface="Times New Roman" panose="02020603050405020304" pitchFamily="18" charset="0"/>
                        <a:ea typeface="+mn-ea"/>
                        <a:cs typeface="Times New Roman" panose="02020603050405020304" pitchFamily="18" charset="0"/>
                      </a:endParaRPr>
                    </a:p>
                  </a:txBody>
                  <a:tcPr marL="91476" marR="91476" marT="45732" marB="45732"/>
                </a:tc>
                <a:extLst>
                  <a:ext uri="{0D108BD9-81ED-4DB2-BD59-A6C34878D82A}">
                    <a16:rowId xmlns:a16="http://schemas.microsoft.com/office/drawing/2014/main" val="10001"/>
                  </a:ext>
                </a:extLst>
              </a:tr>
            </a:tbl>
          </a:graphicData>
        </a:graphic>
      </p:graphicFrame>
      <p:sp>
        <p:nvSpPr>
          <p:cNvPr id="8" name="矩形 7">
            <a:extLst>
              <a:ext uri="{FF2B5EF4-FFF2-40B4-BE49-F238E27FC236}">
                <a16:creationId xmlns:a16="http://schemas.microsoft.com/office/drawing/2014/main" id="{684231A9-7BAF-4F3E-9387-AE10EA1A6661}"/>
              </a:ext>
            </a:extLst>
          </p:cNvPr>
          <p:cNvSpPr/>
          <p:nvPr/>
        </p:nvSpPr>
        <p:spPr>
          <a:xfrm>
            <a:off x="8308663" y="1591662"/>
            <a:ext cx="795411" cy="461665"/>
          </a:xfrm>
          <a:prstGeom prst="rect">
            <a:avLst/>
          </a:prstGeom>
        </p:spPr>
        <p:txBody>
          <a:bodyPr wrap="none">
            <a:spAutoFit/>
          </a:bodyPr>
          <a:lstStyle/>
          <a:p>
            <a:pPr algn="ctr">
              <a:defRPr/>
            </a:pPr>
            <a:r>
              <a:rPr kumimoji="1" lang="en-US" altLang="zh-CN" sz="2400" b="1" i="1" dirty="0">
                <a:solidFill>
                  <a:srgbClr val="C00000"/>
                </a:solidFill>
                <a:latin typeface="Times New Roman" panose="02020603050405020304" pitchFamily="18" charset="0"/>
                <a:cs typeface="Times New Roman" panose="02020603050405020304" pitchFamily="18" charset="0"/>
              </a:rPr>
              <a:t>R</a:t>
            </a:r>
            <a:r>
              <a:rPr kumimoji="1" lang="en-US" altLang="zh-CN" sz="2400" b="1" dirty="0">
                <a:solidFill>
                  <a:srgbClr val="C00000"/>
                </a:solidFill>
                <a:latin typeface="Times New Roman" panose="02020603050405020304" pitchFamily="18" charset="0"/>
                <a:cs typeface="Times New Roman" panose="02020603050405020304" pitchFamily="18" charset="0"/>
              </a:rPr>
              <a:t>÷</a:t>
            </a:r>
            <a:r>
              <a:rPr kumimoji="1" lang="en-US" altLang="zh-CN" sz="2400" b="1" i="1" dirty="0">
                <a:solidFill>
                  <a:srgbClr val="C00000"/>
                </a:solidFill>
                <a:latin typeface="Times New Roman" panose="02020603050405020304" pitchFamily="18" charset="0"/>
                <a:cs typeface="Times New Roman" panose="02020603050405020304" pitchFamily="18" charset="0"/>
              </a:rPr>
              <a:t>S</a:t>
            </a:r>
            <a:endParaRPr kumimoji="1" lang="en-US" altLang="zh-CN" sz="2400" b="1" dirty="0">
              <a:solidFill>
                <a:srgbClr val="C00000"/>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AA1F79BC-C3AA-4DDB-BA7E-A094263A53BE}"/>
              </a:ext>
            </a:extLst>
          </p:cNvPr>
          <p:cNvSpPr/>
          <p:nvPr/>
        </p:nvSpPr>
        <p:spPr>
          <a:xfrm>
            <a:off x="2114552" y="1037010"/>
            <a:ext cx="1031051" cy="383182"/>
          </a:xfrm>
          <a:prstGeom prst="rect">
            <a:avLst/>
          </a:prstGeom>
        </p:spPr>
        <p:txBody>
          <a:bodyPr wrap="none">
            <a:spAutoFit/>
          </a:bodyPr>
          <a:lstStyle/>
          <a:p>
            <a:pPr marL="171450" indent="-171450" defTabSz="685800">
              <a:lnSpc>
                <a:spcPct val="90000"/>
              </a:lnSpc>
              <a:spcBef>
                <a:spcPts val="750"/>
              </a:spcBef>
              <a:buFont typeface="Arial" panose="020B0604020202020204" pitchFamily="34" charset="0"/>
              <a:buChar char="•"/>
            </a:pPr>
            <a:r>
              <a:rPr lang="zh-CN" altLang="en-US" sz="2100"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100"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6</a:t>
            </a:r>
            <a:r>
              <a:rPr lang="zh-CN" altLang="en-US" sz="2100"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2100"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 name="灯片编号占位符 4">
            <a:extLst>
              <a:ext uri="{FF2B5EF4-FFF2-40B4-BE49-F238E27FC236}">
                <a16:creationId xmlns:a16="http://schemas.microsoft.com/office/drawing/2014/main" id="{C42E57FF-E9BA-471F-89C7-C74B00B40FA2}"/>
              </a:ext>
            </a:extLst>
          </p:cNvPr>
          <p:cNvSpPr>
            <a:spLocks noGrp="1"/>
          </p:cNvSpPr>
          <p:nvPr>
            <p:ph type="sldNum" sz="quarter" idx="12"/>
          </p:nvPr>
        </p:nvSpPr>
        <p:spPr/>
        <p:txBody>
          <a:bodyPr/>
          <a:lstStyle/>
          <a:p>
            <a:fld id="{47C9E101-E51D-431E-84FA-C029B8655B60}" type="slidenum">
              <a:rPr lang="zh-CN" altLang="en-US" smtClean="0"/>
              <a:pPr/>
              <a:t>82</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3651">
                                            <p:txEl>
                                              <p:pRg st="0" end="0"/>
                                            </p:txEl>
                                          </p:spTgt>
                                        </p:tgtEl>
                                        <p:attrNameLst>
                                          <p:attrName>style.visibility</p:attrName>
                                        </p:attrNameLst>
                                      </p:cBhvr>
                                      <p:to>
                                        <p:strVal val="visible"/>
                                      </p:to>
                                    </p:set>
                                    <p:anim calcmode="lin" valueType="num">
                                      <p:cBhvr additive="base">
                                        <p:cTn id="7" dur="500" fill="hold"/>
                                        <p:tgtEl>
                                          <p:spTgt spid="443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36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3651">
                                            <p:txEl>
                                              <p:pRg st="1" end="1"/>
                                            </p:txEl>
                                          </p:spTgt>
                                        </p:tgtEl>
                                        <p:attrNameLst>
                                          <p:attrName>style.visibility</p:attrName>
                                        </p:attrNameLst>
                                      </p:cBhvr>
                                      <p:to>
                                        <p:strVal val="visible"/>
                                      </p:to>
                                    </p:set>
                                    <p:anim calcmode="lin" valueType="num">
                                      <p:cBhvr additive="base">
                                        <p:cTn id="13" dur="500" fill="hold"/>
                                        <p:tgtEl>
                                          <p:spTgt spid="4436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3651">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43651">
                                            <p:txEl>
                                              <p:pRg st="2" end="2"/>
                                            </p:txEl>
                                          </p:spTgt>
                                        </p:tgtEl>
                                        <p:attrNameLst>
                                          <p:attrName>style.visibility</p:attrName>
                                        </p:attrNameLst>
                                      </p:cBhvr>
                                      <p:to>
                                        <p:strVal val="visible"/>
                                      </p:to>
                                    </p:set>
                                    <p:anim calcmode="lin" valueType="num">
                                      <p:cBhvr additive="base">
                                        <p:cTn id="17" dur="500" fill="hold"/>
                                        <p:tgtEl>
                                          <p:spTgt spid="44365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4365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43651">
                                            <p:txEl>
                                              <p:pRg st="3" end="3"/>
                                            </p:txEl>
                                          </p:spTgt>
                                        </p:tgtEl>
                                        <p:attrNameLst>
                                          <p:attrName>style.visibility</p:attrName>
                                        </p:attrNameLst>
                                      </p:cBhvr>
                                      <p:to>
                                        <p:strVal val="visible"/>
                                      </p:to>
                                    </p:set>
                                    <p:anim calcmode="lin" valueType="num">
                                      <p:cBhvr additive="base">
                                        <p:cTn id="21" dur="500" fill="hold"/>
                                        <p:tgtEl>
                                          <p:spTgt spid="44365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43651">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43651">
                                            <p:txEl>
                                              <p:pRg st="4" end="4"/>
                                            </p:txEl>
                                          </p:spTgt>
                                        </p:tgtEl>
                                        <p:attrNameLst>
                                          <p:attrName>style.visibility</p:attrName>
                                        </p:attrNameLst>
                                      </p:cBhvr>
                                      <p:to>
                                        <p:strVal val="visible"/>
                                      </p:to>
                                    </p:set>
                                    <p:anim calcmode="lin" valueType="num">
                                      <p:cBhvr additive="base">
                                        <p:cTn id="25" dur="500" fill="hold"/>
                                        <p:tgtEl>
                                          <p:spTgt spid="44365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365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43651">
                                            <p:txEl>
                                              <p:pRg st="5" end="5"/>
                                            </p:txEl>
                                          </p:spTgt>
                                        </p:tgtEl>
                                        <p:attrNameLst>
                                          <p:attrName>style.visibility</p:attrName>
                                        </p:attrNameLst>
                                      </p:cBhvr>
                                      <p:to>
                                        <p:strVal val="visible"/>
                                      </p:to>
                                    </p:set>
                                    <p:anim calcmode="lin" valueType="num">
                                      <p:cBhvr additive="base">
                                        <p:cTn id="31" dur="500" fill="hold"/>
                                        <p:tgtEl>
                                          <p:spTgt spid="44365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4365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43651">
                                            <p:txEl>
                                              <p:pRg st="6" end="6"/>
                                            </p:txEl>
                                          </p:spTgt>
                                        </p:tgtEl>
                                        <p:attrNameLst>
                                          <p:attrName>style.visibility</p:attrName>
                                        </p:attrNameLst>
                                      </p:cBhvr>
                                      <p:to>
                                        <p:strVal val="visible"/>
                                      </p:to>
                                    </p:set>
                                    <p:anim calcmode="lin" valueType="num">
                                      <p:cBhvr additive="base">
                                        <p:cTn id="37" dur="500" fill="hold"/>
                                        <p:tgtEl>
                                          <p:spTgt spid="443651">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4365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651" grpId="0" uiExpand="1" build="p"/>
      <p:bldP spid="8"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7290" name="Group 170">
            <a:extLst>
              <a:ext uri="{FF2B5EF4-FFF2-40B4-BE49-F238E27FC236}">
                <a16:creationId xmlns:a16="http://schemas.microsoft.com/office/drawing/2014/main" id="{6178826D-8A62-4E20-AD1D-8E339408FF08}"/>
              </a:ext>
            </a:extLst>
          </p:cNvPr>
          <p:cNvGraphicFramePr>
            <a:graphicFrameLocks noGrp="1"/>
          </p:cNvGraphicFramePr>
          <p:nvPr>
            <p:extLst/>
          </p:nvPr>
        </p:nvGraphicFramePr>
        <p:xfrm>
          <a:off x="2342562" y="1295320"/>
          <a:ext cx="3190390" cy="3352880"/>
        </p:xfrm>
        <a:graphic>
          <a:graphicData uri="http://schemas.openxmlformats.org/drawingml/2006/table">
            <a:tbl>
              <a:tblPr/>
              <a:tblGrid>
                <a:gridCol w="617993">
                  <a:extLst>
                    <a:ext uri="{9D8B030D-6E8A-4147-A177-3AD203B41FA5}">
                      <a16:colId xmlns:a16="http://schemas.microsoft.com/office/drawing/2014/main" val="20000"/>
                    </a:ext>
                  </a:extLst>
                </a:gridCol>
                <a:gridCol w="957171">
                  <a:extLst>
                    <a:ext uri="{9D8B030D-6E8A-4147-A177-3AD203B41FA5}">
                      <a16:colId xmlns:a16="http://schemas.microsoft.com/office/drawing/2014/main" val="20001"/>
                    </a:ext>
                  </a:extLst>
                </a:gridCol>
                <a:gridCol w="658055">
                  <a:extLst>
                    <a:ext uri="{9D8B030D-6E8A-4147-A177-3AD203B41FA5}">
                      <a16:colId xmlns:a16="http://schemas.microsoft.com/office/drawing/2014/main" val="20002"/>
                    </a:ext>
                  </a:extLst>
                </a:gridCol>
                <a:gridCol w="957171">
                  <a:extLst>
                    <a:ext uri="{9D8B030D-6E8A-4147-A177-3AD203B41FA5}">
                      <a16:colId xmlns:a16="http://schemas.microsoft.com/office/drawing/2014/main" val="20003"/>
                    </a:ext>
                  </a:extLst>
                </a:gridCol>
              </a:tblGrid>
              <a:tr h="17818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SNO</a:t>
                      </a:r>
                    </a:p>
                  </a:txBody>
                  <a:tcPr marL="91439" marR="91439" marT="45724" marB="45724"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SNAME</a:t>
                      </a:r>
                    </a:p>
                  </a:txBody>
                  <a:tcPr marL="91439" marR="91439" marT="45724" marB="45724"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CNO</a:t>
                      </a:r>
                    </a:p>
                  </a:txBody>
                  <a:tcPr marL="91439" marR="91439" marT="45724" marB="45724"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CNAME</a:t>
                      </a:r>
                    </a:p>
                  </a:txBody>
                  <a:tcPr marL="91439" marR="91439" marT="45724" marB="45724"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8466">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S1</a:t>
                      </a:r>
                    </a:p>
                  </a:txBody>
                  <a:tcPr marL="91439" marR="91439" marT="45724" marB="4572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BAO</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C1</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DB</a:t>
                      </a:r>
                    </a:p>
                  </a:txBody>
                  <a:tcPr marL="91439" marR="91439" marT="45724" marB="4572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7818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S1</a:t>
                      </a:r>
                    </a:p>
                  </a:txBody>
                  <a:tcPr marL="91439" marR="91439" marT="45724" marB="4572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BAO</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C2</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OS</a:t>
                      </a:r>
                    </a:p>
                  </a:txBody>
                  <a:tcPr marL="91439" marR="91439" marT="45724" marB="4572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7818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S1</a:t>
                      </a:r>
                    </a:p>
                  </a:txBody>
                  <a:tcPr marL="91439" marR="91439" marT="45724" marB="4572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BAO</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C3</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DS</a:t>
                      </a:r>
                    </a:p>
                  </a:txBody>
                  <a:tcPr marL="91439" marR="91439" marT="45724" marB="4572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7818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S1</a:t>
                      </a:r>
                    </a:p>
                  </a:txBody>
                  <a:tcPr marL="91439" marR="91439" marT="45724" marB="4572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BAO</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C4</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MIS</a:t>
                      </a:r>
                    </a:p>
                  </a:txBody>
                  <a:tcPr marL="91439" marR="91439" marT="45724" marB="4572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79894">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S2</a:t>
                      </a:r>
                    </a:p>
                  </a:txBody>
                  <a:tcPr marL="91439" marR="91439" marT="45724" marB="4572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GU</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C1</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DB</a:t>
                      </a:r>
                    </a:p>
                  </a:txBody>
                  <a:tcPr marL="91439" marR="91439" marT="45724" marB="4572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7818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S2</a:t>
                      </a:r>
                    </a:p>
                  </a:txBody>
                  <a:tcPr marL="91439" marR="91439" marT="45724" marB="4572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GU</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C2</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OS</a:t>
                      </a:r>
                    </a:p>
                  </a:txBody>
                  <a:tcPr marL="91439" marR="91439" marT="45724" marB="4572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7818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S3</a:t>
                      </a:r>
                    </a:p>
                  </a:txBody>
                  <a:tcPr marL="91439" marR="91439" marT="45724" marB="4572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AN</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C2</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OS</a:t>
                      </a:r>
                    </a:p>
                  </a:txBody>
                  <a:tcPr marL="91439" marR="91439" marT="45724" marB="4572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7818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S4</a:t>
                      </a:r>
                    </a:p>
                  </a:txBody>
                  <a:tcPr marL="91439" marR="91439" marT="45724" marB="4572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LI</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C2</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OS</a:t>
                      </a:r>
                    </a:p>
                  </a:txBody>
                  <a:tcPr marL="91439" marR="91439" marT="45724" marB="4572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7818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S4</a:t>
                      </a:r>
                    </a:p>
                  </a:txBody>
                  <a:tcPr marL="91439" marR="91439" marT="45724" marB="4572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LI</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C4</a:t>
                      </a:r>
                    </a:p>
                  </a:txBody>
                  <a:tcPr marL="91439" marR="91439" marT="45724" marB="45724"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MIS</a:t>
                      </a:r>
                    </a:p>
                  </a:txBody>
                  <a:tcPr marL="91439" marR="91439" marT="45724" marB="4572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aphicFrame>
        <p:nvGraphicFramePr>
          <p:cNvPr id="517269" name="Group 149">
            <a:extLst>
              <a:ext uri="{FF2B5EF4-FFF2-40B4-BE49-F238E27FC236}">
                <a16:creationId xmlns:a16="http://schemas.microsoft.com/office/drawing/2014/main" id="{9B7B258B-EC81-4998-A680-B926375E1F66}"/>
              </a:ext>
            </a:extLst>
          </p:cNvPr>
          <p:cNvGraphicFramePr>
            <a:graphicFrameLocks noGrp="1"/>
          </p:cNvGraphicFramePr>
          <p:nvPr>
            <p:extLst/>
          </p:nvPr>
        </p:nvGraphicFramePr>
        <p:xfrm>
          <a:off x="6163035" y="1320500"/>
          <a:ext cx="1659479" cy="670696"/>
        </p:xfrm>
        <a:graphic>
          <a:graphicData uri="http://schemas.openxmlformats.org/drawingml/2006/table">
            <a:tbl>
              <a:tblPr/>
              <a:tblGrid>
                <a:gridCol w="676121">
                  <a:extLst>
                    <a:ext uri="{9D8B030D-6E8A-4147-A177-3AD203B41FA5}">
                      <a16:colId xmlns:a16="http://schemas.microsoft.com/office/drawing/2014/main" val="20000"/>
                    </a:ext>
                  </a:extLst>
                </a:gridCol>
                <a:gridCol w="983358">
                  <a:extLst>
                    <a:ext uri="{9D8B030D-6E8A-4147-A177-3AD203B41FA5}">
                      <a16:colId xmlns:a16="http://schemas.microsoft.com/office/drawing/2014/main" val="20001"/>
                    </a:ext>
                  </a:extLst>
                </a:gridCol>
              </a:tblGrid>
              <a:tr h="21840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CNO</a:t>
                      </a:r>
                    </a:p>
                  </a:txBody>
                  <a:tcPr marL="91478" marR="91478" marT="45754" marB="45754"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CNAME</a:t>
                      </a:r>
                    </a:p>
                  </a:txBody>
                  <a:tcPr marL="91478" marR="91478" marT="45754" marB="45754"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840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C2</a:t>
                      </a:r>
                    </a:p>
                  </a:txBody>
                  <a:tcPr marL="91478" marR="91478" marT="45754" marB="4575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OS</a:t>
                      </a:r>
                    </a:p>
                  </a:txBody>
                  <a:tcPr marL="91478" marR="91478" marT="45754" marB="4575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17270" name="Group 150">
            <a:extLst>
              <a:ext uri="{FF2B5EF4-FFF2-40B4-BE49-F238E27FC236}">
                <a16:creationId xmlns:a16="http://schemas.microsoft.com/office/drawing/2014/main" id="{08842D88-6DB4-4266-9445-BF96527D2FD1}"/>
              </a:ext>
            </a:extLst>
          </p:cNvPr>
          <p:cNvGraphicFramePr>
            <a:graphicFrameLocks noGrp="1"/>
          </p:cNvGraphicFramePr>
          <p:nvPr>
            <p:extLst/>
          </p:nvPr>
        </p:nvGraphicFramePr>
        <p:xfrm>
          <a:off x="6151151" y="2221903"/>
          <a:ext cx="1671362" cy="1005444"/>
        </p:xfrm>
        <a:graphic>
          <a:graphicData uri="http://schemas.openxmlformats.org/drawingml/2006/table">
            <a:tbl>
              <a:tblPr/>
              <a:tblGrid>
                <a:gridCol w="656657">
                  <a:extLst>
                    <a:ext uri="{9D8B030D-6E8A-4147-A177-3AD203B41FA5}">
                      <a16:colId xmlns:a16="http://schemas.microsoft.com/office/drawing/2014/main" val="20000"/>
                    </a:ext>
                  </a:extLst>
                </a:gridCol>
                <a:gridCol w="1014705">
                  <a:extLst>
                    <a:ext uri="{9D8B030D-6E8A-4147-A177-3AD203B41FA5}">
                      <a16:colId xmlns:a16="http://schemas.microsoft.com/office/drawing/2014/main" val="20001"/>
                    </a:ext>
                  </a:extLst>
                </a:gridCol>
              </a:tblGrid>
              <a:tr h="16424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CNO</a:t>
                      </a:r>
                    </a:p>
                  </a:txBody>
                  <a:tcPr marL="91431" marR="91431" marT="45654" marB="45654"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CNAME</a:t>
                      </a:r>
                    </a:p>
                  </a:txBody>
                  <a:tcPr marL="91431" marR="91431" marT="45654" marB="45654"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424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C2</a:t>
                      </a:r>
                    </a:p>
                  </a:txBody>
                  <a:tcPr marL="91431" marR="91431" marT="45654" marB="4565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OS</a:t>
                      </a:r>
                    </a:p>
                  </a:txBody>
                  <a:tcPr marL="91431" marR="91431" marT="45654" marB="4565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4241">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C4</a:t>
                      </a:r>
                    </a:p>
                  </a:txBody>
                  <a:tcPr marL="91431" marR="91431" marT="45654" marB="4565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MIS</a:t>
                      </a:r>
                    </a:p>
                  </a:txBody>
                  <a:tcPr marL="91431" marR="91431" marT="45654" marB="4565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6577" name="Text Box 97">
            <a:extLst>
              <a:ext uri="{FF2B5EF4-FFF2-40B4-BE49-F238E27FC236}">
                <a16:creationId xmlns:a16="http://schemas.microsoft.com/office/drawing/2014/main" id="{1B9A2C77-C7AB-42B3-B20A-941DE2C68E2B}"/>
              </a:ext>
            </a:extLst>
          </p:cNvPr>
          <p:cNvSpPr txBox="1">
            <a:spLocks noChangeArrowheads="1"/>
          </p:cNvSpPr>
          <p:nvPr/>
        </p:nvSpPr>
        <p:spPr bwMode="auto">
          <a:xfrm>
            <a:off x="5657105" y="1255266"/>
            <a:ext cx="5762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en-US" altLang="zh-CN" sz="1800" b="1" dirty="0">
                <a:solidFill>
                  <a:srgbClr val="E02920"/>
                </a:solidFill>
                <a:ea typeface="楷体_GB2312" pitchFamily="49" charset="-122"/>
              </a:rPr>
              <a:t>S1</a:t>
            </a:r>
          </a:p>
        </p:txBody>
      </p:sp>
      <p:sp>
        <p:nvSpPr>
          <p:cNvPr id="106578" name="Text Box 98">
            <a:extLst>
              <a:ext uri="{FF2B5EF4-FFF2-40B4-BE49-F238E27FC236}">
                <a16:creationId xmlns:a16="http://schemas.microsoft.com/office/drawing/2014/main" id="{A33148FC-252A-40F2-9066-024AC56CDFCE}"/>
              </a:ext>
            </a:extLst>
          </p:cNvPr>
          <p:cNvSpPr txBox="1">
            <a:spLocks noChangeArrowheads="1"/>
          </p:cNvSpPr>
          <p:nvPr/>
        </p:nvSpPr>
        <p:spPr bwMode="auto">
          <a:xfrm>
            <a:off x="5657106" y="2188144"/>
            <a:ext cx="5762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en-US" altLang="zh-CN" sz="1800" b="1" dirty="0">
                <a:solidFill>
                  <a:srgbClr val="E02920"/>
                </a:solidFill>
                <a:ea typeface="楷体_GB2312" pitchFamily="49" charset="-122"/>
              </a:rPr>
              <a:t>S2</a:t>
            </a:r>
          </a:p>
        </p:txBody>
      </p:sp>
      <p:graphicFrame>
        <p:nvGraphicFramePr>
          <p:cNvPr id="517288" name="Group 168">
            <a:extLst>
              <a:ext uri="{FF2B5EF4-FFF2-40B4-BE49-F238E27FC236}">
                <a16:creationId xmlns:a16="http://schemas.microsoft.com/office/drawing/2014/main" id="{0E0255DA-4CC2-4CF0-8533-B70B378D9788}"/>
              </a:ext>
            </a:extLst>
          </p:cNvPr>
          <p:cNvGraphicFramePr>
            <a:graphicFrameLocks noGrp="1"/>
          </p:cNvGraphicFramePr>
          <p:nvPr>
            <p:extLst/>
          </p:nvPr>
        </p:nvGraphicFramePr>
        <p:xfrm>
          <a:off x="3904954" y="4724760"/>
          <a:ext cx="1627998" cy="1675840"/>
        </p:xfrm>
        <a:graphic>
          <a:graphicData uri="http://schemas.openxmlformats.org/drawingml/2006/table">
            <a:tbl>
              <a:tblPr/>
              <a:tblGrid>
                <a:gridCol w="643812">
                  <a:extLst>
                    <a:ext uri="{9D8B030D-6E8A-4147-A177-3AD203B41FA5}">
                      <a16:colId xmlns:a16="http://schemas.microsoft.com/office/drawing/2014/main" val="20000"/>
                    </a:ext>
                  </a:extLst>
                </a:gridCol>
                <a:gridCol w="984186">
                  <a:extLst>
                    <a:ext uri="{9D8B030D-6E8A-4147-A177-3AD203B41FA5}">
                      <a16:colId xmlns:a16="http://schemas.microsoft.com/office/drawing/2014/main" val="20001"/>
                    </a:ext>
                  </a:extLst>
                </a:gridCol>
              </a:tblGrid>
              <a:tr h="223882">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SNO</a:t>
                      </a:r>
                    </a:p>
                  </a:txBody>
                  <a:tcPr marL="91439" marR="91439" marT="45724" marB="45724"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SNAME</a:t>
                      </a:r>
                    </a:p>
                  </a:txBody>
                  <a:tcPr marL="91439" marR="91439" marT="45724" marB="45724"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88105979"/>
                  </a:ext>
                </a:extLst>
              </a:tr>
              <a:tr h="223782">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S1</a:t>
                      </a:r>
                    </a:p>
                  </a:txBody>
                  <a:tcPr marL="91408" marR="91408" marT="45649" marB="45649"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BAO</a:t>
                      </a:r>
                    </a:p>
                  </a:txBody>
                  <a:tcPr marL="91408" marR="91408" marT="45649" marB="4564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3782">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S2</a:t>
                      </a:r>
                    </a:p>
                  </a:txBody>
                  <a:tcPr marL="91408" marR="91408" marT="45649" marB="45649"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GU</a:t>
                      </a:r>
                    </a:p>
                  </a:txBody>
                  <a:tcPr marL="91408" marR="91408" marT="45649" marB="4564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3782">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S3</a:t>
                      </a:r>
                    </a:p>
                  </a:txBody>
                  <a:tcPr marL="91408" marR="91408" marT="45649" marB="45649"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AN</a:t>
                      </a:r>
                    </a:p>
                  </a:txBody>
                  <a:tcPr marL="91408" marR="91408" marT="45649" marB="4564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3782">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S4</a:t>
                      </a:r>
                    </a:p>
                  </a:txBody>
                  <a:tcPr marL="91408" marR="91408" marT="45649" marB="45649"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LI</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txBody>
                  <a:tcPr marL="91408" marR="91408" marT="45649" marB="4564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17278" name="Group 158">
            <a:extLst>
              <a:ext uri="{FF2B5EF4-FFF2-40B4-BE49-F238E27FC236}">
                <a16:creationId xmlns:a16="http://schemas.microsoft.com/office/drawing/2014/main" id="{546D93FD-E947-4E9E-908A-F5F604E02C55}"/>
              </a:ext>
            </a:extLst>
          </p:cNvPr>
          <p:cNvGraphicFramePr>
            <a:graphicFrameLocks noGrp="1"/>
          </p:cNvGraphicFramePr>
          <p:nvPr>
            <p:extLst/>
          </p:nvPr>
        </p:nvGraphicFramePr>
        <p:xfrm>
          <a:off x="8779691" y="4549896"/>
          <a:ext cx="1671362" cy="670696"/>
        </p:xfrm>
        <a:graphic>
          <a:graphicData uri="http://schemas.openxmlformats.org/drawingml/2006/table">
            <a:tbl>
              <a:tblPr/>
              <a:tblGrid>
                <a:gridCol w="726883">
                  <a:extLst>
                    <a:ext uri="{9D8B030D-6E8A-4147-A177-3AD203B41FA5}">
                      <a16:colId xmlns:a16="http://schemas.microsoft.com/office/drawing/2014/main" val="20000"/>
                    </a:ext>
                  </a:extLst>
                </a:gridCol>
                <a:gridCol w="944479">
                  <a:extLst>
                    <a:ext uri="{9D8B030D-6E8A-4147-A177-3AD203B41FA5}">
                      <a16:colId xmlns:a16="http://schemas.microsoft.com/office/drawing/2014/main" val="20001"/>
                    </a:ext>
                  </a:extLst>
                </a:gridCol>
              </a:tblGrid>
              <a:tr h="192089">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SNO</a:t>
                      </a:r>
                    </a:p>
                  </a:txBody>
                  <a:tcPr marL="91431" marR="91431" marT="45754" marB="45754"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SNAME</a:t>
                      </a:r>
                    </a:p>
                  </a:txBody>
                  <a:tcPr marL="91431" marR="91431" marT="45754" marB="45754"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2089">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S1</a:t>
                      </a:r>
                    </a:p>
                  </a:txBody>
                  <a:tcPr marL="91431" marR="91431" marT="45754" marB="4575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BAO</a:t>
                      </a:r>
                    </a:p>
                  </a:txBody>
                  <a:tcPr marL="91431" marR="91431" marT="45754" marB="4575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6605" name="Text Box 143">
            <a:extLst>
              <a:ext uri="{FF2B5EF4-FFF2-40B4-BE49-F238E27FC236}">
                <a16:creationId xmlns:a16="http://schemas.microsoft.com/office/drawing/2014/main" id="{98C4FBEF-DE4E-428A-8BDA-04665C4FF43A}"/>
              </a:ext>
            </a:extLst>
          </p:cNvPr>
          <p:cNvSpPr txBox="1">
            <a:spLocks noChangeArrowheads="1"/>
          </p:cNvSpPr>
          <p:nvPr/>
        </p:nvSpPr>
        <p:spPr bwMode="auto">
          <a:xfrm>
            <a:off x="7923882" y="1289130"/>
            <a:ext cx="8558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en-US" altLang="zh-CN" sz="1800" b="1" dirty="0">
                <a:solidFill>
                  <a:srgbClr val="E02920"/>
                </a:solidFill>
                <a:ea typeface="楷体_GB2312" pitchFamily="49" charset="-122"/>
              </a:rPr>
              <a:t>R÷S1</a:t>
            </a:r>
          </a:p>
        </p:txBody>
      </p:sp>
      <p:sp>
        <p:nvSpPr>
          <p:cNvPr id="106606" name="Text Box 144">
            <a:extLst>
              <a:ext uri="{FF2B5EF4-FFF2-40B4-BE49-F238E27FC236}">
                <a16:creationId xmlns:a16="http://schemas.microsoft.com/office/drawing/2014/main" id="{5BD71BDB-8247-437B-B77E-66B0C31F838C}"/>
              </a:ext>
            </a:extLst>
          </p:cNvPr>
          <p:cNvSpPr txBox="1">
            <a:spLocks noChangeArrowheads="1"/>
          </p:cNvSpPr>
          <p:nvPr/>
        </p:nvSpPr>
        <p:spPr bwMode="auto">
          <a:xfrm>
            <a:off x="7923883" y="4582001"/>
            <a:ext cx="9001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en-US" altLang="zh-CN" sz="1800" b="1" dirty="0">
                <a:solidFill>
                  <a:srgbClr val="E02920"/>
                </a:solidFill>
                <a:ea typeface="楷体_GB2312" pitchFamily="49" charset="-122"/>
              </a:rPr>
              <a:t>R÷S3</a:t>
            </a:r>
          </a:p>
        </p:txBody>
      </p:sp>
      <p:sp>
        <p:nvSpPr>
          <p:cNvPr id="517283" name="Rectangle 163">
            <a:extLst>
              <a:ext uri="{FF2B5EF4-FFF2-40B4-BE49-F238E27FC236}">
                <a16:creationId xmlns:a16="http://schemas.microsoft.com/office/drawing/2014/main" id="{AEB3F628-AB37-44B3-863D-EBE648499CCA}"/>
              </a:ext>
            </a:extLst>
          </p:cNvPr>
          <p:cNvSpPr>
            <a:spLocks noChangeArrowheads="1"/>
          </p:cNvSpPr>
          <p:nvPr/>
        </p:nvSpPr>
        <p:spPr bwMode="auto">
          <a:xfrm>
            <a:off x="4004734" y="1689113"/>
            <a:ext cx="1413937" cy="1224928"/>
          </a:xfrm>
          <a:prstGeom prst="rect">
            <a:avLst/>
          </a:prstGeom>
          <a:noFill/>
          <a:ln w="254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17284" name="Rectangle 164">
            <a:extLst>
              <a:ext uri="{FF2B5EF4-FFF2-40B4-BE49-F238E27FC236}">
                <a16:creationId xmlns:a16="http://schemas.microsoft.com/office/drawing/2014/main" id="{EACBB378-9130-4591-8BD1-D80198DCED5A}"/>
              </a:ext>
            </a:extLst>
          </p:cNvPr>
          <p:cNvSpPr>
            <a:spLocks noChangeArrowheads="1"/>
          </p:cNvSpPr>
          <p:nvPr/>
        </p:nvSpPr>
        <p:spPr bwMode="auto">
          <a:xfrm>
            <a:off x="4000549" y="3005113"/>
            <a:ext cx="1413937" cy="577843"/>
          </a:xfrm>
          <a:prstGeom prst="rect">
            <a:avLst/>
          </a:prstGeom>
          <a:noFill/>
          <a:ln w="25400" cap="sq">
            <a:solidFill>
              <a:srgbClr val="FF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17285" name="Rectangle 165">
            <a:extLst>
              <a:ext uri="{FF2B5EF4-FFF2-40B4-BE49-F238E27FC236}">
                <a16:creationId xmlns:a16="http://schemas.microsoft.com/office/drawing/2014/main" id="{02A1083F-6C42-4385-B948-83D0C381CDED}"/>
              </a:ext>
            </a:extLst>
          </p:cNvPr>
          <p:cNvSpPr>
            <a:spLocks noChangeArrowheads="1"/>
          </p:cNvSpPr>
          <p:nvPr/>
        </p:nvSpPr>
        <p:spPr bwMode="auto">
          <a:xfrm>
            <a:off x="4000549" y="3690736"/>
            <a:ext cx="1413937" cy="233489"/>
          </a:xfrm>
          <a:prstGeom prst="rect">
            <a:avLst/>
          </a:prstGeom>
          <a:noFill/>
          <a:ln w="25400" cap="sq">
            <a:solidFill>
              <a:srgbClr val="34ACBC"/>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17286" name="Rectangle 166">
            <a:extLst>
              <a:ext uri="{FF2B5EF4-FFF2-40B4-BE49-F238E27FC236}">
                <a16:creationId xmlns:a16="http://schemas.microsoft.com/office/drawing/2014/main" id="{618387DC-FD1C-4D1F-9133-E49677BED531}"/>
              </a:ext>
            </a:extLst>
          </p:cNvPr>
          <p:cNvSpPr>
            <a:spLocks noChangeArrowheads="1"/>
          </p:cNvSpPr>
          <p:nvPr/>
        </p:nvSpPr>
        <p:spPr bwMode="auto">
          <a:xfrm>
            <a:off x="4000549" y="4032005"/>
            <a:ext cx="1413937" cy="573334"/>
          </a:xfrm>
          <a:prstGeom prst="rect">
            <a:avLst/>
          </a:prstGeom>
          <a:noFill/>
          <a:ln w="254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517291" name="Rectangle 171">
            <a:extLst>
              <a:ext uri="{FF2B5EF4-FFF2-40B4-BE49-F238E27FC236}">
                <a16:creationId xmlns:a16="http://schemas.microsoft.com/office/drawing/2014/main" id="{1940F99B-6E63-4EC2-BDE8-A2A56BB71C24}"/>
              </a:ext>
            </a:extLst>
          </p:cNvPr>
          <p:cNvSpPr>
            <a:spLocks noChangeArrowheads="1"/>
          </p:cNvSpPr>
          <p:nvPr/>
        </p:nvSpPr>
        <p:spPr bwMode="auto">
          <a:xfrm>
            <a:off x="6272491" y="1659278"/>
            <a:ext cx="1321879" cy="288925"/>
          </a:xfrm>
          <a:prstGeom prst="rect">
            <a:avLst/>
          </a:prstGeom>
          <a:noFill/>
          <a:ln w="38100" cap="sq">
            <a:solidFill>
              <a:schemeClr val="accent3">
                <a:lumMod val="75000"/>
              </a:schemeClr>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106613" name="Text Box 172">
            <a:extLst>
              <a:ext uri="{FF2B5EF4-FFF2-40B4-BE49-F238E27FC236}">
                <a16:creationId xmlns:a16="http://schemas.microsoft.com/office/drawing/2014/main" id="{4D91A633-7896-46D1-95B3-3AB7FF720D43}"/>
              </a:ext>
            </a:extLst>
          </p:cNvPr>
          <p:cNvSpPr txBox="1">
            <a:spLocks noChangeArrowheads="1"/>
          </p:cNvSpPr>
          <p:nvPr/>
        </p:nvSpPr>
        <p:spPr bwMode="auto">
          <a:xfrm>
            <a:off x="5657105" y="3390239"/>
            <a:ext cx="5762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en-US" altLang="zh-CN" sz="1800" b="1" dirty="0">
                <a:solidFill>
                  <a:srgbClr val="E02920"/>
                </a:solidFill>
                <a:ea typeface="楷体_GB2312" pitchFamily="49" charset="-122"/>
              </a:rPr>
              <a:t>S3</a:t>
            </a:r>
          </a:p>
        </p:txBody>
      </p:sp>
      <p:graphicFrame>
        <p:nvGraphicFramePr>
          <p:cNvPr id="517309" name="Group 189">
            <a:extLst>
              <a:ext uri="{FF2B5EF4-FFF2-40B4-BE49-F238E27FC236}">
                <a16:creationId xmlns:a16="http://schemas.microsoft.com/office/drawing/2014/main" id="{0FD406FD-0659-4D75-89EF-1A3AD10647A8}"/>
              </a:ext>
            </a:extLst>
          </p:cNvPr>
          <p:cNvGraphicFramePr>
            <a:graphicFrameLocks noGrp="1"/>
          </p:cNvGraphicFramePr>
          <p:nvPr>
            <p:extLst/>
          </p:nvPr>
        </p:nvGraphicFramePr>
        <p:xfrm>
          <a:off x="6141423" y="3391514"/>
          <a:ext cx="1671362" cy="1340928"/>
        </p:xfrm>
        <a:graphic>
          <a:graphicData uri="http://schemas.openxmlformats.org/drawingml/2006/table">
            <a:tbl>
              <a:tblPr/>
              <a:tblGrid>
                <a:gridCol w="656656">
                  <a:extLst>
                    <a:ext uri="{9D8B030D-6E8A-4147-A177-3AD203B41FA5}">
                      <a16:colId xmlns:a16="http://schemas.microsoft.com/office/drawing/2014/main" val="20000"/>
                    </a:ext>
                  </a:extLst>
                </a:gridCol>
                <a:gridCol w="1014706">
                  <a:extLst>
                    <a:ext uri="{9D8B030D-6E8A-4147-A177-3AD203B41FA5}">
                      <a16:colId xmlns:a16="http://schemas.microsoft.com/office/drawing/2014/main" val="20001"/>
                    </a:ext>
                  </a:extLst>
                </a:gridCol>
              </a:tblGrid>
              <a:tr h="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CNO</a:t>
                      </a:r>
                    </a:p>
                  </a:txBody>
                  <a:tcPr marL="91431" marR="91431" marT="45696" marB="45696"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CNAME</a:t>
                      </a:r>
                    </a:p>
                  </a:txBody>
                  <a:tcPr marL="91431" marR="91431" marT="45696" marB="45696"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C1</a:t>
                      </a:r>
                    </a:p>
                  </a:txBody>
                  <a:tcPr marL="91431" marR="91431" marT="45696" marB="45696"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DB</a:t>
                      </a:r>
                    </a:p>
                  </a:txBody>
                  <a:tcPr marL="91431" marR="91431" marT="45696" marB="45696"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C2</a:t>
                      </a:r>
                    </a:p>
                  </a:txBody>
                  <a:tcPr marL="91431" marR="91431" marT="45696" marB="45696"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OS</a:t>
                      </a:r>
                    </a:p>
                  </a:txBody>
                  <a:tcPr marL="91431" marR="91431" marT="45696" marB="45696"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C4</a:t>
                      </a:r>
                    </a:p>
                  </a:txBody>
                  <a:tcPr marL="91431" marR="91431" marT="45696" marB="45696"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MIS</a:t>
                      </a:r>
                    </a:p>
                  </a:txBody>
                  <a:tcPr marL="91431" marR="91431" marT="45696" marB="45696"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17344" name="Group 224">
            <a:extLst>
              <a:ext uri="{FF2B5EF4-FFF2-40B4-BE49-F238E27FC236}">
                <a16:creationId xmlns:a16="http://schemas.microsoft.com/office/drawing/2014/main" id="{4EC118F7-F19E-4B22-B37B-9934987B5B2A}"/>
              </a:ext>
            </a:extLst>
          </p:cNvPr>
          <p:cNvGraphicFramePr>
            <a:graphicFrameLocks noGrp="1"/>
          </p:cNvGraphicFramePr>
          <p:nvPr>
            <p:extLst/>
          </p:nvPr>
        </p:nvGraphicFramePr>
        <p:xfrm>
          <a:off x="8783678" y="1295520"/>
          <a:ext cx="1671362" cy="1676240"/>
        </p:xfrm>
        <a:graphic>
          <a:graphicData uri="http://schemas.openxmlformats.org/drawingml/2006/table">
            <a:tbl>
              <a:tblPr/>
              <a:tblGrid>
                <a:gridCol w="636573">
                  <a:extLst>
                    <a:ext uri="{9D8B030D-6E8A-4147-A177-3AD203B41FA5}">
                      <a16:colId xmlns:a16="http://schemas.microsoft.com/office/drawing/2014/main" val="20000"/>
                    </a:ext>
                  </a:extLst>
                </a:gridCol>
                <a:gridCol w="1034789">
                  <a:extLst>
                    <a:ext uri="{9D8B030D-6E8A-4147-A177-3AD203B41FA5}">
                      <a16:colId xmlns:a16="http://schemas.microsoft.com/office/drawing/2014/main" val="20001"/>
                    </a:ext>
                  </a:extLst>
                </a:gridCol>
              </a:tblGrid>
              <a:tr h="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SNO</a:t>
                      </a:r>
                    </a:p>
                  </a:txBody>
                  <a:tcPr marL="91424" marR="91424" marT="45704" marB="45704"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SNAME</a:t>
                      </a:r>
                    </a:p>
                  </a:txBody>
                  <a:tcPr marL="91424" marR="91424" marT="45704" marB="45704"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S1</a:t>
                      </a:r>
                    </a:p>
                  </a:txBody>
                  <a:tcPr marL="91424" marR="91424" marT="45704" marB="4570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BAO</a:t>
                      </a:r>
                    </a:p>
                  </a:txBody>
                  <a:tcPr marL="91424" marR="91424" marT="45704" marB="4570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S2</a:t>
                      </a:r>
                    </a:p>
                  </a:txBody>
                  <a:tcPr marL="91424" marR="91424" marT="45704" marB="4570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GU</a:t>
                      </a:r>
                    </a:p>
                  </a:txBody>
                  <a:tcPr marL="91424" marR="91424" marT="45704" marB="4570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S3</a:t>
                      </a:r>
                    </a:p>
                  </a:txBody>
                  <a:tcPr marL="91424" marR="91424" marT="45704" marB="4570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AN</a:t>
                      </a:r>
                    </a:p>
                  </a:txBody>
                  <a:tcPr marL="91424" marR="91424" marT="45704" marB="4570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S4</a:t>
                      </a:r>
                    </a:p>
                  </a:txBody>
                  <a:tcPr marL="91424" marR="91424" marT="45704" marB="45704"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LI</a:t>
                      </a:r>
                    </a:p>
                  </a:txBody>
                  <a:tcPr marL="91424" marR="91424" marT="45704" marB="45704"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6649" name="Text Box 209">
            <a:extLst>
              <a:ext uri="{FF2B5EF4-FFF2-40B4-BE49-F238E27FC236}">
                <a16:creationId xmlns:a16="http://schemas.microsoft.com/office/drawing/2014/main" id="{A459FCD4-1E81-4237-8C6C-58C36950E643}"/>
              </a:ext>
            </a:extLst>
          </p:cNvPr>
          <p:cNvSpPr txBox="1">
            <a:spLocks noChangeArrowheads="1"/>
          </p:cNvSpPr>
          <p:nvPr/>
        </p:nvSpPr>
        <p:spPr bwMode="auto">
          <a:xfrm>
            <a:off x="7923882" y="3236598"/>
            <a:ext cx="8558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en-US" altLang="zh-CN" sz="1800" b="1" dirty="0">
                <a:solidFill>
                  <a:srgbClr val="E02920"/>
                </a:solidFill>
                <a:ea typeface="楷体_GB2312" pitchFamily="49" charset="-122"/>
              </a:rPr>
              <a:t>R÷S2</a:t>
            </a:r>
          </a:p>
        </p:txBody>
      </p:sp>
      <p:graphicFrame>
        <p:nvGraphicFramePr>
          <p:cNvPr id="517330" name="Group 210">
            <a:extLst>
              <a:ext uri="{FF2B5EF4-FFF2-40B4-BE49-F238E27FC236}">
                <a16:creationId xmlns:a16="http://schemas.microsoft.com/office/drawing/2014/main" id="{F707EB73-8D50-46C7-AE78-F8430FC81361}"/>
              </a:ext>
            </a:extLst>
          </p:cNvPr>
          <p:cNvGraphicFramePr>
            <a:graphicFrameLocks noGrp="1"/>
          </p:cNvGraphicFramePr>
          <p:nvPr>
            <p:extLst/>
          </p:nvPr>
        </p:nvGraphicFramePr>
        <p:xfrm>
          <a:off x="8779690" y="3204060"/>
          <a:ext cx="1671362" cy="1005906"/>
        </p:xfrm>
        <a:graphic>
          <a:graphicData uri="http://schemas.openxmlformats.org/drawingml/2006/table">
            <a:tbl>
              <a:tblPr/>
              <a:tblGrid>
                <a:gridCol w="680834">
                  <a:extLst>
                    <a:ext uri="{9D8B030D-6E8A-4147-A177-3AD203B41FA5}">
                      <a16:colId xmlns:a16="http://schemas.microsoft.com/office/drawing/2014/main" val="20000"/>
                    </a:ext>
                  </a:extLst>
                </a:gridCol>
                <a:gridCol w="990528">
                  <a:extLst>
                    <a:ext uri="{9D8B030D-6E8A-4147-A177-3AD203B41FA5}">
                      <a16:colId xmlns:a16="http://schemas.microsoft.com/office/drawing/2014/main" val="20001"/>
                    </a:ext>
                  </a:extLst>
                </a:gridCol>
              </a:tblGrid>
              <a:tr h="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SNO</a:t>
                      </a:r>
                    </a:p>
                  </a:txBody>
                  <a:tcPr marL="91447" marR="91447" marT="45731" marB="4573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SNAME</a:t>
                      </a:r>
                    </a:p>
                  </a:txBody>
                  <a:tcPr marL="91447" marR="91447" marT="45731" marB="4573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S1</a:t>
                      </a:r>
                    </a:p>
                  </a:txBody>
                  <a:tcPr marL="91447" marR="91447" marT="45731" marB="4573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BAO</a:t>
                      </a:r>
                    </a:p>
                  </a:txBody>
                  <a:tcPr marL="91447" marR="91447" marT="45731" marB="4573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S4</a:t>
                      </a:r>
                    </a:p>
                  </a:txBody>
                  <a:tcPr marL="91447" marR="91447" marT="45731" marB="4573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33CC"/>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1pPr>
                      <a:lvl2pPr>
                        <a:spcBef>
                          <a:spcPct val="20000"/>
                        </a:spcBef>
                        <a:buClr>
                          <a:srgbClr val="E0292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2pPr>
                      <a:lvl3pPr>
                        <a:spcBef>
                          <a:spcPct val="20000"/>
                        </a:spcBef>
                        <a:buClr>
                          <a:srgbClr val="FF3300"/>
                        </a:buClr>
                        <a:buSzPct val="75000"/>
                        <a:buFont typeface="Wingdings" panose="05000000000000000000" pitchFamily="2" charset="2"/>
                        <a:defRPr sz="2400" b="1">
                          <a:solidFill>
                            <a:schemeClr val="tx1"/>
                          </a:solidFill>
                          <a:latin typeface="Arial" panose="020B0604020202020204" pitchFamily="34" charset="0"/>
                          <a:ea typeface="楷体_GB2312"/>
                          <a:cs typeface="楷体_GB2312"/>
                        </a:defRPr>
                      </a:lvl3pPr>
                      <a:lvl4pPr>
                        <a:spcBef>
                          <a:spcPct val="20000"/>
                        </a:spcBef>
                        <a:defRPr>
                          <a:solidFill>
                            <a:schemeClr val="tx1"/>
                          </a:solidFill>
                          <a:latin typeface="Arial" panose="020B0604020202020204" pitchFamily="34" charset="0"/>
                          <a:ea typeface="宋体" panose="02010600030101010101" pitchFamily="2" charset="-122"/>
                          <a:cs typeface="楷体_GB2312"/>
                        </a:defRPr>
                      </a:lvl4pPr>
                      <a:lvl5pPr>
                        <a:spcBef>
                          <a:spcPct val="20000"/>
                        </a:spcBef>
                        <a:defRPr>
                          <a:solidFill>
                            <a:schemeClr val="tx1"/>
                          </a:solidFill>
                          <a:latin typeface="Arial" panose="020B0604020202020204" pitchFamily="34" charset="0"/>
                          <a:ea typeface="宋体" panose="02010600030101010101" pitchFamily="2" charset="-122"/>
                          <a:cs typeface="楷体_GB231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cs typeface="楷体_GB2312"/>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LI</a:t>
                      </a:r>
                    </a:p>
                  </a:txBody>
                  <a:tcPr marL="91447" marR="91447" marT="45731" marB="4573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17343" name="Rectangle 223">
            <a:extLst>
              <a:ext uri="{FF2B5EF4-FFF2-40B4-BE49-F238E27FC236}">
                <a16:creationId xmlns:a16="http://schemas.microsoft.com/office/drawing/2014/main" id="{E8A738C1-31AD-4540-B1FF-8A9835EFE400}"/>
              </a:ext>
            </a:extLst>
          </p:cNvPr>
          <p:cNvSpPr>
            <a:spLocks noChangeArrowheads="1"/>
          </p:cNvSpPr>
          <p:nvPr/>
        </p:nvSpPr>
        <p:spPr bwMode="auto">
          <a:xfrm>
            <a:off x="2278346" y="4836266"/>
            <a:ext cx="17637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r>
              <a:rPr lang="en-US" altLang="zh-CN" sz="1600" b="1" dirty="0">
                <a:solidFill>
                  <a:srgbClr val="000000"/>
                </a:solidFill>
                <a:ea typeface="华文中宋" panose="02010600040101010101" pitchFamily="2" charset="-122"/>
              </a:rPr>
              <a:t>R</a:t>
            </a:r>
            <a:r>
              <a:rPr lang="zh-CN" altLang="en-US" sz="1600" b="1" dirty="0">
                <a:solidFill>
                  <a:srgbClr val="000000"/>
                </a:solidFill>
                <a:ea typeface="华文中宋" panose="02010600040101010101" pitchFamily="2" charset="-122"/>
              </a:rPr>
              <a:t>中属性</a:t>
            </a:r>
          </a:p>
          <a:p>
            <a:pPr eaLnBrk="1" hangingPunct="1">
              <a:spcBef>
                <a:spcPct val="0"/>
              </a:spcBef>
              <a:buClrTx/>
              <a:buSzTx/>
              <a:buFontTx/>
              <a:buNone/>
            </a:pPr>
            <a:r>
              <a:rPr lang="en-US" altLang="zh-CN" sz="1600" b="1" dirty="0">
                <a:solidFill>
                  <a:srgbClr val="000000"/>
                </a:solidFill>
                <a:ea typeface="华文中宋" panose="02010600040101010101" pitchFamily="2" charset="-122"/>
              </a:rPr>
              <a:t>(SNO SNAME)</a:t>
            </a:r>
          </a:p>
          <a:p>
            <a:pPr eaLnBrk="1" hangingPunct="1">
              <a:spcBef>
                <a:spcPct val="0"/>
              </a:spcBef>
              <a:buClrTx/>
              <a:buSzTx/>
              <a:buFontTx/>
              <a:buNone/>
            </a:pPr>
            <a:r>
              <a:rPr lang="zh-CN" altLang="en-US" sz="1600" b="1" dirty="0">
                <a:solidFill>
                  <a:srgbClr val="000000"/>
                </a:solidFill>
                <a:ea typeface="华文中宋" panose="02010600040101010101" pitchFamily="2" charset="-122"/>
              </a:rPr>
              <a:t>的分量值：</a:t>
            </a:r>
          </a:p>
        </p:txBody>
      </p:sp>
      <p:sp>
        <p:nvSpPr>
          <p:cNvPr id="27" name="Rectangle 2">
            <a:extLst>
              <a:ext uri="{FF2B5EF4-FFF2-40B4-BE49-F238E27FC236}">
                <a16:creationId xmlns:a16="http://schemas.microsoft.com/office/drawing/2014/main" id="{AF26B135-7A1E-4800-9EA5-C46B4D88A06D}"/>
              </a:ext>
            </a:extLst>
          </p:cNvPr>
          <p:cNvSpPr>
            <a:spLocks noGrp="1" noChangeArrowheads="1"/>
          </p:cNvSpPr>
          <p:nvPr>
            <p:ph type="title"/>
          </p:nvPr>
        </p:nvSpPr>
        <p:spPr/>
        <p:txBody>
          <a:bodyPr/>
          <a:lstStyle/>
          <a:p>
            <a:r>
              <a:rPr lang="zh-CN" altLang="en-US"/>
              <a:t>除</a:t>
            </a:r>
            <a:r>
              <a:rPr lang="en-US" altLang="zh-CN"/>
              <a:t>(</a:t>
            </a:r>
            <a:r>
              <a:rPr lang="zh-CN" altLang="en-US"/>
              <a:t>续</a:t>
            </a:r>
            <a:r>
              <a:rPr lang="en-US" altLang="zh-CN"/>
              <a:t>)</a:t>
            </a:r>
            <a:endParaRPr lang="en-US" altLang="zh-CN" dirty="0"/>
          </a:p>
        </p:txBody>
      </p:sp>
      <p:sp>
        <p:nvSpPr>
          <p:cNvPr id="3" name="内容占位符 2">
            <a:extLst>
              <a:ext uri="{FF2B5EF4-FFF2-40B4-BE49-F238E27FC236}">
                <a16:creationId xmlns:a16="http://schemas.microsoft.com/office/drawing/2014/main" id="{D0E17270-8369-4355-B004-024AD21C13BB}"/>
              </a:ext>
            </a:extLst>
          </p:cNvPr>
          <p:cNvSpPr>
            <a:spLocks noGrp="1"/>
          </p:cNvSpPr>
          <p:nvPr>
            <p:ph idx="1"/>
          </p:nvPr>
        </p:nvSpPr>
        <p:spPr/>
        <p:txBody>
          <a:bodyPr/>
          <a:lstStyle/>
          <a:p>
            <a:r>
              <a:rPr lang="zh-CN" altLang="en-US" dirty="0"/>
              <a:t>练习</a:t>
            </a:r>
          </a:p>
        </p:txBody>
      </p:sp>
      <p:sp>
        <p:nvSpPr>
          <p:cNvPr id="2" name="灯片编号占位符 1">
            <a:extLst>
              <a:ext uri="{FF2B5EF4-FFF2-40B4-BE49-F238E27FC236}">
                <a16:creationId xmlns:a16="http://schemas.microsoft.com/office/drawing/2014/main" id="{69DB4739-5FC0-4EC7-8247-A49A18E16378}"/>
              </a:ext>
            </a:extLst>
          </p:cNvPr>
          <p:cNvSpPr>
            <a:spLocks noGrp="1"/>
          </p:cNvSpPr>
          <p:nvPr>
            <p:ph type="sldNum" sz="quarter" idx="12"/>
          </p:nvPr>
        </p:nvSpPr>
        <p:spPr/>
        <p:txBody>
          <a:bodyPr/>
          <a:lstStyle/>
          <a:p>
            <a:fld id="{47C9E101-E51D-431E-84FA-C029B8655B60}" type="slidenum">
              <a:rPr lang="zh-CN" altLang="en-US" smtClean="0"/>
              <a:pPr/>
              <a:t>83</a:t>
            </a:fld>
            <a:endParaRPr lang="zh-CN" altLang="en-US" dirty="0"/>
          </a:p>
        </p:txBody>
      </p:sp>
      <p:sp>
        <p:nvSpPr>
          <p:cNvPr id="32" name="Text Box 172">
            <a:extLst>
              <a:ext uri="{FF2B5EF4-FFF2-40B4-BE49-F238E27FC236}">
                <a16:creationId xmlns:a16="http://schemas.microsoft.com/office/drawing/2014/main" id="{8164E844-0B4A-4A0D-B321-C2217D142A92}"/>
              </a:ext>
            </a:extLst>
          </p:cNvPr>
          <p:cNvSpPr txBox="1">
            <a:spLocks noChangeArrowheads="1"/>
          </p:cNvSpPr>
          <p:nvPr/>
        </p:nvSpPr>
        <p:spPr bwMode="auto">
          <a:xfrm>
            <a:off x="1828067" y="2384975"/>
            <a:ext cx="5762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50000"/>
              </a:spcBef>
              <a:buClrTx/>
              <a:buSzTx/>
              <a:buFontTx/>
              <a:buNone/>
            </a:pPr>
            <a:r>
              <a:rPr lang="en-US" altLang="zh-CN" sz="1800" b="1" dirty="0">
                <a:solidFill>
                  <a:srgbClr val="E02920"/>
                </a:solidFill>
                <a:ea typeface="楷体_GB2312" pitchFamily="49" charset="-122"/>
              </a:rPr>
              <a:t>R</a:t>
            </a:r>
          </a:p>
        </p:txBody>
      </p:sp>
      <p:sp>
        <p:nvSpPr>
          <p:cNvPr id="33" name="Rectangle 171">
            <a:extLst>
              <a:ext uri="{FF2B5EF4-FFF2-40B4-BE49-F238E27FC236}">
                <a16:creationId xmlns:a16="http://schemas.microsoft.com/office/drawing/2014/main" id="{8B3BD621-C90E-4240-A3CF-083381505F8E}"/>
              </a:ext>
            </a:extLst>
          </p:cNvPr>
          <p:cNvSpPr>
            <a:spLocks noChangeArrowheads="1"/>
          </p:cNvSpPr>
          <p:nvPr/>
        </p:nvSpPr>
        <p:spPr bwMode="auto">
          <a:xfrm>
            <a:off x="6280133" y="2609844"/>
            <a:ext cx="1321879" cy="594216"/>
          </a:xfrm>
          <a:prstGeom prst="rect">
            <a:avLst/>
          </a:prstGeom>
          <a:noFill/>
          <a:ln w="38100" cap="sq">
            <a:solidFill>
              <a:schemeClr val="accent3">
                <a:lumMod val="75000"/>
              </a:schemeClr>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34" name="Rectangle 171">
            <a:extLst>
              <a:ext uri="{FF2B5EF4-FFF2-40B4-BE49-F238E27FC236}">
                <a16:creationId xmlns:a16="http://schemas.microsoft.com/office/drawing/2014/main" id="{D17F5ADA-CA55-49AA-A2C7-1C473B9DC748}"/>
              </a:ext>
            </a:extLst>
          </p:cNvPr>
          <p:cNvSpPr>
            <a:spLocks noChangeArrowheads="1"/>
          </p:cNvSpPr>
          <p:nvPr/>
        </p:nvSpPr>
        <p:spPr bwMode="auto">
          <a:xfrm>
            <a:off x="6270294" y="3759572"/>
            <a:ext cx="1321879" cy="888629"/>
          </a:xfrm>
          <a:prstGeom prst="rect">
            <a:avLst/>
          </a:prstGeom>
          <a:noFill/>
          <a:ln w="38100" cap="sq">
            <a:solidFill>
              <a:schemeClr val="accent3">
                <a:lumMod val="75000"/>
              </a:schemeClr>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7343"/>
                                        </p:tgtEl>
                                        <p:attrNameLst>
                                          <p:attrName>style.visibility</p:attrName>
                                        </p:attrNameLst>
                                      </p:cBhvr>
                                      <p:to>
                                        <p:strVal val="visible"/>
                                      </p:to>
                                    </p:set>
                                    <p:animEffect transition="in" filter="blinds(horizontal)">
                                      <p:cBhvr>
                                        <p:cTn id="7" dur="500"/>
                                        <p:tgtEl>
                                          <p:spTgt spid="5173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4" presetClass="entr" presetSubtype="0" accel="100000" fill="hold" nodeType="clickEffect">
                                  <p:stCondLst>
                                    <p:cond delay="0"/>
                                  </p:stCondLst>
                                  <p:childTnLst>
                                    <p:set>
                                      <p:cBhvr>
                                        <p:cTn id="11" dur="1" fill="hold">
                                          <p:stCondLst>
                                            <p:cond delay="0"/>
                                          </p:stCondLst>
                                        </p:cTn>
                                        <p:tgtEl>
                                          <p:spTgt spid="517288"/>
                                        </p:tgtEl>
                                        <p:attrNameLst>
                                          <p:attrName>style.visibility</p:attrName>
                                        </p:attrNameLst>
                                      </p:cBhvr>
                                      <p:to>
                                        <p:strVal val="visible"/>
                                      </p:to>
                                    </p:set>
                                    <p:anim calcmode="lin" valueType="num">
                                      <p:cBhvr>
                                        <p:cTn id="12" dur="500" fill="hold"/>
                                        <p:tgtEl>
                                          <p:spTgt spid="517288"/>
                                        </p:tgtEl>
                                        <p:attrNameLst>
                                          <p:attrName>ppt_w</p:attrName>
                                        </p:attrNameLst>
                                      </p:cBhvr>
                                      <p:tavLst>
                                        <p:tav tm="0">
                                          <p:val>
                                            <p:strVal val="#ppt_w*0.05"/>
                                          </p:val>
                                        </p:tav>
                                        <p:tav tm="100000">
                                          <p:val>
                                            <p:strVal val="#ppt_w"/>
                                          </p:val>
                                        </p:tav>
                                      </p:tavLst>
                                    </p:anim>
                                    <p:anim calcmode="lin" valueType="num">
                                      <p:cBhvr>
                                        <p:cTn id="13" dur="500" fill="hold"/>
                                        <p:tgtEl>
                                          <p:spTgt spid="517288"/>
                                        </p:tgtEl>
                                        <p:attrNameLst>
                                          <p:attrName>ppt_h</p:attrName>
                                        </p:attrNameLst>
                                      </p:cBhvr>
                                      <p:tavLst>
                                        <p:tav tm="0">
                                          <p:val>
                                            <p:strVal val="#ppt_h"/>
                                          </p:val>
                                        </p:tav>
                                        <p:tav tm="100000">
                                          <p:val>
                                            <p:strVal val="#ppt_h"/>
                                          </p:val>
                                        </p:tav>
                                      </p:tavLst>
                                    </p:anim>
                                    <p:anim calcmode="lin" valueType="num">
                                      <p:cBhvr>
                                        <p:cTn id="14" dur="500" fill="hold"/>
                                        <p:tgtEl>
                                          <p:spTgt spid="517288"/>
                                        </p:tgtEl>
                                        <p:attrNameLst>
                                          <p:attrName>ppt_x</p:attrName>
                                        </p:attrNameLst>
                                      </p:cBhvr>
                                      <p:tavLst>
                                        <p:tav tm="0">
                                          <p:val>
                                            <p:strVal val="#ppt_x-.2"/>
                                          </p:val>
                                        </p:tav>
                                        <p:tav tm="100000">
                                          <p:val>
                                            <p:strVal val="#ppt_x"/>
                                          </p:val>
                                        </p:tav>
                                      </p:tavLst>
                                    </p:anim>
                                    <p:anim calcmode="lin" valueType="num">
                                      <p:cBhvr>
                                        <p:cTn id="15" dur="500" fill="hold"/>
                                        <p:tgtEl>
                                          <p:spTgt spid="517288"/>
                                        </p:tgtEl>
                                        <p:attrNameLst>
                                          <p:attrName>ppt_y</p:attrName>
                                        </p:attrNameLst>
                                      </p:cBhvr>
                                      <p:tavLst>
                                        <p:tav tm="0">
                                          <p:val>
                                            <p:strVal val="#ppt_y"/>
                                          </p:val>
                                        </p:tav>
                                        <p:tav tm="100000">
                                          <p:val>
                                            <p:strVal val="#ppt_y"/>
                                          </p:val>
                                        </p:tav>
                                      </p:tavLst>
                                    </p:anim>
                                    <p:animEffect transition="in" filter="fade">
                                      <p:cBhvr>
                                        <p:cTn id="16" dur="500"/>
                                        <p:tgtEl>
                                          <p:spTgt spid="51728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4" presetClass="entr" presetSubtype="0" accel="100000" fill="hold" grpId="0" nodeType="clickEffect">
                                  <p:stCondLst>
                                    <p:cond delay="0"/>
                                  </p:stCondLst>
                                  <p:childTnLst>
                                    <p:set>
                                      <p:cBhvr>
                                        <p:cTn id="20" dur="1" fill="hold">
                                          <p:stCondLst>
                                            <p:cond delay="0"/>
                                          </p:stCondLst>
                                        </p:cTn>
                                        <p:tgtEl>
                                          <p:spTgt spid="517283"/>
                                        </p:tgtEl>
                                        <p:attrNameLst>
                                          <p:attrName>style.visibility</p:attrName>
                                        </p:attrNameLst>
                                      </p:cBhvr>
                                      <p:to>
                                        <p:strVal val="visible"/>
                                      </p:to>
                                    </p:set>
                                    <p:anim calcmode="lin" valueType="num">
                                      <p:cBhvr>
                                        <p:cTn id="21" dur="500" fill="hold"/>
                                        <p:tgtEl>
                                          <p:spTgt spid="517283"/>
                                        </p:tgtEl>
                                        <p:attrNameLst>
                                          <p:attrName>ppt_w</p:attrName>
                                        </p:attrNameLst>
                                      </p:cBhvr>
                                      <p:tavLst>
                                        <p:tav tm="0">
                                          <p:val>
                                            <p:strVal val="#ppt_w*0.05"/>
                                          </p:val>
                                        </p:tav>
                                        <p:tav tm="100000">
                                          <p:val>
                                            <p:strVal val="#ppt_w"/>
                                          </p:val>
                                        </p:tav>
                                      </p:tavLst>
                                    </p:anim>
                                    <p:anim calcmode="lin" valueType="num">
                                      <p:cBhvr>
                                        <p:cTn id="22" dur="500" fill="hold"/>
                                        <p:tgtEl>
                                          <p:spTgt spid="517283"/>
                                        </p:tgtEl>
                                        <p:attrNameLst>
                                          <p:attrName>ppt_h</p:attrName>
                                        </p:attrNameLst>
                                      </p:cBhvr>
                                      <p:tavLst>
                                        <p:tav tm="0">
                                          <p:val>
                                            <p:strVal val="#ppt_h"/>
                                          </p:val>
                                        </p:tav>
                                        <p:tav tm="100000">
                                          <p:val>
                                            <p:strVal val="#ppt_h"/>
                                          </p:val>
                                        </p:tav>
                                      </p:tavLst>
                                    </p:anim>
                                    <p:anim calcmode="lin" valueType="num">
                                      <p:cBhvr>
                                        <p:cTn id="23" dur="500" fill="hold"/>
                                        <p:tgtEl>
                                          <p:spTgt spid="517283"/>
                                        </p:tgtEl>
                                        <p:attrNameLst>
                                          <p:attrName>ppt_x</p:attrName>
                                        </p:attrNameLst>
                                      </p:cBhvr>
                                      <p:tavLst>
                                        <p:tav tm="0">
                                          <p:val>
                                            <p:strVal val="#ppt_x-.2"/>
                                          </p:val>
                                        </p:tav>
                                        <p:tav tm="100000">
                                          <p:val>
                                            <p:strVal val="#ppt_x"/>
                                          </p:val>
                                        </p:tav>
                                      </p:tavLst>
                                    </p:anim>
                                    <p:anim calcmode="lin" valueType="num">
                                      <p:cBhvr>
                                        <p:cTn id="24" dur="500" fill="hold"/>
                                        <p:tgtEl>
                                          <p:spTgt spid="517283"/>
                                        </p:tgtEl>
                                        <p:attrNameLst>
                                          <p:attrName>ppt_y</p:attrName>
                                        </p:attrNameLst>
                                      </p:cBhvr>
                                      <p:tavLst>
                                        <p:tav tm="0">
                                          <p:val>
                                            <p:strVal val="#ppt_y"/>
                                          </p:val>
                                        </p:tav>
                                        <p:tav tm="100000">
                                          <p:val>
                                            <p:strVal val="#ppt_y"/>
                                          </p:val>
                                        </p:tav>
                                      </p:tavLst>
                                    </p:anim>
                                    <p:animEffect transition="in" filter="fade">
                                      <p:cBhvr>
                                        <p:cTn id="25" dur="500"/>
                                        <p:tgtEl>
                                          <p:spTgt spid="51728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517284"/>
                                        </p:tgtEl>
                                        <p:attrNameLst>
                                          <p:attrName>style.visibility</p:attrName>
                                        </p:attrNameLst>
                                      </p:cBhvr>
                                      <p:to>
                                        <p:strVal val="visible"/>
                                      </p:to>
                                    </p:set>
                                    <p:animEffect transition="in" filter="randombar(horizontal)">
                                      <p:cBhvr>
                                        <p:cTn id="30" dur="500"/>
                                        <p:tgtEl>
                                          <p:spTgt spid="51728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17285"/>
                                        </p:tgtEl>
                                        <p:attrNameLst>
                                          <p:attrName>style.visibility</p:attrName>
                                        </p:attrNameLst>
                                      </p:cBhvr>
                                      <p:to>
                                        <p:strVal val="visible"/>
                                      </p:to>
                                    </p:set>
                                    <p:anim calcmode="lin" valueType="num">
                                      <p:cBhvr additive="base">
                                        <p:cTn id="35" dur="500" fill="hold"/>
                                        <p:tgtEl>
                                          <p:spTgt spid="517285"/>
                                        </p:tgtEl>
                                        <p:attrNameLst>
                                          <p:attrName>ppt_x</p:attrName>
                                        </p:attrNameLst>
                                      </p:cBhvr>
                                      <p:tavLst>
                                        <p:tav tm="0">
                                          <p:val>
                                            <p:strVal val="#ppt_x"/>
                                          </p:val>
                                        </p:tav>
                                        <p:tav tm="100000">
                                          <p:val>
                                            <p:strVal val="#ppt_x"/>
                                          </p:val>
                                        </p:tav>
                                      </p:tavLst>
                                    </p:anim>
                                    <p:anim calcmode="lin" valueType="num">
                                      <p:cBhvr additive="base">
                                        <p:cTn id="36" dur="500" fill="hold"/>
                                        <p:tgtEl>
                                          <p:spTgt spid="517285"/>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517286"/>
                                        </p:tgtEl>
                                        <p:attrNameLst>
                                          <p:attrName>style.visibility</p:attrName>
                                        </p:attrNameLst>
                                      </p:cBhvr>
                                      <p:to>
                                        <p:strVal val="visible"/>
                                      </p:to>
                                    </p:set>
                                    <p:animEffect transition="in" filter="checkerboard(across)">
                                      <p:cBhvr>
                                        <p:cTn id="41" dur="500"/>
                                        <p:tgtEl>
                                          <p:spTgt spid="51728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4" fill="hold" grpId="0" nodeType="clickEffect">
                                  <p:stCondLst>
                                    <p:cond delay="0"/>
                                  </p:stCondLst>
                                  <p:childTnLst>
                                    <p:set>
                                      <p:cBhvr>
                                        <p:cTn id="45" dur="1" fill="hold">
                                          <p:stCondLst>
                                            <p:cond delay="0"/>
                                          </p:stCondLst>
                                        </p:cTn>
                                        <p:tgtEl>
                                          <p:spTgt spid="517291"/>
                                        </p:tgtEl>
                                        <p:attrNameLst>
                                          <p:attrName>style.visibility</p:attrName>
                                        </p:attrNameLst>
                                      </p:cBhvr>
                                      <p:to>
                                        <p:strVal val="visible"/>
                                      </p:to>
                                    </p:set>
                                    <p:animEffect transition="in" filter="slide(fromBottom)">
                                      <p:cBhvr>
                                        <p:cTn id="46" dur="500"/>
                                        <p:tgtEl>
                                          <p:spTgt spid="51729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4" presetClass="entr" presetSubtype="0" accel="100000" fill="hold" nodeType="clickEffect">
                                  <p:stCondLst>
                                    <p:cond delay="0"/>
                                  </p:stCondLst>
                                  <p:childTnLst>
                                    <p:set>
                                      <p:cBhvr>
                                        <p:cTn id="50" dur="1" fill="hold">
                                          <p:stCondLst>
                                            <p:cond delay="0"/>
                                          </p:stCondLst>
                                        </p:cTn>
                                        <p:tgtEl>
                                          <p:spTgt spid="517344"/>
                                        </p:tgtEl>
                                        <p:attrNameLst>
                                          <p:attrName>style.visibility</p:attrName>
                                        </p:attrNameLst>
                                      </p:cBhvr>
                                      <p:to>
                                        <p:strVal val="visible"/>
                                      </p:to>
                                    </p:set>
                                    <p:anim calcmode="lin" valueType="num">
                                      <p:cBhvr>
                                        <p:cTn id="51" dur="500" fill="hold"/>
                                        <p:tgtEl>
                                          <p:spTgt spid="517344"/>
                                        </p:tgtEl>
                                        <p:attrNameLst>
                                          <p:attrName>ppt_w</p:attrName>
                                        </p:attrNameLst>
                                      </p:cBhvr>
                                      <p:tavLst>
                                        <p:tav tm="0">
                                          <p:val>
                                            <p:strVal val="#ppt_w*0.05"/>
                                          </p:val>
                                        </p:tav>
                                        <p:tav tm="100000">
                                          <p:val>
                                            <p:strVal val="#ppt_w"/>
                                          </p:val>
                                        </p:tav>
                                      </p:tavLst>
                                    </p:anim>
                                    <p:anim calcmode="lin" valueType="num">
                                      <p:cBhvr>
                                        <p:cTn id="52" dur="500" fill="hold"/>
                                        <p:tgtEl>
                                          <p:spTgt spid="517344"/>
                                        </p:tgtEl>
                                        <p:attrNameLst>
                                          <p:attrName>ppt_h</p:attrName>
                                        </p:attrNameLst>
                                      </p:cBhvr>
                                      <p:tavLst>
                                        <p:tav tm="0">
                                          <p:val>
                                            <p:strVal val="#ppt_h"/>
                                          </p:val>
                                        </p:tav>
                                        <p:tav tm="100000">
                                          <p:val>
                                            <p:strVal val="#ppt_h"/>
                                          </p:val>
                                        </p:tav>
                                      </p:tavLst>
                                    </p:anim>
                                    <p:anim calcmode="lin" valueType="num">
                                      <p:cBhvr>
                                        <p:cTn id="53" dur="500" fill="hold"/>
                                        <p:tgtEl>
                                          <p:spTgt spid="517344"/>
                                        </p:tgtEl>
                                        <p:attrNameLst>
                                          <p:attrName>ppt_x</p:attrName>
                                        </p:attrNameLst>
                                      </p:cBhvr>
                                      <p:tavLst>
                                        <p:tav tm="0">
                                          <p:val>
                                            <p:strVal val="#ppt_x-.2"/>
                                          </p:val>
                                        </p:tav>
                                        <p:tav tm="100000">
                                          <p:val>
                                            <p:strVal val="#ppt_x"/>
                                          </p:val>
                                        </p:tav>
                                      </p:tavLst>
                                    </p:anim>
                                    <p:anim calcmode="lin" valueType="num">
                                      <p:cBhvr>
                                        <p:cTn id="54" dur="500" fill="hold"/>
                                        <p:tgtEl>
                                          <p:spTgt spid="517344"/>
                                        </p:tgtEl>
                                        <p:attrNameLst>
                                          <p:attrName>ppt_y</p:attrName>
                                        </p:attrNameLst>
                                      </p:cBhvr>
                                      <p:tavLst>
                                        <p:tav tm="0">
                                          <p:val>
                                            <p:strVal val="#ppt_y"/>
                                          </p:val>
                                        </p:tav>
                                        <p:tav tm="100000">
                                          <p:val>
                                            <p:strVal val="#ppt_y"/>
                                          </p:val>
                                        </p:tav>
                                      </p:tavLst>
                                    </p:anim>
                                    <p:animEffect transition="in" filter="fade">
                                      <p:cBhvr>
                                        <p:cTn id="55" dur="500"/>
                                        <p:tgtEl>
                                          <p:spTgt spid="51734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5" presetClass="entr" presetSubtype="10" fill="hold" nodeType="clickEffect">
                                  <p:stCondLst>
                                    <p:cond delay="0"/>
                                  </p:stCondLst>
                                  <p:childTnLst>
                                    <p:set>
                                      <p:cBhvr>
                                        <p:cTn id="59" dur="1" fill="hold">
                                          <p:stCondLst>
                                            <p:cond delay="0"/>
                                          </p:stCondLst>
                                        </p:cTn>
                                        <p:tgtEl>
                                          <p:spTgt spid="517330"/>
                                        </p:tgtEl>
                                        <p:attrNameLst>
                                          <p:attrName>style.visibility</p:attrName>
                                        </p:attrNameLst>
                                      </p:cBhvr>
                                      <p:to>
                                        <p:strVal val="visible"/>
                                      </p:to>
                                    </p:set>
                                    <p:animEffect transition="in" filter="checkerboard(across)">
                                      <p:cBhvr>
                                        <p:cTn id="60" dur="500"/>
                                        <p:tgtEl>
                                          <p:spTgt spid="51733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1" presetClass="entr" presetSubtype="4" fill="hold" nodeType="clickEffect">
                                  <p:stCondLst>
                                    <p:cond delay="0"/>
                                  </p:stCondLst>
                                  <p:childTnLst>
                                    <p:set>
                                      <p:cBhvr>
                                        <p:cTn id="64" dur="1" fill="hold">
                                          <p:stCondLst>
                                            <p:cond delay="0"/>
                                          </p:stCondLst>
                                        </p:cTn>
                                        <p:tgtEl>
                                          <p:spTgt spid="517278"/>
                                        </p:tgtEl>
                                        <p:attrNameLst>
                                          <p:attrName>style.visibility</p:attrName>
                                        </p:attrNameLst>
                                      </p:cBhvr>
                                      <p:to>
                                        <p:strVal val="visible"/>
                                      </p:to>
                                    </p:set>
                                    <p:animEffect transition="in" filter="wheel(4)">
                                      <p:cBhvr>
                                        <p:cTn id="65" dur="2000"/>
                                        <p:tgtEl>
                                          <p:spTgt spid="517278"/>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4" fill="hold" grpId="0" nodeType="click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slide(fromBottom)">
                                      <p:cBhvr>
                                        <p:cTn id="70" dur="500"/>
                                        <p:tgtEl>
                                          <p:spTgt spid="33"/>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4"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slide(fromBottom)">
                                      <p:cBhvr>
                                        <p:cTn id="7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283" grpId="0" animBg="1"/>
      <p:bldP spid="517284" grpId="0" animBg="1"/>
      <p:bldP spid="517285" grpId="0" animBg="1"/>
      <p:bldP spid="517286" grpId="0" animBg="1"/>
      <p:bldP spid="517291" grpId="0" animBg="1"/>
      <p:bldP spid="517343" grpId="0"/>
      <p:bldP spid="33" grpId="0" animBg="1"/>
      <p:bldP spid="34"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359425">
            <a:extLst>
              <a:ext uri="{FF2B5EF4-FFF2-40B4-BE49-F238E27FC236}">
                <a16:creationId xmlns:a16="http://schemas.microsoft.com/office/drawing/2014/main" id="{23456C69-FF42-4200-BCE0-CFCF4CE46832}"/>
              </a:ext>
            </a:extLst>
          </p:cNvPr>
          <p:cNvSpPr>
            <a:spLocks noGrp="1" noChangeArrowheads="1"/>
          </p:cNvSpPr>
          <p:nvPr>
            <p:ph type="title"/>
          </p:nvPr>
        </p:nvSpPr>
        <p:spPr/>
        <p:txBody>
          <a:bodyPr/>
          <a:lstStyle/>
          <a:p>
            <a:r>
              <a:rPr lang="en-US" altLang="zh-CN" dirty="0"/>
              <a:t>5</a:t>
            </a:r>
            <a:r>
              <a:rPr lang="zh-CN" altLang="en-US" dirty="0"/>
              <a:t>．综合举例 </a:t>
            </a:r>
          </a:p>
        </p:txBody>
      </p:sp>
      <p:sp>
        <p:nvSpPr>
          <p:cNvPr id="65539" name="文本占位符 359426">
            <a:extLst>
              <a:ext uri="{FF2B5EF4-FFF2-40B4-BE49-F238E27FC236}">
                <a16:creationId xmlns:a16="http://schemas.microsoft.com/office/drawing/2014/main" id="{03BD1B8A-CCF9-4302-A816-2E55BC0C26E5}"/>
              </a:ext>
            </a:extLst>
          </p:cNvPr>
          <p:cNvSpPr>
            <a:spLocks noGrp="1" noChangeArrowheads="1"/>
          </p:cNvSpPr>
          <p:nvPr>
            <p:ph type="body" idx="1"/>
          </p:nvPr>
        </p:nvSpPr>
        <p:spPr/>
        <p:txBody>
          <a:bodyPr>
            <a:normAutofit fontScale="92500" lnSpcReduction="10000"/>
          </a:bodyPr>
          <a:lstStyle/>
          <a:p>
            <a:r>
              <a:rPr lang="zh-CN" altLang="en-US" dirty="0"/>
              <a:t>以</a:t>
            </a:r>
            <a:r>
              <a:rPr lang="zh-CN" altLang="en-US" dirty="0">
                <a:hlinkClick r:id="rId2" action="ppaction://hlinksldjump"/>
              </a:rPr>
              <a:t>学生</a:t>
            </a:r>
            <a:r>
              <a:rPr lang="en-US" altLang="zh-CN" dirty="0">
                <a:hlinkClick r:id="rId2" action="ppaction://hlinksldjump"/>
              </a:rPr>
              <a:t>-</a:t>
            </a:r>
            <a:r>
              <a:rPr lang="zh-CN" altLang="en-US" dirty="0">
                <a:hlinkClick r:id="rId2" action="ppaction://hlinksldjump"/>
              </a:rPr>
              <a:t>课程数据库</a:t>
            </a:r>
            <a:r>
              <a:rPr lang="zh-CN" altLang="en-US" dirty="0"/>
              <a:t>为例</a:t>
            </a:r>
            <a:endParaRPr lang="en-US" altLang="zh-CN" dirty="0"/>
          </a:p>
          <a:p>
            <a:r>
              <a:rPr lang="zh-CN" altLang="en-US" dirty="0"/>
              <a:t>例</a:t>
            </a:r>
            <a:r>
              <a:rPr lang="en-US" altLang="zh-CN" dirty="0"/>
              <a:t>7</a:t>
            </a:r>
            <a:r>
              <a:rPr lang="zh-CN" altLang="en-US" dirty="0"/>
              <a:t>：查询</a:t>
            </a:r>
            <a:r>
              <a:rPr lang="zh-CN" altLang="en-US" dirty="0">
                <a:solidFill>
                  <a:srgbClr val="3333FF"/>
                </a:solidFill>
              </a:rPr>
              <a:t>至少</a:t>
            </a:r>
            <a:r>
              <a:rPr lang="zh-CN" altLang="en-US" dirty="0"/>
              <a:t>选修</a:t>
            </a:r>
            <a:r>
              <a:rPr lang="en-US" altLang="zh-CN" dirty="0"/>
              <a:t>1</a:t>
            </a:r>
            <a:r>
              <a:rPr lang="zh-CN" altLang="en-US" dirty="0"/>
              <a:t>号课程和</a:t>
            </a:r>
            <a:r>
              <a:rPr lang="en-US" altLang="zh-CN" dirty="0"/>
              <a:t>3</a:t>
            </a:r>
            <a:r>
              <a:rPr lang="zh-CN" altLang="en-US" dirty="0"/>
              <a:t>号课程的学生学号</a:t>
            </a:r>
            <a:r>
              <a:rPr lang="en-US" altLang="zh-CN" dirty="0"/>
              <a:t> </a:t>
            </a:r>
          </a:p>
          <a:p>
            <a:pPr lvl="1"/>
            <a:r>
              <a:rPr lang="zh-CN" altLang="en-US" dirty="0"/>
              <a:t>思路：学生与选修课程之间是</a:t>
            </a:r>
            <a:r>
              <a:rPr lang="en-US" altLang="zh-CN" dirty="0"/>
              <a:t>1:n</a:t>
            </a:r>
            <a:r>
              <a:rPr lang="zh-CN" altLang="en-US" dirty="0"/>
              <a:t>，与分量和像集之间的关系类似。因此，通过课程号（</a:t>
            </a:r>
            <a:r>
              <a:rPr lang="en-US" altLang="zh-CN" dirty="0"/>
              <a:t>n</a:t>
            </a:r>
            <a:r>
              <a:rPr lang="zh-CN" altLang="en-US" dirty="0"/>
              <a:t>）查学号（</a:t>
            </a:r>
            <a:r>
              <a:rPr lang="en-US" altLang="zh-CN" dirty="0"/>
              <a:t>1</a:t>
            </a:r>
            <a:r>
              <a:rPr lang="zh-CN" altLang="en-US" dirty="0"/>
              <a:t>）可以转化为通过像集（</a:t>
            </a:r>
            <a:r>
              <a:rPr lang="en-US" altLang="zh-CN" dirty="0"/>
              <a:t>n</a:t>
            </a:r>
            <a:r>
              <a:rPr lang="zh-CN" altLang="en-US" dirty="0"/>
              <a:t>）查分量（</a:t>
            </a:r>
            <a:r>
              <a:rPr lang="en-US" altLang="zh-CN" dirty="0"/>
              <a:t>1</a:t>
            </a:r>
            <a:r>
              <a:rPr lang="zh-CN" altLang="en-US" dirty="0"/>
              <a:t>）。</a:t>
            </a:r>
            <a:endParaRPr lang="en-US" altLang="zh-CN" dirty="0"/>
          </a:p>
          <a:p>
            <a:pPr lvl="1"/>
            <a:endParaRPr lang="en-US" altLang="zh-CN" dirty="0"/>
          </a:p>
          <a:p>
            <a:pPr lvl="1"/>
            <a:r>
              <a:rPr lang="zh-CN" altLang="en-US" dirty="0"/>
              <a:t>首先建立一个临时关系</a:t>
            </a:r>
            <a:r>
              <a:rPr lang="en-US" altLang="zh-CN" i="1" dirty="0"/>
              <a:t>K</a:t>
            </a:r>
            <a:r>
              <a:rPr lang="zh-CN" altLang="en-US" dirty="0"/>
              <a:t>： </a:t>
            </a:r>
          </a:p>
          <a:p>
            <a:pPr lvl="1"/>
            <a:endParaRPr lang="en-US" altLang="zh-CN" dirty="0"/>
          </a:p>
          <a:p>
            <a:pPr lvl="1"/>
            <a:r>
              <a:rPr lang="zh-CN" altLang="en-US" dirty="0"/>
              <a:t>然后求：</a:t>
            </a:r>
            <a:r>
              <a:rPr lang="en-US" altLang="zh-CN" dirty="0"/>
              <a:t> π</a:t>
            </a:r>
            <a:r>
              <a:rPr lang="en-US" altLang="zh-CN" baseline="-30000" dirty="0" err="1"/>
              <a:t>Sno</a:t>
            </a:r>
            <a:r>
              <a:rPr lang="zh-CN" altLang="en-US" baseline="-30000" dirty="0"/>
              <a:t>，</a:t>
            </a:r>
            <a:r>
              <a:rPr lang="en-US" altLang="zh-CN" baseline="-30000" dirty="0" err="1"/>
              <a:t>Cno</a:t>
            </a:r>
            <a:r>
              <a:rPr lang="en-US" altLang="zh-CN" dirty="0"/>
              <a:t>(SC)÷</a:t>
            </a:r>
            <a:r>
              <a:rPr lang="en-US" altLang="zh-CN" i="1" dirty="0"/>
              <a:t>K</a:t>
            </a:r>
          </a:p>
          <a:p>
            <a:pPr lvl="1"/>
            <a:endParaRPr lang="en-US" altLang="zh-CN" i="1" dirty="0"/>
          </a:p>
          <a:p>
            <a:pPr lvl="1">
              <a:lnSpc>
                <a:spcPct val="110000"/>
              </a:lnSpc>
              <a:buNone/>
            </a:pPr>
            <a:r>
              <a:rPr lang="en-US" altLang="zh-CN" dirty="0"/>
              <a:t>201215121</a:t>
            </a:r>
            <a:r>
              <a:rPr lang="zh-CN" altLang="en-US" dirty="0"/>
              <a:t>象集</a:t>
            </a:r>
            <a:r>
              <a:rPr lang="en-US" altLang="zh-CN" dirty="0"/>
              <a:t>{1</a:t>
            </a:r>
            <a:r>
              <a:rPr lang="zh-CN" altLang="en-US" dirty="0"/>
              <a:t>，</a:t>
            </a:r>
            <a:r>
              <a:rPr lang="en-US" altLang="zh-CN" dirty="0"/>
              <a:t>2</a:t>
            </a:r>
            <a:r>
              <a:rPr lang="zh-CN" altLang="en-US" dirty="0"/>
              <a:t>，</a:t>
            </a:r>
            <a:r>
              <a:rPr lang="en-US" altLang="zh-CN" dirty="0"/>
              <a:t>3}</a:t>
            </a:r>
          </a:p>
          <a:p>
            <a:pPr lvl="1">
              <a:lnSpc>
                <a:spcPct val="110000"/>
              </a:lnSpc>
              <a:buNone/>
            </a:pPr>
            <a:r>
              <a:rPr lang="en-US" altLang="zh-CN" dirty="0"/>
              <a:t>201215122</a:t>
            </a:r>
            <a:r>
              <a:rPr lang="zh-CN" altLang="en-US" dirty="0"/>
              <a:t>象集</a:t>
            </a:r>
            <a:r>
              <a:rPr lang="en-US" altLang="zh-CN" dirty="0"/>
              <a:t>{2</a:t>
            </a:r>
            <a:r>
              <a:rPr lang="zh-CN" altLang="en-US" dirty="0"/>
              <a:t>，</a:t>
            </a:r>
            <a:r>
              <a:rPr lang="en-US" altLang="zh-CN" dirty="0"/>
              <a:t>3}</a:t>
            </a:r>
          </a:p>
          <a:p>
            <a:pPr lvl="1">
              <a:lnSpc>
                <a:spcPct val="110000"/>
              </a:lnSpc>
              <a:buNone/>
            </a:pPr>
            <a:r>
              <a:rPr lang="en-US" altLang="zh-CN" dirty="0"/>
              <a:t>π</a:t>
            </a:r>
            <a:r>
              <a:rPr lang="en-US" altLang="zh-CN" baseline="-30000" dirty="0" err="1"/>
              <a:t>Cno</a:t>
            </a:r>
            <a:r>
              <a:rPr lang="en-US" altLang="zh-CN" dirty="0"/>
              <a:t>(</a:t>
            </a:r>
            <a:r>
              <a:rPr lang="en-US" altLang="zh-CN" i="1" dirty="0"/>
              <a:t>K</a:t>
            </a:r>
            <a:r>
              <a:rPr lang="en-US" altLang="zh-CN" dirty="0"/>
              <a:t>)={1</a:t>
            </a:r>
            <a:r>
              <a:rPr lang="zh-CN" altLang="en-US" dirty="0"/>
              <a:t>，</a:t>
            </a:r>
            <a:r>
              <a:rPr lang="en-US" altLang="zh-CN" dirty="0"/>
              <a:t>3}</a:t>
            </a:r>
          </a:p>
          <a:p>
            <a:pPr lvl="1">
              <a:lnSpc>
                <a:spcPct val="110000"/>
              </a:lnSpc>
            </a:pPr>
            <a:r>
              <a:rPr lang="zh-CN" altLang="en-US" dirty="0"/>
              <a:t>于是：</a:t>
            </a:r>
            <a:r>
              <a:rPr lang="en-US" altLang="zh-CN" dirty="0"/>
              <a:t>π</a:t>
            </a:r>
            <a:r>
              <a:rPr lang="en-US" altLang="zh-CN" baseline="-30000" dirty="0" err="1"/>
              <a:t>Sno</a:t>
            </a:r>
            <a:r>
              <a:rPr lang="zh-CN" altLang="en-US" baseline="-30000" dirty="0"/>
              <a:t>，</a:t>
            </a:r>
            <a:r>
              <a:rPr lang="en-US" altLang="zh-CN" baseline="-30000" dirty="0" err="1"/>
              <a:t>Cno</a:t>
            </a:r>
            <a:r>
              <a:rPr lang="en-US" altLang="zh-CN" dirty="0"/>
              <a:t>(SC)÷</a:t>
            </a:r>
            <a:r>
              <a:rPr lang="en-US" altLang="zh-CN" i="1" dirty="0"/>
              <a:t>K=</a:t>
            </a:r>
            <a:r>
              <a:rPr lang="en-US" altLang="zh-CN" dirty="0"/>
              <a:t>{201215121}</a:t>
            </a:r>
          </a:p>
          <a:p>
            <a:pPr lvl="1"/>
            <a:endParaRPr lang="en-US" altLang="zh-CN" dirty="0"/>
          </a:p>
        </p:txBody>
      </p:sp>
      <p:graphicFrame>
        <p:nvGraphicFramePr>
          <p:cNvPr id="6" name="Group 21">
            <a:extLst>
              <a:ext uri="{FF2B5EF4-FFF2-40B4-BE49-F238E27FC236}">
                <a16:creationId xmlns:a16="http://schemas.microsoft.com/office/drawing/2014/main" id="{5B6083FB-F86F-4C20-96B5-77136FAD35AE}"/>
              </a:ext>
            </a:extLst>
          </p:cNvPr>
          <p:cNvGraphicFramePr>
            <a:graphicFrameLocks noGrp="1"/>
          </p:cNvGraphicFramePr>
          <p:nvPr>
            <p:extLst>
              <p:ext uri="{D42A27DB-BD31-4B8C-83A1-F6EECF244321}">
                <p14:modId xmlns:p14="http://schemas.microsoft.com/office/powerpoint/2010/main" val="4266771968"/>
              </p:ext>
            </p:extLst>
          </p:nvPr>
        </p:nvGraphicFramePr>
        <p:xfrm>
          <a:off x="4363080" y="2757934"/>
          <a:ext cx="578498" cy="1005672"/>
        </p:xfrm>
        <a:graphic>
          <a:graphicData uri="http://schemas.openxmlformats.org/drawingml/2006/table">
            <a:tbl>
              <a:tblPr/>
              <a:tblGrid>
                <a:gridCol w="578498">
                  <a:extLst>
                    <a:ext uri="{9D8B030D-6E8A-4147-A177-3AD203B41FA5}">
                      <a16:colId xmlns:a16="http://schemas.microsoft.com/office/drawing/2014/main" val="20000"/>
                    </a:ext>
                  </a:extLst>
                </a:gridCol>
              </a:tblGrid>
              <a:tr h="312095">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Cno</a:t>
                      </a:r>
                    </a:p>
                  </a:txBody>
                  <a:tcPr marL="91417" marR="91417" marT="45692" marB="45692"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2095">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a:t>
                      </a:r>
                    </a:p>
                  </a:txBody>
                  <a:tcPr marL="91417" marR="91417" marT="45692" marB="45692"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2095">
                <a:tc>
                  <a:txBody>
                    <a:bodyPr/>
                    <a:lstStyle>
                      <a:lvl1pPr>
                        <a:spcBef>
                          <a:spcPct val="20000"/>
                        </a:spcBef>
                        <a:buClr>
                          <a:srgbClr val="0033CC"/>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defRPr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0033CC"/>
                        </a:buClr>
                        <a:buSzPct val="75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a:t>
                      </a:r>
                    </a:p>
                  </a:txBody>
                  <a:tcPr marL="91417" marR="91417" marT="45692" marB="45692"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4" name="灯片编号占位符 3">
            <a:extLst>
              <a:ext uri="{FF2B5EF4-FFF2-40B4-BE49-F238E27FC236}">
                <a16:creationId xmlns:a16="http://schemas.microsoft.com/office/drawing/2014/main" id="{D105D942-92C5-40FB-BB71-DFEE5ADC7535}"/>
              </a:ext>
            </a:extLst>
          </p:cNvPr>
          <p:cNvSpPr>
            <a:spLocks noGrp="1"/>
          </p:cNvSpPr>
          <p:nvPr>
            <p:ph type="sldNum" sz="quarter" idx="12"/>
          </p:nvPr>
        </p:nvSpPr>
        <p:spPr/>
        <p:txBody>
          <a:bodyPr/>
          <a:lstStyle/>
          <a:p>
            <a:fld id="{47C9E101-E51D-431E-84FA-C029B8655B60}" type="slidenum">
              <a:rPr lang="zh-CN" altLang="en-US" smtClean="0"/>
              <a:pPr/>
              <a:t>84</a:t>
            </a:fld>
            <a:endParaRPr lang="zh-CN" altLang="en-US" dirty="0"/>
          </a:p>
        </p:txBody>
      </p:sp>
      <p:graphicFrame>
        <p:nvGraphicFramePr>
          <p:cNvPr id="46" name="表格 45">
            <a:extLst>
              <a:ext uri="{FF2B5EF4-FFF2-40B4-BE49-F238E27FC236}">
                <a16:creationId xmlns:a16="http://schemas.microsoft.com/office/drawing/2014/main" id="{4D5912AB-98B0-41E6-A04F-F014CD63B65D}"/>
              </a:ext>
            </a:extLst>
          </p:cNvPr>
          <p:cNvGraphicFramePr>
            <a:graphicFrameLocks noGrp="1"/>
          </p:cNvGraphicFramePr>
          <p:nvPr>
            <p:extLst>
              <p:ext uri="{D42A27DB-BD31-4B8C-83A1-F6EECF244321}">
                <p14:modId xmlns:p14="http://schemas.microsoft.com/office/powerpoint/2010/main" val="20529278"/>
              </p:ext>
            </p:extLst>
          </p:nvPr>
        </p:nvGraphicFramePr>
        <p:xfrm>
          <a:off x="6769004" y="2641170"/>
          <a:ext cx="2878461" cy="1828944"/>
        </p:xfrm>
        <a:graphic>
          <a:graphicData uri="http://schemas.openxmlformats.org/drawingml/2006/table">
            <a:tbl>
              <a:tblPr firstRow="1" bandRow="1">
                <a:tableStyleId>{5C22544A-7EE6-4342-B048-85BDC9FD1C3A}</a:tableStyleId>
              </a:tblPr>
              <a:tblGrid>
                <a:gridCol w="1104746">
                  <a:extLst>
                    <a:ext uri="{9D8B030D-6E8A-4147-A177-3AD203B41FA5}">
                      <a16:colId xmlns:a16="http://schemas.microsoft.com/office/drawing/2014/main" val="20000"/>
                    </a:ext>
                  </a:extLst>
                </a:gridCol>
                <a:gridCol w="814228">
                  <a:extLst>
                    <a:ext uri="{9D8B030D-6E8A-4147-A177-3AD203B41FA5}">
                      <a16:colId xmlns:a16="http://schemas.microsoft.com/office/drawing/2014/main" val="20001"/>
                    </a:ext>
                  </a:extLst>
                </a:gridCol>
                <a:gridCol w="959487">
                  <a:extLst>
                    <a:ext uri="{9D8B030D-6E8A-4147-A177-3AD203B41FA5}">
                      <a16:colId xmlns:a16="http://schemas.microsoft.com/office/drawing/2014/main" val="20002"/>
                    </a:ext>
                  </a:extLst>
                </a:gridCol>
              </a:tblGrid>
              <a:tr h="222167">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solidFill>
                      <a:schemeClr val="accent1">
                        <a:lumMod val="60000"/>
                        <a:lumOff val="40000"/>
                      </a:schemeClr>
                    </a:solidFill>
                  </a:tcPr>
                </a:tc>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solidFill>
                      <a:schemeClr val="accent1">
                        <a:lumMod val="60000"/>
                        <a:lumOff val="40000"/>
                      </a:schemeClr>
                    </a:solidFill>
                  </a:tcPr>
                </a:tc>
                <a:tc>
                  <a:txBody>
                    <a:bodyPr/>
                    <a:lstStyle/>
                    <a:p>
                      <a:pPr algn="ct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Grade</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solidFill>
                      <a:schemeClr val="accent1">
                        <a:lumMod val="60000"/>
                        <a:lumOff val="40000"/>
                      </a:schemeClr>
                    </a:solidFill>
                  </a:tcPr>
                </a:tc>
                <a:extLst>
                  <a:ext uri="{0D108BD9-81ED-4DB2-BD59-A6C34878D82A}">
                    <a16:rowId xmlns:a16="http://schemas.microsoft.com/office/drawing/2014/main" val="10000"/>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92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1"/>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85</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2"/>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88</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3"/>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90</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4"/>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80</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5"/>
                  </a:ext>
                </a:extLst>
              </a:tr>
            </a:tbl>
          </a:graphicData>
        </a:graphic>
      </p:graphicFrame>
      <p:sp>
        <p:nvSpPr>
          <p:cNvPr id="49" name="Rectangle 166">
            <a:extLst>
              <a:ext uri="{FF2B5EF4-FFF2-40B4-BE49-F238E27FC236}">
                <a16:creationId xmlns:a16="http://schemas.microsoft.com/office/drawing/2014/main" id="{D06C4497-BD5C-485D-84DD-FEF4361A2B23}"/>
              </a:ext>
            </a:extLst>
          </p:cNvPr>
          <p:cNvSpPr>
            <a:spLocks noChangeArrowheads="1"/>
          </p:cNvSpPr>
          <p:nvPr/>
        </p:nvSpPr>
        <p:spPr bwMode="auto">
          <a:xfrm>
            <a:off x="6801695" y="2994232"/>
            <a:ext cx="1808905" cy="1467499"/>
          </a:xfrm>
          <a:prstGeom prst="rect">
            <a:avLst/>
          </a:prstGeom>
          <a:noFill/>
          <a:ln w="254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3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53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5539">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5539">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5539">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5539">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553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3537EB-5925-48F1-B263-20B3F197A7A7}"/>
              </a:ext>
            </a:extLst>
          </p:cNvPr>
          <p:cNvSpPr>
            <a:spLocks noGrp="1"/>
          </p:cNvSpPr>
          <p:nvPr>
            <p:ph type="title"/>
          </p:nvPr>
        </p:nvSpPr>
        <p:spPr/>
        <p:txBody>
          <a:bodyPr/>
          <a:lstStyle/>
          <a:p>
            <a:r>
              <a:rPr lang="zh-CN" altLang="en-US" dirty="0"/>
              <a:t>综合举例</a:t>
            </a:r>
          </a:p>
        </p:txBody>
      </p:sp>
      <p:sp>
        <p:nvSpPr>
          <p:cNvPr id="12" name="内容占位符 11">
            <a:extLst>
              <a:ext uri="{FF2B5EF4-FFF2-40B4-BE49-F238E27FC236}">
                <a16:creationId xmlns:a16="http://schemas.microsoft.com/office/drawing/2014/main" id="{C9D5A39C-FDA5-4FAD-9585-4B7842D07749}"/>
              </a:ext>
            </a:extLst>
          </p:cNvPr>
          <p:cNvSpPr>
            <a:spLocks noGrp="1"/>
          </p:cNvSpPr>
          <p:nvPr>
            <p:ph idx="1"/>
          </p:nvPr>
        </p:nvSpPr>
        <p:spPr/>
        <p:txBody>
          <a:bodyPr/>
          <a:lstStyle/>
          <a:p>
            <a:r>
              <a:rPr lang="zh-CN" altLang="en-US" dirty="0"/>
              <a:t>例 </a:t>
            </a:r>
            <a:r>
              <a:rPr lang="en-US" altLang="zh-CN" dirty="0"/>
              <a:t>8</a:t>
            </a:r>
            <a:r>
              <a:rPr lang="zh-CN" altLang="en-US" dirty="0"/>
              <a:t>：查询选修了</a:t>
            </a:r>
            <a:r>
              <a:rPr lang="en-US" altLang="zh-CN" dirty="0"/>
              <a:t>2</a:t>
            </a:r>
            <a:r>
              <a:rPr lang="zh-CN" altLang="en-US" dirty="0"/>
              <a:t>号课程的学生的学号。</a:t>
            </a:r>
          </a:p>
        </p:txBody>
      </p:sp>
      <p:sp>
        <p:nvSpPr>
          <p:cNvPr id="4" name="灯片编号占位符 3">
            <a:extLst>
              <a:ext uri="{FF2B5EF4-FFF2-40B4-BE49-F238E27FC236}">
                <a16:creationId xmlns:a16="http://schemas.microsoft.com/office/drawing/2014/main" id="{ECC1A61C-AFFD-4C0D-B677-9231536C8CFB}"/>
              </a:ext>
            </a:extLst>
          </p:cNvPr>
          <p:cNvSpPr>
            <a:spLocks noGrp="1"/>
          </p:cNvSpPr>
          <p:nvPr>
            <p:ph type="sldNum" sz="quarter" idx="12"/>
          </p:nvPr>
        </p:nvSpPr>
        <p:spPr/>
        <p:txBody>
          <a:bodyPr/>
          <a:lstStyle/>
          <a:p>
            <a:fld id="{47C9E101-E51D-431E-84FA-C029B8655B60}" type="slidenum">
              <a:rPr lang="zh-CN" altLang="en-US" smtClean="0"/>
              <a:pPr/>
              <a:t>85</a:t>
            </a:fld>
            <a:endParaRPr lang="zh-CN" altLang="en-US" dirty="0"/>
          </a:p>
        </p:txBody>
      </p:sp>
      <p:graphicFrame>
        <p:nvGraphicFramePr>
          <p:cNvPr id="5" name="表格 4">
            <a:extLst>
              <a:ext uri="{FF2B5EF4-FFF2-40B4-BE49-F238E27FC236}">
                <a16:creationId xmlns:a16="http://schemas.microsoft.com/office/drawing/2014/main" id="{1EEC4C8C-F90D-42CC-AB23-AB1A9391D44E}"/>
              </a:ext>
            </a:extLst>
          </p:cNvPr>
          <p:cNvGraphicFramePr>
            <a:graphicFrameLocks noGrp="1"/>
          </p:cNvGraphicFramePr>
          <p:nvPr>
            <p:extLst>
              <p:ext uri="{D42A27DB-BD31-4B8C-83A1-F6EECF244321}">
                <p14:modId xmlns:p14="http://schemas.microsoft.com/office/powerpoint/2010/main" val="121765028"/>
              </p:ext>
            </p:extLst>
          </p:nvPr>
        </p:nvGraphicFramePr>
        <p:xfrm>
          <a:off x="3211664" y="1940422"/>
          <a:ext cx="3313665" cy="1828944"/>
        </p:xfrm>
        <a:graphic>
          <a:graphicData uri="http://schemas.openxmlformats.org/drawingml/2006/table">
            <a:tbl>
              <a:tblPr firstRow="1" bandRow="1">
                <a:tableStyleId>{5C22544A-7EE6-4342-B048-85BDC9FD1C3A}</a:tableStyleId>
              </a:tblPr>
              <a:tblGrid>
                <a:gridCol w="1225204">
                  <a:extLst>
                    <a:ext uri="{9D8B030D-6E8A-4147-A177-3AD203B41FA5}">
                      <a16:colId xmlns:a16="http://schemas.microsoft.com/office/drawing/2014/main" val="20000"/>
                    </a:ext>
                  </a:extLst>
                </a:gridCol>
                <a:gridCol w="983906">
                  <a:extLst>
                    <a:ext uri="{9D8B030D-6E8A-4147-A177-3AD203B41FA5}">
                      <a16:colId xmlns:a16="http://schemas.microsoft.com/office/drawing/2014/main" val="20001"/>
                    </a:ext>
                  </a:extLst>
                </a:gridCol>
                <a:gridCol w="1104555">
                  <a:extLst>
                    <a:ext uri="{9D8B030D-6E8A-4147-A177-3AD203B41FA5}">
                      <a16:colId xmlns:a16="http://schemas.microsoft.com/office/drawing/2014/main" val="20002"/>
                    </a:ext>
                  </a:extLst>
                </a:gridCol>
              </a:tblGrid>
              <a:tr h="222167">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solidFill>
                      <a:schemeClr val="accent1">
                        <a:lumMod val="60000"/>
                        <a:lumOff val="40000"/>
                      </a:schemeClr>
                    </a:solidFill>
                  </a:tcPr>
                </a:tc>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solidFill>
                      <a:schemeClr val="accent1">
                        <a:lumMod val="60000"/>
                        <a:lumOff val="40000"/>
                      </a:schemeClr>
                    </a:solidFill>
                  </a:tcPr>
                </a:tc>
                <a:tc>
                  <a:txBody>
                    <a:bodyPr/>
                    <a:lstStyle/>
                    <a:p>
                      <a:pPr algn="ct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Grade</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solidFill>
                      <a:schemeClr val="accent1">
                        <a:lumMod val="60000"/>
                        <a:lumOff val="40000"/>
                      </a:schemeClr>
                    </a:solidFill>
                  </a:tcPr>
                </a:tc>
                <a:extLst>
                  <a:ext uri="{0D108BD9-81ED-4DB2-BD59-A6C34878D82A}">
                    <a16:rowId xmlns:a16="http://schemas.microsoft.com/office/drawing/2014/main" val="10000"/>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92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1"/>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85</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2"/>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88</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3"/>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90</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4"/>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80</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5"/>
                  </a:ext>
                </a:extLst>
              </a:tr>
            </a:tbl>
          </a:graphicData>
        </a:graphic>
      </p:graphicFrame>
      <p:sp>
        <p:nvSpPr>
          <p:cNvPr id="11" name="矩形 10">
            <a:extLst>
              <a:ext uri="{FF2B5EF4-FFF2-40B4-BE49-F238E27FC236}">
                <a16:creationId xmlns:a16="http://schemas.microsoft.com/office/drawing/2014/main" id="{4AA6D596-75A8-4AE5-9ED4-BCB683FD6AEB}"/>
              </a:ext>
            </a:extLst>
          </p:cNvPr>
          <p:cNvSpPr/>
          <p:nvPr/>
        </p:nvSpPr>
        <p:spPr>
          <a:xfrm>
            <a:off x="2365053" y="4166732"/>
            <a:ext cx="4932761" cy="327782"/>
          </a:xfrm>
          <a:prstGeom prst="rect">
            <a:avLst/>
          </a:prstGeom>
        </p:spPr>
        <p:txBody>
          <a:bodyPr wrap="none">
            <a:spAutoFit/>
          </a:bodyPr>
          <a:lstStyle/>
          <a:p>
            <a:pPr marL="342900" lvl="1" defTabSz="685800">
              <a:lnSpc>
                <a:spcPct val="90000"/>
              </a:lnSpc>
              <a:spcBef>
                <a:spcPts val="375"/>
              </a:spcBef>
            </a:pPr>
            <a:r>
              <a:rPr lang="en-US" altLang="zh-CN" sz="1700"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π</a:t>
            </a:r>
            <a:r>
              <a:rPr lang="en-US" altLang="zh-CN" sz="1700" b="1" baseline="-30000" dirty="0" err="1">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Sno</a:t>
            </a:r>
            <a:r>
              <a:rPr lang="en-US" altLang="zh-CN" sz="1700"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700" b="1" dirty="0" err="1">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σ</a:t>
            </a:r>
            <a:r>
              <a:rPr lang="en-US" altLang="zh-CN" sz="1700" b="1" baseline="-30000" dirty="0" err="1">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Cno</a:t>
            </a:r>
            <a:r>
              <a:rPr lang="en-US" altLang="zh-CN" sz="1700" b="1" baseline="-30000"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='2' </a:t>
            </a:r>
            <a:r>
              <a:rPr lang="en-US" altLang="zh-CN" sz="1700"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(SC))</a:t>
            </a:r>
            <a:r>
              <a:rPr lang="zh-CN" altLang="en-US" sz="1700"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700"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201215121</a:t>
            </a:r>
            <a:r>
              <a:rPr lang="zh-CN" altLang="en-US" sz="1700"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700"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201215122</a:t>
            </a:r>
            <a:r>
              <a:rPr lang="zh-CN" altLang="en-US" sz="1700"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1700" b="1" dirty="0">
              <a:solidFill>
                <a:prstClr val="black"/>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 name="Rectangle 163">
            <a:extLst>
              <a:ext uri="{FF2B5EF4-FFF2-40B4-BE49-F238E27FC236}">
                <a16:creationId xmlns:a16="http://schemas.microsoft.com/office/drawing/2014/main" id="{191EBE53-9507-4A48-BF4A-3B80404D6DFD}"/>
              </a:ext>
            </a:extLst>
          </p:cNvPr>
          <p:cNvSpPr>
            <a:spLocks noChangeArrowheads="1"/>
          </p:cNvSpPr>
          <p:nvPr/>
        </p:nvSpPr>
        <p:spPr bwMode="auto">
          <a:xfrm>
            <a:off x="3280796" y="2523096"/>
            <a:ext cx="3205589" cy="315547"/>
          </a:xfrm>
          <a:prstGeom prst="rect">
            <a:avLst/>
          </a:prstGeom>
          <a:noFill/>
          <a:ln w="254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14" name="Rectangle 163">
            <a:extLst>
              <a:ext uri="{FF2B5EF4-FFF2-40B4-BE49-F238E27FC236}">
                <a16:creationId xmlns:a16="http://schemas.microsoft.com/office/drawing/2014/main" id="{514CD2C5-5125-4C04-ABED-9C156B71B53B}"/>
              </a:ext>
            </a:extLst>
          </p:cNvPr>
          <p:cNvSpPr>
            <a:spLocks noChangeArrowheads="1"/>
          </p:cNvSpPr>
          <p:nvPr/>
        </p:nvSpPr>
        <p:spPr bwMode="auto">
          <a:xfrm>
            <a:off x="3298812" y="3142040"/>
            <a:ext cx="3187572" cy="315547"/>
          </a:xfrm>
          <a:prstGeom prst="rect">
            <a:avLst/>
          </a:prstGeom>
          <a:noFill/>
          <a:ln w="254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15" name="Rectangle 166">
            <a:extLst>
              <a:ext uri="{FF2B5EF4-FFF2-40B4-BE49-F238E27FC236}">
                <a16:creationId xmlns:a16="http://schemas.microsoft.com/office/drawing/2014/main" id="{31E38734-261E-43F6-821D-A675CEE1B5CF}"/>
              </a:ext>
            </a:extLst>
          </p:cNvPr>
          <p:cNvSpPr>
            <a:spLocks noChangeArrowheads="1"/>
          </p:cNvSpPr>
          <p:nvPr/>
        </p:nvSpPr>
        <p:spPr bwMode="auto">
          <a:xfrm>
            <a:off x="3285299" y="2023218"/>
            <a:ext cx="1111028" cy="1710957"/>
          </a:xfrm>
          <a:prstGeom prst="rect">
            <a:avLst/>
          </a:prstGeom>
          <a:noFill/>
          <a:ln w="254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Tree>
    <p:extLst>
      <p:ext uri="{BB962C8B-B14F-4D97-AF65-F5344CB8AC3E}">
        <p14:creationId xmlns:p14="http://schemas.microsoft.com/office/powerpoint/2010/main" val="2670908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P spid="14" grpId="0" animBg="1"/>
      <p:bldP spid="15"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3537EB-5925-48F1-B263-20B3F197A7A7}"/>
              </a:ext>
            </a:extLst>
          </p:cNvPr>
          <p:cNvSpPr>
            <a:spLocks noGrp="1"/>
          </p:cNvSpPr>
          <p:nvPr>
            <p:ph type="title"/>
          </p:nvPr>
        </p:nvSpPr>
        <p:spPr/>
        <p:txBody>
          <a:bodyPr/>
          <a:lstStyle/>
          <a:p>
            <a:r>
              <a:rPr lang="zh-CN" altLang="en-US" dirty="0"/>
              <a:t>综合举例</a:t>
            </a:r>
          </a:p>
        </p:txBody>
      </p:sp>
      <p:sp>
        <p:nvSpPr>
          <p:cNvPr id="12" name="内容占位符 11">
            <a:extLst>
              <a:ext uri="{FF2B5EF4-FFF2-40B4-BE49-F238E27FC236}">
                <a16:creationId xmlns:a16="http://schemas.microsoft.com/office/drawing/2014/main" id="{C9D5A39C-FDA5-4FAD-9585-4B7842D07749}"/>
              </a:ext>
            </a:extLst>
          </p:cNvPr>
          <p:cNvSpPr>
            <a:spLocks noGrp="1"/>
          </p:cNvSpPr>
          <p:nvPr>
            <p:ph idx="1"/>
          </p:nvPr>
        </p:nvSpPr>
        <p:spPr/>
        <p:txBody>
          <a:bodyPr/>
          <a:lstStyle/>
          <a:p>
            <a:r>
              <a:rPr lang="zh-CN" altLang="en-US" dirty="0"/>
              <a:t>例</a:t>
            </a:r>
            <a:r>
              <a:rPr lang="en-US" altLang="zh-CN" dirty="0"/>
              <a:t>9</a:t>
            </a:r>
            <a:r>
              <a:rPr lang="zh-CN" altLang="en-US" dirty="0"/>
              <a:t>：查询选修了一门其直接先行课为</a:t>
            </a:r>
            <a:r>
              <a:rPr lang="en-US" altLang="zh-CN" dirty="0"/>
              <a:t>1</a:t>
            </a:r>
            <a:r>
              <a:rPr lang="zh-CN" altLang="en-US" dirty="0"/>
              <a:t>号课程的学生姓名。</a:t>
            </a:r>
            <a:endParaRPr lang="en-US" altLang="zh-CN" dirty="0"/>
          </a:p>
        </p:txBody>
      </p:sp>
      <p:sp>
        <p:nvSpPr>
          <p:cNvPr id="4" name="灯片编号占位符 3">
            <a:extLst>
              <a:ext uri="{FF2B5EF4-FFF2-40B4-BE49-F238E27FC236}">
                <a16:creationId xmlns:a16="http://schemas.microsoft.com/office/drawing/2014/main" id="{ECC1A61C-AFFD-4C0D-B677-9231536C8CFB}"/>
              </a:ext>
            </a:extLst>
          </p:cNvPr>
          <p:cNvSpPr>
            <a:spLocks noGrp="1"/>
          </p:cNvSpPr>
          <p:nvPr>
            <p:ph type="sldNum" sz="quarter" idx="12"/>
          </p:nvPr>
        </p:nvSpPr>
        <p:spPr/>
        <p:txBody>
          <a:bodyPr/>
          <a:lstStyle/>
          <a:p>
            <a:fld id="{47C9E101-E51D-431E-84FA-C029B8655B60}" type="slidenum">
              <a:rPr lang="zh-CN" altLang="en-US" smtClean="0"/>
              <a:pPr/>
              <a:t>86</a:t>
            </a:fld>
            <a:endParaRPr lang="zh-CN" altLang="en-US" dirty="0"/>
          </a:p>
        </p:txBody>
      </p:sp>
      <p:graphicFrame>
        <p:nvGraphicFramePr>
          <p:cNvPr id="10" name="表格 9">
            <a:extLst>
              <a:ext uri="{FF2B5EF4-FFF2-40B4-BE49-F238E27FC236}">
                <a16:creationId xmlns:a16="http://schemas.microsoft.com/office/drawing/2014/main" id="{7F254541-D87C-4CFD-BEF3-131566137788}"/>
              </a:ext>
            </a:extLst>
          </p:cNvPr>
          <p:cNvGraphicFramePr>
            <a:graphicFrameLocks noGrp="1"/>
          </p:cNvGraphicFramePr>
          <p:nvPr>
            <p:extLst>
              <p:ext uri="{D42A27DB-BD31-4B8C-83A1-F6EECF244321}">
                <p14:modId xmlns:p14="http://schemas.microsoft.com/office/powerpoint/2010/main" val="1428553790"/>
              </p:ext>
            </p:extLst>
          </p:nvPr>
        </p:nvGraphicFramePr>
        <p:xfrm>
          <a:off x="6969156" y="1754580"/>
          <a:ext cx="4376256" cy="1570340"/>
        </p:xfrm>
        <a:graphic>
          <a:graphicData uri="http://schemas.openxmlformats.org/drawingml/2006/table">
            <a:tbl>
              <a:tblPr firstRow="1" bandRow="1">
                <a:tableStyleId>{5C22544A-7EE6-4342-B048-85BDC9FD1C3A}</a:tableStyleId>
              </a:tblPr>
              <a:tblGrid>
                <a:gridCol w="1241170">
                  <a:extLst>
                    <a:ext uri="{9D8B030D-6E8A-4147-A177-3AD203B41FA5}">
                      <a16:colId xmlns:a16="http://schemas.microsoft.com/office/drawing/2014/main" val="20000"/>
                    </a:ext>
                  </a:extLst>
                </a:gridCol>
                <a:gridCol w="833321">
                  <a:extLst>
                    <a:ext uri="{9D8B030D-6E8A-4147-A177-3AD203B41FA5}">
                      <a16:colId xmlns:a16="http://schemas.microsoft.com/office/drawing/2014/main" val="20001"/>
                    </a:ext>
                  </a:extLst>
                </a:gridCol>
                <a:gridCol w="627317">
                  <a:extLst>
                    <a:ext uri="{9D8B030D-6E8A-4147-A177-3AD203B41FA5}">
                      <a16:colId xmlns:a16="http://schemas.microsoft.com/office/drawing/2014/main" val="20002"/>
                    </a:ext>
                  </a:extLst>
                </a:gridCol>
                <a:gridCol w="793812">
                  <a:extLst>
                    <a:ext uri="{9D8B030D-6E8A-4147-A177-3AD203B41FA5}">
                      <a16:colId xmlns:a16="http://schemas.microsoft.com/office/drawing/2014/main" val="20003"/>
                    </a:ext>
                  </a:extLst>
                </a:gridCol>
                <a:gridCol w="880636">
                  <a:extLst>
                    <a:ext uri="{9D8B030D-6E8A-4147-A177-3AD203B41FA5}">
                      <a16:colId xmlns:a16="http://schemas.microsoft.com/office/drawing/2014/main" val="20004"/>
                    </a:ext>
                  </a:extLst>
                </a:gridCol>
              </a:tblGrid>
              <a:tr h="351220">
                <a:tc>
                  <a:txBody>
                    <a:bodyPr/>
                    <a:lstStyle/>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Sno</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Sname</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Ssex</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Sage</a:t>
                      </a:r>
                    </a:p>
                  </a:txBody>
                  <a:tcPr marT="45710" marB="45710">
                    <a:solidFill>
                      <a:schemeClr val="accent1">
                        <a:lumMod val="60000"/>
                        <a:lumOff val="40000"/>
                      </a:schemeClr>
                    </a:solidFill>
                  </a:tcPr>
                </a:tc>
                <a:tc>
                  <a:txBody>
                    <a:bodyPr/>
                    <a:lstStyle/>
                    <a:p>
                      <a:pPr algn="ctr" eaLnBrk="1" hangingPunct="1"/>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Sdept</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extLst>
                  <a:ext uri="{0D108BD9-81ED-4DB2-BD59-A6C34878D82A}">
                    <a16:rowId xmlns:a16="http://schemas.microsoft.com/office/drawing/2014/main" val="10000"/>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李勇</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20</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1"/>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刘晨</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2"/>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201215123</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王敏</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18</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MA</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3"/>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201215124</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张立</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IS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4"/>
                  </a:ext>
                </a:extLst>
              </a:tr>
            </a:tbl>
          </a:graphicData>
        </a:graphic>
      </p:graphicFrame>
      <p:graphicFrame>
        <p:nvGraphicFramePr>
          <p:cNvPr id="16" name="表格 15">
            <a:extLst>
              <a:ext uri="{FF2B5EF4-FFF2-40B4-BE49-F238E27FC236}">
                <a16:creationId xmlns:a16="http://schemas.microsoft.com/office/drawing/2014/main" id="{10F9CF2E-F416-41E6-A568-8BA554171CF4}"/>
              </a:ext>
            </a:extLst>
          </p:cNvPr>
          <p:cNvGraphicFramePr>
            <a:graphicFrameLocks noGrp="1"/>
          </p:cNvGraphicFramePr>
          <p:nvPr>
            <p:extLst>
              <p:ext uri="{D42A27DB-BD31-4B8C-83A1-F6EECF244321}">
                <p14:modId xmlns:p14="http://schemas.microsoft.com/office/powerpoint/2010/main" val="3569252809"/>
              </p:ext>
            </p:extLst>
          </p:nvPr>
        </p:nvGraphicFramePr>
        <p:xfrm>
          <a:off x="422251" y="1757253"/>
          <a:ext cx="3533951" cy="2472876"/>
        </p:xfrm>
        <a:graphic>
          <a:graphicData uri="http://schemas.openxmlformats.org/drawingml/2006/table">
            <a:tbl>
              <a:tblPr firstRow="1" bandRow="1">
                <a:tableStyleId>{5C22544A-7EE6-4342-B048-85BDC9FD1C3A}</a:tableStyleId>
              </a:tblPr>
              <a:tblGrid>
                <a:gridCol w="813333">
                  <a:extLst>
                    <a:ext uri="{9D8B030D-6E8A-4147-A177-3AD203B41FA5}">
                      <a16:colId xmlns:a16="http://schemas.microsoft.com/office/drawing/2014/main" val="20000"/>
                    </a:ext>
                  </a:extLst>
                </a:gridCol>
                <a:gridCol w="1196300">
                  <a:extLst>
                    <a:ext uri="{9D8B030D-6E8A-4147-A177-3AD203B41FA5}">
                      <a16:colId xmlns:a16="http://schemas.microsoft.com/office/drawing/2014/main" val="20001"/>
                    </a:ext>
                  </a:extLst>
                </a:gridCol>
                <a:gridCol w="762159">
                  <a:extLst>
                    <a:ext uri="{9D8B030D-6E8A-4147-A177-3AD203B41FA5}">
                      <a16:colId xmlns:a16="http://schemas.microsoft.com/office/drawing/2014/main" val="20002"/>
                    </a:ext>
                  </a:extLst>
                </a:gridCol>
                <a:gridCol w="762159">
                  <a:extLst>
                    <a:ext uri="{9D8B030D-6E8A-4147-A177-3AD203B41FA5}">
                      <a16:colId xmlns:a16="http://schemas.microsoft.com/office/drawing/2014/main" val="20003"/>
                    </a:ext>
                  </a:extLst>
                </a:gridCol>
              </a:tblGrid>
              <a:tr h="339220">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solidFill>
                      <a:schemeClr val="accent1">
                        <a:lumMod val="60000"/>
                        <a:lumOff val="40000"/>
                      </a:schemeClr>
                    </a:solidFill>
                  </a:tcPr>
                </a:tc>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Cname</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solidFill>
                      <a:schemeClr val="accent1">
                        <a:lumMod val="60000"/>
                        <a:lumOff val="40000"/>
                      </a:schemeClr>
                    </a:solidFill>
                  </a:tcPr>
                </a:tc>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Cpno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solidFill>
                      <a:schemeClr val="accent1">
                        <a:lumMod val="60000"/>
                        <a:lumOff val="40000"/>
                      </a:schemeClr>
                    </a:solidFill>
                  </a:tcPr>
                </a:tc>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Ccredit</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solidFill>
                      <a:schemeClr val="accent1">
                        <a:lumMod val="60000"/>
                        <a:lumOff val="40000"/>
                      </a:schemeClr>
                    </a:solidFill>
                  </a:tcPr>
                </a:tc>
                <a:extLst>
                  <a:ext uri="{0D108BD9-81ED-4DB2-BD59-A6C34878D82A}">
                    <a16:rowId xmlns:a16="http://schemas.microsoft.com/office/drawing/2014/main" val="10000"/>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数据库</a:t>
                      </a: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1"/>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高等数学</a:t>
                      </a:r>
                    </a:p>
                  </a:txBody>
                  <a:tcPr marT="45724" marB="45724"/>
                </a:tc>
                <a:tc>
                  <a:txBody>
                    <a:bodyPr/>
                    <a:lstStyle/>
                    <a:p>
                      <a:pPr algn="ct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2"/>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信息系统</a:t>
                      </a: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3"/>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操作系统</a:t>
                      </a: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4"/>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数据结构</a:t>
                      </a: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7</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5"/>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计算机导论</a:t>
                      </a:r>
                    </a:p>
                  </a:txBody>
                  <a:tcPr marT="45724" marB="45724"/>
                </a:tc>
                <a:tc>
                  <a:txBody>
                    <a:bodyPr/>
                    <a:lstStyle/>
                    <a:p>
                      <a:pPr algn="ct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6"/>
                  </a:ext>
                </a:extLst>
              </a:tr>
              <a:tr h="200779">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7</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语言</a:t>
                      </a: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7"/>
                  </a:ext>
                </a:extLst>
              </a:tr>
            </a:tbl>
          </a:graphicData>
        </a:graphic>
      </p:graphicFrame>
      <p:graphicFrame>
        <p:nvGraphicFramePr>
          <p:cNvPr id="17" name="表格 16">
            <a:extLst>
              <a:ext uri="{FF2B5EF4-FFF2-40B4-BE49-F238E27FC236}">
                <a16:creationId xmlns:a16="http://schemas.microsoft.com/office/drawing/2014/main" id="{C420C524-FFDE-4C14-A8E7-C0E385F8FED6}"/>
              </a:ext>
            </a:extLst>
          </p:cNvPr>
          <p:cNvGraphicFramePr>
            <a:graphicFrameLocks noGrp="1"/>
          </p:cNvGraphicFramePr>
          <p:nvPr>
            <p:extLst>
              <p:ext uri="{D42A27DB-BD31-4B8C-83A1-F6EECF244321}">
                <p14:modId xmlns:p14="http://schemas.microsoft.com/office/powerpoint/2010/main" val="3204088159"/>
              </p:ext>
            </p:extLst>
          </p:nvPr>
        </p:nvGraphicFramePr>
        <p:xfrm>
          <a:off x="4110719" y="1756856"/>
          <a:ext cx="2578842" cy="1828944"/>
        </p:xfrm>
        <a:graphic>
          <a:graphicData uri="http://schemas.openxmlformats.org/drawingml/2006/table">
            <a:tbl>
              <a:tblPr firstRow="1" bandRow="1">
                <a:tableStyleId>{5C22544A-7EE6-4342-B048-85BDC9FD1C3A}</a:tableStyleId>
              </a:tblPr>
              <a:tblGrid>
                <a:gridCol w="1103586">
                  <a:extLst>
                    <a:ext uri="{9D8B030D-6E8A-4147-A177-3AD203B41FA5}">
                      <a16:colId xmlns:a16="http://schemas.microsoft.com/office/drawing/2014/main" val="20000"/>
                    </a:ext>
                  </a:extLst>
                </a:gridCol>
                <a:gridCol w="582612">
                  <a:extLst>
                    <a:ext uri="{9D8B030D-6E8A-4147-A177-3AD203B41FA5}">
                      <a16:colId xmlns:a16="http://schemas.microsoft.com/office/drawing/2014/main" val="20001"/>
                    </a:ext>
                  </a:extLst>
                </a:gridCol>
                <a:gridCol w="892644">
                  <a:extLst>
                    <a:ext uri="{9D8B030D-6E8A-4147-A177-3AD203B41FA5}">
                      <a16:colId xmlns:a16="http://schemas.microsoft.com/office/drawing/2014/main" val="20002"/>
                    </a:ext>
                  </a:extLst>
                </a:gridCol>
              </a:tblGrid>
              <a:tr h="222167">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solidFill>
                      <a:schemeClr val="accent1">
                        <a:lumMod val="60000"/>
                        <a:lumOff val="40000"/>
                      </a:schemeClr>
                    </a:solidFill>
                  </a:tcPr>
                </a:tc>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solidFill>
                      <a:schemeClr val="accent1">
                        <a:lumMod val="60000"/>
                        <a:lumOff val="40000"/>
                      </a:schemeClr>
                    </a:solidFill>
                  </a:tcPr>
                </a:tc>
                <a:tc>
                  <a:txBody>
                    <a:bodyPr/>
                    <a:lstStyle/>
                    <a:p>
                      <a:pPr algn="ct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Grade</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solidFill>
                      <a:schemeClr val="accent1">
                        <a:lumMod val="60000"/>
                        <a:lumOff val="40000"/>
                      </a:schemeClr>
                    </a:solidFill>
                  </a:tcPr>
                </a:tc>
                <a:extLst>
                  <a:ext uri="{0D108BD9-81ED-4DB2-BD59-A6C34878D82A}">
                    <a16:rowId xmlns:a16="http://schemas.microsoft.com/office/drawing/2014/main" val="10000"/>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92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1"/>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85</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2"/>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88</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3"/>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90</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4"/>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80</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5"/>
                  </a:ext>
                </a:extLst>
              </a:tr>
            </a:tbl>
          </a:graphicData>
        </a:graphic>
      </p:graphicFrame>
      <p:sp>
        <p:nvSpPr>
          <p:cNvPr id="18" name="Rectangle 163">
            <a:extLst>
              <a:ext uri="{FF2B5EF4-FFF2-40B4-BE49-F238E27FC236}">
                <a16:creationId xmlns:a16="http://schemas.microsoft.com/office/drawing/2014/main" id="{0E58D1F9-A2ED-4C12-824E-2AE598068020}"/>
              </a:ext>
            </a:extLst>
          </p:cNvPr>
          <p:cNvSpPr>
            <a:spLocks noChangeArrowheads="1"/>
          </p:cNvSpPr>
          <p:nvPr/>
        </p:nvSpPr>
        <p:spPr bwMode="auto">
          <a:xfrm>
            <a:off x="504700" y="2703384"/>
            <a:ext cx="3391635" cy="315547"/>
          </a:xfrm>
          <a:prstGeom prst="rect">
            <a:avLst/>
          </a:prstGeom>
          <a:noFill/>
          <a:ln w="254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22" name="Rectangle 163">
            <a:extLst>
              <a:ext uri="{FF2B5EF4-FFF2-40B4-BE49-F238E27FC236}">
                <a16:creationId xmlns:a16="http://schemas.microsoft.com/office/drawing/2014/main" id="{37C57156-090F-4AC1-8878-67718163DEE8}"/>
              </a:ext>
            </a:extLst>
          </p:cNvPr>
          <p:cNvSpPr>
            <a:spLocks noChangeArrowheads="1"/>
          </p:cNvSpPr>
          <p:nvPr/>
        </p:nvSpPr>
        <p:spPr bwMode="auto">
          <a:xfrm>
            <a:off x="4167802" y="3302310"/>
            <a:ext cx="2480742" cy="315547"/>
          </a:xfrm>
          <a:prstGeom prst="rect">
            <a:avLst/>
          </a:prstGeom>
          <a:noFill/>
          <a:ln w="254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23" name="Rectangle 163">
            <a:extLst>
              <a:ext uri="{FF2B5EF4-FFF2-40B4-BE49-F238E27FC236}">
                <a16:creationId xmlns:a16="http://schemas.microsoft.com/office/drawing/2014/main" id="{7D9AF62B-C490-43EA-A6ED-645F0D529183}"/>
              </a:ext>
            </a:extLst>
          </p:cNvPr>
          <p:cNvSpPr>
            <a:spLocks noChangeArrowheads="1"/>
          </p:cNvSpPr>
          <p:nvPr/>
        </p:nvSpPr>
        <p:spPr bwMode="auto">
          <a:xfrm>
            <a:off x="4190084" y="2687171"/>
            <a:ext cx="2453955" cy="315547"/>
          </a:xfrm>
          <a:prstGeom prst="rect">
            <a:avLst/>
          </a:prstGeom>
          <a:noFill/>
          <a:ln w="254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24" name="Rectangle 163">
            <a:extLst>
              <a:ext uri="{FF2B5EF4-FFF2-40B4-BE49-F238E27FC236}">
                <a16:creationId xmlns:a16="http://schemas.microsoft.com/office/drawing/2014/main" id="{8F26BACC-B033-45E9-8900-6C3B1B90DFED}"/>
              </a:ext>
            </a:extLst>
          </p:cNvPr>
          <p:cNvSpPr>
            <a:spLocks noChangeArrowheads="1"/>
          </p:cNvSpPr>
          <p:nvPr/>
        </p:nvSpPr>
        <p:spPr bwMode="auto">
          <a:xfrm>
            <a:off x="7011193" y="2069346"/>
            <a:ext cx="4321961" cy="315547"/>
          </a:xfrm>
          <a:prstGeom prst="rect">
            <a:avLst/>
          </a:prstGeom>
          <a:noFill/>
          <a:ln w="254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dirty="0">
              <a:solidFill>
                <a:srgbClr val="000000"/>
              </a:solidFill>
              <a:latin typeface="Arial" panose="020B0604020202020204" pitchFamily="34" charset="0"/>
              <a:ea typeface="楷体_GB2312" pitchFamily="49" charset="-122"/>
            </a:endParaRPr>
          </a:p>
        </p:txBody>
      </p:sp>
      <p:sp>
        <p:nvSpPr>
          <p:cNvPr id="25" name="Rectangle 163">
            <a:extLst>
              <a:ext uri="{FF2B5EF4-FFF2-40B4-BE49-F238E27FC236}">
                <a16:creationId xmlns:a16="http://schemas.microsoft.com/office/drawing/2014/main" id="{EE842EDF-47F0-4E46-94CA-1126B742572F}"/>
              </a:ext>
            </a:extLst>
          </p:cNvPr>
          <p:cNvSpPr>
            <a:spLocks noChangeArrowheads="1"/>
          </p:cNvSpPr>
          <p:nvPr/>
        </p:nvSpPr>
        <p:spPr bwMode="auto">
          <a:xfrm>
            <a:off x="7004975" y="2440573"/>
            <a:ext cx="4314666" cy="315547"/>
          </a:xfrm>
          <a:prstGeom prst="rect">
            <a:avLst/>
          </a:prstGeom>
          <a:noFill/>
          <a:ln w="254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26" name="Rectangle 166">
            <a:extLst>
              <a:ext uri="{FF2B5EF4-FFF2-40B4-BE49-F238E27FC236}">
                <a16:creationId xmlns:a16="http://schemas.microsoft.com/office/drawing/2014/main" id="{7F571C4A-A2B1-467B-A941-6A56219F2288}"/>
              </a:ext>
            </a:extLst>
          </p:cNvPr>
          <p:cNvSpPr>
            <a:spLocks noChangeArrowheads="1"/>
          </p:cNvSpPr>
          <p:nvPr/>
        </p:nvSpPr>
        <p:spPr bwMode="auto">
          <a:xfrm>
            <a:off x="8352806" y="1814991"/>
            <a:ext cx="589800" cy="1459732"/>
          </a:xfrm>
          <a:prstGeom prst="rect">
            <a:avLst/>
          </a:prstGeom>
          <a:noFill/>
          <a:ln w="254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grpSp>
        <p:nvGrpSpPr>
          <p:cNvPr id="27" name="组合 26">
            <a:extLst>
              <a:ext uri="{FF2B5EF4-FFF2-40B4-BE49-F238E27FC236}">
                <a16:creationId xmlns:a16="http://schemas.microsoft.com/office/drawing/2014/main" id="{1D110DB4-D5BB-49E4-9E4C-930898A1B49C}"/>
              </a:ext>
            </a:extLst>
          </p:cNvPr>
          <p:cNvGrpSpPr/>
          <p:nvPr/>
        </p:nvGrpSpPr>
        <p:grpSpPr>
          <a:xfrm>
            <a:off x="2661185" y="4551128"/>
            <a:ext cx="5857021" cy="451271"/>
            <a:chOff x="1413946" y="2693145"/>
            <a:chExt cx="5857021" cy="451271"/>
          </a:xfrm>
        </p:grpSpPr>
        <p:sp>
          <p:nvSpPr>
            <p:cNvPr id="28" name="Rectangle 24">
              <a:extLst>
                <a:ext uri="{FF2B5EF4-FFF2-40B4-BE49-F238E27FC236}">
                  <a16:creationId xmlns:a16="http://schemas.microsoft.com/office/drawing/2014/main" id="{8D4B2FC8-FC62-421E-8F36-00D2143281AF}"/>
                </a:ext>
              </a:extLst>
            </p:cNvPr>
            <p:cNvSpPr>
              <a:spLocks noChangeArrowheads="1"/>
            </p:cNvSpPr>
            <p:nvPr/>
          </p:nvSpPr>
          <p:spPr bwMode="auto">
            <a:xfrm>
              <a:off x="1413946" y="2693145"/>
              <a:ext cx="5857021" cy="451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just" fontAlgn="base">
                <a:lnSpc>
                  <a:spcPct val="110000"/>
                </a:lnSpc>
                <a:spcAft>
                  <a:spcPct val="0"/>
                </a:spcAft>
                <a:buNone/>
              </a:pPr>
              <a:r>
                <a:rPr lang="en-US" altLang="zh-CN" sz="1800" b="1" dirty="0">
                  <a:solidFill>
                    <a:srgbClr val="000000"/>
                  </a:solidFill>
                  <a:ea typeface="楷体_GB2312" pitchFamily="49" charset="-122"/>
                </a:rPr>
                <a:t>π</a:t>
              </a:r>
              <a:r>
                <a:rPr lang="en-US" altLang="zh-CN" sz="1800" b="1" baseline="-30000" dirty="0" err="1">
                  <a:solidFill>
                    <a:srgbClr val="000000"/>
                  </a:solidFill>
                  <a:ea typeface="楷体_GB2312" pitchFamily="49" charset="-122"/>
                </a:rPr>
                <a:t>Sname</a:t>
              </a:r>
              <a:r>
                <a:rPr lang="en-US" altLang="zh-CN" sz="1800" b="1" dirty="0">
                  <a:solidFill>
                    <a:srgbClr val="000000"/>
                  </a:solidFill>
                  <a:ea typeface="楷体_GB2312" pitchFamily="49" charset="-122"/>
                </a:rPr>
                <a:t>(</a:t>
              </a:r>
              <a:r>
                <a:rPr lang="en-US" altLang="zh-CN" sz="1800" b="1" dirty="0" err="1">
                  <a:solidFill>
                    <a:srgbClr val="000000"/>
                  </a:solidFill>
                  <a:ea typeface="楷体_GB2312" pitchFamily="49" charset="-122"/>
                </a:rPr>
                <a:t>σ</a:t>
              </a:r>
              <a:r>
                <a:rPr lang="en-US" altLang="zh-CN" sz="1800" b="1" baseline="-30000" dirty="0" err="1">
                  <a:solidFill>
                    <a:srgbClr val="000000"/>
                  </a:solidFill>
                  <a:ea typeface="楷体_GB2312" pitchFamily="49" charset="-122"/>
                </a:rPr>
                <a:t>Cpno</a:t>
              </a:r>
              <a:r>
                <a:rPr lang="en-US" altLang="zh-CN" sz="1800" b="1" baseline="-30000" dirty="0">
                  <a:solidFill>
                    <a:srgbClr val="000000"/>
                  </a:solidFill>
                  <a:ea typeface="楷体_GB2312" pitchFamily="49" charset="-122"/>
                </a:rPr>
                <a:t>=‘1’</a:t>
              </a:r>
              <a:r>
                <a:rPr lang="en-US" altLang="zh-CN" sz="1800" b="1" dirty="0">
                  <a:solidFill>
                    <a:srgbClr val="E02920"/>
                  </a:solidFill>
                  <a:ea typeface="楷体_GB2312" pitchFamily="49" charset="-122"/>
                </a:rPr>
                <a:t>(Course)      SC     Student</a:t>
              </a:r>
              <a:r>
                <a:rPr lang="en-US" altLang="zh-CN" sz="1800" b="1" dirty="0">
                  <a:solidFill>
                    <a:srgbClr val="000000"/>
                  </a:solidFill>
                  <a:ea typeface="楷体_GB2312" pitchFamily="49" charset="-122"/>
                </a:rPr>
                <a:t>)={</a:t>
              </a:r>
              <a:r>
                <a:rPr lang="en-US" altLang="zh-CN" sz="1600" b="1" dirty="0">
                  <a:solidFill>
                    <a:srgbClr val="000000"/>
                  </a:solidFill>
                  <a:ea typeface="楷体_GB2312" pitchFamily="49" charset="-122"/>
                </a:rPr>
                <a:t>‘</a:t>
              </a:r>
              <a:r>
                <a:rPr lang="zh-CN" altLang="en-US" sz="1600" b="1" dirty="0">
                  <a:solidFill>
                    <a:srgbClr val="000000"/>
                  </a:solidFill>
                  <a:ea typeface="楷体_GB2312" pitchFamily="49" charset="-122"/>
                </a:rPr>
                <a:t>李勇</a:t>
              </a:r>
              <a:r>
                <a:rPr lang="en-US" altLang="zh-CN" sz="1600" b="1" dirty="0">
                  <a:solidFill>
                    <a:srgbClr val="000000"/>
                  </a:solidFill>
                  <a:ea typeface="楷体_GB2312" pitchFamily="49" charset="-122"/>
                </a:rPr>
                <a:t>’, ‘</a:t>
              </a:r>
              <a:r>
                <a:rPr lang="zh-CN" altLang="en-US" sz="1600" b="1" dirty="0">
                  <a:solidFill>
                    <a:srgbClr val="000000"/>
                  </a:solidFill>
                  <a:ea typeface="楷体_GB2312" pitchFamily="49" charset="-122"/>
                </a:rPr>
                <a:t>刘晨</a:t>
              </a:r>
              <a:r>
                <a:rPr lang="en-US" altLang="zh-CN" sz="1800" b="1" dirty="0">
                  <a:solidFill>
                    <a:srgbClr val="000000"/>
                  </a:solidFill>
                  <a:ea typeface="楷体_GB2312" pitchFamily="49" charset="-122"/>
                </a:rPr>
                <a:t>’}</a:t>
              </a:r>
            </a:p>
            <a:p>
              <a:pPr fontAlgn="base">
                <a:lnSpc>
                  <a:spcPct val="90000"/>
                </a:lnSpc>
                <a:spcAft>
                  <a:spcPct val="0"/>
                </a:spcAft>
                <a:buFont typeface="Wingdings" panose="05000000000000000000" pitchFamily="2" charset="2"/>
                <a:buNone/>
              </a:pPr>
              <a:endParaRPr lang="en-US" altLang="zh-CN" sz="1800" b="1" dirty="0">
                <a:solidFill>
                  <a:srgbClr val="000000"/>
                </a:solidFill>
                <a:ea typeface="楷体_GB2312" pitchFamily="49" charset="-122"/>
              </a:endParaRPr>
            </a:p>
            <a:p>
              <a:pPr algn="just" fontAlgn="base">
                <a:lnSpc>
                  <a:spcPct val="90000"/>
                </a:lnSpc>
                <a:spcAft>
                  <a:spcPct val="0"/>
                </a:spcAft>
                <a:buFont typeface="Wingdings" panose="05000000000000000000" pitchFamily="2" charset="2"/>
                <a:buNone/>
              </a:pPr>
              <a:endParaRPr lang="en-US" altLang="zh-CN" sz="1800" b="1" dirty="0">
                <a:solidFill>
                  <a:srgbClr val="000000"/>
                </a:solidFill>
                <a:latin typeface="Arial" panose="020B0604020202020204" pitchFamily="34" charset="0"/>
                <a:ea typeface="楷体_GB2312" pitchFamily="49" charset="-122"/>
              </a:endParaRPr>
            </a:p>
          </p:txBody>
        </p:sp>
        <p:sp>
          <p:nvSpPr>
            <p:cNvPr id="29" name="AutoShape 26">
              <a:extLst>
                <a:ext uri="{FF2B5EF4-FFF2-40B4-BE49-F238E27FC236}">
                  <a16:creationId xmlns:a16="http://schemas.microsoft.com/office/drawing/2014/main" id="{49A159A1-EEF5-4C71-8045-E630C85ECC2D}"/>
                </a:ext>
              </a:extLst>
            </p:cNvPr>
            <p:cNvSpPr>
              <a:spLocks noChangeArrowheads="1"/>
            </p:cNvSpPr>
            <p:nvPr/>
          </p:nvSpPr>
          <p:spPr bwMode="auto">
            <a:xfrm rot="16200000" flipV="1">
              <a:off x="3820607" y="2788552"/>
              <a:ext cx="110906" cy="212094"/>
            </a:xfrm>
            <a:prstGeom prst="flowChartCollate">
              <a:avLst/>
            </a:prstGeom>
            <a:solidFill>
              <a:srgbClr val="FFFFFF"/>
            </a:solidFill>
            <a:ln w="6350">
              <a:solidFill>
                <a:srgbClr val="000000"/>
              </a:solidFill>
              <a:miter lim="800000"/>
              <a:headEnd/>
              <a:tailEnd/>
            </a:ln>
          </p:spPr>
          <p:txBody>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fontAlgn="base">
                <a:spcBef>
                  <a:spcPct val="0"/>
                </a:spcBef>
                <a:spcAft>
                  <a:spcPct val="0"/>
                </a:spcAft>
                <a:buClrTx/>
                <a:buSzTx/>
                <a:buFontTx/>
                <a:buNone/>
              </a:pPr>
              <a:endParaRPr lang="zh-CN" altLang="en-US" sz="1800" b="1">
                <a:solidFill>
                  <a:srgbClr val="000000"/>
                </a:solidFill>
                <a:latin typeface="Arial" panose="020B0604020202020204" pitchFamily="34" charset="0"/>
                <a:ea typeface="楷体_GB2312" pitchFamily="49" charset="-122"/>
              </a:endParaRPr>
            </a:p>
          </p:txBody>
        </p:sp>
        <p:sp>
          <p:nvSpPr>
            <p:cNvPr id="30" name="AutoShape 26">
              <a:extLst>
                <a:ext uri="{FF2B5EF4-FFF2-40B4-BE49-F238E27FC236}">
                  <a16:creationId xmlns:a16="http://schemas.microsoft.com/office/drawing/2014/main" id="{F11C5B4C-BBC6-441C-9E0E-6FA89D26185C}"/>
                </a:ext>
              </a:extLst>
            </p:cNvPr>
            <p:cNvSpPr>
              <a:spLocks noChangeArrowheads="1"/>
            </p:cNvSpPr>
            <p:nvPr/>
          </p:nvSpPr>
          <p:spPr bwMode="auto">
            <a:xfrm rot="16200000" flipV="1">
              <a:off x="4438496" y="2788551"/>
              <a:ext cx="110908" cy="212093"/>
            </a:xfrm>
            <a:prstGeom prst="flowChartCollate">
              <a:avLst/>
            </a:prstGeom>
            <a:solidFill>
              <a:srgbClr val="FFFFFF"/>
            </a:solidFill>
            <a:ln w="6350">
              <a:solidFill>
                <a:srgbClr val="000000"/>
              </a:solidFill>
              <a:miter lim="800000"/>
              <a:headEnd/>
              <a:tailEnd/>
            </a:ln>
          </p:spPr>
          <p:txBody>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fontAlgn="base">
                <a:spcBef>
                  <a:spcPct val="0"/>
                </a:spcBef>
                <a:spcAft>
                  <a:spcPct val="0"/>
                </a:spcAft>
                <a:buClrTx/>
                <a:buSzTx/>
                <a:buFontTx/>
                <a:buNone/>
              </a:pPr>
              <a:endParaRPr lang="zh-CN" altLang="en-US" sz="1800" b="1">
                <a:solidFill>
                  <a:srgbClr val="000000"/>
                </a:solidFill>
                <a:latin typeface="Arial" panose="020B0604020202020204" pitchFamily="34" charset="0"/>
                <a:ea typeface="楷体_GB2312" pitchFamily="49" charset="-122"/>
              </a:endParaRPr>
            </a:p>
          </p:txBody>
        </p:sp>
      </p:grpSp>
      <p:grpSp>
        <p:nvGrpSpPr>
          <p:cNvPr id="31" name="组合 30">
            <a:extLst>
              <a:ext uri="{FF2B5EF4-FFF2-40B4-BE49-F238E27FC236}">
                <a16:creationId xmlns:a16="http://schemas.microsoft.com/office/drawing/2014/main" id="{6C5A6C38-488C-4891-8AC4-CB914840A018}"/>
              </a:ext>
            </a:extLst>
          </p:cNvPr>
          <p:cNvGrpSpPr>
            <a:grpSpLocks/>
          </p:cNvGrpSpPr>
          <p:nvPr/>
        </p:nvGrpSpPr>
        <p:grpSpPr bwMode="auto">
          <a:xfrm>
            <a:off x="2661185" y="5107453"/>
            <a:ext cx="5285435" cy="430518"/>
            <a:chOff x="779712" y="3557066"/>
            <a:chExt cx="6009945" cy="430518"/>
          </a:xfrm>
        </p:grpSpPr>
        <p:sp>
          <p:nvSpPr>
            <p:cNvPr id="32" name="Rectangle 31">
              <a:extLst>
                <a:ext uri="{FF2B5EF4-FFF2-40B4-BE49-F238E27FC236}">
                  <a16:creationId xmlns:a16="http://schemas.microsoft.com/office/drawing/2014/main" id="{09869113-D7B6-4F0C-BBE2-325FC304E892}"/>
                </a:ext>
              </a:extLst>
            </p:cNvPr>
            <p:cNvSpPr>
              <a:spLocks noChangeArrowheads="1"/>
            </p:cNvSpPr>
            <p:nvPr/>
          </p:nvSpPr>
          <p:spPr bwMode="auto">
            <a:xfrm>
              <a:off x="779712" y="3557066"/>
              <a:ext cx="6009945" cy="430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just" eaLnBrk="1" hangingPunct="1">
                <a:lnSpc>
                  <a:spcPct val="110000"/>
                </a:lnSpc>
                <a:buFont typeface="Wingdings" panose="05000000000000000000" pitchFamily="2" charset="2"/>
                <a:buNone/>
              </a:pPr>
              <a:r>
                <a:rPr lang="en-US" altLang="zh-CN" sz="1800" b="1" dirty="0">
                  <a:solidFill>
                    <a:srgbClr val="000000"/>
                  </a:solidFill>
                  <a:ea typeface="楷体_GB2312" pitchFamily="49" charset="-122"/>
                </a:rPr>
                <a:t>π</a:t>
              </a:r>
              <a:r>
                <a:rPr lang="en-US" altLang="zh-CN" sz="1800" b="1" baseline="-30000" dirty="0" err="1">
                  <a:solidFill>
                    <a:srgbClr val="000000"/>
                  </a:solidFill>
                  <a:ea typeface="楷体_GB2312" pitchFamily="49" charset="-122"/>
                </a:rPr>
                <a:t>Sname</a:t>
              </a:r>
              <a:r>
                <a:rPr lang="en-US" altLang="zh-CN" sz="1800" b="1" dirty="0">
                  <a:solidFill>
                    <a:srgbClr val="000000"/>
                  </a:solidFill>
                  <a:ea typeface="楷体_GB2312" pitchFamily="49" charset="-122"/>
                </a:rPr>
                <a:t>(</a:t>
              </a:r>
              <a:r>
                <a:rPr lang="en-US" altLang="zh-CN" sz="1800" b="1" dirty="0" err="1">
                  <a:solidFill>
                    <a:srgbClr val="E02920"/>
                  </a:solidFill>
                  <a:ea typeface="楷体_GB2312" pitchFamily="49" charset="-122"/>
                </a:rPr>
                <a:t>σ</a:t>
              </a:r>
              <a:r>
                <a:rPr lang="en-US" altLang="zh-CN" sz="1800" b="1" baseline="-30000" dirty="0" err="1">
                  <a:solidFill>
                    <a:srgbClr val="E02920"/>
                  </a:solidFill>
                  <a:ea typeface="楷体_GB2312" pitchFamily="49" charset="-122"/>
                </a:rPr>
                <a:t>Cpno</a:t>
              </a:r>
              <a:r>
                <a:rPr lang="en-US" altLang="zh-CN" sz="1800" b="1" baseline="-30000" dirty="0">
                  <a:solidFill>
                    <a:srgbClr val="E02920"/>
                  </a:solidFill>
                  <a:ea typeface="楷体_GB2312" pitchFamily="49" charset="-122"/>
                </a:rPr>
                <a:t>=‘1'</a:t>
              </a:r>
              <a:r>
                <a:rPr lang="en-US" altLang="zh-CN" sz="1800" b="1" dirty="0">
                  <a:solidFill>
                    <a:srgbClr val="E02920"/>
                  </a:solidFill>
                  <a:ea typeface="楷体_GB2312" pitchFamily="49" charset="-122"/>
                </a:rPr>
                <a:t>(Course)</a:t>
              </a:r>
              <a:r>
                <a:rPr lang="en-US" altLang="zh-CN" sz="1800" b="1" dirty="0">
                  <a:solidFill>
                    <a:srgbClr val="000000"/>
                  </a:solidFill>
                  <a:ea typeface="楷体_GB2312" pitchFamily="49" charset="-122"/>
                </a:rPr>
                <a:t>      SC     π</a:t>
              </a:r>
              <a:r>
                <a:rPr lang="en-US" altLang="zh-CN" sz="1800" b="1" baseline="-30000" dirty="0" err="1">
                  <a:solidFill>
                    <a:srgbClr val="000000"/>
                  </a:solidFill>
                  <a:ea typeface="楷体_GB2312" pitchFamily="49" charset="-122"/>
                </a:rPr>
                <a:t>Sno</a:t>
              </a:r>
              <a:r>
                <a:rPr lang="zh-CN" altLang="en-US" sz="1800" b="1" baseline="-30000" dirty="0">
                  <a:solidFill>
                    <a:srgbClr val="000000"/>
                  </a:solidFill>
                  <a:latin typeface="微软雅黑" panose="020B0503020204020204" pitchFamily="34" charset="-122"/>
                </a:rPr>
                <a:t>，</a:t>
              </a:r>
              <a:r>
                <a:rPr lang="en-US" altLang="zh-CN" sz="1800" b="1" baseline="-30000" dirty="0" err="1">
                  <a:solidFill>
                    <a:srgbClr val="000000"/>
                  </a:solidFill>
                  <a:ea typeface="楷体_GB2312" pitchFamily="49" charset="-122"/>
                </a:rPr>
                <a:t>Sname</a:t>
              </a:r>
              <a:r>
                <a:rPr lang="en-US" altLang="zh-CN" sz="1800" b="1" dirty="0">
                  <a:solidFill>
                    <a:srgbClr val="000000"/>
                  </a:solidFill>
                  <a:ea typeface="楷体_GB2312" pitchFamily="49" charset="-122"/>
                </a:rPr>
                <a:t>(Student))</a:t>
              </a:r>
            </a:p>
            <a:p>
              <a:pPr algn="just" eaLnBrk="1" hangingPunct="1">
                <a:lnSpc>
                  <a:spcPct val="90000"/>
                </a:lnSpc>
                <a:buFont typeface="Wingdings" panose="05000000000000000000" pitchFamily="2" charset="2"/>
                <a:buNone/>
              </a:pPr>
              <a:endParaRPr lang="en-US" altLang="zh-CN" sz="1800" b="1" dirty="0">
                <a:solidFill>
                  <a:srgbClr val="000000"/>
                </a:solidFill>
                <a:latin typeface="Arial" panose="020B0604020202020204" pitchFamily="34" charset="0"/>
                <a:ea typeface="楷体_GB2312" pitchFamily="49" charset="-122"/>
              </a:endParaRPr>
            </a:p>
          </p:txBody>
        </p:sp>
        <p:sp>
          <p:nvSpPr>
            <p:cNvPr id="33" name="AutoShape 26">
              <a:extLst>
                <a:ext uri="{FF2B5EF4-FFF2-40B4-BE49-F238E27FC236}">
                  <a16:creationId xmlns:a16="http://schemas.microsoft.com/office/drawing/2014/main" id="{5F3845F9-F188-4FAE-8C3F-19F852A448BB}"/>
                </a:ext>
              </a:extLst>
            </p:cNvPr>
            <p:cNvSpPr>
              <a:spLocks noChangeArrowheads="1"/>
            </p:cNvSpPr>
            <p:nvPr/>
          </p:nvSpPr>
          <p:spPr bwMode="auto">
            <a:xfrm rot="16200000" flipV="1">
              <a:off x="3559649" y="3604623"/>
              <a:ext cx="124662" cy="295474"/>
            </a:xfrm>
            <a:prstGeom prst="flowChartCollate">
              <a:avLst/>
            </a:prstGeom>
            <a:solidFill>
              <a:srgbClr val="FFFFFF"/>
            </a:solidFill>
            <a:ln w="6350">
              <a:solidFill>
                <a:srgbClr val="000000"/>
              </a:solidFill>
              <a:miter lim="800000"/>
              <a:headEnd/>
              <a:tailEnd/>
            </a:ln>
          </p:spPr>
          <p:txBody>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b="1">
                <a:solidFill>
                  <a:srgbClr val="000000"/>
                </a:solidFill>
                <a:latin typeface="Arial" panose="020B0604020202020204" pitchFamily="34" charset="0"/>
                <a:ea typeface="楷体_GB2312" pitchFamily="49" charset="-122"/>
              </a:endParaRPr>
            </a:p>
          </p:txBody>
        </p:sp>
        <p:sp>
          <p:nvSpPr>
            <p:cNvPr id="34" name="AutoShape 26">
              <a:extLst>
                <a:ext uri="{FF2B5EF4-FFF2-40B4-BE49-F238E27FC236}">
                  <a16:creationId xmlns:a16="http://schemas.microsoft.com/office/drawing/2014/main" id="{DC59F1F2-3A08-4B79-B6E4-0E4F9086632C}"/>
                </a:ext>
              </a:extLst>
            </p:cNvPr>
            <p:cNvSpPr>
              <a:spLocks noChangeArrowheads="1"/>
            </p:cNvSpPr>
            <p:nvPr/>
          </p:nvSpPr>
          <p:spPr bwMode="auto">
            <a:xfrm rot="16200000" flipV="1">
              <a:off x="4226572" y="3636943"/>
              <a:ext cx="113181" cy="242314"/>
            </a:xfrm>
            <a:prstGeom prst="flowChartCollate">
              <a:avLst/>
            </a:prstGeom>
            <a:solidFill>
              <a:srgbClr val="FFFFFF"/>
            </a:solidFill>
            <a:ln w="6350">
              <a:solidFill>
                <a:srgbClr val="000000"/>
              </a:solidFill>
              <a:miter lim="800000"/>
              <a:headEnd/>
              <a:tailEnd/>
            </a:ln>
          </p:spPr>
          <p:txBody>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b="1">
                <a:solidFill>
                  <a:srgbClr val="000000"/>
                </a:solidFill>
                <a:latin typeface="Arial" panose="020B0604020202020204" pitchFamily="34" charset="0"/>
                <a:ea typeface="楷体_GB2312" pitchFamily="49" charset="-122"/>
              </a:endParaRPr>
            </a:p>
          </p:txBody>
        </p:sp>
      </p:grpSp>
      <p:grpSp>
        <p:nvGrpSpPr>
          <p:cNvPr id="35" name="组合 34">
            <a:extLst>
              <a:ext uri="{FF2B5EF4-FFF2-40B4-BE49-F238E27FC236}">
                <a16:creationId xmlns:a16="http://schemas.microsoft.com/office/drawing/2014/main" id="{302C627C-38A7-4A58-ABD3-697C31E22568}"/>
              </a:ext>
            </a:extLst>
          </p:cNvPr>
          <p:cNvGrpSpPr>
            <a:grpSpLocks/>
          </p:cNvGrpSpPr>
          <p:nvPr/>
        </p:nvGrpSpPr>
        <p:grpSpPr bwMode="auto">
          <a:xfrm>
            <a:off x="2661185" y="5643025"/>
            <a:ext cx="6153182" cy="353966"/>
            <a:chOff x="745805" y="4153546"/>
            <a:chExt cx="6125190" cy="792163"/>
          </a:xfrm>
        </p:grpSpPr>
        <p:sp>
          <p:nvSpPr>
            <p:cNvPr id="36" name="Rectangle 42">
              <a:extLst>
                <a:ext uri="{FF2B5EF4-FFF2-40B4-BE49-F238E27FC236}">
                  <a16:creationId xmlns:a16="http://schemas.microsoft.com/office/drawing/2014/main" id="{10ACEE4F-898C-4F91-AEC9-CDD3E7672D69}"/>
                </a:ext>
              </a:extLst>
            </p:cNvPr>
            <p:cNvSpPr>
              <a:spLocks noChangeArrowheads="1"/>
            </p:cNvSpPr>
            <p:nvPr/>
          </p:nvSpPr>
          <p:spPr bwMode="auto">
            <a:xfrm>
              <a:off x="745805" y="4153546"/>
              <a:ext cx="612519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algn="just" eaLnBrk="1" hangingPunct="1">
                <a:lnSpc>
                  <a:spcPct val="90000"/>
                </a:lnSpc>
                <a:buFont typeface="Wingdings" panose="05000000000000000000" pitchFamily="2" charset="2"/>
                <a:buNone/>
              </a:pPr>
              <a:r>
                <a:rPr lang="en-US" altLang="zh-CN" sz="1800" b="1" dirty="0">
                  <a:solidFill>
                    <a:srgbClr val="000000"/>
                  </a:solidFill>
                  <a:ea typeface="楷体_GB2312" pitchFamily="49" charset="-122"/>
                </a:rPr>
                <a:t>π</a:t>
              </a:r>
              <a:r>
                <a:rPr lang="en-US" altLang="zh-CN" sz="1800" b="1" baseline="-30000" dirty="0" err="1">
                  <a:solidFill>
                    <a:srgbClr val="000000"/>
                  </a:solidFill>
                  <a:ea typeface="楷体_GB2312" pitchFamily="49" charset="-122"/>
                </a:rPr>
                <a:t>Sname</a:t>
              </a:r>
              <a:r>
                <a:rPr lang="en-US" altLang="zh-CN" sz="1800" b="1" baseline="-30000" dirty="0">
                  <a:solidFill>
                    <a:srgbClr val="000000"/>
                  </a:solidFill>
                  <a:ea typeface="楷体_GB2312" pitchFamily="49" charset="-122"/>
                </a:rPr>
                <a:t> </a:t>
              </a:r>
              <a:r>
                <a:rPr lang="en-US" altLang="zh-CN" sz="1800" b="1" dirty="0">
                  <a:solidFill>
                    <a:srgbClr val="000000"/>
                  </a:solidFill>
                  <a:ea typeface="楷体_GB2312" pitchFamily="49" charset="-122"/>
                </a:rPr>
                <a:t>(π</a:t>
              </a:r>
              <a:r>
                <a:rPr lang="en-US" altLang="zh-CN" sz="1800" b="1" baseline="-30000" dirty="0" err="1">
                  <a:solidFill>
                    <a:srgbClr val="000000"/>
                  </a:solidFill>
                  <a:ea typeface="楷体_GB2312" pitchFamily="49" charset="-122"/>
                </a:rPr>
                <a:t>Sno</a:t>
              </a:r>
              <a:r>
                <a:rPr lang="en-US" altLang="zh-CN" sz="1800" b="1" baseline="-30000" dirty="0">
                  <a:solidFill>
                    <a:srgbClr val="000000"/>
                  </a:solidFill>
                  <a:ea typeface="楷体_GB2312" pitchFamily="49" charset="-122"/>
                </a:rPr>
                <a:t> </a:t>
              </a:r>
              <a:r>
                <a:rPr lang="en-US" altLang="zh-CN" sz="1800" b="1" dirty="0">
                  <a:solidFill>
                    <a:srgbClr val="E02920"/>
                  </a:solidFill>
                  <a:ea typeface="楷体_GB2312" pitchFamily="49" charset="-122"/>
                </a:rPr>
                <a:t>(</a:t>
              </a:r>
              <a:r>
                <a:rPr lang="en-US" altLang="zh-CN" sz="1800" b="1" dirty="0" err="1">
                  <a:solidFill>
                    <a:srgbClr val="E02920"/>
                  </a:solidFill>
                  <a:ea typeface="楷体_GB2312" pitchFamily="49" charset="-122"/>
                </a:rPr>
                <a:t>σ</a:t>
              </a:r>
              <a:r>
                <a:rPr lang="en-US" altLang="zh-CN" sz="1800" b="1" baseline="-30000" dirty="0" err="1">
                  <a:solidFill>
                    <a:srgbClr val="E02920"/>
                  </a:solidFill>
                  <a:ea typeface="楷体_GB2312" pitchFamily="49" charset="-122"/>
                </a:rPr>
                <a:t>Cpno</a:t>
              </a:r>
              <a:r>
                <a:rPr lang="en-US" altLang="zh-CN" sz="1800" b="1" baseline="-30000" dirty="0">
                  <a:solidFill>
                    <a:srgbClr val="E02920"/>
                  </a:solidFill>
                  <a:ea typeface="楷体_GB2312" pitchFamily="49" charset="-122"/>
                </a:rPr>
                <a:t>=‘1' </a:t>
              </a:r>
              <a:r>
                <a:rPr lang="en-US" altLang="zh-CN" sz="1800" b="1" dirty="0">
                  <a:solidFill>
                    <a:srgbClr val="E02920"/>
                  </a:solidFill>
                  <a:ea typeface="楷体_GB2312" pitchFamily="49" charset="-122"/>
                </a:rPr>
                <a:t>(Course)     SC) </a:t>
              </a:r>
              <a:r>
                <a:rPr lang="en-US" altLang="zh-CN" sz="1800" b="1" dirty="0">
                  <a:solidFill>
                    <a:srgbClr val="000000"/>
                  </a:solidFill>
                  <a:ea typeface="楷体_GB2312" pitchFamily="49" charset="-122"/>
                </a:rPr>
                <a:t>    π</a:t>
              </a:r>
              <a:r>
                <a:rPr lang="en-US" altLang="zh-CN" sz="1800" b="1" baseline="-30000" dirty="0" err="1">
                  <a:solidFill>
                    <a:srgbClr val="000000"/>
                  </a:solidFill>
                  <a:ea typeface="楷体_GB2312" pitchFamily="49" charset="-122"/>
                </a:rPr>
                <a:t>Sno</a:t>
              </a:r>
              <a:r>
                <a:rPr lang="zh-CN" altLang="en-US" sz="1800" b="1" baseline="-30000" dirty="0">
                  <a:solidFill>
                    <a:srgbClr val="000000"/>
                  </a:solidFill>
                  <a:latin typeface="微软雅黑" panose="020B0503020204020204" pitchFamily="34" charset="-122"/>
                </a:rPr>
                <a:t>，</a:t>
              </a:r>
              <a:r>
                <a:rPr lang="en-US" altLang="zh-CN" sz="1800" b="1" baseline="-30000" dirty="0" err="1">
                  <a:solidFill>
                    <a:srgbClr val="000000"/>
                  </a:solidFill>
                  <a:ea typeface="楷体_GB2312" pitchFamily="49" charset="-122"/>
                </a:rPr>
                <a:t>Sname</a:t>
              </a:r>
              <a:r>
                <a:rPr lang="en-US" altLang="zh-CN" sz="1800" b="1" baseline="-30000" dirty="0">
                  <a:solidFill>
                    <a:srgbClr val="000000"/>
                  </a:solidFill>
                  <a:ea typeface="楷体_GB2312" pitchFamily="49" charset="-122"/>
                </a:rPr>
                <a:t> </a:t>
              </a:r>
              <a:r>
                <a:rPr lang="en-US" altLang="zh-CN" sz="1800" b="1" dirty="0">
                  <a:solidFill>
                    <a:srgbClr val="000000"/>
                  </a:solidFill>
                  <a:ea typeface="楷体_GB2312" pitchFamily="49" charset="-122"/>
                </a:rPr>
                <a:t>(Student))</a:t>
              </a:r>
              <a:r>
                <a:rPr lang="en-US" altLang="zh-CN" sz="1800" b="1" dirty="0">
                  <a:solidFill>
                    <a:srgbClr val="000000"/>
                  </a:solidFill>
                  <a:ea typeface="黑体" panose="02010609060101010101" pitchFamily="49" charset="-122"/>
                </a:rPr>
                <a:t> </a:t>
              </a:r>
              <a:endParaRPr lang="en-US" altLang="zh-CN" sz="1800" b="1" dirty="0">
                <a:solidFill>
                  <a:srgbClr val="000000"/>
                </a:solidFill>
                <a:ea typeface="楷体_GB2312" pitchFamily="49" charset="-122"/>
              </a:endParaRPr>
            </a:p>
            <a:p>
              <a:pPr algn="just" eaLnBrk="1" hangingPunct="1">
                <a:lnSpc>
                  <a:spcPct val="90000"/>
                </a:lnSpc>
                <a:buFont typeface="Wingdings" panose="05000000000000000000" pitchFamily="2" charset="2"/>
                <a:buNone/>
              </a:pPr>
              <a:endParaRPr lang="en-US" altLang="zh-CN" sz="1800" b="1" dirty="0">
                <a:solidFill>
                  <a:srgbClr val="000000"/>
                </a:solidFill>
                <a:ea typeface="楷体_GB2312" pitchFamily="49" charset="-122"/>
              </a:endParaRPr>
            </a:p>
          </p:txBody>
        </p:sp>
        <p:sp>
          <p:nvSpPr>
            <p:cNvPr id="37" name="AutoShape 26">
              <a:extLst>
                <a:ext uri="{FF2B5EF4-FFF2-40B4-BE49-F238E27FC236}">
                  <a16:creationId xmlns:a16="http://schemas.microsoft.com/office/drawing/2014/main" id="{A1EE27AD-02DC-4D62-8E15-BFD0A8AAEE2F}"/>
                </a:ext>
              </a:extLst>
            </p:cNvPr>
            <p:cNvSpPr>
              <a:spLocks noChangeArrowheads="1"/>
            </p:cNvSpPr>
            <p:nvPr/>
          </p:nvSpPr>
          <p:spPr bwMode="auto">
            <a:xfrm rot="16200000" flipV="1">
              <a:off x="3551212" y="4468803"/>
              <a:ext cx="326407" cy="187970"/>
            </a:xfrm>
            <a:prstGeom prst="flowChartCollate">
              <a:avLst/>
            </a:prstGeom>
            <a:solidFill>
              <a:srgbClr val="FFFFFF"/>
            </a:solidFill>
            <a:ln w="6350">
              <a:solidFill>
                <a:srgbClr val="000000"/>
              </a:solidFill>
              <a:miter lim="800000"/>
              <a:headEnd/>
              <a:tailEnd/>
            </a:ln>
          </p:spPr>
          <p:txBody>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b="1">
                <a:solidFill>
                  <a:srgbClr val="000000"/>
                </a:solidFill>
                <a:latin typeface="Arial" panose="020B0604020202020204" pitchFamily="34" charset="0"/>
                <a:ea typeface="楷体_GB2312" pitchFamily="49" charset="-122"/>
              </a:endParaRPr>
            </a:p>
          </p:txBody>
        </p:sp>
        <p:sp>
          <p:nvSpPr>
            <p:cNvPr id="38" name="AutoShape 26">
              <a:extLst>
                <a:ext uri="{FF2B5EF4-FFF2-40B4-BE49-F238E27FC236}">
                  <a16:creationId xmlns:a16="http://schemas.microsoft.com/office/drawing/2014/main" id="{067C620B-222E-429B-B0C6-DDB9308C9C91}"/>
                </a:ext>
              </a:extLst>
            </p:cNvPr>
            <p:cNvSpPr>
              <a:spLocks noChangeArrowheads="1"/>
            </p:cNvSpPr>
            <p:nvPr/>
          </p:nvSpPr>
          <p:spPr bwMode="auto">
            <a:xfrm rot="16200000" flipV="1">
              <a:off x="4214067" y="4484149"/>
              <a:ext cx="326411" cy="187970"/>
            </a:xfrm>
            <a:prstGeom prst="flowChartCollate">
              <a:avLst/>
            </a:prstGeom>
            <a:solidFill>
              <a:srgbClr val="FFFFFF"/>
            </a:solidFill>
            <a:ln w="6350">
              <a:solidFill>
                <a:srgbClr val="000000"/>
              </a:solidFill>
              <a:miter lim="800000"/>
              <a:headEnd/>
              <a:tailEnd/>
            </a:ln>
          </p:spPr>
          <p:txBody>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b="1">
                <a:solidFill>
                  <a:srgbClr val="000000"/>
                </a:solidFill>
                <a:latin typeface="Arial" panose="020B0604020202020204" pitchFamily="34" charset="0"/>
                <a:ea typeface="楷体_GB2312" pitchFamily="49" charset="-122"/>
              </a:endParaRPr>
            </a:p>
          </p:txBody>
        </p:sp>
      </p:grpSp>
    </p:spTree>
    <p:extLst>
      <p:ext uri="{BB962C8B-B14F-4D97-AF65-F5344CB8AC3E}">
        <p14:creationId xmlns:p14="http://schemas.microsoft.com/office/powerpoint/2010/main" val="1936052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P spid="23" grpId="0" animBg="1"/>
      <p:bldP spid="24" grpId="0" animBg="1"/>
      <p:bldP spid="25" grpId="0" animBg="1"/>
      <p:bldP spid="26"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3537EB-5925-48F1-B263-20B3F197A7A7}"/>
              </a:ext>
            </a:extLst>
          </p:cNvPr>
          <p:cNvSpPr>
            <a:spLocks noGrp="1"/>
          </p:cNvSpPr>
          <p:nvPr>
            <p:ph type="title"/>
          </p:nvPr>
        </p:nvSpPr>
        <p:spPr/>
        <p:txBody>
          <a:bodyPr/>
          <a:lstStyle/>
          <a:p>
            <a:r>
              <a:rPr lang="zh-CN" altLang="en-US" dirty="0"/>
              <a:t>综合举例</a:t>
            </a:r>
          </a:p>
        </p:txBody>
      </p:sp>
      <p:sp>
        <p:nvSpPr>
          <p:cNvPr id="12" name="内容占位符 11">
            <a:extLst>
              <a:ext uri="{FF2B5EF4-FFF2-40B4-BE49-F238E27FC236}">
                <a16:creationId xmlns:a16="http://schemas.microsoft.com/office/drawing/2014/main" id="{C9D5A39C-FDA5-4FAD-9585-4B7842D07749}"/>
              </a:ext>
            </a:extLst>
          </p:cNvPr>
          <p:cNvSpPr>
            <a:spLocks noGrp="1"/>
          </p:cNvSpPr>
          <p:nvPr>
            <p:ph idx="1"/>
          </p:nvPr>
        </p:nvSpPr>
        <p:spPr/>
        <p:txBody>
          <a:bodyPr/>
          <a:lstStyle/>
          <a:p>
            <a:r>
              <a:rPr lang="zh-CN" altLang="en-US" dirty="0"/>
              <a:t>例</a:t>
            </a:r>
            <a:r>
              <a:rPr lang="en-US" altLang="zh-CN" dirty="0"/>
              <a:t>10</a:t>
            </a:r>
            <a:r>
              <a:rPr lang="zh-CN" altLang="en-US" dirty="0"/>
              <a:t>：查询选修了全部课程的学生学号和姓名。</a:t>
            </a:r>
          </a:p>
          <a:p>
            <a:pPr marL="0" indent="0">
              <a:buNone/>
            </a:pPr>
            <a:endParaRPr lang="zh-CN" altLang="en-US" dirty="0"/>
          </a:p>
        </p:txBody>
      </p:sp>
      <p:sp>
        <p:nvSpPr>
          <p:cNvPr id="4" name="灯片编号占位符 3">
            <a:extLst>
              <a:ext uri="{FF2B5EF4-FFF2-40B4-BE49-F238E27FC236}">
                <a16:creationId xmlns:a16="http://schemas.microsoft.com/office/drawing/2014/main" id="{ECC1A61C-AFFD-4C0D-B677-9231536C8CFB}"/>
              </a:ext>
            </a:extLst>
          </p:cNvPr>
          <p:cNvSpPr>
            <a:spLocks noGrp="1"/>
          </p:cNvSpPr>
          <p:nvPr>
            <p:ph type="sldNum" sz="quarter" idx="12"/>
          </p:nvPr>
        </p:nvSpPr>
        <p:spPr/>
        <p:txBody>
          <a:bodyPr/>
          <a:lstStyle/>
          <a:p>
            <a:fld id="{47C9E101-E51D-431E-84FA-C029B8655B60}" type="slidenum">
              <a:rPr lang="zh-CN" altLang="en-US" smtClean="0"/>
              <a:pPr/>
              <a:t>87</a:t>
            </a:fld>
            <a:endParaRPr lang="zh-CN" altLang="en-US" dirty="0"/>
          </a:p>
        </p:txBody>
      </p:sp>
      <p:graphicFrame>
        <p:nvGraphicFramePr>
          <p:cNvPr id="10" name="表格 9">
            <a:extLst>
              <a:ext uri="{FF2B5EF4-FFF2-40B4-BE49-F238E27FC236}">
                <a16:creationId xmlns:a16="http://schemas.microsoft.com/office/drawing/2014/main" id="{7F254541-D87C-4CFD-BEF3-131566137788}"/>
              </a:ext>
            </a:extLst>
          </p:cNvPr>
          <p:cNvGraphicFramePr>
            <a:graphicFrameLocks noGrp="1"/>
          </p:cNvGraphicFramePr>
          <p:nvPr>
            <p:extLst/>
          </p:nvPr>
        </p:nvGraphicFramePr>
        <p:xfrm>
          <a:off x="6969156" y="1754580"/>
          <a:ext cx="4376256" cy="1570340"/>
        </p:xfrm>
        <a:graphic>
          <a:graphicData uri="http://schemas.openxmlformats.org/drawingml/2006/table">
            <a:tbl>
              <a:tblPr firstRow="1" bandRow="1">
                <a:tableStyleId>{5C22544A-7EE6-4342-B048-85BDC9FD1C3A}</a:tableStyleId>
              </a:tblPr>
              <a:tblGrid>
                <a:gridCol w="1241170">
                  <a:extLst>
                    <a:ext uri="{9D8B030D-6E8A-4147-A177-3AD203B41FA5}">
                      <a16:colId xmlns:a16="http://schemas.microsoft.com/office/drawing/2014/main" val="20000"/>
                    </a:ext>
                  </a:extLst>
                </a:gridCol>
                <a:gridCol w="833321">
                  <a:extLst>
                    <a:ext uri="{9D8B030D-6E8A-4147-A177-3AD203B41FA5}">
                      <a16:colId xmlns:a16="http://schemas.microsoft.com/office/drawing/2014/main" val="20001"/>
                    </a:ext>
                  </a:extLst>
                </a:gridCol>
                <a:gridCol w="627317">
                  <a:extLst>
                    <a:ext uri="{9D8B030D-6E8A-4147-A177-3AD203B41FA5}">
                      <a16:colId xmlns:a16="http://schemas.microsoft.com/office/drawing/2014/main" val="20002"/>
                    </a:ext>
                  </a:extLst>
                </a:gridCol>
                <a:gridCol w="793812">
                  <a:extLst>
                    <a:ext uri="{9D8B030D-6E8A-4147-A177-3AD203B41FA5}">
                      <a16:colId xmlns:a16="http://schemas.microsoft.com/office/drawing/2014/main" val="20003"/>
                    </a:ext>
                  </a:extLst>
                </a:gridCol>
                <a:gridCol w="880636">
                  <a:extLst>
                    <a:ext uri="{9D8B030D-6E8A-4147-A177-3AD203B41FA5}">
                      <a16:colId xmlns:a16="http://schemas.microsoft.com/office/drawing/2014/main" val="20004"/>
                    </a:ext>
                  </a:extLst>
                </a:gridCol>
              </a:tblGrid>
              <a:tr h="351220">
                <a:tc>
                  <a:txBody>
                    <a:bodyPr/>
                    <a:lstStyle/>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Sno</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Sname</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Ssex</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tc>
                  <a:txBody>
                    <a:bodyPr/>
                    <a:lstStyle/>
                    <a:p>
                      <a:pPr algn="ctr"/>
                      <a:r>
                        <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Sage</a:t>
                      </a:r>
                    </a:p>
                  </a:txBody>
                  <a:tcPr marT="45710" marB="45710">
                    <a:solidFill>
                      <a:schemeClr val="accent1">
                        <a:lumMod val="60000"/>
                        <a:lumOff val="40000"/>
                      </a:schemeClr>
                    </a:solidFill>
                  </a:tcPr>
                </a:tc>
                <a:tc>
                  <a:txBody>
                    <a:bodyPr/>
                    <a:lstStyle/>
                    <a:p>
                      <a:pPr algn="ctr" eaLnBrk="1" hangingPunct="1"/>
                      <a:r>
                        <a:rPr kumimoji="1" lang="en-US" altLang="zh-CN" sz="14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Sdept</a:t>
                      </a:r>
                      <a:endParaRPr kumimoji="1"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solidFill>
                      <a:schemeClr val="accent1">
                        <a:lumMod val="60000"/>
                        <a:lumOff val="40000"/>
                      </a:schemeClr>
                    </a:solidFill>
                  </a:tcPr>
                </a:tc>
                <a:extLst>
                  <a:ext uri="{0D108BD9-81ED-4DB2-BD59-A6C34878D82A}">
                    <a16:rowId xmlns:a16="http://schemas.microsoft.com/office/drawing/2014/main" val="10000"/>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李勇</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20</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1"/>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刘晨</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CS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2"/>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201215123</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王敏</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女</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18</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MA</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3"/>
                  </a:ext>
                </a:extLst>
              </a:tr>
              <a:tr h="198516">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201215124</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张立</a:t>
                      </a:r>
                    </a:p>
                  </a:txBody>
                  <a:tcPr marT="45710" marB="45710"/>
                </a:tc>
                <a:tc>
                  <a:txBody>
                    <a:bodyPr/>
                    <a:lstStyle/>
                    <a:p>
                      <a:pPr algn="ctr"/>
                      <a:r>
                        <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rPr>
                        <a:t>男</a:t>
                      </a: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19</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b="0" dirty="0">
                          <a:latin typeface="Times New Roman" panose="02020603050405020304" pitchFamily="18" charset="0"/>
                          <a:ea typeface="微软雅黑" panose="020B0503020204020204" pitchFamily="34" charset="-122"/>
                          <a:cs typeface="Times New Roman" panose="02020603050405020304" pitchFamily="18" charset="0"/>
                        </a:rPr>
                        <a:t>IS</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extLst>
                  <a:ext uri="{0D108BD9-81ED-4DB2-BD59-A6C34878D82A}">
                    <a16:rowId xmlns:a16="http://schemas.microsoft.com/office/drawing/2014/main" val="10004"/>
                  </a:ext>
                </a:extLst>
              </a:tr>
            </a:tbl>
          </a:graphicData>
        </a:graphic>
      </p:graphicFrame>
      <p:graphicFrame>
        <p:nvGraphicFramePr>
          <p:cNvPr id="16" name="表格 15">
            <a:extLst>
              <a:ext uri="{FF2B5EF4-FFF2-40B4-BE49-F238E27FC236}">
                <a16:creationId xmlns:a16="http://schemas.microsoft.com/office/drawing/2014/main" id="{10F9CF2E-F416-41E6-A568-8BA554171CF4}"/>
              </a:ext>
            </a:extLst>
          </p:cNvPr>
          <p:cNvGraphicFramePr>
            <a:graphicFrameLocks noGrp="1"/>
          </p:cNvGraphicFramePr>
          <p:nvPr>
            <p:extLst>
              <p:ext uri="{D42A27DB-BD31-4B8C-83A1-F6EECF244321}">
                <p14:modId xmlns:p14="http://schemas.microsoft.com/office/powerpoint/2010/main" val="4228036657"/>
              </p:ext>
            </p:extLst>
          </p:nvPr>
        </p:nvGraphicFramePr>
        <p:xfrm>
          <a:off x="3260044" y="1743740"/>
          <a:ext cx="3533951" cy="2472876"/>
        </p:xfrm>
        <a:graphic>
          <a:graphicData uri="http://schemas.openxmlformats.org/drawingml/2006/table">
            <a:tbl>
              <a:tblPr firstRow="1" bandRow="1">
                <a:tableStyleId>{5C22544A-7EE6-4342-B048-85BDC9FD1C3A}</a:tableStyleId>
              </a:tblPr>
              <a:tblGrid>
                <a:gridCol w="813333">
                  <a:extLst>
                    <a:ext uri="{9D8B030D-6E8A-4147-A177-3AD203B41FA5}">
                      <a16:colId xmlns:a16="http://schemas.microsoft.com/office/drawing/2014/main" val="20000"/>
                    </a:ext>
                  </a:extLst>
                </a:gridCol>
                <a:gridCol w="1196300">
                  <a:extLst>
                    <a:ext uri="{9D8B030D-6E8A-4147-A177-3AD203B41FA5}">
                      <a16:colId xmlns:a16="http://schemas.microsoft.com/office/drawing/2014/main" val="20001"/>
                    </a:ext>
                  </a:extLst>
                </a:gridCol>
                <a:gridCol w="762159">
                  <a:extLst>
                    <a:ext uri="{9D8B030D-6E8A-4147-A177-3AD203B41FA5}">
                      <a16:colId xmlns:a16="http://schemas.microsoft.com/office/drawing/2014/main" val="20002"/>
                    </a:ext>
                  </a:extLst>
                </a:gridCol>
                <a:gridCol w="762159">
                  <a:extLst>
                    <a:ext uri="{9D8B030D-6E8A-4147-A177-3AD203B41FA5}">
                      <a16:colId xmlns:a16="http://schemas.microsoft.com/office/drawing/2014/main" val="20003"/>
                    </a:ext>
                  </a:extLst>
                </a:gridCol>
              </a:tblGrid>
              <a:tr h="339220">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solidFill>
                      <a:schemeClr val="accent1">
                        <a:lumMod val="60000"/>
                        <a:lumOff val="40000"/>
                      </a:schemeClr>
                    </a:solidFill>
                  </a:tcPr>
                </a:tc>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Cname</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solidFill>
                      <a:schemeClr val="accent1">
                        <a:lumMod val="60000"/>
                        <a:lumOff val="40000"/>
                      </a:schemeClr>
                    </a:solidFill>
                  </a:tcPr>
                </a:tc>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Cpno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solidFill>
                      <a:schemeClr val="accent1">
                        <a:lumMod val="60000"/>
                        <a:lumOff val="40000"/>
                      </a:schemeClr>
                    </a:solidFill>
                  </a:tcPr>
                </a:tc>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Ccredit</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solidFill>
                      <a:schemeClr val="accent1">
                        <a:lumMod val="60000"/>
                        <a:lumOff val="40000"/>
                      </a:schemeClr>
                    </a:solidFill>
                  </a:tcPr>
                </a:tc>
                <a:extLst>
                  <a:ext uri="{0D108BD9-81ED-4DB2-BD59-A6C34878D82A}">
                    <a16:rowId xmlns:a16="http://schemas.microsoft.com/office/drawing/2014/main" val="10000"/>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数据库</a:t>
                      </a: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1"/>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高等数学</a:t>
                      </a:r>
                    </a:p>
                  </a:txBody>
                  <a:tcPr marT="45724" marB="45724"/>
                </a:tc>
                <a:tc>
                  <a:txBody>
                    <a:bodyPr/>
                    <a:lstStyle/>
                    <a:p>
                      <a:pPr algn="ct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2"/>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信息系统</a:t>
                      </a: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3"/>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操作系统</a:t>
                      </a: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4"/>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5</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数据结构</a:t>
                      </a: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7</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5"/>
                  </a:ext>
                </a:extLst>
              </a:tr>
              <a:tr h="199543">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计算机导论</a:t>
                      </a:r>
                    </a:p>
                  </a:txBody>
                  <a:tcPr marT="45724" marB="45724"/>
                </a:tc>
                <a:tc>
                  <a:txBody>
                    <a:bodyPr/>
                    <a:lstStyle/>
                    <a:p>
                      <a:pPr algn="ct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6"/>
                  </a:ext>
                </a:extLst>
              </a:tr>
              <a:tr h="200779">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7</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语言</a:t>
                      </a: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24" marB="45724"/>
                </a:tc>
                <a:extLst>
                  <a:ext uri="{0D108BD9-81ED-4DB2-BD59-A6C34878D82A}">
                    <a16:rowId xmlns:a16="http://schemas.microsoft.com/office/drawing/2014/main" val="10007"/>
                  </a:ext>
                </a:extLst>
              </a:tr>
            </a:tbl>
          </a:graphicData>
        </a:graphic>
      </p:graphicFrame>
      <p:graphicFrame>
        <p:nvGraphicFramePr>
          <p:cNvPr id="17" name="表格 16">
            <a:extLst>
              <a:ext uri="{FF2B5EF4-FFF2-40B4-BE49-F238E27FC236}">
                <a16:creationId xmlns:a16="http://schemas.microsoft.com/office/drawing/2014/main" id="{C420C524-FFDE-4C14-A8E7-C0E385F8FED6}"/>
              </a:ext>
            </a:extLst>
          </p:cNvPr>
          <p:cNvGraphicFramePr>
            <a:graphicFrameLocks noGrp="1"/>
          </p:cNvGraphicFramePr>
          <p:nvPr>
            <p:extLst>
              <p:ext uri="{D42A27DB-BD31-4B8C-83A1-F6EECF244321}">
                <p14:modId xmlns:p14="http://schemas.microsoft.com/office/powerpoint/2010/main" val="4043066243"/>
              </p:ext>
            </p:extLst>
          </p:nvPr>
        </p:nvGraphicFramePr>
        <p:xfrm>
          <a:off x="462127" y="1743342"/>
          <a:ext cx="2578842" cy="1828944"/>
        </p:xfrm>
        <a:graphic>
          <a:graphicData uri="http://schemas.openxmlformats.org/drawingml/2006/table">
            <a:tbl>
              <a:tblPr firstRow="1" bandRow="1">
                <a:tableStyleId>{5C22544A-7EE6-4342-B048-85BDC9FD1C3A}</a:tableStyleId>
              </a:tblPr>
              <a:tblGrid>
                <a:gridCol w="1103586">
                  <a:extLst>
                    <a:ext uri="{9D8B030D-6E8A-4147-A177-3AD203B41FA5}">
                      <a16:colId xmlns:a16="http://schemas.microsoft.com/office/drawing/2014/main" val="20000"/>
                    </a:ext>
                  </a:extLst>
                </a:gridCol>
                <a:gridCol w="582612">
                  <a:extLst>
                    <a:ext uri="{9D8B030D-6E8A-4147-A177-3AD203B41FA5}">
                      <a16:colId xmlns:a16="http://schemas.microsoft.com/office/drawing/2014/main" val="20001"/>
                    </a:ext>
                  </a:extLst>
                </a:gridCol>
                <a:gridCol w="892644">
                  <a:extLst>
                    <a:ext uri="{9D8B030D-6E8A-4147-A177-3AD203B41FA5}">
                      <a16:colId xmlns:a16="http://schemas.microsoft.com/office/drawing/2014/main" val="20002"/>
                    </a:ext>
                  </a:extLst>
                </a:gridCol>
              </a:tblGrid>
              <a:tr h="222167">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solidFill>
                      <a:schemeClr val="accent1">
                        <a:lumMod val="60000"/>
                        <a:lumOff val="40000"/>
                      </a:schemeClr>
                    </a:solidFill>
                  </a:tcPr>
                </a:tc>
                <a:tc>
                  <a:txBody>
                    <a:bodyPr/>
                    <a:lstStyle/>
                    <a:p>
                      <a:pPr algn="ct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Cno</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solidFill>
                      <a:schemeClr val="accent1">
                        <a:lumMod val="60000"/>
                        <a:lumOff val="40000"/>
                      </a:schemeClr>
                    </a:solidFill>
                  </a:tcPr>
                </a:tc>
                <a:tc>
                  <a:txBody>
                    <a:bodyPr/>
                    <a:lstStyle/>
                    <a:p>
                      <a:pPr algn="ct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Grade</a:t>
                      </a:r>
                      <a:endPar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solidFill>
                      <a:schemeClr val="accent1">
                        <a:lumMod val="60000"/>
                        <a:lumOff val="40000"/>
                      </a:schemeClr>
                    </a:solidFill>
                  </a:tcPr>
                </a:tc>
                <a:extLst>
                  <a:ext uri="{0D108BD9-81ED-4DB2-BD59-A6C34878D82A}">
                    <a16:rowId xmlns:a16="http://schemas.microsoft.com/office/drawing/2014/main" val="10000"/>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92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1"/>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85</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2"/>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201215121</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88</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3"/>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90</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4"/>
                  </a:ext>
                </a:extLst>
              </a:tr>
              <a:tr h="130691">
                <a:tc>
                  <a:txBody>
                    <a:bodyPr/>
                    <a:lstStyle/>
                    <a:p>
                      <a:pPr algn="ctr"/>
                      <a:r>
                        <a:rPr kumimoji="1" lang="en-US" altLang="zh-CN" sz="14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201215122</a:t>
                      </a:r>
                      <a:endParaRPr lang="zh-CN" altLang="en-US" sz="1400" b="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10" marB="45710"/>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tc>
                  <a:txBody>
                    <a:bodyPr/>
                    <a:lstStyle/>
                    <a:p>
                      <a:pPr algn="ct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80</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marT="45732" marB="45732"/>
                </a:tc>
                <a:extLst>
                  <a:ext uri="{0D108BD9-81ED-4DB2-BD59-A6C34878D82A}">
                    <a16:rowId xmlns:a16="http://schemas.microsoft.com/office/drawing/2014/main" val="10005"/>
                  </a:ext>
                </a:extLst>
              </a:tr>
            </a:tbl>
          </a:graphicData>
        </a:graphic>
      </p:graphicFrame>
      <p:sp>
        <p:nvSpPr>
          <p:cNvPr id="26" name="Rectangle 166">
            <a:extLst>
              <a:ext uri="{FF2B5EF4-FFF2-40B4-BE49-F238E27FC236}">
                <a16:creationId xmlns:a16="http://schemas.microsoft.com/office/drawing/2014/main" id="{7F571C4A-A2B1-467B-A941-6A56219F2288}"/>
              </a:ext>
            </a:extLst>
          </p:cNvPr>
          <p:cNvSpPr>
            <a:spLocks noChangeArrowheads="1"/>
          </p:cNvSpPr>
          <p:nvPr/>
        </p:nvSpPr>
        <p:spPr bwMode="auto">
          <a:xfrm>
            <a:off x="7067456" y="1814991"/>
            <a:ext cx="1875150" cy="1459732"/>
          </a:xfrm>
          <a:prstGeom prst="rect">
            <a:avLst/>
          </a:prstGeom>
          <a:noFill/>
          <a:ln w="254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39" name="Rectangle 166">
            <a:extLst>
              <a:ext uri="{FF2B5EF4-FFF2-40B4-BE49-F238E27FC236}">
                <a16:creationId xmlns:a16="http://schemas.microsoft.com/office/drawing/2014/main" id="{F75D6131-EAB0-43D9-8C4B-72D7C949CB3B}"/>
              </a:ext>
            </a:extLst>
          </p:cNvPr>
          <p:cNvSpPr>
            <a:spLocks noChangeArrowheads="1"/>
          </p:cNvSpPr>
          <p:nvPr/>
        </p:nvSpPr>
        <p:spPr bwMode="auto">
          <a:xfrm>
            <a:off x="3291991" y="1764691"/>
            <a:ext cx="757495" cy="2388396"/>
          </a:xfrm>
          <a:prstGeom prst="rect">
            <a:avLst/>
          </a:prstGeom>
          <a:noFill/>
          <a:ln w="254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sp>
        <p:nvSpPr>
          <p:cNvPr id="40" name="Rectangle 166">
            <a:extLst>
              <a:ext uri="{FF2B5EF4-FFF2-40B4-BE49-F238E27FC236}">
                <a16:creationId xmlns:a16="http://schemas.microsoft.com/office/drawing/2014/main" id="{4AE48A92-B3F8-4461-86DB-895AE44CEE76}"/>
              </a:ext>
            </a:extLst>
          </p:cNvPr>
          <p:cNvSpPr>
            <a:spLocks noChangeArrowheads="1"/>
          </p:cNvSpPr>
          <p:nvPr/>
        </p:nvSpPr>
        <p:spPr bwMode="auto">
          <a:xfrm>
            <a:off x="530772" y="1764690"/>
            <a:ext cx="1622347" cy="1811829"/>
          </a:xfrm>
          <a:prstGeom prst="rect">
            <a:avLst/>
          </a:prstGeom>
          <a:noFill/>
          <a:ln w="25400" cap="sq">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grpSp>
        <p:nvGrpSpPr>
          <p:cNvPr id="41" name="组合 40">
            <a:extLst>
              <a:ext uri="{FF2B5EF4-FFF2-40B4-BE49-F238E27FC236}">
                <a16:creationId xmlns:a16="http://schemas.microsoft.com/office/drawing/2014/main" id="{BC9A2C7D-7036-4AE5-B007-9F8FC73321C0}"/>
              </a:ext>
            </a:extLst>
          </p:cNvPr>
          <p:cNvGrpSpPr/>
          <p:nvPr/>
        </p:nvGrpSpPr>
        <p:grpSpPr>
          <a:xfrm>
            <a:off x="2891860" y="4982144"/>
            <a:ext cx="5551356" cy="341632"/>
            <a:chOff x="364253" y="5387769"/>
            <a:chExt cx="5551356" cy="341632"/>
          </a:xfrm>
        </p:grpSpPr>
        <p:sp>
          <p:nvSpPr>
            <p:cNvPr id="42" name="矩形 41">
              <a:extLst>
                <a:ext uri="{FF2B5EF4-FFF2-40B4-BE49-F238E27FC236}">
                  <a16:creationId xmlns:a16="http://schemas.microsoft.com/office/drawing/2014/main" id="{788AA1CD-108B-416C-8DD0-A7BC5E9D54BB}"/>
                </a:ext>
              </a:extLst>
            </p:cNvPr>
            <p:cNvSpPr/>
            <p:nvPr/>
          </p:nvSpPr>
          <p:spPr>
            <a:xfrm>
              <a:off x="364253" y="5387769"/>
              <a:ext cx="5551356" cy="341632"/>
            </a:xfrm>
            <a:prstGeom prst="rect">
              <a:avLst/>
            </a:prstGeom>
          </p:spPr>
          <p:txBody>
            <a:bodyPr wrap="square">
              <a:spAutoFit/>
            </a:bodyPr>
            <a:lstStyle/>
            <a:p>
              <a:pPr marL="742950" lvl="1" indent="-285750" fontAlgn="base">
                <a:lnSpc>
                  <a:spcPct val="90000"/>
                </a:lnSpc>
                <a:spcBef>
                  <a:spcPct val="20000"/>
                </a:spcBef>
                <a:spcAft>
                  <a:spcPct val="0"/>
                </a:spcAft>
                <a:buClr>
                  <a:srgbClr val="E02920"/>
                </a:buClr>
                <a:buSzPct val="75000"/>
              </a:pP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altLang="zh-CN" b="1" baseline="-300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Sno</a:t>
              </a:r>
              <a:r>
                <a:rPr lang="zh-CN" altLang="en-US" b="1" baseline="-30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baseline="-300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Cno</a:t>
              </a: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(SC)÷π</a:t>
              </a:r>
              <a:r>
                <a:rPr lang="en-US" altLang="zh-CN" b="1" baseline="-300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Cno</a:t>
              </a: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(Course) </a:t>
              </a:r>
              <a:r>
                <a:rPr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altLang="zh-CN" b="1" baseline="-300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Sno</a:t>
              </a:r>
              <a:r>
                <a:rPr lang="zh-CN" altLang="en-US" b="1" baseline="-30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baseline="-300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Sname</a:t>
              </a: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(Student)</a:t>
              </a:r>
              <a:endParaRPr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AutoShape 26">
              <a:extLst>
                <a:ext uri="{FF2B5EF4-FFF2-40B4-BE49-F238E27FC236}">
                  <a16:creationId xmlns:a16="http://schemas.microsoft.com/office/drawing/2014/main" id="{0BEEC866-B419-454D-BEB5-470FF37347CB}"/>
                </a:ext>
              </a:extLst>
            </p:cNvPr>
            <p:cNvSpPr>
              <a:spLocks noChangeArrowheads="1"/>
            </p:cNvSpPr>
            <p:nvPr/>
          </p:nvSpPr>
          <p:spPr bwMode="auto">
            <a:xfrm rot="16200000" flipV="1">
              <a:off x="3683056" y="5438866"/>
              <a:ext cx="85729" cy="234788"/>
            </a:xfrm>
            <a:prstGeom prst="flowChartCollate">
              <a:avLst/>
            </a:prstGeom>
            <a:solidFill>
              <a:srgbClr val="FFFFFF"/>
            </a:solidFill>
            <a:ln w="6350">
              <a:solidFill>
                <a:srgbClr val="000000"/>
              </a:solidFill>
              <a:miter lim="800000"/>
              <a:headEnd/>
              <a:tailEnd/>
            </a:ln>
          </p:spPr>
          <p:txBody>
            <a:bodyPr/>
            <a:lstStyle>
              <a:lvl1pPr>
                <a:spcBef>
                  <a:spcPct val="20000"/>
                </a:spcBef>
                <a:buClr>
                  <a:srgbClr val="0033CC"/>
                </a:buClr>
                <a:buSzPct val="75000"/>
                <a:buFont typeface="Wingdings" panose="05000000000000000000" pitchFamily="2" charset="2"/>
                <a:buChar char="n"/>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spcBef>
                  <a:spcPct val="20000"/>
                </a:spcBef>
                <a:buClr>
                  <a:srgbClr val="E02920"/>
                </a:buClr>
                <a:buSzPct val="75000"/>
                <a:buFont typeface="Wingdings" panose="05000000000000000000" pitchFamily="2" charset="2"/>
                <a:buChar char="Ø"/>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spcBef>
                  <a:spcPct val="20000"/>
                </a:spcBef>
                <a:buClr>
                  <a:srgbClr val="FF3300"/>
                </a:buClr>
                <a:buSzPct val="75000"/>
                <a:buFont typeface="Wingdings" panose="05000000000000000000" pitchFamily="2" charset="2"/>
                <a:buChar char="R"/>
                <a:defRPr sz="28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9pPr>
            </a:lstStyle>
            <a:p>
              <a:pPr eaLnBrk="1" hangingPunct="1">
                <a:spcBef>
                  <a:spcPct val="0"/>
                </a:spcBef>
                <a:buClrTx/>
                <a:buSzTx/>
                <a:buFontTx/>
                <a:buNone/>
              </a:pPr>
              <a:endParaRPr lang="zh-CN" altLang="en-US" sz="1800">
                <a:solidFill>
                  <a:srgbClr val="000000"/>
                </a:solidFill>
                <a:latin typeface="Arial" panose="020B0604020202020204" pitchFamily="34" charset="0"/>
                <a:ea typeface="楷体_GB2312" pitchFamily="49" charset="-122"/>
              </a:endParaRPr>
            </a:p>
          </p:txBody>
        </p:sp>
      </p:grpSp>
    </p:spTree>
    <p:extLst>
      <p:ext uri="{BB962C8B-B14F-4D97-AF65-F5344CB8AC3E}">
        <p14:creationId xmlns:p14="http://schemas.microsoft.com/office/powerpoint/2010/main" val="3435418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9" grpId="0" animBg="1"/>
      <p:bldP spid="40"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535D02-C1B5-4C39-97B8-55C958A91277}"/>
              </a:ext>
            </a:extLst>
          </p:cNvPr>
          <p:cNvSpPr>
            <a:spLocks noGrp="1"/>
          </p:cNvSpPr>
          <p:nvPr>
            <p:ph type="title"/>
          </p:nvPr>
        </p:nvSpPr>
        <p:spPr/>
        <p:txBody>
          <a:bodyPr/>
          <a:lstStyle/>
          <a:p>
            <a:r>
              <a:rPr lang="en-US" altLang="zh-CN" dirty="0"/>
              <a:t>2.6 </a:t>
            </a:r>
            <a:r>
              <a:rPr lang="zh-CN" altLang="en-US" dirty="0"/>
              <a:t>小结</a:t>
            </a:r>
          </a:p>
        </p:txBody>
      </p:sp>
      <p:sp>
        <p:nvSpPr>
          <p:cNvPr id="3" name="内容占位符 2">
            <a:extLst>
              <a:ext uri="{FF2B5EF4-FFF2-40B4-BE49-F238E27FC236}">
                <a16:creationId xmlns:a16="http://schemas.microsoft.com/office/drawing/2014/main" id="{79DC5339-8F55-42A5-B979-FBCF4A74A7B3}"/>
              </a:ext>
            </a:extLst>
          </p:cNvPr>
          <p:cNvSpPr>
            <a:spLocks noGrp="1"/>
          </p:cNvSpPr>
          <p:nvPr>
            <p:ph idx="1"/>
          </p:nvPr>
        </p:nvSpPr>
        <p:spPr/>
        <p:txBody>
          <a:bodyPr>
            <a:normAutofit fontScale="92500" lnSpcReduction="10000"/>
          </a:bodyPr>
          <a:lstStyle/>
          <a:p>
            <a:r>
              <a:rPr lang="zh-CN" altLang="en-US" dirty="0"/>
              <a:t>关系数据库系统是目前使用最广泛的数据库系统</a:t>
            </a:r>
          </a:p>
          <a:p>
            <a:pPr lvl="1"/>
            <a:r>
              <a:rPr lang="zh-CN" altLang="en-US" dirty="0"/>
              <a:t>关系数据库系统与非关系数据库系统的区别：</a:t>
            </a:r>
          </a:p>
          <a:p>
            <a:pPr lvl="1"/>
            <a:r>
              <a:rPr lang="zh-CN" altLang="en-US" dirty="0"/>
              <a:t>关系系统只有“表”这一种数据结构</a:t>
            </a:r>
          </a:p>
          <a:p>
            <a:pPr lvl="1"/>
            <a:r>
              <a:rPr lang="zh-CN" altLang="en-US" dirty="0"/>
              <a:t>非关系数据库系统还有其他数据结构，以及对这些数据结构的操作</a:t>
            </a:r>
            <a:endParaRPr lang="en-US" altLang="zh-CN" dirty="0"/>
          </a:p>
          <a:p>
            <a:r>
              <a:rPr lang="zh-CN" altLang="en-US" dirty="0"/>
              <a:t>关系数据结构</a:t>
            </a:r>
            <a:endParaRPr lang="en-US" altLang="zh-CN" dirty="0"/>
          </a:p>
          <a:p>
            <a:r>
              <a:rPr lang="zh-CN" altLang="en-US" dirty="0"/>
              <a:t>关系操作</a:t>
            </a:r>
            <a:endParaRPr lang="en-US" altLang="zh-CN" dirty="0"/>
          </a:p>
          <a:p>
            <a:r>
              <a:rPr lang="zh-CN" altLang="en-US" dirty="0">
                <a:solidFill>
                  <a:srgbClr val="FF0000"/>
                </a:solidFill>
              </a:rPr>
              <a:t>关系的完整性约束</a:t>
            </a:r>
          </a:p>
          <a:p>
            <a:pPr lvl="1"/>
            <a:r>
              <a:rPr lang="zh-CN" altLang="en-US" dirty="0"/>
              <a:t>实体完整性</a:t>
            </a:r>
          </a:p>
          <a:p>
            <a:pPr lvl="1"/>
            <a:r>
              <a:rPr lang="zh-CN" altLang="en-US" dirty="0"/>
              <a:t>参照完整性</a:t>
            </a:r>
          </a:p>
          <a:p>
            <a:pPr lvl="1"/>
            <a:r>
              <a:rPr lang="zh-CN" altLang="en-US" dirty="0"/>
              <a:t>用户定义的完整性</a:t>
            </a:r>
            <a:endParaRPr lang="en-US" altLang="zh-CN" dirty="0"/>
          </a:p>
          <a:p>
            <a:r>
              <a:rPr lang="zh-CN" altLang="en-US" dirty="0"/>
              <a:t>关系数据语言</a:t>
            </a:r>
            <a:endParaRPr lang="en-US" altLang="zh-CN" dirty="0"/>
          </a:p>
          <a:p>
            <a:pPr lvl="1"/>
            <a:r>
              <a:rPr lang="zh-CN" altLang="en-US" dirty="0"/>
              <a:t>关系代数语言</a:t>
            </a:r>
          </a:p>
          <a:p>
            <a:pPr lvl="1"/>
            <a:r>
              <a:rPr lang="zh-CN" altLang="en-US" dirty="0"/>
              <a:t>关系演算语言</a:t>
            </a:r>
            <a:endParaRPr lang="en-US" altLang="zh-CN" dirty="0"/>
          </a:p>
        </p:txBody>
      </p:sp>
      <p:sp>
        <p:nvSpPr>
          <p:cNvPr id="4" name="灯片编号占位符 3">
            <a:extLst>
              <a:ext uri="{FF2B5EF4-FFF2-40B4-BE49-F238E27FC236}">
                <a16:creationId xmlns:a16="http://schemas.microsoft.com/office/drawing/2014/main" id="{9962D5FD-6C18-46BA-8D31-ACDB62C71CB0}"/>
              </a:ext>
            </a:extLst>
          </p:cNvPr>
          <p:cNvSpPr>
            <a:spLocks noGrp="1"/>
          </p:cNvSpPr>
          <p:nvPr>
            <p:ph type="sldNum" sz="quarter" idx="12"/>
          </p:nvPr>
        </p:nvSpPr>
        <p:spPr/>
        <p:txBody>
          <a:bodyPr/>
          <a:lstStyle/>
          <a:p>
            <a:fld id="{47C9E101-E51D-431E-84FA-C029B8655B60}" type="slidenum">
              <a:rPr lang="zh-CN" altLang="en-US" smtClean="0"/>
              <a:pPr/>
              <a:t>88</a:t>
            </a:fld>
            <a:endParaRPr lang="zh-CN" altLang="en-US" dirty="0"/>
          </a:p>
        </p:txBody>
      </p:sp>
    </p:spTree>
    <p:extLst>
      <p:ext uri="{BB962C8B-B14F-4D97-AF65-F5344CB8AC3E}">
        <p14:creationId xmlns:p14="http://schemas.microsoft.com/office/powerpoint/2010/main" val="255866589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361473">
            <a:extLst>
              <a:ext uri="{FF2B5EF4-FFF2-40B4-BE49-F238E27FC236}">
                <a16:creationId xmlns:a16="http://schemas.microsoft.com/office/drawing/2014/main" id="{D0E52037-E311-4D49-A83A-591A1C9AB433}"/>
              </a:ext>
            </a:extLst>
          </p:cNvPr>
          <p:cNvSpPr>
            <a:spLocks noGrp="1" noChangeArrowheads="1"/>
          </p:cNvSpPr>
          <p:nvPr>
            <p:ph type="title"/>
          </p:nvPr>
        </p:nvSpPr>
        <p:spPr/>
        <p:txBody>
          <a:bodyPr/>
          <a:lstStyle/>
          <a:p>
            <a:r>
              <a:rPr lang="zh-CN" altLang="en-US" dirty="0"/>
              <a:t>小结（续） </a:t>
            </a:r>
          </a:p>
        </p:txBody>
      </p:sp>
      <p:sp>
        <p:nvSpPr>
          <p:cNvPr id="70659" name="文本占位符 361474">
            <a:extLst>
              <a:ext uri="{FF2B5EF4-FFF2-40B4-BE49-F238E27FC236}">
                <a16:creationId xmlns:a16="http://schemas.microsoft.com/office/drawing/2014/main" id="{1BFFB527-6CAD-4451-82CE-ED100928AF08}"/>
              </a:ext>
            </a:extLst>
          </p:cNvPr>
          <p:cNvSpPr>
            <a:spLocks noGrp="1" noChangeArrowheads="1"/>
          </p:cNvSpPr>
          <p:nvPr>
            <p:ph type="body" idx="1"/>
          </p:nvPr>
        </p:nvSpPr>
        <p:spPr/>
        <p:txBody>
          <a:bodyPr/>
          <a:lstStyle/>
          <a:p>
            <a:r>
              <a:rPr lang="en-US" altLang="zh-CN" dirty="0"/>
              <a:t> </a:t>
            </a:r>
            <a:r>
              <a:rPr lang="zh-CN" altLang="en-US" dirty="0">
                <a:solidFill>
                  <a:srgbClr val="FF0000"/>
                </a:solidFill>
              </a:rPr>
              <a:t>关系代数运算</a:t>
            </a:r>
          </a:p>
          <a:p>
            <a:pPr lvl="1"/>
            <a:r>
              <a:rPr lang="zh-CN" altLang="en-US" dirty="0"/>
              <a:t>	关系代数运算</a:t>
            </a:r>
          </a:p>
          <a:p>
            <a:pPr lvl="2"/>
            <a:r>
              <a:rPr lang="zh-CN" altLang="en-US" dirty="0"/>
              <a:t>并、差、交、笛卡尔积、投影、选择、连接、除</a:t>
            </a:r>
          </a:p>
          <a:p>
            <a:pPr lvl="1"/>
            <a:r>
              <a:rPr lang="zh-CN" altLang="en-US" dirty="0"/>
              <a:t>	基本运算</a:t>
            </a:r>
          </a:p>
          <a:p>
            <a:pPr lvl="2"/>
            <a:r>
              <a:rPr lang="zh-CN" altLang="en-US" dirty="0"/>
              <a:t>并、差、笛卡尔积、投影、选择</a:t>
            </a:r>
          </a:p>
          <a:p>
            <a:pPr lvl="1"/>
            <a:r>
              <a:rPr lang="zh-CN" altLang="en-US" dirty="0"/>
              <a:t>	交、连接、除</a:t>
            </a:r>
          </a:p>
          <a:p>
            <a:pPr lvl="2"/>
            <a:r>
              <a:rPr lang="zh-CN" altLang="en-US" dirty="0"/>
              <a:t>可以用</a:t>
            </a:r>
            <a:r>
              <a:rPr lang="en-US" altLang="zh-CN" dirty="0"/>
              <a:t>5</a:t>
            </a:r>
            <a:r>
              <a:rPr lang="zh-CN" altLang="en-US" dirty="0"/>
              <a:t>种基本运算来表达</a:t>
            </a:r>
          </a:p>
          <a:p>
            <a:pPr lvl="2"/>
            <a:r>
              <a:rPr lang="zh-CN" altLang="en-US" dirty="0"/>
              <a:t>引进它们并不增加语言的能力，但可以简化表达</a:t>
            </a:r>
            <a:endParaRPr lang="en-US" altLang="zh-CN" dirty="0"/>
          </a:p>
          <a:p>
            <a:r>
              <a:rPr lang="zh-CN" altLang="en-US" dirty="0"/>
              <a:t>关系代数表达式</a:t>
            </a:r>
          </a:p>
          <a:p>
            <a:pPr lvl="1"/>
            <a:r>
              <a:rPr lang="zh-CN" altLang="en-US" dirty="0"/>
              <a:t>关系代数运算经有限次复合后形成的式子</a:t>
            </a:r>
          </a:p>
        </p:txBody>
      </p:sp>
      <p:sp>
        <p:nvSpPr>
          <p:cNvPr id="2" name="灯片编号占位符 1">
            <a:extLst>
              <a:ext uri="{FF2B5EF4-FFF2-40B4-BE49-F238E27FC236}">
                <a16:creationId xmlns:a16="http://schemas.microsoft.com/office/drawing/2014/main" id="{5F5C94D4-D2B3-4EDB-9542-2A3875771799}"/>
              </a:ext>
            </a:extLst>
          </p:cNvPr>
          <p:cNvSpPr>
            <a:spLocks noGrp="1"/>
          </p:cNvSpPr>
          <p:nvPr>
            <p:ph type="sldNum" sz="quarter" idx="12"/>
          </p:nvPr>
        </p:nvSpPr>
        <p:spPr/>
        <p:txBody>
          <a:bodyPr/>
          <a:lstStyle/>
          <a:p>
            <a:fld id="{47C9E101-E51D-431E-84FA-C029B8655B60}" type="slidenum">
              <a:rPr lang="zh-CN" altLang="en-US" smtClean="0"/>
              <a:pPr/>
              <a:t>89</a:t>
            </a:fld>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8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自定义 4">
      <a:dk1>
        <a:sysClr val="windowText" lastClr="000000"/>
      </a:dk1>
      <a:lt1>
        <a:sysClr val="window" lastClr="FFFFFF"/>
      </a:lt1>
      <a:dk2>
        <a:srgbClr val="44546A"/>
      </a:dk2>
      <a:lt2>
        <a:srgbClr val="E7E6E6"/>
      </a:lt2>
      <a:accent1>
        <a:srgbClr val="0070C0"/>
      </a:accent1>
      <a:accent2>
        <a:srgbClr val="07C1CC"/>
      </a:accent2>
      <a:accent3>
        <a:srgbClr val="839192"/>
      </a:accent3>
      <a:accent4>
        <a:srgbClr val="156595"/>
      </a:accent4>
      <a:accent5>
        <a:srgbClr val="FBD78D"/>
      </a:accent5>
      <a:accent6>
        <a:srgbClr val="F25237"/>
      </a:accent6>
      <a:hlink>
        <a:srgbClr val="0563C1"/>
      </a:hlink>
      <a:folHlink>
        <a:srgbClr val="954F72"/>
      </a:folHlink>
    </a:clrScheme>
    <a:fontScheme name="自定义 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B.potx" id="{71FE36DE-E8EE-4572-B7AD-2FD59B46D774}" vid="{27F9D4F0-F007-4654-8CDF-2D6BB615FE1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Template>
  <TotalTime>1066</TotalTime>
  <Words>7576</Words>
  <Application>Microsoft Office PowerPoint</Application>
  <PresentationFormat>宽屏</PresentationFormat>
  <Paragraphs>2166</Paragraphs>
  <Slides>89</Slides>
  <Notes>7</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5</vt:i4>
      </vt:variant>
      <vt:variant>
        <vt:lpstr>幻灯片标题</vt:lpstr>
      </vt:variant>
      <vt:variant>
        <vt:i4>89</vt:i4>
      </vt:variant>
    </vt:vector>
  </HeadingPairs>
  <TitlesOfParts>
    <vt:vector size="108" baseType="lpstr">
      <vt:lpstr>Microsoft Yahei</vt:lpstr>
      <vt:lpstr>等线</vt:lpstr>
      <vt:lpstr>黑体</vt:lpstr>
      <vt:lpstr>华文中宋</vt:lpstr>
      <vt:lpstr>楷体_GB2312</vt:lpstr>
      <vt:lpstr>隶书</vt:lpstr>
      <vt:lpstr>宋体</vt:lpstr>
      <vt:lpstr>微软雅黑</vt:lpstr>
      <vt:lpstr>Arial</vt:lpstr>
      <vt:lpstr>Symbol</vt:lpstr>
      <vt:lpstr>Times New Roman</vt:lpstr>
      <vt:lpstr>Verdana</vt:lpstr>
      <vt:lpstr>Wingdings</vt:lpstr>
      <vt:lpstr>Office 主题</vt:lpstr>
      <vt:lpstr>Equation</vt:lpstr>
      <vt:lpstr>Microsoft 公式 3.0</vt:lpstr>
      <vt:lpstr>Document</vt:lpstr>
      <vt:lpstr>Photoshop.Image.7</vt:lpstr>
      <vt:lpstr>Image</vt:lpstr>
      <vt:lpstr>第二章 关系数据库</vt:lpstr>
      <vt:lpstr>回顾：数据模型</vt:lpstr>
      <vt:lpstr>回顾：数据库系统的三级模式结构</vt:lpstr>
      <vt:lpstr>课程导入：关系数据库简介</vt:lpstr>
      <vt:lpstr>第二章 关系数据库</vt:lpstr>
      <vt:lpstr>2.1  关系数据结构及形式化定义</vt:lpstr>
      <vt:lpstr>2.1.1 关系</vt:lpstr>
      <vt:lpstr>⒈ 域（Domain）</vt:lpstr>
      <vt:lpstr>2. 笛卡尔积（Cartesian Product）</vt:lpstr>
      <vt:lpstr>笛卡尔积（续)</vt:lpstr>
      <vt:lpstr>笛卡尔积（续)</vt:lpstr>
      <vt:lpstr>笛卡尔积（续)</vt:lpstr>
      <vt:lpstr>3. 关系（Relation）</vt:lpstr>
      <vt:lpstr>关系（续）</vt:lpstr>
      <vt:lpstr>关系（续）</vt:lpstr>
      <vt:lpstr>PowerPoint 演示文稿</vt:lpstr>
      <vt:lpstr>关系（续）</vt:lpstr>
      <vt:lpstr>关系（续）</vt:lpstr>
      <vt:lpstr>2.1.2  关系模式</vt:lpstr>
      <vt:lpstr>关系模式（续）</vt:lpstr>
      <vt:lpstr>关系模式（续）</vt:lpstr>
      <vt:lpstr>2.1.3  关系数据库</vt:lpstr>
      <vt:lpstr>2.1.3  关系数据库</vt:lpstr>
      <vt:lpstr>PowerPoint 演示文稿</vt:lpstr>
      <vt:lpstr>PowerPoint 演示文稿</vt:lpstr>
      <vt:lpstr>PowerPoint 演示文稿</vt:lpstr>
      <vt:lpstr>2.2. 关系操作</vt:lpstr>
      <vt:lpstr>2.2.1 基本的关系操作</vt:lpstr>
      <vt:lpstr>2.2.2 关系数据库语言的分类</vt:lpstr>
      <vt:lpstr>2.3 关系的完整性</vt:lpstr>
      <vt:lpstr>2.3 关系的完整性</vt:lpstr>
      <vt:lpstr>2.3.1 实体完整性</vt:lpstr>
      <vt:lpstr>实体完整性(续)</vt:lpstr>
      <vt:lpstr>2.3.2 参照完整性</vt:lpstr>
      <vt:lpstr>1. 关系间的引用</vt:lpstr>
      <vt:lpstr>关系间的引用(续)</vt:lpstr>
      <vt:lpstr>关系间的引用(续)</vt:lpstr>
      <vt:lpstr>关系间的引用(续)</vt:lpstr>
      <vt:lpstr>2．外码（Foreign Key）</vt:lpstr>
      <vt:lpstr>外码(续)</vt:lpstr>
      <vt:lpstr>3. 参照完整性规则</vt:lpstr>
      <vt:lpstr>参照完整性规则(续)</vt:lpstr>
      <vt:lpstr>2.3.3 用户定义的完整性</vt:lpstr>
      <vt:lpstr>PowerPoint 演示文稿</vt:lpstr>
      <vt:lpstr>PowerPoint 演示文稿</vt:lpstr>
      <vt:lpstr>PowerPoint 演示文稿</vt:lpstr>
      <vt:lpstr>2.4 关系代数</vt:lpstr>
      <vt:lpstr>概述</vt:lpstr>
      <vt:lpstr>概述（续）</vt:lpstr>
      <vt:lpstr>2.4.1  传统的集合运算</vt:lpstr>
      <vt:lpstr>1. 并（Union）</vt:lpstr>
      <vt:lpstr>并(续)</vt:lpstr>
      <vt:lpstr>2. 差（Difference）</vt:lpstr>
      <vt:lpstr>差(续)</vt:lpstr>
      <vt:lpstr>3. 交（Intersection）</vt:lpstr>
      <vt:lpstr>交 (续)</vt:lpstr>
      <vt:lpstr>4. 笛卡尔积（Cartesian Product）</vt:lpstr>
      <vt:lpstr>笛卡尔积示例</vt:lpstr>
      <vt:lpstr>2.4.2 专门的关系运算</vt:lpstr>
      <vt:lpstr>专门的关系运算(续)</vt:lpstr>
      <vt:lpstr>专门的关系运算(续)</vt:lpstr>
      <vt:lpstr>专门的关系运算(续)</vt:lpstr>
      <vt:lpstr>专门的关系运算(续)</vt:lpstr>
      <vt:lpstr>1. 选择（Selection） </vt:lpstr>
      <vt:lpstr>选择（续）</vt:lpstr>
      <vt:lpstr>选择（续）</vt:lpstr>
      <vt:lpstr>2. 投影（Projection） </vt:lpstr>
      <vt:lpstr>投影（续）</vt:lpstr>
      <vt:lpstr>投影（续）</vt:lpstr>
      <vt:lpstr>3. 连接（Join） </vt:lpstr>
      <vt:lpstr> 连接(续) </vt:lpstr>
      <vt:lpstr>连接(续)</vt:lpstr>
      <vt:lpstr>连接(续)</vt:lpstr>
      <vt:lpstr>连接(续)</vt:lpstr>
      <vt:lpstr>连接(续)</vt:lpstr>
      <vt:lpstr>连接(续)</vt:lpstr>
      <vt:lpstr>外连接</vt:lpstr>
      <vt:lpstr>外连接</vt:lpstr>
      <vt:lpstr>外连接</vt:lpstr>
      <vt:lpstr>问题：连接运算适用于何种场景？</vt:lpstr>
      <vt:lpstr>4. 除（Division） </vt:lpstr>
      <vt:lpstr>除(续)</vt:lpstr>
      <vt:lpstr>除(续)</vt:lpstr>
      <vt:lpstr>5．综合举例 </vt:lpstr>
      <vt:lpstr>综合举例</vt:lpstr>
      <vt:lpstr>综合举例</vt:lpstr>
      <vt:lpstr>综合举例</vt:lpstr>
      <vt:lpstr>2.6 小结</vt:lpstr>
      <vt:lpstr>小结（续）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数据库原理及应用</dc:title>
  <dc:creator>Miao</dc:creator>
  <cp:lastModifiedBy>HENUCS-MR</cp:lastModifiedBy>
  <cp:revision>97</cp:revision>
  <cp:lastPrinted>2021-09-06T10:51:44Z</cp:lastPrinted>
  <dcterms:created xsi:type="dcterms:W3CDTF">2021-08-17T08:04:31Z</dcterms:created>
  <dcterms:modified xsi:type="dcterms:W3CDTF">2023-09-25T11:19:18Z</dcterms:modified>
</cp:coreProperties>
</file>