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6" r:id="rId1"/>
  </p:sldMasterIdLst>
  <p:notesMasterIdLst>
    <p:notesMasterId r:id="rId44"/>
  </p:notesMasterIdLst>
  <p:sldIdLst>
    <p:sldId id="256" r:id="rId2"/>
    <p:sldId id="988" r:id="rId3"/>
    <p:sldId id="1166" r:id="rId4"/>
    <p:sldId id="989" r:id="rId5"/>
    <p:sldId id="991" r:id="rId6"/>
    <p:sldId id="995" r:id="rId7"/>
    <p:sldId id="997" r:id="rId8"/>
    <p:sldId id="999" r:id="rId9"/>
    <p:sldId id="1002" r:id="rId10"/>
    <p:sldId id="1005" r:id="rId11"/>
    <p:sldId id="1007" r:id="rId12"/>
    <p:sldId id="1047" r:id="rId13"/>
    <p:sldId id="1125" r:id="rId14"/>
    <p:sldId id="1127" r:id="rId15"/>
    <p:sldId id="1128" r:id="rId16"/>
    <p:sldId id="1129" r:id="rId17"/>
    <p:sldId id="1130" r:id="rId18"/>
    <p:sldId id="1131" r:id="rId19"/>
    <p:sldId id="1132" r:id="rId20"/>
    <p:sldId id="1133" r:id="rId21"/>
    <p:sldId id="1048" r:id="rId22"/>
    <p:sldId id="1134" r:id="rId23"/>
    <p:sldId id="1135" r:id="rId24"/>
    <p:sldId id="1137" r:id="rId25"/>
    <p:sldId id="1138" r:id="rId26"/>
    <p:sldId id="1140" r:id="rId27"/>
    <p:sldId id="1142" r:id="rId28"/>
    <p:sldId id="1144" r:id="rId29"/>
    <p:sldId id="1168" r:id="rId30"/>
    <p:sldId id="1169" r:id="rId31"/>
    <p:sldId id="1145" r:id="rId32"/>
    <p:sldId id="1146" r:id="rId33"/>
    <p:sldId id="1157" r:id="rId34"/>
    <p:sldId id="1158" r:id="rId35"/>
    <p:sldId id="1159" r:id="rId36"/>
    <p:sldId id="1160" r:id="rId37"/>
    <p:sldId id="1161" r:id="rId38"/>
    <p:sldId id="1162" r:id="rId39"/>
    <p:sldId id="1163" r:id="rId40"/>
    <p:sldId id="1165" r:id="rId41"/>
    <p:sldId id="1164" r:id="rId42"/>
    <p:sldId id="1167" r:id="rId43"/>
  </p:sldIdLst>
  <p:sldSz cx="12192000" cy="6858000"/>
  <p:notesSz cx="9866313" cy="673576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D4E2E5"/>
    <a:srgbClr val="34AC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87" autoAdjust="0"/>
    <p:restoredTop sz="81669" autoAdjust="0"/>
  </p:normalViewPr>
  <p:slideViewPr>
    <p:cSldViewPr snapToGrid="0">
      <p:cViewPr varScale="1">
        <p:scale>
          <a:sx n="117" d="100"/>
          <a:sy n="117" d="100"/>
        </p:scale>
        <p:origin x="513" y="51"/>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275402" cy="33795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588628" y="0"/>
            <a:ext cx="4275402" cy="337958"/>
          </a:xfrm>
          <a:prstGeom prst="rect">
            <a:avLst/>
          </a:prstGeom>
        </p:spPr>
        <p:txBody>
          <a:bodyPr vert="horz" lIns="91440" tIns="45720" rIns="91440" bIns="45720" rtlCol="0"/>
          <a:lstStyle>
            <a:lvl1pPr algn="r">
              <a:defRPr sz="1200"/>
            </a:lvl1pPr>
          </a:lstStyle>
          <a:p>
            <a:fld id="{7830E76F-B0B7-4B7D-99A2-1AE4E5003A85}" type="datetimeFigureOut">
              <a:rPr lang="zh-CN" altLang="en-US" smtClean="0"/>
              <a:t>2023/12/6</a:t>
            </a:fld>
            <a:endParaRPr lang="zh-CN" altLang="en-US"/>
          </a:p>
        </p:txBody>
      </p:sp>
      <p:sp>
        <p:nvSpPr>
          <p:cNvPr id="4" name="幻灯片图像占位符 3"/>
          <p:cNvSpPr>
            <a:spLocks noGrp="1" noRot="1" noChangeAspect="1"/>
          </p:cNvSpPr>
          <p:nvPr>
            <p:ph type="sldImg" idx="2"/>
          </p:nvPr>
        </p:nvSpPr>
        <p:spPr>
          <a:xfrm>
            <a:off x="2913063" y="841375"/>
            <a:ext cx="4040187" cy="22733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86632" y="3241586"/>
            <a:ext cx="7893050" cy="2652207"/>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397806"/>
            <a:ext cx="4275402" cy="33795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588628" y="6397806"/>
            <a:ext cx="4275402" cy="337957"/>
          </a:xfrm>
          <a:prstGeom prst="rect">
            <a:avLst/>
          </a:prstGeom>
        </p:spPr>
        <p:txBody>
          <a:bodyPr vert="horz" lIns="91440" tIns="45720" rIns="91440" bIns="45720" rtlCol="0" anchor="b"/>
          <a:lstStyle>
            <a:lvl1pPr algn="r">
              <a:defRPr sz="1200"/>
            </a:lvl1pPr>
          </a:lstStyle>
          <a:p>
            <a:fld id="{344ACED3-A290-4E4D-B94F-B458FF2BD3D8}" type="slidenum">
              <a:rPr lang="zh-CN" altLang="en-US" smtClean="0"/>
              <a:t>‹#›</a:t>
            </a:fld>
            <a:endParaRPr lang="zh-CN" altLang="en-US"/>
          </a:p>
        </p:txBody>
      </p:sp>
    </p:spTree>
    <p:extLst>
      <p:ext uri="{BB962C8B-B14F-4D97-AF65-F5344CB8AC3E}">
        <p14:creationId xmlns:p14="http://schemas.microsoft.com/office/powerpoint/2010/main" val="1428078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508" y="4377645"/>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CA9B98F-A32D-449F-A16D-8074457670E9}" type="datetime1">
              <a:rPr lang="zh-CN" altLang="en-US" smtClean="0"/>
              <a:t>2023/12/6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C9E101-E51D-431E-84FA-C029B8655B60}" type="slidenum">
              <a:rPr lang="zh-CN" altLang="en-US" smtClean="0"/>
              <a:t>‹#›</a:t>
            </a:fld>
            <a:endParaRPr lang="zh-CN" altLang="en-US"/>
          </a:p>
        </p:txBody>
      </p:sp>
      <p:sp>
        <p:nvSpPr>
          <p:cNvPr id="7" name="矩形 6">
            <a:extLst>
              <a:ext uri="{FF2B5EF4-FFF2-40B4-BE49-F238E27FC236}">
                <a16:creationId xmlns:a16="http://schemas.microsoft.com/office/drawing/2014/main" id="{2B68CA98-A398-4530-9020-4D4DB6439D6A}"/>
              </a:ext>
            </a:extLst>
          </p:cNvPr>
          <p:cNvSpPr/>
          <p:nvPr/>
        </p:nvSpPr>
        <p:spPr>
          <a:xfrm>
            <a:off x="0" y="1724896"/>
            <a:ext cx="12192000" cy="2138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8" name="组合 7">
            <a:extLst>
              <a:ext uri="{FF2B5EF4-FFF2-40B4-BE49-F238E27FC236}">
                <a16:creationId xmlns:a16="http://schemas.microsoft.com/office/drawing/2014/main" id="{9AFCF4C2-E096-4262-8ECB-78D0989EDE7A}"/>
              </a:ext>
            </a:extLst>
          </p:cNvPr>
          <p:cNvGrpSpPr/>
          <p:nvPr/>
        </p:nvGrpSpPr>
        <p:grpSpPr>
          <a:xfrm>
            <a:off x="4688155" y="5875923"/>
            <a:ext cx="342764" cy="342764"/>
            <a:chOff x="4688155" y="5875923"/>
            <a:chExt cx="342764" cy="342764"/>
          </a:xfrm>
        </p:grpSpPr>
        <p:sp>
          <p:nvSpPr>
            <p:cNvPr id="9" name="椭圆 8">
              <a:extLst>
                <a:ext uri="{FF2B5EF4-FFF2-40B4-BE49-F238E27FC236}">
                  <a16:creationId xmlns:a16="http://schemas.microsoft.com/office/drawing/2014/main" id="{CF0BDC3B-A6A3-45D0-B9DB-DF2D639EE734}"/>
                </a:ext>
              </a:extLst>
            </p:cNvPr>
            <p:cNvSpPr/>
            <p:nvPr/>
          </p:nvSpPr>
          <p:spPr>
            <a:xfrm>
              <a:off x="4688155"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10" name="组合 9">
              <a:extLst>
                <a:ext uri="{FF2B5EF4-FFF2-40B4-BE49-F238E27FC236}">
                  <a16:creationId xmlns:a16="http://schemas.microsoft.com/office/drawing/2014/main" id="{C57D6A93-2E21-4CEE-8B0C-82D273459889}"/>
                </a:ext>
              </a:extLst>
            </p:cNvPr>
            <p:cNvGrpSpPr/>
            <p:nvPr/>
          </p:nvGrpSpPr>
          <p:grpSpPr>
            <a:xfrm>
              <a:off x="4763028" y="5947390"/>
              <a:ext cx="193018" cy="199830"/>
              <a:chOff x="5753100" y="3041650"/>
              <a:chExt cx="682626" cy="771526"/>
            </a:xfrm>
            <a:solidFill>
              <a:schemeClr val="accent1"/>
            </a:solidFill>
          </p:grpSpPr>
          <p:sp>
            <p:nvSpPr>
              <p:cNvPr id="11" name="Oval 202">
                <a:extLst>
                  <a:ext uri="{FF2B5EF4-FFF2-40B4-BE49-F238E27FC236}">
                    <a16:creationId xmlns:a16="http://schemas.microsoft.com/office/drawing/2014/main" id="{2F0A091A-AD4E-45CF-AFEB-14261F9539CF}"/>
                  </a:ext>
                </a:extLst>
              </p:cNvPr>
              <p:cNvSpPr>
                <a:spLocks noChangeArrowheads="1"/>
              </p:cNvSpPr>
              <p:nvPr/>
            </p:nvSpPr>
            <p:spPr bwMode="auto">
              <a:xfrm>
                <a:off x="5908675" y="3041650"/>
                <a:ext cx="119063" cy="1476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2" name="Freeform 203">
                <a:extLst>
                  <a:ext uri="{FF2B5EF4-FFF2-40B4-BE49-F238E27FC236}">
                    <a16:creationId xmlns:a16="http://schemas.microsoft.com/office/drawing/2014/main" id="{D6D7EDDD-D438-4D26-8D11-489580AAB1B0}"/>
                  </a:ext>
                </a:extLst>
              </p:cNvPr>
              <p:cNvSpPr/>
              <p:nvPr/>
            </p:nvSpPr>
            <p:spPr bwMode="auto">
              <a:xfrm>
                <a:off x="6103938" y="3413125"/>
                <a:ext cx="46038" cy="84138"/>
              </a:xfrm>
              <a:custGeom>
                <a:avLst/>
                <a:gdLst>
                  <a:gd name="T0" fmla="*/ 2 w 12"/>
                  <a:gd name="T1" fmla="*/ 22 h 22"/>
                  <a:gd name="T2" fmla="*/ 10 w 12"/>
                  <a:gd name="T3" fmla="*/ 22 h 22"/>
                  <a:gd name="T4" fmla="*/ 12 w 12"/>
                  <a:gd name="T5" fmla="*/ 20 h 22"/>
                  <a:gd name="T6" fmla="*/ 12 w 12"/>
                  <a:gd name="T7" fmla="*/ 2 h 22"/>
                  <a:gd name="T8" fmla="*/ 10 w 12"/>
                  <a:gd name="T9" fmla="*/ 0 h 22"/>
                  <a:gd name="T10" fmla="*/ 2 w 12"/>
                  <a:gd name="T11" fmla="*/ 0 h 22"/>
                  <a:gd name="T12" fmla="*/ 0 w 12"/>
                  <a:gd name="T13" fmla="*/ 2 h 22"/>
                  <a:gd name="T14" fmla="*/ 0 w 12"/>
                  <a:gd name="T15" fmla="*/ 20 h 22"/>
                  <a:gd name="T16" fmla="*/ 2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2" y="22"/>
                    </a:moveTo>
                    <a:cubicBezTo>
                      <a:pt x="10" y="22"/>
                      <a:pt x="10" y="22"/>
                      <a:pt x="10" y="22"/>
                    </a:cubicBezTo>
                    <a:cubicBezTo>
                      <a:pt x="11" y="22"/>
                      <a:pt x="12" y="21"/>
                      <a:pt x="12" y="20"/>
                    </a:cubicBezTo>
                    <a:cubicBezTo>
                      <a:pt x="12" y="2"/>
                      <a:pt x="12" y="2"/>
                      <a:pt x="12" y="2"/>
                    </a:cubicBezTo>
                    <a:cubicBezTo>
                      <a:pt x="12" y="1"/>
                      <a:pt x="11" y="0"/>
                      <a:pt x="10" y="0"/>
                    </a:cubicBezTo>
                    <a:cubicBezTo>
                      <a:pt x="2" y="0"/>
                      <a:pt x="2" y="0"/>
                      <a:pt x="2" y="0"/>
                    </a:cubicBezTo>
                    <a:cubicBezTo>
                      <a:pt x="1" y="0"/>
                      <a:pt x="0" y="1"/>
                      <a:pt x="0" y="2"/>
                    </a:cubicBezTo>
                    <a:cubicBezTo>
                      <a:pt x="0" y="20"/>
                      <a:pt x="0" y="20"/>
                      <a:pt x="0" y="20"/>
                    </a:cubicBezTo>
                    <a:cubicBezTo>
                      <a:pt x="0" y="21"/>
                      <a:pt x="1" y="22"/>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3" name="Freeform 204">
                <a:extLst>
                  <a:ext uri="{FF2B5EF4-FFF2-40B4-BE49-F238E27FC236}">
                    <a16:creationId xmlns:a16="http://schemas.microsoft.com/office/drawing/2014/main" id="{63ABB64B-5B7B-41F3-908D-85AF1C674D97}"/>
                  </a:ext>
                </a:extLst>
              </p:cNvPr>
              <p:cNvSpPr/>
              <p:nvPr/>
            </p:nvSpPr>
            <p:spPr bwMode="auto">
              <a:xfrm>
                <a:off x="6313488" y="3413125"/>
                <a:ext cx="46038" cy="84138"/>
              </a:xfrm>
              <a:custGeom>
                <a:avLst/>
                <a:gdLst>
                  <a:gd name="T0" fmla="*/ 3 w 12"/>
                  <a:gd name="T1" fmla="*/ 22 h 22"/>
                  <a:gd name="T2" fmla="*/ 10 w 12"/>
                  <a:gd name="T3" fmla="*/ 22 h 22"/>
                  <a:gd name="T4" fmla="*/ 12 w 12"/>
                  <a:gd name="T5" fmla="*/ 20 h 22"/>
                  <a:gd name="T6" fmla="*/ 12 w 12"/>
                  <a:gd name="T7" fmla="*/ 2 h 22"/>
                  <a:gd name="T8" fmla="*/ 10 w 12"/>
                  <a:gd name="T9" fmla="*/ 0 h 22"/>
                  <a:gd name="T10" fmla="*/ 3 w 12"/>
                  <a:gd name="T11" fmla="*/ 0 h 22"/>
                  <a:gd name="T12" fmla="*/ 0 w 12"/>
                  <a:gd name="T13" fmla="*/ 2 h 22"/>
                  <a:gd name="T14" fmla="*/ 0 w 12"/>
                  <a:gd name="T15" fmla="*/ 20 h 22"/>
                  <a:gd name="T16" fmla="*/ 3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3" y="22"/>
                    </a:moveTo>
                    <a:cubicBezTo>
                      <a:pt x="10" y="22"/>
                      <a:pt x="10" y="22"/>
                      <a:pt x="10" y="22"/>
                    </a:cubicBezTo>
                    <a:cubicBezTo>
                      <a:pt x="12" y="22"/>
                      <a:pt x="12" y="21"/>
                      <a:pt x="12" y="20"/>
                    </a:cubicBezTo>
                    <a:cubicBezTo>
                      <a:pt x="12" y="2"/>
                      <a:pt x="12" y="2"/>
                      <a:pt x="12" y="2"/>
                    </a:cubicBezTo>
                    <a:cubicBezTo>
                      <a:pt x="12" y="1"/>
                      <a:pt x="12" y="0"/>
                      <a:pt x="10" y="0"/>
                    </a:cubicBezTo>
                    <a:cubicBezTo>
                      <a:pt x="3" y="0"/>
                      <a:pt x="3" y="0"/>
                      <a:pt x="3" y="0"/>
                    </a:cubicBezTo>
                    <a:cubicBezTo>
                      <a:pt x="1" y="0"/>
                      <a:pt x="0" y="1"/>
                      <a:pt x="0" y="2"/>
                    </a:cubicBezTo>
                    <a:cubicBezTo>
                      <a:pt x="0" y="20"/>
                      <a:pt x="0" y="20"/>
                      <a:pt x="0" y="20"/>
                    </a:cubicBezTo>
                    <a:cubicBezTo>
                      <a:pt x="0" y="21"/>
                      <a:pt x="1" y="22"/>
                      <a:pt x="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4" name="Freeform 205">
                <a:extLst>
                  <a:ext uri="{FF2B5EF4-FFF2-40B4-BE49-F238E27FC236}">
                    <a16:creationId xmlns:a16="http://schemas.microsoft.com/office/drawing/2014/main" id="{0DC5A647-E6DF-4675-9E56-B3AFBA405D95}"/>
                  </a:ext>
                </a:extLst>
              </p:cNvPr>
              <p:cNvSpPr>
                <a:spLocks noEditPoints="1"/>
              </p:cNvSpPr>
              <p:nvPr/>
            </p:nvSpPr>
            <p:spPr bwMode="auto">
              <a:xfrm>
                <a:off x="6030913" y="3444875"/>
                <a:ext cx="404813" cy="360363"/>
              </a:xfrm>
              <a:custGeom>
                <a:avLst/>
                <a:gdLst>
                  <a:gd name="T0" fmla="*/ 94 w 106"/>
                  <a:gd name="T1" fmla="*/ 0 h 95"/>
                  <a:gd name="T2" fmla="*/ 91 w 106"/>
                  <a:gd name="T3" fmla="*/ 0 h 95"/>
                  <a:gd name="T4" fmla="*/ 91 w 106"/>
                  <a:gd name="T5" fmla="*/ 12 h 95"/>
                  <a:gd name="T6" fmla="*/ 84 w 106"/>
                  <a:gd name="T7" fmla="*/ 18 h 95"/>
                  <a:gd name="T8" fmla="*/ 77 w 106"/>
                  <a:gd name="T9" fmla="*/ 18 h 95"/>
                  <a:gd name="T10" fmla="*/ 70 w 106"/>
                  <a:gd name="T11" fmla="*/ 12 h 95"/>
                  <a:gd name="T12" fmla="*/ 70 w 106"/>
                  <a:gd name="T13" fmla="*/ 0 h 95"/>
                  <a:gd name="T14" fmla="*/ 36 w 106"/>
                  <a:gd name="T15" fmla="*/ 0 h 95"/>
                  <a:gd name="T16" fmla="*/ 36 w 106"/>
                  <a:gd name="T17" fmla="*/ 12 h 95"/>
                  <a:gd name="T18" fmla="*/ 29 w 106"/>
                  <a:gd name="T19" fmla="*/ 18 h 95"/>
                  <a:gd name="T20" fmla="*/ 21 w 106"/>
                  <a:gd name="T21" fmla="*/ 18 h 95"/>
                  <a:gd name="T22" fmla="*/ 15 w 106"/>
                  <a:gd name="T23" fmla="*/ 12 h 95"/>
                  <a:gd name="T24" fmla="*/ 15 w 106"/>
                  <a:gd name="T25" fmla="*/ 0 h 95"/>
                  <a:gd name="T26" fmla="*/ 12 w 106"/>
                  <a:gd name="T27" fmla="*/ 0 h 95"/>
                  <a:gd name="T28" fmla="*/ 0 w 106"/>
                  <a:gd name="T29" fmla="*/ 13 h 95"/>
                  <a:gd name="T30" fmla="*/ 0 w 106"/>
                  <a:gd name="T31" fmla="*/ 36 h 95"/>
                  <a:gd name="T32" fmla="*/ 0 w 106"/>
                  <a:gd name="T33" fmla="*/ 83 h 95"/>
                  <a:gd name="T34" fmla="*/ 12 w 106"/>
                  <a:gd name="T35" fmla="*/ 95 h 95"/>
                  <a:gd name="T36" fmla="*/ 94 w 106"/>
                  <a:gd name="T37" fmla="*/ 95 h 95"/>
                  <a:gd name="T38" fmla="*/ 106 w 106"/>
                  <a:gd name="T39" fmla="*/ 83 h 95"/>
                  <a:gd name="T40" fmla="*/ 106 w 106"/>
                  <a:gd name="T41" fmla="*/ 36 h 95"/>
                  <a:gd name="T42" fmla="*/ 106 w 106"/>
                  <a:gd name="T43" fmla="*/ 13 h 95"/>
                  <a:gd name="T44" fmla="*/ 94 w 106"/>
                  <a:gd name="T45" fmla="*/ 0 h 95"/>
                  <a:gd name="T46" fmla="*/ 98 w 106"/>
                  <a:gd name="T47" fmla="*/ 83 h 95"/>
                  <a:gd name="T48" fmla="*/ 94 w 106"/>
                  <a:gd name="T49" fmla="*/ 88 h 95"/>
                  <a:gd name="T50" fmla="*/ 12 w 106"/>
                  <a:gd name="T51" fmla="*/ 88 h 95"/>
                  <a:gd name="T52" fmla="*/ 8 w 106"/>
                  <a:gd name="T53" fmla="*/ 83 h 95"/>
                  <a:gd name="T54" fmla="*/ 8 w 106"/>
                  <a:gd name="T55" fmla="*/ 36 h 95"/>
                  <a:gd name="T56" fmla="*/ 98 w 106"/>
                  <a:gd name="T57" fmla="*/ 36 h 95"/>
                  <a:gd name="T58" fmla="*/ 98 w 106"/>
                  <a:gd name="T59" fmla="*/ 8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6" h="95">
                    <a:moveTo>
                      <a:pt x="94" y="0"/>
                    </a:moveTo>
                    <a:cubicBezTo>
                      <a:pt x="91" y="0"/>
                      <a:pt x="91" y="0"/>
                      <a:pt x="91" y="0"/>
                    </a:cubicBezTo>
                    <a:cubicBezTo>
                      <a:pt x="91" y="12"/>
                      <a:pt x="91" y="12"/>
                      <a:pt x="91" y="12"/>
                    </a:cubicBezTo>
                    <a:cubicBezTo>
                      <a:pt x="91" y="15"/>
                      <a:pt x="88" y="18"/>
                      <a:pt x="84" y="18"/>
                    </a:cubicBezTo>
                    <a:cubicBezTo>
                      <a:pt x="77" y="18"/>
                      <a:pt x="77" y="18"/>
                      <a:pt x="77" y="18"/>
                    </a:cubicBezTo>
                    <a:cubicBezTo>
                      <a:pt x="73" y="18"/>
                      <a:pt x="70" y="15"/>
                      <a:pt x="70" y="12"/>
                    </a:cubicBezTo>
                    <a:cubicBezTo>
                      <a:pt x="70" y="0"/>
                      <a:pt x="70" y="0"/>
                      <a:pt x="70" y="0"/>
                    </a:cubicBezTo>
                    <a:cubicBezTo>
                      <a:pt x="36" y="0"/>
                      <a:pt x="36" y="0"/>
                      <a:pt x="36" y="0"/>
                    </a:cubicBezTo>
                    <a:cubicBezTo>
                      <a:pt x="36" y="12"/>
                      <a:pt x="36" y="12"/>
                      <a:pt x="36" y="12"/>
                    </a:cubicBezTo>
                    <a:cubicBezTo>
                      <a:pt x="36" y="15"/>
                      <a:pt x="33" y="18"/>
                      <a:pt x="29" y="18"/>
                    </a:cubicBezTo>
                    <a:cubicBezTo>
                      <a:pt x="21" y="18"/>
                      <a:pt x="21" y="18"/>
                      <a:pt x="21" y="18"/>
                    </a:cubicBezTo>
                    <a:cubicBezTo>
                      <a:pt x="18" y="18"/>
                      <a:pt x="15" y="15"/>
                      <a:pt x="15" y="12"/>
                    </a:cubicBezTo>
                    <a:cubicBezTo>
                      <a:pt x="15" y="0"/>
                      <a:pt x="15" y="0"/>
                      <a:pt x="15" y="0"/>
                    </a:cubicBezTo>
                    <a:cubicBezTo>
                      <a:pt x="12" y="0"/>
                      <a:pt x="12" y="0"/>
                      <a:pt x="12" y="0"/>
                    </a:cubicBezTo>
                    <a:cubicBezTo>
                      <a:pt x="5" y="0"/>
                      <a:pt x="0" y="6"/>
                      <a:pt x="0" y="13"/>
                    </a:cubicBezTo>
                    <a:cubicBezTo>
                      <a:pt x="0" y="36"/>
                      <a:pt x="0" y="36"/>
                      <a:pt x="0" y="36"/>
                    </a:cubicBezTo>
                    <a:cubicBezTo>
                      <a:pt x="0" y="83"/>
                      <a:pt x="0" y="83"/>
                      <a:pt x="0" y="83"/>
                    </a:cubicBezTo>
                    <a:cubicBezTo>
                      <a:pt x="0" y="90"/>
                      <a:pt x="5" y="95"/>
                      <a:pt x="12" y="95"/>
                    </a:cubicBezTo>
                    <a:cubicBezTo>
                      <a:pt x="94" y="95"/>
                      <a:pt x="94" y="95"/>
                      <a:pt x="94" y="95"/>
                    </a:cubicBezTo>
                    <a:cubicBezTo>
                      <a:pt x="100" y="95"/>
                      <a:pt x="106" y="90"/>
                      <a:pt x="106" y="83"/>
                    </a:cubicBezTo>
                    <a:cubicBezTo>
                      <a:pt x="106" y="36"/>
                      <a:pt x="106" y="36"/>
                      <a:pt x="106" y="36"/>
                    </a:cubicBezTo>
                    <a:cubicBezTo>
                      <a:pt x="106" y="13"/>
                      <a:pt x="106" y="13"/>
                      <a:pt x="106" y="13"/>
                    </a:cubicBezTo>
                    <a:cubicBezTo>
                      <a:pt x="106" y="6"/>
                      <a:pt x="100" y="0"/>
                      <a:pt x="94" y="0"/>
                    </a:cubicBezTo>
                    <a:close/>
                    <a:moveTo>
                      <a:pt x="98" y="83"/>
                    </a:moveTo>
                    <a:cubicBezTo>
                      <a:pt x="98" y="86"/>
                      <a:pt x="96" y="88"/>
                      <a:pt x="94" y="88"/>
                    </a:cubicBezTo>
                    <a:cubicBezTo>
                      <a:pt x="12" y="88"/>
                      <a:pt x="12" y="88"/>
                      <a:pt x="12" y="88"/>
                    </a:cubicBezTo>
                    <a:cubicBezTo>
                      <a:pt x="10" y="88"/>
                      <a:pt x="8" y="86"/>
                      <a:pt x="8" y="83"/>
                    </a:cubicBezTo>
                    <a:cubicBezTo>
                      <a:pt x="8" y="36"/>
                      <a:pt x="8" y="36"/>
                      <a:pt x="8" y="36"/>
                    </a:cubicBezTo>
                    <a:cubicBezTo>
                      <a:pt x="98" y="36"/>
                      <a:pt x="98" y="36"/>
                      <a:pt x="98" y="36"/>
                    </a:cubicBezTo>
                    <a:lnTo>
                      <a:pt x="98" y="8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5" name="Rectangle 206">
                <a:extLst>
                  <a:ext uri="{FF2B5EF4-FFF2-40B4-BE49-F238E27FC236}">
                    <a16:creationId xmlns:a16="http://schemas.microsoft.com/office/drawing/2014/main" id="{D0010BBB-DFB9-4175-A76B-C3B2B09AB3A1}"/>
                  </a:ext>
                </a:extLst>
              </p:cNvPr>
              <p:cNvSpPr>
                <a:spLocks noChangeArrowheads="1"/>
              </p:cNvSpPr>
              <p:nvPr/>
            </p:nvSpPr>
            <p:spPr bwMode="auto">
              <a:xfrm>
                <a:off x="608488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6" name="Rectangle 207">
                <a:extLst>
                  <a:ext uri="{FF2B5EF4-FFF2-40B4-BE49-F238E27FC236}">
                    <a16:creationId xmlns:a16="http://schemas.microsoft.com/office/drawing/2014/main" id="{AB3A1A45-8B07-40C8-B06D-85B240A9F309}"/>
                  </a:ext>
                </a:extLst>
              </p:cNvPr>
              <p:cNvSpPr>
                <a:spLocks noChangeArrowheads="1"/>
              </p:cNvSpPr>
              <p:nvPr/>
            </p:nvSpPr>
            <p:spPr bwMode="auto">
              <a:xfrm>
                <a:off x="6191250"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7" name="Rectangle 208">
                <a:extLst>
                  <a:ext uri="{FF2B5EF4-FFF2-40B4-BE49-F238E27FC236}">
                    <a16:creationId xmlns:a16="http://schemas.microsoft.com/office/drawing/2014/main" id="{50D6D5DE-227B-4BD8-8872-55F14BF1F98A}"/>
                  </a:ext>
                </a:extLst>
              </p:cNvPr>
              <p:cNvSpPr>
                <a:spLocks noChangeArrowheads="1"/>
              </p:cNvSpPr>
              <p:nvPr/>
            </p:nvSpPr>
            <p:spPr bwMode="auto">
              <a:xfrm>
                <a:off x="629443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8" name="Rectangle 209">
                <a:extLst>
                  <a:ext uri="{FF2B5EF4-FFF2-40B4-BE49-F238E27FC236}">
                    <a16:creationId xmlns:a16="http://schemas.microsoft.com/office/drawing/2014/main" id="{2129D8C0-5574-4981-A473-54A4DA5BBC51}"/>
                  </a:ext>
                </a:extLst>
              </p:cNvPr>
              <p:cNvSpPr>
                <a:spLocks noChangeArrowheads="1"/>
              </p:cNvSpPr>
              <p:nvPr/>
            </p:nvSpPr>
            <p:spPr bwMode="auto">
              <a:xfrm>
                <a:off x="608488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9" name="Rectangle 210">
                <a:extLst>
                  <a:ext uri="{FF2B5EF4-FFF2-40B4-BE49-F238E27FC236}">
                    <a16:creationId xmlns:a16="http://schemas.microsoft.com/office/drawing/2014/main" id="{42C482E4-5992-4F76-A4FC-FAEA3959B45C}"/>
                  </a:ext>
                </a:extLst>
              </p:cNvPr>
              <p:cNvSpPr>
                <a:spLocks noChangeArrowheads="1"/>
              </p:cNvSpPr>
              <p:nvPr/>
            </p:nvSpPr>
            <p:spPr bwMode="auto">
              <a:xfrm>
                <a:off x="6191250"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0" name="Rectangle 211">
                <a:extLst>
                  <a:ext uri="{FF2B5EF4-FFF2-40B4-BE49-F238E27FC236}">
                    <a16:creationId xmlns:a16="http://schemas.microsoft.com/office/drawing/2014/main" id="{608FABB8-F614-48FA-B8BA-76252847C955}"/>
                  </a:ext>
                </a:extLst>
              </p:cNvPr>
              <p:cNvSpPr>
                <a:spLocks noChangeArrowheads="1"/>
              </p:cNvSpPr>
              <p:nvPr/>
            </p:nvSpPr>
            <p:spPr bwMode="auto">
              <a:xfrm>
                <a:off x="629443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1" name="Rectangle 212">
                <a:extLst>
                  <a:ext uri="{FF2B5EF4-FFF2-40B4-BE49-F238E27FC236}">
                    <a16:creationId xmlns:a16="http://schemas.microsoft.com/office/drawing/2014/main" id="{BE49BF88-4A04-43E2-8944-E6471A990D7B}"/>
                  </a:ext>
                </a:extLst>
              </p:cNvPr>
              <p:cNvSpPr>
                <a:spLocks noChangeArrowheads="1"/>
              </p:cNvSpPr>
              <p:nvPr/>
            </p:nvSpPr>
            <p:spPr bwMode="auto">
              <a:xfrm>
                <a:off x="608488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2" name="Rectangle 213">
                <a:extLst>
                  <a:ext uri="{FF2B5EF4-FFF2-40B4-BE49-F238E27FC236}">
                    <a16:creationId xmlns:a16="http://schemas.microsoft.com/office/drawing/2014/main" id="{1F29B5A7-F2A1-4F35-A35C-004039DDA113}"/>
                  </a:ext>
                </a:extLst>
              </p:cNvPr>
              <p:cNvSpPr>
                <a:spLocks noChangeArrowheads="1"/>
              </p:cNvSpPr>
              <p:nvPr/>
            </p:nvSpPr>
            <p:spPr bwMode="auto">
              <a:xfrm>
                <a:off x="6191250"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3" name="Rectangle 214">
                <a:extLst>
                  <a:ext uri="{FF2B5EF4-FFF2-40B4-BE49-F238E27FC236}">
                    <a16:creationId xmlns:a16="http://schemas.microsoft.com/office/drawing/2014/main" id="{7A1C70A7-03A0-4142-914C-A675EEB0F1BA}"/>
                  </a:ext>
                </a:extLst>
              </p:cNvPr>
              <p:cNvSpPr>
                <a:spLocks noChangeArrowheads="1"/>
              </p:cNvSpPr>
              <p:nvPr/>
            </p:nvSpPr>
            <p:spPr bwMode="auto">
              <a:xfrm>
                <a:off x="629443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4" name="Rectangle 215">
                <a:extLst>
                  <a:ext uri="{FF2B5EF4-FFF2-40B4-BE49-F238E27FC236}">
                    <a16:creationId xmlns:a16="http://schemas.microsoft.com/office/drawing/2014/main" id="{95C51AC2-93C4-4847-869B-B822FA435768}"/>
                  </a:ext>
                </a:extLst>
              </p:cNvPr>
              <p:cNvSpPr>
                <a:spLocks noChangeArrowheads="1"/>
              </p:cNvSpPr>
              <p:nvPr/>
            </p:nvSpPr>
            <p:spPr bwMode="auto">
              <a:xfrm>
                <a:off x="5965825" y="3398838"/>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25" name="Freeform 216">
                <a:extLst>
                  <a:ext uri="{FF2B5EF4-FFF2-40B4-BE49-F238E27FC236}">
                    <a16:creationId xmlns:a16="http://schemas.microsoft.com/office/drawing/2014/main" id="{E4FB0AFD-8DFA-47AF-A756-6E3640B92A98}"/>
                  </a:ext>
                </a:extLst>
              </p:cNvPr>
              <p:cNvSpPr>
                <a:spLocks noEditPoints="1"/>
              </p:cNvSpPr>
              <p:nvPr/>
            </p:nvSpPr>
            <p:spPr bwMode="auto">
              <a:xfrm>
                <a:off x="5753100" y="3208338"/>
                <a:ext cx="427038" cy="604838"/>
              </a:xfrm>
              <a:custGeom>
                <a:avLst/>
                <a:gdLst>
                  <a:gd name="T0" fmla="*/ 111 w 112"/>
                  <a:gd name="T1" fmla="*/ 23 h 159"/>
                  <a:gd name="T2" fmla="*/ 106 w 112"/>
                  <a:gd name="T3" fmla="*/ 19 h 159"/>
                  <a:gd name="T4" fmla="*/ 83 w 112"/>
                  <a:gd name="T5" fmla="*/ 2 h 159"/>
                  <a:gd name="T6" fmla="*/ 77 w 112"/>
                  <a:gd name="T7" fmla="*/ 0 h 159"/>
                  <a:gd name="T8" fmla="*/ 70 w 112"/>
                  <a:gd name="T9" fmla="*/ 0 h 159"/>
                  <a:gd name="T10" fmla="*/ 68 w 112"/>
                  <a:gd name="T11" fmla="*/ 10 h 159"/>
                  <a:gd name="T12" fmla="*/ 56 w 112"/>
                  <a:gd name="T13" fmla="*/ 50 h 159"/>
                  <a:gd name="T14" fmla="*/ 56 w 112"/>
                  <a:gd name="T15" fmla="*/ 51 h 159"/>
                  <a:gd name="T16" fmla="*/ 56 w 112"/>
                  <a:gd name="T17" fmla="*/ 50 h 159"/>
                  <a:gd name="T18" fmla="*/ 45 w 112"/>
                  <a:gd name="T19" fmla="*/ 10 h 159"/>
                  <a:gd name="T20" fmla="*/ 43 w 112"/>
                  <a:gd name="T21" fmla="*/ 0 h 159"/>
                  <a:gd name="T22" fmla="*/ 35 w 112"/>
                  <a:gd name="T23" fmla="*/ 0 h 159"/>
                  <a:gd name="T24" fmla="*/ 28 w 112"/>
                  <a:gd name="T25" fmla="*/ 4 h 159"/>
                  <a:gd name="T26" fmla="*/ 0 w 112"/>
                  <a:gd name="T27" fmla="*/ 44 h 159"/>
                  <a:gd name="T28" fmla="*/ 0 w 112"/>
                  <a:gd name="T29" fmla="*/ 44 h 159"/>
                  <a:gd name="T30" fmla="*/ 0 w 112"/>
                  <a:gd name="T31" fmla="*/ 45 h 159"/>
                  <a:gd name="T32" fmla="*/ 2 w 112"/>
                  <a:gd name="T33" fmla="*/ 48 h 159"/>
                  <a:gd name="T34" fmla="*/ 9 w 112"/>
                  <a:gd name="T35" fmla="*/ 61 h 159"/>
                  <a:gd name="T36" fmla="*/ 29 w 112"/>
                  <a:gd name="T37" fmla="*/ 72 h 159"/>
                  <a:gd name="T38" fmla="*/ 29 w 112"/>
                  <a:gd name="T39" fmla="*/ 84 h 159"/>
                  <a:gd name="T40" fmla="*/ 34 w 112"/>
                  <a:gd name="T41" fmla="*/ 159 h 159"/>
                  <a:gd name="T42" fmla="*/ 55 w 112"/>
                  <a:gd name="T43" fmla="*/ 84 h 159"/>
                  <a:gd name="T44" fmla="*/ 60 w 112"/>
                  <a:gd name="T45" fmla="*/ 159 h 159"/>
                  <a:gd name="T46" fmla="*/ 67 w 112"/>
                  <a:gd name="T47" fmla="*/ 145 h 159"/>
                  <a:gd name="T48" fmla="*/ 76 w 112"/>
                  <a:gd name="T49" fmla="*/ 59 h 159"/>
                  <a:gd name="T50" fmla="*/ 110 w 112"/>
                  <a:gd name="T51" fmla="*/ 41 h 159"/>
                  <a:gd name="T52" fmla="*/ 112 w 112"/>
                  <a:gd name="T53" fmla="*/ 24 h 159"/>
                  <a:gd name="T54" fmla="*/ 27 w 112"/>
                  <a:gd name="T55" fmla="*/ 51 h 159"/>
                  <a:gd name="T56" fmla="*/ 21 w 112"/>
                  <a:gd name="T57" fmla="*/ 40 h 159"/>
                  <a:gd name="T58" fmla="*/ 30 w 112"/>
                  <a:gd name="T59" fmla="*/ 55 h 159"/>
                  <a:gd name="T60" fmla="*/ 68 w 112"/>
                  <a:gd name="T61" fmla="*/ 39 h 159"/>
                  <a:gd name="T62" fmla="*/ 82 w 112"/>
                  <a:gd name="T63" fmla="*/ 25 h 159"/>
                  <a:gd name="T64" fmla="*/ 88 w 112"/>
                  <a:gd name="T65" fmla="*/ 3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2" h="159">
                    <a:moveTo>
                      <a:pt x="112" y="24"/>
                    </a:moveTo>
                    <a:cubicBezTo>
                      <a:pt x="111" y="23"/>
                      <a:pt x="111" y="23"/>
                      <a:pt x="111" y="23"/>
                    </a:cubicBezTo>
                    <a:cubicBezTo>
                      <a:pt x="110" y="22"/>
                      <a:pt x="110" y="22"/>
                      <a:pt x="110" y="22"/>
                    </a:cubicBezTo>
                    <a:cubicBezTo>
                      <a:pt x="106" y="19"/>
                      <a:pt x="106" y="19"/>
                      <a:pt x="106" y="19"/>
                    </a:cubicBezTo>
                    <a:cubicBezTo>
                      <a:pt x="98" y="13"/>
                      <a:pt x="98" y="13"/>
                      <a:pt x="98" y="13"/>
                    </a:cubicBezTo>
                    <a:cubicBezTo>
                      <a:pt x="83" y="2"/>
                      <a:pt x="83" y="2"/>
                      <a:pt x="83" y="2"/>
                    </a:cubicBezTo>
                    <a:cubicBezTo>
                      <a:pt x="81" y="1"/>
                      <a:pt x="80" y="0"/>
                      <a:pt x="78" y="0"/>
                    </a:cubicBezTo>
                    <a:cubicBezTo>
                      <a:pt x="78" y="0"/>
                      <a:pt x="78" y="0"/>
                      <a:pt x="77" y="0"/>
                    </a:cubicBezTo>
                    <a:cubicBezTo>
                      <a:pt x="75" y="0"/>
                      <a:pt x="72" y="0"/>
                      <a:pt x="70" y="0"/>
                    </a:cubicBezTo>
                    <a:cubicBezTo>
                      <a:pt x="70" y="0"/>
                      <a:pt x="70" y="0"/>
                      <a:pt x="70" y="0"/>
                    </a:cubicBezTo>
                    <a:cubicBezTo>
                      <a:pt x="76" y="5"/>
                      <a:pt x="76" y="5"/>
                      <a:pt x="76" y="5"/>
                    </a:cubicBezTo>
                    <a:cubicBezTo>
                      <a:pt x="68" y="10"/>
                      <a:pt x="68" y="10"/>
                      <a:pt x="68" y="10"/>
                    </a:cubicBezTo>
                    <a:cubicBezTo>
                      <a:pt x="72" y="16"/>
                      <a:pt x="72" y="16"/>
                      <a:pt x="72" y="16"/>
                    </a:cubicBezTo>
                    <a:cubicBezTo>
                      <a:pt x="56" y="50"/>
                      <a:pt x="56" y="50"/>
                      <a:pt x="56" y="50"/>
                    </a:cubicBezTo>
                    <a:cubicBezTo>
                      <a:pt x="57" y="51"/>
                      <a:pt x="57" y="51"/>
                      <a:pt x="57" y="51"/>
                    </a:cubicBezTo>
                    <a:cubicBezTo>
                      <a:pt x="56" y="51"/>
                      <a:pt x="56" y="51"/>
                      <a:pt x="56" y="51"/>
                    </a:cubicBezTo>
                    <a:cubicBezTo>
                      <a:pt x="56" y="51"/>
                      <a:pt x="56" y="51"/>
                      <a:pt x="56" y="51"/>
                    </a:cubicBezTo>
                    <a:cubicBezTo>
                      <a:pt x="56" y="50"/>
                      <a:pt x="56" y="50"/>
                      <a:pt x="56" y="50"/>
                    </a:cubicBezTo>
                    <a:cubicBezTo>
                      <a:pt x="41" y="16"/>
                      <a:pt x="41" y="16"/>
                      <a:pt x="41" y="16"/>
                    </a:cubicBezTo>
                    <a:cubicBezTo>
                      <a:pt x="45" y="10"/>
                      <a:pt x="45" y="10"/>
                      <a:pt x="45" y="10"/>
                    </a:cubicBezTo>
                    <a:cubicBezTo>
                      <a:pt x="36" y="5"/>
                      <a:pt x="36" y="5"/>
                      <a:pt x="36" y="5"/>
                    </a:cubicBezTo>
                    <a:cubicBezTo>
                      <a:pt x="43" y="0"/>
                      <a:pt x="43" y="0"/>
                      <a:pt x="43" y="0"/>
                    </a:cubicBezTo>
                    <a:cubicBezTo>
                      <a:pt x="43" y="0"/>
                      <a:pt x="43" y="0"/>
                      <a:pt x="43" y="0"/>
                    </a:cubicBezTo>
                    <a:cubicBezTo>
                      <a:pt x="41" y="0"/>
                      <a:pt x="38" y="0"/>
                      <a:pt x="35" y="0"/>
                    </a:cubicBezTo>
                    <a:cubicBezTo>
                      <a:pt x="35" y="0"/>
                      <a:pt x="35" y="0"/>
                      <a:pt x="35" y="0"/>
                    </a:cubicBezTo>
                    <a:cubicBezTo>
                      <a:pt x="32" y="1"/>
                      <a:pt x="30" y="2"/>
                      <a:pt x="28" y="4"/>
                    </a:cubicBezTo>
                    <a:cubicBezTo>
                      <a:pt x="1" y="32"/>
                      <a:pt x="1" y="32"/>
                      <a:pt x="1" y="32"/>
                    </a:cubicBezTo>
                    <a:cubicBezTo>
                      <a:pt x="0" y="44"/>
                      <a:pt x="0" y="44"/>
                      <a:pt x="0" y="44"/>
                    </a:cubicBezTo>
                    <a:cubicBezTo>
                      <a:pt x="0" y="44"/>
                      <a:pt x="0" y="44"/>
                      <a:pt x="0" y="44"/>
                    </a:cubicBezTo>
                    <a:cubicBezTo>
                      <a:pt x="0" y="44"/>
                      <a:pt x="0" y="44"/>
                      <a:pt x="0" y="44"/>
                    </a:cubicBezTo>
                    <a:cubicBezTo>
                      <a:pt x="0" y="44"/>
                      <a:pt x="0" y="44"/>
                      <a:pt x="0" y="44"/>
                    </a:cubicBezTo>
                    <a:cubicBezTo>
                      <a:pt x="0" y="45"/>
                      <a:pt x="0" y="45"/>
                      <a:pt x="0" y="45"/>
                    </a:cubicBezTo>
                    <a:cubicBezTo>
                      <a:pt x="1" y="46"/>
                      <a:pt x="1" y="46"/>
                      <a:pt x="1" y="46"/>
                    </a:cubicBezTo>
                    <a:cubicBezTo>
                      <a:pt x="2" y="48"/>
                      <a:pt x="2" y="48"/>
                      <a:pt x="2" y="48"/>
                    </a:cubicBezTo>
                    <a:cubicBezTo>
                      <a:pt x="4" y="52"/>
                      <a:pt x="4" y="52"/>
                      <a:pt x="4" y="52"/>
                    </a:cubicBezTo>
                    <a:cubicBezTo>
                      <a:pt x="9" y="61"/>
                      <a:pt x="9" y="61"/>
                      <a:pt x="9" y="61"/>
                    </a:cubicBezTo>
                    <a:cubicBezTo>
                      <a:pt x="18" y="78"/>
                      <a:pt x="18" y="78"/>
                      <a:pt x="18" y="78"/>
                    </a:cubicBezTo>
                    <a:cubicBezTo>
                      <a:pt x="22" y="76"/>
                      <a:pt x="26" y="74"/>
                      <a:pt x="29" y="72"/>
                    </a:cubicBezTo>
                    <a:cubicBezTo>
                      <a:pt x="29" y="76"/>
                      <a:pt x="29" y="80"/>
                      <a:pt x="29" y="83"/>
                    </a:cubicBezTo>
                    <a:cubicBezTo>
                      <a:pt x="29" y="83"/>
                      <a:pt x="29" y="84"/>
                      <a:pt x="29" y="84"/>
                    </a:cubicBezTo>
                    <a:cubicBezTo>
                      <a:pt x="30" y="84"/>
                      <a:pt x="31" y="84"/>
                      <a:pt x="31" y="84"/>
                    </a:cubicBezTo>
                    <a:cubicBezTo>
                      <a:pt x="34" y="159"/>
                      <a:pt x="34" y="159"/>
                      <a:pt x="34" y="159"/>
                    </a:cubicBezTo>
                    <a:cubicBezTo>
                      <a:pt x="55" y="159"/>
                      <a:pt x="55" y="159"/>
                      <a:pt x="55" y="159"/>
                    </a:cubicBezTo>
                    <a:cubicBezTo>
                      <a:pt x="56" y="137"/>
                      <a:pt x="56" y="99"/>
                      <a:pt x="55" y="84"/>
                    </a:cubicBezTo>
                    <a:cubicBezTo>
                      <a:pt x="56" y="84"/>
                      <a:pt x="57" y="84"/>
                      <a:pt x="58" y="84"/>
                    </a:cubicBezTo>
                    <a:cubicBezTo>
                      <a:pt x="60" y="159"/>
                      <a:pt x="60" y="159"/>
                      <a:pt x="60" y="159"/>
                    </a:cubicBezTo>
                    <a:cubicBezTo>
                      <a:pt x="74" y="159"/>
                      <a:pt x="74" y="159"/>
                      <a:pt x="74" y="159"/>
                    </a:cubicBezTo>
                    <a:cubicBezTo>
                      <a:pt x="70" y="156"/>
                      <a:pt x="67" y="151"/>
                      <a:pt x="67" y="145"/>
                    </a:cubicBezTo>
                    <a:cubicBezTo>
                      <a:pt x="67" y="75"/>
                      <a:pt x="67" y="75"/>
                      <a:pt x="67" y="75"/>
                    </a:cubicBezTo>
                    <a:cubicBezTo>
                      <a:pt x="67" y="68"/>
                      <a:pt x="71" y="62"/>
                      <a:pt x="76" y="59"/>
                    </a:cubicBezTo>
                    <a:cubicBezTo>
                      <a:pt x="77" y="60"/>
                      <a:pt x="78" y="61"/>
                      <a:pt x="78" y="62"/>
                    </a:cubicBezTo>
                    <a:cubicBezTo>
                      <a:pt x="110" y="41"/>
                      <a:pt x="110" y="41"/>
                      <a:pt x="110" y="41"/>
                    </a:cubicBezTo>
                    <a:cubicBezTo>
                      <a:pt x="111" y="40"/>
                      <a:pt x="111" y="40"/>
                      <a:pt x="111" y="40"/>
                    </a:cubicBezTo>
                    <a:lnTo>
                      <a:pt x="112" y="24"/>
                    </a:lnTo>
                    <a:close/>
                    <a:moveTo>
                      <a:pt x="30" y="55"/>
                    </a:moveTo>
                    <a:cubicBezTo>
                      <a:pt x="27" y="51"/>
                      <a:pt x="27" y="51"/>
                      <a:pt x="27" y="51"/>
                    </a:cubicBezTo>
                    <a:cubicBezTo>
                      <a:pt x="22" y="43"/>
                      <a:pt x="22" y="43"/>
                      <a:pt x="22" y="43"/>
                    </a:cubicBezTo>
                    <a:cubicBezTo>
                      <a:pt x="21" y="40"/>
                      <a:pt x="21" y="40"/>
                      <a:pt x="21" y="40"/>
                    </a:cubicBezTo>
                    <a:cubicBezTo>
                      <a:pt x="31" y="28"/>
                      <a:pt x="31" y="28"/>
                      <a:pt x="31" y="28"/>
                    </a:cubicBezTo>
                    <a:cubicBezTo>
                      <a:pt x="30" y="37"/>
                      <a:pt x="30" y="46"/>
                      <a:pt x="30" y="55"/>
                    </a:cubicBezTo>
                    <a:close/>
                    <a:moveTo>
                      <a:pt x="70" y="41"/>
                    </a:moveTo>
                    <a:cubicBezTo>
                      <a:pt x="68" y="39"/>
                      <a:pt x="68" y="39"/>
                      <a:pt x="68" y="39"/>
                    </a:cubicBezTo>
                    <a:cubicBezTo>
                      <a:pt x="82" y="30"/>
                      <a:pt x="82" y="30"/>
                      <a:pt x="82" y="30"/>
                    </a:cubicBezTo>
                    <a:cubicBezTo>
                      <a:pt x="82" y="28"/>
                      <a:pt x="82" y="27"/>
                      <a:pt x="82" y="25"/>
                    </a:cubicBezTo>
                    <a:cubicBezTo>
                      <a:pt x="86" y="28"/>
                      <a:pt x="86" y="28"/>
                      <a:pt x="86" y="28"/>
                    </a:cubicBezTo>
                    <a:cubicBezTo>
                      <a:pt x="88" y="30"/>
                      <a:pt x="88" y="30"/>
                      <a:pt x="88" y="30"/>
                    </a:cubicBezTo>
                    <a:lnTo>
                      <a:pt x="70"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26" name="Freeform 217">
                <a:extLst>
                  <a:ext uri="{FF2B5EF4-FFF2-40B4-BE49-F238E27FC236}">
                    <a16:creationId xmlns:a16="http://schemas.microsoft.com/office/drawing/2014/main" id="{7681A10F-763B-493B-994C-DB48180CB530}"/>
                  </a:ext>
                </a:extLst>
              </p:cNvPr>
              <p:cNvSpPr/>
              <p:nvPr/>
            </p:nvSpPr>
            <p:spPr bwMode="auto">
              <a:xfrm>
                <a:off x="5946775" y="3201988"/>
                <a:ext cx="42863" cy="44450"/>
              </a:xfrm>
              <a:custGeom>
                <a:avLst/>
                <a:gdLst>
                  <a:gd name="T0" fmla="*/ 22 w 27"/>
                  <a:gd name="T1" fmla="*/ 0 h 28"/>
                  <a:gd name="T2" fmla="*/ 27 w 27"/>
                  <a:gd name="T3" fmla="*/ 16 h 28"/>
                  <a:gd name="T4" fmla="*/ 12 w 27"/>
                  <a:gd name="T5" fmla="*/ 28 h 28"/>
                  <a:gd name="T6" fmla="*/ 0 w 27"/>
                  <a:gd name="T7" fmla="*/ 16 h 28"/>
                  <a:gd name="T8" fmla="*/ 5 w 27"/>
                  <a:gd name="T9" fmla="*/ 0 h 28"/>
                  <a:gd name="T10" fmla="*/ 22 w 27"/>
                  <a:gd name="T11" fmla="*/ 0 h 28"/>
                </a:gdLst>
                <a:ahLst/>
                <a:cxnLst>
                  <a:cxn ang="0">
                    <a:pos x="T0" y="T1"/>
                  </a:cxn>
                  <a:cxn ang="0">
                    <a:pos x="T2" y="T3"/>
                  </a:cxn>
                  <a:cxn ang="0">
                    <a:pos x="T4" y="T5"/>
                  </a:cxn>
                  <a:cxn ang="0">
                    <a:pos x="T6" y="T7"/>
                  </a:cxn>
                  <a:cxn ang="0">
                    <a:pos x="T8" y="T9"/>
                  </a:cxn>
                  <a:cxn ang="0">
                    <a:pos x="T10" y="T11"/>
                  </a:cxn>
                </a:cxnLst>
                <a:rect l="0" t="0" r="r" b="b"/>
                <a:pathLst>
                  <a:path w="27" h="28">
                    <a:moveTo>
                      <a:pt x="22" y="0"/>
                    </a:moveTo>
                    <a:lnTo>
                      <a:pt x="27" y="16"/>
                    </a:lnTo>
                    <a:lnTo>
                      <a:pt x="12" y="28"/>
                    </a:lnTo>
                    <a:lnTo>
                      <a:pt x="0" y="16"/>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27" name="Freeform 218">
                <a:extLst>
                  <a:ext uri="{FF2B5EF4-FFF2-40B4-BE49-F238E27FC236}">
                    <a16:creationId xmlns:a16="http://schemas.microsoft.com/office/drawing/2014/main" id="{52EF81C8-1053-48B5-90C5-0CB1F16929B1}"/>
                  </a:ext>
                </a:extLst>
              </p:cNvPr>
              <p:cNvSpPr/>
              <p:nvPr/>
            </p:nvSpPr>
            <p:spPr bwMode="auto">
              <a:xfrm>
                <a:off x="5946775" y="3232150"/>
                <a:ext cx="42863" cy="185738"/>
              </a:xfrm>
              <a:custGeom>
                <a:avLst/>
                <a:gdLst>
                  <a:gd name="T0" fmla="*/ 22 w 27"/>
                  <a:gd name="T1" fmla="*/ 0 h 117"/>
                  <a:gd name="T2" fmla="*/ 27 w 27"/>
                  <a:gd name="T3" fmla="*/ 105 h 117"/>
                  <a:gd name="T4" fmla="*/ 12 w 27"/>
                  <a:gd name="T5" fmla="*/ 117 h 117"/>
                  <a:gd name="T6" fmla="*/ 0 w 27"/>
                  <a:gd name="T7" fmla="*/ 105 h 117"/>
                  <a:gd name="T8" fmla="*/ 5 w 27"/>
                  <a:gd name="T9" fmla="*/ 0 h 117"/>
                  <a:gd name="T10" fmla="*/ 22 w 27"/>
                  <a:gd name="T11" fmla="*/ 0 h 117"/>
                </a:gdLst>
                <a:ahLst/>
                <a:cxnLst>
                  <a:cxn ang="0">
                    <a:pos x="T0" y="T1"/>
                  </a:cxn>
                  <a:cxn ang="0">
                    <a:pos x="T2" y="T3"/>
                  </a:cxn>
                  <a:cxn ang="0">
                    <a:pos x="T4" y="T5"/>
                  </a:cxn>
                  <a:cxn ang="0">
                    <a:pos x="T6" y="T7"/>
                  </a:cxn>
                  <a:cxn ang="0">
                    <a:pos x="T8" y="T9"/>
                  </a:cxn>
                  <a:cxn ang="0">
                    <a:pos x="T10" y="T11"/>
                  </a:cxn>
                </a:cxnLst>
                <a:rect l="0" t="0" r="r" b="b"/>
                <a:pathLst>
                  <a:path w="27" h="117">
                    <a:moveTo>
                      <a:pt x="22" y="0"/>
                    </a:moveTo>
                    <a:lnTo>
                      <a:pt x="27" y="105"/>
                    </a:lnTo>
                    <a:lnTo>
                      <a:pt x="12" y="117"/>
                    </a:lnTo>
                    <a:lnTo>
                      <a:pt x="0" y="105"/>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grpSp>
      <p:grpSp>
        <p:nvGrpSpPr>
          <p:cNvPr id="28" name="组合 27">
            <a:extLst>
              <a:ext uri="{FF2B5EF4-FFF2-40B4-BE49-F238E27FC236}">
                <a16:creationId xmlns:a16="http://schemas.microsoft.com/office/drawing/2014/main" id="{A0A7B8D9-00C8-461B-8C07-C40FC740B4E6}"/>
              </a:ext>
            </a:extLst>
          </p:cNvPr>
          <p:cNvGrpSpPr/>
          <p:nvPr/>
        </p:nvGrpSpPr>
        <p:grpSpPr>
          <a:xfrm>
            <a:off x="5306387" y="5875923"/>
            <a:ext cx="342764" cy="342764"/>
            <a:chOff x="5306387" y="5875923"/>
            <a:chExt cx="342764" cy="342764"/>
          </a:xfrm>
        </p:grpSpPr>
        <p:sp>
          <p:nvSpPr>
            <p:cNvPr id="29" name="椭圆 28">
              <a:extLst>
                <a:ext uri="{FF2B5EF4-FFF2-40B4-BE49-F238E27FC236}">
                  <a16:creationId xmlns:a16="http://schemas.microsoft.com/office/drawing/2014/main" id="{713CE592-4EAD-4944-A286-E51D3A308F83}"/>
                </a:ext>
              </a:extLst>
            </p:cNvPr>
            <p:cNvSpPr/>
            <p:nvPr/>
          </p:nvSpPr>
          <p:spPr>
            <a:xfrm>
              <a:off x="5306387"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30" name="组合 29">
              <a:extLst>
                <a:ext uri="{FF2B5EF4-FFF2-40B4-BE49-F238E27FC236}">
                  <a16:creationId xmlns:a16="http://schemas.microsoft.com/office/drawing/2014/main" id="{F5FC36AF-6731-43C7-B468-EE7FDCB57E01}"/>
                </a:ext>
              </a:extLst>
            </p:cNvPr>
            <p:cNvGrpSpPr/>
            <p:nvPr/>
          </p:nvGrpSpPr>
          <p:grpSpPr>
            <a:xfrm>
              <a:off x="5370562" y="5961635"/>
              <a:ext cx="214413" cy="171339"/>
              <a:chOff x="5738813" y="3144838"/>
              <a:chExt cx="711200" cy="568325"/>
            </a:xfrm>
            <a:solidFill>
              <a:schemeClr val="accent1"/>
            </a:solidFill>
          </p:grpSpPr>
          <p:sp>
            <p:nvSpPr>
              <p:cNvPr id="31" name="Freeform 103">
                <a:extLst>
                  <a:ext uri="{FF2B5EF4-FFF2-40B4-BE49-F238E27FC236}">
                    <a16:creationId xmlns:a16="http://schemas.microsoft.com/office/drawing/2014/main" id="{B0CD356E-E0A2-49E4-8270-523C0D2BEAB1}"/>
                  </a:ext>
                </a:extLst>
              </p:cNvPr>
              <p:cNvSpPr/>
              <p:nvPr/>
            </p:nvSpPr>
            <p:spPr bwMode="auto">
              <a:xfrm>
                <a:off x="5821363" y="3159126"/>
                <a:ext cx="533400" cy="371475"/>
              </a:xfrm>
              <a:custGeom>
                <a:avLst/>
                <a:gdLst>
                  <a:gd name="T0" fmla="*/ 22 w 336"/>
                  <a:gd name="T1" fmla="*/ 234 h 234"/>
                  <a:gd name="T2" fmla="*/ 0 w 336"/>
                  <a:gd name="T3" fmla="*/ 215 h 234"/>
                  <a:gd name="T4" fmla="*/ 135 w 336"/>
                  <a:gd name="T5" fmla="*/ 56 h 234"/>
                  <a:gd name="T6" fmla="*/ 216 w 336"/>
                  <a:gd name="T7" fmla="*/ 126 h 234"/>
                  <a:gd name="T8" fmla="*/ 312 w 336"/>
                  <a:gd name="T9" fmla="*/ 0 h 234"/>
                  <a:gd name="T10" fmla="*/ 336 w 336"/>
                  <a:gd name="T11" fmla="*/ 17 h 234"/>
                  <a:gd name="T12" fmla="*/ 219 w 336"/>
                  <a:gd name="T13" fmla="*/ 171 h 234"/>
                  <a:gd name="T14" fmla="*/ 137 w 336"/>
                  <a:gd name="T15" fmla="*/ 99 h 234"/>
                  <a:gd name="T16" fmla="*/ 22 w 336"/>
                  <a:gd name="T17" fmla="*/ 234 h 234"/>
                  <a:gd name="T18" fmla="*/ 22 w 336"/>
                  <a:gd name="T19"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234">
                    <a:moveTo>
                      <a:pt x="22" y="234"/>
                    </a:moveTo>
                    <a:lnTo>
                      <a:pt x="0" y="215"/>
                    </a:lnTo>
                    <a:lnTo>
                      <a:pt x="135" y="56"/>
                    </a:lnTo>
                    <a:lnTo>
                      <a:pt x="216" y="126"/>
                    </a:lnTo>
                    <a:lnTo>
                      <a:pt x="312" y="0"/>
                    </a:lnTo>
                    <a:lnTo>
                      <a:pt x="336" y="17"/>
                    </a:lnTo>
                    <a:lnTo>
                      <a:pt x="219" y="171"/>
                    </a:lnTo>
                    <a:lnTo>
                      <a:pt x="137" y="99"/>
                    </a:lnTo>
                    <a:lnTo>
                      <a:pt x="22" y="234"/>
                    </a:lnTo>
                    <a:lnTo>
                      <a:pt x="22" y="2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32" name="Freeform 104">
                <a:extLst>
                  <a:ext uri="{FF2B5EF4-FFF2-40B4-BE49-F238E27FC236}">
                    <a16:creationId xmlns:a16="http://schemas.microsoft.com/office/drawing/2014/main" id="{7A574504-B751-47C3-BE54-02544A0E9B9D}"/>
                  </a:ext>
                </a:extLst>
              </p:cNvPr>
              <p:cNvSpPr/>
              <p:nvPr/>
            </p:nvSpPr>
            <p:spPr bwMode="auto">
              <a:xfrm>
                <a:off x="6248401" y="3148013"/>
                <a:ext cx="117475" cy="119063"/>
              </a:xfrm>
              <a:custGeom>
                <a:avLst/>
                <a:gdLst>
                  <a:gd name="T0" fmla="*/ 0 w 74"/>
                  <a:gd name="T1" fmla="*/ 0 h 75"/>
                  <a:gd name="T2" fmla="*/ 74 w 74"/>
                  <a:gd name="T3" fmla="*/ 0 h 75"/>
                  <a:gd name="T4" fmla="*/ 74 w 74"/>
                  <a:gd name="T5" fmla="*/ 75 h 75"/>
                  <a:gd name="T6" fmla="*/ 0 w 74"/>
                  <a:gd name="T7" fmla="*/ 0 h 75"/>
                </a:gdLst>
                <a:ahLst/>
                <a:cxnLst>
                  <a:cxn ang="0">
                    <a:pos x="T0" y="T1"/>
                  </a:cxn>
                  <a:cxn ang="0">
                    <a:pos x="T2" y="T3"/>
                  </a:cxn>
                  <a:cxn ang="0">
                    <a:pos x="T4" y="T5"/>
                  </a:cxn>
                  <a:cxn ang="0">
                    <a:pos x="T6" y="T7"/>
                  </a:cxn>
                </a:cxnLst>
                <a:rect l="0" t="0" r="r" b="b"/>
                <a:pathLst>
                  <a:path w="74" h="75">
                    <a:moveTo>
                      <a:pt x="0" y="0"/>
                    </a:moveTo>
                    <a:lnTo>
                      <a:pt x="74" y="0"/>
                    </a:lnTo>
                    <a:lnTo>
                      <a:pt x="74" y="7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33" name="Freeform 105">
                <a:extLst>
                  <a:ext uri="{FF2B5EF4-FFF2-40B4-BE49-F238E27FC236}">
                    <a16:creationId xmlns:a16="http://schemas.microsoft.com/office/drawing/2014/main" id="{56B0AF31-AE80-44B4-85A5-6071B641491E}"/>
                  </a:ext>
                </a:extLst>
              </p:cNvPr>
              <p:cNvSpPr/>
              <p:nvPr/>
            </p:nvSpPr>
            <p:spPr bwMode="auto">
              <a:xfrm>
                <a:off x="5738813" y="3144838"/>
                <a:ext cx="711200" cy="568325"/>
              </a:xfrm>
              <a:custGeom>
                <a:avLst/>
                <a:gdLst>
                  <a:gd name="T0" fmla="*/ 448 w 448"/>
                  <a:gd name="T1" fmla="*/ 358 h 358"/>
                  <a:gd name="T2" fmla="*/ 0 w 448"/>
                  <a:gd name="T3" fmla="*/ 358 h 358"/>
                  <a:gd name="T4" fmla="*/ 0 w 448"/>
                  <a:gd name="T5" fmla="*/ 0 h 358"/>
                  <a:gd name="T6" fmla="*/ 26 w 448"/>
                  <a:gd name="T7" fmla="*/ 0 h 358"/>
                  <a:gd name="T8" fmla="*/ 26 w 448"/>
                  <a:gd name="T9" fmla="*/ 334 h 358"/>
                  <a:gd name="T10" fmla="*/ 448 w 448"/>
                  <a:gd name="T11" fmla="*/ 334 h 358"/>
                  <a:gd name="T12" fmla="*/ 448 w 448"/>
                  <a:gd name="T13" fmla="*/ 358 h 358"/>
                  <a:gd name="T14" fmla="*/ 448 w 448"/>
                  <a:gd name="T15" fmla="*/ 358 h 3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358">
                    <a:moveTo>
                      <a:pt x="448" y="358"/>
                    </a:moveTo>
                    <a:lnTo>
                      <a:pt x="0" y="358"/>
                    </a:lnTo>
                    <a:lnTo>
                      <a:pt x="0" y="0"/>
                    </a:lnTo>
                    <a:lnTo>
                      <a:pt x="26" y="0"/>
                    </a:lnTo>
                    <a:lnTo>
                      <a:pt x="26" y="334"/>
                    </a:lnTo>
                    <a:lnTo>
                      <a:pt x="448" y="334"/>
                    </a:lnTo>
                    <a:lnTo>
                      <a:pt x="448" y="358"/>
                    </a:lnTo>
                    <a:lnTo>
                      <a:pt x="448" y="35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34" name="Rectangle 106">
                <a:extLst>
                  <a:ext uri="{FF2B5EF4-FFF2-40B4-BE49-F238E27FC236}">
                    <a16:creationId xmlns:a16="http://schemas.microsoft.com/office/drawing/2014/main" id="{342E43F6-202A-455C-8670-6B04C34EF7CE}"/>
                  </a:ext>
                </a:extLst>
              </p:cNvPr>
              <p:cNvSpPr>
                <a:spLocks noChangeArrowheads="1"/>
              </p:cNvSpPr>
              <p:nvPr/>
            </p:nvSpPr>
            <p:spPr bwMode="auto">
              <a:xfrm>
                <a:off x="5853113" y="3560763"/>
                <a:ext cx="79375" cy="1222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35" name="Rectangle 107">
                <a:extLst>
                  <a:ext uri="{FF2B5EF4-FFF2-40B4-BE49-F238E27FC236}">
                    <a16:creationId xmlns:a16="http://schemas.microsoft.com/office/drawing/2014/main" id="{81739738-E957-403C-B570-1CE7BC646BC3}"/>
                  </a:ext>
                </a:extLst>
              </p:cNvPr>
              <p:cNvSpPr>
                <a:spLocks noChangeArrowheads="1"/>
              </p:cNvSpPr>
              <p:nvPr/>
            </p:nvSpPr>
            <p:spPr bwMode="auto">
              <a:xfrm>
                <a:off x="5997576" y="3408363"/>
                <a:ext cx="79375" cy="274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36" name="Rectangle 108">
                <a:extLst>
                  <a:ext uri="{FF2B5EF4-FFF2-40B4-BE49-F238E27FC236}">
                    <a16:creationId xmlns:a16="http://schemas.microsoft.com/office/drawing/2014/main" id="{57107470-EA4C-498A-A756-A70AD23D82EC}"/>
                  </a:ext>
                </a:extLst>
              </p:cNvPr>
              <p:cNvSpPr>
                <a:spLocks noChangeArrowheads="1"/>
              </p:cNvSpPr>
              <p:nvPr/>
            </p:nvSpPr>
            <p:spPr bwMode="auto">
              <a:xfrm>
                <a:off x="6142038" y="3487738"/>
                <a:ext cx="79375" cy="1952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37" name="Rectangle 109">
                <a:extLst>
                  <a:ext uri="{FF2B5EF4-FFF2-40B4-BE49-F238E27FC236}">
                    <a16:creationId xmlns:a16="http://schemas.microsoft.com/office/drawing/2014/main" id="{C3AE1AD3-F23B-4D98-A1F9-207062ADCF80}"/>
                  </a:ext>
                </a:extLst>
              </p:cNvPr>
              <p:cNvSpPr>
                <a:spLocks noChangeArrowheads="1"/>
              </p:cNvSpPr>
              <p:nvPr/>
            </p:nvSpPr>
            <p:spPr bwMode="auto">
              <a:xfrm>
                <a:off x="6286501" y="3305176"/>
                <a:ext cx="79375" cy="377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grpSp>
      </p:grpSp>
      <p:grpSp>
        <p:nvGrpSpPr>
          <p:cNvPr id="38" name="组合 37">
            <a:extLst>
              <a:ext uri="{FF2B5EF4-FFF2-40B4-BE49-F238E27FC236}">
                <a16:creationId xmlns:a16="http://schemas.microsoft.com/office/drawing/2014/main" id="{3F8F588E-CC41-4DEC-BFD6-57015A7C8B67}"/>
              </a:ext>
            </a:extLst>
          </p:cNvPr>
          <p:cNvGrpSpPr/>
          <p:nvPr/>
        </p:nvGrpSpPr>
        <p:grpSpPr>
          <a:xfrm>
            <a:off x="5924619" y="5875923"/>
            <a:ext cx="342764" cy="342764"/>
            <a:chOff x="5924618" y="5875923"/>
            <a:chExt cx="342764" cy="342764"/>
          </a:xfrm>
        </p:grpSpPr>
        <p:sp>
          <p:nvSpPr>
            <p:cNvPr id="39" name="椭圆 38">
              <a:extLst>
                <a:ext uri="{FF2B5EF4-FFF2-40B4-BE49-F238E27FC236}">
                  <a16:creationId xmlns:a16="http://schemas.microsoft.com/office/drawing/2014/main" id="{C75AFBD7-DBC5-4AB1-85DF-0CCE65BAAA6F}"/>
                </a:ext>
              </a:extLst>
            </p:cNvPr>
            <p:cNvSpPr/>
            <p:nvPr/>
          </p:nvSpPr>
          <p:spPr>
            <a:xfrm>
              <a:off x="5924618"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40" name="组合 39">
              <a:extLst>
                <a:ext uri="{FF2B5EF4-FFF2-40B4-BE49-F238E27FC236}">
                  <a16:creationId xmlns:a16="http://schemas.microsoft.com/office/drawing/2014/main" id="{1954B2CE-4A66-4B5F-97D9-F427D33D9FE2}"/>
                </a:ext>
              </a:extLst>
            </p:cNvPr>
            <p:cNvGrpSpPr/>
            <p:nvPr/>
          </p:nvGrpSpPr>
          <p:grpSpPr>
            <a:xfrm>
              <a:off x="5999323" y="5949431"/>
              <a:ext cx="193355" cy="195748"/>
              <a:chOff x="5778500" y="3105150"/>
              <a:chExt cx="641350" cy="649288"/>
            </a:xfrm>
            <a:solidFill>
              <a:schemeClr val="accent1"/>
            </a:solidFill>
          </p:grpSpPr>
          <p:sp>
            <p:nvSpPr>
              <p:cNvPr id="41" name="Freeform 425">
                <a:extLst>
                  <a:ext uri="{FF2B5EF4-FFF2-40B4-BE49-F238E27FC236}">
                    <a16:creationId xmlns:a16="http://schemas.microsoft.com/office/drawing/2014/main" id="{B91F5DCD-DE23-4812-A1CD-2E7E844B7BDF}"/>
                  </a:ext>
                </a:extLst>
              </p:cNvPr>
              <p:cNvSpPr/>
              <p:nvPr/>
            </p:nvSpPr>
            <p:spPr bwMode="auto">
              <a:xfrm>
                <a:off x="5959475" y="3227388"/>
                <a:ext cx="217488" cy="438150"/>
              </a:xfrm>
              <a:custGeom>
                <a:avLst/>
                <a:gdLst>
                  <a:gd name="T0" fmla="*/ 36 w 137"/>
                  <a:gd name="T1" fmla="*/ 276 h 276"/>
                  <a:gd name="T2" fmla="*/ 101 w 137"/>
                  <a:gd name="T3" fmla="*/ 276 h 276"/>
                  <a:gd name="T4" fmla="*/ 101 w 137"/>
                  <a:gd name="T5" fmla="*/ 69 h 276"/>
                  <a:gd name="T6" fmla="*/ 137 w 137"/>
                  <a:gd name="T7" fmla="*/ 69 h 276"/>
                  <a:gd name="T8" fmla="*/ 67 w 137"/>
                  <a:gd name="T9" fmla="*/ 0 h 276"/>
                  <a:gd name="T10" fmla="*/ 0 w 137"/>
                  <a:gd name="T11" fmla="*/ 69 h 276"/>
                  <a:gd name="T12" fmla="*/ 36 w 137"/>
                  <a:gd name="T13" fmla="*/ 69 h 276"/>
                  <a:gd name="T14" fmla="*/ 36 w 137"/>
                  <a:gd name="T15" fmla="*/ 276 h 2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7" h="276">
                    <a:moveTo>
                      <a:pt x="36" y="276"/>
                    </a:moveTo>
                    <a:lnTo>
                      <a:pt x="101" y="276"/>
                    </a:lnTo>
                    <a:lnTo>
                      <a:pt x="101" y="69"/>
                    </a:lnTo>
                    <a:lnTo>
                      <a:pt x="137" y="69"/>
                    </a:lnTo>
                    <a:lnTo>
                      <a:pt x="67" y="0"/>
                    </a:lnTo>
                    <a:lnTo>
                      <a:pt x="0" y="69"/>
                    </a:lnTo>
                    <a:lnTo>
                      <a:pt x="36" y="69"/>
                    </a:lnTo>
                    <a:lnTo>
                      <a:pt x="36" y="2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42" name="Freeform 426">
                <a:extLst>
                  <a:ext uri="{FF2B5EF4-FFF2-40B4-BE49-F238E27FC236}">
                    <a16:creationId xmlns:a16="http://schemas.microsoft.com/office/drawing/2014/main" id="{F65B7A26-E792-47F9-85D2-F972294E4CF6}"/>
                  </a:ext>
                </a:extLst>
              </p:cNvPr>
              <p:cNvSpPr/>
              <p:nvPr/>
            </p:nvSpPr>
            <p:spPr bwMode="auto">
              <a:xfrm>
                <a:off x="5783263" y="3398838"/>
                <a:ext cx="214313" cy="266700"/>
              </a:xfrm>
              <a:custGeom>
                <a:avLst/>
                <a:gdLst>
                  <a:gd name="T0" fmla="*/ 36 w 135"/>
                  <a:gd name="T1" fmla="*/ 168 h 168"/>
                  <a:gd name="T2" fmla="*/ 98 w 135"/>
                  <a:gd name="T3" fmla="*/ 168 h 168"/>
                  <a:gd name="T4" fmla="*/ 98 w 135"/>
                  <a:gd name="T5" fmla="*/ 70 h 168"/>
                  <a:gd name="T6" fmla="*/ 135 w 135"/>
                  <a:gd name="T7" fmla="*/ 70 h 168"/>
                  <a:gd name="T8" fmla="*/ 67 w 135"/>
                  <a:gd name="T9" fmla="*/ 0 h 168"/>
                  <a:gd name="T10" fmla="*/ 0 w 135"/>
                  <a:gd name="T11" fmla="*/ 70 h 168"/>
                  <a:gd name="T12" fmla="*/ 36 w 135"/>
                  <a:gd name="T13" fmla="*/ 70 h 168"/>
                  <a:gd name="T14" fmla="*/ 36 w 135"/>
                  <a:gd name="T15" fmla="*/ 168 h 1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68">
                    <a:moveTo>
                      <a:pt x="36" y="168"/>
                    </a:moveTo>
                    <a:lnTo>
                      <a:pt x="98" y="168"/>
                    </a:lnTo>
                    <a:lnTo>
                      <a:pt x="98" y="70"/>
                    </a:lnTo>
                    <a:lnTo>
                      <a:pt x="135" y="70"/>
                    </a:lnTo>
                    <a:lnTo>
                      <a:pt x="67" y="0"/>
                    </a:lnTo>
                    <a:lnTo>
                      <a:pt x="0" y="70"/>
                    </a:lnTo>
                    <a:lnTo>
                      <a:pt x="36" y="70"/>
                    </a:lnTo>
                    <a:lnTo>
                      <a:pt x="36"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43" name="Rectangle 427">
                <a:extLst>
                  <a:ext uri="{FF2B5EF4-FFF2-40B4-BE49-F238E27FC236}">
                    <a16:creationId xmlns:a16="http://schemas.microsoft.com/office/drawing/2014/main" id="{C368463A-6A5A-49B0-9F7C-4CA26AD7ECE1}"/>
                  </a:ext>
                </a:extLst>
              </p:cNvPr>
              <p:cNvSpPr>
                <a:spLocks noChangeArrowheads="1"/>
              </p:cNvSpPr>
              <p:nvPr/>
            </p:nvSpPr>
            <p:spPr bwMode="auto">
              <a:xfrm>
                <a:off x="5778500" y="3692525"/>
                <a:ext cx="641350" cy="619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44" name="Oval 428">
                <a:extLst>
                  <a:ext uri="{FF2B5EF4-FFF2-40B4-BE49-F238E27FC236}">
                    <a16:creationId xmlns:a16="http://schemas.microsoft.com/office/drawing/2014/main" id="{108B0B09-358B-41FD-B6C9-E24FED2E5458}"/>
                  </a:ext>
                </a:extLst>
              </p:cNvPr>
              <p:cNvSpPr>
                <a:spLocks noChangeArrowheads="1"/>
              </p:cNvSpPr>
              <p:nvPr/>
            </p:nvSpPr>
            <p:spPr bwMode="auto">
              <a:xfrm>
                <a:off x="6248400" y="3105150"/>
                <a:ext cx="88900" cy="1095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45" name="Freeform 429">
                <a:extLst>
                  <a:ext uri="{FF2B5EF4-FFF2-40B4-BE49-F238E27FC236}">
                    <a16:creationId xmlns:a16="http://schemas.microsoft.com/office/drawing/2014/main" id="{6AD36026-0647-4CF9-B6B8-8368B2AD47DE}"/>
                  </a:ext>
                </a:extLst>
              </p:cNvPr>
              <p:cNvSpPr/>
              <p:nvPr/>
            </p:nvSpPr>
            <p:spPr bwMode="auto">
              <a:xfrm>
                <a:off x="6188075" y="3222625"/>
                <a:ext cx="206375" cy="442913"/>
              </a:xfrm>
              <a:custGeom>
                <a:avLst/>
                <a:gdLst>
                  <a:gd name="T0" fmla="*/ 7 w 54"/>
                  <a:gd name="T1" fmla="*/ 61 h 116"/>
                  <a:gd name="T2" fmla="*/ 8 w 54"/>
                  <a:gd name="T3" fmla="*/ 61 h 116"/>
                  <a:gd name="T4" fmla="*/ 9 w 54"/>
                  <a:gd name="T5" fmla="*/ 61 h 116"/>
                  <a:gd name="T6" fmla="*/ 11 w 54"/>
                  <a:gd name="T7" fmla="*/ 116 h 116"/>
                  <a:gd name="T8" fmla="*/ 26 w 54"/>
                  <a:gd name="T9" fmla="*/ 116 h 116"/>
                  <a:gd name="T10" fmla="*/ 26 w 54"/>
                  <a:gd name="T11" fmla="*/ 61 h 116"/>
                  <a:gd name="T12" fmla="*/ 28 w 54"/>
                  <a:gd name="T13" fmla="*/ 61 h 116"/>
                  <a:gd name="T14" fmla="*/ 30 w 54"/>
                  <a:gd name="T15" fmla="*/ 116 h 116"/>
                  <a:gd name="T16" fmla="*/ 45 w 54"/>
                  <a:gd name="T17" fmla="*/ 116 h 116"/>
                  <a:gd name="T18" fmla="*/ 45 w 54"/>
                  <a:gd name="T19" fmla="*/ 61 h 116"/>
                  <a:gd name="T20" fmla="*/ 46 w 54"/>
                  <a:gd name="T21" fmla="*/ 61 h 116"/>
                  <a:gd name="T22" fmla="*/ 47 w 54"/>
                  <a:gd name="T23" fmla="*/ 61 h 116"/>
                  <a:gd name="T24" fmla="*/ 47 w 54"/>
                  <a:gd name="T25" fmla="*/ 61 h 116"/>
                  <a:gd name="T26" fmla="*/ 54 w 54"/>
                  <a:gd name="T27" fmla="*/ 61 h 116"/>
                  <a:gd name="T28" fmla="*/ 50 w 54"/>
                  <a:gd name="T29" fmla="*/ 8 h 116"/>
                  <a:gd name="T30" fmla="*/ 43 w 54"/>
                  <a:gd name="T31" fmla="*/ 1 h 116"/>
                  <a:gd name="T32" fmla="*/ 37 w 54"/>
                  <a:gd name="T33" fmla="*/ 0 h 116"/>
                  <a:gd name="T34" fmla="*/ 37 w 54"/>
                  <a:gd name="T35" fmla="*/ 1 h 116"/>
                  <a:gd name="T36" fmla="*/ 41 w 54"/>
                  <a:gd name="T37" fmla="*/ 5 h 116"/>
                  <a:gd name="T38" fmla="*/ 36 w 54"/>
                  <a:gd name="T39" fmla="*/ 8 h 116"/>
                  <a:gd name="T40" fmla="*/ 38 w 54"/>
                  <a:gd name="T41" fmla="*/ 12 h 116"/>
                  <a:gd name="T42" fmla="*/ 31 w 54"/>
                  <a:gd name="T43" fmla="*/ 28 h 116"/>
                  <a:gd name="T44" fmla="*/ 30 w 54"/>
                  <a:gd name="T45" fmla="*/ 6 h 116"/>
                  <a:gd name="T46" fmla="*/ 31 w 54"/>
                  <a:gd name="T47" fmla="*/ 5 h 116"/>
                  <a:gd name="T48" fmla="*/ 30 w 54"/>
                  <a:gd name="T49" fmla="*/ 0 h 116"/>
                  <a:gd name="T50" fmla="*/ 25 w 54"/>
                  <a:gd name="T51" fmla="*/ 0 h 116"/>
                  <a:gd name="T52" fmla="*/ 23 w 54"/>
                  <a:gd name="T53" fmla="*/ 5 h 116"/>
                  <a:gd name="T54" fmla="*/ 24 w 54"/>
                  <a:gd name="T55" fmla="*/ 6 h 116"/>
                  <a:gd name="T56" fmla="*/ 23 w 54"/>
                  <a:gd name="T57" fmla="*/ 29 h 116"/>
                  <a:gd name="T58" fmla="*/ 16 w 54"/>
                  <a:gd name="T59" fmla="*/ 12 h 116"/>
                  <a:gd name="T60" fmla="*/ 18 w 54"/>
                  <a:gd name="T61" fmla="*/ 8 h 116"/>
                  <a:gd name="T62" fmla="*/ 13 w 54"/>
                  <a:gd name="T63" fmla="*/ 5 h 116"/>
                  <a:gd name="T64" fmla="*/ 17 w 54"/>
                  <a:gd name="T65" fmla="*/ 1 h 116"/>
                  <a:gd name="T66" fmla="*/ 17 w 54"/>
                  <a:gd name="T67" fmla="*/ 0 h 116"/>
                  <a:gd name="T68" fmla="*/ 11 w 54"/>
                  <a:gd name="T69" fmla="*/ 1 h 116"/>
                  <a:gd name="T70" fmla="*/ 4 w 54"/>
                  <a:gd name="T71" fmla="*/ 8 h 116"/>
                  <a:gd name="T72" fmla="*/ 0 w 54"/>
                  <a:gd name="T73" fmla="*/ 61 h 116"/>
                  <a:gd name="T74" fmla="*/ 7 w 54"/>
                  <a:gd name="T75" fmla="*/ 61 h 116"/>
                  <a:gd name="T76" fmla="*/ 7 w 54"/>
                  <a:gd name="T77" fmla="*/ 6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116">
                    <a:moveTo>
                      <a:pt x="7" y="61"/>
                    </a:moveTo>
                    <a:cubicBezTo>
                      <a:pt x="8" y="61"/>
                      <a:pt x="8" y="61"/>
                      <a:pt x="8" y="61"/>
                    </a:cubicBezTo>
                    <a:cubicBezTo>
                      <a:pt x="8" y="61"/>
                      <a:pt x="9" y="61"/>
                      <a:pt x="9" y="61"/>
                    </a:cubicBezTo>
                    <a:cubicBezTo>
                      <a:pt x="11" y="116"/>
                      <a:pt x="11" y="116"/>
                      <a:pt x="11" y="116"/>
                    </a:cubicBezTo>
                    <a:cubicBezTo>
                      <a:pt x="26" y="116"/>
                      <a:pt x="26" y="116"/>
                      <a:pt x="26" y="116"/>
                    </a:cubicBezTo>
                    <a:cubicBezTo>
                      <a:pt x="27" y="100"/>
                      <a:pt x="27" y="72"/>
                      <a:pt x="26" y="61"/>
                    </a:cubicBezTo>
                    <a:cubicBezTo>
                      <a:pt x="27" y="61"/>
                      <a:pt x="27" y="61"/>
                      <a:pt x="28" y="61"/>
                    </a:cubicBezTo>
                    <a:cubicBezTo>
                      <a:pt x="30" y="116"/>
                      <a:pt x="30" y="116"/>
                      <a:pt x="30" y="116"/>
                    </a:cubicBezTo>
                    <a:cubicBezTo>
                      <a:pt x="45" y="116"/>
                      <a:pt x="45" y="116"/>
                      <a:pt x="45" y="116"/>
                    </a:cubicBezTo>
                    <a:cubicBezTo>
                      <a:pt x="46" y="100"/>
                      <a:pt x="45" y="72"/>
                      <a:pt x="45" y="61"/>
                    </a:cubicBezTo>
                    <a:cubicBezTo>
                      <a:pt x="46" y="61"/>
                      <a:pt x="46" y="61"/>
                      <a:pt x="46" y="61"/>
                    </a:cubicBezTo>
                    <a:cubicBezTo>
                      <a:pt x="46" y="61"/>
                      <a:pt x="47" y="61"/>
                      <a:pt x="47" y="61"/>
                    </a:cubicBezTo>
                    <a:cubicBezTo>
                      <a:pt x="47" y="61"/>
                      <a:pt x="47" y="61"/>
                      <a:pt x="47" y="61"/>
                    </a:cubicBezTo>
                    <a:cubicBezTo>
                      <a:pt x="49" y="61"/>
                      <a:pt x="52" y="61"/>
                      <a:pt x="54" y="61"/>
                    </a:cubicBezTo>
                    <a:cubicBezTo>
                      <a:pt x="50" y="8"/>
                      <a:pt x="50" y="8"/>
                      <a:pt x="50" y="8"/>
                    </a:cubicBezTo>
                    <a:cubicBezTo>
                      <a:pt x="50" y="4"/>
                      <a:pt x="47" y="1"/>
                      <a:pt x="43" y="1"/>
                    </a:cubicBezTo>
                    <a:cubicBezTo>
                      <a:pt x="43" y="1"/>
                      <a:pt x="38" y="1"/>
                      <a:pt x="37" y="0"/>
                    </a:cubicBezTo>
                    <a:cubicBezTo>
                      <a:pt x="37" y="1"/>
                      <a:pt x="37" y="1"/>
                      <a:pt x="37" y="1"/>
                    </a:cubicBezTo>
                    <a:cubicBezTo>
                      <a:pt x="41" y="5"/>
                      <a:pt x="41" y="5"/>
                      <a:pt x="41" y="5"/>
                    </a:cubicBezTo>
                    <a:cubicBezTo>
                      <a:pt x="36" y="8"/>
                      <a:pt x="36" y="8"/>
                      <a:pt x="36" y="8"/>
                    </a:cubicBezTo>
                    <a:cubicBezTo>
                      <a:pt x="38" y="12"/>
                      <a:pt x="38" y="12"/>
                      <a:pt x="38" y="12"/>
                    </a:cubicBezTo>
                    <a:cubicBezTo>
                      <a:pt x="31" y="28"/>
                      <a:pt x="31" y="28"/>
                      <a:pt x="31" y="28"/>
                    </a:cubicBezTo>
                    <a:cubicBezTo>
                      <a:pt x="30" y="6"/>
                      <a:pt x="30" y="6"/>
                      <a:pt x="30" y="6"/>
                    </a:cubicBezTo>
                    <a:cubicBezTo>
                      <a:pt x="31" y="5"/>
                      <a:pt x="31" y="5"/>
                      <a:pt x="31" y="5"/>
                    </a:cubicBezTo>
                    <a:cubicBezTo>
                      <a:pt x="30" y="0"/>
                      <a:pt x="30" y="0"/>
                      <a:pt x="30" y="0"/>
                    </a:cubicBezTo>
                    <a:cubicBezTo>
                      <a:pt x="25" y="0"/>
                      <a:pt x="25" y="0"/>
                      <a:pt x="25" y="0"/>
                    </a:cubicBezTo>
                    <a:cubicBezTo>
                      <a:pt x="23" y="5"/>
                      <a:pt x="23" y="5"/>
                      <a:pt x="23" y="5"/>
                    </a:cubicBezTo>
                    <a:cubicBezTo>
                      <a:pt x="24" y="6"/>
                      <a:pt x="24" y="6"/>
                      <a:pt x="24" y="6"/>
                    </a:cubicBezTo>
                    <a:cubicBezTo>
                      <a:pt x="23" y="29"/>
                      <a:pt x="23" y="29"/>
                      <a:pt x="23" y="29"/>
                    </a:cubicBezTo>
                    <a:cubicBezTo>
                      <a:pt x="16" y="12"/>
                      <a:pt x="16" y="12"/>
                      <a:pt x="16" y="12"/>
                    </a:cubicBezTo>
                    <a:cubicBezTo>
                      <a:pt x="18" y="8"/>
                      <a:pt x="18" y="8"/>
                      <a:pt x="18" y="8"/>
                    </a:cubicBezTo>
                    <a:cubicBezTo>
                      <a:pt x="13" y="5"/>
                      <a:pt x="13" y="5"/>
                      <a:pt x="13" y="5"/>
                    </a:cubicBezTo>
                    <a:cubicBezTo>
                      <a:pt x="17" y="1"/>
                      <a:pt x="17" y="1"/>
                      <a:pt x="17" y="1"/>
                    </a:cubicBezTo>
                    <a:cubicBezTo>
                      <a:pt x="17" y="0"/>
                      <a:pt x="17" y="0"/>
                      <a:pt x="17" y="0"/>
                    </a:cubicBezTo>
                    <a:cubicBezTo>
                      <a:pt x="16" y="1"/>
                      <a:pt x="11" y="1"/>
                      <a:pt x="11" y="1"/>
                    </a:cubicBezTo>
                    <a:cubicBezTo>
                      <a:pt x="8" y="1"/>
                      <a:pt x="5" y="4"/>
                      <a:pt x="4" y="8"/>
                    </a:cubicBezTo>
                    <a:cubicBezTo>
                      <a:pt x="0" y="61"/>
                      <a:pt x="0" y="61"/>
                      <a:pt x="0" y="61"/>
                    </a:cubicBezTo>
                    <a:cubicBezTo>
                      <a:pt x="3" y="61"/>
                      <a:pt x="5" y="61"/>
                      <a:pt x="7" y="61"/>
                    </a:cubicBezTo>
                    <a:cubicBezTo>
                      <a:pt x="7" y="61"/>
                      <a:pt x="7" y="61"/>
                      <a:pt x="7"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grpSp>
      <p:grpSp>
        <p:nvGrpSpPr>
          <p:cNvPr id="46" name="组合 45">
            <a:extLst>
              <a:ext uri="{FF2B5EF4-FFF2-40B4-BE49-F238E27FC236}">
                <a16:creationId xmlns:a16="http://schemas.microsoft.com/office/drawing/2014/main" id="{9148CD87-D12B-4D5C-A1BE-E6F8ED1A1C58}"/>
              </a:ext>
            </a:extLst>
          </p:cNvPr>
          <p:cNvGrpSpPr/>
          <p:nvPr/>
        </p:nvGrpSpPr>
        <p:grpSpPr>
          <a:xfrm>
            <a:off x="6542851" y="5875923"/>
            <a:ext cx="342764" cy="342764"/>
            <a:chOff x="6542850" y="5875923"/>
            <a:chExt cx="342764" cy="342764"/>
          </a:xfrm>
        </p:grpSpPr>
        <p:sp>
          <p:nvSpPr>
            <p:cNvPr id="47" name="椭圆 46">
              <a:extLst>
                <a:ext uri="{FF2B5EF4-FFF2-40B4-BE49-F238E27FC236}">
                  <a16:creationId xmlns:a16="http://schemas.microsoft.com/office/drawing/2014/main" id="{E3BF3175-9BC8-4E76-8B89-97FB03BB8263}"/>
                </a:ext>
              </a:extLst>
            </p:cNvPr>
            <p:cNvSpPr/>
            <p:nvPr/>
          </p:nvSpPr>
          <p:spPr>
            <a:xfrm>
              <a:off x="6542850"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48" name="组合 47">
              <a:extLst>
                <a:ext uri="{FF2B5EF4-FFF2-40B4-BE49-F238E27FC236}">
                  <a16:creationId xmlns:a16="http://schemas.microsoft.com/office/drawing/2014/main" id="{C06505D0-EA39-41E4-9510-2423A2335B4A}"/>
                </a:ext>
              </a:extLst>
            </p:cNvPr>
            <p:cNvGrpSpPr/>
            <p:nvPr/>
          </p:nvGrpSpPr>
          <p:grpSpPr>
            <a:xfrm>
              <a:off x="6626221" y="5960251"/>
              <a:ext cx="200055" cy="198141"/>
              <a:chOff x="5767388" y="3098800"/>
              <a:chExt cx="663575" cy="657225"/>
            </a:xfrm>
            <a:solidFill>
              <a:schemeClr val="accent1"/>
            </a:solidFill>
          </p:grpSpPr>
          <p:sp>
            <p:nvSpPr>
              <p:cNvPr id="49" name="Freeform 253">
                <a:extLst>
                  <a:ext uri="{FF2B5EF4-FFF2-40B4-BE49-F238E27FC236}">
                    <a16:creationId xmlns:a16="http://schemas.microsoft.com/office/drawing/2014/main" id="{D42B857E-69FF-447F-9286-4AAD220504FC}"/>
                  </a:ext>
                </a:extLst>
              </p:cNvPr>
              <p:cNvSpPr>
                <a:spLocks noEditPoints="1"/>
              </p:cNvSpPr>
              <p:nvPr/>
            </p:nvSpPr>
            <p:spPr bwMode="auto">
              <a:xfrm>
                <a:off x="5767388" y="3098800"/>
                <a:ext cx="663575" cy="519113"/>
              </a:xfrm>
              <a:custGeom>
                <a:avLst/>
                <a:gdLst>
                  <a:gd name="T0" fmla="*/ 165 w 174"/>
                  <a:gd name="T1" fmla="*/ 0 h 136"/>
                  <a:gd name="T2" fmla="*/ 9 w 174"/>
                  <a:gd name="T3" fmla="*/ 0 h 136"/>
                  <a:gd name="T4" fmla="*/ 0 w 174"/>
                  <a:gd name="T5" fmla="*/ 9 h 136"/>
                  <a:gd name="T6" fmla="*/ 0 w 174"/>
                  <a:gd name="T7" fmla="*/ 128 h 136"/>
                  <a:gd name="T8" fmla="*/ 9 w 174"/>
                  <a:gd name="T9" fmla="*/ 136 h 136"/>
                  <a:gd name="T10" fmla="*/ 50 w 174"/>
                  <a:gd name="T11" fmla="*/ 136 h 136"/>
                  <a:gd name="T12" fmla="*/ 41 w 174"/>
                  <a:gd name="T13" fmla="*/ 121 h 136"/>
                  <a:gd name="T14" fmla="*/ 17 w 174"/>
                  <a:gd name="T15" fmla="*/ 121 h 136"/>
                  <a:gd name="T16" fmla="*/ 17 w 174"/>
                  <a:gd name="T17" fmla="*/ 16 h 136"/>
                  <a:gd name="T18" fmla="*/ 157 w 174"/>
                  <a:gd name="T19" fmla="*/ 16 h 136"/>
                  <a:gd name="T20" fmla="*/ 157 w 174"/>
                  <a:gd name="T21" fmla="*/ 121 h 136"/>
                  <a:gd name="T22" fmla="*/ 133 w 174"/>
                  <a:gd name="T23" fmla="*/ 121 h 136"/>
                  <a:gd name="T24" fmla="*/ 133 w 174"/>
                  <a:gd name="T25" fmla="*/ 127 h 136"/>
                  <a:gd name="T26" fmla="*/ 131 w 174"/>
                  <a:gd name="T27" fmla="*/ 136 h 136"/>
                  <a:gd name="T28" fmla="*/ 165 w 174"/>
                  <a:gd name="T29" fmla="*/ 136 h 136"/>
                  <a:gd name="T30" fmla="*/ 174 w 174"/>
                  <a:gd name="T31" fmla="*/ 128 h 136"/>
                  <a:gd name="T32" fmla="*/ 174 w 174"/>
                  <a:gd name="T33" fmla="*/ 9 h 136"/>
                  <a:gd name="T34" fmla="*/ 165 w 174"/>
                  <a:gd name="T35" fmla="*/ 0 h 136"/>
                  <a:gd name="T36" fmla="*/ 8 w 174"/>
                  <a:gd name="T37" fmla="*/ 74 h 136"/>
                  <a:gd name="T38" fmla="*/ 3 w 174"/>
                  <a:gd name="T39" fmla="*/ 68 h 136"/>
                  <a:gd name="T40" fmla="*/ 8 w 174"/>
                  <a:gd name="T41" fmla="*/ 63 h 136"/>
                  <a:gd name="T42" fmla="*/ 14 w 174"/>
                  <a:gd name="T43" fmla="*/ 68 h 136"/>
                  <a:gd name="T44" fmla="*/ 8 w 174"/>
                  <a:gd name="T45" fmla="*/ 7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4" h="136">
                    <a:moveTo>
                      <a:pt x="165" y="0"/>
                    </a:moveTo>
                    <a:cubicBezTo>
                      <a:pt x="9" y="0"/>
                      <a:pt x="9" y="0"/>
                      <a:pt x="9" y="0"/>
                    </a:cubicBezTo>
                    <a:cubicBezTo>
                      <a:pt x="4" y="0"/>
                      <a:pt x="0" y="4"/>
                      <a:pt x="0" y="9"/>
                    </a:cubicBezTo>
                    <a:cubicBezTo>
                      <a:pt x="0" y="128"/>
                      <a:pt x="0" y="128"/>
                      <a:pt x="0" y="128"/>
                    </a:cubicBezTo>
                    <a:cubicBezTo>
                      <a:pt x="0" y="132"/>
                      <a:pt x="4" y="136"/>
                      <a:pt x="9" y="136"/>
                    </a:cubicBezTo>
                    <a:cubicBezTo>
                      <a:pt x="50" y="136"/>
                      <a:pt x="50" y="136"/>
                      <a:pt x="50" y="136"/>
                    </a:cubicBezTo>
                    <a:cubicBezTo>
                      <a:pt x="46" y="131"/>
                      <a:pt x="43" y="126"/>
                      <a:pt x="41" y="121"/>
                    </a:cubicBezTo>
                    <a:cubicBezTo>
                      <a:pt x="17" y="121"/>
                      <a:pt x="17" y="121"/>
                      <a:pt x="17" y="121"/>
                    </a:cubicBezTo>
                    <a:cubicBezTo>
                      <a:pt x="17" y="16"/>
                      <a:pt x="17" y="16"/>
                      <a:pt x="17" y="16"/>
                    </a:cubicBezTo>
                    <a:cubicBezTo>
                      <a:pt x="157" y="16"/>
                      <a:pt x="157" y="16"/>
                      <a:pt x="157" y="16"/>
                    </a:cubicBezTo>
                    <a:cubicBezTo>
                      <a:pt x="157" y="121"/>
                      <a:pt x="157" y="121"/>
                      <a:pt x="157" y="121"/>
                    </a:cubicBezTo>
                    <a:cubicBezTo>
                      <a:pt x="133" y="121"/>
                      <a:pt x="133" y="121"/>
                      <a:pt x="133" y="121"/>
                    </a:cubicBezTo>
                    <a:cubicBezTo>
                      <a:pt x="133" y="127"/>
                      <a:pt x="133" y="127"/>
                      <a:pt x="133" y="127"/>
                    </a:cubicBezTo>
                    <a:cubicBezTo>
                      <a:pt x="133" y="130"/>
                      <a:pt x="132" y="133"/>
                      <a:pt x="131" y="136"/>
                    </a:cubicBezTo>
                    <a:cubicBezTo>
                      <a:pt x="165" y="136"/>
                      <a:pt x="165" y="136"/>
                      <a:pt x="165" y="136"/>
                    </a:cubicBezTo>
                    <a:cubicBezTo>
                      <a:pt x="170" y="136"/>
                      <a:pt x="174" y="132"/>
                      <a:pt x="174" y="128"/>
                    </a:cubicBezTo>
                    <a:cubicBezTo>
                      <a:pt x="174" y="9"/>
                      <a:pt x="174" y="9"/>
                      <a:pt x="174" y="9"/>
                    </a:cubicBezTo>
                    <a:cubicBezTo>
                      <a:pt x="174" y="4"/>
                      <a:pt x="170" y="0"/>
                      <a:pt x="165" y="0"/>
                    </a:cubicBezTo>
                    <a:close/>
                    <a:moveTo>
                      <a:pt x="8" y="74"/>
                    </a:moveTo>
                    <a:cubicBezTo>
                      <a:pt x="5" y="74"/>
                      <a:pt x="3" y="71"/>
                      <a:pt x="3" y="68"/>
                    </a:cubicBezTo>
                    <a:cubicBezTo>
                      <a:pt x="3" y="65"/>
                      <a:pt x="5" y="63"/>
                      <a:pt x="8" y="63"/>
                    </a:cubicBezTo>
                    <a:cubicBezTo>
                      <a:pt x="11" y="63"/>
                      <a:pt x="14" y="65"/>
                      <a:pt x="14" y="68"/>
                    </a:cubicBezTo>
                    <a:cubicBezTo>
                      <a:pt x="14" y="71"/>
                      <a:pt x="11" y="74"/>
                      <a:pt x="8"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0" name="Freeform 254">
                <a:extLst>
                  <a:ext uri="{FF2B5EF4-FFF2-40B4-BE49-F238E27FC236}">
                    <a16:creationId xmlns:a16="http://schemas.microsoft.com/office/drawing/2014/main" id="{0C92A0B8-18D5-496D-A0F7-C493E6DF8C99}"/>
                  </a:ext>
                </a:extLst>
              </p:cNvPr>
              <p:cNvSpPr/>
              <p:nvPr/>
            </p:nvSpPr>
            <p:spPr bwMode="auto">
              <a:xfrm>
                <a:off x="5913438" y="3235325"/>
                <a:ext cx="334963" cy="520700"/>
              </a:xfrm>
              <a:custGeom>
                <a:avLst/>
                <a:gdLst>
                  <a:gd name="T0" fmla="*/ 88 w 88"/>
                  <a:gd name="T1" fmla="*/ 72 h 136"/>
                  <a:gd name="T2" fmla="*/ 88 w 88"/>
                  <a:gd name="T3" fmla="*/ 69 h 136"/>
                  <a:gd name="T4" fmla="*/ 88 w 88"/>
                  <a:gd name="T5" fmla="*/ 47 h 136"/>
                  <a:gd name="T6" fmla="*/ 81 w 88"/>
                  <a:gd name="T7" fmla="*/ 40 h 136"/>
                  <a:gd name="T8" fmla="*/ 73 w 88"/>
                  <a:gd name="T9" fmla="*/ 47 h 136"/>
                  <a:gd name="T10" fmla="*/ 73 w 88"/>
                  <a:gd name="T11" fmla="*/ 49 h 136"/>
                  <a:gd name="T12" fmla="*/ 72 w 88"/>
                  <a:gd name="T13" fmla="*/ 48 h 136"/>
                  <a:gd name="T14" fmla="*/ 72 w 88"/>
                  <a:gd name="T15" fmla="*/ 37 h 136"/>
                  <a:gd name="T16" fmla="*/ 64 w 88"/>
                  <a:gd name="T17" fmla="*/ 30 h 136"/>
                  <a:gd name="T18" fmla="*/ 57 w 88"/>
                  <a:gd name="T19" fmla="*/ 37 h 136"/>
                  <a:gd name="T20" fmla="*/ 57 w 88"/>
                  <a:gd name="T21" fmla="*/ 43 h 136"/>
                  <a:gd name="T22" fmla="*/ 55 w 88"/>
                  <a:gd name="T23" fmla="*/ 43 h 136"/>
                  <a:gd name="T24" fmla="*/ 55 w 88"/>
                  <a:gd name="T25" fmla="*/ 31 h 136"/>
                  <a:gd name="T26" fmla="*/ 48 w 88"/>
                  <a:gd name="T27" fmla="*/ 24 h 136"/>
                  <a:gd name="T28" fmla="*/ 40 w 88"/>
                  <a:gd name="T29" fmla="*/ 31 h 136"/>
                  <a:gd name="T30" fmla="*/ 40 w 88"/>
                  <a:gd name="T31" fmla="*/ 40 h 136"/>
                  <a:gd name="T32" fmla="*/ 38 w 88"/>
                  <a:gd name="T33" fmla="*/ 41 h 136"/>
                  <a:gd name="T34" fmla="*/ 38 w 88"/>
                  <a:gd name="T35" fmla="*/ 7 h 136"/>
                  <a:gd name="T36" fmla="*/ 31 w 88"/>
                  <a:gd name="T37" fmla="*/ 0 h 136"/>
                  <a:gd name="T38" fmla="*/ 24 w 88"/>
                  <a:gd name="T39" fmla="*/ 7 h 136"/>
                  <a:gd name="T40" fmla="*/ 24 w 88"/>
                  <a:gd name="T41" fmla="*/ 67 h 136"/>
                  <a:gd name="T42" fmla="*/ 22 w 88"/>
                  <a:gd name="T43" fmla="*/ 56 h 136"/>
                  <a:gd name="T44" fmla="*/ 8 w 88"/>
                  <a:gd name="T45" fmla="*/ 40 h 136"/>
                  <a:gd name="T46" fmla="*/ 1 w 88"/>
                  <a:gd name="T47" fmla="*/ 46 h 136"/>
                  <a:gd name="T48" fmla="*/ 8 w 88"/>
                  <a:gd name="T49" fmla="*/ 73 h 136"/>
                  <a:gd name="T50" fmla="*/ 20 w 88"/>
                  <a:gd name="T51" fmla="*/ 98 h 136"/>
                  <a:gd name="T52" fmla="*/ 22 w 88"/>
                  <a:gd name="T53" fmla="*/ 101 h 136"/>
                  <a:gd name="T54" fmla="*/ 32 w 88"/>
                  <a:gd name="T55" fmla="*/ 111 h 136"/>
                  <a:gd name="T56" fmla="*/ 32 w 88"/>
                  <a:gd name="T57" fmla="*/ 136 h 136"/>
                  <a:gd name="T58" fmla="*/ 81 w 88"/>
                  <a:gd name="T59" fmla="*/ 136 h 136"/>
                  <a:gd name="T60" fmla="*/ 81 w 88"/>
                  <a:gd name="T61" fmla="*/ 110 h 136"/>
                  <a:gd name="T62" fmla="*/ 87 w 88"/>
                  <a:gd name="T63" fmla="*/ 91 h 136"/>
                  <a:gd name="T64" fmla="*/ 88 w 88"/>
                  <a:gd name="T65" fmla="*/ 72 h 136"/>
                  <a:gd name="T66" fmla="*/ 88 w 88"/>
                  <a:gd name="T67" fmla="*/ 72 h 136"/>
                  <a:gd name="T68" fmla="*/ 88 w 88"/>
                  <a:gd name="T69" fmla="*/ 72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8" h="136">
                    <a:moveTo>
                      <a:pt x="88" y="72"/>
                    </a:moveTo>
                    <a:cubicBezTo>
                      <a:pt x="88" y="71"/>
                      <a:pt x="88" y="70"/>
                      <a:pt x="88" y="69"/>
                    </a:cubicBezTo>
                    <a:cubicBezTo>
                      <a:pt x="88" y="47"/>
                      <a:pt x="88" y="47"/>
                      <a:pt x="88" y="47"/>
                    </a:cubicBezTo>
                    <a:cubicBezTo>
                      <a:pt x="88" y="43"/>
                      <a:pt x="85" y="40"/>
                      <a:pt x="81" y="40"/>
                    </a:cubicBezTo>
                    <a:cubicBezTo>
                      <a:pt x="77" y="40"/>
                      <a:pt x="73" y="43"/>
                      <a:pt x="73" y="47"/>
                    </a:cubicBezTo>
                    <a:cubicBezTo>
                      <a:pt x="73" y="49"/>
                      <a:pt x="73" y="49"/>
                      <a:pt x="73" y="49"/>
                    </a:cubicBezTo>
                    <a:cubicBezTo>
                      <a:pt x="73" y="49"/>
                      <a:pt x="72" y="48"/>
                      <a:pt x="72" y="48"/>
                    </a:cubicBezTo>
                    <a:cubicBezTo>
                      <a:pt x="72" y="37"/>
                      <a:pt x="72" y="37"/>
                      <a:pt x="72" y="37"/>
                    </a:cubicBezTo>
                    <a:cubicBezTo>
                      <a:pt x="72" y="33"/>
                      <a:pt x="68" y="30"/>
                      <a:pt x="64" y="30"/>
                    </a:cubicBezTo>
                    <a:cubicBezTo>
                      <a:pt x="60" y="30"/>
                      <a:pt x="57" y="33"/>
                      <a:pt x="57" y="37"/>
                    </a:cubicBezTo>
                    <a:cubicBezTo>
                      <a:pt x="57" y="43"/>
                      <a:pt x="57" y="43"/>
                      <a:pt x="57" y="43"/>
                    </a:cubicBezTo>
                    <a:cubicBezTo>
                      <a:pt x="56" y="43"/>
                      <a:pt x="56" y="43"/>
                      <a:pt x="55" y="43"/>
                    </a:cubicBezTo>
                    <a:cubicBezTo>
                      <a:pt x="55" y="31"/>
                      <a:pt x="55" y="31"/>
                      <a:pt x="55" y="31"/>
                    </a:cubicBezTo>
                    <a:cubicBezTo>
                      <a:pt x="55" y="27"/>
                      <a:pt x="52" y="24"/>
                      <a:pt x="48" y="24"/>
                    </a:cubicBezTo>
                    <a:cubicBezTo>
                      <a:pt x="44" y="24"/>
                      <a:pt x="40" y="27"/>
                      <a:pt x="40" y="31"/>
                    </a:cubicBezTo>
                    <a:cubicBezTo>
                      <a:pt x="40" y="40"/>
                      <a:pt x="40" y="40"/>
                      <a:pt x="40" y="40"/>
                    </a:cubicBezTo>
                    <a:cubicBezTo>
                      <a:pt x="40" y="40"/>
                      <a:pt x="39" y="40"/>
                      <a:pt x="38" y="41"/>
                    </a:cubicBezTo>
                    <a:cubicBezTo>
                      <a:pt x="38" y="7"/>
                      <a:pt x="38" y="7"/>
                      <a:pt x="38" y="7"/>
                    </a:cubicBezTo>
                    <a:cubicBezTo>
                      <a:pt x="38" y="3"/>
                      <a:pt x="35" y="0"/>
                      <a:pt x="31" y="0"/>
                    </a:cubicBezTo>
                    <a:cubicBezTo>
                      <a:pt x="27" y="0"/>
                      <a:pt x="24" y="3"/>
                      <a:pt x="24" y="7"/>
                    </a:cubicBezTo>
                    <a:cubicBezTo>
                      <a:pt x="24" y="67"/>
                      <a:pt x="24" y="67"/>
                      <a:pt x="24" y="67"/>
                    </a:cubicBezTo>
                    <a:cubicBezTo>
                      <a:pt x="22" y="63"/>
                      <a:pt x="22" y="59"/>
                      <a:pt x="22" y="56"/>
                    </a:cubicBezTo>
                    <a:cubicBezTo>
                      <a:pt x="19" y="44"/>
                      <a:pt x="12" y="39"/>
                      <a:pt x="8" y="40"/>
                    </a:cubicBezTo>
                    <a:cubicBezTo>
                      <a:pt x="7" y="40"/>
                      <a:pt x="0" y="43"/>
                      <a:pt x="1" y="46"/>
                    </a:cubicBezTo>
                    <a:cubicBezTo>
                      <a:pt x="2" y="48"/>
                      <a:pt x="7" y="60"/>
                      <a:pt x="8" y="73"/>
                    </a:cubicBezTo>
                    <a:cubicBezTo>
                      <a:pt x="8" y="82"/>
                      <a:pt x="14" y="91"/>
                      <a:pt x="20" y="98"/>
                    </a:cubicBezTo>
                    <a:cubicBezTo>
                      <a:pt x="20" y="99"/>
                      <a:pt x="21" y="100"/>
                      <a:pt x="22" y="101"/>
                    </a:cubicBezTo>
                    <a:cubicBezTo>
                      <a:pt x="32" y="111"/>
                      <a:pt x="32" y="111"/>
                      <a:pt x="32" y="111"/>
                    </a:cubicBezTo>
                    <a:cubicBezTo>
                      <a:pt x="32" y="136"/>
                      <a:pt x="32" y="136"/>
                      <a:pt x="32" y="136"/>
                    </a:cubicBezTo>
                    <a:cubicBezTo>
                      <a:pt x="81" y="136"/>
                      <a:pt x="81" y="136"/>
                      <a:pt x="81" y="136"/>
                    </a:cubicBezTo>
                    <a:cubicBezTo>
                      <a:pt x="81" y="110"/>
                      <a:pt x="81" y="110"/>
                      <a:pt x="81" y="110"/>
                    </a:cubicBezTo>
                    <a:cubicBezTo>
                      <a:pt x="85" y="104"/>
                      <a:pt x="87" y="97"/>
                      <a:pt x="87" y="91"/>
                    </a:cubicBezTo>
                    <a:cubicBezTo>
                      <a:pt x="88" y="85"/>
                      <a:pt x="88" y="78"/>
                      <a:pt x="88" y="72"/>
                    </a:cubicBezTo>
                    <a:cubicBezTo>
                      <a:pt x="88" y="72"/>
                      <a:pt x="88" y="72"/>
                      <a:pt x="88" y="72"/>
                    </a:cubicBezTo>
                    <a:cubicBezTo>
                      <a:pt x="88" y="72"/>
                      <a:pt x="88" y="72"/>
                      <a:pt x="88"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grpSp>
      <p:grpSp>
        <p:nvGrpSpPr>
          <p:cNvPr id="51" name="组合 50">
            <a:extLst>
              <a:ext uri="{FF2B5EF4-FFF2-40B4-BE49-F238E27FC236}">
                <a16:creationId xmlns:a16="http://schemas.microsoft.com/office/drawing/2014/main" id="{28A69667-C074-4130-B878-C9696CB90B22}"/>
              </a:ext>
            </a:extLst>
          </p:cNvPr>
          <p:cNvGrpSpPr/>
          <p:nvPr/>
        </p:nvGrpSpPr>
        <p:grpSpPr>
          <a:xfrm>
            <a:off x="7161083" y="5875923"/>
            <a:ext cx="342764" cy="342764"/>
            <a:chOff x="7161082" y="5875923"/>
            <a:chExt cx="342764" cy="342764"/>
          </a:xfrm>
        </p:grpSpPr>
        <p:sp>
          <p:nvSpPr>
            <p:cNvPr id="52" name="椭圆 51">
              <a:extLst>
                <a:ext uri="{FF2B5EF4-FFF2-40B4-BE49-F238E27FC236}">
                  <a16:creationId xmlns:a16="http://schemas.microsoft.com/office/drawing/2014/main" id="{091EA3C8-07DE-4A3E-9DF5-7E464F3C9B28}"/>
                </a:ext>
              </a:extLst>
            </p:cNvPr>
            <p:cNvSpPr/>
            <p:nvPr/>
          </p:nvSpPr>
          <p:spPr>
            <a:xfrm>
              <a:off x="7161082"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53" name="组合 52">
              <a:extLst>
                <a:ext uri="{FF2B5EF4-FFF2-40B4-BE49-F238E27FC236}">
                  <a16:creationId xmlns:a16="http://schemas.microsoft.com/office/drawing/2014/main" id="{1366B173-583E-4E60-8585-FBA0D99DD8AA}"/>
                </a:ext>
              </a:extLst>
            </p:cNvPr>
            <p:cNvGrpSpPr>
              <a:grpSpLocks noChangeAspect="1"/>
            </p:cNvGrpSpPr>
            <p:nvPr/>
          </p:nvGrpSpPr>
          <p:grpSpPr>
            <a:xfrm flipH="1">
              <a:off x="7229508" y="5947390"/>
              <a:ext cx="205911" cy="199830"/>
              <a:chOff x="5719763" y="3063875"/>
              <a:chExt cx="752475" cy="730250"/>
            </a:xfrm>
            <a:solidFill>
              <a:schemeClr val="accent1"/>
            </a:solidFill>
          </p:grpSpPr>
          <p:sp>
            <p:nvSpPr>
              <p:cNvPr id="54" name="Oval 154">
                <a:extLst>
                  <a:ext uri="{FF2B5EF4-FFF2-40B4-BE49-F238E27FC236}">
                    <a16:creationId xmlns:a16="http://schemas.microsoft.com/office/drawing/2014/main" id="{F6500758-755F-441D-A869-1DE3F4A31344}"/>
                  </a:ext>
                </a:extLst>
              </p:cNvPr>
              <p:cNvSpPr>
                <a:spLocks noChangeArrowheads="1"/>
              </p:cNvSpPr>
              <p:nvPr/>
            </p:nvSpPr>
            <p:spPr bwMode="auto">
              <a:xfrm>
                <a:off x="6161088" y="3098800"/>
                <a:ext cx="95250" cy="1174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5" name="Rectangle 155">
                <a:extLst>
                  <a:ext uri="{FF2B5EF4-FFF2-40B4-BE49-F238E27FC236}">
                    <a16:creationId xmlns:a16="http://schemas.microsoft.com/office/drawing/2014/main" id="{513FA4C5-B132-4E85-B0EA-D9556FBF1EFD}"/>
                  </a:ext>
                </a:extLst>
              </p:cNvPr>
              <p:cNvSpPr>
                <a:spLocks noChangeArrowheads="1"/>
              </p:cNvSpPr>
              <p:nvPr/>
            </p:nvSpPr>
            <p:spPr bwMode="auto">
              <a:xfrm>
                <a:off x="6210301"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56" name="Freeform 156">
                <a:extLst>
                  <a:ext uri="{FF2B5EF4-FFF2-40B4-BE49-F238E27FC236}">
                    <a16:creationId xmlns:a16="http://schemas.microsoft.com/office/drawing/2014/main" id="{9122EC7F-A774-4371-87EE-B46FD6FC412C}"/>
                  </a:ext>
                </a:extLst>
              </p:cNvPr>
              <p:cNvSpPr/>
              <p:nvPr/>
            </p:nvSpPr>
            <p:spPr bwMode="auto">
              <a:xfrm>
                <a:off x="6191251" y="3235325"/>
                <a:ext cx="33338" cy="33338"/>
              </a:xfrm>
              <a:custGeom>
                <a:avLst/>
                <a:gdLst>
                  <a:gd name="T0" fmla="*/ 17 w 21"/>
                  <a:gd name="T1" fmla="*/ 0 h 21"/>
                  <a:gd name="T2" fmla="*/ 21 w 21"/>
                  <a:gd name="T3" fmla="*/ 12 h 21"/>
                  <a:gd name="T4" fmla="*/ 12 w 21"/>
                  <a:gd name="T5" fmla="*/ 21 h 21"/>
                  <a:gd name="T6" fmla="*/ 0 w 21"/>
                  <a:gd name="T7" fmla="*/ 12 h 21"/>
                  <a:gd name="T8" fmla="*/ 5 w 21"/>
                  <a:gd name="T9" fmla="*/ 0 h 21"/>
                  <a:gd name="T10" fmla="*/ 17 w 21"/>
                  <a:gd name="T11" fmla="*/ 0 h 21"/>
                </a:gdLst>
                <a:ahLst/>
                <a:cxnLst>
                  <a:cxn ang="0">
                    <a:pos x="T0" y="T1"/>
                  </a:cxn>
                  <a:cxn ang="0">
                    <a:pos x="T2" y="T3"/>
                  </a:cxn>
                  <a:cxn ang="0">
                    <a:pos x="T4" y="T5"/>
                  </a:cxn>
                  <a:cxn ang="0">
                    <a:pos x="T6" y="T7"/>
                  </a:cxn>
                  <a:cxn ang="0">
                    <a:pos x="T8" y="T9"/>
                  </a:cxn>
                  <a:cxn ang="0">
                    <a:pos x="T10" y="T11"/>
                  </a:cxn>
                </a:cxnLst>
                <a:rect l="0" t="0" r="r" b="b"/>
                <a:pathLst>
                  <a:path w="21" h="21">
                    <a:moveTo>
                      <a:pt x="17" y="0"/>
                    </a:moveTo>
                    <a:lnTo>
                      <a:pt x="21" y="12"/>
                    </a:lnTo>
                    <a:lnTo>
                      <a:pt x="12" y="21"/>
                    </a:lnTo>
                    <a:lnTo>
                      <a:pt x="0" y="12"/>
                    </a:lnTo>
                    <a:lnTo>
                      <a:pt x="5" y="0"/>
                    </a:lnTo>
                    <a:lnTo>
                      <a:pt x="1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7" name="Freeform 157">
                <a:extLst>
                  <a:ext uri="{FF2B5EF4-FFF2-40B4-BE49-F238E27FC236}">
                    <a16:creationId xmlns:a16="http://schemas.microsoft.com/office/drawing/2014/main" id="{9864FA0E-B9E6-4786-8FF4-750C43E41132}"/>
                  </a:ext>
                </a:extLst>
              </p:cNvPr>
              <p:cNvSpPr/>
              <p:nvPr/>
            </p:nvSpPr>
            <p:spPr bwMode="auto">
              <a:xfrm>
                <a:off x="6191251" y="3257550"/>
                <a:ext cx="33338" cy="141288"/>
              </a:xfrm>
              <a:custGeom>
                <a:avLst/>
                <a:gdLst>
                  <a:gd name="T0" fmla="*/ 19 w 21"/>
                  <a:gd name="T1" fmla="*/ 0 h 89"/>
                  <a:gd name="T2" fmla="*/ 21 w 21"/>
                  <a:gd name="T3" fmla="*/ 82 h 89"/>
                  <a:gd name="T4" fmla="*/ 12 w 21"/>
                  <a:gd name="T5" fmla="*/ 89 h 89"/>
                  <a:gd name="T6" fmla="*/ 0 w 21"/>
                  <a:gd name="T7" fmla="*/ 82 h 89"/>
                  <a:gd name="T8" fmla="*/ 5 w 21"/>
                  <a:gd name="T9" fmla="*/ 0 h 89"/>
                  <a:gd name="T10" fmla="*/ 19 w 21"/>
                  <a:gd name="T11" fmla="*/ 0 h 89"/>
                </a:gdLst>
                <a:ahLst/>
                <a:cxnLst>
                  <a:cxn ang="0">
                    <a:pos x="T0" y="T1"/>
                  </a:cxn>
                  <a:cxn ang="0">
                    <a:pos x="T2" y="T3"/>
                  </a:cxn>
                  <a:cxn ang="0">
                    <a:pos x="T4" y="T5"/>
                  </a:cxn>
                  <a:cxn ang="0">
                    <a:pos x="T6" y="T7"/>
                  </a:cxn>
                  <a:cxn ang="0">
                    <a:pos x="T8" y="T9"/>
                  </a:cxn>
                  <a:cxn ang="0">
                    <a:pos x="T10" y="T11"/>
                  </a:cxn>
                </a:cxnLst>
                <a:rect l="0" t="0" r="r" b="b"/>
                <a:pathLst>
                  <a:path w="21" h="89">
                    <a:moveTo>
                      <a:pt x="19" y="0"/>
                    </a:moveTo>
                    <a:lnTo>
                      <a:pt x="21" y="82"/>
                    </a:lnTo>
                    <a:lnTo>
                      <a:pt x="12" y="89"/>
                    </a:lnTo>
                    <a:lnTo>
                      <a:pt x="0" y="82"/>
                    </a:lnTo>
                    <a:lnTo>
                      <a:pt x="5" y="0"/>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8" name="Oval 158">
                <a:extLst>
                  <a:ext uri="{FF2B5EF4-FFF2-40B4-BE49-F238E27FC236}">
                    <a16:creationId xmlns:a16="http://schemas.microsoft.com/office/drawing/2014/main" id="{B28841C7-9E82-4417-99BB-F92212E43B5E}"/>
                  </a:ext>
                </a:extLst>
              </p:cNvPr>
              <p:cNvSpPr>
                <a:spLocks noChangeArrowheads="1"/>
              </p:cNvSpPr>
              <p:nvPr/>
            </p:nvSpPr>
            <p:spPr bwMode="auto">
              <a:xfrm>
                <a:off x="5856288" y="3063875"/>
                <a:ext cx="111125" cy="1333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59" name="Rectangle 159">
                <a:extLst>
                  <a:ext uri="{FF2B5EF4-FFF2-40B4-BE49-F238E27FC236}">
                    <a16:creationId xmlns:a16="http://schemas.microsoft.com/office/drawing/2014/main" id="{EDE2B556-B937-4681-8F4D-5D6729C0112F}"/>
                  </a:ext>
                </a:extLst>
              </p:cNvPr>
              <p:cNvSpPr>
                <a:spLocks noChangeArrowheads="1"/>
              </p:cNvSpPr>
              <p:nvPr/>
            </p:nvSpPr>
            <p:spPr bwMode="auto">
              <a:xfrm>
                <a:off x="5913438"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60" name="Freeform 160">
                <a:extLst>
                  <a:ext uri="{FF2B5EF4-FFF2-40B4-BE49-F238E27FC236}">
                    <a16:creationId xmlns:a16="http://schemas.microsoft.com/office/drawing/2014/main" id="{B91E5A24-C608-4095-A701-FE7CE461A55E}"/>
                  </a:ext>
                </a:extLst>
              </p:cNvPr>
              <p:cNvSpPr/>
              <p:nvPr/>
            </p:nvSpPr>
            <p:spPr bwMode="auto">
              <a:xfrm>
                <a:off x="5722938" y="3322638"/>
                <a:ext cx="0" cy="3175"/>
              </a:xfrm>
              <a:custGeom>
                <a:avLst/>
                <a:gdLst>
                  <a:gd name="T0" fmla="*/ 1 h 1"/>
                  <a:gd name="T1" fmla="*/ 1 h 1"/>
                  <a:gd name="T2" fmla="*/ 1 h 1"/>
                </a:gdLst>
                <a:ahLst/>
                <a:cxnLst>
                  <a:cxn ang="0">
                    <a:pos x="0" y="T0"/>
                  </a:cxn>
                  <a:cxn ang="0">
                    <a:pos x="0" y="T1"/>
                  </a:cxn>
                  <a:cxn ang="0">
                    <a:pos x="0" y="T2"/>
                  </a:cxn>
                </a:cxnLst>
                <a:rect l="0" t="0" r="r" b="b"/>
                <a:pathLst>
                  <a:path h="1">
                    <a:moveTo>
                      <a:pt x="0" y="1"/>
                    </a:moveTo>
                    <a:cubicBezTo>
                      <a:pt x="0" y="1"/>
                      <a:pt x="0" y="1"/>
                      <a:pt x="0" y="1"/>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1" name="Rectangle 161">
                <a:extLst>
                  <a:ext uri="{FF2B5EF4-FFF2-40B4-BE49-F238E27FC236}">
                    <a16:creationId xmlns:a16="http://schemas.microsoft.com/office/drawing/2014/main" id="{933295DC-B98B-4C5B-A4DA-02FB61541B8B}"/>
                  </a:ext>
                </a:extLst>
              </p:cNvPr>
              <p:cNvSpPr>
                <a:spLocks noChangeArrowheads="1"/>
              </p:cNvSpPr>
              <p:nvPr/>
            </p:nvSpPr>
            <p:spPr bwMode="auto">
              <a:xfrm>
                <a:off x="5913438"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62" name="Freeform 162">
                <a:extLst>
                  <a:ext uri="{FF2B5EF4-FFF2-40B4-BE49-F238E27FC236}">
                    <a16:creationId xmlns:a16="http://schemas.microsoft.com/office/drawing/2014/main" id="{F1DFDE6F-926B-44F2-B553-04294D280831}"/>
                  </a:ext>
                </a:extLst>
              </p:cNvPr>
              <p:cNvSpPr/>
              <p:nvPr/>
            </p:nvSpPr>
            <p:spPr bwMode="auto">
              <a:xfrm>
                <a:off x="5894388" y="3205163"/>
                <a:ext cx="34925" cy="41275"/>
              </a:xfrm>
              <a:custGeom>
                <a:avLst/>
                <a:gdLst>
                  <a:gd name="T0" fmla="*/ 19 w 22"/>
                  <a:gd name="T1" fmla="*/ 0 h 26"/>
                  <a:gd name="T2" fmla="*/ 22 w 22"/>
                  <a:gd name="T3" fmla="*/ 16 h 26"/>
                  <a:gd name="T4" fmla="*/ 12 w 22"/>
                  <a:gd name="T5" fmla="*/ 26 h 26"/>
                  <a:gd name="T6" fmla="*/ 0 w 22"/>
                  <a:gd name="T7" fmla="*/ 16 h 26"/>
                  <a:gd name="T8" fmla="*/ 5 w 22"/>
                  <a:gd name="T9" fmla="*/ 0 h 26"/>
                  <a:gd name="T10" fmla="*/ 19 w 22"/>
                  <a:gd name="T11" fmla="*/ 0 h 26"/>
                </a:gdLst>
                <a:ahLst/>
                <a:cxnLst>
                  <a:cxn ang="0">
                    <a:pos x="T0" y="T1"/>
                  </a:cxn>
                  <a:cxn ang="0">
                    <a:pos x="T2" y="T3"/>
                  </a:cxn>
                  <a:cxn ang="0">
                    <a:pos x="T4" y="T5"/>
                  </a:cxn>
                  <a:cxn ang="0">
                    <a:pos x="T6" y="T7"/>
                  </a:cxn>
                  <a:cxn ang="0">
                    <a:pos x="T8" y="T9"/>
                  </a:cxn>
                  <a:cxn ang="0">
                    <a:pos x="T10" y="T11"/>
                  </a:cxn>
                </a:cxnLst>
                <a:rect l="0" t="0" r="r" b="b"/>
                <a:pathLst>
                  <a:path w="22" h="26">
                    <a:moveTo>
                      <a:pt x="19" y="0"/>
                    </a:moveTo>
                    <a:lnTo>
                      <a:pt x="22" y="16"/>
                    </a:lnTo>
                    <a:lnTo>
                      <a:pt x="12" y="26"/>
                    </a:lnTo>
                    <a:lnTo>
                      <a:pt x="0" y="16"/>
                    </a:lnTo>
                    <a:lnTo>
                      <a:pt x="5" y="0"/>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3" name="Freeform 163">
                <a:extLst>
                  <a:ext uri="{FF2B5EF4-FFF2-40B4-BE49-F238E27FC236}">
                    <a16:creationId xmlns:a16="http://schemas.microsoft.com/office/drawing/2014/main" id="{B106AAE0-C66A-4689-9FCA-B67ECD001860}"/>
                  </a:ext>
                </a:extLst>
              </p:cNvPr>
              <p:cNvSpPr/>
              <p:nvPr/>
            </p:nvSpPr>
            <p:spPr bwMode="auto">
              <a:xfrm>
                <a:off x="5891213" y="3235325"/>
                <a:ext cx="41275" cy="166688"/>
              </a:xfrm>
              <a:custGeom>
                <a:avLst/>
                <a:gdLst>
                  <a:gd name="T0" fmla="*/ 21 w 26"/>
                  <a:gd name="T1" fmla="*/ 0 h 105"/>
                  <a:gd name="T2" fmla="*/ 26 w 26"/>
                  <a:gd name="T3" fmla="*/ 96 h 105"/>
                  <a:gd name="T4" fmla="*/ 14 w 26"/>
                  <a:gd name="T5" fmla="*/ 105 h 105"/>
                  <a:gd name="T6" fmla="*/ 0 w 26"/>
                  <a:gd name="T7" fmla="*/ 96 h 105"/>
                  <a:gd name="T8" fmla="*/ 4 w 26"/>
                  <a:gd name="T9" fmla="*/ 0 h 105"/>
                  <a:gd name="T10" fmla="*/ 21 w 26"/>
                  <a:gd name="T11" fmla="*/ 0 h 105"/>
                </a:gdLst>
                <a:ahLst/>
                <a:cxnLst>
                  <a:cxn ang="0">
                    <a:pos x="T0" y="T1"/>
                  </a:cxn>
                  <a:cxn ang="0">
                    <a:pos x="T2" y="T3"/>
                  </a:cxn>
                  <a:cxn ang="0">
                    <a:pos x="T4" y="T5"/>
                  </a:cxn>
                  <a:cxn ang="0">
                    <a:pos x="T6" y="T7"/>
                  </a:cxn>
                  <a:cxn ang="0">
                    <a:pos x="T8" y="T9"/>
                  </a:cxn>
                  <a:cxn ang="0">
                    <a:pos x="T10" y="T11"/>
                  </a:cxn>
                </a:cxnLst>
                <a:rect l="0" t="0" r="r" b="b"/>
                <a:pathLst>
                  <a:path w="26" h="105">
                    <a:moveTo>
                      <a:pt x="21" y="0"/>
                    </a:moveTo>
                    <a:lnTo>
                      <a:pt x="26" y="96"/>
                    </a:lnTo>
                    <a:lnTo>
                      <a:pt x="14" y="105"/>
                    </a:lnTo>
                    <a:lnTo>
                      <a:pt x="0" y="96"/>
                    </a:lnTo>
                    <a:lnTo>
                      <a:pt x="4" y="0"/>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4" name="Freeform 164">
                <a:extLst>
                  <a:ext uri="{FF2B5EF4-FFF2-40B4-BE49-F238E27FC236}">
                    <a16:creationId xmlns:a16="http://schemas.microsoft.com/office/drawing/2014/main" id="{C483CAA4-3170-4899-9FBB-3B3F0EAC2678}"/>
                  </a:ext>
                </a:extLst>
              </p:cNvPr>
              <p:cNvSpPr>
                <a:spLocks noEditPoints="1"/>
              </p:cNvSpPr>
              <p:nvPr/>
            </p:nvSpPr>
            <p:spPr bwMode="auto">
              <a:xfrm>
                <a:off x="5719763" y="3211513"/>
                <a:ext cx="373063" cy="547688"/>
              </a:xfrm>
              <a:custGeom>
                <a:avLst/>
                <a:gdLst>
                  <a:gd name="T0" fmla="*/ 60 w 98"/>
                  <a:gd name="T1" fmla="*/ 74 h 144"/>
                  <a:gd name="T2" fmla="*/ 75 w 98"/>
                  <a:gd name="T3" fmla="*/ 57 h 144"/>
                  <a:gd name="T4" fmla="*/ 74 w 98"/>
                  <a:gd name="T5" fmla="*/ 36 h 144"/>
                  <a:gd name="T6" fmla="*/ 77 w 98"/>
                  <a:gd name="T7" fmla="*/ 40 h 144"/>
                  <a:gd name="T8" fmla="*/ 78 w 98"/>
                  <a:gd name="T9" fmla="*/ 57 h 144"/>
                  <a:gd name="T10" fmla="*/ 98 w 98"/>
                  <a:gd name="T11" fmla="*/ 57 h 144"/>
                  <a:gd name="T12" fmla="*/ 92 w 98"/>
                  <a:gd name="T13" fmla="*/ 31 h 144"/>
                  <a:gd name="T14" fmla="*/ 74 w 98"/>
                  <a:gd name="T15" fmla="*/ 4 h 144"/>
                  <a:gd name="T16" fmla="*/ 63 w 98"/>
                  <a:gd name="T17" fmla="*/ 0 h 144"/>
                  <a:gd name="T18" fmla="*/ 63 w 98"/>
                  <a:gd name="T19" fmla="*/ 0 h 144"/>
                  <a:gd name="T20" fmla="*/ 69 w 98"/>
                  <a:gd name="T21" fmla="*/ 5 h 144"/>
                  <a:gd name="T22" fmla="*/ 61 w 98"/>
                  <a:gd name="T23" fmla="*/ 9 h 144"/>
                  <a:gd name="T24" fmla="*/ 65 w 98"/>
                  <a:gd name="T25" fmla="*/ 15 h 144"/>
                  <a:gd name="T26" fmla="*/ 51 w 98"/>
                  <a:gd name="T27" fmla="*/ 46 h 144"/>
                  <a:gd name="T28" fmla="*/ 51 w 98"/>
                  <a:gd name="T29" fmla="*/ 46 h 144"/>
                  <a:gd name="T30" fmla="*/ 51 w 98"/>
                  <a:gd name="T31" fmla="*/ 46 h 144"/>
                  <a:gd name="T32" fmla="*/ 51 w 98"/>
                  <a:gd name="T33" fmla="*/ 46 h 144"/>
                  <a:gd name="T34" fmla="*/ 51 w 98"/>
                  <a:gd name="T35" fmla="*/ 46 h 144"/>
                  <a:gd name="T36" fmla="*/ 36 w 98"/>
                  <a:gd name="T37" fmla="*/ 15 h 144"/>
                  <a:gd name="T38" fmla="*/ 40 w 98"/>
                  <a:gd name="T39" fmla="*/ 9 h 144"/>
                  <a:gd name="T40" fmla="*/ 33 w 98"/>
                  <a:gd name="T41" fmla="*/ 5 h 144"/>
                  <a:gd name="T42" fmla="*/ 39 w 98"/>
                  <a:gd name="T43" fmla="*/ 0 h 144"/>
                  <a:gd name="T44" fmla="*/ 39 w 98"/>
                  <a:gd name="T45" fmla="*/ 0 h 144"/>
                  <a:gd name="T46" fmla="*/ 31 w 98"/>
                  <a:gd name="T47" fmla="*/ 0 h 144"/>
                  <a:gd name="T48" fmla="*/ 25 w 98"/>
                  <a:gd name="T49" fmla="*/ 3 h 144"/>
                  <a:gd name="T50" fmla="*/ 1 w 98"/>
                  <a:gd name="T51" fmla="*/ 29 h 144"/>
                  <a:gd name="T52" fmla="*/ 1 w 98"/>
                  <a:gd name="T53" fmla="*/ 29 h 144"/>
                  <a:gd name="T54" fmla="*/ 1 w 98"/>
                  <a:gd name="T55" fmla="*/ 30 h 144"/>
                  <a:gd name="T56" fmla="*/ 0 w 98"/>
                  <a:gd name="T57" fmla="*/ 40 h 144"/>
                  <a:gd name="T58" fmla="*/ 0 w 98"/>
                  <a:gd name="T59" fmla="*/ 41 h 144"/>
                  <a:gd name="T60" fmla="*/ 0 w 98"/>
                  <a:gd name="T61" fmla="*/ 42 h 144"/>
                  <a:gd name="T62" fmla="*/ 1 w 98"/>
                  <a:gd name="T63" fmla="*/ 44 h 144"/>
                  <a:gd name="T64" fmla="*/ 3 w 98"/>
                  <a:gd name="T65" fmla="*/ 48 h 144"/>
                  <a:gd name="T66" fmla="*/ 7 w 98"/>
                  <a:gd name="T67" fmla="*/ 55 h 144"/>
                  <a:gd name="T68" fmla="*/ 15 w 98"/>
                  <a:gd name="T69" fmla="*/ 71 h 144"/>
                  <a:gd name="T70" fmla="*/ 26 w 98"/>
                  <a:gd name="T71" fmla="*/ 65 h 144"/>
                  <a:gd name="T72" fmla="*/ 26 w 98"/>
                  <a:gd name="T73" fmla="*/ 75 h 144"/>
                  <a:gd name="T74" fmla="*/ 26 w 98"/>
                  <a:gd name="T75" fmla="*/ 76 h 144"/>
                  <a:gd name="T76" fmla="*/ 28 w 98"/>
                  <a:gd name="T77" fmla="*/ 76 h 144"/>
                  <a:gd name="T78" fmla="*/ 30 w 98"/>
                  <a:gd name="T79" fmla="*/ 144 h 144"/>
                  <a:gd name="T80" fmla="*/ 50 w 98"/>
                  <a:gd name="T81" fmla="*/ 144 h 144"/>
                  <a:gd name="T82" fmla="*/ 50 w 98"/>
                  <a:gd name="T83" fmla="*/ 76 h 144"/>
                  <a:gd name="T84" fmla="*/ 52 w 98"/>
                  <a:gd name="T85" fmla="*/ 76 h 144"/>
                  <a:gd name="T86" fmla="*/ 54 w 98"/>
                  <a:gd name="T87" fmla="*/ 144 h 144"/>
                  <a:gd name="T88" fmla="*/ 60 w 98"/>
                  <a:gd name="T89" fmla="*/ 144 h 144"/>
                  <a:gd name="T90" fmla="*/ 60 w 98"/>
                  <a:gd name="T91" fmla="*/ 74 h 144"/>
                  <a:gd name="T92" fmla="*/ 27 w 98"/>
                  <a:gd name="T93" fmla="*/ 50 h 144"/>
                  <a:gd name="T94" fmla="*/ 24 w 98"/>
                  <a:gd name="T95" fmla="*/ 46 h 144"/>
                  <a:gd name="T96" fmla="*/ 20 w 98"/>
                  <a:gd name="T97" fmla="*/ 39 h 144"/>
                  <a:gd name="T98" fmla="*/ 19 w 98"/>
                  <a:gd name="T99" fmla="*/ 36 h 144"/>
                  <a:gd name="T100" fmla="*/ 27 w 98"/>
                  <a:gd name="T101" fmla="*/ 26 h 144"/>
                  <a:gd name="T102" fmla="*/ 27 w 98"/>
                  <a:gd name="T103" fmla="*/ 5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44">
                    <a:moveTo>
                      <a:pt x="60" y="74"/>
                    </a:moveTo>
                    <a:cubicBezTo>
                      <a:pt x="60" y="66"/>
                      <a:pt x="66" y="58"/>
                      <a:pt x="75" y="57"/>
                    </a:cubicBezTo>
                    <a:cubicBezTo>
                      <a:pt x="75" y="50"/>
                      <a:pt x="75" y="43"/>
                      <a:pt x="74" y="36"/>
                    </a:cubicBezTo>
                    <a:cubicBezTo>
                      <a:pt x="77" y="40"/>
                      <a:pt x="77" y="40"/>
                      <a:pt x="77" y="40"/>
                    </a:cubicBezTo>
                    <a:cubicBezTo>
                      <a:pt x="78" y="41"/>
                      <a:pt x="78" y="49"/>
                      <a:pt x="78" y="57"/>
                    </a:cubicBezTo>
                    <a:cubicBezTo>
                      <a:pt x="98" y="57"/>
                      <a:pt x="98" y="57"/>
                      <a:pt x="98" y="57"/>
                    </a:cubicBezTo>
                    <a:cubicBezTo>
                      <a:pt x="98" y="50"/>
                      <a:pt x="98" y="43"/>
                      <a:pt x="92" y="31"/>
                    </a:cubicBezTo>
                    <a:cubicBezTo>
                      <a:pt x="74" y="4"/>
                      <a:pt x="74" y="4"/>
                      <a:pt x="74" y="4"/>
                    </a:cubicBezTo>
                    <a:cubicBezTo>
                      <a:pt x="71" y="0"/>
                      <a:pt x="64" y="0"/>
                      <a:pt x="63" y="0"/>
                    </a:cubicBezTo>
                    <a:cubicBezTo>
                      <a:pt x="63" y="0"/>
                      <a:pt x="63" y="0"/>
                      <a:pt x="63" y="0"/>
                    </a:cubicBezTo>
                    <a:cubicBezTo>
                      <a:pt x="69" y="5"/>
                      <a:pt x="69" y="5"/>
                      <a:pt x="69" y="5"/>
                    </a:cubicBezTo>
                    <a:cubicBezTo>
                      <a:pt x="61" y="9"/>
                      <a:pt x="61" y="9"/>
                      <a:pt x="61" y="9"/>
                    </a:cubicBezTo>
                    <a:cubicBezTo>
                      <a:pt x="65" y="15"/>
                      <a:pt x="65" y="15"/>
                      <a:pt x="65" y="15"/>
                    </a:cubicBezTo>
                    <a:cubicBezTo>
                      <a:pt x="51" y="46"/>
                      <a:pt x="51" y="46"/>
                      <a:pt x="51" y="46"/>
                    </a:cubicBezTo>
                    <a:cubicBezTo>
                      <a:pt x="51" y="46"/>
                      <a:pt x="51" y="46"/>
                      <a:pt x="51" y="46"/>
                    </a:cubicBezTo>
                    <a:cubicBezTo>
                      <a:pt x="51" y="46"/>
                      <a:pt x="51" y="46"/>
                      <a:pt x="51" y="46"/>
                    </a:cubicBezTo>
                    <a:cubicBezTo>
                      <a:pt x="51" y="46"/>
                      <a:pt x="51" y="46"/>
                      <a:pt x="51" y="46"/>
                    </a:cubicBezTo>
                    <a:cubicBezTo>
                      <a:pt x="51" y="46"/>
                      <a:pt x="51" y="46"/>
                      <a:pt x="51" y="46"/>
                    </a:cubicBezTo>
                    <a:cubicBezTo>
                      <a:pt x="36" y="15"/>
                      <a:pt x="36" y="15"/>
                      <a:pt x="36" y="15"/>
                    </a:cubicBezTo>
                    <a:cubicBezTo>
                      <a:pt x="40" y="9"/>
                      <a:pt x="40" y="9"/>
                      <a:pt x="40" y="9"/>
                    </a:cubicBezTo>
                    <a:cubicBezTo>
                      <a:pt x="33" y="5"/>
                      <a:pt x="33" y="5"/>
                      <a:pt x="33" y="5"/>
                    </a:cubicBezTo>
                    <a:cubicBezTo>
                      <a:pt x="39" y="0"/>
                      <a:pt x="39" y="0"/>
                      <a:pt x="39" y="0"/>
                    </a:cubicBezTo>
                    <a:cubicBezTo>
                      <a:pt x="39" y="0"/>
                      <a:pt x="39" y="0"/>
                      <a:pt x="39" y="0"/>
                    </a:cubicBezTo>
                    <a:cubicBezTo>
                      <a:pt x="36" y="0"/>
                      <a:pt x="31" y="0"/>
                      <a:pt x="31" y="0"/>
                    </a:cubicBezTo>
                    <a:cubicBezTo>
                      <a:pt x="29" y="1"/>
                      <a:pt x="27" y="2"/>
                      <a:pt x="25" y="3"/>
                    </a:cubicBezTo>
                    <a:cubicBezTo>
                      <a:pt x="1" y="29"/>
                      <a:pt x="1" y="29"/>
                      <a:pt x="1" y="29"/>
                    </a:cubicBezTo>
                    <a:cubicBezTo>
                      <a:pt x="1" y="29"/>
                      <a:pt x="1" y="29"/>
                      <a:pt x="1" y="29"/>
                    </a:cubicBezTo>
                    <a:cubicBezTo>
                      <a:pt x="1" y="30"/>
                      <a:pt x="1" y="30"/>
                      <a:pt x="1" y="30"/>
                    </a:cubicBezTo>
                    <a:cubicBezTo>
                      <a:pt x="1" y="31"/>
                      <a:pt x="0" y="40"/>
                      <a:pt x="0" y="40"/>
                    </a:cubicBezTo>
                    <a:cubicBezTo>
                      <a:pt x="0" y="41"/>
                      <a:pt x="0" y="41"/>
                      <a:pt x="0" y="41"/>
                    </a:cubicBezTo>
                    <a:cubicBezTo>
                      <a:pt x="0" y="42"/>
                      <a:pt x="0" y="42"/>
                      <a:pt x="0" y="42"/>
                    </a:cubicBezTo>
                    <a:cubicBezTo>
                      <a:pt x="1" y="44"/>
                      <a:pt x="1" y="44"/>
                      <a:pt x="1" y="44"/>
                    </a:cubicBezTo>
                    <a:cubicBezTo>
                      <a:pt x="3" y="48"/>
                      <a:pt x="3" y="48"/>
                      <a:pt x="3" y="48"/>
                    </a:cubicBezTo>
                    <a:cubicBezTo>
                      <a:pt x="7" y="55"/>
                      <a:pt x="7" y="55"/>
                      <a:pt x="7" y="55"/>
                    </a:cubicBezTo>
                    <a:cubicBezTo>
                      <a:pt x="15" y="71"/>
                      <a:pt x="15" y="71"/>
                      <a:pt x="15" y="71"/>
                    </a:cubicBezTo>
                    <a:cubicBezTo>
                      <a:pt x="19" y="69"/>
                      <a:pt x="23" y="67"/>
                      <a:pt x="26" y="65"/>
                    </a:cubicBezTo>
                    <a:cubicBezTo>
                      <a:pt x="26" y="69"/>
                      <a:pt x="26" y="72"/>
                      <a:pt x="26" y="75"/>
                    </a:cubicBezTo>
                    <a:cubicBezTo>
                      <a:pt x="26" y="76"/>
                      <a:pt x="26" y="76"/>
                      <a:pt x="26" y="76"/>
                    </a:cubicBezTo>
                    <a:cubicBezTo>
                      <a:pt x="27" y="76"/>
                      <a:pt x="27" y="76"/>
                      <a:pt x="28" y="76"/>
                    </a:cubicBezTo>
                    <a:cubicBezTo>
                      <a:pt x="30" y="144"/>
                      <a:pt x="30" y="144"/>
                      <a:pt x="30" y="144"/>
                    </a:cubicBezTo>
                    <a:cubicBezTo>
                      <a:pt x="50" y="144"/>
                      <a:pt x="50" y="144"/>
                      <a:pt x="50" y="144"/>
                    </a:cubicBezTo>
                    <a:cubicBezTo>
                      <a:pt x="50" y="124"/>
                      <a:pt x="50" y="89"/>
                      <a:pt x="50" y="76"/>
                    </a:cubicBezTo>
                    <a:cubicBezTo>
                      <a:pt x="50" y="76"/>
                      <a:pt x="51" y="76"/>
                      <a:pt x="52" y="76"/>
                    </a:cubicBezTo>
                    <a:cubicBezTo>
                      <a:pt x="54" y="144"/>
                      <a:pt x="54" y="144"/>
                      <a:pt x="54" y="144"/>
                    </a:cubicBezTo>
                    <a:cubicBezTo>
                      <a:pt x="60" y="144"/>
                      <a:pt x="60" y="144"/>
                      <a:pt x="60" y="144"/>
                    </a:cubicBezTo>
                    <a:lnTo>
                      <a:pt x="60" y="74"/>
                    </a:lnTo>
                    <a:close/>
                    <a:moveTo>
                      <a:pt x="27" y="50"/>
                    </a:moveTo>
                    <a:cubicBezTo>
                      <a:pt x="24" y="46"/>
                      <a:pt x="24" y="46"/>
                      <a:pt x="24" y="46"/>
                    </a:cubicBezTo>
                    <a:cubicBezTo>
                      <a:pt x="20" y="39"/>
                      <a:pt x="20" y="39"/>
                      <a:pt x="20" y="39"/>
                    </a:cubicBezTo>
                    <a:cubicBezTo>
                      <a:pt x="19" y="36"/>
                      <a:pt x="19" y="36"/>
                      <a:pt x="19" y="36"/>
                    </a:cubicBezTo>
                    <a:cubicBezTo>
                      <a:pt x="27" y="26"/>
                      <a:pt x="27" y="26"/>
                      <a:pt x="27" y="26"/>
                    </a:cubicBezTo>
                    <a:cubicBezTo>
                      <a:pt x="27" y="34"/>
                      <a:pt x="27" y="42"/>
                      <a:pt x="27"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5" name="Freeform 165">
                <a:extLst>
                  <a:ext uri="{FF2B5EF4-FFF2-40B4-BE49-F238E27FC236}">
                    <a16:creationId xmlns:a16="http://schemas.microsoft.com/office/drawing/2014/main" id="{109D93F2-39D7-4720-A015-41D1E18020FB}"/>
                  </a:ext>
                </a:extLst>
              </p:cNvPr>
              <p:cNvSpPr/>
              <p:nvPr/>
            </p:nvSpPr>
            <p:spPr bwMode="auto">
              <a:xfrm>
                <a:off x="6099176" y="3230563"/>
                <a:ext cx="220663" cy="198438"/>
              </a:xfrm>
              <a:custGeom>
                <a:avLst/>
                <a:gdLst>
                  <a:gd name="T0" fmla="*/ 1 w 58"/>
                  <a:gd name="T1" fmla="*/ 52 h 52"/>
                  <a:gd name="T2" fmla="*/ 30 w 58"/>
                  <a:gd name="T3" fmla="*/ 52 h 52"/>
                  <a:gd name="T4" fmla="*/ 58 w 58"/>
                  <a:gd name="T5" fmla="*/ 52 h 52"/>
                  <a:gd name="T6" fmla="*/ 55 w 58"/>
                  <a:gd name="T7" fmla="*/ 8 h 52"/>
                  <a:gd name="T8" fmla="*/ 47 w 58"/>
                  <a:gd name="T9" fmla="*/ 0 h 52"/>
                  <a:gd name="T10" fmla="*/ 40 w 58"/>
                  <a:gd name="T11" fmla="*/ 0 h 52"/>
                  <a:gd name="T12" fmla="*/ 45 w 58"/>
                  <a:gd name="T13" fmla="*/ 4 h 52"/>
                  <a:gd name="T14" fmla="*/ 38 w 58"/>
                  <a:gd name="T15" fmla="*/ 8 h 52"/>
                  <a:gd name="T16" fmla="*/ 41 w 58"/>
                  <a:gd name="T17" fmla="*/ 13 h 52"/>
                  <a:gd name="T18" fmla="*/ 29 w 58"/>
                  <a:gd name="T19" fmla="*/ 41 h 52"/>
                  <a:gd name="T20" fmla="*/ 29 w 58"/>
                  <a:gd name="T21" fmla="*/ 41 h 52"/>
                  <a:gd name="T22" fmla="*/ 29 w 58"/>
                  <a:gd name="T23" fmla="*/ 41 h 52"/>
                  <a:gd name="T24" fmla="*/ 29 w 58"/>
                  <a:gd name="T25" fmla="*/ 41 h 52"/>
                  <a:gd name="T26" fmla="*/ 29 w 58"/>
                  <a:gd name="T27" fmla="*/ 41 h 52"/>
                  <a:gd name="T28" fmla="*/ 16 w 58"/>
                  <a:gd name="T29" fmla="*/ 13 h 52"/>
                  <a:gd name="T30" fmla="*/ 19 w 58"/>
                  <a:gd name="T31" fmla="*/ 8 h 52"/>
                  <a:gd name="T32" fmla="*/ 12 w 58"/>
                  <a:gd name="T33" fmla="*/ 4 h 52"/>
                  <a:gd name="T34" fmla="*/ 17 w 58"/>
                  <a:gd name="T35" fmla="*/ 0 h 52"/>
                  <a:gd name="T36" fmla="*/ 11 w 58"/>
                  <a:gd name="T37" fmla="*/ 0 h 52"/>
                  <a:gd name="T38" fmla="*/ 11 w 58"/>
                  <a:gd name="T39" fmla="*/ 0 h 52"/>
                  <a:gd name="T40" fmla="*/ 3 w 58"/>
                  <a:gd name="T41" fmla="*/ 8 h 52"/>
                  <a:gd name="T42" fmla="*/ 0 w 58"/>
                  <a:gd name="T43" fmla="*/ 52 h 52"/>
                  <a:gd name="T44" fmla="*/ 1 w 58"/>
                  <a:gd name="T45"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52">
                    <a:moveTo>
                      <a:pt x="1" y="52"/>
                    </a:moveTo>
                    <a:cubicBezTo>
                      <a:pt x="30" y="52"/>
                      <a:pt x="30" y="52"/>
                      <a:pt x="30" y="52"/>
                    </a:cubicBezTo>
                    <a:cubicBezTo>
                      <a:pt x="58" y="52"/>
                      <a:pt x="58" y="52"/>
                      <a:pt x="58" y="52"/>
                    </a:cubicBezTo>
                    <a:cubicBezTo>
                      <a:pt x="55" y="8"/>
                      <a:pt x="55" y="8"/>
                      <a:pt x="55" y="8"/>
                    </a:cubicBezTo>
                    <a:cubicBezTo>
                      <a:pt x="54" y="3"/>
                      <a:pt x="51" y="0"/>
                      <a:pt x="47" y="0"/>
                    </a:cubicBezTo>
                    <a:cubicBezTo>
                      <a:pt x="47" y="0"/>
                      <a:pt x="44" y="0"/>
                      <a:pt x="40" y="0"/>
                    </a:cubicBezTo>
                    <a:cubicBezTo>
                      <a:pt x="45" y="4"/>
                      <a:pt x="45" y="4"/>
                      <a:pt x="45" y="4"/>
                    </a:cubicBezTo>
                    <a:cubicBezTo>
                      <a:pt x="38" y="8"/>
                      <a:pt x="38" y="8"/>
                      <a:pt x="38" y="8"/>
                    </a:cubicBezTo>
                    <a:cubicBezTo>
                      <a:pt x="41" y="13"/>
                      <a:pt x="41" y="13"/>
                      <a:pt x="41" y="13"/>
                    </a:cubicBezTo>
                    <a:cubicBezTo>
                      <a:pt x="29" y="41"/>
                      <a:pt x="29" y="41"/>
                      <a:pt x="29" y="41"/>
                    </a:cubicBezTo>
                    <a:cubicBezTo>
                      <a:pt x="29" y="41"/>
                      <a:pt x="29" y="41"/>
                      <a:pt x="29" y="41"/>
                    </a:cubicBezTo>
                    <a:cubicBezTo>
                      <a:pt x="29" y="41"/>
                      <a:pt x="29" y="41"/>
                      <a:pt x="29" y="41"/>
                    </a:cubicBezTo>
                    <a:cubicBezTo>
                      <a:pt x="29" y="41"/>
                      <a:pt x="29" y="41"/>
                      <a:pt x="29" y="41"/>
                    </a:cubicBezTo>
                    <a:cubicBezTo>
                      <a:pt x="29" y="41"/>
                      <a:pt x="29" y="41"/>
                      <a:pt x="29" y="41"/>
                    </a:cubicBezTo>
                    <a:cubicBezTo>
                      <a:pt x="16" y="13"/>
                      <a:pt x="16" y="13"/>
                      <a:pt x="16" y="13"/>
                    </a:cubicBezTo>
                    <a:cubicBezTo>
                      <a:pt x="19" y="8"/>
                      <a:pt x="19" y="8"/>
                      <a:pt x="19" y="8"/>
                    </a:cubicBezTo>
                    <a:cubicBezTo>
                      <a:pt x="12" y="4"/>
                      <a:pt x="12" y="4"/>
                      <a:pt x="12" y="4"/>
                    </a:cubicBezTo>
                    <a:cubicBezTo>
                      <a:pt x="17" y="0"/>
                      <a:pt x="17" y="0"/>
                      <a:pt x="17" y="0"/>
                    </a:cubicBezTo>
                    <a:cubicBezTo>
                      <a:pt x="13" y="0"/>
                      <a:pt x="11" y="0"/>
                      <a:pt x="11" y="0"/>
                    </a:cubicBezTo>
                    <a:cubicBezTo>
                      <a:pt x="11" y="0"/>
                      <a:pt x="11" y="0"/>
                      <a:pt x="11" y="0"/>
                    </a:cubicBezTo>
                    <a:cubicBezTo>
                      <a:pt x="7" y="0"/>
                      <a:pt x="3" y="3"/>
                      <a:pt x="3" y="8"/>
                    </a:cubicBezTo>
                    <a:cubicBezTo>
                      <a:pt x="0" y="52"/>
                      <a:pt x="0" y="52"/>
                      <a:pt x="0" y="52"/>
                    </a:cubicBezTo>
                    <a:lnTo>
                      <a:pt x="1" y="5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6" name="Freeform 166">
                <a:extLst>
                  <a:ext uri="{FF2B5EF4-FFF2-40B4-BE49-F238E27FC236}">
                    <a16:creationId xmlns:a16="http://schemas.microsoft.com/office/drawing/2014/main" id="{BEBD6132-55E7-4CA8-9C34-D78B3B190E1E}"/>
                  </a:ext>
                </a:extLst>
              </p:cNvPr>
              <p:cNvSpPr/>
              <p:nvPr/>
            </p:nvSpPr>
            <p:spPr bwMode="auto">
              <a:xfrm>
                <a:off x="6019801" y="3633788"/>
                <a:ext cx="111125" cy="103188"/>
              </a:xfrm>
              <a:custGeom>
                <a:avLst/>
                <a:gdLst>
                  <a:gd name="T0" fmla="*/ 27 w 29"/>
                  <a:gd name="T1" fmla="*/ 0 h 27"/>
                  <a:gd name="T2" fmla="*/ 26 w 29"/>
                  <a:gd name="T3" fmla="*/ 0 h 27"/>
                  <a:gd name="T4" fmla="*/ 1 w 29"/>
                  <a:gd name="T5" fmla="*/ 24 h 27"/>
                  <a:gd name="T6" fmla="*/ 1 w 29"/>
                  <a:gd name="T7" fmla="*/ 27 h 27"/>
                  <a:gd name="T8" fmla="*/ 2 w 29"/>
                  <a:gd name="T9" fmla="*/ 27 h 27"/>
                  <a:gd name="T10" fmla="*/ 4 w 29"/>
                  <a:gd name="T11" fmla="*/ 27 h 27"/>
                  <a:gd name="T12" fmla="*/ 29 w 29"/>
                  <a:gd name="T13" fmla="*/ 3 h 27"/>
                  <a:gd name="T14" fmla="*/ 29 w 29"/>
                  <a:gd name="T15" fmla="*/ 0 h 27"/>
                  <a:gd name="T16" fmla="*/ 27 w 29"/>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27">
                    <a:moveTo>
                      <a:pt x="27" y="0"/>
                    </a:moveTo>
                    <a:cubicBezTo>
                      <a:pt x="26" y="0"/>
                      <a:pt x="26" y="0"/>
                      <a:pt x="26" y="0"/>
                    </a:cubicBezTo>
                    <a:cubicBezTo>
                      <a:pt x="1" y="24"/>
                      <a:pt x="1" y="24"/>
                      <a:pt x="1" y="24"/>
                    </a:cubicBezTo>
                    <a:cubicBezTo>
                      <a:pt x="0" y="25"/>
                      <a:pt x="0" y="26"/>
                      <a:pt x="1" y="27"/>
                    </a:cubicBezTo>
                    <a:cubicBezTo>
                      <a:pt x="1" y="27"/>
                      <a:pt x="2" y="27"/>
                      <a:pt x="2" y="27"/>
                    </a:cubicBezTo>
                    <a:cubicBezTo>
                      <a:pt x="3" y="27"/>
                      <a:pt x="3" y="27"/>
                      <a:pt x="4" y="27"/>
                    </a:cubicBezTo>
                    <a:cubicBezTo>
                      <a:pt x="29" y="3"/>
                      <a:pt x="29" y="3"/>
                      <a:pt x="29" y="3"/>
                    </a:cubicBezTo>
                    <a:cubicBezTo>
                      <a:pt x="29" y="3"/>
                      <a:pt x="29" y="1"/>
                      <a:pt x="29" y="0"/>
                    </a:cubicBezTo>
                    <a:cubicBezTo>
                      <a:pt x="28" y="0"/>
                      <a:pt x="28" y="0"/>
                      <a:pt x="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7" name="Freeform 167">
                <a:extLst>
                  <a:ext uri="{FF2B5EF4-FFF2-40B4-BE49-F238E27FC236}">
                    <a16:creationId xmlns:a16="http://schemas.microsoft.com/office/drawing/2014/main" id="{20B37B38-C020-45B9-9974-0E3BD142BD6C}"/>
                  </a:ext>
                </a:extLst>
              </p:cNvPr>
              <p:cNvSpPr>
                <a:spLocks noEditPoints="1"/>
              </p:cNvSpPr>
              <p:nvPr/>
            </p:nvSpPr>
            <p:spPr bwMode="auto">
              <a:xfrm>
                <a:off x="5967413" y="3448050"/>
                <a:ext cx="504825" cy="346075"/>
              </a:xfrm>
              <a:custGeom>
                <a:avLst/>
                <a:gdLst>
                  <a:gd name="T0" fmla="*/ 128 w 133"/>
                  <a:gd name="T1" fmla="*/ 4 h 91"/>
                  <a:gd name="T2" fmla="*/ 118 w 133"/>
                  <a:gd name="T3" fmla="*/ 0 h 91"/>
                  <a:gd name="T4" fmla="*/ 15 w 133"/>
                  <a:gd name="T5" fmla="*/ 0 h 91"/>
                  <a:gd name="T6" fmla="*/ 5 w 133"/>
                  <a:gd name="T7" fmla="*/ 4 h 91"/>
                  <a:gd name="T8" fmla="*/ 0 w 133"/>
                  <a:gd name="T9" fmla="*/ 17 h 91"/>
                  <a:gd name="T10" fmla="*/ 0 w 133"/>
                  <a:gd name="T11" fmla="*/ 75 h 91"/>
                  <a:gd name="T12" fmla="*/ 15 w 133"/>
                  <a:gd name="T13" fmla="*/ 91 h 91"/>
                  <a:gd name="T14" fmla="*/ 118 w 133"/>
                  <a:gd name="T15" fmla="*/ 91 h 91"/>
                  <a:gd name="T16" fmla="*/ 133 w 133"/>
                  <a:gd name="T17" fmla="*/ 75 h 91"/>
                  <a:gd name="T18" fmla="*/ 133 w 133"/>
                  <a:gd name="T19" fmla="*/ 17 h 91"/>
                  <a:gd name="T20" fmla="*/ 128 w 133"/>
                  <a:gd name="T21" fmla="*/ 4 h 91"/>
                  <a:gd name="T22" fmla="*/ 66 w 133"/>
                  <a:gd name="T23" fmla="*/ 50 h 91"/>
                  <a:gd name="T24" fmla="*/ 17 w 133"/>
                  <a:gd name="T25" fmla="*/ 10 h 91"/>
                  <a:gd name="T26" fmla="*/ 115 w 133"/>
                  <a:gd name="T27" fmla="*/ 10 h 91"/>
                  <a:gd name="T28" fmla="*/ 66 w 133"/>
                  <a:gd name="T29" fmla="*/ 50 h 91"/>
                  <a:gd name="T30" fmla="*/ 123 w 133"/>
                  <a:gd name="T31" fmla="*/ 75 h 91"/>
                  <a:gd name="T32" fmla="*/ 118 w 133"/>
                  <a:gd name="T33" fmla="*/ 80 h 91"/>
                  <a:gd name="T34" fmla="*/ 15 w 133"/>
                  <a:gd name="T35" fmla="*/ 80 h 91"/>
                  <a:gd name="T36" fmla="*/ 10 w 133"/>
                  <a:gd name="T37" fmla="*/ 75 h 91"/>
                  <a:gd name="T38" fmla="*/ 10 w 133"/>
                  <a:gd name="T39" fmla="*/ 17 h 91"/>
                  <a:gd name="T40" fmla="*/ 62 w 133"/>
                  <a:gd name="T41" fmla="*/ 60 h 91"/>
                  <a:gd name="T42" fmla="*/ 66 w 133"/>
                  <a:gd name="T43" fmla="*/ 61 h 91"/>
                  <a:gd name="T44" fmla="*/ 70 w 133"/>
                  <a:gd name="T45" fmla="*/ 60 h 91"/>
                  <a:gd name="T46" fmla="*/ 123 w 133"/>
                  <a:gd name="T47" fmla="*/ 17 h 91"/>
                  <a:gd name="T48" fmla="*/ 123 w 133"/>
                  <a:gd name="T49" fmla="*/ 75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3" h="91">
                    <a:moveTo>
                      <a:pt x="128" y="4"/>
                    </a:moveTo>
                    <a:cubicBezTo>
                      <a:pt x="125" y="1"/>
                      <a:pt x="121" y="0"/>
                      <a:pt x="118" y="0"/>
                    </a:cubicBezTo>
                    <a:cubicBezTo>
                      <a:pt x="15" y="0"/>
                      <a:pt x="15" y="0"/>
                      <a:pt x="15" y="0"/>
                    </a:cubicBezTo>
                    <a:cubicBezTo>
                      <a:pt x="12" y="0"/>
                      <a:pt x="8" y="1"/>
                      <a:pt x="5" y="4"/>
                    </a:cubicBezTo>
                    <a:cubicBezTo>
                      <a:pt x="3" y="6"/>
                      <a:pt x="0" y="11"/>
                      <a:pt x="0" y="17"/>
                    </a:cubicBezTo>
                    <a:cubicBezTo>
                      <a:pt x="0" y="75"/>
                      <a:pt x="0" y="75"/>
                      <a:pt x="0" y="75"/>
                    </a:cubicBezTo>
                    <a:cubicBezTo>
                      <a:pt x="0" y="84"/>
                      <a:pt x="7" y="91"/>
                      <a:pt x="15" y="91"/>
                    </a:cubicBezTo>
                    <a:cubicBezTo>
                      <a:pt x="118" y="91"/>
                      <a:pt x="118" y="91"/>
                      <a:pt x="118" y="91"/>
                    </a:cubicBezTo>
                    <a:cubicBezTo>
                      <a:pt x="126" y="91"/>
                      <a:pt x="133" y="84"/>
                      <a:pt x="133" y="75"/>
                    </a:cubicBezTo>
                    <a:cubicBezTo>
                      <a:pt x="133" y="17"/>
                      <a:pt x="133" y="17"/>
                      <a:pt x="133" y="17"/>
                    </a:cubicBezTo>
                    <a:cubicBezTo>
                      <a:pt x="133" y="11"/>
                      <a:pt x="130" y="6"/>
                      <a:pt x="128" y="4"/>
                    </a:cubicBezTo>
                    <a:close/>
                    <a:moveTo>
                      <a:pt x="66" y="50"/>
                    </a:moveTo>
                    <a:cubicBezTo>
                      <a:pt x="17" y="10"/>
                      <a:pt x="17" y="10"/>
                      <a:pt x="17" y="10"/>
                    </a:cubicBezTo>
                    <a:cubicBezTo>
                      <a:pt x="115" y="10"/>
                      <a:pt x="115" y="10"/>
                      <a:pt x="115" y="10"/>
                    </a:cubicBezTo>
                    <a:lnTo>
                      <a:pt x="66" y="50"/>
                    </a:lnTo>
                    <a:close/>
                    <a:moveTo>
                      <a:pt x="123" y="75"/>
                    </a:moveTo>
                    <a:cubicBezTo>
                      <a:pt x="123" y="78"/>
                      <a:pt x="120" y="80"/>
                      <a:pt x="118" y="80"/>
                    </a:cubicBezTo>
                    <a:cubicBezTo>
                      <a:pt x="15" y="80"/>
                      <a:pt x="15" y="80"/>
                      <a:pt x="15" y="80"/>
                    </a:cubicBezTo>
                    <a:cubicBezTo>
                      <a:pt x="12" y="80"/>
                      <a:pt x="10" y="78"/>
                      <a:pt x="10" y="75"/>
                    </a:cubicBezTo>
                    <a:cubicBezTo>
                      <a:pt x="10" y="17"/>
                      <a:pt x="10" y="17"/>
                      <a:pt x="10" y="17"/>
                    </a:cubicBezTo>
                    <a:cubicBezTo>
                      <a:pt x="62" y="60"/>
                      <a:pt x="62" y="60"/>
                      <a:pt x="62" y="60"/>
                    </a:cubicBezTo>
                    <a:cubicBezTo>
                      <a:pt x="64" y="61"/>
                      <a:pt x="65" y="61"/>
                      <a:pt x="66" y="61"/>
                    </a:cubicBezTo>
                    <a:cubicBezTo>
                      <a:pt x="68" y="61"/>
                      <a:pt x="69" y="61"/>
                      <a:pt x="70" y="60"/>
                    </a:cubicBezTo>
                    <a:cubicBezTo>
                      <a:pt x="123" y="17"/>
                      <a:pt x="123" y="17"/>
                      <a:pt x="123" y="17"/>
                    </a:cubicBezTo>
                    <a:lnTo>
                      <a:pt x="123" y="7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8" name="Freeform 168">
                <a:extLst>
                  <a:ext uri="{FF2B5EF4-FFF2-40B4-BE49-F238E27FC236}">
                    <a16:creationId xmlns:a16="http://schemas.microsoft.com/office/drawing/2014/main" id="{2C1234A7-26C6-4F13-B659-C466C5215F7E}"/>
                  </a:ext>
                </a:extLst>
              </p:cNvPr>
              <p:cNvSpPr/>
              <p:nvPr/>
            </p:nvSpPr>
            <p:spPr bwMode="auto">
              <a:xfrm>
                <a:off x="6305551" y="3633788"/>
                <a:ext cx="114300" cy="103188"/>
              </a:xfrm>
              <a:custGeom>
                <a:avLst/>
                <a:gdLst>
                  <a:gd name="T0" fmla="*/ 26 w 30"/>
                  <a:gd name="T1" fmla="*/ 27 h 27"/>
                  <a:gd name="T2" fmla="*/ 28 w 30"/>
                  <a:gd name="T3" fmla="*/ 27 h 27"/>
                  <a:gd name="T4" fmla="*/ 29 w 30"/>
                  <a:gd name="T5" fmla="*/ 27 h 27"/>
                  <a:gd name="T6" fmla="*/ 29 w 30"/>
                  <a:gd name="T7" fmla="*/ 24 h 27"/>
                  <a:gd name="T8" fmla="*/ 4 w 30"/>
                  <a:gd name="T9" fmla="*/ 0 h 27"/>
                  <a:gd name="T10" fmla="*/ 3 w 30"/>
                  <a:gd name="T11" fmla="*/ 0 h 27"/>
                  <a:gd name="T12" fmla="*/ 1 w 30"/>
                  <a:gd name="T13" fmla="*/ 0 h 27"/>
                  <a:gd name="T14" fmla="*/ 1 w 30"/>
                  <a:gd name="T15" fmla="*/ 3 h 27"/>
                  <a:gd name="T16" fmla="*/ 26 w 30"/>
                  <a:gd name="T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7">
                    <a:moveTo>
                      <a:pt x="26" y="27"/>
                    </a:moveTo>
                    <a:cubicBezTo>
                      <a:pt x="26" y="27"/>
                      <a:pt x="27" y="27"/>
                      <a:pt x="28" y="27"/>
                    </a:cubicBezTo>
                    <a:cubicBezTo>
                      <a:pt x="28" y="27"/>
                      <a:pt x="29" y="27"/>
                      <a:pt x="29" y="27"/>
                    </a:cubicBezTo>
                    <a:cubicBezTo>
                      <a:pt x="30" y="26"/>
                      <a:pt x="30" y="25"/>
                      <a:pt x="29" y="24"/>
                    </a:cubicBezTo>
                    <a:cubicBezTo>
                      <a:pt x="4" y="0"/>
                      <a:pt x="4" y="0"/>
                      <a:pt x="4" y="0"/>
                    </a:cubicBezTo>
                    <a:cubicBezTo>
                      <a:pt x="4" y="0"/>
                      <a:pt x="3" y="0"/>
                      <a:pt x="3" y="0"/>
                    </a:cubicBezTo>
                    <a:cubicBezTo>
                      <a:pt x="2" y="0"/>
                      <a:pt x="2" y="0"/>
                      <a:pt x="1" y="0"/>
                    </a:cubicBezTo>
                    <a:cubicBezTo>
                      <a:pt x="0" y="1"/>
                      <a:pt x="0" y="3"/>
                      <a:pt x="1" y="3"/>
                    </a:cubicBezTo>
                    <a:lnTo>
                      <a:pt x="26" y="2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69" name="Freeform 169">
                <a:extLst>
                  <a:ext uri="{FF2B5EF4-FFF2-40B4-BE49-F238E27FC236}">
                    <a16:creationId xmlns:a16="http://schemas.microsoft.com/office/drawing/2014/main" id="{1019D8C7-0C18-438D-9A4C-3E06C9220552}"/>
                  </a:ext>
                </a:extLst>
              </p:cNvPr>
              <p:cNvSpPr/>
              <p:nvPr/>
            </p:nvSpPr>
            <p:spPr bwMode="auto">
              <a:xfrm>
                <a:off x="6016626" y="3413125"/>
                <a:ext cx="79375" cy="57150"/>
              </a:xfrm>
              <a:custGeom>
                <a:avLst/>
                <a:gdLst>
                  <a:gd name="T0" fmla="*/ 1 w 21"/>
                  <a:gd name="T1" fmla="*/ 15 h 15"/>
                  <a:gd name="T2" fmla="*/ 21 w 21"/>
                  <a:gd name="T3" fmla="*/ 14 h 15"/>
                  <a:gd name="T4" fmla="*/ 20 w 21"/>
                  <a:gd name="T5" fmla="*/ 0 h 15"/>
                  <a:gd name="T6" fmla="*/ 0 w 21"/>
                  <a:gd name="T7" fmla="*/ 0 h 15"/>
                  <a:gd name="T8" fmla="*/ 1 w 21"/>
                  <a:gd name="T9" fmla="*/ 15 h 15"/>
                </a:gdLst>
                <a:ahLst/>
                <a:cxnLst>
                  <a:cxn ang="0">
                    <a:pos x="T0" y="T1"/>
                  </a:cxn>
                  <a:cxn ang="0">
                    <a:pos x="T2" y="T3"/>
                  </a:cxn>
                  <a:cxn ang="0">
                    <a:pos x="T4" y="T5"/>
                  </a:cxn>
                  <a:cxn ang="0">
                    <a:pos x="T6" y="T7"/>
                  </a:cxn>
                  <a:cxn ang="0">
                    <a:pos x="T8" y="T9"/>
                  </a:cxn>
                </a:cxnLst>
                <a:rect l="0" t="0" r="r" b="b"/>
                <a:pathLst>
                  <a:path w="21" h="15">
                    <a:moveTo>
                      <a:pt x="1" y="15"/>
                    </a:moveTo>
                    <a:cubicBezTo>
                      <a:pt x="8" y="15"/>
                      <a:pt x="14" y="14"/>
                      <a:pt x="21" y="14"/>
                    </a:cubicBezTo>
                    <a:cubicBezTo>
                      <a:pt x="20" y="8"/>
                      <a:pt x="20" y="4"/>
                      <a:pt x="20" y="0"/>
                    </a:cubicBezTo>
                    <a:cubicBezTo>
                      <a:pt x="0" y="0"/>
                      <a:pt x="0" y="0"/>
                      <a:pt x="0" y="0"/>
                    </a:cubicBezTo>
                    <a:cubicBezTo>
                      <a:pt x="1" y="5"/>
                      <a:pt x="1" y="11"/>
                      <a:pt x="1"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grpSp>
      <p:sp>
        <p:nvSpPr>
          <p:cNvPr id="2" name="标题 1"/>
          <p:cNvSpPr>
            <a:spLocks noGrp="1"/>
          </p:cNvSpPr>
          <p:nvPr>
            <p:ph type="ctrTitle"/>
          </p:nvPr>
        </p:nvSpPr>
        <p:spPr>
          <a:xfrm>
            <a:off x="1524001" y="1122365"/>
            <a:ext cx="9477375" cy="2261733"/>
          </a:xfrm>
        </p:spPr>
        <p:txBody>
          <a:bodyPr anchor="b"/>
          <a:lstStyle>
            <a:lvl1pPr algn="ctr">
              <a:defRPr sz="4500">
                <a:solidFill>
                  <a:schemeClr val="bg1"/>
                </a:solidFill>
              </a:defRPr>
            </a:lvl1pPr>
          </a:lstStyle>
          <a:p>
            <a:r>
              <a:rPr lang="zh-CN" altLang="en-US"/>
              <a:t>单击此处编辑母版标题样式</a:t>
            </a:r>
          </a:p>
        </p:txBody>
      </p:sp>
    </p:spTree>
    <p:extLst>
      <p:ext uri="{BB962C8B-B14F-4D97-AF65-F5344CB8AC3E}">
        <p14:creationId xmlns:p14="http://schemas.microsoft.com/office/powerpoint/2010/main" val="2027953972"/>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 presetClass="entr" presetSubtype="4" accel="22000" fill="hold" nodeType="withEffect" p14:presetBounceEnd="20000">
                                      <p:stCondLst>
                                        <p:cond delay="2200"/>
                                      </p:stCondLst>
                                      <p:childTnLst>
                                        <p:set>
                                          <p:cBhvr>
                                            <p:cTn id="9" dur="1" fill="hold">
                                              <p:stCondLst>
                                                <p:cond delay="0"/>
                                              </p:stCondLst>
                                            </p:cTn>
                                            <p:tgtEl>
                                              <p:spTgt spid="8"/>
                                            </p:tgtEl>
                                            <p:attrNameLst>
                                              <p:attrName>style.visibility</p:attrName>
                                            </p:attrNameLst>
                                          </p:cBhvr>
                                          <p:to>
                                            <p:strVal val="visible"/>
                                          </p:to>
                                        </p:set>
                                        <p:anim calcmode="lin" valueType="num" p14:bounceEnd="20000">
                                          <p:cBhvr additive="base">
                                            <p:cTn id="10" dur="500" fill="hold"/>
                                            <p:tgtEl>
                                              <p:spTgt spid="8"/>
                                            </p:tgtEl>
                                            <p:attrNameLst>
                                              <p:attrName>ppt_x</p:attrName>
                                            </p:attrNameLst>
                                          </p:cBhvr>
                                          <p:tavLst>
                                            <p:tav tm="0">
                                              <p:val>
                                                <p:strVal val="#ppt_x"/>
                                              </p:val>
                                            </p:tav>
                                            <p:tav tm="100000">
                                              <p:val>
                                                <p:strVal val="#ppt_x"/>
                                              </p:val>
                                            </p:tav>
                                          </p:tavLst>
                                        </p:anim>
                                        <p:anim calcmode="lin" valueType="num" p14:bounceEnd="20000">
                                          <p:cBhvr additive="base">
                                            <p:cTn id="11" dur="500" fill="hold"/>
                                            <p:tgtEl>
                                              <p:spTgt spid="8"/>
                                            </p:tgtEl>
                                            <p:attrNameLst>
                                              <p:attrName>ppt_y</p:attrName>
                                            </p:attrNameLst>
                                          </p:cBhvr>
                                          <p:tavLst>
                                            <p:tav tm="0">
                                              <p:val>
                                                <p:strVal val="1+#ppt_h/2"/>
                                              </p:val>
                                            </p:tav>
                                            <p:tav tm="100000">
                                              <p:val>
                                                <p:strVal val="#ppt_y"/>
                                              </p:val>
                                            </p:tav>
                                          </p:tavLst>
                                        </p:anim>
                                      </p:childTnLst>
                                    </p:cTn>
                                  </p:par>
                                  <p:par>
                                    <p:cTn id="12" presetID="2" presetClass="entr" presetSubtype="4" accel="22000" fill="hold" nodeType="withEffect" p14:presetBounceEnd="20000">
                                      <p:stCondLst>
                                        <p:cond delay="2400"/>
                                      </p:stCondLst>
                                      <p:childTnLst>
                                        <p:set>
                                          <p:cBhvr>
                                            <p:cTn id="13" dur="1" fill="hold">
                                              <p:stCondLst>
                                                <p:cond delay="0"/>
                                              </p:stCondLst>
                                            </p:cTn>
                                            <p:tgtEl>
                                              <p:spTgt spid="28"/>
                                            </p:tgtEl>
                                            <p:attrNameLst>
                                              <p:attrName>style.visibility</p:attrName>
                                            </p:attrNameLst>
                                          </p:cBhvr>
                                          <p:to>
                                            <p:strVal val="visible"/>
                                          </p:to>
                                        </p:set>
                                        <p:anim calcmode="lin" valueType="num" p14:bounceEnd="20000">
                                          <p:cBhvr additive="base">
                                            <p:cTn id="14" dur="500" fill="hold"/>
                                            <p:tgtEl>
                                              <p:spTgt spid="28"/>
                                            </p:tgtEl>
                                            <p:attrNameLst>
                                              <p:attrName>ppt_x</p:attrName>
                                            </p:attrNameLst>
                                          </p:cBhvr>
                                          <p:tavLst>
                                            <p:tav tm="0">
                                              <p:val>
                                                <p:strVal val="#ppt_x"/>
                                              </p:val>
                                            </p:tav>
                                            <p:tav tm="100000">
                                              <p:val>
                                                <p:strVal val="#ppt_x"/>
                                              </p:val>
                                            </p:tav>
                                          </p:tavLst>
                                        </p:anim>
                                        <p:anim calcmode="lin" valueType="num" p14:bounceEnd="20000">
                                          <p:cBhvr additive="base">
                                            <p:cTn id="15" dur="500" fill="hold"/>
                                            <p:tgtEl>
                                              <p:spTgt spid="28"/>
                                            </p:tgtEl>
                                            <p:attrNameLst>
                                              <p:attrName>ppt_y</p:attrName>
                                            </p:attrNameLst>
                                          </p:cBhvr>
                                          <p:tavLst>
                                            <p:tav tm="0">
                                              <p:val>
                                                <p:strVal val="1+#ppt_h/2"/>
                                              </p:val>
                                            </p:tav>
                                            <p:tav tm="100000">
                                              <p:val>
                                                <p:strVal val="#ppt_y"/>
                                              </p:val>
                                            </p:tav>
                                          </p:tavLst>
                                        </p:anim>
                                      </p:childTnLst>
                                    </p:cTn>
                                  </p:par>
                                  <p:par>
                                    <p:cTn id="16" presetID="2" presetClass="entr" presetSubtype="4" accel="22000" fill="hold" nodeType="withEffect" p14:presetBounceEnd="20000">
                                      <p:stCondLst>
                                        <p:cond delay="2600"/>
                                      </p:stCondLst>
                                      <p:childTnLst>
                                        <p:set>
                                          <p:cBhvr>
                                            <p:cTn id="17" dur="1" fill="hold">
                                              <p:stCondLst>
                                                <p:cond delay="0"/>
                                              </p:stCondLst>
                                            </p:cTn>
                                            <p:tgtEl>
                                              <p:spTgt spid="38"/>
                                            </p:tgtEl>
                                            <p:attrNameLst>
                                              <p:attrName>style.visibility</p:attrName>
                                            </p:attrNameLst>
                                          </p:cBhvr>
                                          <p:to>
                                            <p:strVal val="visible"/>
                                          </p:to>
                                        </p:set>
                                        <p:anim calcmode="lin" valueType="num" p14:bounceEnd="20000">
                                          <p:cBhvr additive="base">
                                            <p:cTn id="18" dur="500" fill="hold"/>
                                            <p:tgtEl>
                                              <p:spTgt spid="38"/>
                                            </p:tgtEl>
                                            <p:attrNameLst>
                                              <p:attrName>ppt_x</p:attrName>
                                            </p:attrNameLst>
                                          </p:cBhvr>
                                          <p:tavLst>
                                            <p:tav tm="0">
                                              <p:val>
                                                <p:strVal val="#ppt_x"/>
                                              </p:val>
                                            </p:tav>
                                            <p:tav tm="100000">
                                              <p:val>
                                                <p:strVal val="#ppt_x"/>
                                              </p:val>
                                            </p:tav>
                                          </p:tavLst>
                                        </p:anim>
                                        <p:anim calcmode="lin" valueType="num" p14:bounceEnd="20000">
                                          <p:cBhvr additive="base">
                                            <p:cTn id="19" dur="500" fill="hold"/>
                                            <p:tgtEl>
                                              <p:spTgt spid="38"/>
                                            </p:tgtEl>
                                            <p:attrNameLst>
                                              <p:attrName>ppt_y</p:attrName>
                                            </p:attrNameLst>
                                          </p:cBhvr>
                                          <p:tavLst>
                                            <p:tav tm="0">
                                              <p:val>
                                                <p:strVal val="1+#ppt_h/2"/>
                                              </p:val>
                                            </p:tav>
                                            <p:tav tm="100000">
                                              <p:val>
                                                <p:strVal val="#ppt_y"/>
                                              </p:val>
                                            </p:tav>
                                          </p:tavLst>
                                        </p:anim>
                                      </p:childTnLst>
                                    </p:cTn>
                                  </p:par>
                                  <p:par>
                                    <p:cTn id="20" presetID="2" presetClass="entr" presetSubtype="4" accel="22000" fill="hold" nodeType="withEffect" p14:presetBounceEnd="20000">
                                      <p:stCondLst>
                                        <p:cond delay="2800"/>
                                      </p:stCondLst>
                                      <p:childTnLst>
                                        <p:set>
                                          <p:cBhvr>
                                            <p:cTn id="21" dur="1" fill="hold">
                                              <p:stCondLst>
                                                <p:cond delay="0"/>
                                              </p:stCondLst>
                                            </p:cTn>
                                            <p:tgtEl>
                                              <p:spTgt spid="46"/>
                                            </p:tgtEl>
                                            <p:attrNameLst>
                                              <p:attrName>style.visibility</p:attrName>
                                            </p:attrNameLst>
                                          </p:cBhvr>
                                          <p:to>
                                            <p:strVal val="visible"/>
                                          </p:to>
                                        </p:set>
                                        <p:anim calcmode="lin" valueType="num" p14:bounceEnd="20000">
                                          <p:cBhvr additive="base">
                                            <p:cTn id="22" dur="500" fill="hold"/>
                                            <p:tgtEl>
                                              <p:spTgt spid="46"/>
                                            </p:tgtEl>
                                            <p:attrNameLst>
                                              <p:attrName>ppt_x</p:attrName>
                                            </p:attrNameLst>
                                          </p:cBhvr>
                                          <p:tavLst>
                                            <p:tav tm="0">
                                              <p:val>
                                                <p:strVal val="#ppt_x"/>
                                              </p:val>
                                            </p:tav>
                                            <p:tav tm="100000">
                                              <p:val>
                                                <p:strVal val="#ppt_x"/>
                                              </p:val>
                                            </p:tav>
                                          </p:tavLst>
                                        </p:anim>
                                        <p:anim calcmode="lin" valueType="num" p14:bounceEnd="20000">
                                          <p:cBhvr additive="base">
                                            <p:cTn id="23" dur="500" fill="hold"/>
                                            <p:tgtEl>
                                              <p:spTgt spid="46"/>
                                            </p:tgtEl>
                                            <p:attrNameLst>
                                              <p:attrName>ppt_y</p:attrName>
                                            </p:attrNameLst>
                                          </p:cBhvr>
                                          <p:tavLst>
                                            <p:tav tm="0">
                                              <p:val>
                                                <p:strVal val="1+#ppt_h/2"/>
                                              </p:val>
                                            </p:tav>
                                            <p:tav tm="100000">
                                              <p:val>
                                                <p:strVal val="#ppt_y"/>
                                              </p:val>
                                            </p:tav>
                                          </p:tavLst>
                                        </p:anim>
                                      </p:childTnLst>
                                    </p:cTn>
                                  </p:par>
                                  <p:par>
                                    <p:cTn id="24" presetID="2" presetClass="entr" presetSubtype="4" accel="22000" fill="hold" nodeType="withEffect" p14:presetBounceEnd="20000">
                                      <p:stCondLst>
                                        <p:cond delay="3000"/>
                                      </p:stCondLst>
                                      <p:childTnLst>
                                        <p:set>
                                          <p:cBhvr>
                                            <p:cTn id="25" dur="1" fill="hold">
                                              <p:stCondLst>
                                                <p:cond delay="0"/>
                                              </p:stCondLst>
                                            </p:cTn>
                                            <p:tgtEl>
                                              <p:spTgt spid="51"/>
                                            </p:tgtEl>
                                            <p:attrNameLst>
                                              <p:attrName>style.visibility</p:attrName>
                                            </p:attrNameLst>
                                          </p:cBhvr>
                                          <p:to>
                                            <p:strVal val="visible"/>
                                          </p:to>
                                        </p:set>
                                        <p:anim calcmode="lin" valueType="num" p14:bounceEnd="20000">
                                          <p:cBhvr additive="base">
                                            <p:cTn id="26" dur="500" fill="hold"/>
                                            <p:tgtEl>
                                              <p:spTgt spid="51"/>
                                            </p:tgtEl>
                                            <p:attrNameLst>
                                              <p:attrName>ppt_x</p:attrName>
                                            </p:attrNameLst>
                                          </p:cBhvr>
                                          <p:tavLst>
                                            <p:tav tm="0">
                                              <p:val>
                                                <p:strVal val="#ppt_x"/>
                                              </p:val>
                                            </p:tav>
                                            <p:tav tm="100000">
                                              <p:val>
                                                <p:strVal val="#ppt_x"/>
                                              </p:val>
                                            </p:tav>
                                          </p:tavLst>
                                        </p:anim>
                                        <p:anim calcmode="lin" valueType="num" p14:bounceEnd="20000">
                                          <p:cBhvr additive="base">
                                            <p:cTn id="27"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 presetClass="entr" presetSubtype="4" accel="22000" fill="hold" nodeType="withEffect">
                                      <p:stCondLst>
                                        <p:cond delay="2200"/>
                                      </p:stCondLst>
                                      <p:childTnLst>
                                        <p:set>
                                          <p:cBhvr>
                                            <p:cTn id="9" dur="1" fill="hold">
                                              <p:stCondLst>
                                                <p:cond delay="0"/>
                                              </p:stCondLst>
                                            </p:cTn>
                                            <p:tgtEl>
                                              <p:spTgt spid="8"/>
                                            </p:tgtEl>
                                            <p:attrNameLst>
                                              <p:attrName>style.visibility</p:attrName>
                                            </p:attrNameLst>
                                          </p:cBhvr>
                                          <p:to>
                                            <p:strVal val="visible"/>
                                          </p:to>
                                        </p:set>
                                        <p:anim calcmode="lin" valueType="num">
                                          <p:cBhvr additive="base">
                                            <p:cTn id="10" dur="500" fill="hold"/>
                                            <p:tgtEl>
                                              <p:spTgt spid="8"/>
                                            </p:tgtEl>
                                            <p:attrNameLst>
                                              <p:attrName>ppt_x</p:attrName>
                                            </p:attrNameLst>
                                          </p:cBhvr>
                                          <p:tavLst>
                                            <p:tav tm="0">
                                              <p:val>
                                                <p:strVal val="#ppt_x"/>
                                              </p:val>
                                            </p:tav>
                                            <p:tav tm="100000">
                                              <p:val>
                                                <p:strVal val="#ppt_x"/>
                                              </p:val>
                                            </p:tav>
                                          </p:tavLst>
                                        </p:anim>
                                        <p:anim calcmode="lin" valueType="num">
                                          <p:cBhvr additive="base">
                                            <p:cTn id="11" dur="500" fill="hold"/>
                                            <p:tgtEl>
                                              <p:spTgt spid="8"/>
                                            </p:tgtEl>
                                            <p:attrNameLst>
                                              <p:attrName>ppt_y</p:attrName>
                                            </p:attrNameLst>
                                          </p:cBhvr>
                                          <p:tavLst>
                                            <p:tav tm="0">
                                              <p:val>
                                                <p:strVal val="1+#ppt_h/2"/>
                                              </p:val>
                                            </p:tav>
                                            <p:tav tm="100000">
                                              <p:val>
                                                <p:strVal val="#ppt_y"/>
                                              </p:val>
                                            </p:tav>
                                          </p:tavLst>
                                        </p:anim>
                                      </p:childTnLst>
                                    </p:cTn>
                                  </p:par>
                                  <p:par>
                                    <p:cTn id="12" presetID="2" presetClass="entr" presetSubtype="4" accel="22000" fill="hold" nodeType="withEffect">
                                      <p:stCondLst>
                                        <p:cond delay="2400"/>
                                      </p:stCondLst>
                                      <p:childTnLst>
                                        <p:set>
                                          <p:cBhvr>
                                            <p:cTn id="13" dur="1" fill="hold">
                                              <p:stCondLst>
                                                <p:cond delay="0"/>
                                              </p:stCondLst>
                                            </p:cTn>
                                            <p:tgtEl>
                                              <p:spTgt spid="28"/>
                                            </p:tgtEl>
                                            <p:attrNameLst>
                                              <p:attrName>style.visibility</p:attrName>
                                            </p:attrNameLst>
                                          </p:cBhvr>
                                          <p:to>
                                            <p:strVal val="visible"/>
                                          </p:to>
                                        </p:set>
                                        <p:anim calcmode="lin" valueType="num">
                                          <p:cBhvr additive="base">
                                            <p:cTn id="14" dur="500" fill="hold"/>
                                            <p:tgtEl>
                                              <p:spTgt spid="28"/>
                                            </p:tgtEl>
                                            <p:attrNameLst>
                                              <p:attrName>ppt_x</p:attrName>
                                            </p:attrNameLst>
                                          </p:cBhvr>
                                          <p:tavLst>
                                            <p:tav tm="0">
                                              <p:val>
                                                <p:strVal val="#ppt_x"/>
                                              </p:val>
                                            </p:tav>
                                            <p:tav tm="100000">
                                              <p:val>
                                                <p:strVal val="#ppt_x"/>
                                              </p:val>
                                            </p:tav>
                                          </p:tavLst>
                                        </p:anim>
                                        <p:anim calcmode="lin" valueType="num">
                                          <p:cBhvr additive="base">
                                            <p:cTn id="15" dur="500" fill="hold"/>
                                            <p:tgtEl>
                                              <p:spTgt spid="28"/>
                                            </p:tgtEl>
                                            <p:attrNameLst>
                                              <p:attrName>ppt_y</p:attrName>
                                            </p:attrNameLst>
                                          </p:cBhvr>
                                          <p:tavLst>
                                            <p:tav tm="0">
                                              <p:val>
                                                <p:strVal val="1+#ppt_h/2"/>
                                              </p:val>
                                            </p:tav>
                                            <p:tav tm="100000">
                                              <p:val>
                                                <p:strVal val="#ppt_y"/>
                                              </p:val>
                                            </p:tav>
                                          </p:tavLst>
                                        </p:anim>
                                      </p:childTnLst>
                                    </p:cTn>
                                  </p:par>
                                  <p:par>
                                    <p:cTn id="16" presetID="2" presetClass="entr" presetSubtype="4" accel="22000" fill="hold" nodeType="withEffect">
                                      <p:stCondLst>
                                        <p:cond delay="2600"/>
                                      </p:stCondLst>
                                      <p:childTnLst>
                                        <p:set>
                                          <p:cBhvr>
                                            <p:cTn id="17" dur="1" fill="hold">
                                              <p:stCondLst>
                                                <p:cond delay="0"/>
                                              </p:stCondLst>
                                            </p:cTn>
                                            <p:tgtEl>
                                              <p:spTgt spid="38"/>
                                            </p:tgtEl>
                                            <p:attrNameLst>
                                              <p:attrName>style.visibility</p:attrName>
                                            </p:attrNameLst>
                                          </p:cBhvr>
                                          <p:to>
                                            <p:strVal val="visible"/>
                                          </p:to>
                                        </p:set>
                                        <p:anim calcmode="lin" valueType="num">
                                          <p:cBhvr additive="base">
                                            <p:cTn id="18" dur="500" fill="hold"/>
                                            <p:tgtEl>
                                              <p:spTgt spid="38"/>
                                            </p:tgtEl>
                                            <p:attrNameLst>
                                              <p:attrName>ppt_x</p:attrName>
                                            </p:attrNameLst>
                                          </p:cBhvr>
                                          <p:tavLst>
                                            <p:tav tm="0">
                                              <p:val>
                                                <p:strVal val="#ppt_x"/>
                                              </p:val>
                                            </p:tav>
                                            <p:tav tm="100000">
                                              <p:val>
                                                <p:strVal val="#ppt_x"/>
                                              </p:val>
                                            </p:tav>
                                          </p:tavLst>
                                        </p:anim>
                                        <p:anim calcmode="lin" valueType="num">
                                          <p:cBhvr additive="base">
                                            <p:cTn id="19" dur="500" fill="hold"/>
                                            <p:tgtEl>
                                              <p:spTgt spid="38"/>
                                            </p:tgtEl>
                                            <p:attrNameLst>
                                              <p:attrName>ppt_y</p:attrName>
                                            </p:attrNameLst>
                                          </p:cBhvr>
                                          <p:tavLst>
                                            <p:tav tm="0">
                                              <p:val>
                                                <p:strVal val="1+#ppt_h/2"/>
                                              </p:val>
                                            </p:tav>
                                            <p:tav tm="100000">
                                              <p:val>
                                                <p:strVal val="#ppt_y"/>
                                              </p:val>
                                            </p:tav>
                                          </p:tavLst>
                                        </p:anim>
                                      </p:childTnLst>
                                    </p:cTn>
                                  </p:par>
                                  <p:par>
                                    <p:cTn id="20" presetID="2" presetClass="entr" presetSubtype="4" accel="22000" fill="hold" nodeType="withEffect">
                                      <p:stCondLst>
                                        <p:cond delay="2800"/>
                                      </p:stCondLst>
                                      <p:childTnLst>
                                        <p:set>
                                          <p:cBhvr>
                                            <p:cTn id="21" dur="1" fill="hold">
                                              <p:stCondLst>
                                                <p:cond delay="0"/>
                                              </p:stCondLst>
                                            </p:cTn>
                                            <p:tgtEl>
                                              <p:spTgt spid="46"/>
                                            </p:tgtEl>
                                            <p:attrNameLst>
                                              <p:attrName>style.visibility</p:attrName>
                                            </p:attrNameLst>
                                          </p:cBhvr>
                                          <p:to>
                                            <p:strVal val="visible"/>
                                          </p:to>
                                        </p:set>
                                        <p:anim calcmode="lin" valueType="num">
                                          <p:cBhvr additive="base">
                                            <p:cTn id="22" dur="500" fill="hold"/>
                                            <p:tgtEl>
                                              <p:spTgt spid="46"/>
                                            </p:tgtEl>
                                            <p:attrNameLst>
                                              <p:attrName>ppt_x</p:attrName>
                                            </p:attrNameLst>
                                          </p:cBhvr>
                                          <p:tavLst>
                                            <p:tav tm="0">
                                              <p:val>
                                                <p:strVal val="#ppt_x"/>
                                              </p:val>
                                            </p:tav>
                                            <p:tav tm="100000">
                                              <p:val>
                                                <p:strVal val="#ppt_x"/>
                                              </p:val>
                                            </p:tav>
                                          </p:tavLst>
                                        </p:anim>
                                        <p:anim calcmode="lin" valueType="num">
                                          <p:cBhvr additive="base">
                                            <p:cTn id="23" dur="500" fill="hold"/>
                                            <p:tgtEl>
                                              <p:spTgt spid="46"/>
                                            </p:tgtEl>
                                            <p:attrNameLst>
                                              <p:attrName>ppt_y</p:attrName>
                                            </p:attrNameLst>
                                          </p:cBhvr>
                                          <p:tavLst>
                                            <p:tav tm="0">
                                              <p:val>
                                                <p:strVal val="1+#ppt_h/2"/>
                                              </p:val>
                                            </p:tav>
                                            <p:tav tm="100000">
                                              <p:val>
                                                <p:strVal val="#ppt_y"/>
                                              </p:val>
                                            </p:tav>
                                          </p:tavLst>
                                        </p:anim>
                                      </p:childTnLst>
                                    </p:cTn>
                                  </p:par>
                                  <p:par>
                                    <p:cTn id="24" presetID="2" presetClass="entr" presetSubtype="4" accel="22000" fill="hold" nodeType="withEffect">
                                      <p:stCondLst>
                                        <p:cond delay="3000"/>
                                      </p:stCondLst>
                                      <p:childTnLst>
                                        <p:set>
                                          <p:cBhvr>
                                            <p:cTn id="25" dur="1" fill="hold">
                                              <p:stCondLst>
                                                <p:cond delay="0"/>
                                              </p:stCondLst>
                                            </p:cTn>
                                            <p:tgtEl>
                                              <p:spTgt spid="51"/>
                                            </p:tgtEl>
                                            <p:attrNameLst>
                                              <p:attrName>style.visibility</p:attrName>
                                            </p:attrNameLst>
                                          </p:cBhvr>
                                          <p:to>
                                            <p:strVal val="visible"/>
                                          </p:to>
                                        </p:set>
                                        <p:anim calcmode="lin" valueType="num">
                                          <p:cBhvr additive="base">
                                            <p:cTn id="26" dur="500" fill="hold"/>
                                            <p:tgtEl>
                                              <p:spTgt spid="51"/>
                                            </p:tgtEl>
                                            <p:attrNameLst>
                                              <p:attrName>ppt_x</p:attrName>
                                            </p:attrNameLst>
                                          </p:cBhvr>
                                          <p:tavLst>
                                            <p:tav tm="0">
                                              <p:val>
                                                <p:strVal val="#ppt_x"/>
                                              </p:val>
                                            </p:tav>
                                            <p:tav tm="100000">
                                              <p:val>
                                                <p:strVal val="#ppt_x"/>
                                              </p:val>
                                            </p:tav>
                                          </p:tavLst>
                                        </p:anim>
                                        <p:anim calcmode="lin" valueType="num">
                                          <p:cBhvr additive="base">
                                            <p:cTn id="27"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281794" y="238579"/>
            <a:ext cx="9553575" cy="512536"/>
          </a:xfrm>
        </p:spPr>
        <p:txBody>
          <a:bodyPr>
            <a:noAutofit/>
          </a:bodyPr>
          <a:lstStyle>
            <a:lvl1pPr>
              <a:defRPr sz="3000" b="0">
                <a:solidFill>
                  <a:schemeClr val="accent1"/>
                </a:solidFill>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838200" y="1147084"/>
            <a:ext cx="10515600" cy="5233307"/>
          </a:xfrm>
        </p:spPr>
        <p:txBody>
          <a:bodyPr/>
          <a:lstStyle>
            <a:lvl1pPr>
              <a:lnSpc>
                <a:spcPct val="100000"/>
              </a:lnSpc>
              <a:spcBef>
                <a:spcPts val="450"/>
              </a:spcBef>
              <a:spcAft>
                <a:spcPts val="450"/>
              </a:spcAft>
              <a:defRPr/>
            </a:lvl1pPr>
            <a:lvl2pPr>
              <a:lnSpc>
                <a:spcPct val="100000"/>
              </a:lnSpc>
              <a:spcBef>
                <a:spcPts val="450"/>
              </a:spcBef>
              <a:spcAft>
                <a:spcPts val="450"/>
              </a:spcAft>
              <a:defRPr/>
            </a:lvl2pPr>
            <a:lvl3pPr>
              <a:lnSpc>
                <a:spcPct val="100000"/>
              </a:lnSpc>
              <a:spcBef>
                <a:spcPts val="450"/>
              </a:spcBef>
              <a:spcAft>
                <a:spcPts val="450"/>
              </a:spcAft>
              <a:defRPr/>
            </a:lvl3pPr>
            <a:lvl4pPr>
              <a:lnSpc>
                <a:spcPct val="100000"/>
              </a:lnSpc>
              <a:spcBef>
                <a:spcPts val="450"/>
              </a:spcBef>
              <a:spcAft>
                <a:spcPts val="450"/>
              </a:spcAft>
              <a:defRPr/>
            </a:lvl4pPr>
            <a:lvl5pPr>
              <a:lnSpc>
                <a:spcPct val="100000"/>
              </a:lnSpc>
              <a:spcBef>
                <a:spcPts val="450"/>
              </a:spcBef>
              <a:spcAft>
                <a:spcPts val="450"/>
              </a:spcAf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p>
            <a:fld id="{01B92B5C-1985-464E-9994-6A52BBD32ECE}" type="datetime1">
              <a:rPr lang="zh-CN" altLang="en-US" smtClean="0"/>
              <a:t>2023/12/6</a:t>
            </a:fld>
            <a:endParaRPr lang="zh-CN" altLang="en-US"/>
          </a:p>
        </p:txBody>
      </p:sp>
      <p:sp>
        <p:nvSpPr>
          <p:cNvPr id="5" name="页脚占位符 4"/>
          <p:cNvSpPr>
            <a:spLocks noGrp="1"/>
          </p:cNvSpPr>
          <p:nvPr>
            <p:ph type="ftr" sz="quarter" idx="11"/>
          </p:nvPr>
        </p:nvSpPr>
        <p:spPr/>
        <p:txBody>
          <a:bodyPr/>
          <a:lstStyle/>
          <a:p>
            <a:endParaRPr lang="zh-CN" altLang="en-US" dirty="0"/>
          </a:p>
        </p:txBody>
      </p:sp>
      <p:grpSp>
        <p:nvGrpSpPr>
          <p:cNvPr id="7" name="组合 6">
            <a:extLst>
              <a:ext uri="{FF2B5EF4-FFF2-40B4-BE49-F238E27FC236}">
                <a16:creationId xmlns:a16="http://schemas.microsoft.com/office/drawing/2014/main" id="{B492DC46-649C-4371-BE00-7E12AB77B934}"/>
              </a:ext>
            </a:extLst>
          </p:cNvPr>
          <p:cNvGrpSpPr/>
          <p:nvPr/>
        </p:nvGrpSpPr>
        <p:grpSpPr>
          <a:xfrm>
            <a:off x="1" y="237055"/>
            <a:ext cx="1200151" cy="488496"/>
            <a:chOff x="0" y="254454"/>
            <a:chExt cx="1795510" cy="732518"/>
          </a:xfrm>
        </p:grpSpPr>
        <p:sp>
          <p:nvSpPr>
            <p:cNvPr id="8" name="矩形 1">
              <a:extLst>
                <a:ext uri="{FF2B5EF4-FFF2-40B4-BE49-F238E27FC236}">
                  <a16:creationId xmlns:a16="http://schemas.microsoft.com/office/drawing/2014/main" id="{84087D0E-5E69-4C4D-BBAF-B8A66AD85339}"/>
                </a:ext>
              </a:extLst>
            </p:cNvPr>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sp>
          <p:nvSpPr>
            <p:cNvPr id="9" name="任意多边形 4">
              <a:extLst>
                <a:ext uri="{FF2B5EF4-FFF2-40B4-BE49-F238E27FC236}">
                  <a16:creationId xmlns:a16="http://schemas.microsoft.com/office/drawing/2014/main" id="{1E4C8D98-A40C-4A48-9EA3-A4B8C1C723EF}"/>
                </a:ext>
              </a:extLst>
            </p:cNvPr>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grpSp>
      <p:grpSp>
        <p:nvGrpSpPr>
          <p:cNvPr id="10" name="组合 9">
            <a:extLst>
              <a:ext uri="{FF2B5EF4-FFF2-40B4-BE49-F238E27FC236}">
                <a16:creationId xmlns:a16="http://schemas.microsoft.com/office/drawing/2014/main" id="{202F2469-59F2-4336-87AE-7A3ADA9B58E5}"/>
              </a:ext>
            </a:extLst>
          </p:cNvPr>
          <p:cNvGrpSpPr/>
          <p:nvPr/>
        </p:nvGrpSpPr>
        <p:grpSpPr>
          <a:xfrm>
            <a:off x="0" y="6575727"/>
            <a:ext cx="12195693" cy="282275"/>
            <a:chOff x="-3693" y="6575725"/>
            <a:chExt cx="12195693" cy="282275"/>
          </a:xfrm>
        </p:grpSpPr>
        <p:sp>
          <p:nvSpPr>
            <p:cNvPr id="11" name="矩形 19">
              <a:extLst>
                <a:ext uri="{FF2B5EF4-FFF2-40B4-BE49-F238E27FC236}">
                  <a16:creationId xmlns:a16="http://schemas.microsoft.com/office/drawing/2014/main" id="{13251B82-8654-4AE7-8DCF-E8C422C7F5B9}"/>
                </a:ext>
              </a:extLst>
            </p:cNvPr>
            <p:cNvSpPr/>
            <p:nvPr/>
          </p:nvSpPr>
          <p:spPr>
            <a:xfrm>
              <a:off x="-3693" y="6575725"/>
              <a:ext cx="9213008"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sp>
          <p:nvSpPr>
            <p:cNvPr id="12" name="文本框 11">
              <a:extLst>
                <a:ext uri="{FF2B5EF4-FFF2-40B4-BE49-F238E27FC236}">
                  <a16:creationId xmlns:a16="http://schemas.microsoft.com/office/drawing/2014/main" id="{DF7438A7-23DE-46F1-82DA-7D1E2B69C890}"/>
                </a:ext>
              </a:extLst>
            </p:cNvPr>
            <p:cNvSpPr txBox="1"/>
            <p:nvPr/>
          </p:nvSpPr>
          <p:spPr>
            <a:xfrm>
              <a:off x="9095014" y="6575725"/>
              <a:ext cx="2496912" cy="230832"/>
            </a:xfrm>
            <a:prstGeom prst="rect">
              <a:avLst/>
            </a:prstGeom>
            <a:noFill/>
          </p:spPr>
          <p:txBody>
            <a:bodyPr wrap="square" rtlCol="0">
              <a:spAutoFit/>
            </a:bodyPr>
            <a:lstStyle/>
            <a:p>
              <a:pPr algn="dist"/>
              <a:r>
                <a:rPr lang="zh-CN" altLang="en-US" sz="900" i="1" dirty="0">
                  <a:solidFill>
                    <a:schemeClr val="tx1">
                      <a:lumMod val="75000"/>
                      <a:lumOff val="25000"/>
                    </a:schemeClr>
                  </a:solidFill>
                </a:rPr>
                <a:t>河南大学计算机与信息工程学院</a:t>
              </a:r>
            </a:p>
          </p:txBody>
        </p:sp>
        <p:sp>
          <p:nvSpPr>
            <p:cNvPr id="13" name="矩形 21">
              <a:extLst>
                <a:ext uri="{FF2B5EF4-FFF2-40B4-BE49-F238E27FC236}">
                  <a16:creationId xmlns:a16="http://schemas.microsoft.com/office/drawing/2014/main" id="{F591C9DB-985F-4F14-A901-B51657D6E773}"/>
                </a:ext>
              </a:extLst>
            </p:cNvPr>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grpSp>
      <p:sp>
        <p:nvSpPr>
          <p:cNvPr id="6" name="灯片编号占位符 5"/>
          <p:cNvSpPr>
            <a:spLocks noGrp="1"/>
          </p:cNvSpPr>
          <p:nvPr>
            <p:ph type="sldNum" sz="quarter" idx="12"/>
          </p:nvPr>
        </p:nvSpPr>
        <p:spPr>
          <a:xfrm>
            <a:off x="10919733" y="6584496"/>
            <a:ext cx="1272268" cy="273504"/>
          </a:xfrm>
        </p:spPr>
        <p:txBody>
          <a:bodyPr/>
          <a:lstStyle>
            <a:lvl1pPr>
              <a:defRPr>
                <a:solidFill>
                  <a:schemeClr val="bg1"/>
                </a:solidFill>
              </a:defRPr>
            </a:lvl1pPr>
          </a:lstStyle>
          <a:p>
            <a:fld id="{47C9E101-E51D-431E-84FA-C029B8655B60}" type="slidenum">
              <a:rPr lang="zh-CN" altLang="en-US" smtClean="0"/>
              <a:pPr/>
              <a:t>‹#›</a:t>
            </a:fld>
            <a:endParaRPr lang="zh-CN" altLang="en-US" dirty="0"/>
          </a:p>
        </p:txBody>
      </p:sp>
    </p:spTree>
    <p:extLst>
      <p:ext uri="{BB962C8B-B14F-4D97-AF65-F5344CB8AC3E}">
        <p14:creationId xmlns:p14="http://schemas.microsoft.com/office/powerpoint/2010/main" val="2786787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21F4DE29-5E62-4F5B-9DF3-5DCEBFE68F57}" type="datetime1">
              <a:rPr lang="zh-CN" altLang="en-US" smtClean="0"/>
              <a:t>2023/12/6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159066634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53A3343A-59AE-4A2F-B3CD-6A009219BBEB}"/>
              </a:ext>
            </a:extLst>
          </p:cNvPr>
          <p:cNvGrpSpPr/>
          <p:nvPr/>
        </p:nvGrpSpPr>
        <p:grpSpPr>
          <a:xfrm>
            <a:off x="0" y="6575727"/>
            <a:ext cx="12195693" cy="282275"/>
            <a:chOff x="-3693" y="6575725"/>
            <a:chExt cx="12195693" cy="282275"/>
          </a:xfrm>
        </p:grpSpPr>
        <p:sp>
          <p:nvSpPr>
            <p:cNvPr id="12" name="矩形 19">
              <a:extLst>
                <a:ext uri="{FF2B5EF4-FFF2-40B4-BE49-F238E27FC236}">
                  <a16:creationId xmlns:a16="http://schemas.microsoft.com/office/drawing/2014/main" id="{77E6E2F6-076F-44AF-A427-D4E574D9DAD9}"/>
                </a:ext>
              </a:extLst>
            </p:cNvPr>
            <p:cNvSpPr/>
            <p:nvPr/>
          </p:nvSpPr>
          <p:spPr>
            <a:xfrm>
              <a:off x="-3693" y="6575725"/>
              <a:ext cx="9213008"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sp>
          <p:nvSpPr>
            <p:cNvPr id="13" name="文本框 12">
              <a:extLst>
                <a:ext uri="{FF2B5EF4-FFF2-40B4-BE49-F238E27FC236}">
                  <a16:creationId xmlns:a16="http://schemas.microsoft.com/office/drawing/2014/main" id="{18A8A0EF-563C-449D-A72A-E94BE5F23A1B}"/>
                </a:ext>
              </a:extLst>
            </p:cNvPr>
            <p:cNvSpPr txBox="1"/>
            <p:nvPr/>
          </p:nvSpPr>
          <p:spPr>
            <a:xfrm>
              <a:off x="9095014" y="6575725"/>
              <a:ext cx="2496912" cy="230832"/>
            </a:xfrm>
            <a:prstGeom prst="rect">
              <a:avLst/>
            </a:prstGeom>
            <a:noFill/>
          </p:spPr>
          <p:txBody>
            <a:bodyPr wrap="square" rtlCol="0">
              <a:spAutoFit/>
            </a:bodyPr>
            <a:lstStyle/>
            <a:p>
              <a:pPr algn="dist"/>
              <a:r>
                <a:rPr lang="zh-CN" altLang="en-US" sz="900" i="1" dirty="0">
                  <a:solidFill>
                    <a:schemeClr val="tx1">
                      <a:lumMod val="75000"/>
                      <a:lumOff val="25000"/>
                    </a:schemeClr>
                  </a:solidFill>
                </a:rPr>
                <a:t>河南大学计算机与信息工程学院</a:t>
              </a:r>
            </a:p>
          </p:txBody>
        </p:sp>
        <p:sp>
          <p:nvSpPr>
            <p:cNvPr id="14" name="矩形 21">
              <a:extLst>
                <a:ext uri="{FF2B5EF4-FFF2-40B4-BE49-F238E27FC236}">
                  <a16:creationId xmlns:a16="http://schemas.microsoft.com/office/drawing/2014/main" id="{2B584D5A-E13D-4D49-BE6D-6370F8729161}"/>
                </a:ext>
              </a:extLst>
            </p:cNvPr>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grpSp>
      <p:sp>
        <p:nvSpPr>
          <p:cNvPr id="3" name="内容占位符 2"/>
          <p:cNvSpPr>
            <a:spLocks noGrp="1"/>
          </p:cNvSpPr>
          <p:nvPr>
            <p:ph sz="half" idx="1"/>
          </p:nvPr>
        </p:nvSpPr>
        <p:spPr>
          <a:xfrm>
            <a:off x="838200" y="1204232"/>
            <a:ext cx="5181600" cy="5139418"/>
          </a:xfrm>
        </p:spPr>
        <p:txBody>
          <a:bodyPr/>
          <a:lstStyle>
            <a:lvl1pPr>
              <a:lnSpc>
                <a:spcPct val="100000"/>
              </a:lnSpc>
              <a:spcBef>
                <a:spcPts val="450"/>
              </a:spcBef>
              <a:spcAft>
                <a:spcPts val="450"/>
              </a:spcAft>
              <a:defRPr/>
            </a:lvl1pPr>
            <a:lvl2pPr>
              <a:lnSpc>
                <a:spcPct val="100000"/>
              </a:lnSpc>
              <a:spcBef>
                <a:spcPts val="450"/>
              </a:spcBef>
              <a:spcAft>
                <a:spcPts val="450"/>
              </a:spcAft>
              <a:defRPr/>
            </a:lvl2pPr>
            <a:lvl3pPr>
              <a:lnSpc>
                <a:spcPct val="100000"/>
              </a:lnSpc>
              <a:spcBef>
                <a:spcPts val="450"/>
              </a:spcBef>
              <a:spcAft>
                <a:spcPts val="450"/>
              </a:spcAft>
              <a:defRPr/>
            </a:lvl3pPr>
            <a:lvl4pPr>
              <a:lnSpc>
                <a:spcPct val="100000"/>
              </a:lnSpc>
              <a:spcBef>
                <a:spcPts val="450"/>
              </a:spcBef>
              <a:spcAft>
                <a:spcPts val="450"/>
              </a:spcAft>
              <a:defRPr/>
            </a:lvl4pPr>
            <a:lvl5pPr>
              <a:lnSpc>
                <a:spcPct val="100000"/>
              </a:lnSpc>
              <a:spcBef>
                <a:spcPts val="450"/>
              </a:spcBef>
              <a:spcAft>
                <a:spcPts val="450"/>
              </a:spcAf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72200" y="1208314"/>
            <a:ext cx="5181600" cy="5139418"/>
          </a:xfrm>
        </p:spPr>
        <p:txBody>
          <a:bodyPr/>
          <a:lstStyle>
            <a:lvl1pPr>
              <a:lnSpc>
                <a:spcPct val="100000"/>
              </a:lnSpc>
              <a:spcBef>
                <a:spcPts val="450"/>
              </a:spcBef>
              <a:spcAft>
                <a:spcPts val="450"/>
              </a:spcAft>
              <a:defRPr/>
            </a:lvl1pPr>
            <a:lvl2pPr>
              <a:lnSpc>
                <a:spcPct val="100000"/>
              </a:lnSpc>
              <a:spcBef>
                <a:spcPts val="450"/>
              </a:spcBef>
              <a:spcAft>
                <a:spcPts val="450"/>
              </a:spcAft>
              <a:defRPr/>
            </a:lvl2pPr>
            <a:lvl3pPr>
              <a:lnSpc>
                <a:spcPct val="100000"/>
              </a:lnSpc>
              <a:spcBef>
                <a:spcPts val="450"/>
              </a:spcBef>
              <a:spcAft>
                <a:spcPts val="450"/>
              </a:spcAft>
              <a:defRPr/>
            </a:lvl3pPr>
            <a:lvl4pPr>
              <a:lnSpc>
                <a:spcPct val="100000"/>
              </a:lnSpc>
              <a:spcBef>
                <a:spcPts val="450"/>
              </a:spcBef>
              <a:spcAft>
                <a:spcPts val="450"/>
              </a:spcAft>
              <a:defRPr/>
            </a:lvl4pPr>
            <a:lvl5pPr>
              <a:lnSpc>
                <a:spcPct val="100000"/>
              </a:lnSpc>
              <a:spcBef>
                <a:spcPts val="450"/>
              </a:spcBef>
              <a:spcAft>
                <a:spcPts val="450"/>
              </a:spcAf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日期占位符 4"/>
          <p:cNvSpPr>
            <a:spLocks noGrp="1"/>
          </p:cNvSpPr>
          <p:nvPr>
            <p:ph type="dt" sz="half" idx="10"/>
          </p:nvPr>
        </p:nvSpPr>
        <p:spPr/>
        <p:txBody>
          <a:bodyPr/>
          <a:lstStyle/>
          <a:p>
            <a:fld id="{85F91FCD-4890-41F0-87A3-8C320F6D5DF6}" type="datetime1">
              <a:rPr lang="zh-CN" altLang="en-US" smtClean="0"/>
              <a:t>2023/12/6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9488261" y="6544131"/>
            <a:ext cx="2668360" cy="365125"/>
          </a:xfrm>
        </p:spPr>
        <p:txBody>
          <a:bodyPr/>
          <a:lstStyle>
            <a:lvl1pPr>
              <a:defRPr>
                <a:solidFill>
                  <a:schemeClr val="bg1"/>
                </a:solidFill>
              </a:defRPr>
            </a:lvl1pPr>
          </a:lstStyle>
          <a:p>
            <a:fld id="{47C9E101-E51D-431E-84FA-C029B8655B60}" type="slidenum">
              <a:rPr lang="zh-CN" altLang="en-US" smtClean="0"/>
              <a:t>‹#›</a:t>
            </a:fld>
            <a:endParaRPr lang="zh-CN" altLang="en-US"/>
          </a:p>
        </p:txBody>
      </p:sp>
      <p:grpSp>
        <p:nvGrpSpPr>
          <p:cNvPr id="8" name="组合 7">
            <a:extLst>
              <a:ext uri="{FF2B5EF4-FFF2-40B4-BE49-F238E27FC236}">
                <a16:creationId xmlns:a16="http://schemas.microsoft.com/office/drawing/2014/main" id="{103E3B63-30D6-436B-84E4-2E5D5DE5788C}"/>
              </a:ext>
            </a:extLst>
          </p:cNvPr>
          <p:cNvGrpSpPr/>
          <p:nvPr/>
        </p:nvGrpSpPr>
        <p:grpSpPr>
          <a:xfrm>
            <a:off x="1" y="237055"/>
            <a:ext cx="1200151" cy="488496"/>
            <a:chOff x="0" y="254454"/>
            <a:chExt cx="1795510" cy="732518"/>
          </a:xfrm>
        </p:grpSpPr>
        <p:sp>
          <p:nvSpPr>
            <p:cNvPr id="9" name="矩形 1">
              <a:extLst>
                <a:ext uri="{FF2B5EF4-FFF2-40B4-BE49-F238E27FC236}">
                  <a16:creationId xmlns:a16="http://schemas.microsoft.com/office/drawing/2014/main" id="{BECDD563-4923-4C59-92AB-A46BE222C13D}"/>
                </a:ext>
              </a:extLst>
            </p:cNvPr>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sp>
          <p:nvSpPr>
            <p:cNvPr id="10" name="任意多边形 4">
              <a:extLst>
                <a:ext uri="{FF2B5EF4-FFF2-40B4-BE49-F238E27FC236}">
                  <a16:creationId xmlns:a16="http://schemas.microsoft.com/office/drawing/2014/main" id="{CBA445E0-EF1F-4322-B5E9-96A323AF683A}"/>
                </a:ext>
              </a:extLst>
            </p:cNvPr>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350"/>
            </a:p>
          </p:txBody>
        </p:sp>
      </p:grpSp>
      <p:sp>
        <p:nvSpPr>
          <p:cNvPr id="16" name="标题 1">
            <a:extLst>
              <a:ext uri="{FF2B5EF4-FFF2-40B4-BE49-F238E27FC236}">
                <a16:creationId xmlns:a16="http://schemas.microsoft.com/office/drawing/2014/main" id="{228A6188-E823-42CA-A942-9C975B55B7F1}"/>
              </a:ext>
            </a:extLst>
          </p:cNvPr>
          <p:cNvSpPr>
            <a:spLocks noGrp="1"/>
          </p:cNvSpPr>
          <p:nvPr>
            <p:ph type="title"/>
          </p:nvPr>
        </p:nvSpPr>
        <p:spPr>
          <a:xfrm>
            <a:off x="1281794" y="238579"/>
            <a:ext cx="9553575" cy="512536"/>
          </a:xfrm>
        </p:spPr>
        <p:txBody>
          <a:bodyPr>
            <a:noAutofit/>
          </a:bodyPr>
          <a:lstStyle>
            <a:lvl1pPr>
              <a:defRPr sz="3000" b="0">
                <a:solidFill>
                  <a:schemeClr val="accent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706415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CFF45FF-9B57-47EC-93D3-167B42D12FC7}" type="datetime1">
              <a:rPr lang="zh-CN" altLang="en-US" smtClean="0"/>
              <a:t>2023/12/6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C9E101-E51D-431E-84FA-C029B8655B60}" type="slidenum">
              <a:rPr lang="zh-CN" altLang="en-US" smtClean="0"/>
              <a:t>‹#›</a:t>
            </a:fld>
            <a:endParaRPr lang="zh-CN" altLang="en-US"/>
          </a:p>
        </p:txBody>
      </p:sp>
    </p:spTree>
    <p:extLst>
      <p:ext uri="{BB962C8B-B14F-4D97-AF65-F5344CB8AC3E}">
        <p14:creationId xmlns:p14="http://schemas.microsoft.com/office/powerpoint/2010/main" val="3489552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01C5D3A-D1CC-4837-A9BF-289192324C07}" type="datetime1">
              <a:rPr lang="zh-CN" altLang="en-US" smtClean="0"/>
              <a:t>2023/12/6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C9E101-E51D-431E-84FA-C029B8655B60}" type="slidenum">
              <a:rPr lang="zh-CN" altLang="en-US" smtClean="0"/>
              <a:t>‹#›</a:t>
            </a:fld>
            <a:endParaRPr lang="zh-CN" altLang="en-US"/>
          </a:p>
        </p:txBody>
      </p:sp>
    </p:spTree>
    <p:extLst>
      <p:ext uri="{BB962C8B-B14F-4D97-AF65-F5344CB8AC3E}">
        <p14:creationId xmlns:p14="http://schemas.microsoft.com/office/powerpoint/2010/main" val="2485975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0C72DFE-ADEC-4C3D-B0BD-FF8EFF404081}" type="datetime1">
              <a:rPr lang="zh-CN" altLang="en-US" smtClean="0"/>
              <a:t>2023/12/6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7C9E101-E51D-431E-84FA-C029B8655B60}" type="slidenum">
              <a:rPr lang="zh-CN" altLang="en-US" smtClean="0"/>
              <a:t>‹#›</a:t>
            </a:fld>
            <a:endParaRPr lang="zh-CN" altLang="en-US"/>
          </a:p>
        </p:txBody>
      </p:sp>
    </p:spTree>
    <p:extLst>
      <p:ext uri="{BB962C8B-B14F-4D97-AF65-F5344CB8AC3E}">
        <p14:creationId xmlns:p14="http://schemas.microsoft.com/office/powerpoint/2010/main" val="2040008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02CD34D9-2AB5-4C74-9A02-A01D6A33B092}" type="datetime1">
              <a:rPr lang="zh-CN" altLang="en-US" smtClean="0"/>
              <a:t>2023/12/6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166191237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p:cNvSpPr>
            <a:spLocks noGrp="1"/>
          </p:cNvSpPr>
          <p:nvPr>
            <p:ph type="dt" sz="half" idx="10"/>
          </p:nvPr>
        </p:nvSpPr>
        <p:spPr/>
        <p:txBody>
          <a:bodyPr/>
          <a:lstStyle/>
          <a:p>
            <a:fld id="{4FA75877-D5D1-455D-A148-32690FA48C4F}" type="datetime1">
              <a:rPr lang="zh-CN" altLang="en-US" smtClean="0"/>
              <a:t>2023/12/6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143152554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225A3A-E24D-406E-947E-8CC215A62C75}" type="datetime1">
              <a:rPr lang="zh-CN" altLang="en-US" smtClean="0"/>
              <a:t>2023/12/6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259864050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B42F575-1E14-40DE-A315-1C8F4BAF63B9}" type="datetime1">
              <a:rPr lang="zh-CN" altLang="en-US" smtClean="0"/>
              <a:t>2023/12/6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209656352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BC5590A-D886-4962-AEDA-DC2589578889}" type="datetime1">
              <a:rPr lang="zh-CN" altLang="en-US" smtClean="0"/>
              <a:t>2023/12/6</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7C9E101-E51D-431E-84FA-C029B8655B60}" type="slidenum">
              <a:rPr lang="zh-CN" altLang="en-US" smtClean="0"/>
              <a:pPr/>
              <a:t>‹#›</a:t>
            </a:fld>
            <a:endParaRPr lang="zh-CN" altLang="en-US"/>
          </a:p>
        </p:txBody>
      </p:sp>
    </p:spTree>
    <p:extLst>
      <p:ext uri="{BB962C8B-B14F-4D97-AF65-F5344CB8AC3E}">
        <p14:creationId xmlns:p14="http://schemas.microsoft.com/office/powerpoint/2010/main" val="262473737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3B3A9379-A7F0-473C-A8D9-BC37FEB8742C}"/>
              </a:ext>
            </a:extLst>
          </p:cNvPr>
          <p:cNvSpPr>
            <a:spLocks noGrp="1"/>
          </p:cNvSpPr>
          <p:nvPr>
            <p:ph type="subTitle" idx="1"/>
          </p:nvPr>
        </p:nvSpPr>
        <p:spPr/>
        <p:txBody>
          <a:bodyPr/>
          <a:lstStyle/>
          <a:p>
            <a:r>
              <a:rPr lang="zh-CN" altLang="en-US"/>
              <a:t>苗茹</a:t>
            </a:r>
            <a:endParaRPr lang="en-US" altLang="zh-CN"/>
          </a:p>
          <a:p>
            <a:r>
              <a:rPr lang="zh-CN" altLang="en-US"/>
              <a:t>河南大学计算机与信息工程学院</a:t>
            </a:r>
            <a:endParaRPr lang="en-US" altLang="zh-CN" dirty="0"/>
          </a:p>
        </p:txBody>
      </p:sp>
      <p:sp>
        <p:nvSpPr>
          <p:cNvPr id="2" name="标题 1">
            <a:extLst>
              <a:ext uri="{FF2B5EF4-FFF2-40B4-BE49-F238E27FC236}">
                <a16:creationId xmlns:a16="http://schemas.microsoft.com/office/drawing/2014/main" id="{1F55F539-9931-4D3D-AF16-2BD782C59D02}"/>
              </a:ext>
            </a:extLst>
          </p:cNvPr>
          <p:cNvSpPr>
            <a:spLocks noGrp="1"/>
          </p:cNvSpPr>
          <p:nvPr>
            <p:ph type="ctrTitle"/>
          </p:nvPr>
        </p:nvSpPr>
        <p:spPr/>
        <p:txBody>
          <a:bodyPr/>
          <a:lstStyle/>
          <a:p>
            <a:r>
              <a:rPr lang="zh-CN" altLang="en-US" dirty="0"/>
              <a:t>第八章 数据库编程</a:t>
            </a:r>
          </a:p>
        </p:txBody>
      </p:sp>
      <p:sp>
        <p:nvSpPr>
          <p:cNvPr id="6" name="矩形 5">
            <a:extLst>
              <a:ext uri="{FF2B5EF4-FFF2-40B4-BE49-F238E27FC236}">
                <a16:creationId xmlns:a16="http://schemas.microsoft.com/office/drawing/2014/main" id="{A09BE498-7047-40C7-9402-B5B2F69DF31E}"/>
              </a:ext>
            </a:extLst>
          </p:cNvPr>
          <p:cNvSpPr/>
          <p:nvPr/>
        </p:nvSpPr>
        <p:spPr>
          <a:xfrm>
            <a:off x="208551" y="894417"/>
            <a:ext cx="4801314" cy="646331"/>
          </a:xfrm>
          <a:prstGeom prst="rect">
            <a:avLst/>
          </a:prstGeom>
        </p:spPr>
        <p:txBody>
          <a:bodyPr wrap="none">
            <a:spAutoFit/>
          </a:bodyPr>
          <a:lstStyle/>
          <a:p>
            <a:r>
              <a:rPr lang="zh-CN" altLang="en-US" sz="3600" dirty="0"/>
              <a:t>数据库系统原理及应用</a:t>
            </a:r>
          </a:p>
        </p:txBody>
      </p:sp>
    </p:spTree>
    <p:extLst>
      <p:ext uri="{BB962C8B-B14F-4D97-AF65-F5344CB8AC3E}">
        <p14:creationId xmlns:p14="http://schemas.microsoft.com/office/powerpoint/2010/main" val="1323493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p:cNvSpPr>
            <a:spLocks noGrp="1" noChangeArrowheads="1"/>
          </p:cNvSpPr>
          <p:nvPr>
            <p:ph type="title"/>
          </p:nvPr>
        </p:nvSpPr>
        <p:spPr/>
        <p:txBody>
          <a:bodyPr/>
          <a:lstStyle/>
          <a:p>
            <a:r>
              <a:rPr lang="zh-CN" altLang="en-US"/>
              <a:t>第八章 数据库编程</a:t>
            </a:r>
          </a:p>
        </p:txBody>
      </p:sp>
      <p:sp>
        <p:nvSpPr>
          <p:cNvPr id="709635" name="Rectangle 3"/>
          <p:cNvSpPr>
            <a:spLocks noGrp="1" noChangeArrowheads="1"/>
          </p:cNvSpPr>
          <p:nvPr>
            <p:ph idx="1"/>
          </p:nvPr>
        </p:nvSpPr>
        <p:spPr/>
        <p:txBody>
          <a:bodyPr/>
          <a:lstStyle/>
          <a:p>
            <a:r>
              <a:rPr lang="en-US" altLang="zh-CN" dirty="0"/>
              <a:t>8.1 </a:t>
            </a:r>
            <a:r>
              <a:rPr lang="zh-CN" altLang="en-US" dirty="0"/>
              <a:t>嵌入式</a:t>
            </a:r>
            <a:r>
              <a:rPr lang="en-US" altLang="zh-CN" dirty="0"/>
              <a:t>SQL</a:t>
            </a:r>
          </a:p>
          <a:p>
            <a:r>
              <a:rPr lang="en-US" altLang="zh-CN" dirty="0"/>
              <a:t>8.2 </a:t>
            </a:r>
            <a:r>
              <a:rPr lang="zh-CN" altLang="en-US" dirty="0"/>
              <a:t>过程化</a:t>
            </a:r>
            <a:r>
              <a:rPr lang="en-US" altLang="zh-CN" dirty="0"/>
              <a:t>SQL</a:t>
            </a:r>
          </a:p>
          <a:p>
            <a:r>
              <a:rPr lang="en-US" altLang="zh-CN" dirty="0"/>
              <a:t>8.3 </a:t>
            </a:r>
            <a:r>
              <a:rPr lang="zh-CN" altLang="en-US" dirty="0"/>
              <a:t>存储过程和函数</a:t>
            </a:r>
          </a:p>
          <a:p>
            <a:r>
              <a:rPr lang="en-US" altLang="zh-CN" dirty="0"/>
              <a:t>8.4 ODBC</a:t>
            </a:r>
            <a:r>
              <a:rPr lang="zh-CN" altLang="en-US" dirty="0"/>
              <a:t>编程</a:t>
            </a:r>
          </a:p>
          <a:p>
            <a:r>
              <a:rPr lang="zh-CN" altLang="en-US" dirty="0"/>
              <a:t>*</a:t>
            </a:r>
            <a:r>
              <a:rPr lang="en-US" altLang="zh-CN" dirty="0"/>
              <a:t>8.5 OLE DB</a:t>
            </a:r>
          </a:p>
          <a:p>
            <a:r>
              <a:rPr lang="en-US" altLang="zh-CN" dirty="0"/>
              <a:t>*8.6 JDBC</a:t>
            </a:r>
            <a:r>
              <a:rPr lang="zh-CN" altLang="en-US" dirty="0"/>
              <a:t>编程</a:t>
            </a:r>
          </a:p>
          <a:p>
            <a:r>
              <a:rPr lang="en-US" altLang="zh-CN" dirty="0"/>
              <a:t>8.7 </a:t>
            </a:r>
            <a:r>
              <a:rPr lang="zh-CN" altLang="en-US" dirty="0"/>
              <a:t>小结</a:t>
            </a:r>
          </a:p>
        </p:txBody>
      </p:sp>
      <p:sp>
        <p:nvSpPr>
          <p:cNvPr id="2" name="灯片编号占位符 1">
            <a:extLst>
              <a:ext uri="{FF2B5EF4-FFF2-40B4-BE49-F238E27FC236}">
                <a16:creationId xmlns:a16="http://schemas.microsoft.com/office/drawing/2014/main" id="{45D89A53-E41B-4DC2-A4A7-FD0EC3F45064}"/>
              </a:ext>
            </a:extLst>
          </p:cNvPr>
          <p:cNvSpPr>
            <a:spLocks noGrp="1"/>
          </p:cNvSpPr>
          <p:nvPr>
            <p:ph type="sldNum" sz="quarter" idx="12"/>
          </p:nvPr>
        </p:nvSpPr>
        <p:spPr/>
        <p:txBody>
          <a:bodyPr/>
          <a:lstStyle/>
          <a:p>
            <a:fld id="{47C9E101-E51D-431E-84FA-C029B8655B60}" type="slidenum">
              <a:rPr lang="zh-CN" altLang="en-US" smtClean="0"/>
              <a:pPr/>
              <a:t>2</a:t>
            </a:fld>
            <a:endParaRPr lang="zh-CN" altLang="en-US" dirty="0"/>
          </a:p>
        </p:txBody>
      </p:sp>
    </p:spTree>
    <p:extLst>
      <p:ext uri="{BB962C8B-B14F-4D97-AF65-F5344CB8AC3E}">
        <p14:creationId xmlns:p14="http://schemas.microsoft.com/office/powerpoint/2010/main" val="3136596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F167A2-619F-49E2-881F-4C37CB08F509}"/>
              </a:ext>
            </a:extLst>
          </p:cNvPr>
          <p:cNvSpPr>
            <a:spLocks noGrp="1"/>
          </p:cNvSpPr>
          <p:nvPr>
            <p:ph type="title"/>
          </p:nvPr>
        </p:nvSpPr>
        <p:spPr/>
        <p:txBody>
          <a:bodyPr/>
          <a:lstStyle/>
          <a:p>
            <a:r>
              <a:rPr lang="zh-CN" altLang="en-US" dirty="0"/>
              <a:t>数据库原理、应用与设计之间的联系</a:t>
            </a:r>
          </a:p>
        </p:txBody>
      </p:sp>
      <p:sp>
        <p:nvSpPr>
          <p:cNvPr id="4" name="灯片编号占位符 3">
            <a:extLst>
              <a:ext uri="{FF2B5EF4-FFF2-40B4-BE49-F238E27FC236}">
                <a16:creationId xmlns:a16="http://schemas.microsoft.com/office/drawing/2014/main" id="{F3EC44CE-3084-4E4B-A41A-CEB04D91F0CA}"/>
              </a:ext>
            </a:extLst>
          </p:cNvPr>
          <p:cNvSpPr>
            <a:spLocks noGrp="1"/>
          </p:cNvSpPr>
          <p:nvPr>
            <p:ph type="sldNum" sz="quarter" idx="12"/>
          </p:nvPr>
        </p:nvSpPr>
        <p:spPr/>
        <p:txBody>
          <a:bodyPr/>
          <a:lstStyle/>
          <a:p>
            <a:fld id="{47C9E101-E51D-431E-84FA-C029B8655B60}" type="slidenum">
              <a:rPr lang="zh-CN" altLang="en-US" smtClean="0"/>
              <a:pPr/>
              <a:t>3</a:t>
            </a:fld>
            <a:endParaRPr lang="zh-CN" altLang="en-US" dirty="0"/>
          </a:p>
        </p:txBody>
      </p:sp>
      <p:pic>
        <p:nvPicPr>
          <p:cNvPr id="9" name="内容占位符 8">
            <a:extLst>
              <a:ext uri="{FF2B5EF4-FFF2-40B4-BE49-F238E27FC236}">
                <a16:creationId xmlns:a16="http://schemas.microsoft.com/office/drawing/2014/main" id="{0CD6BF3E-EFB6-416B-AE20-B02C10E262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0735" y="1167364"/>
            <a:ext cx="8989112" cy="5380392"/>
          </a:xfrm>
        </p:spPr>
      </p:pic>
    </p:spTree>
    <p:extLst>
      <p:ext uri="{BB962C8B-B14F-4D97-AF65-F5344CB8AC3E}">
        <p14:creationId xmlns:p14="http://schemas.microsoft.com/office/powerpoint/2010/main" val="2694335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8" name="Rectangle 2"/>
          <p:cNvSpPr>
            <a:spLocks noGrp="1" noChangeArrowheads="1"/>
          </p:cNvSpPr>
          <p:nvPr>
            <p:ph type="title"/>
          </p:nvPr>
        </p:nvSpPr>
        <p:spPr/>
        <p:txBody>
          <a:bodyPr/>
          <a:lstStyle/>
          <a:p>
            <a:r>
              <a:rPr lang="en-US" altLang="zh-CN" dirty="0"/>
              <a:t>8.1 </a:t>
            </a:r>
            <a:r>
              <a:rPr lang="zh-CN" altLang="en-US" dirty="0"/>
              <a:t>嵌入式</a:t>
            </a:r>
            <a:r>
              <a:rPr lang="en-US" altLang="zh-CN" dirty="0"/>
              <a:t>SQL</a:t>
            </a:r>
          </a:p>
        </p:txBody>
      </p:sp>
      <p:sp>
        <p:nvSpPr>
          <p:cNvPr id="710659" name="Rectangle 3"/>
          <p:cNvSpPr>
            <a:spLocks noGrp="1" noChangeArrowheads="1"/>
          </p:cNvSpPr>
          <p:nvPr>
            <p:ph idx="1"/>
          </p:nvPr>
        </p:nvSpPr>
        <p:spPr/>
        <p:txBody>
          <a:bodyPr/>
          <a:lstStyle/>
          <a:p>
            <a:r>
              <a:rPr lang="en-US" altLang="zh-CN" dirty="0"/>
              <a:t>SQL</a:t>
            </a:r>
            <a:r>
              <a:rPr lang="zh-CN" altLang="en-US" dirty="0"/>
              <a:t>语言提供了两种不同的使用方式：</a:t>
            </a:r>
          </a:p>
          <a:p>
            <a:pPr lvl="1"/>
            <a:r>
              <a:rPr lang="zh-CN" altLang="en-US" dirty="0"/>
              <a:t>交互式</a:t>
            </a:r>
          </a:p>
          <a:p>
            <a:pPr lvl="1"/>
            <a:r>
              <a:rPr lang="zh-CN" altLang="en-US" dirty="0"/>
              <a:t>嵌入式：将</a:t>
            </a:r>
            <a:r>
              <a:rPr lang="en-US" altLang="zh-CN" dirty="0"/>
              <a:t>SQL</a:t>
            </a:r>
            <a:r>
              <a:rPr lang="zh-CN" altLang="en-US" dirty="0"/>
              <a:t>语句嵌入程序设计语言中，如</a:t>
            </a:r>
            <a:r>
              <a:rPr lang="en-US" altLang="zh-CN" dirty="0"/>
              <a:t>C</a:t>
            </a:r>
            <a:r>
              <a:rPr lang="zh-CN" altLang="en-US" dirty="0"/>
              <a:t>、</a:t>
            </a:r>
            <a:r>
              <a:rPr lang="en-US" altLang="zh-CN" dirty="0"/>
              <a:t>C++</a:t>
            </a:r>
            <a:r>
              <a:rPr lang="zh-CN" altLang="en-US" dirty="0"/>
              <a:t>、</a:t>
            </a:r>
            <a:r>
              <a:rPr lang="en-US" altLang="zh-CN" dirty="0"/>
              <a:t>java</a:t>
            </a:r>
            <a:endParaRPr lang="zh-CN" altLang="en-US" dirty="0"/>
          </a:p>
          <a:p>
            <a:endParaRPr lang="en-US" altLang="zh-CN" dirty="0"/>
          </a:p>
          <a:p>
            <a:r>
              <a:rPr lang="zh-CN" altLang="en-US" dirty="0"/>
              <a:t>为什么要引入嵌入式</a:t>
            </a:r>
            <a:r>
              <a:rPr lang="en-US" altLang="zh-CN" dirty="0"/>
              <a:t>SQL</a:t>
            </a:r>
          </a:p>
          <a:p>
            <a:pPr lvl="1"/>
            <a:r>
              <a:rPr lang="en-US" altLang="zh-CN" dirty="0"/>
              <a:t>SQL</a:t>
            </a:r>
            <a:r>
              <a:rPr lang="zh-CN" altLang="en-US" dirty="0"/>
              <a:t>语言是</a:t>
            </a:r>
            <a:r>
              <a:rPr lang="zh-CN" altLang="en-US" dirty="0">
                <a:solidFill>
                  <a:srgbClr val="C00000"/>
                </a:solidFill>
              </a:rPr>
              <a:t>非过程性</a:t>
            </a:r>
            <a:r>
              <a:rPr lang="zh-CN" altLang="en-US" dirty="0"/>
              <a:t>语言</a:t>
            </a:r>
          </a:p>
          <a:p>
            <a:pPr lvl="1"/>
            <a:r>
              <a:rPr lang="zh-CN" altLang="en-US" dirty="0"/>
              <a:t>事务处理应用需要</a:t>
            </a:r>
            <a:r>
              <a:rPr lang="zh-CN" altLang="en-US" dirty="0">
                <a:solidFill>
                  <a:srgbClr val="C00000"/>
                </a:solidFill>
              </a:rPr>
              <a:t>高级语言</a:t>
            </a:r>
          </a:p>
          <a:p>
            <a:endParaRPr lang="en-US" altLang="zh-CN" dirty="0"/>
          </a:p>
          <a:p>
            <a:r>
              <a:rPr lang="zh-CN" altLang="en-US" dirty="0"/>
              <a:t>这两种方式细节上有差别，在程序设计的环境下，</a:t>
            </a:r>
            <a:r>
              <a:rPr lang="en-US" altLang="zh-CN" dirty="0"/>
              <a:t>SQL</a:t>
            </a:r>
            <a:r>
              <a:rPr lang="zh-CN" altLang="en-US" dirty="0"/>
              <a:t>语句要做某些必要的扩充</a:t>
            </a:r>
          </a:p>
        </p:txBody>
      </p:sp>
      <p:sp>
        <p:nvSpPr>
          <p:cNvPr id="2" name="灯片编号占位符 1">
            <a:extLst>
              <a:ext uri="{FF2B5EF4-FFF2-40B4-BE49-F238E27FC236}">
                <a16:creationId xmlns:a16="http://schemas.microsoft.com/office/drawing/2014/main" id="{AD676CDA-C9CE-46ED-8E96-753727334DE9}"/>
              </a:ext>
            </a:extLst>
          </p:cNvPr>
          <p:cNvSpPr>
            <a:spLocks noGrp="1"/>
          </p:cNvSpPr>
          <p:nvPr>
            <p:ph type="sldNum" sz="quarter" idx="12"/>
          </p:nvPr>
        </p:nvSpPr>
        <p:spPr/>
        <p:txBody>
          <a:bodyPr/>
          <a:lstStyle/>
          <a:p>
            <a:fld id="{47C9E101-E51D-431E-84FA-C029B8655B60}" type="slidenum">
              <a:rPr lang="zh-CN" altLang="en-US" smtClean="0"/>
              <a:pPr/>
              <a:t>4</a:t>
            </a:fld>
            <a:endParaRPr lang="zh-CN" altLang="en-US" dirty="0"/>
          </a:p>
        </p:txBody>
      </p:sp>
    </p:spTree>
    <p:extLst>
      <p:ext uri="{BB962C8B-B14F-4D97-AF65-F5344CB8AC3E}">
        <p14:creationId xmlns:p14="http://schemas.microsoft.com/office/powerpoint/2010/main" val="214170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78" name="Rectangle 2"/>
          <p:cNvSpPr>
            <a:spLocks noGrp="1" noChangeArrowheads="1"/>
          </p:cNvSpPr>
          <p:nvPr>
            <p:ph type="title"/>
          </p:nvPr>
        </p:nvSpPr>
        <p:spPr/>
        <p:txBody>
          <a:bodyPr/>
          <a:lstStyle/>
          <a:p>
            <a:r>
              <a:rPr lang="en-US" altLang="zh-CN"/>
              <a:t>8.1.1 </a:t>
            </a:r>
            <a:r>
              <a:rPr lang="zh-CN" altLang="en-US"/>
              <a:t>嵌入式</a:t>
            </a:r>
            <a:r>
              <a:rPr lang="en-US" altLang="zh-CN"/>
              <a:t>SQL</a:t>
            </a:r>
            <a:r>
              <a:rPr lang="zh-CN" altLang="en-US"/>
              <a:t>的处理过程</a:t>
            </a:r>
          </a:p>
        </p:txBody>
      </p:sp>
      <p:sp>
        <p:nvSpPr>
          <p:cNvPr id="946179" name="Rectangle 3"/>
          <p:cNvSpPr>
            <a:spLocks noGrp="1" noChangeArrowheads="1"/>
          </p:cNvSpPr>
          <p:nvPr>
            <p:ph idx="1"/>
          </p:nvPr>
        </p:nvSpPr>
        <p:spPr>
          <a:xfrm>
            <a:off x="838199" y="1147084"/>
            <a:ext cx="7824107" cy="5233307"/>
          </a:xfrm>
        </p:spPr>
        <p:txBody>
          <a:bodyPr>
            <a:normAutofit/>
          </a:bodyPr>
          <a:lstStyle/>
          <a:p>
            <a:r>
              <a:rPr lang="zh-CN" altLang="en-US" dirty="0"/>
              <a:t>主语言</a:t>
            </a:r>
          </a:p>
          <a:p>
            <a:pPr lvl="1"/>
            <a:r>
              <a:rPr lang="zh-CN" altLang="en-US" dirty="0"/>
              <a:t>嵌入式</a:t>
            </a:r>
            <a:r>
              <a:rPr lang="en-US" altLang="zh-CN" dirty="0"/>
              <a:t>SQL</a:t>
            </a:r>
            <a:r>
              <a:rPr lang="zh-CN" altLang="en-US" dirty="0"/>
              <a:t>是将</a:t>
            </a:r>
            <a:r>
              <a:rPr lang="en-US" altLang="zh-CN" dirty="0"/>
              <a:t>SQL</a:t>
            </a:r>
            <a:r>
              <a:rPr lang="zh-CN" altLang="en-US" dirty="0"/>
              <a:t>语句嵌入程序设计语言中，被嵌入的程序设计语言，如</a:t>
            </a:r>
            <a:r>
              <a:rPr lang="en-US" altLang="zh-CN" dirty="0"/>
              <a:t>C</a:t>
            </a:r>
            <a:r>
              <a:rPr lang="zh-CN" altLang="en-US" dirty="0"/>
              <a:t>、</a:t>
            </a:r>
            <a:r>
              <a:rPr lang="en-US" altLang="zh-CN" dirty="0"/>
              <a:t>C++</a:t>
            </a:r>
            <a:r>
              <a:rPr lang="zh-CN" altLang="en-US" dirty="0"/>
              <a:t>、</a:t>
            </a:r>
            <a:r>
              <a:rPr lang="en-US" altLang="zh-CN" dirty="0"/>
              <a:t>Java</a:t>
            </a:r>
            <a:r>
              <a:rPr lang="zh-CN" altLang="en-US" dirty="0"/>
              <a:t>，称为宿主语言，简称</a:t>
            </a:r>
            <a:r>
              <a:rPr lang="zh-CN" altLang="en-US" dirty="0">
                <a:solidFill>
                  <a:srgbClr val="C00000"/>
                </a:solidFill>
              </a:rPr>
              <a:t>主语言</a:t>
            </a:r>
            <a:r>
              <a:rPr lang="zh-CN" altLang="en-US" dirty="0"/>
              <a:t>。</a:t>
            </a:r>
          </a:p>
          <a:p>
            <a:endParaRPr lang="en-US" altLang="zh-CN" dirty="0"/>
          </a:p>
          <a:p>
            <a:r>
              <a:rPr lang="zh-CN" altLang="en-US" dirty="0"/>
              <a:t>处理过程</a:t>
            </a:r>
          </a:p>
          <a:p>
            <a:pPr lvl="1"/>
            <a:r>
              <a:rPr lang="zh-CN" altLang="en-US" dirty="0">
                <a:solidFill>
                  <a:srgbClr val="C00000"/>
                </a:solidFill>
              </a:rPr>
              <a:t>预编译</a:t>
            </a:r>
            <a:r>
              <a:rPr lang="zh-CN" altLang="en-US" dirty="0"/>
              <a:t>方法</a:t>
            </a:r>
            <a:endParaRPr lang="en-US" altLang="zh-CN" dirty="0"/>
          </a:p>
          <a:p>
            <a:pPr lvl="1"/>
            <a:endParaRPr lang="en-US" altLang="zh-CN" dirty="0"/>
          </a:p>
          <a:p>
            <a:r>
              <a:rPr lang="zh-CN" altLang="en-US" dirty="0"/>
              <a:t>为了区分</a:t>
            </a:r>
            <a:r>
              <a:rPr lang="en-US" altLang="zh-CN" dirty="0"/>
              <a:t>SQL</a:t>
            </a:r>
            <a:r>
              <a:rPr lang="zh-CN" altLang="en-US" dirty="0"/>
              <a:t>语句与主语言语句， 所有</a:t>
            </a:r>
            <a:r>
              <a:rPr lang="en-US" altLang="zh-CN" dirty="0"/>
              <a:t>SQL</a:t>
            </a:r>
            <a:r>
              <a:rPr lang="zh-CN" altLang="en-US" dirty="0"/>
              <a:t>语句必须加前缀</a:t>
            </a:r>
            <a:endParaRPr lang="en-US" altLang="zh-CN" dirty="0"/>
          </a:p>
          <a:p>
            <a:pPr lvl="1"/>
            <a:r>
              <a:rPr lang="zh-CN" altLang="en-US" dirty="0"/>
              <a:t>主语言为</a:t>
            </a:r>
            <a:r>
              <a:rPr lang="en-US" altLang="zh-CN" dirty="0"/>
              <a:t>C</a:t>
            </a:r>
            <a:r>
              <a:rPr lang="zh-CN" altLang="en-US" dirty="0"/>
              <a:t>语言时，语句格式：</a:t>
            </a:r>
          </a:p>
          <a:p>
            <a:pPr marL="342900" lvl="1" indent="0">
              <a:buNone/>
            </a:pPr>
            <a:r>
              <a:rPr lang="zh-CN" altLang="en-US" dirty="0"/>
              <a:t>    </a:t>
            </a:r>
            <a:r>
              <a:rPr lang="en-US" altLang="zh-CN" dirty="0">
                <a:solidFill>
                  <a:srgbClr val="C00000"/>
                </a:solidFill>
              </a:rPr>
              <a:t>EXEC SQL &lt;SQL</a:t>
            </a:r>
            <a:r>
              <a:rPr lang="zh-CN" altLang="en-US" dirty="0">
                <a:solidFill>
                  <a:srgbClr val="C00000"/>
                </a:solidFill>
              </a:rPr>
              <a:t>语句</a:t>
            </a:r>
            <a:r>
              <a:rPr lang="en-US" altLang="zh-CN" dirty="0">
                <a:solidFill>
                  <a:srgbClr val="C00000"/>
                </a:solidFill>
              </a:rPr>
              <a:t>&gt;;</a:t>
            </a:r>
          </a:p>
          <a:p>
            <a:pPr lvl="1"/>
            <a:r>
              <a:rPr lang="zh-CN" altLang="en-US" dirty="0"/>
              <a:t>主语言为</a:t>
            </a:r>
            <a:r>
              <a:rPr lang="en-US" altLang="zh-CN" dirty="0"/>
              <a:t>Java</a:t>
            </a:r>
            <a:r>
              <a:rPr lang="zh-CN" altLang="en-US" dirty="0"/>
              <a:t>语言时，语句格式：</a:t>
            </a:r>
          </a:p>
          <a:p>
            <a:pPr marL="342900" lvl="1" indent="0">
              <a:buNone/>
            </a:pPr>
            <a:r>
              <a:rPr lang="zh-CN" altLang="en-US" dirty="0"/>
              <a:t>    </a:t>
            </a:r>
            <a:r>
              <a:rPr lang="en-US" altLang="zh-CN" dirty="0">
                <a:solidFill>
                  <a:srgbClr val="C00000"/>
                </a:solidFill>
              </a:rPr>
              <a:t># SQL &lt;SQL</a:t>
            </a:r>
            <a:r>
              <a:rPr lang="zh-CN" altLang="en-US" dirty="0">
                <a:solidFill>
                  <a:srgbClr val="C00000"/>
                </a:solidFill>
              </a:rPr>
              <a:t>语句</a:t>
            </a:r>
            <a:r>
              <a:rPr lang="en-US" altLang="zh-CN" dirty="0">
                <a:solidFill>
                  <a:srgbClr val="C00000"/>
                </a:solidFill>
              </a:rPr>
              <a:t>&gt;;</a:t>
            </a:r>
          </a:p>
        </p:txBody>
      </p:sp>
      <p:sp>
        <p:nvSpPr>
          <p:cNvPr id="2" name="灯片编号占位符 1">
            <a:extLst>
              <a:ext uri="{FF2B5EF4-FFF2-40B4-BE49-F238E27FC236}">
                <a16:creationId xmlns:a16="http://schemas.microsoft.com/office/drawing/2014/main" id="{2B04BBE2-9B74-471B-87F5-9B5FF14B619F}"/>
              </a:ext>
            </a:extLst>
          </p:cNvPr>
          <p:cNvSpPr>
            <a:spLocks noGrp="1"/>
          </p:cNvSpPr>
          <p:nvPr>
            <p:ph type="sldNum" sz="quarter" idx="12"/>
          </p:nvPr>
        </p:nvSpPr>
        <p:spPr/>
        <p:txBody>
          <a:bodyPr/>
          <a:lstStyle/>
          <a:p>
            <a:fld id="{47C9E101-E51D-431E-84FA-C029B8655B60}" type="slidenum">
              <a:rPr lang="zh-CN" altLang="en-US" smtClean="0"/>
              <a:pPr/>
              <a:t>5</a:t>
            </a:fld>
            <a:endParaRPr lang="zh-CN" altLang="en-US" dirty="0"/>
          </a:p>
        </p:txBody>
      </p:sp>
      <p:grpSp>
        <p:nvGrpSpPr>
          <p:cNvPr id="946185" name="组合 946184"/>
          <p:cNvGrpSpPr/>
          <p:nvPr/>
        </p:nvGrpSpPr>
        <p:grpSpPr>
          <a:xfrm>
            <a:off x="8786306" y="1358528"/>
            <a:ext cx="1961325" cy="4724398"/>
            <a:chOff x="6215265" y="1623393"/>
            <a:chExt cx="1961325" cy="4724398"/>
          </a:xfrm>
        </p:grpSpPr>
        <p:sp>
          <p:nvSpPr>
            <p:cNvPr id="4" name="平行四边形 3"/>
            <p:cNvSpPr/>
            <p:nvPr/>
          </p:nvSpPr>
          <p:spPr>
            <a:xfrm>
              <a:off x="6308035" y="1623393"/>
              <a:ext cx="1775791" cy="728869"/>
            </a:xfrm>
            <a:prstGeom prst="parallelogram">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含嵌入式</a:t>
              </a:r>
              <a:r>
                <a:rPr lang="en-US" altLang="zh-CN" sz="1400" dirty="0">
                  <a:solidFill>
                    <a:schemeClr val="tx1"/>
                  </a:solidFill>
                </a:rPr>
                <a:t>SQL</a:t>
              </a:r>
              <a:r>
                <a:rPr lang="zh-CN" altLang="en-US" sz="1400" dirty="0">
                  <a:solidFill>
                    <a:schemeClr val="tx1"/>
                  </a:solidFill>
                </a:rPr>
                <a:t>语句的主语言程序</a:t>
              </a:r>
            </a:p>
          </p:txBody>
        </p:sp>
        <p:sp>
          <p:nvSpPr>
            <p:cNvPr id="6" name="矩形 5"/>
            <p:cNvSpPr/>
            <p:nvPr/>
          </p:nvSpPr>
          <p:spPr>
            <a:xfrm>
              <a:off x="6215268" y="2696819"/>
              <a:ext cx="1961322" cy="781878"/>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关系数据库管理系统预处理程序转换嵌入式</a:t>
              </a:r>
              <a:r>
                <a:rPr lang="en-US" altLang="zh-CN" sz="1400" dirty="0">
                  <a:solidFill>
                    <a:schemeClr val="tx1"/>
                  </a:solidFill>
                </a:rPr>
                <a:t>SQL</a:t>
              </a:r>
              <a:r>
                <a:rPr lang="zh-CN" altLang="en-US" sz="1400" dirty="0">
                  <a:solidFill>
                    <a:schemeClr val="tx1"/>
                  </a:solidFill>
                </a:rPr>
                <a:t>语句为函数调用</a:t>
              </a:r>
            </a:p>
          </p:txBody>
        </p:sp>
        <p:sp>
          <p:nvSpPr>
            <p:cNvPr id="22" name="平行四边形 21"/>
            <p:cNvSpPr/>
            <p:nvPr/>
          </p:nvSpPr>
          <p:spPr>
            <a:xfrm>
              <a:off x="6308033" y="3790123"/>
              <a:ext cx="1775791" cy="576469"/>
            </a:xfrm>
            <a:prstGeom prst="parallelogram">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转换后的</a:t>
              </a:r>
            </a:p>
            <a:p>
              <a:pPr algn="ctr"/>
              <a:r>
                <a:rPr lang="zh-CN" altLang="en-US" sz="1400" dirty="0">
                  <a:solidFill>
                    <a:schemeClr val="tx1"/>
                  </a:solidFill>
                </a:rPr>
                <a:t>主语言程序</a:t>
              </a:r>
            </a:p>
          </p:txBody>
        </p:sp>
        <p:sp>
          <p:nvSpPr>
            <p:cNvPr id="20" name="矩形 19"/>
            <p:cNvSpPr/>
            <p:nvPr/>
          </p:nvSpPr>
          <p:spPr>
            <a:xfrm>
              <a:off x="6215265" y="4750905"/>
              <a:ext cx="1961322" cy="58309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主语言编译程序</a:t>
              </a:r>
            </a:p>
            <a:p>
              <a:pPr algn="ctr"/>
              <a:r>
                <a:rPr lang="zh-CN" altLang="en-US" sz="1400" dirty="0">
                  <a:solidFill>
                    <a:schemeClr val="tx1"/>
                  </a:solidFill>
                </a:rPr>
                <a:t>编译处理</a:t>
              </a:r>
            </a:p>
          </p:txBody>
        </p:sp>
        <p:sp>
          <p:nvSpPr>
            <p:cNvPr id="24" name="平行四边形 23"/>
            <p:cNvSpPr/>
            <p:nvPr/>
          </p:nvSpPr>
          <p:spPr>
            <a:xfrm>
              <a:off x="6321283" y="5764696"/>
              <a:ext cx="1762540" cy="583095"/>
            </a:xfrm>
            <a:prstGeom prst="parallelogram">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目标语言程序</a:t>
              </a:r>
            </a:p>
          </p:txBody>
        </p:sp>
        <p:cxnSp>
          <p:nvCxnSpPr>
            <p:cNvPr id="26" name="直接箭头连接符 25"/>
            <p:cNvCxnSpPr>
              <a:stCxn id="4" idx="4"/>
              <a:endCxn id="6" idx="0"/>
            </p:cNvCxnSpPr>
            <p:nvPr/>
          </p:nvCxnSpPr>
          <p:spPr>
            <a:xfrm flipH="1">
              <a:off x="7195929" y="2352262"/>
              <a:ext cx="2" cy="344557"/>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6" idx="2"/>
              <a:endCxn id="22" idx="0"/>
            </p:cNvCxnSpPr>
            <p:nvPr/>
          </p:nvCxnSpPr>
          <p:spPr>
            <a:xfrm>
              <a:off x="7195929" y="3478697"/>
              <a:ext cx="0" cy="311426"/>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22" idx="4"/>
              <a:endCxn id="20" idx="0"/>
            </p:cNvCxnSpPr>
            <p:nvPr/>
          </p:nvCxnSpPr>
          <p:spPr>
            <a:xfrm flipH="1">
              <a:off x="7195926" y="4366592"/>
              <a:ext cx="3" cy="384313"/>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20" idx="2"/>
            </p:cNvCxnSpPr>
            <p:nvPr/>
          </p:nvCxnSpPr>
          <p:spPr>
            <a:xfrm>
              <a:off x="7195926" y="5334000"/>
              <a:ext cx="0" cy="430696"/>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72310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6179">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46179">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46179">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46179">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4617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ChangeArrowheads="1"/>
          </p:cNvSpPr>
          <p:nvPr>
            <p:ph type="title"/>
          </p:nvPr>
        </p:nvSpPr>
        <p:spPr/>
        <p:txBody>
          <a:bodyPr>
            <a:normAutofit/>
          </a:bodyPr>
          <a:lstStyle/>
          <a:p>
            <a:r>
              <a:rPr lang="en-US" altLang="zh-CN"/>
              <a:t>8.1.2 </a:t>
            </a:r>
            <a:r>
              <a:rPr lang="zh-CN" altLang="en-US"/>
              <a:t>嵌入式</a:t>
            </a:r>
            <a:r>
              <a:rPr lang="en-US" altLang="zh-CN"/>
              <a:t>SQL</a:t>
            </a:r>
            <a:r>
              <a:rPr lang="zh-CN" altLang="en-US"/>
              <a:t>语句与主语言之间的通信</a:t>
            </a:r>
          </a:p>
        </p:txBody>
      </p:sp>
      <p:sp>
        <p:nvSpPr>
          <p:cNvPr id="715779" name="Rectangle 3"/>
          <p:cNvSpPr>
            <a:spLocks noGrp="1" noChangeArrowheads="1"/>
          </p:cNvSpPr>
          <p:nvPr>
            <p:ph idx="1"/>
          </p:nvPr>
        </p:nvSpPr>
        <p:spPr/>
        <p:txBody>
          <a:bodyPr/>
          <a:lstStyle/>
          <a:p>
            <a:r>
              <a:rPr lang="zh-CN" altLang="en-US" dirty="0"/>
              <a:t>将</a:t>
            </a:r>
            <a:r>
              <a:rPr lang="en-US" altLang="zh-CN" dirty="0"/>
              <a:t>SQL</a:t>
            </a:r>
            <a:r>
              <a:rPr lang="zh-CN" altLang="en-US" dirty="0"/>
              <a:t>嵌入到高级语言中混合编程，程序中会含有两种不同计算模型的语句</a:t>
            </a:r>
          </a:p>
          <a:p>
            <a:pPr lvl="1"/>
            <a:r>
              <a:rPr lang="zh-CN" altLang="en-US" dirty="0">
                <a:solidFill>
                  <a:srgbClr val="C00000"/>
                </a:solidFill>
              </a:rPr>
              <a:t>嵌入式</a:t>
            </a:r>
            <a:r>
              <a:rPr lang="en-US" altLang="zh-CN" dirty="0">
                <a:solidFill>
                  <a:srgbClr val="C00000"/>
                </a:solidFill>
              </a:rPr>
              <a:t>SQL</a:t>
            </a:r>
            <a:r>
              <a:rPr lang="zh-CN" altLang="en-US" dirty="0">
                <a:solidFill>
                  <a:srgbClr val="C00000"/>
                </a:solidFill>
              </a:rPr>
              <a:t>语句：</a:t>
            </a:r>
            <a:r>
              <a:rPr lang="zh-CN" altLang="en-US" dirty="0"/>
              <a:t>面向集合、操纵数据库</a:t>
            </a:r>
          </a:p>
          <a:p>
            <a:pPr lvl="1"/>
            <a:r>
              <a:rPr lang="zh-CN" altLang="en-US" dirty="0">
                <a:solidFill>
                  <a:srgbClr val="C00000"/>
                </a:solidFill>
              </a:rPr>
              <a:t>主语言：</a:t>
            </a:r>
            <a:r>
              <a:rPr lang="zh-CN" altLang="en-US" dirty="0"/>
              <a:t>面向记录、一次获取一条记录、控制程序流程</a:t>
            </a:r>
          </a:p>
          <a:p>
            <a:pPr lvl="1"/>
            <a:r>
              <a:rPr lang="zh-CN" altLang="en-US" dirty="0">
                <a:solidFill>
                  <a:srgbClr val="3333FF"/>
                </a:solidFill>
              </a:rPr>
              <a:t>它们之间应该如何通信？</a:t>
            </a:r>
            <a:endParaRPr lang="en-US" altLang="zh-CN" dirty="0">
              <a:solidFill>
                <a:srgbClr val="3333FF"/>
              </a:solidFill>
            </a:endParaRPr>
          </a:p>
          <a:p>
            <a:endParaRPr lang="en-US" altLang="zh-CN" dirty="0"/>
          </a:p>
          <a:p>
            <a:r>
              <a:rPr lang="zh-CN" altLang="en-US" dirty="0"/>
              <a:t>嵌入式</a:t>
            </a:r>
            <a:r>
              <a:rPr lang="en-US" altLang="zh-CN" dirty="0"/>
              <a:t>SQL</a:t>
            </a:r>
            <a:r>
              <a:rPr lang="zh-CN" altLang="en-US" dirty="0"/>
              <a:t>与主语言之间通信：</a:t>
            </a:r>
          </a:p>
          <a:p>
            <a:pPr lvl="1"/>
            <a:r>
              <a:rPr lang="en-US" altLang="zh-CN" dirty="0">
                <a:solidFill>
                  <a:srgbClr val="C00000"/>
                </a:solidFill>
              </a:rPr>
              <a:t>1. SQL</a:t>
            </a:r>
            <a:r>
              <a:rPr lang="zh-CN" altLang="en-US" dirty="0">
                <a:solidFill>
                  <a:srgbClr val="C00000"/>
                </a:solidFill>
              </a:rPr>
              <a:t>通信区：</a:t>
            </a:r>
            <a:r>
              <a:rPr lang="zh-CN" altLang="en-US" dirty="0"/>
              <a:t>存放</a:t>
            </a:r>
            <a:r>
              <a:rPr lang="en-US" altLang="zh-CN" dirty="0"/>
              <a:t>SQL</a:t>
            </a:r>
            <a:r>
              <a:rPr lang="zh-CN" altLang="en-US" dirty="0"/>
              <a:t>执行之后的状态，供主语言控制程序流程</a:t>
            </a:r>
            <a:endParaRPr lang="zh-CN" altLang="en-US" dirty="0">
              <a:solidFill>
                <a:srgbClr val="C00000"/>
              </a:solidFill>
            </a:endParaRPr>
          </a:p>
          <a:p>
            <a:pPr lvl="1"/>
            <a:r>
              <a:rPr lang="en-US" altLang="zh-CN" dirty="0">
                <a:solidFill>
                  <a:srgbClr val="C00000"/>
                </a:solidFill>
              </a:rPr>
              <a:t>2. </a:t>
            </a:r>
            <a:r>
              <a:rPr lang="zh-CN" altLang="en-US" dirty="0">
                <a:solidFill>
                  <a:srgbClr val="C00000"/>
                </a:solidFill>
              </a:rPr>
              <a:t>主变量：</a:t>
            </a:r>
            <a:r>
              <a:rPr lang="zh-CN" altLang="en-US" dirty="0"/>
              <a:t>主语言向</a:t>
            </a:r>
            <a:r>
              <a:rPr lang="en-US" altLang="zh-CN" dirty="0"/>
              <a:t>SQL</a:t>
            </a:r>
            <a:r>
              <a:rPr lang="zh-CN" altLang="en-US" dirty="0"/>
              <a:t>语句提供参数</a:t>
            </a:r>
          </a:p>
          <a:p>
            <a:pPr lvl="1"/>
            <a:r>
              <a:rPr lang="en-US" altLang="zh-CN" dirty="0">
                <a:solidFill>
                  <a:srgbClr val="C00000"/>
                </a:solidFill>
              </a:rPr>
              <a:t>3. </a:t>
            </a:r>
            <a:r>
              <a:rPr lang="zh-CN" altLang="en-US" dirty="0">
                <a:solidFill>
                  <a:srgbClr val="C00000"/>
                </a:solidFill>
              </a:rPr>
              <a:t>游标：</a:t>
            </a:r>
            <a:r>
              <a:rPr lang="zh-CN" altLang="en-US" dirty="0"/>
              <a:t>解决集合性操作语言与过程性操作语言的不匹配</a:t>
            </a:r>
          </a:p>
        </p:txBody>
      </p:sp>
      <p:sp>
        <p:nvSpPr>
          <p:cNvPr id="2" name="灯片编号占位符 1">
            <a:extLst>
              <a:ext uri="{FF2B5EF4-FFF2-40B4-BE49-F238E27FC236}">
                <a16:creationId xmlns:a16="http://schemas.microsoft.com/office/drawing/2014/main" id="{DCD2BF51-F63D-4AFB-BD88-80E33C6CC0D8}"/>
              </a:ext>
            </a:extLst>
          </p:cNvPr>
          <p:cNvSpPr>
            <a:spLocks noGrp="1"/>
          </p:cNvSpPr>
          <p:nvPr>
            <p:ph type="sldNum" sz="quarter" idx="12"/>
          </p:nvPr>
        </p:nvSpPr>
        <p:spPr/>
        <p:txBody>
          <a:bodyPr/>
          <a:lstStyle/>
          <a:p>
            <a:fld id="{47C9E101-E51D-431E-84FA-C029B8655B60}" type="slidenum">
              <a:rPr lang="zh-CN" altLang="en-US" smtClean="0"/>
              <a:pPr/>
              <a:t>6</a:t>
            </a:fld>
            <a:endParaRPr lang="zh-CN" altLang="en-US" dirty="0"/>
          </a:p>
        </p:txBody>
      </p:sp>
    </p:spTree>
    <p:extLst>
      <p:ext uri="{BB962C8B-B14F-4D97-AF65-F5344CB8AC3E}">
        <p14:creationId xmlns:p14="http://schemas.microsoft.com/office/powerpoint/2010/main" val="3436531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5779">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5779">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5779">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577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p:cNvSpPr>
            <a:spLocks noGrp="1" noChangeArrowheads="1"/>
          </p:cNvSpPr>
          <p:nvPr>
            <p:ph type="title"/>
          </p:nvPr>
        </p:nvSpPr>
        <p:spPr/>
        <p:txBody>
          <a:bodyPr/>
          <a:lstStyle/>
          <a:p>
            <a:r>
              <a:rPr lang="en-US" altLang="zh-CN" dirty="0"/>
              <a:t>1</a:t>
            </a:r>
            <a:r>
              <a:rPr lang="zh-CN" altLang="en-US" dirty="0"/>
              <a:t>、</a:t>
            </a:r>
            <a:r>
              <a:rPr lang="en-US" altLang="zh-CN" dirty="0"/>
              <a:t>SQL</a:t>
            </a:r>
            <a:r>
              <a:rPr lang="zh-CN" altLang="en-US" dirty="0"/>
              <a:t>通信区</a:t>
            </a:r>
          </a:p>
        </p:txBody>
      </p:sp>
      <p:sp>
        <p:nvSpPr>
          <p:cNvPr id="717827" name="Rectangle 3"/>
          <p:cNvSpPr>
            <a:spLocks noGrp="1" noChangeArrowheads="1"/>
          </p:cNvSpPr>
          <p:nvPr>
            <p:ph idx="1"/>
          </p:nvPr>
        </p:nvSpPr>
        <p:spPr/>
        <p:txBody>
          <a:bodyPr>
            <a:normAutofit fontScale="92500" lnSpcReduction="10000"/>
          </a:bodyPr>
          <a:lstStyle/>
          <a:p>
            <a:r>
              <a:rPr lang="en-US" altLang="zh-CN" dirty="0"/>
              <a:t>SQLCA</a:t>
            </a:r>
            <a:r>
              <a:rPr lang="zh-CN" altLang="en-US" dirty="0"/>
              <a:t>： </a:t>
            </a:r>
            <a:r>
              <a:rPr lang="en-US" altLang="zh-CN" dirty="0">
                <a:solidFill>
                  <a:srgbClr val="C00000"/>
                </a:solidFill>
              </a:rPr>
              <a:t>SQL Communication Area</a:t>
            </a:r>
          </a:p>
          <a:p>
            <a:pPr lvl="1"/>
            <a:r>
              <a:rPr lang="en-US" altLang="zh-CN" dirty="0"/>
              <a:t>SQLCA</a:t>
            </a:r>
            <a:r>
              <a:rPr lang="zh-CN" altLang="en-US" dirty="0"/>
              <a:t>是一个数据结构</a:t>
            </a:r>
          </a:p>
          <a:p>
            <a:r>
              <a:rPr lang="en-US" altLang="zh-CN" dirty="0"/>
              <a:t>SQLCA</a:t>
            </a:r>
            <a:r>
              <a:rPr lang="zh-CN" altLang="en-US" dirty="0"/>
              <a:t>的</a:t>
            </a:r>
            <a:r>
              <a:rPr lang="zh-CN" altLang="en-US" dirty="0">
                <a:solidFill>
                  <a:srgbClr val="C00000"/>
                </a:solidFill>
              </a:rPr>
              <a:t>用途</a:t>
            </a:r>
          </a:p>
          <a:p>
            <a:pPr lvl="1"/>
            <a:r>
              <a:rPr lang="en-US" altLang="zh-CN" dirty="0"/>
              <a:t>SQL</a:t>
            </a:r>
            <a:r>
              <a:rPr lang="zh-CN" altLang="en-US" dirty="0"/>
              <a:t>语句执行后，</a:t>
            </a:r>
            <a:r>
              <a:rPr lang="en-US" altLang="zh-CN" dirty="0"/>
              <a:t>RDBMS</a:t>
            </a:r>
            <a:r>
              <a:rPr lang="zh-CN" altLang="en-US" dirty="0"/>
              <a:t>反馈给应用程序信息</a:t>
            </a:r>
          </a:p>
          <a:p>
            <a:pPr lvl="2"/>
            <a:r>
              <a:rPr lang="zh-CN" altLang="en-US" dirty="0"/>
              <a:t> 描述系统当前工作状态</a:t>
            </a:r>
          </a:p>
          <a:p>
            <a:pPr lvl="2"/>
            <a:r>
              <a:rPr lang="zh-CN" altLang="en-US" dirty="0"/>
              <a:t> 描述运行环境</a:t>
            </a:r>
          </a:p>
          <a:p>
            <a:pPr lvl="1"/>
            <a:r>
              <a:rPr lang="zh-CN" altLang="en-US" dirty="0"/>
              <a:t>这些信息将送到</a:t>
            </a:r>
            <a:r>
              <a:rPr lang="en-US" altLang="zh-CN" dirty="0"/>
              <a:t>SQL</a:t>
            </a:r>
            <a:r>
              <a:rPr lang="zh-CN" altLang="en-US" dirty="0"/>
              <a:t>通信区</a:t>
            </a:r>
            <a:r>
              <a:rPr lang="en-US" altLang="zh-CN" dirty="0"/>
              <a:t>SQLCA</a:t>
            </a:r>
            <a:r>
              <a:rPr lang="zh-CN" altLang="en-US" dirty="0"/>
              <a:t>中</a:t>
            </a:r>
          </a:p>
          <a:p>
            <a:pPr lvl="1"/>
            <a:r>
              <a:rPr lang="zh-CN" altLang="en-US" dirty="0"/>
              <a:t>应用程序从</a:t>
            </a:r>
            <a:r>
              <a:rPr lang="en-US" altLang="zh-CN" dirty="0"/>
              <a:t>SQLCA</a:t>
            </a:r>
            <a:r>
              <a:rPr lang="zh-CN" altLang="en-US" dirty="0"/>
              <a:t>中取出这些状态信息，据此决定接下来执行的语句</a:t>
            </a:r>
            <a:endParaRPr lang="en-US" altLang="zh-CN" dirty="0"/>
          </a:p>
          <a:p>
            <a:r>
              <a:rPr lang="en-US" altLang="zh-CN" dirty="0"/>
              <a:t>SQLCA</a:t>
            </a:r>
            <a:r>
              <a:rPr lang="zh-CN" altLang="en-US" dirty="0">
                <a:solidFill>
                  <a:srgbClr val="C00000"/>
                </a:solidFill>
              </a:rPr>
              <a:t>使用方法</a:t>
            </a:r>
            <a:r>
              <a:rPr lang="zh-CN" altLang="en-US" dirty="0"/>
              <a:t>：</a:t>
            </a:r>
          </a:p>
          <a:p>
            <a:pPr lvl="1"/>
            <a:r>
              <a:rPr lang="zh-CN" altLang="en-US" dirty="0"/>
              <a:t>定义</a:t>
            </a:r>
            <a:r>
              <a:rPr lang="en-US" altLang="zh-CN" dirty="0"/>
              <a:t>SQLCA</a:t>
            </a:r>
          </a:p>
          <a:p>
            <a:pPr lvl="2"/>
            <a:r>
              <a:rPr lang="en-US" altLang="zh-CN" dirty="0"/>
              <a:t> </a:t>
            </a:r>
            <a:r>
              <a:rPr lang="zh-CN" altLang="en-US" dirty="0"/>
              <a:t>用</a:t>
            </a:r>
            <a:r>
              <a:rPr lang="en-US" altLang="zh-CN" dirty="0">
                <a:solidFill>
                  <a:srgbClr val="C00000"/>
                </a:solidFill>
              </a:rPr>
              <a:t>EXEC SQL INCLUDE SQLCA</a:t>
            </a:r>
            <a:r>
              <a:rPr lang="zh-CN" altLang="en-US" dirty="0"/>
              <a:t>定义</a:t>
            </a:r>
          </a:p>
          <a:p>
            <a:pPr lvl="1"/>
            <a:r>
              <a:rPr lang="zh-CN" altLang="en-US" dirty="0"/>
              <a:t>使用</a:t>
            </a:r>
            <a:r>
              <a:rPr lang="en-US" altLang="zh-CN" dirty="0"/>
              <a:t>SQLCA</a:t>
            </a:r>
          </a:p>
          <a:p>
            <a:pPr lvl="2"/>
            <a:r>
              <a:rPr lang="en-US" altLang="zh-CN" dirty="0"/>
              <a:t>SQLCA</a:t>
            </a:r>
            <a:r>
              <a:rPr lang="zh-CN" altLang="en-US" dirty="0"/>
              <a:t>中有一个存放每次执行</a:t>
            </a:r>
            <a:r>
              <a:rPr lang="en-US" altLang="zh-CN" dirty="0"/>
              <a:t>SQL</a:t>
            </a:r>
            <a:r>
              <a:rPr lang="zh-CN" altLang="en-US" dirty="0"/>
              <a:t>语句后返回代码的变量</a:t>
            </a:r>
            <a:r>
              <a:rPr lang="en-US" altLang="zh-CN" dirty="0"/>
              <a:t>SQLCODE</a:t>
            </a:r>
          </a:p>
          <a:p>
            <a:pPr lvl="2"/>
            <a:r>
              <a:rPr lang="zh-CN" altLang="en-US" dirty="0"/>
              <a:t>如果</a:t>
            </a:r>
            <a:r>
              <a:rPr lang="en-US" altLang="zh-CN" dirty="0"/>
              <a:t>SQLCODE</a:t>
            </a:r>
            <a:r>
              <a:rPr lang="zh-CN" altLang="en-US" dirty="0"/>
              <a:t>等于预定义的常量</a:t>
            </a:r>
            <a:r>
              <a:rPr lang="en-US" altLang="zh-CN" dirty="0"/>
              <a:t>SUCCESS</a:t>
            </a:r>
            <a:r>
              <a:rPr lang="zh-CN" altLang="en-US" dirty="0"/>
              <a:t>，则表示</a:t>
            </a:r>
            <a:r>
              <a:rPr lang="en-US" altLang="zh-CN" dirty="0"/>
              <a:t>SQL</a:t>
            </a:r>
            <a:r>
              <a:rPr lang="zh-CN" altLang="en-US" dirty="0"/>
              <a:t>语句成功，否则表示出错</a:t>
            </a:r>
          </a:p>
          <a:p>
            <a:pPr lvl="2"/>
            <a:r>
              <a:rPr lang="zh-CN" altLang="en-US" dirty="0"/>
              <a:t>应用程序每执行完一条</a:t>
            </a:r>
            <a:r>
              <a:rPr lang="en-US" altLang="zh-CN" dirty="0"/>
              <a:t>SQL </a:t>
            </a:r>
            <a:r>
              <a:rPr lang="zh-CN" altLang="en-US" dirty="0"/>
              <a:t>语句之后都应该测试一下</a:t>
            </a:r>
            <a:r>
              <a:rPr lang="en-US" altLang="zh-CN" dirty="0"/>
              <a:t>SQLCODE</a:t>
            </a:r>
            <a:r>
              <a:rPr lang="zh-CN" altLang="en-US" dirty="0"/>
              <a:t>的值，以了解该</a:t>
            </a:r>
            <a:r>
              <a:rPr lang="en-US" altLang="zh-CN" dirty="0"/>
              <a:t>SQL</a:t>
            </a:r>
            <a:r>
              <a:rPr lang="zh-CN" altLang="en-US" dirty="0"/>
              <a:t>语句执行情况并做相应处理</a:t>
            </a:r>
          </a:p>
        </p:txBody>
      </p:sp>
      <p:sp>
        <p:nvSpPr>
          <p:cNvPr id="2" name="灯片编号占位符 1">
            <a:extLst>
              <a:ext uri="{FF2B5EF4-FFF2-40B4-BE49-F238E27FC236}">
                <a16:creationId xmlns:a16="http://schemas.microsoft.com/office/drawing/2014/main" id="{AB39A211-0642-484B-BA27-E895BCB6014E}"/>
              </a:ext>
            </a:extLst>
          </p:cNvPr>
          <p:cNvSpPr>
            <a:spLocks noGrp="1"/>
          </p:cNvSpPr>
          <p:nvPr>
            <p:ph type="sldNum" sz="quarter" idx="12"/>
          </p:nvPr>
        </p:nvSpPr>
        <p:spPr/>
        <p:txBody>
          <a:bodyPr/>
          <a:lstStyle/>
          <a:p>
            <a:fld id="{47C9E101-E51D-431E-84FA-C029B8655B60}" type="slidenum">
              <a:rPr lang="zh-CN" altLang="en-US" smtClean="0"/>
              <a:pPr/>
              <a:t>7</a:t>
            </a:fld>
            <a:endParaRPr lang="zh-CN" altLang="en-US" dirty="0"/>
          </a:p>
        </p:txBody>
      </p:sp>
    </p:spTree>
    <p:extLst>
      <p:ext uri="{BB962C8B-B14F-4D97-AF65-F5344CB8AC3E}">
        <p14:creationId xmlns:p14="http://schemas.microsoft.com/office/powerpoint/2010/main" val="2001476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82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82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782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827">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7827">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7827">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17827">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17827">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17827">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17827">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17827">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17827">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17827">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898" name="Rectangle 2"/>
          <p:cNvSpPr>
            <a:spLocks noGrp="1" noChangeArrowheads="1"/>
          </p:cNvSpPr>
          <p:nvPr>
            <p:ph type="title"/>
          </p:nvPr>
        </p:nvSpPr>
        <p:spPr/>
        <p:txBody>
          <a:bodyPr/>
          <a:lstStyle/>
          <a:p>
            <a:r>
              <a:rPr lang="en-US" altLang="zh-CN" dirty="0"/>
              <a:t>2</a:t>
            </a:r>
            <a:r>
              <a:rPr lang="zh-CN" altLang="en-US" dirty="0"/>
              <a:t>、主变量 </a:t>
            </a:r>
          </a:p>
        </p:txBody>
      </p:sp>
      <p:sp>
        <p:nvSpPr>
          <p:cNvPr id="720899" name="Rectangle 3"/>
          <p:cNvSpPr>
            <a:spLocks noGrp="1" noChangeArrowheads="1"/>
          </p:cNvSpPr>
          <p:nvPr>
            <p:ph idx="1"/>
          </p:nvPr>
        </p:nvSpPr>
        <p:spPr/>
        <p:txBody>
          <a:bodyPr>
            <a:normAutofit/>
          </a:bodyPr>
          <a:lstStyle/>
          <a:p>
            <a:r>
              <a:rPr lang="zh-CN" altLang="en-US" dirty="0">
                <a:solidFill>
                  <a:srgbClr val="C00000"/>
                </a:solidFill>
              </a:rPr>
              <a:t>主变量（</a:t>
            </a:r>
            <a:r>
              <a:rPr lang="en-US" altLang="zh-CN" dirty="0">
                <a:solidFill>
                  <a:srgbClr val="C00000"/>
                </a:solidFill>
              </a:rPr>
              <a:t>Host Variable</a:t>
            </a:r>
            <a:r>
              <a:rPr lang="zh-CN" altLang="en-US" dirty="0">
                <a:solidFill>
                  <a:srgbClr val="C00000"/>
                </a:solidFill>
              </a:rPr>
              <a:t>）</a:t>
            </a:r>
          </a:p>
          <a:p>
            <a:pPr lvl="1"/>
            <a:r>
              <a:rPr lang="zh-CN" altLang="en-US" dirty="0"/>
              <a:t>在</a:t>
            </a:r>
            <a:r>
              <a:rPr lang="en-US" altLang="zh-CN" dirty="0"/>
              <a:t>SQL</a:t>
            </a:r>
            <a:r>
              <a:rPr lang="zh-CN" altLang="en-US" dirty="0"/>
              <a:t>语句中使用的主语言程序变量简称为</a:t>
            </a:r>
            <a:r>
              <a:rPr lang="zh-CN" altLang="en-US" dirty="0">
                <a:solidFill>
                  <a:srgbClr val="C00000"/>
                </a:solidFill>
              </a:rPr>
              <a:t>主变量</a:t>
            </a:r>
            <a:endParaRPr lang="en-US" altLang="zh-CN" dirty="0">
              <a:solidFill>
                <a:srgbClr val="C00000"/>
              </a:solidFill>
            </a:endParaRPr>
          </a:p>
          <a:p>
            <a:pPr lvl="1"/>
            <a:r>
              <a:rPr lang="zh-CN" altLang="en-US" dirty="0"/>
              <a:t>主变量的类型</a:t>
            </a:r>
          </a:p>
          <a:p>
            <a:pPr lvl="2"/>
            <a:r>
              <a:rPr lang="zh-CN" altLang="en-US" dirty="0">
                <a:solidFill>
                  <a:srgbClr val="C00000"/>
                </a:solidFill>
              </a:rPr>
              <a:t>输入主变量：</a:t>
            </a:r>
            <a:r>
              <a:rPr lang="zh-CN" altLang="en-US" dirty="0"/>
              <a:t>由应用程序对其赋值， </a:t>
            </a:r>
            <a:r>
              <a:rPr lang="en-US" altLang="zh-CN" dirty="0"/>
              <a:t>SQL</a:t>
            </a:r>
            <a:r>
              <a:rPr lang="zh-CN" altLang="en-US" dirty="0"/>
              <a:t>语句引用</a:t>
            </a:r>
          </a:p>
          <a:p>
            <a:pPr lvl="2"/>
            <a:r>
              <a:rPr lang="zh-CN" altLang="en-US" dirty="0">
                <a:solidFill>
                  <a:srgbClr val="C00000"/>
                </a:solidFill>
              </a:rPr>
              <a:t>输出主变量：</a:t>
            </a:r>
            <a:r>
              <a:rPr lang="zh-CN" altLang="en-US" dirty="0"/>
              <a:t>由</a:t>
            </a:r>
            <a:r>
              <a:rPr lang="en-US" altLang="zh-CN" dirty="0"/>
              <a:t>SQL</a:t>
            </a:r>
            <a:r>
              <a:rPr lang="zh-CN" altLang="en-US" dirty="0"/>
              <a:t>语句对其赋值或设置状态信息，返回给应用程序</a:t>
            </a:r>
            <a:endParaRPr lang="en-US" altLang="zh-CN" dirty="0"/>
          </a:p>
          <a:p>
            <a:pPr lvl="2"/>
            <a:r>
              <a:rPr lang="zh-CN" altLang="en-US" dirty="0"/>
              <a:t>一个主变量有可能既是输入主变量又是输出主变量</a:t>
            </a:r>
            <a:endParaRPr lang="en-US" altLang="zh-CN" dirty="0"/>
          </a:p>
          <a:p>
            <a:endParaRPr lang="en-US" altLang="zh-CN" dirty="0"/>
          </a:p>
          <a:p>
            <a:r>
              <a:rPr lang="zh-CN" altLang="en-US" dirty="0">
                <a:solidFill>
                  <a:srgbClr val="C00000"/>
                </a:solidFill>
              </a:rPr>
              <a:t>指示变量（</a:t>
            </a:r>
            <a:r>
              <a:rPr lang="en-US" altLang="zh-CN" dirty="0">
                <a:solidFill>
                  <a:srgbClr val="C00000"/>
                </a:solidFill>
              </a:rPr>
              <a:t>Indicator Variable</a:t>
            </a:r>
            <a:r>
              <a:rPr lang="zh-CN" altLang="en-US" dirty="0">
                <a:solidFill>
                  <a:srgbClr val="C00000"/>
                </a:solidFill>
              </a:rPr>
              <a:t>）</a:t>
            </a:r>
          </a:p>
          <a:p>
            <a:pPr lvl="1"/>
            <a:r>
              <a:rPr lang="zh-CN" altLang="en-US" dirty="0"/>
              <a:t>是一个整型变量，用来“指示”所指主变量的值或条件</a:t>
            </a:r>
          </a:p>
          <a:p>
            <a:pPr lvl="1"/>
            <a:r>
              <a:rPr lang="zh-CN" altLang="en-US" dirty="0"/>
              <a:t>可以指示输入主变量是否为空值，检测输出变量是否为空值，值是否被截断</a:t>
            </a:r>
          </a:p>
          <a:p>
            <a:pPr marL="0" indent="0">
              <a:buNone/>
            </a:pPr>
            <a:endParaRPr lang="en-US" altLang="zh-CN" dirty="0"/>
          </a:p>
        </p:txBody>
      </p:sp>
      <p:sp>
        <p:nvSpPr>
          <p:cNvPr id="2" name="灯片编号占位符 1">
            <a:extLst>
              <a:ext uri="{FF2B5EF4-FFF2-40B4-BE49-F238E27FC236}">
                <a16:creationId xmlns:a16="http://schemas.microsoft.com/office/drawing/2014/main" id="{BFFD5FCB-F44C-454D-97B6-29E04F20ED84}"/>
              </a:ext>
            </a:extLst>
          </p:cNvPr>
          <p:cNvSpPr>
            <a:spLocks noGrp="1"/>
          </p:cNvSpPr>
          <p:nvPr>
            <p:ph type="sldNum" sz="quarter" idx="12"/>
          </p:nvPr>
        </p:nvSpPr>
        <p:spPr/>
        <p:txBody>
          <a:bodyPr/>
          <a:lstStyle/>
          <a:p>
            <a:fld id="{47C9E101-E51D-431E-84FA-C029B8655B60}" type="slidenum">
              <a:rPr lang="zh-CN" altLang="en-US" smtClean="0"/>
              <a:pPr/>
              <a:t>8</a:t>
            </a:fld>
            <a:endParaRPr lang="zh-CN" altLang="en-US" dirty="0"/>
          </a:p>
        </p:txBody>
      </p:sp>
    </p:spTree>
    <p:extLst>
      <p:ext uri="{BB962C8B-B14F-4D97-AF65-F5344CB8AC3E}">
        <p14:creationId xmlns:p14="http://schemas.microsoft.com/office/powerpoint/2010/main" val="4119417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0899">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20899">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2089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994" name="Rectangle 2"/>
          <p:cNvSpPr>
            <a:spLocks noGrp="1" noChangeArrowheads="1"/>
          </p:cNvSpPr>
          <p:nvPr>
            <p:ph type="title"/>
          </p:nvPr>
        </p:nvSpPr>
        <p:spPr/>
        <p:txBody>
          <a:bodyPr/>
          <a:lstStyle/>
          <a:p>
            <a:r>
              <a:rPr lang="zh-CN" altLang="en-US"/>
              <a:t>主变量（续） </a:t>
            </a:r>
          </a:p>
        </p:txBody>
      </p:sp>
      <p:sp>
        <p:nvSpPr>
          <p:cNvPr id="724995" name="Rectangle 3"/>
          <p:cNvSpPr>
            <a:spLocks noGrp="1" noChangeArrowheads="1"/>
          </p:cNvSpPr>
          <p:nvPr>
            <p:ph idx="1"/>
          </p:nvPr>
        </p:nvSpPr>
        <p:spPr/>
        <p:txBody>
          <a:bodyPr/>
          <a:lstStyle/>
          <a:p>
            <a:r>
              <a:rPr lang="zh-CN" altLang="en-US" dirty="0"/>
              <a:t>在</a:t>
            </a:r>
            <a:r>
              <a:rPr lang="en-US" altLang="zh-CN" dirty="0"/>
              <a:t>SQL</a:t>
            </a:r>
            <a:r>
              <a:rPr lang="zh-CN" altLang="en-US" dirty="0"/>
              <a:t>语句中使用主变量和指示变量的方法</a:t>
            </a:r>
          </a:p>
          <a:p>
            <a:pPr marL="342900" lvl="1" indent="0">
              <a:buNone/>
            </a:pPr>
            <a:r>
              <a:rPr lang="en-US" altLang="zh-CN" dirty="0"/>
              <a:t>1) </a:t>
            </a:r>
            <a:r>
              <a:rPr lang="zh-CN" altLang="en-US" dirty="0"/>
              <a:t>说明主变量和指示变量</a:t>
            </a:r>
          </a:p>
          <a:p>
            <a:pPr marL="685800" lvl="2" indent="0">
              <a:buNone/>
            </a:pPr>
            <a:r>
              <a:rPr lang="en-US" altLang="zh-CN" dirty="0">
                <a:solidFill>
                  <a:srgbClr val="C00000"/>
                </a:solidFill>
              </a:rPr>
              <a:t>BEGIN DECLARE SECTION</a:t>
            </a:r>
          </a:p>
          <a:p>
            <a:pPr marL="685800" lvl="2" indent="0">
              <a:buNone/>
            </a:pPr>
            <a:r>
              <a:rPr lang="en-US" altLang="zh-CN" dirty="0"/>
              <a:t>	.........     (</a:t>
            </a:r>
            <a:r>
              <a:rPr lang="zh-CN" altLang="en-US" dirty="0"/>
              <a:t>说明主变量和指示变量</a:t>
            </a:r>
            <a:r>
              <a:rPr lang="en-US" altLang="zh-CN" dirty="0"/>
              <a:t>)</a:t>
            </a:r>
          </a:p>
          <a:p>
            <a:pPr marL="685800" lvl="2" indent="0">
              <a:buNone/>
            </a:pPr>
            <a:r>
              <a:rPr lang="en-US" altLang="zh-CN" dirty="0">
                <a:solidFill>
                  <a:srgbClr val="C00000"/>
                </a:solidFill>
              </a:rPr>
              <a:t>END DECLARE SECTION</a:t>
            </a:r>
          </a:p>
          <a:p>
            <a:pPr marL="342900" lvl="1" indent="0">
              <a:buNone/>
            </a:pPr>
            <a:r>
              <a:rPr lang="en-US" altLang="zh-CN" dirty="0"/>
              <a:t>2) </a:t>
            </a:r>
            <a:r>
              <a:rPr lang="zh-CN" altLang="en-US" dirty="0"/>
              <a:t>使用主变量</a:t>
            </a:r>
          </a:p>
          <a:p>
            <a:pPr lvl="2"/>
            <a:r>
              <a:rPr lang="zh-CN" altLang="en-US" dirty="0"/>
              <a:t>说明之后的主变量可以在</a:t>
            </a:r>
            <a:r>
              <a:rPr lang="en-US" altLang="zh-CN" dirty="0"/>
              <a:t>SQL</a:t>
            </a:r>
            <a:r>
              <a:rPr lang="zh-CN" altLang="en-US" dirty="0"/>
              <a:t>语句中任何一个能够使用表达式的地方出现</a:t>
            </a:r>
          </a:p>
          <a:p>
            <a:pPr lvl="2"/>
            <a:r>
              <a:rPr lang="zh-CN" altLang="en-US" dirty="0"/>
              <a:t>为了与数据库对象名（表名、视图名、列名等）区别，</a:t>
            </a:r>
            <a:r>
              <a:rPr lang="en-US" altLang="zh-CN" dirty="0"/>
              <a:t>SQL</a:t>
            </a:r>
            <a:r>
              <a:rPr lang="zh-CN" altLang="en-US" dirty="0"/>
              <a:t>语句中的主变量名前要加</a:t>
            </a:r>
            <a:r>
              <a:rPr lang="zh-CN" altLang="en-US" dirty="0">
                <a:solidFill>
                  <a:srgbClr val="C00000"/>
                </a:solidFill>
              </a:rPr>
              <a:t>冒号（</a:t>
            </a:r>
            <a:r>
              <a:rPr lang="en-US" altLang="zh-CN" dirty="0">
                <a:solidFill>
                  <a:srgbClr val="C00000"/>
                </a:solidFill>
              </a:rPr>
              <a:t>:</a:t>
            </a:r>
            <a:r>
              <a:rPr lang="zh-CN" altLang="en-US" dirty="0">
                <a:solidFill>
                  <a:srgbClr val="C00000"/>
                </a:solidFill>
              </a:rPr>
              <a:t>）</a:t>
            </a:r>
            <a:r>
              <a:rPr lang="zh-CN" altLang="en-US" dirty="0"/>
              <a:t>作为标志</a:t>
            </a:r>
          </a:p>
          <a:p>
            <a:pPr marL="342900" lvl="1" indent="0">
              <a:buNone/>
            </a:pPr>
            <a:r>
              <a:rPr lang="en-US" altLang="zh-CN" dirty="0"/>
              <a:t>3) </a:t>
            </a:r>
            <a:r>
              <a:rPr lang="zh-CN" altLang="en-US" dirty="0"/>
              <a:t>使用指示变量</a:t>
            </a:r>
          </a:p>
          <a:p>
            <a:pPr lvl="2"/>
            <a:r>
              <a:rPr lang="zh-CN" altLang="en-US" dirty="0"/>
              <a:t> 指示变量前也必须加冒号标志， 必须紧跟在所指主变量之后</a:t>
            </a:r>
            <a:endParaRPr lang="en-US" altLang="zh-CN" dirty="0"/>
          </a:p>
          <a:p>
            <a:pPr lvl="2"/>
            <a:endParaRPr lang="en-US" altLang="zh-CN" dirty="0"/>
          </a:p>
        </p:txBody>
      </p:sp>
      <p:sp>
        <p:nvSpPr>
          <p:cNvPr id="2" name="灯片编号占位符 1">
            <a:extLst>
              <a:ext uri="{FF2B5EF4-FFF2-40B4-BE49-F238E27FC236}">
                <a16:creationId xmlns:a16="http://schemas.microsoft.com/office/drawing/2014/main" id="{AD21FC95-E8DF-4B4F-909F-EA4DAE0738F1}"/>
              </a:ext>
            </a:extLst>
          </p:cNvPr>
          <p:cNvSpPr>
            <a:spLocks noGrp="1"/>
          </p:cNvSpPr>
          <p:nvPr>
            <p:ph type="sldNum" sz="quarter" idx="12"/>
          </p:nvPr>
        </p:nvSpPr>
        <p:spPr/>
        <p:txBody>
          <a:bodyPr/>
          <a:lstStyle/>
          <a:p>
            <a:fld id="{47C9E101-E51D-431E-84FA-C029B8655B60}" type="slidenum">
              <a:rPr lang="zh-CN" altLang="en-US" smtClean="0"/>
              <a:pPr/>
              <a:t>9</a:t>
            </a:fld>
            <a:endParaRPr lang="zh-CN" altLang="en-US" dirty="0"/>
          </a:p>
        </p:txBody>
      </p:sp>
    </p:spTree>
    <p:extLst>
      <p:ext uri="{BB962C8B-B14F-4D97-AF65-F5344CB8AC3E}">
        <p14:creationId xmlns:p14="http://schemas.microsoft.com/office/powerpoint/2010/main" val="3589205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90" name="Rectangle 2"/>
          <p:cNvSpPr>
            <a:spLocks noGrp="1" noChangeArrowheads="1"/>
          </p:cNvSpPr>
          <p:nvPr>
            <p:ph type="title"/>
          </p:nvPr>
        </p:nvSpPr>
        <p:spPr/>
        <p:txBody>
          <a:bodyPr/>
          <a:lstStyle/>
          <a:p>
            <a:r>
              <a:rPr lang="en-US" altLang="zh-CN" dirty="0"/>
              <a:t>3</a:t>
            </a:r>
            <a:r>
              <a:rPr lang="zh-CN" altLang="en-US" dirty="0"/>
              <a:t>、游标（</a:t>
            </a:r>
            <a:r>
              <a:rPr lang="en-US" altLang="zh-CN" dirty="0"/>
              <a:t>cursor</a:t>
            </a:r>
            <a:r>
              <a:rPr lang="zh-CN" altLang="en-US" dirty="0"/>
              <a:t>）</a:t>
            </a:r>
          </a:p>
        </p:txBody>
      </p:sp>
      <p:sp>
        <p:nvSpPr>
          <p:cNvPr id="729091" name="Rectangle 3"/>
          <p:cNvSpPr>
            <a:spLocks noGrp="1" noChangeArrowheads="1"/>
          </p:cNvSpPr>
          <p:nvPr>
            <p:ph idx="1"/>
          </p:nvPr>
        </p:nvSpPr>
        <p:spPr/>
        <p:txBody>
          <a:bodyPr/>
          <a:lstStyle/>
          <a:p>
            <a:r>
              <a:rPr lang="zh-CN" altLang="en-US" dirty="0">
                <a:solidFill>
                  <a:srgbClr val="C00000"/>
                </a:solidFill>
              </a:rPr>
              <a:t>游标</a:t>
            </a:r>
          </a:p>
          <a:p>
            <a:pPr lvl="1"/>
            <a:r>
              <a:rPr lang="zh-CN" altLang="en-US" dirty="0"/>
              <a:t>游标是系统为用户开设的一个数据缓冲区，存放</a:t>
            </a:r>
            <a:r>
              <a:rPr lang="en-US" altLang="zh-CN" dirty="0"/>
              <a:t>SQL</a:t>
            </a:r>
            <a:r>
              <a:rPr lang="zh-CN" altLang="en-US" dirty="0"/>
              <a:t>语句的执行结果</a:t>
            </a:r>
          </a:p>
          <a:p>
            <a:pPr lvl="1"/>
            <a:r>
              <a:rPr lang="zh-CN" altLang="en-US" dirty="0"/>
              <a:t>每个游标区都有一个名字</a:t>
            </a:r>
          </a:p>
          <a:p>
            <a:pPr lvl="1"/>
            <a:r>
              <a:rPr lang="zh-CN" altLang="en-US" dirty="0"/>
              <a:t>用户可以用</a:t>
            </a:r>
            <a:r>
              <a:rPr lang="en-US" altLang="zh-CN" dirty="0"/>
              <a:t>SQL</a:t>
            </a:r>
            <a:r>
              <a:rPr lang="zh-CN" altLang="en-US" dirty="0"/>
              <a:t>语句逐一从游标中获取记录，并赋给主变量，交由主语言进一步处理</a:t>
            </a:r>
            <a:endParaRPr lang="en-US" altLang="zh-CN" dirty="0"/>
          </a:p>
          <a:p>
            <a:pPr lvl="1"/>
            <a:r>
              <a:rPr lang="zh-CN" altLang="en-US" dirty="0"/>
              <a:t>每次通过</a:t>
            </a:r>
            <a:r>
              <a:rPr lang="en-US" altLang="zh-CN" dirty="0"/>
              <a:t>open</a:t>
            </a:r>
            <a:r>
              <a:rPr lang="zh-CN" altLang="en-US" dirty="0"/>
              <a:t>语句打开游标都指向查询结果集中的第一条记录</a:t>
            </a:r>
          </a:p>
        </p:txBody>
      </p:sp>
      <p:sp>
        <p:nvSpPr>
          <p:cNvPr id="2" name="灯片编号占位符 1">
            <a:extLst>
              <a:ext uri="{FF2B5EF4-FFF2-40B4-BE49-F238E27FC236}">
                <a16:creationId xmlns:a16="http://schemas.microsoft.com/office/drawing/2014/main" id="{CE5B06E8-B8EC-45F1-9A2A-D0774699CBD2}"/>
              </a:ext>
            </a:extLst>
          </p:cNvPr>
          <p:cNvSpPr>
            <a:spLocks noGrp="1"/>
          </p:cNvSpPr>
          <p:nvPr>
            <p:ph type="sldNum" sz="quarter" idx="12"/>
          </p:nvPr>
        </p:nvSpPr>
        <p:spPr/>
        <p:txBody>
          <a:bodyPr/>
          <a:lstStyle/>
          <a:p>
            <a:fld id="{47C9E101-E51D-431E-84FA-C029B8655B60}" type="slidenum">
              <a:rPr lang="zh-CN" altLang="en-US" smtClean="0"/>
              <a:pPr/>
              <a:t>10</a:t>
            </a:fld>
            <a:endParaRPr lang="zh-CN" altLang="en-US" dirty="0"/>
          </a:p>
        </p:txBody>
      </p:sp>
    </p:spTree>
    <p:extLst>
      <p:ext uri="{BB962C8B-B14F-4D97-AF65-F5344CB8AC3E}">
        <p14:creationId xmlns:p14="http://schemas.microsoft.com/office/powerpoint/2010/main" val="1500949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562" name="Rectangle 2"/>
          <p:cNvSpPr>
            <a:spLocks noGrp="1" noChangeArrowheads="1"/>
          </p:cNvSpPr>
          <p:nvPr>
            <p:ph type="title"/>
          </p:nvPr>
        </p:nvSpPr>
        <p:spPr/>
        <p:txBody>
          <a:bodyPr/>
          <a:lstStyle/>
          <a:p>
            <a:r>
              <a:rPr lang="en-US" altLang="zh-CN" dirty="0"/>
              <a:t>4</a:t>
            </a:r>
            <a:r>
              <a:rPr lang="zh-CN" altLang="en-US" dirty="0"/>
              <a:t>、建立和关闭数据库连接</a:t>
            </a:r>
          </a:p>
        </p:txBody>
      </p:sp>
      <p:sp>
        <p:nvSpPr>
          <p:cNvPr id="834563" name="Rectangle 3"/>
          <p:cNvSpPr>
            <a:spLocks noGrp="1" noChangeArrowheads="1"/>
          </p:cNvSpPr>
          <p:nvPr>
            <p:ph idx="1"/>
          </p:nvPr>
        </p:nvSpPr>
        <p:spPr/>
        <p:txBody>
          <a:bodyPr>
            <a:normAutofit/>
          </a:bodyPr>
          <a:lstStyle/>
          <a:p>
            <a:r>
              <a:rPr lang="zh-CN" altLang="en-US" dirty="0"/>
              <a:t>建立数据库连接 </a:t>
            </a:r>
          </a:p>
          <a:p>
            <a:pPr marL="342900" lvl="1" indent="0">
              <a:buNone/>
            </a:pPr>
            <a:r>
              <a:rPr lang="en-US" altLang="zh-CN" dirty="0">
                <a:solidFill>
                  <a:srgbClr val="C00000"/>
                </a:solidFill>
              </a:rPr>
              <a:t>EXEC SQL CONNECT TO </a:t>
            </a:r>
            <a:r>
              <a:rPr lang="en-US" altLang="zh-CN" dirty="0"/>
              <a:t>target [</a:t>
            </a:r>
            <a:r>
              <a:rPr lang="en-US" altLang="zh-CN" dirty="0">
                <a:solidFill>
                  <a:srgbClr val="C00000"/>
                </a:solidFill>
              </a:rPr>
              <a:t>AS </a:t>
            </a:r>
            <a:r>
              <a:rPr lang="en-US" altLang="zh-CN" dirty="0"/>
              <a:t>connection-name] [</a:t>
            </a:r>
            <a:r>
              <a:rPr lang="en-US" altLang="zh-CN" dirty="0">
                <a:solidFill>
                  <a:srgbClr val="C00000"/>
                </a:solidFill>
              </a:rPr>
              <a:t>USER</a:t>
            </a:r>
            <a:r>
              <a:rPr lang="en-US" altLang="zh-CN" dirty="0"/>
              <a:t> user-name]; </a:t>
            </a:r>
          </a:p>
          <a:p>
            <a:pPr lvl="1"/>
            <a:r>
              <a:rPr lang="en-US" altLang="zh-CN" dirty="0">
                <a:solidFill>
                  <a:srgbClr val="C00000"/>
                </a:solidFill>
              </a:rPr>
              <a:t>target</a:t>
            </a:r>
            <a:r>
              <a:rPr lang="zh-CN" altLang="en-US" dirty="0"/>
              <a:t>是要连接的数据库服务器：</a:t>
            </a:r>
          </a:p>
          <a:p>
            <a:pPr lvl="2"/>
            <a:r>
              <a:rPr lang="zh-CN" altLang="en-US" dirty="0"/>
              <a:t>常见的服务器标识串，如</a:t>
            </a:r>
            <a:r>
              <a:rPr lang="en-US" altLang="zh-CN" dirty="0"/>
              <a:t>&lt;</a:t>
            </a:r>
            <a:r>
              <a:rPr lang="en-US" altLang="zh-CN" dirty="0" err="1"/>
              <a:t>dbname</a:t>
            </a:r>
            <a:r>
              <a:rPr lang="en-US" altLang="zh-CN" dirty="0"/>
              <a:t>&gt;@&lt;hostname&gt;:&lt;port&gt; </a:t>
            </a:r>
          </a:p>
          <a:p>
            <a:pPr lvl="2"/>
            <a:r>
              <a:rPr lang="zh-CN" altLang="en-US" dirty="0"/>
              <a:t>包含服务器标识的</a:t>
            </a:r>
            <a:r>
              <a:rPr lang="en-US" altLang="zh-CN" dirty="0"/>
              <a:t>SQL</a:t>
            </a:r>
            <a:r>
              <a:rPr lang="zh-CN" altLang="en-US" dirty="0"/>
              <a:t>串常量 </a:t>
            </a:r>
          </a:p>
          <a:p>
            <a:pPr lvl="2"/>
            <a:r>
              <a:rPr lang="en-US" altLang="zh-CN" dirty="0"/>
              <a:t>DEFAULT  </a:t>
            </a:r>
          </a:p>
          <a:p>
            <a:pPr lvl="1"/>
            <a:r>
              <a:rPr lang="en-US" altLang="zh-CN" dirty="0">
                <a:solidFill>
                  <a:srgbClr val="C00000"/>
                </a:solidFill>
              </a:rPr>
              <a:t>connect-name</a:t>
            </a:r>
            <a:r>
              <a:rPr lang="zh-CN" altLang="en-US" dirty="0"/>
              <a:t>是可选的连接名，连接必须是一个有效的标识符 </a:t>
            </a:r>
          </a:p>
          <a:p>
            <a:pPr lvl="1"/>
            <a:r>
              <a:rPr lang="zh-CN" altLang="en-US" dirty="0"/>
              <a:t>在整个程序内只有一个连接时可以不指定连接名</a:t>
            </a:r>
          </a:p>
          <a:p>
            <a:r>
              <a:rPr lang="zh-CN" altLang="en-US" dirty="0"/>
              <a:t>关闭数据库连接 </a:t>
            </a:r>
          </a:p>
          <a:p>
            <a:pPr marL="342900" lvl="1" indent="0">
              <a:buNone/>
            </a:pPr>
            <a:r>
              <a:rPr lang="en-US" altLang="zh-CN" dirty="0">
                <a:solidFill>
                  <a:srgbClr val="C00000"/>
                </a:solidFill>
              </a:rPr>
              <a:t>EXEC SQL DISCONNECT </a:t>
            </a:r>
            <a:r>
              <a:rPr lang="en-US" altLang="zh-CN" dirty="0"/>
              <a:t>[connection];</a:t>
            </a:r>
          </a:p>
          <a:p>
            <a:pPr lvl="1"/>
            <a:r>
              <a:rPr lang="zh-CN" altLang="en-US" dirty="0"/>
              <a:t>程序运行过程中可以修改当前连接 ：</a:t>
            </a:r>
          </a:p>
          <a:p>
            <a:pPr marL="342900" lvl="1" indent="0">
              <a:buNone/>
            </a:pPr>
            <a:r>
              <a:rPr lang="en-US" altLang="zh-CN" dirty="0">
                <a:solidFill>
                  <a:srgbClr val="C00000"/>
                </a:solidFill>
              </a:rPr>
              <a:t>EXEC SQL SET CONNECTION </a:t>
            </a:r>
            <a:r>
              <a:rPr lang="en-US" altLang="zh-CN" dirty="0"/>
              <a:t>connection-name </a:t>
            </a:r>
            <a:r>
              <a:rPr lang="en-US" altLang="zh-CN" dirty="0">
                <a:solidFill>
                  <a:srgbClr val="C00000"/>
                </a:solidFill>
              </a:rPr>
              <a:t>| DEFAULT</a:t>
            </a:r>
            <a:r>
              <a:rPr lang="en-US" altLang="zh-CN" dirty="0"/>
              <a:t>;</a:t>
            </a:r>
          </a:p>
          <a:p>
            <a:r>
              <a:rPr lang="en-US" altLang="zh-CN" dirty="0"/>
              <a:t>[</a:t>
            </a:r>
            <a:r>
              <a:rPr lang="zh-CN" altLang="en-US" dirty="0"/>
              <a:t>例</a:t>
            </a:r>
            <a:r>
              <a:rPr lang="en-US" altLang="zh-CN" dirty="0"/>
              <a:t>8.1] </a:t>
            </a:r>
            <a:r>
              <a:rPr lang="zh-CN" altLang="en-US" dirty="0"/>
              <a:t>依次检查某个系的学生记录，交互式更新某些学生年龄。</a:t>
            </a:r>
            <a:endParaRPr lang="en-US" altLang="zh-CN" dirty="0"/>
          </a:p>
        </p:txBody>
      </p:sp>
      <p:sp>
        <p:nvSpPr>
          <p:cNvPr id="2" name="灯片编号占位符 1">
            <a:extLst>
              <a:ext uri="{FF2B5EF4-FFF2-40B4-BE49-F238E27FC236}">
                <a16:creationId xmlns:a16="http://schemas.microsoft.com/office/drawing/2014/main" id="{731CF8CF-7D93-4C82-BFA4-074CE5E37118}"/>
              </a:ext>
            </a:extLst>
          </p:cNvPr>
          <p:cNvSpPr>
            <a:spLocks noGrp="1"/>
          </p:cNvSpPr>
          <p:nvPr>
            <p:ph type="sldNum" sz="quarter" idx="12"/>
          </p:nvPr>
        </p:nvSpPr>
        <p:spPr/>
        <p:txBody>
          <a:bodyPr/>
          <a:lstStyle/>
          <a:p>
            <a:fld id="{47C9E101-E51D-431E-84FA-C029B8655B60}" type="slidenum">
              <a:rPr lang="zh-CN" altLang="en-US" smtClean="0"/>
              <a:pPr/>
              <a:t>11</a:t>
            </a:fld>
            <a:endParaRPr lang="zh-CN" altLang="en-US" dirty="0"/>
          </a:p>
        </p:txBody>
      </p:sp>
    </p:spTree>
    <p:extLst>
      <p:ext uri="{BB962C8B-B14F-4D97-AF65-F5344CB8AC3E}">
        <p14:creationId xmlns:p14="http://schemas.microsoft.com/office/powerpoint/2010/main" val="1401813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456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2"/>
          <p:cNvSpPr>
            <a:spLocks noGrp="1" noChangeArrowheads="1"/>
          </p:cNvSpPr>
          <p:nvPr>
            <p:ph type="title"/>
          </p:nvPr>
        </p:nvSpPr>
        <p:spPr/>
        <p:txBody>
          <a:bodyPr/>
          <a:lstStyle/>
          <a:p>
            <a:r>
              <a:rPr lang="en-US" altLang="zh-CN" dirty="0"/>
              <a:t>8.2 </a:t>
            </a:r>
            <a:r>
              <a:rPr lang="zh-CN" altLang="en-US" dirty="0"/>
              <a:t>过程化</a:t>
            </a:r>
            <a:r>
              <a:rPr lang="en-US" altLang="zh-CN" dirty="0"/>
              <a:t>SQL</a:t>
            </a:r>
            <a:endParaRPr lang="zh-CN" altLang="en-US" dirty="0"/>
          </a:p>
        </p:txBody>
      </p:sp>
      <p:sp>
        <p:nvSpPr>
          <p:cNvPr id="866307" name="Rectangle 3"/>
          <p:cNvSpPr>
            <a:spLocks noGrp="1" noChangeArrowheads="1"/>
          </p:cNvSpPr>
          <p:nvPr>
            <p:ph idx="1"/>
          </p:nvPr>
        </p:nvSpPr>
        <p:spPr/>
        <p:txBody>
          <a:bodyPr/>
          <a:lstStyle/>
          <a:p>
            <a:pPr>
              <a:lnSpc>
                <a:spcPct val="120000"/>
              </a:lnSpc>
            </a:pPr>
            <a:r>
              <a:rPr lang="zh-CN" altLang="en-US" dirty="0"/>
              <a:t>基本的</a:t>
            </a:r>
            <a:r>
              <a:rPr lang="en-US" altLang="zh-CN" dirty="0"/>
              <a:t>SQL</a:t>
            </a:r>
            <a:r>
              <a:rPr lang="zh-CN" altLang="en-US" dirty="0"/>
              <a:t>是高度非过程化的语言，</a:t>
            </a:r>
            <a:r>
              <a:rPr lang="en-US" altLang="zh-CN" dirty="0"/>
              <a:t>ESQL</a:t>
            </a:r>
            <a:r>
              <a:rPr lang="zh-CN" altLang="en-US" dirty="0"/>
              <a:t>将</a:t>
            </a:r>
            <a:r>
              <a:rPr lang="en-US" altLang="zh-CN" dirty="0"/>
              <a:t>SQL</a:t>
            </a:r>
            <a:r>
              <a:rPr lang="zh-CN" altLang="en-US" dirty="0"/>
              <a:t>嵌入程序设计语言，借助高级语言的控制功能实现</a:t>
            </a:r>
            <a:r>
              <a:rPr lang="zh-CN" altLang="en-US" dirty="0">
                <a:solidFill>
                  <a:srgbClr val="C00000"/>
                </a:solidFill>
              </a:rPr>
              <a:t>过程化</a:t>
            </a:r>
            <a:r>
              <a:rPr lang="zh-CN" altLang="en-US" dirty="0"/>
              <a:t>。</a:t>
            </a:r>
          </a:p>
          <a:p>
            <a:pPr>
              <a:lnSpc>
                <a:spcPct val="120000"/>
              </a:lnSpc>
            </a:pPr>
            <a:r>
              <a:rPr lang="zh-CN" altLang="en-US" dirty="0"/>
              <a:t>过程化</a:t>
            </a:r>
            <a:r>
              <a:rPr lang="en-US" altLang="zh-CN" dirty="0"/>
              <a:t>SQL</a:t>
            </a:r>
            <a:r>
              <a:rPr lang="zh-CN" altLang="en-US" dirty="0"/>
              <a:t>（</a:t>
            </a:r>
            <a:r>
              <a:rPr lang="en-US" altLang="zh-CN" dirty="0"/>
              <a:t>Procedure Language/SQL</a:t>
            </a:r>
            <a:r>
              <a:rPr lang="zh-CN" altLang="en-US" dirty="0"/>
              <a:t>，</a:t>
            </a:r>
            <a:r>
              <a:rPr lang="en-US" altLang="zh-CN" dirty="0"/>
              <a:t>PL/SQL</a:t>
            </a:r>
            <a:r>
              <a:rPr lang="zh-CN" altLang="en-US" dirty="0"/>
              <a:t>）是编写数据库存储过程的一种过程语言，是</a:t>
            </a:r>
            <a:r>
              <a:rPr lang="en-US" altLang="zh-CN" dirty="0"/>
              <a:t>SQL</a:t>
            </a:r>
            <a:r>
              <a:rPr lang="zh-CN" altLang="en-US" dirty="0"/>
              <a:t>的过程化扩展，使其增加了过程化语句功能。</a:t>
            </a:r>
            <a:r>
              <a:rPr lang="en-US" altLang="zh-CN" dirty="0"/>
              <a:t>PL/SQL</a:t>
            </a:r>
            <a:r>
              <a:rPr lang="zh-CN" altLang="en-US" dirty="0"/>
              <a:t>程序的基本结构是</a:t>
            </a:r>
            <a:r>
              <a:rPr lang="zh-CN" altLang="en-US" dirty="0">
                <a:solidFill>
                  <a:srgbClr val="C00000"/>
                </a:solidFill>
              </a:rPr>
              <a:t>块</a:t>
            </a:r>
            <a:r>
              <a:rPr lang="zh-CN" altLang="en-US" dirty="0"/>
              <a:t>，块间可相互嵌套，每个块完成一个逻辑操作。</a:t>
            </a:r>
          </a:p>
        </p:txBody>
      </p:sp>
      <p:sp>
        <p:nvSpPr>
          <p:cNvPr id="2" name="灯片编号占位符 1">
            <a:extLst>
              <a:ext uri="{FF2B5EF4-FFF2-40B4-BE49-F238E27FC236}">
                <a16:creationId xmlns:a16="http://schemas.microsoft.com/office/drawing/2014/main" id="{7C7BE652-7E3C-488B-9744-CA8518BDECA7}"/>
              </a:ext>
            </a:extLst>
          </p:cNvPr>
          <p:cNvSpPr>
            <a:spLocks noGrp="1"/>
          </p:cNvSpPr>
          <p:nvPr>
            <p:ph type="sldNum" sz="quarter" idx="12"/>
          </p:nvPr>
        </p:nvSpPr>
        <p:spPr/>
        <p:txBody>
          <a:bodyPr/>
          <a:lstStyle/>
          <a:p>
            <a:fld id="{47C9E101-E51D-431E-84FA-C029B8655B60}" type="slidenum">
              <a:rPr lang="zh-CN" altLang="en-US" smtClean="0"/>
              <a:pPr/>
              <a:t>12</a:t>
            </a:fld>
            <a:endParaRPr lang="zh-CN" altLang="en-US" dirty="0"/>
          </a:p>
        </p:txBody>
      </p:sp>
    </p:spTree>
    <p:extLst>
      <p:ext uri="{BB962C8B-B14F-4D97-AF65-F5344CB8AC3E}">
        <p14:creationId xmlns:p14="http://schemas.microsoft.com/office/powerpoint/2010/main" val="3390767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8.2.1 </a:t>
            </a:r>
            <a:r>
              <a:rPr lang="zh-CN" altLang="en-US" dirty="0"/>
              <a:t>过程化</a:t>
            </a:r>
            <a:r>
              <a:rPr lang="en-US" altLang="zh-CN" dirty="0"/>
              <a:t>SQL</a:t>
            </a:r>
            <a:r>
              <a:rPr lang="zh-CN" altLang="en-US" dirty="0"/>
              <a:t>的块结构</a:t>
            </a:r>
          </a:p>
        </p:txBody>
      </p:sp>
      <p:sp>
        <p:nvSpPr>
          <p:cNvPr id="3" name="内容占位符 2"/>
          <p:cNvSpPr>
            <a:spLocks noGrp="1"/>
          </p:cNvSpPr>
          <p:nvPr>
            <p:ph idx="1"/>
          </p:nvPr>
        </p:nvSpPr>
        <p:spPr/>
        <p:txBody>
          <a:bodyPr/>
          <a:lstStyle/>
          <a:p>
            <a:r>
              <a:rPr lang="en-US" altLang="zh-CN" dirty="0"/>
              <a:t>1.</a:t>
            </a:r>
            <a:r>
              <a:rPr lang="zh-CN" altLang="en-US" dirty="0"/>
              <a:t>定义部分</a:t>
            </a:r>
          </a:p>
          <a:p>
            <a:pPr marL="0" indent="0">
              <a:buNone/>
            </a:pPr>
            <a:r>
              <a:rPr lang="zh-CN" altLang="en-US" dirty="0"/>
              <a:t>     </a:t>
            </a:r>
            <a:r>
              <a:rPr lang="en-US" altLang="zh-CN" dirty="0">
                <a:solidFill>
                  <a:srgbClr val="C00000"/>
                </a:solidFill>
              </a:rPr>
              <a:t>DECLARE</a:t>
            </a:r>
            <a:r>
              <a:rPr lang="en-US" altLang="zh-CN" dirty="0"/>
              <a:t>				</a:t>
            </a:r>
            <a:r>
              <a:rPr lang="en-US" altLang="zh-CN" dirty="0">
                <a:highlight>
                  <a:srgbClr val="FFFF00"/>
                </a:highlight>
              </a:rPr>
              <a:t>/*</a:t>
            </a:r>
            <a:r>
              <a:rPr lang="zh-CN" altLang="en-US" dirty="0">
                <a:highlight>
                  <a:srgbClr val="FFFF00"/>
                </a:highlight>
              </a:rPr>
              <a:t>定义的变量、常量等只能在该基本块中使用</a:t>
            </a:r>
            <a:endParaRPr lang="en-US" altLang="zh-CN" dirty="0">
              <a:highlight>
                <a:srgbClr val="FFFF00"/>
              </a:highlight>
            </a:endParaRPr>
          </a:p>
          <a:p>
            <a:pPr marL="0" indent="0">
              <a:buNone/>
            </a:pPr>
            <a:r>
              <a:rPr lang="zh-CN" altLang="en-US" dirty="0"/>
              <a:t>     变量、常量、游标、异常等   </a:t>
            </a:r>
            <a:r>
              <a:rPr lang="en-US" altLang="zh-CN" dirty="0"/>
              <a:t>	</a:t>
            </a:r>
            <a:r>
              <a:rPr lang="en-US" altLang="zh-CN" dirty="0">
                <a:highlight>
                  <a:srgbClr val="FFFF00"/>
                </a:highlight>
              </a:rPr>
              <a:t>/*</a:t>
            </a:r>
            <a:r>
              <a:rPr lang="zh-CN" altLang="en-US" dirty="0">
                <a:highlight>
                  <a:srgbClr val="FFFF00"/>
                </a:highlight>
              </a:rPr>
              <a:t>当基本块执行结束时，定义就不再存在</a:t>
            </a:r>
          </a:p>
          <a:p>
            <a:endParaRPr lang="en-US" altLang="zh-CN" dirty="0"/>
          </a:p>
          <a:p>
            <a:r>
              <a:rPr lang="en-US" altLang="zh-CN" dirty="0"/>
              <a:t>2.</a:t>
            </a:r>
            <a:r>
              <a:rPr lang="zh-CN" altLang="en-US" dirty="0"/>
              <a:t>执行部分</a:t>
            </a:r>
          </a:p>
          <a:p>
            <a:pPr marL="0" indent="0">
              <a:buNone/>
            </a:pPr>
            <a:r>
              <a:rPr lang="en-US" altLang="zh-CN" dirty="0"/>
              <a:t>     </a:t>
            </a:r>
            <a:r>
              <a:rPr lang="en-US" altLang="zh-CN" dirty="0">
                <a:solidFill>
                  <a:srgbClr val="C00000"/>
                </a:solidFill>
              </a:rPr>
              <a:t>BEGIN</a:t>
            </a:r>
          </a:p>
          <a:p>
            <a:pPr marL="0" indent="0">
              <a:buNone/>
            </a:pPr>
            <a:r>
              <a:rPr lang="en-US" altLang="zh-CN" dirty="0"/>
              <a:t>	   SQL</a:t>
            </a:r>
            <a:r>
              <a:rPr lang="zh-CN" altLang="en-US" dirty="0"/>
              <a:t>语句、</a:t>
            </a:r>
            <a:r>
              <a:rPr lang="en-US" altLang="zh-CN" dirty="0"/>
              <a:t>PL/SQL</a:t>
            </a:r>
            <a:r>
              <a:rPr lang="zh-CN" altLang="en-US" dirty="0"/>
              <a:t>的流程控制语句</a:t>
            </a:r>
            <a:endParaRPr lang="en-US" altLang="zh-CN" dirty="0"/>
          </a:p>
          <a:p>
            <a:pPr marL="0" indent="0">
              <a:buNone/>
            </a:pPr>
            <a:r>
              <a:rPr lang="en-US" altLang="zh-CN" dirty="0"/>
              <a:t>     </a:t>
            </a:r>
            <a:r>
              <a:rPr lang="en-US" altLang="zh-CN" dirty="0">
                <a:solidFill>
                  <a:srgbClr val="C00000"/>
                </a:solidFill>
              </a:rPr>
              <a:t>EXCEPTION	</a:t>
            </a:r>
            <a:r>
              <a:rPr lang="en-US" altLang="zh-CN" dirty="0"/>
              <a:t>			</a:t>
            </a:r>
            <a:r>
              <a:rPr lang="en-US" altLang="zh-CN" dirty="0">
                <a:highlight>
                  <a:srgbClr val="FFFF00"/>
                </a:highlight>
              </a:rPr>
              <a:t> /*</a:t>
            </a:r>
            <a:r>
              <a:rPr lang="zh-CN" altLang="en-US" dirty="0">
                <a:highlight>
                  <a:srgbClr val="FFFF00"/>
                </a:highlight>
              </a:rPr>
              <a:t>当遇到不能继续执行的情况称为异常</a:t>
            </a:r>
            <a:endParaRPr lang="en-US" altLang="zh-CN" dirty="0"/>
          </a:p>
          <a:p>
            <a:pPr marL="0" indent="0">
              <a:buNone/>
            </a:pPr>
            <a:r>
              <a:rPr lang="en-US" altLang="zh-CN" dirty="0"/>
              <a:t>            </a:t>
            </a:r>
            <a:r>
              <a:rPr lang="zh-CN" altLang="en-US" dirty="0"/>
              <a:t>异常处理部分        	</a:t>
            </a:r>
            <a:r>
              <a:rPr lang="en-US" altLang="zh-CN" dirty="0"/>
              <a:t>	</a:t>
            </a:r>
            <a:r>
              <a:rPr lang="en-US" altLang="zh-CN" dirty="0">
                <a:highlight>
                  <a:srgbClr val="FFFF00"/>
                </a:highlight>
              </a:rPr>
              <a:t> /*</a:t>
            </a:r>
            <a:r>
              <a:rPr lang="zh-CN" altLang="en-US" dirty="0">
                <a:highlight>
                  <a:srgbClr val="FFFF00"/>
                </a:highlight>
              </a:rPr>
              <a:t>出现异常时，采取措施来纠正错误或者报告</a:t>
            </a:r>
            <a:endParaRPr lang="en-US" altLang="zh-CN" dirty="0"/>
          </a:p>
          <a:p>
            <a:pPr marL="0" indent="0">
              <a:buNone/>
            </a:pPr>
            <a:r>
              <a:rPr lang="en-US" altLang="zh-CN" dirty="0"/>
              <a:t>     </a:t>
            </a:r>
            <a:r>
              <a:rPr lang="en-US" altLang="zh-CN" dirty="0">
                <a:solidFill>
                  <a:srgbClr val="C00000"/>
                </a:solidFill>
              </a:rPr>
              <a:t>END</a:t>
            </a:r>
            <a:r>
              <a:rPr lang="zh-CN" altLang="en-US" dirty="0"/>
              <a:t>；</a:t>
            </a:r>
          </a:p>
          <a:p>
            <a:endParaRPr lang="en-US" altLang="zh-CN" dirty="0"/>
          </a:p>
          <a:p>
            <a:endParaRPr lang="en-US" altLang="zh-CN" dirty="0"/>
          </a:p>
        </p:txBody>
      </p:sp>
      <p:sp>
        <p:nvSpPr>
          <p:cNvPr id="4" name="灯片编号占位符 3">
            <a:extLst>
              <a:ext uri="{FF2B5EF4-FFF2-40B4-BE49-F238E27FC236}">
                <a16:creationId xmlns:a16="http://schemas.microsoft.com/office/drawing/2014/main" id="{C4F59D3C-3226-46F4-A86C-1B2DD9F4BBDC}"/>
              </a:ext>
            </a:extLst>
          </p:cNvPr>
          <p:cNvSpPr>
            <a:spLocks noGrp="1"/>
          </p:cNvSpPr>
          <p:nvPr>
            <p:ph type="sldNum" sz="quarter" idx="12"/>
          </p:nvPr>
        </p:nvSpPr>
        <p:spPr/>
        <p:txBody>
          <a:bodyPr/>
          <a:lstStyle/>
          <a:p>
            <a:fld id="{47C9E101-E51D-431E-84FA-C029B8655B60}" type="slidenum">
              <a:rPr lang="zh-CN" altLang="en-US" smtClean="0"/>
              <a:pPr/>
              <a:t>13</a:t>
            </a:fld>
            <a:endParaRPr lang="zh-CN" altLang="en-US" dirty="0"/>
          </a:p>
        </p:txBody>
      </p:sp>
    </p:spTree>
    <p:extLst>
      <p:ext uri="{BB962C8B-B14F-4D97-AF65-F5344CB8AC3E}">
        <p14:creationId xmlns:p14="http://schemas.microsoft.com/office/powerpoint/2010/main" val="3107151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8.2.2 </a:t>
            </a:r>
            <a:r>
              <a:rPr lang="zh-CN" altLang="en-US" dirty="0"/>
              <a:t>变量和常量的定义</a:t>
            </a:r>
          </a:p>
        </p:txBody>
      </p:sp>
      <p:sp>
        <p:nvSpPr>
          <p:cNvPr id="3" name="内容占位符 2"/>
          <p:cNvSpPr>
            <a:spLocks noGrp="1"/>
          </p:cNvSpPr>
          <p:nvPr>
            <p:ph idx="1"/>
          </p:nvPr>
        </p:nvSpPr>
        <p:spPr/>
        <p:txBody>
          <a:bodyPr/>
          <a:lstStyle/>
          <a:p>
            <a:r>
              <a:rPr lang="en-US" altLang="zh-CN" dirty="0"/>
              <a:t>1. </a:t>
            </a:r>
            <a:r>
              <a:rPr lang="zh-CN" altLang="en-US" dirty="0"/>
              <a:t>变量定义</a:t>
            </a:r>
          </a:p>
          <a:p>
            <a:pPr marL="342900" lvl="1" indent="0">
              <a:buNone/>
            </a:pPr>
            <a:r>
              <a:rPr lang="zh-CN" altLang="en-US" dirty="0">
                <a:solidFill>
                  <a:srgbClr val="C00000"/>
                </a:solidFill>
              </a:rPr>
              <a:t>变量名 数据类型 </a:t>
            </a:r>
            <a:r>
              <a:rPr lang="en-US" altLang="zh-CN" dirty="0">
                <a:solidFill>
                  <a:srgbClr val="C00000"/>
                </a:solidFill>
              </a:rPr>
              <a:t>[[NOT NULL]:=</a:t>
            </a:r>
            <a:r>
              <a:rPr lang="zh-CN" altLang="en-US" dirty="0">
                <a:solidFill>
                  <a:srgbClr val="C00000"/>
                </a:solidFill>
              </a:rPr>
              <a:t>初值表达式</a:t>
            </a:r>
            <a:r>
              <a:rPr lang="en-US" altLang="zh-CN" dirty="0">
                <a:solidFill>
                  <a:srgbClr val="C00000"/>
                </a:solidFill>
              </a:rPr>
              <a:t>] </a:t>
            </a:r>
            <a:r>
              <a:rPr lang="zh-CN" altLang="en-US" dirty="0"/>
              <a:t>或 </a:t>
            </a:r>
            <a:r>
              <a:rPr lang="zh-CN" altLang="en-US" dirty="0">
                <a:solidFill>
                  <a:srgbClr val="C00000"/>
                </a:solidFill>
              </a:rPr>
              <a:t>变量名 数据类型 </a:t>
            </a:r>
            <a:r>
              <a:rPr lang="en-US" altLang="zh-CN" dirty="0">
                <a:solidFill>
                  <a:srgbClr val="C00000"/>
                </a:solidFill>
              </a:rPr>
              <a:t>[[NOT NULL] </a:t>
            </a:r>
            <a:r>
              <a:rPr lang="zh-CN" altLang="en-US" dirty="0">
                <a:solidFill>
                  <a:srgbClr val="C00000"/>
                </a:solidFill>
              </a:rPr>
              <a:t>初值表达式</a:t>
            </a:r>
            <a:r>
              <a:rPr lang="en-US" altLang="zh-CN" dirty="0">
                <a:solidFill>
                  <a:srgbClr val="C00000"/>
                </a:solidFill>
              </a:rPr>
              <a:t>]</a:t>
            </a:r>
          </a:p>
          <a:p>
            <a:endParaRPr lang="en-US" altLang="zh-CN" dirty="0"/>
          </a:p>
          <a:p>
            <a:r>
              <a:rPr lang="en-US" altLang="zh-CN" dirty="0"/>
              <a:t>2. </a:t>
            </a:r>
            <a:r>
              <a:rPr lang="zh-CN" altLang="en-US" dirty="0"/>
              <a:t>常量定义</a:t>
            </a:r>
          </a:p>
          <a:p>
            <a:pPr marL="342900" lvl="1" indent="0">
              <a:buNone/>
            </a:pPr>
            <a:r>
              <a:rPr lang="zh-CN" altLang="en-US" dirty="0">
                <a:solidFill>
                  <a:srgbClr val="C00000"/>
                </a:solidFill>
              </a:rPr>
              <a:t>常量名 数据类型 </a:t>
            </a:r>
            <a:r>
              <a:rPr lang="en-US" altLang="zh-CN" dirty="0">
                <a:solidFill>
                  <a:srgbClr val="C00000"/>
                </a:solidFill>
              </a:rPr>
              <a:t>CONSTANT :=</a:t>
            </a:r>
            <a:r>
              <a:rPr lang="zh-CN" altLang="en-US" dirty="0">
                <a:solidFill>
                  <a:srgbClr val="C00000"/>
                </a:solidFill>
              </a:rPr>
              <a:t>常量表达式</a:t>
            </a:r>
          </a:p>
          <a:p>
            <a:pPr lvl="1"/>
            <a:r>
              <a:rPr lang="zh-CN" altLang="en-US" dirty="0"/>
              <a:t>常量必须要给一个值，并且该值在存在期间或常量的作用域内不能改变。如果试图修改它，过程化</a:t>
            </a:r>
            <a:r>
              <a:rPr lang="en-US" altLang="zh-CN" dirty="0"/>
              <a:t>SQL</a:t>
            </a:r>
            <a:r>
              <a:rPr lang="zh-CN" altLang="en-US" dirty="0"/>
              <a:t>将返回一个异常</a:t>
            </a:r>
          </a:p>
          <a:p>
            <a:endParaRPr lang="en-US" altLang="zh-CN" dirty="0"/>
          </a:p>
          <a:p>
            <a:r>
              <a:rPr lang="en-US" altLang="zh-CN" dirty="0"/>
              <a:t>3. </a:t>
            </a:r>
            <a:r>
              <a:rPr lang="zh-CN" altLang="en-US" dirty="0"/>
              <a:t>赋值语句</a:t>
            </a:r>
          </a:p>
          <a:p>
            <a:pPr marL="342900" lvl="1" indent="0">
              <a:buNone/>
            </a:pPr>
            <a:r>
              <a:rPr lang="zh-CN" altLang="en-US" dirty="0">
                <a:solidFill>
                  <a:srgbClr val="C00000"/>
                </a:solidFill>
              </a:rPr>
              <a:t>变量名称 </a:t>
            </a:r>
            <a:r>
              <a:rPr lang="en-US" altLang="zh-CN" dirty="0">
                <a:solidFill>
                  <a:srgbClr val="C00000"/>
                </a:solidFill>
              </a:rPr>
              <a:t>:=</a:t>
            </a:r>
            <a:r>
              <a:rPr lang="zh-CN" altLang="en-US" dirty="0">
                <a:solidFill>
                  <a:srgbClr val="C00000"/>
                </a:solidFill>
              </a:rPr>
              <a:t>表达式</a:t>
            </a:r>
          </a:p>
        </p:txBody>
      </p:sp>
      <p:sp>
        <p:nvSpPr>
          <p:cNvPr id="4" name="灯片编号占位符 3">
            <a:extLst>
              <a:ext uri="{FF2B5EF4-FFF2-40B4-BE49-F238E27FC236}">
                <a16:creationId xmlns:a16="http://schemas.microsoft.com/office/drawing/2014/main" id="{3D6252C9-D092-4F75-912B-25D8E03C0860}"/>
              </a:ext>
            </a:extLst>
          </p:cNvPr>
          <p:cNvSpPr>
            <a:spLocks noGrp="1"/>
          </p:cNvSpPr>
          <p:nvPr>
            <p:ph type="sldNum" sz="quarter" idx="12"/>
          </p:nvPr>
        </p:nvSpPr>
        <p:spPr/>
        <p:txBody>
          <a:bodyPr/>
          <a:lstStyle/>
          <a:p>
            <a:fld id="{47C9E101-E51D-431E-84FA-C029B8655B60}" type="slidenum">
              <a:rPr lang="zh-CN" altLang="en-US" smtClean="0"/>
              <a:pPr/>
              <a:t>14</a:t>
            </a:fld>
            <a:endParaRPr lang="zh-CN" altLang="en-US" dirty="0"/>
          </a:p>
        </p:txBody>
      </p:sp>
    </p:spTree>
    <p:extLst>
      <p:ext uri="{BB962C8B-B14F-4D97-AF65-F5344CB8AC3E}">
        <p14:creationId xmlns:p14="http://schemas.microsoft.com/office/powerpoint/2010/main" val="3781629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8.2.3 </a:t>
            </a:r>
            <a:r>
              <a:rPr lang="zh-CN" altLang="en-US" dirty="0"/>
              <a:t>流程控制</a:t>
            </a:r>
          </a:p>
        </p:txBody>
      </p:sp>
      <p:sp>
        <p:nvSpPr>
          <p:cNvPr id="3" name="内容占位符 2"/>
          <p:cNvSpPr>
            <a:spLocks noGrp="1"/>
          </p:cNvSpPr>
          <p:nvPr>
            <p:ph idx="1"/>
          </p:nvPr>
        </p:nvSpPr>
        <p:spPr/>
        <p:txBody>
          <a:bodyPr/>
          <a:lstStyle/>
          <a:p>
            <a:r>
              <a:rPr lang="zh-CN" altLang="en-US" dirty="0"/>
              <a:t>过程化</a:t>
            </a:r>
            <a:r>
              <a:rPr lang="en-US" altLang="zh-CN" dirty="0"/>
              <a:t>SQL</a:t>
            </a:r>
            <a:r>
              <a:rPr lang="zh-CN" altLang="en-US" dirty="0"/>
              <a:t>功能</a:t>
            </a:r>
          </a:p>
          <a:p>
            <a:pPr lvl="1"/>
            <a:r>
              <a:rPr lang="en-US" altLang="zh-CN" dirty="0"/>
              <a:t>1. </a:t>
            </a:r>
            <a:r>
              <a:rPr lang="zh-CN" altLang="en-US" dirty="0"/>
              <a:t>条件控制语句</a:t>
            </a:r>
          </a:p>
          <a:p>
            <a:pPr lvl="1"/>
            <a:r>
              <a:rPr lang="en-US" altLang="zh-CN" dirty="0"/>
              <a:t>2. </a:t>
            </a:r>
            <a:r>
              <a:rPr lang="zh-CN" altLang="en-US" dirty="0"/>
              <a:t>循环控制语句</a:t>
            </a:r>
          </a:p>
          <a:p>
            <a:pPr lvl="1"/>
            <a:r>
              <a:rPr lang="en-US" altLang="zh-CN" dirty="0"/>
              <a:t>3. </a:t>
            </a:r>
            <a:r>
              <a:rPr lang="zh-CN" altLang="en-US" dirty="0"/>
              <a:t>错误处理</a:t>
            </a:r>
          </a:p>
        </p:txBody>
      </p:sp>
      <p:sp>
        <p:nvSpPr>
          <p:cNvPr id="4" name="灯片编号占位符 3">
            <a:extLst>
              <a:ext uri="{FF2B5EF4-FFF2-40B4-BE49-F238E27FC236}">
                <a16:creationId xmlns:a16="http://schemas.microsoft.com/office/drawing/2014/main" id="{11F97451-989A-4623-8396-D37A92FBB145}"/>
              </a:ext>
            </a:extLst>
          </p:cNvPr>
          <p:cNvSpPr>
            <a:spLocks noGrp="1"/>
          </p:cNvSpPr>
          <p:nvPr>
            <p:ph type="sldNum" sz="quarter" idx="12"/>
          </p:nvPr>
        </p:nvSpPr>
        <p:spPr/>
        <p:txBody>
          <a:bodyPr/>
          <a:lstStyle/>
          <a:p>
            <a:fld id="{47C9E101-E51D-431E-84FA-C029B8655B60}" type="slidenum">
              <a:rPr lang="zh-CN" altLang="en-US" smtClean="0"/>
              <a:pPr/>
              <a:t>15</a:t>
            </a:fld>
            <a:endParaRPr lang="zh-CN" altLang="en-US" dirty="0"/>
          </a:p>
        </p:txBody>
      </p:sp>
    </p:spTree>
    <p:extLst>
      <p:ext uri="{BB962C8B-B14F-4D97-AF65-F5344CB8AC3E}">
        <p14:creationId xmlns:p14="http://schemas.microsoft.com/office/powerpoint/2010/main" val="2765912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流程控制（续）</a:t>
            </a:r>
          </a:p>
        </p:txBody>
      </p:sp>
      <p:sp>
        <p:nvSpPr>
          <p:cNvPr id="3" name="内容占位符 2"/>
          <p:cNvSpPr>
            <a:spLocks noGrp="1"/>
          </p:cNvSpPr>
          <p:nvPr>
            <p:ph idx="1"/>
          </p:nvPr>
        </p:nvSpPr>
        <p:spPr/>
        <p:txBody>
          <a:bodyPr/>
          <a:lstStyle/>
          <a:p>
            <a:r>
              <a:rPr lang="en-US" altLang="zh-CN" dirty="0"/>
              <a:t>1. </a:t>
            </a:r>
            <a:r>
              <a:rPr lang="zh-CN" altLang="en-US" dirty="0"/>
              <a:t>条件控制语句</a:t>
            </a:r>
          </a:p>
          <a:p>
            <a:pPr lvl="1"/>
            <a:r>
              <a:rPr lang="en-US" altLang="zh-CN" dirty="0">
                <a:solidFill>
                  <a:srgbClr val="C00000"/>
                </a:solidFill>
              </a:rPr>
              <a:t>IF-THEN</a:t>
            </a:r>
            <a:r>
              <a:rPr lang="zh-CN" altLang="en-US" dirty="0"/>
              <a:t>， </a:t>
            </a:r>
            <a:r>
              <a:rPr lang="en-US" altLang="zh-CN" dirty="0">
                <a:solidFill>
                  <a:srgbClr val="C00000"/>
                </a:solidFill>
              </a:rPr>
              <a:t>IF-THEN-ELSE</a:t>
            </a:r>
            <a:r>
              <a:rPr lang="zh-CN" altLang="en-US" dirty="0"/>
              <a:t>和</a:t>
            </a:r>
            <a:r>
              <a:rPr lang="zh-CN" altLang="en-US" dirty="0">
                <a:solidFill>
                  <a:srgbClr val="C00000"/>
                </a:solidFill>
              </a:rPr>
              <a:t>嵌套的</a:t>
            </a:r>
            <a:r>
              <a:rPr lang="en-US" altLang="zh-CN" dirty="0">
                <a:solidFill>
                  <a:srgbClr val="C00000"/>
                </a:solidFill>
              </a:rPr>
              <a:t>IF</a:t>
            </a:r>
            <a:r>
              <a:rPr lang="zh-CN" altLang="en-US" dirty="0">
                <a:solidFill>
                  <a:srgbClr val="C00000"/>
                </a:solidFill>
              </a:rPr>
              <a:t>语句</a:t>
            </a:r>
          </a:p>
          <a:p>
            <a:pPr marL="342900" lvl="1" indent="0">
              <a:buNone/>
            </a:pPr>
            <a:r>
              <a:rPr lang="zh-CN" altLang="en-US" dirty="0"/>
              <a:t>（</a:t>
            </a:r>
            <a:r>
              <a:rPr lang="en-US" altLang="zh-CN" dirty="0"/>
              <a:t>1</a:t>
            </a:r>
            <a:r>
              <a:rPr lang="zh-CN" altLang="en-US" dirty="0"/>
              <a:t>） </a:t>
            </a:r>
            <a:r>
              <a:rPr lang="en-US" altLang="zh-CN" dirty="0"/>
              <a:t>IF condition THEN</a:t>
            </a:r>
          </a:p>
          <a:p>
            <a:pPr marL="342900" lvl="1" indent="0">
              <a:buNone/>
            </a:pPr>
            <a:r>
              <a:rPr lang="en-US" altLang="zh-CN" dirty="0"/>
              <a:t>                </a:t>
            </a:r>
            <a:r>
              <a:rPr lang="en-US" altLang="zh-CN" dirty="0" err="1"/>
              <a:t>Sequence_of_statements</a:t>
            </a:r>
            <a:r>
              <a:rPr lang="en-US" altLang="zh-CN" dirty="0"/>
              <a:t>;</a:t>
            </a:r>
          </a:p>
          <a:p>
            <a:pPr marL="342900" lvl="1" indent="0">
              <a:buNone/>
            </a:pPr>
            <a:r>
              <a:rPr lang="en-US" altLang="zh-CN" dirty="0"/>
              <a:t>           END IF;</a:t>
            </a:r>
          </a:p>
          <a:p>
            <a:pPr marL="685800" lvl="2" indent="0">
              <a:buNone/>
            </a:pPr>
            <a:endParaRPr lang="en-US" altLang="zh-CN" dirty="0"/>
          </a:p>
          <a:p>
            <a:pPr marL="342900" lvl="1" indent="0">
              <a:buNone/>
            </a:pPr>
            <a:r>
              <a:rPr lang="zh-CN" altLang="en-US" dirty="0"/>
              <a:t>（</a:t>
            </a:r>
            <a:r>
              <a:rPr lang="en-US" altLang="zh-CN" dirty="0"/>
              <a:t>2</a:t>
            </a:r>
            <a:r>
              <a:rPr lang="zh-CN" altLang="en-US" dirty="0"/>
              <a:t>） </a:t>
            </a:r>
            <a:r>
              <a:rPr lang="en-US" altLang="zh-CN" dirty="0"/>
              <a:t>IF condition THEN</a:t>
            </a:r>
          </a:p>
          <a:p>
            <a:pPr marL="342900" lvl="1" indent="0">
              <a:buNone/>
            </a:pPr>
            <a:r>
              <a:rPr lang="en-US" altLang="zh-CN" dirty="0"/>
              <a:t>                Sequence_of_statements1;</a:t>
            </a:r>
          </a:p>
          <a:p>
            <a:pPr marL="342900" lvl="1" indent="0">
              <a:buNone/>
            </a:pPr>
            <a:r>
              <a:rPr lang="en-US" altLang="zh-CN" dirty="0"/>
              <a:t>           ELSE</a:t>
            </a:r>
          </a:p>
          <a:p>
            <a:pPr marL="342900" lvl="1" indent="0">
              <a:buNone/>
            </a:pPr>
            <a:r>
              <a:rPr lang="en-US" altLang="zh-CN" dirty="0"/>
              <a:t>                Sequence_of_statements2;</a:t>
            </a:r>
          </a:p>
          <a:p>
            <a:pPr marL="342900" lvl="1" indent="0">
              <a:buNone/>
            </a:pPr>
            <a:r>
              <a:rPr lang="en-US" altLang="zh-CN" dirty="0"/>
              <a:t>           END IF;</a:t>
            </a:r>
          </a:p>
          <a:p>
            <a:pPr marL="342900" lvl="1" indent="0">
              <a:buNone/>
            </a:pPr>
            <a:endParaRPr lang="en-US" altLang="zh-CN" dirty="0"/>
          </a:p>
          <a:p>
            <a:pPr marL="342900" lvl="1" indent="0">
              <a:buNone/>
            </a:pPr>
            <a:r>
              <a:rPr lang="zh-CN" altLang="en-US" dirty="0"/>
              <a:t>（</a:t>
            </a:r>
            <a:r>
              <a:rPr lang="en-US" altLang="zh-CN" dirty="0"/>
              <a:t>3</a:t>
            </a:r>
            <a:r>
              <a:rPr lang="zh-CN" altLang="en-US" dirty="0"/>
              <a:t>）在</a:t>
            </a:r>
            <a:r>
              <a:rPr lang="en-US" altLang="zh-CN" dirty="0"/>
              <a:t>THEN</a:t>
            </a:r>
            <a:r>
              <a:rPr lang="zh-CN" altLang="en-US" dirty="0"/>
              <a:t>和</a:t>
            </a:r>
            <a:r>
              <a:rPr lang="en-US" altLang="zh-CN" dirty="0"/>
              <a:t>ELSE</a:t>
            </a:r>
            <a:r>
              <a:rPr lang="zh-CN" altLang="en-US" dirty="0"/>
              <a:t>子句中还可以再包含</a:t>
            </a:r>
            <a:r>
              <a:rPr lang="en-US" altLang="zh-CN" dirty="0"/>
              <a:t>IF</a:t>
            </a:r>
            <a:r>
              <a:rPr lang="zh-CN" altLang="en-US" dirty="0"/>
              <a:t>语句，即</a:t>
            </a:r>
            <a:r>
              <a:rPr lang="en-US" altLang="zh-CN" dirty="0"/>
              <a:t>IF</a:t>
            </a:r>
            <a:r>
              <a:rPr lang="zh-CN" altLang="en-US" dirty="0"/>
              <a:t>语句可以嵌套</a:t>
            </a:r>
          </a:p>
        </p:txBody>
      </p:sp>
      <p:sp>
        <p:nvSpPr>
          <p:cNvPr id="4" name="灯片编号占位符 3">
            <a:extLst>
              <a:ext uri="{FF2B5EF4-FFF2-40B4-BE49-F238E27FC236}">
                <a16:creationId xmlns:a16="http://schemas.microsoft.com/office/drawing/2014/main" id="{CA64D211-8174-415B-A935-960AC18C98C9}"/>
              </a:ext>
            </a:extLst>
          </p:cNvPr>
          <p:cNvSpPr>
            <a:spLocks noGrp="1"/>
          </p:cNvSpPr>
          <p:nvPr>
            <p:ph type="sldNum" sz="quarter" idx="12"/>
          </p:nvPr>
        </p:nvSpPr>
        <p:spPr/>
        <p:txBody>
          <a:bodyPr/>
          <a:lstStyle/>
          <a:p>
            <a:fld id="{47C9E101-E51D-431E-84FA-C029B8655B60}" type="slidenum">
              <a:rPr lang="zh-CN" altLang="en-US" smtClean="0"/>
              <a:pPr/>
              <a:t>16</a:t>
            </a:fld>
            <a:endParaRPr lang="zh-CN" altLang="en-US" dirty="0"/>
          </a:p>
        </p:txBody>
      </p:sp>
    </p:spTree>
    <p:extLst>
      <p:ext uri="{BB962C8B-B14F-4D97-AF65-F5344CB8AC3E}">
        <p14:creationId xmlns:p14="http://schemas.microsoft.com/office/powerpoint/2010/main" val="740838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流程控制（续）</a:t>
            </a:r>
          </a:p>
        </p:txBody>
      </p:sp>
      <p:sp>
        <p:nvSpPr>
          <p:cNvPr id="3" name="内容占位符 2"/>
          <p:cNvSpPr>
            <a:spLocks noGrp="1"/>
          </p:cNvSpPr>
          <p:nvPr>
            <p:ph idx="1"/>
          </p:nvPr>
        </p:nvSpPr>
        <p:spPr/>
        <p:txBody>
          <a:bodyPr/>
          <a:lstStyle/>
          <a:p>
            <a:r>
              <a:rPr lang="en-US" altLang="zh-CN" dirty="0"/>
              <a:t>2. </a:t>
            </a:r>
            <a:r>
              <a:rPr lang="zh-CN" altLang="en-US" dirty="0"/>
              <a:t>循环控制语句</a:t>
            </a:r>
          </a:p>
          <a:p>
            <a:pPr lvl="1"/>
            <a:r>
              <a:rPr lang="en-US" altLang="zh-CN" dirty="0">
                <a:solidFill>
                  <a:srgbClr val="C00000"/>
                </a:solidFill>
              </a:rPr>
              <a:t>LOOP</a:t>
            </a:r>
            <a:r>
              <a:rPr lang="zh-CN" altLang="en-US" dirty="0"/>
              <a:t>， </a:t>
            </a:r>
            <a:r>
              <a:rPr lang="en-US" altLang="zh-CN" dirty="0">
                <a:solidFill>
                  <a:srgbClr val="C00000"/>
                </a:solidFill>
              </a:rPr>
              <a:t>WHILE-LOOP</a:t>
            </a:r>
            <a:r>
              <a:rPr lang="zh-CN" altLang="en-US" dirty="0"/>
              <a:t>和</a:t>
            </a:r>
            <a:r>
              <a:rPr lang="en-US" altLang="zh-CN" dirty="0">
                <a:solidFill>
                  <a:srgbClr val="C00000"/>
                </a:solidFill>
              </a:rPr>
              <a:t>FOR-LOOP</a:t>
            </a:r>
          </a:p>
          <a:p>
            <a:pPr marL="342900" lvl="1" indent="0">
              <a:buNone/>
            </a:pPr>
            <a:r>
              <a:rPr lang="zh-CN" altLang="en-US" dirty="0"/>
              <a:t>（</a:t>
            </a:r>
            <a:r>
              <a:rPr lang="en-US" altLang="zh-CN" dirty="0"/>
              <a:t>1</a:t>
            </a:r>
            <a:r>
              <a:rPr lang="zh-CN" altLang="en-US" dirty="0"/>
              <a:t>）简单的循环语句</a:t>
            </a:r>
            <a:r>
              <a:rPr lang="en-US" altLang="zh-CN" dirty="0"/>
              <a:t>LOOP</a:t>
            </a:r>
          </a:p>
          <a:p>
            <a:pPr marL="342900" lvl="1" indent="0">
              <a:buNone/>
            </a:pPr>
            <a:r>
              <a:rPr lang="en-US" altLang="zh-CN" dirty="0">
                <a:solidFill>
                  <a:srgbClr val="C00000"/>
                </a:solidFill>
              </a:rPr>
              <a:t>LOOP</a:t>
            </a:r>
          </a:p>
          <a:p>
            <a:pPr marL="342900" lvl="1" indent="0">
              <a:buNone/>
            </a:pPr>
            <a:r>
              <a:rPr lang="en-US" altLang="zh-CN" dirty="0"/>
              <a:t>    </a:t>
            </a:r>
            <a:r>
              <a:rPr lang="en-US" altLang="zh-CN" dirty="0" err="1"/>
              <a:t>Sequence_of_statements</a:t>
            </a:r>
            <a:r>
              <a:rPr lang="en-US" altLang="zh-CN" dirty="0"/>
              <a:t>;</a:t>
            </a:r>
          </a:p>
          <a:p>
            <a:pPr marL="342900" lvl="1" indent="0">
              <a:buNone/>
            </a:pPr>
            <a:r>
              <a:rPr lang="en-US" altLang="zh-CN" dirty="0">
                <a:solidFill>
                  <a:srgbClr val="C00000"/>
                </a:solidFill>
              </a:rPr>
              <a:t>END LOOP</a:t>
            </a:r>
            <a:r>
              <a:rPr lang="en-US" altLang="zh-CN" dirty="0"/>
              <a:t>;</a:t>
            </a:r>
          </a:p>
          <a:p>
            <a:pPr lvl="1"/>
            <a:endParaRPr lang="en-US" altLang="zh-CN" dirty="0"/>
          </a:p>
          <a:p>
            <a:pPr lvl="1"/>
            <a:r>
              <a:rPr lang="zh-CN" altLang="en-US" dirty="0"/>
              <a:t>多数数据库服务器的过程化</a:t>
            </a:r>
            <a:r>
              <a:rPr lang="en-US" altLang="zh-CN" dirty="0"/>
              <a:t>SQL</a:t>
            </a:r>
            <a:r>
              <a:rPr lang="zh-CN" altLang="en-US" dirty="0"/>
              <a:t>都提供</a:t>
            </a:r>
            <a:r>
              <a:rPr lang="en-US" altLang="zh-CN" dirty="0">
                <a:solidFill>
                  <a:srgbClr val="C00000"/>
                </a:solidFill>
              </a:rPr>
              <a:t>EXIT</a:t>
            </a:r>
            <a:r>
              <a:rPr lang="zh-CN" altLang="en-US" dirty="0"/>
              <a:t>、 </a:t>
            </a:r>
            <a:r>
              <a:rPr lang="en-US" altLang="zh-CN" dirty="0">
                <a:solidFill>
                  <a:srgbClr val="C00000"/>
                </a:solidFill>
              </a:rPr>
              <a:t>BREAK</a:t>
            </a:r>
            <a:r>
              <a:rPr lang="zh-CN" altLang="en-US" dirty="0"/>
              <a:t>或</a:t>
            </a:r>
            <a:r>
              <a:rPr lang="en-US" altLang="zh-CN" dirty="0">
                <a:solidFill>
                  <a:srgbClr val="C00000"/>
                </a:solidFill>
              </a:rPr>
              <a:t>LEAVE</a:t>
            </a:r>
            <a:r>
              <a:rPr lang="zh-CN" altLang="en-US" dirty="0"/>
              <a:t>等循环结束语句，保证</a:t>
            </a:r>
            <a:r>
              <a:rPr lang="en-US" altLang="zh-CN" dirty="0"/>
              <a:t>LOOP</a:t>
            </a:r>
            <a:r>
              <a:rPr lang="zh-CN" altLang="en-US" dirty="0"/>
              <a:t>语句块能够结束。</a:t>
            </a:r>
          </a:p>
        </p:txBody>
      </p:sp>
      <p:sp>
        <p:nvSpPr>
          <p:cNvPr id="4" name="灯片编号占位符 3">
            <a:extLst>
              <a:ext uri="{FF2B5EF4-FFF2-40B4-BE49-F238E27FC236}">
                <a16:creationId xmlns:a16="http://schemas.microsoft.com/office/drawing/2014/main" id="{D0C37BFF-8FA6-4A9A-87CB-1F01E7F0F5BE}"/>
              </a:ext>
            </a:extLst>
          </p:cNvPr>
          <p:cNvSpPr>
            <a:spLocks noGrp="1"/>
          </p:cNvSpPr>
          <p:nvPr>
            <p:ph type="sldNum" sz="quarter" idx="12"/>
          </p:nvPr>
        </p:nvSpPr>
        <p:spPr/>
        <p:txBody>
          <a:bodyPr/>
          <a:lstStyle/>
          <a:p>
            <a:fld id="{47C9E101-E51D-431E-84FA-C029B8655B60}" type="slidenum">
              <a:rPr lang="zh-CN" altLang="en-US" smtClean="0"/>
              <a:pPr/>
              <a:t>17</a:t>
            </a:fld>
            <a:endParaRPr lang="zh-CN" altLang="en-US" dirty="0"/>
          </a:p>
        </p:txBody>
      </p:sp>
    </p:spTree>
    <p:extLst>
      <p:ext uri="{BB962C8B-B14F-4D97-AF65-F5344CB8AC3E}">
        <p14:creationId xmlns:p14="http://schemas.microsoft.com/office/powerpoint/2010/main" val="3884427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流程控制（续）</a:t>
            </a:r>
          </a:p>
        </p:txBody>
      </p:sp>
      <p:sp>
        <p:nvSpPr>
          <p:cNvPr id="3" name="内容占位符 2"/>
          <p:cNvSpPr>
            <a:spLocks noGrp="1"/>
          </p:cNvSpPr>
          <p:nvPr>
            <p:ph idx="1"/>
          </p:nvPr>
        </p:nvSpPr>
        <p:spPr/>
        <p:txBody>
          <a:bodyPr/>
          <a:lstStyle/>
          <a:p>
            <a:r>
              <a:rPr lang="en-US" altLang="zh-CN" dirty="0"/>
              <a:t>2. </a:t>
            </a:r>
            <a:r>
              <a:rPr lang="zh-CN" altLang="en-US" dirty="0"/>
              <a:t>循环控制语句（续）</a:t>
            </a:r>
          </a:p>
          <a:p>
            <a:pPr marL="342900" lvl="1" indent="0">
              <a:buNone/>
            </a:pPr>
            <a:r>
              <a:rPr lang="zh-CN" altLang="en-US" dirty="0"/>
              <a:t>（</a:t>
            </a:r>
            <a:r>
              <a:rPr lang="en-US" altLang="zh-CN" dirty="0"/>
              <a:t>2</a:t>
            </a:r>
            <a:r>
              <a:rPr lang="zh-CN" altLang="en-US" dirty="0"/>
              <a:t>） </a:t>
            </a:r>
            <a:r>
              <a:rPr lang="en-US" altLang="zh-CN" dirty="0"/>
              <a:t>WHILE-LOOP</a:t>
            </a:r>
          </a:p>
          <a:p>
            <a:pPr marL="342900" lvl="1" indent="0">
              <a:buNone/>
            </a:pPr>
            <a:r>
              <a:rPr lang="en-US" altLang="zh-CN" dirty="0">
                <a:solidFill>
                  <a:srgbClr val="C00000"/>
                </a:solidFill>
              </a:rPr>
              <a:t>WHILE</a:t>
            </a:r>
            <a:r>
              <a:rPr lang="en-US" altLang="zh-CN" dirty="0"/>
              <a:t> condition </a:t>
            </a:r>
            <a:r>
              <a:rPr lang="en-US" altLang="zh-CN" dirty="0">
                <a:solidFill>
                  <a:srgbClr val="C00000"/>
                </a:solidFill>
              </a:rPr>
              <a:t>LOOP</a:t>
            </a:r>
          </a:p>
          <a:p>
            <a:pPr marL="342900" lvl="1" indent="0">
              <a:buNone/>
            </a:pPr>
            <a:r>
              <a:rPr lang="en-US" altLang="zh-CN" dirty="0"/>
              <a:t>      </a:t>
            </a:r>
            <a:r>
              <a:rPr lang="en-US" altLang="zh-CN" dirty="0" err="1"/>
              <a:t>Sequence_of_statements</a:t>
            </a:r>
            <a:r>
              <a:rPr lang="en-US" altLang="zh-CN" dirty="0"/>
              <a:t>;</a:t>
            </a:r>
          </a:p>
          <a:p>
            <a:pPr marL="342900" lvl="1" indent="0">
              <a:buNone/>
            </a:pPr>
            <a:r>
              <a:rPr lang="en-US" altLang="zh-CN" dirty="0">
                <a:solidFill>
                  <a:srgbClr val="C00000"/>
                </a:solidFill>
              </a:rPr>
              <a:t>END LOOP</a:t>
            </a:r>
            <a:r>
              <a:rPr lang="en-US" altLang="zh-CN" dirty="0"/>
              <a:t>;</a:t>
            </a:r>
          </a:p>
          <a:p>
            <a:pPr marL="342900" lvl="1" indent="0">
              <a:buNone/>
            </a:pPr>
            <a:endParaRPr lang="en-US" altLang="zh-CN" dirty="0"/>
          </a:p>
          <a:p>
            <a:pPr lvl="1"/>
            <a:r>
              <a:rPr lang="zh-CN" altLang="en-US" dirty="0"/>
              <a:t>每次执行循环体语句之前，首先对条件进行求值</a:t>
            </a:r>
          </a:p>
          <a:p>
            <a:pPr lvl="1"/>
            <a:r>
              <a:rPr lang="zh-CN" altLang="en-US" dirty="0"/>
              <a:t>如果条件为真，则执行循环体内的语句序列</a:t>
            </a:r>
          </a:p>
          <a:p>
            <a:pPr lvl="1"/>
            <a:r>
              <a:rPr lang="zh-CN" altLang="en-US" dirty="0"/>
              <a:t>如果条件为假，则跳过循环并把控制传递给下一个语句</a:t>
            </a:r>
          </a:p>
        </p:txBody>
      </p:sp>
      <p:sp>
        <p:nvSpPr>
          <p:cNvPr id="4" name="灯片编号占位符 3">
            <a:extLst>
              <a:ext uri="{FF2B5EF4-FFF2-40B4-BE49-F238E27FC236}">
                <a16:creationId xmlns:a16="http://schemas.microsoft.com/office/drawing/2014/main" id="{B1FCD7BA-8ED7-4579-BC96-1383286AB832}"/>
              </a:ext>
            </a:extLst>
          </p:cNvPr>
          <p:cNvSpPr>
            <a:spLocks noGrp="1"/>
          </p:cNvSpPr>
          <p:nvPr>
            <p:ph type="sldNum" sz="quarter" idx="12"/>
          </p:nvPr>
        </p:nvSpPr>
        <p:spPr/>
        <p:txBody>
          <a:bodyPr/>
          <a:lstStyle/>
          <a:p>
            <a:fld id="{47C9E101-E51D-431E-84FA-C029B8655B60}" type="slidenum">
              <a:rPr lang="zh-CN" altLang="en-US" smtClean="0"/>
              <a:pPr/>
              <a:t>18</a:t>
            </a:fld>
            <a:endParaRPr lang="zh-CN" altLang="en-US" dirty="0"/>
          </a:p>
        </p:txBody>
      </p:sp>
    </p:spTree>
    <p:extLst>
      <p:ext uri="{BB962C8B-B14F-4D97-AF65-F5344CB8AC3E}">
        <p14:creationId xmlns:p14="http://schemas.microsoft.com/office/powerpoint/2010/main" val="2923564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流程控制（续）</a:t>
            </a:r>
          </a:p>
        </p:txBody>
      </p:sp>
      <p:sp>
        <p:nvSpPr>
          <p:cNvPr id="3" name="内容占位符 2"/>
          <p:cNvSpPr>
            <a:spLocks noGrp="1"/>
          </p:cNvSpPr>
          <p:nvPr>
            <p:ph idx="1"/>
          </p:nvPr>
        </p:nvSpPr>
        <p:spPr/>
        <p:txBody>
          <a:bodyPr/>
          <a:lstStyle/>
          <a:p>
            <a:r>
              <a:rPr lang="en-US" altLang="zh-CN" dirty="0"/>
              <a:t>2. </a:t>
            </a:r>
            <a:r>
              <a:rPr lang="zh-CN" altLang="en-US" dirty="0"/>
              <a:t>循环控制语句（续）</a:t>
            </a:r>
          </a:p>
          <a:p>
            <a:pPr marL="342900" lvl="1" indent="0">
              <a:buNone/>
            </a:pPr>
            <a:r>
              <a:rPr lang="zh-CN" altLang="en-US" dirty="0"/>
              <a:t>（</a:t>
            </a:r>
            <a:r>
              <a:rPr lang="en-US" altLang="zh-CN" dirty="0"/>
              <a:t>3</a:t>
            </a:r>
            <a:r>
              <a:rPr lang="zh-CN" altLang="en-US" dirty="0"/>
              <a:t>） </a:t>
            </a:r>
            <a:r>
              <a:rPr lang="en-US" altLang="zh-CN" dirty="0"/>
              <a:t>FOR-LOOP</a:t>
            </a:r>
          </a:p>
          <a:p>
            <a:pPr marL="342900" lvl="1" indent="0">
              <a:buNone/>
            </a:pPr>
            <a:r>
              <a:rPr lang="en-US" altLang="zh-CN" dirty="0">
                <a:solidFill>
                  <a:srgbClr val="C00000"/>
                </a:solidFill>
              </a:rPr>
              <a:t>FOR</a:t>
            </a:r>
            <a:r>
              <a:rPr lang="en-US" altLang="zh-CN" dirty="0"/>
              <a:t> count </a:t>
            </a:r>
            <a:r>
              <a:rPr lang="en-US" altLang="zh-CN" dirty="0">
                <a:solidFill>
                  <a:srgbClr val="C00000"/>
                </a:solidFill>
              </a:rPr>
              <a:t>IN [REVERSE] </a:t>
            </a:r>
            <a:r>
              <a:rPr lang="en-US" altLang="zh-CN" dirty="0"/>
              <a:t>bound1 … bound2 </a:t>
            </a:r>
            <a:r>
              <a:rPr lang="en-US" altLang="zh-CN" dirty="0">
                <a:solidFill>
                  <a:srgbClr val="C00000"/>
                </a:solidFill>
              </a:rPr>
              <a:t>LOOP</a:t>
            </a:r>
          </a:p>
          <a:p>
            <a:pPr marL="342900" lvl="1" indent="0">
              <a:buNone/>
            </a:pPr>
            <a:r>
              <a:rPr lang="en-US" altLang="zh-CN" dirty="0"/>
              <a:t>        </a:t>
            </a:r>
            <a:r>
              <a:rPr lang="en-US" altLang="zh-CN" dirty="0" err="1"/>
              <a:t>Sequence_of_statements</a:t>
            </a:r>
            <a:r>
              <a:rPr lang="en-US" altLang="zh-CN" dirty="0"/>
              <a:t>;</a:t>
            </a:r>
          </a:p>
          <a:p>
            <a:pPr marL="342900" lvl="1" indent="0">
              <a:buNone/>
            </a:pPr>
            <a:r>
              <a:rPr lang="en-US" altLang="zh-CN" dirty="0">
                <a:solidFill>
                  <a:srgbClr val="C00000"/>
                </a:solidFill>
              </a:rPr>
              <a:t>END LOOP</a:t>
            </a:r>
            <a:r>
              <a:rPr lang="en-US" altLang="zh-CN" dirty="0"/>
              <a:t>;</a:t>
            </a:r>
          </a:p>
          <a:p>
            <a:pPr marL="342900" lvl="1" indent="0">
              <a:buNone/>
            </a:pPr>
            <a:endParaRPr lang="en-US" altLang="zh-CN" dirty="0"/>
          </a:p>
          <a:p>
            <a:pPr lvl="1"/>
            <a:r>
              <a:rPr lang="zh-CN" altLang="en-US" dirty="0"/>
              <a:t>将</a:t>
            </a:r>
            <a:r>
              <a:rPr lang="en-US" altLang="zh-CN" dirty="0"/>
              <a:t>count</a:t>
            </a:r>
            <a:r>
              <a:rPr lang="zh-CN" altLang="en-US" dirty="0"/>
              <a:t>设置为循环的下界</a:t>
            </a:r>
            <a:r>
              <a:rPr lang="en-US" altLang="zh-CN" dirty="0"/>
              <a:t>bound1</a:t>
            </a:r>
            <a:r>
              <a:rPr lang="zh-CN" altLang="en-US" dirty="0"/>
              <a:t>，检查它是否小于上界</a:t>
            </a:r>
            <a:r>
              <a:rPr lang="en-US" altLang="zh-CN" dirty="0"/>
              <a:t>bound2</a:t>
            </a:r>
            <a:r>
              <a:rPr lang="zh-CN" altLang="en-US" dirty="0"/>
              <a:t>。当指定</a:t>
            </a:r>
            <a:r>
              <a:rPr lang="en-US" altLang="zh-CN" dirty="0"/>
              <a:t>REVERSE</a:t>
            </a:r>
            <a:r>
              <a:rPr lang="zh-CN" altLang="en-US" dirty="0"/>
              <a:t>时则将</a:t>
            </a:r>
            <a:r>
              <a:rPr lang="en-US" altLang="zh-CN" dirty="0"/>
              <a:t>count</a:t>
            </a:r>
            <a:r>
              <a:rPr lang="zh-CN" altLang="en-US" dirty="0"/>
              <a:t>设置为循环的上界</a:t>
            </a:r>
            <a:r>
              <a:rPr lang="en-US" altLang="zh-CN" dirty="0"/>
              <a:t>bound2</a:t>
            </a:r>
            <a:r>
              <a:rPr lang="zh-CN" altLang="en-US" dirty="0"/>
              <a:t>，检查</a:t>
            </a:r>
            <a:r>
              <a:rPr lang="en-US" altLang="zh-CN" dirty="0"/>
              <a:t>count</a:t>
            </a:r>
            <a:r>
              <a:rPr lang="zh-CN" altLang="en-US" dirty="0"/>
              <a:t>是否大于下界</a:t>
            </a:r>
            <a:r>
              <a:rPr lang="en-US" altLang="zh-CN" dirty="0"/>
              <a:t>bound1</a:t>
            </a:r>
            <a:r>
              <a:rPr lang="zh-CN" altLang="en-US" dirty="0"/>
              <a:t>。如果越界则执行跳出循环，否则执行循环体，然后按照步长（</a:t>
            </a:r>
            <a:r>
              <a:rPr lang="en-US" altLang="zh-CN" dirty="0"/>
              <a:t>+1</a:t>
            </a:r>
            <a:r>
              <a:rPr lang="zh-CN" altLang="en-US" dirty="0"/>
              <a:t>或</a:t>
            </a:r>
            <a:r>
              <a:rPr lang="en-US" altLang="zh-CN" dirty="0"/>
              <a:t>-1</a:t>
            </a:r>
            <a:r>
              <a:rPr lang="zh-CN" altLang="en-US" dirty="0"/>
              <a:t>）更新</a:t>
            </a:r>
            <a:r>
              <a:rPr lang="en-US" altLang="zh-CN" dirty="0"/>
              <a:t>count</a:t>
            </a:r>
            <a:r>
              <a:rPr lang="zh-CN" altLang="en-US" dirty="0"/>
              <a:t>的值，重新判断条件。 </a:t>
            </a:r>
            <a:endParaRPr lang="en-US" altLang="zh-CN" dirty="0"/>
          </a:p>
          <a:p>
            <a:pPr marL="342900" lvl="1" indent="0">
              <a:buNone/>
            </a:pPr>
            <a:endParaRPr lang="zh-CN" altLang="en-US" dirty="0"/>
          </a:p>
        </p:txBody>
      </p:sp>
      <p:sp>
        <p:nvSpPr>
          <p:cNvPr id="4" name="灯片编号占位符 3">
            <a:extLst>
              <a:ext uri="{FF2B5EF4-FFF2-40B4-BE49-F238E27FC236}">
                <a16:creationId xmlns:a16="http://schemas.microsoft.com/office/drawing/2014/main" id="{87801FBA-2F63-4292-BCD0-8B6764CA118A}"/>
              </a:ext>
            </a:extLst>
          </p:cNvPr>
          <p:cNvSpPr>
            <a:spLocks noGrp="1"/>
          </p:cNvSpPr>
          <p:nvPr>
            <p:ph type="sldNum" sz="quarter" idx="12"/>
          </p:nvPr>
        </p:nvSpPr>
        <p:spPr/>
        <p:txBody>
          <a:bodyPr/>
          <a:lstStyle/>
          <a:p>
            <a:fld id="{47C9E101-E51D-431E-84FA-C029B8655B60}" type="slidenum">
              <a:rPr lang="zh-CN" altLang="en-US" smtClean="0"/>
              <a:pPr/>
              <a:t>19</a:t>
            </a:fld>
            <a:endParaRPr lang="zh-CN" altLang="en-US" dirty="0"/>
          </a:p>
        </p:txBody>
      </p:sp>
    </p:spTree>
    <p:extLst>
      <p:ext uri="{BB962C8B-B14F-4D97-AF65-F5344CB8AC3E}">
        <p14:creationId xmlns:p14="http://schemas.microsoft.com/office/powerpoint/2010/main" val="1013537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流程控制（续）</a:t>
            </a:r>
          </a:p>
        </p:txBody>
      </p:sp>
      <p:sp>
        <p:nvSpPr>
          <p:cNvPr id="3" name="内容占位符 2"/>
          <p:cNvSpPr>
            <a:spLocks noGrp="1"/>
          </p:cNvSpPr>
          <p:nvPr>
            <p:ph idx="1"/>
          </p:nvPr>
        </p:nvSpPr>
        <p:spPr/>
        <p:txBody>
          <a:bodyPr/>
          <a:lstStyle/>
          <a:p>
            <a:r>
              <a:rPr lang="en-US" altLang="zh-CN" dirty="0"/>
              <a:t>3. </a:t>
            </a:r>
            <a:r>
              <a:rPr lang="zh-CN" altLang="en-US" dirty="0"/>
              <a:t>错误处理</a:t>
            </a:r>
          </a:p>
          <a:p>
            <a:pPr lvl="1"/>
            <a:r>
              <a:rPr lang="zh-CN" altLang="en-US" dirty="0"/>
              <a:t>如果过程化</a:t>
            </a:r>
            <a:r>
              <a:rPr lang="en-US" altLang="zh-CN" dirty="0"/>
              <a:t>SQL</a:t>
            </a:r>
            <a:r>
              <a:rPr lang="zh-CN" altLang="en-US" dirty="0"/>
              <a:t>在执行时出现异常，则应该让程序在产生异常的语句处停下来，根据异常的类型去执行异常处理语句。</a:t>
            </a:r>
          </a:p>
          <a:p>
            <a:pPr lvl="1"/>
            <a:r>
              <a:rPr lang="en-US" altLang="zh-CN" dirty="0"/>
              <a:t>SQL</a:t>
            </a:r>
            <a:r>
              <a:rPr lang="zh-CN" altLang="en-US" dirty="0"/>
              <a:t>标准对数据库服务器提供什么样的异常处理做出了建议，要求过程化</a:t>
            </a:r>
            <a:r>
              <a:rPr lang="en-US" altLang="zh-CN" dirty="0"/>
              <a:t>SQL</a:t>
            </a:r>
            <a:r>
              <a:rPr lang="zh-CN" altLang="en-US" dirty="0"/>
              <a:t>管理器提供完善的异常处理机制。</a:t>
            </a:r>
          </a:p>
        </p:txBody>
      </p:sp>
      <p:sp>
        <p:nvSpPr>
          <p:cNvPr id="4" name="灯片编号占位符 3">
            <a:extLst>
              <a:ext uri="{FF2B5EF4-FFF2-40B4-BE49-F238E27FC236}">
                <a16:creationId xmlns:a16="http://schemas.microsoft.com/office/drawing/2014/main" id="{7178FFF9-D309-4DF0-A904-CA63A77636C8}"/>
              </a:ext>
            </a:extLst>
          </p:cNvPr>
          <p:cNvSpPr>
            <a:spLocks noGrp="1"/>
          </p:cNvSpPr>
          <p:nvPr>
            <p:ph type="sldNum" sz="quarter" idx="12"/>
          </p:nvPr>
        </p:nvSpPr>
        <p:spPr/>
        <p:txBody>
          <a:bodyPr/>
          <a:lstStyle/>
          <a:p>
            <a:fld id="{47C9E101-E51D-431E-84FA-C029B8655B60}" type="slidenum">
              <a:rPr lang="zh-CN" altLang="en-US" smtClean="0"/>
              <a:pPr/>
              <a:t>20</a:t>
            </a:fld>
            <a:endParaRPr lang="zh-CN" altLang="en-US" dirty="0"/>
          </a:p>
        </p:txBody>
      </p:sp>
    </p:spTree>
    <p:extLst>
      <p:ext uri="{BB962C8B-B14F-4D97-AF65-F5344CB8AC3E}">
        <p14:creationId xmlns:p14="http://schemas.microsoft.com/office/powerpoint/2010/main" val="1983825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3234" name="Rectangle 2"/>
          <p:cNvSpPr>
            <a:spLocks noGrp="1" noChangeArrowheads="1"/>
          </p:cNvSpPr>
          <p:nvPr>
            <p:ph type="title"/>
          </p:nvPr>
        </p:nvSpPr>
        <p:spPr/>
        <p:txBody>
          <a:bodyPr/>
          <a:lstStyle/>
          <a:p>
            <a:r>
              <a:rPr lang="en-US" altLang="zh-CN" dirty="0"/>
              <a:t>8.3 </a:t>
            </a:r>
            <a:r>
              <a:rPr lang="zh-CN" altLang="en-US" dirty="0"/>
              <a:t>存储过程和函数</a:t>
            </a:r>
          </a:p>
        </p:txBody>
      </p:sp>
      <p:sp>
        <p:nvSpPr>
          <p:cNvPr id="863235" name="Rectangle 3"/>
          <p:cNvSpPr>
            <a:spLocks noGrp="1" noChangeArrowheads="1"/>
          </p:cNvSpPr>
          <p:nvPr>
            <p:ph idx="1"/>
          </p:nvPr>
        </p:nvSpPr>
        <p:spPr/>
        <p:txBody>
          <a:bodyPr/>
          <a:lstStyle/>
          <a:p>
            <a:r>
              <a:rPr lang="en-US" altLang="zh-CN" dirty="0"/>
              <a:t>8.3.1 </a:t>
            </a:r>
            <a:r>
              <a:rPr lang="zh-CN" altLang="en-US" dirty="0"/>
              <a:t>存储过程</a:t>
            </a:r>
          </a:p>
          <a:p>
            <a:r>
              <a:rPr lang="en-US" altLang="zh-CN" dirty="0"/>
              <a:t>8.3.2 </a:t>
            </a:r>
            <a:r>
              <a:rPr lang="zh-CN" altLang="en-US" dirty="0"/>
              <a:t>函数</a:t>
            </a:r>
          </a:p>
          <a:p>
            <a:endParaRPr lang="en-US" altLang="zh-CN" dirty="0"/>
          </a:p>
        </p:txBody>
      </p:sp>
      <p:sp>
        <p:nvSpPr>
          <p:cNvPr id="2" name="灯片编号占位符 1">
            <a:extLst>
              <a:ext uri="{FF2B5EF4-FFF2-40B4-BE49-F238E27FC236}">
                <a16:creationId xmlns:a16="http://schemas.microsoft.com/office/drawing/2014/main" id="{69CE2622-1227-4C19-ABD0-1611457A6213}"/>
              </a:ext>
            </a:extLst>
          </p:cNvPr>
          <p:cNvSpPr>
            <a:spLocks noGrp="1"/>
          </p:cNvSpPr>
          <p:nvPr>
            <p:ph type="sldNum" sz="quarter" idx="12"/>
          </p:nvPr>
        </p:nvSpPr>
        <p:spPr/>
        <p:txBody>
          <a:bodyPr/>
          <a:lstStyle/>
          <a:p>
            <a:fld id="{47C9E101-E51D-431E-84FA-C029B8655B60}" type="slidenum">
              <a:rPr lang="zh-CN" altLang="en-US" smtClean="0"/>
              <a:pPr/>
              <a:t>21</a:t>
            </a:fld>
            <a:endParaRPr lang="zh-CN" altLang="en-US" dirty="0"/>
          </a:p>
        </p:txBody>
      </p:sp>
    </p:spTree>
    <p:extLst>
      <p:ext uri="{BB962C8B-B14F-4D97-AF65-F5344CB8AC3E}">
        <p14:creationId xmlns:p14="http://schemas.microsoft.com/office/powerpoint/2010/main" val="1750787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8.3.1 </a:t>
            </a:r>
            <a:r>
              <a:rPr lang="zh-CN" altLang="en-US" dirty="0"/>
              <a:t>存储过程</a:t>
            </a:r>
          </a:p>
        </p:txBody>
      </p:sp>
      <p:sp>
        <p:nvSpPr>
          <p:cNvPr id="3" name="内容占位符 2"/>
          <p:cNvSpPr>
            <a:spLocks noGrp="1"/>
          </p:cNvSpPr>
          <p:nvPr>
            <p:ph idx="1"/>
          </p:nvPr>
        </p:nvSpPr>
        <p:spPr/>
        <p:txBody>
          <a:bodyPr/>
          <a:lstStyle/>
          <a:p>
            <a:r>
              <a:rPr lang="zh-CN" altLang="en-US" dirty="0"/>
              <a:t>过程化</a:t>
            </a:r>
            <a:r>
              <a:rPr lang="en-US" altLang="zh-CN" dirty="0"/>
              <a:t>SQL</a:t>
            </a:r>
            <a:r>
              <a:rPr lang="zh-CN" altLang="en-US" dirty="0"/>
              <a:t>块类型</a:t>
            </a:r>
          </a:p>
          <a:p>
            <a:pPr lvl="1"/>
            <a:r>
              <a:rPr lang="zh-CN" altLang="en-US" dirty="0">
                <a:solidFill>
                  <a:srgbClr val="C00000"/>
                </a:solidFill>
              </a:rPr>
              <a:t>命名块</a:t>
            </a:r>
          </a:p>
          <a:p>
            <a:pPr lvl="2"/>
            <a:r>
              <a:rPr lang="zh-CN" altLang="en-US" dirty="0"/>
              <a:t>编译后保存在数据库中，可以被反复调用，运行速度较快，过程和函数是命名块</a:t>
            </a:r>
          </a:p>
          <a:p>
            <a:pPr lvl="1"/>
            <a:r>
              <a:rPr lang="zh-CN" altLang="en-US" dirty="0">
                <a:solidFill>
                  <a:srgbClr val="C00000"/>
                </a:solidFill>
              </a:rPr>
              <a:t>匿名块</a:t>
            </a:r>
          </a:p>
          <a:p>
            <a:pPr lvl="2"/>
            <a:r>
              <a:rPr lang="zh-CN" altLang="en-US" dirty="0"/>
              <a:t>每次执行时都要进行编译，它不能被存储到数据库中，也不能在其他过程化</a:t>
            </a:r>
            <a:r>
              <a:rPr lang="en-US" altLang="zh-CN" dirty="0"/>
              <a:t>SQL</a:t>
            </a:r>
            <a:r>
              <a:rPr lang="zh-CN" altLang="en-US" dirty="0"/>
              <a:t>块中调用</a:t>
            </a:r>
            <a:endParaRPr lang="en-US" altLang="zh-CN" dirty="0"/>
          </a:p>
          <a:p>
            <a:pPr lvl="2"/>
            <a:endParaRPr lang="en-US" altLang="zh-CN" dirty="0"/>
          </a:p>
          <a:p>
            <a:pPr lvl="1"/>
            <a:r>
              <a:rPr lang="zh-CN" altLang="en-US" dirty="0"/>
              <a:t>过程和函数是命名块，他们被编译后保存在数据库中，称为</a:t>
            </a:r>
            <a:r>
              <a:rPr lang="zh-CN" altLang="en-US" dirty="0">
                <a:solidFill>
                  <a:srgbClr val="C00000"/>
                </a:solidFill>
              </a:rPr>
              <a:t>持久性存储模块（</a:t>
            </a:r>
            <a:r>
              <a:rPr lang="en-US" altLang="zh-CN" dirty="0">
                <a:solidFill>
                  <a:srgbClr val="C00000"/>
                </a:solidFill>
              </a:rPr>
              <a:t>PSM</a:t>
            </a:r>
            <a:r>
              <a:rPr lang="zh-CN" altLang="en-US" dirty="0">
                <a:solidFill>
                  <a:srgbClr val="C00000"/>
                </a:solidFill>
              </a:rPr>
              <a:t>）</a:t>
            </a:r>
            <a:r>
              <a:rPr lang="zh-CN" altLang="en-US" dirty="0"/>
              <a:t>，可以被反复调用，运行速度较快。</a:t>
            </a:r>
          </a:p>
        </p:txBody>
      </p:sp>
      <p:sp>
        <p:nvSpPr>
          <p:cNvPr id="4" name="灯片编号占位符 3">
            <a:extLst>
              <a:ext uri="{FF2B5EF4-FFF2-40B4-BE49-F238E27FC236}">
                <a16:creationId xmlns:a16="http://schemas.microsoft.com/office/drawing/2014/main" id="{FC20B0C1-EE8C-4FBE-9D2D-E7737644D196}"/>
              </a:ext>
            </a:extLst>
          </p:cNvPr>
          <p:cNvSpPr>
            <a:spLocks noGrp="1"/>
          </p:cNvSpPr>
          <p:nvPr>
            <p:ph type="sldNum" sz="quarter" idx="12"/>
          </p:nvPr>
        </p:nvSpPr>
        <p:spPr/>
        <p:txBody>
          <a:bodyPr/>
          <a:lstStyle/>
          <a:p>
            <a:fld id="{47C9E101-E51D-431E-84FA-C029B8655B60}" type="slidenum">
              <a:rPr lang="zh-CN" altLang="en-US" smtClean="0"/>
              <a:pPr/>
              <a:t>22</a:t>
            </a:fld>
            <a:endParaRPr lang="zh-CN" altLang="en-US" dirty="0"/>
          </a:p>
        </p:txBody>
      </p:sp>
    </p:spTree>
    <p:extLst>
      <p:ext uri="{BB962C8B-B14F-4D97-AF65-F5344CB8AC3E}">
        <p14:creationId xmlns:p14="http://schemas.microsoft.com/office/powerpoint/2010/main" val="34253380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存储过程（续）</a:t>
            </a:r>
          </a:p>
        </p:txBody>
      </p:sp>
      <p:sp>
        <p:nvSpPr>
          <p:cNvPr id="3" name="内容占位符 2"/>
          <p:cNvSpPr>
            <a:spLocks noGrp="1"/>
          </p:cNvSpPr>
          <p:nvPr>
            <p:ph idx="1"/>
          </p:nvPr>
        </p:nvSpPr>
        <p:spPr/>
        <p:txBody>
          <a:bodyPr>
            <a:normAutofit/>
          </a:bodyPr>
          <a:lstStyle/>
          <a:p>
            <a:r>
              <a:rPr lang="zh-CN" altLang="en-US" dirty="0">
                <a:solidFill>
                  <a:srgbClr val="C00000"/>
                </a:solidFill>
              </a:rPr>
              <a:t>存储过程</a:t>
            </a:r>
            <a:endParaRPr lang="en-US" altLang="zh-CN" dirty="0">
              <a:solidFill>
                <a:srgbClr val="C00000"/>
              </a:solidFill>
            </a:endParaRPr>
          </a:p>
          <a:p>
            <a:pPr lvl="1"/>
            <a:r>
              <a:rPr lang="zh-CN" altLang="en-US" dirty="0"/>
              <a:t>由过程化</a:t>
            </a:r>
            <a:r>
              <a:rPr lang="en-US" altLang="zh-CN" dirty="0"/>
              <a:t>SQL</a:t>
            </a:r>
            <a:r>
              <a:rPr lang="zh-CN" altLang="en-US" dirty="0"/>
              <a:t>语句书写的过程，经编译和优化后存储在数据库服务器中，使用时只要调用即可。</a:t>
            </a:r>
          </a:p>
          <a:p>
            <a:pPr marL="342900" lvl="1" indent="0">
              <a:buNone/>
            </a:pPr>
            <a:r>
              <a:rPr lang="en-US" altLang="zh-CN" dirty="0"/>
              <a:t>1</a:t>
            </a:r>
            <a:r>
              <a:rPr lang="zh-CN" altLang="en-US" dirty="0"/>
              <a:t>、存储过程的优点</a:t>
            </a:r>
          </a:p>
          <a:p>
            <a:pPr marL="685800" lvl="2" indent="0">
              <a:buNone/>
            </a:pPr>
            <a:r>
              <a:rPr lang="zh-CN" altLang="en-US" dirty="0">
                <a:solidFill>
                  <a:srgbClr val="C00000"/>
                </a:solidFill>
              </a:rPr>
              <a:t>（</a:t>
            </a:r>
            <a:r>
              <a:rPr lang="en-US" altLang="zh-CN" dirty="0">
                <a:solidFill>
                  <a:srgbClr val="C00000"/>
                </a:solidFill>
              </a:rPr>
              <a:t>1</a:t>
            </a:r>
            <a:r>
              <a:rPr lang="zh-CN" altLang="en-US" dirty="0">
                <a:solidFill>
                  <a:srgbClr val="C00000"/>
                </a:solidFill>
              </a:rPr>
              <a:t>）运行效率高</a:t>
            </a:r>
            <a:endParaRPr lang="en-US" altLang="zh-CN" dirty="0">
              <a:solidFill>
                <a:srgbClr val="C00000"/>
              </a:solidFill>
            </a:endParaRPr>
          </a:p>
          <a:p>
            <a:pPr lvl="3"/>
            <a:r>
              <a:rPr lang="zh-CN" altLang="en-US" dirty="0"/>
              <a:t>由于存储过程不像解释执行的</a:t>
            </a:r>
            <a:r>
              <a:rPr lang="en-US" altLang="zh-CN" dirty="0"/>
              <a:t>SQL</a:t>
            </a:r>
            <a:r>
              <a:rPr lang="zh-CN" altLang="en-US" dirty="0"/>
              <a:t>语句那样在提出操作请求时才进行语法分析和优化工作，因而运行效率高，它提供了在服务器端快速执行</a:t>
            </a:r>
            <a:r>
              <a:rPr lang="en-US" altLang="zh-CN" dirty="0"/>
              <a:t>SQL</a:t>
            </a:r>
            <a:r>
              <a:rPr lang="zh-CN" altLang="en-US" dirty="0"/>
              <a:t>语句的有效途径。</a:t>
            </a:r>
          </a:p>
          <a:p>
            <a:pPr marL="685800" lvl="2" indent="0">
              <a:buNone/>
            </a:pPr>
            <a:r>
              <a:rPr lang="zh-CN" altLang="en-US" dirty="0">
                <a:solidFill>
                  <a:srgbClr val="C00000"/>
                </a:solidFill>
              </a:rPr>
              <a:t>（</a:t>
            </a:r>
            <a:r>
              <a:rPr lang="en-US" altLang="zh-CN" dirty="0">
                <a:solidFill>
                  <a:srgbClr val="C00000"/>
                </a:solidFill>
              </a:rPr>
              <a:t>2</a:t>
            </a:r>
            <a:r>
              <a:rPr lang="zh-CN" altLang="en-US" dirty="0">
                <a:solidFill>
                  <a:srgbClr val="C00000"/>
                </a:solidFill>
              </a:rPr>
              <a:t>）降低了客户机和服务器之间的通信量</a:t>
            </a:r>
            <a:endParaRPr lang="en-US" altLang="zh-CN" dirty="0">
              <a:solidFill>
                <a:srgbClr val="C00000"/>
              </a:solidFill>
            </a:endParaRPr>
          </a:p>
          <a:p>
            <a:pPr lvl="3"/>
            <a:r>
              <a:rPr lang="zh-CN" altLang="en-US" dirty="0"/>
              <a:t>客户机上的应用程序只要通过网络向服务器发出调用存储过程的名字和参数，就可以让关系数据库管理系统执行其中的多条</a:t>
            </a:r>
            <a:r>
              <a:rPr lang="en-US" altLang="zh-CN" dirty="0"/>
              <a:t>SQL</a:t>
            </a:r>
            <a:r>
              <a:rPr lang="zh-CN" altLang="en-US" dirty="0"/>
              <a:t>语句并进行数据处理，只有最终的处理结果才返回客户端。</a:t>
            </a:r>
          </a:p>
          <a:p>
            <a:pPr marL="685800" lvl="2" indent="0">
              <a:buNone/>
            </a:pPr>
            <a:r>
              <a:rPr lang="zh-CN" altLang="en-US" dirty="0">
                <a:solidFill>
                  <a:srgbClr val="C00000"/>
                </a:solidFill>
              </a:rPr>
              <a:t>（</a:t>
            </a:r>
            <a:r>
              <a:rPr lang="en-US" altLang="zh-CN" dirty="0">
                <a:solidFill>
                  <a:srgbClr val="C00000"/>
                </a:solidFill>
              </a:rPr>
              <a:t>3</a:t>
            </a:r>
            <a:r>
              <a:rPr lang="zh-CN" altLang="en-US" dirty="0">
                <a:solidFill>
                  <a:srgbClr val="C00000"/>
                </a:solidFill>
              </a:rPr>
              <a:t>）方便实施企业规则</a:t>
            </a:r>
            <a:endParaRPr lang="en-US" altLang="zh-CN" dirty="0">
              <a:solidFill>
                <a:srgbClr val="C00000"/>
              </a:solidFill>
            </a:endParaRPr>
          </a:p>
          <a:p>
            <a:pPr lvl="3"/>
            <a:r>
              <a:rPr lang="zh-CN" altLang="en-US" dirty="0"/>
              <a:t>可以把企业规则的运算程序写成存储过程放入数据库服务器中，由关系数据库管理系统管理，既有利于集中控制，又能够方便地进行维护。当企业规则发生变化时只要修改存储过程即可，无需修改其他应用程序。</a:t>
            </a:r>
            <a:endParaRPr lang="en-US" altLang="zh-CN" dirty="0"/>
          </a:p>
          <a:p>
            <a:pPr marL="342900" lvl="1" indent="0">
              <a:buNone/>
            </a:pPr>
            <a:r>
              <a:rPr lang="en-US" altLang="zh-CN" dirty="0"/>
              <a:t>2</a:t>
            </a:r>
            <a:r>
              <a:rPr lang="zh-CN" altLang="en-US" dirty="0"/>
              <a:t>、存储过程的用户接口</a:t>
            </a:r>
          </a:p>
          <a:p>
            <a:pPr marL="685800" lvl="2" indent="0">
              <a:buNone/>
            </a:pPr>
            <a:r>
              <a:rPr lang="zh-CN" altLang="en-US" dirty="0">
                <a:solidFill>
                  <a:srgbClr val="C00000"/>
                </a:solidFill>
              </a:rPr>
              <a:t>创建</a:t>
            </a:r>
            <a:r>
              <a:rPr lang="zh-CN" altLang="en-US" dirty="0"/>
              <a:t>存储过程、</a:t>
            </a:r>
            <a:r>
              <a:rPr lang="zh-CN" altLang="en-US" dirty="0">
                <a:solidFill>
                  <a:srgbClr val="C00000"/>
                </a:solidFill>
              </a:rPr>
              <a:t>执行</a:t>
            </a:r>
            <a:r>
              <a:rPr lang="zh-CN" altLang="en-US" dirty="0"/>
              <a:t>存储过程、</a:t>
            </a:r>
            <a:r>
              <a:rPr lang="zh-CN" altLang="en-US" dirty="0">
                <a:solidFill>
                  <a:srgbClr val="C00000"/>
                </a:solidFill>
              </a:rPr>
              <a:t>修改</a:t>
            </a:r>
            <a:r>
              <a:rPr lang="zh-CN" altLang="en-US" dirty="0"/>
              <a:t>存储过程、</a:t>
            </a:r>
            <a:r>
              <a:rPr lang="zh-CN" altLang="en-US" dirty="0">
                <a:solidFill>
                  <a:srgbClr val="C00000"/>
                </a:solidFill>
              </a:rPr>
              <a:t>删除</a:t>
            </a:r>
            <a:r>
              <a:rPr lang="zh-CN" altLang="en-US" dirty="0"/>
              <a:t>存储过程</a:t>
            </a:r>
          </a:p>
        </p:txBody>
      </p:sp>
      <p:sp>
        <p:nvSpPr>
          <p:cNvPr id="4" name="灯片编号占位符 3">
            <a:extLst>
              <a:ext uri="{FF2B5EF4-FFF2-40B4-BE49-F238E27FC236}">
                <a16:creationId xmlns:a16="http://schemas.microsoft.com/office/drawing/2014/main" id="{99D3049B-7A8D-4FEF-8B59-EF5D5098D5DD}"/>
              </a:ext>
            </a:extLst>
          </p:cNvPr>
          <p:cNvSpPr>
            <a:spLocks noGrp="1"/>
          </p:cNvSpPr>
          <p:nvPr>
            <p:ph type="sldNum" sz="quarter" idx="12"/>
          </p:nvPr>
        </p:nvSpPr>
        <p:spPr/>
        <p:txBody>
          <a:bodyPr/>
          <a:lstStyle/>
          <a:p>
            <a:fld id="{47C9E101-E51D-431E-84FA-C029B8655B60}" type="slidenum">
              <a:rPr lang="zh-CN" altLang="en-US" smtClean="0"/>
              <a:pPr/>
              <a:t>23</a:t>
            </a:fld>
            <a:endParaRPr lang="zh-CN" altLang="en-US" dirty="0"/>
          </a:p>
        </p:txBody>
      </p:sp>
    </p:spTree>
    <p:extLst>
      <p:ext uri="{BB962C8B-B14F-4D97-AF65-F5344CB8AC3E}">
        <p14:creationId xmlns:p14="http://schemas.microsoft.com/office/powerpoint/2010/main" val="295988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a:t>
            </a:r>
            <a:r>
              <a:rPr lang="zh-CN" altLang="en-US" dirty="0"/>
              <a:t>存储过程的用户接口</a:t>
            </a:r>
          </a:p>
        </p:txBody>
      </p:sp>
      <p:sp>
        <p:nvSpPr>
          <p:cNvPr id="3" name="内容占位符 2"/>
          <p:cNvSpPr>
            <a:spLocks noGrp="1"/>
          </p:cNvSpPr>
          <p:nvPr>
            <p:ph idx="1"/>
          </p:nvPr>
        </p:nvSpPr>
        <p:spPr/>
        <p:txBody>
          <a:bodyPr/>
          <a:lstStyle/>
          <a:p>
            <a:pPr marL="0" indent="0">
              <a:buNone/>
            </a:pPr>
            <a:r>
              <a:rPr lang="zh-CN" altLang="en-US" dirty="0"/>
              <a:t>（</a:t>
            </a:r>
            <a:r>
              <a:rPr lang="en-US" altLang="zh-CN" dirty="0"/>
              <a:t>1</a:t>
            </a:r>
            <a:r>
              <a:rPr lang="zh-CN" altLang="en-US" dirty="0"/>
              <a:t>）创建存储过程</a:t>
            </a:r>
          </a:p>
          <a:p>
            <a:pPr marL="342900" lvl="1" indent="0">
              <a:buNone/>
            </a:pPr>
            <a:r>
              <a:rPr lang="en-US" altLang="zh-CN" dirty="0">
                <a:solidFill>
                  <a:srgbClr val="C00000"/>
                </a:solidFill>
              </a:rPr>
              <a:t>CREATE OR REPLACE PROCEDURE </a:t>
            </a:r>
            <a:r>
              <a:rPr lang="zh-CN" altLang="en-US" dirty="0"/>
              <a:t>过程名</a:t>
            </a:r>
            <a:r>
              <a:rPr lang="en-US" altLang="zh-CN" dirty="0"/>
              <a:t>([</a:t>
            </a:r>
            <a:r>
              <a:rPr lang="zh-CN" altLang="en-US" dirty="0"/>
              <a:t>参数</a:t>
            </a:r>
            <a:r>
              <a:rPr lang="en-US" altLang="zh-CN" dirty="0"/>
              <a:t>1,</a:t>
            </a:r>
            <a:r>
              <a:rPr lang="zh-CN" altLang="en-US" dirty="0"/>
              <a:t>参数</a:t>
            </a:r>
            <a:r>
              <a:rPr lang="en-US" altLang="zh-CN" dirty="0"/>
              <a:t>2,...]) </a:t>
            </a:r>
          </a:p>
          <a:p>
            <a:pPr marL="342900" lvl="1" indent="0">
              <a:buNone/>
            </a:pPr>
            <a:r>
              <a:rPr lang="en-US" altLang="zh-CN" dirty="0">
                <a:solidFill>
                  <a:srgbClr val="C00000"/>
                </a:solidFill>
              </a:rPr>
              <a:t>AS</a:t>
            </a:r>
            <a:r>
              <a:rPr lang="en-US" altLang="zh-CN" dirty="0"/>
              <a:t> &lt;</a:t>
            </a:r>
            <a:r>
              <a:rPr lang="zh-CN" altLang="en-US" dirty="0"/>
              <a:t>过程化</a:t>
            </a:r>
            <a:r>
              <a:rPr lang="en-US" altLang="zh-CN" dirty="0"/>
              <a:t>SQL</a:t>
            </a:r>
            <a:r>
              <a:rPr lang="zh-CN" altLang="en-US" dirty="0"/>
              <a:t>块</a:t>
            </a:r>
            <a:r>
              <a:rPr lang="en-US" altLang="zh-CN" dirty="0"/>
              <a:t>&gt;</a:t>
            </a:r>
            <a:r>
              <a:rPr lang="zh-CN" altLang="en-US" dirty="0"/>
              <a:t>；</a:t>
            </a:r>
          </a:p>
          <a:p>
            <a:pPr lvl="2"/>
            <a:r>
              <a:rPr lang="zh-CN" altLang="en-US" dirty="0">
                <a:solidFill>
                  <a:srgbClr val="3333FF"/>
                </a:solidFill>
              </a:rPr>
              <a:t>过程名：</a:t>
            </a:r>
            <a:r>
              <a:rPr lang="zh-CN" altLang="en-US" dirty="0"/>
              <a:t>数据库服务器合法的对象标识</a:t>
            </a:r>
          </a:p>
          <a:p>
            <a:pPr lvl="2"/>
            <a:r>
              <a:rPr lang="zh-CN" altLang="en-US" dirty="0">
                <a:solidFill>
                  <a:srgbClr val="3333FF"/>
                </a:solidFill>
              </a:rPr>
              <a:t>参数列表：</a:t>
            </a:r>
            <a:r>
              <a:rPr lang="zh-CN" altLang="en-US" dirty="0"/>
              <a:t>用名字来标识调用时给出的参数值，必须指定值的数据类型。参数也可以定义输入参数、输出参数或输入</a:t>
            </a:r>
            <a:r>
              <a:rPr lang="en-US" altLang="zh-CN" dirty="0"/>
              <a:t>/</a:t>
            </a:r>
            <a:r>
              <a:rPr lang="zh-CN" altLang="en-US" dirty="0"/>
              <a:t>输出参数，默认为输入参数</a:t>
            </a:r>
          </a:p>
          <a:p>
            <a:pPr lvl="2"/>
            <a:r>
              <a:rPr lang="zh-CN" altLang="en-US" dirty="0">
                <a:solidFill>
                  <a:srgbClr val="3333FF"/>
                </a:solidFill>
              </a:rPr>
              <a:t>过程体：</a:t>
            </a:r>
            <a:r>
              <a:rPr lang="zh-CN" altLang="en-US" dirty="0"/>
              <a:t>是一个</a:t>
            </a:r>
            <a:r>
              <a:rPr lang="en-US" altLang="zh-CN" dirty="0"/>
              <a:t>&lt;</a:t>
            </a:r>
            <a:r>
              <a:rPr lang="zh-CN" altLang="en-US" dirty="0"/>
              <a:t>过程化</a:t>
            </a:r>
            <a:r>
              <a:rPr lang="en-US" altLang="zh-CN" dirty="0"/>
              <a:t>SQL</a:t>
            </a:r>
            <a:r>
              <a:rPr lang="zh-CN" altLang="en-US" dirty="0"/>
              <a:t>块</a:t>
            </a:r>
            <a:r>
              <a:rPr lang="en-US" altLang="zh-CN" dirty="0"/>
              <a:t>&gt;</a:t>
            </a:r>
            <a:r>
              <a:rPr lang="zh-CN" altLang="en-US" dirty="0"/>
              <a:t>，包括声明部分和可执行语句部分</a:t>
            </a:r>
          </a:p>
        </p:txBody>
      </p:sp>
      <p:sp>
        <p:nvSpPr>
          <p:cNvPr id="4" name="灯片编号占位符 3">
            <a:extLst>
              <a:ext uri="{FF2B5EF4-FFF2-40B4-BE49-F238E27FC236}">
                <a16:creationId xmlns:a16="http://schemas.microsoft.com/office/drawing/2014/main" id="{0722160B-E0DA-4937-9B53-3C57AAEAFA91}"/>
              </a:ext>
            </a:extLst>
          </p:cNvPr>
          <p:cNvSpPr>
            <a:spLocks noGrp="1"/>
          </p:cNvSpPr>
          <p:nvPr>
            <p:ph type="sldNum" sz="quarter" idx="12"/>
          </p:nvPr>
        </p:nvSpPr>
        <p:spPr/>
        <p:txBody>
          <a:bodyPr/>
          <a:lstStyle/>
          <a:p>
            <a:fld id="{47C9E101-E51D-431E-84FA-C029B8655B60}" type="slidenum">
              <a:rPr lang="zh-CN" altLang="en-US" smtClean="0"/>
              <a:pPr/>
              <a:t>24</a:t>
            </a:fld>
            <a:endParaRPr lang="zh-CN" altLang="en-US" dirty="0"/>
          </a:p>
        </p:txBody>
      </p:sp>
    </p:spTree>
    <p:extLst>
      <p:ext uri="{BB962C8B-B14F-4D97-AF65-F5344CB8AC3E}">
        <p14:creationId xmlns:p14="http://schemas.microsoft.com/office/powerpoint/2010/main" val="2925118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存储过程的用户接口（续）</a:t>
            </a:r>
          </a:p>
        </p:txBody>
      </p:sp>
      <p:sp>
        <p:nvSpPr>
          <p:cNvPr id="3" name="内容占位符 2"/>
          <p:cNvSpPr>
            <a:spLocks noGrp="1"/>
          </p:cNvSpPr>
          <p:nvPr>
            <p:ph idx="1"/>
          </p:nvPr>
        </p:nvSpPr>
        <p:spPr>
          <a:xfrm>
            <a:off x="838199" y="1147084"/>
            <a:ext cx="10836729" cy="5233307"/>
          </a:xfrm>
        </p:spPr>
        <p:txBody>
          <a:bodyPr>
            <a:normAutofit lnSpcReduction="10000"/>
          </a:bodyPr>
          <a:lstStyle/>
          <a:p>
            <a:r>
              <a:rPr lang="en-US" altLang="zh-CN" dirty="0"/>
              <a:t>[</a:t>
            </a:r>
            <a:r>
              <a:rPr lang="zh-CN" altLang="en-US" dirty="0"/>
              <a:t>例</a:t>
            </a:r>
            <a:r>
              <a:rPr lang="en-US" altLang="zh-CN" dirty="0"/>
              <a:t>8.8] </a:t>
            </a:r>
            <a:r>
              <a:rPr lang="zh-CN" altLang="en-US" dirty="0"/>
              <a:t>利用存储过程来实现下面的应用：从账户</a:t>
            </a:r>
            <a:r>
              <a:rPr lang="en-US" altLang="zh-CN" dirty="0"/>
              <a:t>1</a:t>
            </a:r>
            <a:r>
              <a:rPr lang="zh-CN" altLang="en-US" dirty="0"/>
              <a:t>转指定数额的款项到账户</a:t>
            </a:r>
            <a:r>
              <a:rPr lang="en-US" altLang="zh-CN" dirty="0"/>
              <a:t>2</a:t>
            </a:r>
            <a:r>
              <a:rPr lang="zh-CN" altLang="en-US" dirty="0"/>
              <a:t>中。</a:t>
            </a:r>
          </a:p>
          <a:p>
            <a:pPr marL="342900" lvl="1" indent="0">
              <a:buNone/>
            </a:pPr>
            <a:r>
              <a:rPr lang="en-US" altLang="zh-CN" dirty="0">
                <a:highlight>
                  <a:srgbClr val="FFFF00"/>
                </a:highlight>
              </a:rPr>
              <a:t>CREATE OR REPLACE PROCEDURE TRANSFER (</a:t>
            </a:r>
            <a:r>
              <a:rPr lang="en-US" altLang="zh-CN" dirty="0" err="1">
                <a:highlight>
                  <a:srgbClr val="FFFF00"/>
                </a:highlight>
              </a:rPr>
              <a:t>inAccount</a:t>
            </a:r>
            <a:r>
              <a:rPr lang="en-US" altLang="zh-CN" dirty="0">
                <a:highlight>
                  <a:srgbClr val="FFFF00"/>
                </a:highlight>
              </a:rPr>
              <a:t> INT, </a:t>
            </a:r>
            <a:r>
              <a:rPr lang="en-US" altLang="zh-CN" dirty="0" err="1">
                <a:highlight>
                  <a:srgbClr val="FFFF00"/>
                </a:highlight>
              </a:rPr>
              <a:t>outAccount</a:t>
            </a:r>
            <a:r>
              <a:rPr lang="en-US" altLang="zh-CN" dirty="0">
                <a:highlight>
                  <a:srgbClr val="FFFF00"/>
                </a:highlight>
              </a:rPr>
              <a:t> INT, amount FLOAT)</a:t>
            </a:r>
          </a:p>
          <a:p>
            <a:pPr marL="342900" lvl="1" indent="0">
              <a:buNone/>
            </a:pPr>
            <a:r>
              <a:rPr lang="en-US" altLang="zh-CN" dirty="0">
                <a:solidFill>
                  <a:srgbClr val="3333FF"/>
                </a:solidFill>
              </a:rPr>
              <a:t>/*</a:t>
            </a:r>
            <a:r>
              <a:rPr lang="zh-CN" altLang="en-US" dirty="0">
                <a:solidFill>
                  <a:srgbClr val="3333FF"/>
                </a:solidFill>
              </a:rPr>
              <a:t>定义存储过程</a:t>
            </a:r>
            <a:r>
              <a:rPr lang="en-US" altLang="zh-CN" dirty="0">
                <a:solidFill>
                  <a:srgbClr val="3333FF"/>
                </a:solidFill>
              </a:rPr>
              <a:t>TRANSFER</a:t>
            </a:r>
            <a:r>
              <a:rPr lang="zh-CN" altLang="en-US" dirty="0">
                <a:solidFill>
                  <a:srgbClr val="3333FF"/>
                </a:solidFill>
              </a:rPr>
              <a:t>，其参数为转入账户、转出账户、转账额度*</a:t>
            </a:r>
            <a:r>
              <a:rPr lang="en-US" altLang="zh-CN" dirty="0">
                <a:solidFill>
                  <a:srgbClr val="3333FF"/>
                </a:solidFill>
              </a:rPr>
              <a:t>/</a:t>
            </a:r>
          </a:p>
          <a:p>
            <a:pPr marL="342900" lvl="1" indent="0">
              <a:buNone/>
            </a:pPr>
            <a:r>
              <a:rPr lang="en-US" altLang="zh-CN" sz="1600" dirty="0">
                <a:solidFill>
                  <a:srgbClr val="C00000"/>
                </a:solidFill>
              </a:rPr>
              <a:t>AS DECLARE /*</a:t>
            </a:r>
            <a:r>
              <a:rPr lang="zh-CN" altLang="en-US" sz="1600" dirty="0">
                <a:solidFill>
                  <a:srgbClr val="C00000"/>
                </a:solidFill>
              </a:rPr>
              <a:t>定义变量*</a:t>
            </a:r>
            <a:r>
              <a:rPr lang="en-US" altLang="zh-CN" sz="1600" dirty="0">
                <a:solidFill>
                  <a:srgbClr val="C00000"/>
                </a:solidFill>
              </a:rPr>
              <a:t>/</a:t>
            </a:r>
          </a:p>
          <a:p>
            <a:pPr marL="342900" lvl="1" indent="0">
              <a:buNone/>
            </a:pPr>
            <a:r>
              <a:rPr lang="en-US" altLang="zh-CN" sz="1600" dirty="0"/>
              <a:t>      </a:t>
            </a:r>
            <a:r>
              <a:rPr lang="en-US" altLang="zh-CN" sz="1600" dirty="0" err="1"/>
              <a:t>totalDepositOut</a:t>
            </a:r>
            <a:r>
              <a:rPr lang="en-US" altLang="zh-CN" sz="1600" dirty="0"/>
              <a:t> Float;</a:t>
            </a:r>
          </a:p>
          <a:p>
            <a:pPr marL="342900" lvl="1" indent="0">
              <a:buNone/>
            </a:pPr>
            <a:r>
              <a:rPr lang="en-US" altLang="zh-CN" sz="1600" dirty="0"/>
              <a:t>      </a:t>
            </a:r>
            <a:r>
              <a:rPr lang="en-US" altLang="zh-CN" sz="1600" dirty="0" err="1"/>
              <a:t>totalDepositIn</a:t>
            </a:r>
            <a:r>
              <a:rPr lang="en-US" altLang="zh-CN" sz="1600" dirty="0"/>
              <a:t> Float;</a:t>
            </a:r>
          </a:p>
          <a:p>
            <a:pPr marL="342900" lvl="1" indent="0">
              <a:buNone/>
            </a:pPr>
            <a:r>
              <a:rPr lang="en-US" altLang="zh-CN" sz="1600" dirty="0"/>
              <a:t>      </a:t>
            </a:r>
            <a:r>
              <a:rPr lang="en-US" altLang="zh-CN" sz="1600" dirty="0" err="1"/>
              <a:t>inAccountnum</a:t>
            </a:r>
            <a:r>
              <a:rPr lang="en-US" altLang="zh-CN" sz="1600" dirty="0"/>
              <a:t> INT;</a:t>
            </a:r>
          </a:p>
          <a:p>
            <a:pPr marL="342900" lvl="1" indent="0">
              <a:buNone/>
            </a:pPr>
            <a:r>
              <a:rPr lang="en-US" altLang="zh-CN" sz="1600" dirty="0">
                <a:solidFill>
                  <a:srgbClr val="C00000"/>
                </a:solidFill>
              </a:rPr>
              <a:t>BEGIN </a:t>
            </a:r>
            <a:r>
              <a:rPr lang="en-US" altLang="zh-CN" sz="1600" dirty="0">
                <a:solidFill>
                  <a:srgbClr val="3333FF"/>
                </a:solidFill>
              </a:rPr>
              <a:t>/*</a:t>
            </a:r>
            <a:r>
              <a:rPr lang="zh-CN" altLang="en-US" sz="1600" dirty="0">
                <a:solidFill>
                  <a:srgbClr val="3333FF"/>
                </a:solidFill>
              </a:rPr>
              <a:t>检查转出账户的余额 *</a:t>
            </a:r>
            <a:r>
              <a:rPr lang="en-US" altLang="zh-CN" sz="1600" dirty="0">
                <a:solidFill>
                  <a:srgbClr val="3333FF"/>
                </a:solidFill>
              </a:rPr>
              <a:t>/</a:t>
            </a:r>
          </a:p>
          <a:p>
            <a:pPr marL="342900" lvl="1" indent="0">
              <a:buNone/>
            </a:pPr>
            <a:r>
              <a:rPr lang="en-US" altLang="zh-CN" sz="1600" dirty="0">
                <a:solidFill>
                  <a:schemeClr val="accent3">
                    <a:lumMod val="75000"/>
                  </a:schemeClr>
                </a:solidFill>
              </a:rPr>
              <a:t>      </a:t>
            </a:r>
            <a:r>
              <a:rPr lang="en-US" altLang="zh-CN" sz="1600" dirty="0"/>
              <a:t>SELECT Total INTO </a:t>
            </a:r>
            <a:r>
              <a:rPr lang="en-US" altLang="zh-CN" sz="1600" dirty="0" err="1"/>
              <a:t>totalDepositOut</a:t>
            </a:r>
            <a:r>
              <a:rPr lang="en-US" altLang="zh-CN" sz="1600" dirty="0"/>
              <a:t> FROM </a:t>
            </a:r>
            <a:r>
              <a:rPr lang="en-US" altLang="zh-CN" sz="1600" dirty="0" err="1"/>
              <a:t>Accout</a:t>
            </a:r>
            <a:endParaRPr lang="en-US" altLang="zh-CN" sz="1600" dirty="0"/>
          </a:p>
          <a:p>
            <a:pPr marL="342900" lvl="1" indent="0">
              <a:buNone/>
            </a:pPr>
            <a:r>
              <a:rPr lang="en-US" altLang="zh-CN" sz="1600" dirty="0"/>
              <a:t>      WHERE </a:t>
            </a:r>
            <a:r>
              <a:rPr lang="en-US" altLang="zh-CN" sz="1600" dirty="0" err="1"/>
              <a:t>accountnum</a:t>
            </a:r>
            <a:r>
              <a:rPr lang="en-US" altLang="zh-CN" sz="1600" dirty="0"/>
              <a:t>=</a:t>
            </a:r>
            <a:r>
              <a:rPr lang="en-US" altLang="zh-CN" sz="1600" dirty="0" err="1"/>
              <a:t>outAccount</a:t>
            </a:r>
            <a:r>
              <a:rPr lang="en-US" altLang="zh-CN" sz="1600" dirty="0"/>
              <a:t>;</a:t>
            </a:r>
          </a:p>
          <a:p>
            <a:pPr marL="342900" lvl="1" indent="0">
              <a:buNone/>
            </a:pPr>
            <a:r>
              <a:rPr lang="en-US" altLang="zh-CN" sz="1600" dirty="0"/>
              <a:t>      IF </a:t>
            </a:r>
            <a:r>
              <a:rPr lang="en-US" altLang="zh-CN" sz="1600" dirty="0" err="1"/>
              <a:t>totalDepositOut</a:t>
            </a:r>
            <a:r>
              <a:rPr lang="en-US" altLang="zh-CN" sz="1600" dirty="0"/>
              <a:t> IS NULL THEN </a:t>
            </a:r>
            <a:r>
              <a:rPr lang="en-US" altLang="zh-CN" sz="1600" dirty="0">
                <a:solidFill>
                  <a:srgbClr val="3333FF"/>
                </a:solidFill>
              </a:rPr>
              <a:t>/*</a:t>
            </a:r>
            <a:r>
              <a:rPr lang="zh-CN" altLang="en-US" sz="1600" dirty="0">
                <a:solidFill>
                  <a:srgbClr val="3333FF"/>
                </a:solidFill>
              </a:rPr>
              <a:t>如果转出账户不存在或账户中没有存款*</a:t>
            </a:r>
            <a:r>
              <a:rPr lang="en-US" altLang="zh-CN" sz="1600" dirty="0">
                <a:solidFill>
                  <a:srgbClr val="3333FF"/>
                </a:solidFill>
              </a:rPr>
              <a:t>/</a:t>
            </a:r>
          </a:p>
          <a:p>
            <a:pPr marL="342900" lvl="1" indent="0">
              <a:buNone/>
            </a:pPr>
            <a:r>
              <a:rPr lang="en-US" altLang="zh-CN" sz="1600" dirty="0"/>
              <a:t>            ROLLBACK; </a:t>
            </a:r>
            <a:r>
              <a:rPr lang="en-US" altLang="zh-CN" sz="1600" dirty="0">
                <a:solidFill>
                  <a:srgbClr val="3333FF"/>
                </a:solidFill>
              </a:rPr>
              <a:t>/*</a:t>
            </a:r>
            <a:r>
              <a:rPr lang="zh-CN" altLang="en-US" sz="1600" dirty="0">
                <a:solidFill>
                  <a:srgbClr val="3333FF"/>
                </a:solidFill>
              </a:rPr>
              <a:t>回滚事务*</a:t>
            </a:r>
            <a:r>
              <a:rPr lang="en-US" altLang="zh-CN" sz="1600" dirty="0">
                <a:solidFill>
                  <a:srgbClr val="3333FF"/>
                </a:solidFill>
              </a:rPr>
              <a:t>/</a:t>
            </a:r>
          </a:p>
          <a:p>
            <a:pPr marL="342900" lvl="1" indent="0">
              <a:buNone/>
            </a:pPr>
            <a:r>
              <a:rPr lang="en-US" altLang="zh-CN" sz="1600" dirty="0"/>
              <a:t>            RETURN;</a:t>
            </a:r>
          </a:p>
          <a:p>
            <a:pPr marL="342900" lvl="1" indent="0">
              <a:buNone/>
            </a:pPr>
            <a:r>
              <a:rPr lang="en-US" altLang="zh-CN" sz="1600" dirty="0"/>
              <a:t>      END IF;</a:t>
            </a:r>
          </a:p>
        </p:txBody>
      </p:sp>
      <p:sp>
        <p:nvSpPr>
          <p:cNvPr id="4" name="灯片编号占位符 3">
            <a:extLst>
              <a:ext uri="{FF2B5EF4-FFF2-40B4-BE49-F238E27FC236}">
                <a16:creationId xmlns:a16="http://schemas.microsoft.com/office/drawing/2014/main" id="{D2A434D7-CADD-426F-B5E4-644619A8E59E}"/>
              </a:ext>
            </a:extLst>
          </p:cNvPr>
          <p:cNvSpPr>
            <a:spLocks noGrp="1"/>
          </p:cNvSpPr>
          <p:nvPr>
            <p:ph type="sldNum" sz="quarter" idx="12"/>
          </p:nvPr>
        </p:nvSpPr>
        <p:spPr/>
        <p:txBody>
          <a:bodyPr/>
          <a:lstStyle/>
          <a:p>
            <a:fld id="{47C9E101-E51D-431E-84FA-C029B8655B60}" type="slidenum">
              <a:rPr lang="zh-CN" altLang="en-US" smtClean="0"/>
              <a:pPr/>
              <a:t>25</a:t>
            </a:fld>
            <a:endParaRPr lang="zh-CN" altLang="en-US" dirty="0"/>
          </a:p>
        </p:txBody>
      </p:sp>
    </p:spTree>
    <p:extLst>
      <p:ext uri="{BB962C8B-B14F-4D97-AF65-F5344CB8AC3E}">
        <p14:creationId xmlns:p14="http://schemas.microsoft.com/office/powerpoint/2010/main" val="25660392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存储过程的用户接口（续）</a:t>
            </a:r>
          </a:p>
        </p:txBody>
      </p:sp>
      <p:sp>
        <p:nvSpPr>
          <p:cNvPr id="3" name="内容占位符 2"/>
          <p:cNvSpPr>
            <a:spLocks noGrp="1"/>
          </p:cNvSpPr>
          <p:nvPr>
            <p:ph idx="1"/>
          </p:nvPr>
        </p:nvSpPr>
        <p:spPr/>
        <p:txBody>
          <a:bodyPr>
            <a:normAutofit fontScale="92500" lnSpcReduction="20000"/>
          </a:bodyPr>
          <a:lstStyle/>
          <a:p>
            <a:pPr marL="685800" lvl="2" indent="0">
              <a:buNone/>
            </a:pPr>
            <a:r>
              <a:rPr lang="en-US" altLang="zh-CN" sz="1600" dirty="0"/>
              <a:t>IF </a:t>
            </a:r>
            <a:r>
              <a:rPr lang="en-US" altLang="zh-CN" sz="1600" dirty="0" err="1"/>
              <a:t>totalDeposit</a:t>
            </a:r>
            <a:r>
              <a:rPr lang="en-US" altLang="zh-CN" sz="1600" dirty="0"/>
              <a:t> Out&lt; amount THEN </a:t>
            </a:r>
            <a:r>
              <a:rPr lang="en-US" altLang="zh-CN" sz="1600" dirty="0">
                <a:solidFill>
                  <a:srgbClr val="3333FF"/>
                </a:solidFill>
              </a:rPr>
              <a:t>/*</a:t>
            </a:r>
            <a:r>
              <a:rPr lang="zh-CN" altLang="en-US" sz="1600" dirty="0">
                <a:solidFill>
                  <a:srgbClr val="3333FF"/>
                </a:solidFill>
              </a:rPr>
              <a:t>如果账户存款不足*</a:t>
            </a:r>
            <a:r>
              <a:rPr lang="en-US" altLang="zh-CN" sz="1600" dirty="0">
                <a:solidFill>
                  <a:srgbClr val="3333FF"/>
                </a:solidFill>
              </a:rPr>
              <a:t>/</a:t>
            </a:r>
          </a:p>
          <a:p>
            <a:pPr marL="685800" lvl="2" indent="0">
              <a:buNone/>
            </a:pPr>
            <a:r>
              <a:rPr lang="en-US" altLang="zh-CN" sz="1600" dirty="0"/>
              <a:t>        ROLLBACK</a:t>
            </a:r>
            <a:r>
              <a:rPr lang="en-US" altLang="zh-CN" sz="1600" dirty="0">
                <a:solidFill>
                  <a:srgbClr val="3333FF"/>
                </a:solidFill>
              </a:rPr>
              <a:t>; /*</a:t>
            </a:r>
            <a:r>
              <a:rPr lang="zh-CN" altLang="en-US" sz="1600" dirty="0">
                <a:solidFill>
                  <a:srgbClr val="3333FF"/>
                </a:solidFill>
              </a:rPr>
              <a:t>回滚事务*</a:t>
            </a:r>
            <a:r>
              <a:rPr lang="en-US" altLang="zh-CN" sz="1600" dirty="0">
                <a:solidFill>
                  <a:srgbClr val="3333FF"/>
                </a:solidFill>
              </a:rPr>
              <a:t>/</a:t>
            </a:r>
          </a:p>
          <a:p>
            <a:pPr marL="685800" lvl="2" indent="0">
              <a:buNone/>
            </a:pPr>
            <a:r>
              <a:rPr lang="en-US" altLang="zh-CN" sz="1600" dirty="0"/>
              <a:t>        RETURN;</a:t>
            </a:r>
          </a:p>
          <a:p>
            <a:pPr marL="685800" lvl="2" indent="0">
              <a:buNone/>
            </a:pPr>
            <a:r>
              <a:rPr lang="en-US" altLang="zh-CN" sz="1600" dirty="0"/>
              <a:t>END IF;</a:t>
            </a:r>
          </a:p>
          <a:p>
            <a:pPr marL="685800" lvl="2" indent="0">
              <a:buNone/>
            </a:pPr>
            <a:r>
              <a:rPr lang="en-US" altLang="zh-CN" sz="1600" dirty="0"/>
              <a:t>SELECT </a:t>
            </a:r>
            <a:r>
              <a:rPr lang="en-US" altLang="zh-CN" sz="1600" dirty="0" err="1"/>
              <a:t>Accountnum</a:t>
            </a:r>
            <a:r>
              <a:rPr lang="en-US" altLang="zh-CN" sz="1600" dirty="0"/>
              <a:t> INTO </a:t>
            </a:r>
            <a:r>
              <a:rPr lang="en-US" altLang="zh-CN" sz="1600" dirty="0" err="1"/>
              <a:t>inAccountnum</a:t>
            </a:r>
            <a:r>
              <a:rPr lang="en-US" altLang="zh-CN" sz="1600" dirty="0"/>
              <a:t> FROM Account</a:t>
            </a:r>
          </a:p>
          <a:p>
            <a:pPr marL="685800" lvl="2" indent="0">
              <a:buNone/>
            </a:pPr>
            <a:r>
              <a:rPr lang="en-US" altLang="zh-CN" sz="1600" dirty="0"/>
              <a:t>WHERE </a:t>
            </a:r>
            <a:r>
              <a:rPr lang="en-US" altLang="zh-CN" sz="1600" dirty="0" err="1"/>
              <a:t>accountnum</a:t>
            </a:r>
            <a:r>
              <a:rPr lang="en-US" altLang="zh-CN" sz="1600" dirty="0"/>
              <a:t>=</a:t>
            </a:r>
            <a:r>
              <a:rPr lang="en-US" altLang="zh-CN" sz="1600" dirty="0" err="1"/>
              <a:t>inAccount</a:t>
            </a:r>
            <a:r>
              <a:rPr lang="en-US" altLang="zh-CN" sz="1600" dirty="0"/>
              <a:t>;</a:t>
            </a:r>
          </a:p>
          <a:p>
            <a:pPr marL="685800" lvl="2" indent="0">
              <a:buNone/>
            </a:pPr>
            <a:r>
              <a:rPr lang="en-US" altLang="zh-CN" sz="1600" dirty="0"/>
              <a:t>IF </a:t>
            </a:r>
            <a:r>
              <a:rPr lang="en-US" altLang="zh-CN" sz="1600" dirty="0" err="1"/>
              <a:t>inAccount</a:t>
            </a:r>
            <a:r>
              <a:rPr lang="en-US" altLang="zh-CN" sz="1600" dirty="0"/>
              <a:t> IS NULL THEN </a:t>
            </a:r>
            <a:r>
              <a:rPr lang="en-US" altLang="zh-CN" sz="1600" dirty="0">
                <a:solidFill>
                  <a:srgbClr val="3333FF"/>
                </a:solidFill>
              </a:rPr>
              <a:t>/*</a:t>
            </a:r>
            <a:r>
              <a:rPr lang="zh-CN" altLang="en-US" sz="1600" dirty="0">
                <a:solidFill>
                  <a:srgbClr val="3333FF"/>
                </a:solidFill>
              </a:rPr>
              <a:t>如果转入账户不存在*</a:t>
            </a:r>
            <a:r>
              <a:rPr lang="en-US" altLang="zh-CN" sz="1600" dirty="0">
                <a:solidFill>
                  <a:srgbClr val="3333FF"/>
                </a:solidFill>
              </a:rPr>
              <a:t>/</a:t>
            </a:r>
          </a:p>
          <a:p>
            <a:pPr marL="685800" lvl="2" indent="0">
              <a:buNone/>
            </a:pPr>
            <a:r>
              <a:rPr lang="en-US" altLang="zh-CN" sz="1600" dirty="0"/>
              <a:t>       ROLLBACK;</a:t>
            </a:r>
            <a:r>
              <a:rPr lang="en-US" altLang="zh-CN" sz="1600" dirty="0">
                <a:solidFill>
                  <a:srgbClr val="3333FF"/>
                </a:solidFill>
              </a:rPr>
              <a:t>  /*</a:t>
            </a:r>
            <a:r>
              <a:rPr lang="zh-CN" altLang="en-US" sz="1600" dirty="0">
                <a:solidFill>
                  <a:srgbClr val="3333FF"/>
                </a:solidFill>
              </a:rPr>
              <a:t>回滚事务*</a:t>
            </a:r>
            <a:r>
              <a:rPr lang="en-US" altLang="zh-CN" sz="1600" dirty="0">
                <a:solidFill>
                  <a:srgbClr val="3333FF"/>
                </a:solidFill>
              </a:rPr>
              <a:t>/</a:t>
            </a:r>
          </a:p>
          <a:p>
            <a:pPr marL="685800" lvl="2" indent="0">
              <a:buNone/>
            </a:pPr>
            <a:r>
              <a:rPr lang="en-US" altLang="zh-CN" sz="1600" dirty="0"/>
              <a:t>       RETURN;</a:t>
            </a:r>
          </a:p>
          <a:p>
            <a:pPr marL="685800" lvl="2" indent="0">
              <a:buNone/>
            </a:pPr>
            <a:r>
              <a:rPr lang="en-US" altLang="zh-CN" sz="1600" dirty="0"/>
              <a:t>ENDIF;</a:t>
            </a:r>
          </a:p>
          <a:p>
            <a:pPr marL="685800" lvl="2" indent="0">
              <a:buNone/>
            </a:pPr>
            <a:r>
              <a:rPr lang="en-US" altLang="zh-CN" sz="1600" dirty="0"/>
              <a:t>UPDATE Account SET total=total-amount</a:t>
            </a:r>
          </a:p>
          <a:p>
            <a:pPr marL="685800" lvl="2" indent="0">
              <a:buNone/>
            </a:pPr>
            <a:r>
              <a:rPr lang="en-US" altLang="zh-CN" sz="1600" dirty="0"/>
              <a:t>WHERE </a:t>
            </a:r>
            <a:r>
              <a:rPr lang="en-US" altLang="zh-CN" sz="1600" dirty="0" err="1"/>
              <a:t>accountnum</a:t>
            </a:r>
            <a:r>
              <a:rPr lang="en-US" altLang="zh-CN" sz="1600" dirty="0"/>
              <a:t>=</a:t>
            </a:r>
            <a:r>
              <a:rPr lang="en-US" altLang="zh-CN" sz="1600" dirty="0" err="1"/>
              <a:t>outAccount</a:t>
            </a:r>
            <a:r>
              <a:rPr lang="en-US" altLang="zh-CN" sz="1600" dirty="0"/>
              <a:t>;</a:t>
            </a:r>
            <a:r>
              <a:rPr lang="en-US" altLang="zh-CN" sz="1600" dirty="0">
                <a:solidFill>
                  <a:schemeClr val="accent3">
                    <a:lumMod val="75000"/>
                  </a:schemeClr>
                </a:solidFill>
              </a:rPr>
              <a:t> </a:t>
            </a:r>
            <a:r>
              <a:rPr lang="en-US" altLang="zh-CN" sz="1600" dirty="0">
                <a:solidFill>
                  <a:srgbClr val="3333FF"/>
                </a:solidFill>
              </a:rPr>
              <a:t>/* </a:t>
            </a:r>
            <a:r>
              <a:rPr lang="zh-CN" altLang="en-US" sz="1600" dirty="0">
                <a:solidFill>
                  <a:srgbClr val="3333FF"/>
                </a:solidFill>
              </a:rPr>
              <a:t>修改转出账户余额，减去转出额 *</a:t>
            </a:r>
            <a:r>
              <a:rPr lang="en-US" altLang="zh-CN" sz="1600" dirty="0">
                <a:solidFill>
                  <a:srgbClr val="3333FF"/>
                </a:solidFill>
              </a:rPr>
              <a:t>/</a:t>
            </a:r>
          </a:p>
          <a:p>
            <a:pPr marL="685800" lvl="2" indent="0">
              <a:buNone/>
            </a:pPr>
            <a:r>
              <a:rPr lang="en-US" altLang="zh-CN" sz="1600" dirty="0"/>
              <a:t>UPDATE Account SET total=total + amount</a:t>
            </a:r>
          </a:p>
          <a:p>
            <a:pPr marL="685800" lvl="2" indent="0">
              <a:buNone/>
            </a:pPr>
            <a:r>
              <a:rPr lang="en-US" altLang="zh-CN" sz="1600" dirty="0"/>
              <a:t>WHERE </a:t>
            </a:r>
            <a:r>
              <a:rPr lang="en-US" altLang="zh-CN" sz="1600" dirty="0" err="1"/>
              <a:t>accountnum</a:t>
            </a:r>
            <a:r>
              <a:rPr lang="en-US" altLang="zh-CN" sz="1600" dirty="0"/>
              <a:t>=</a:t>
            </a:r>
            <a:r>
              <a:rPr lang="en-US" altLang="zh-CN" sz="1600" dirty="0" err="1"/>
              <a:t>inAccount</a:t>
            </a:r>
            <a:r>
              <a:rPr lang="en-US" altLang="zh-CN" sz="1600" dirty="0"/>
              <a:t>; </a:t>
            </a:r>
            <a:r>
              <a:rPr lang="en-US" altLang="zh-CN" sz="1600" dirty="0">
                <a:solidFill>
                  <a:srgbClr val="3333FF"/>
                </a:solidFill>
              </a:rPr>
              <a:t>/* </a:t>
            </a:r>
            <a:r>
              <a:rPr lang="zh-CN" altLang="en-US" sz="1600" dirty="0">
                <a:solidFill>
                  <a:srgbClr val="3333FF"/>
                </a:solidFill>
              </a:rPr>
              <a:t>修改转入账户余额，增加转入额 *</a:t>
            </a:r>
            <a:r>
              <a:rPr lang="en-US" altLang="zh-CN" sz="1600" dirty="0">
                <a:solidFill>
                  <a:srgbClr val="3333FF"/>
                </a:solidFill>
              </a:rPr>
              <a:t>/</a:t>
            </a:r>
          </a:p>
          <a:p>
            <a:pPr marL="685800" lvl="2" indent="0">
              <a:buNone/>
            </a:pPr>
            <a:r>
              <a:rPr lang="en-US" altLang="zh-CN" sz="1600" dirty="0"/>
              <a:t>COMMIT; /* </a:t>
            </a:r>
            <a:r>
              <a:rPr lang="zh-CN" altLang="en-US" sz="1600" dirty="0"/>
              <a:t>提交转账事务 *</a:t>
            </a:r>
            <a:r>
              <a:rPr lang="en-US" altLang="zh-CN" sz="1600" dirty="0"/>
              <a:t>/</a:t>
            </a:r>
          </a:p>
          <a:p>
            <a:pPr marL="342900" lvl="1" indent="0">
              <a:buNone/>
            </a:pPr>
            <a:r>
              <a:rPr lang="en-US" altLang="zh-CN" sz="1600" dirty="0">
                <a:solidFill>
                  <a:srgbClr val="C00000"/>
                </a:solidFill>
              </a:rPr>
              <a:t>END;</a:t>
            </a:r>
          </a:p>
        </p:txBody>
      </p:sp>
      <p:sp>
        <p:nvSpPr>
          <p:cNvPr id="4" name="灯片编号占位符 3">
            <a:extLst>
              <a:ext uri="{FF2B5EF4-FFF2-40B4-BE49-F238E27FC236}">
                <a16:creationId xmlns:a16="http://schemas.microsoft.com/office/drawing/2014/main" id="{20D9B8D8-5D10-491C-AB24-EE56DB1848C0}"/>
              </a:ext>
            </a:extLst>
          </p:cNvPr>
          <p:cNvSpPr>
            <a:spLocks noGrp="1"/>
          </p:cNvSpPr>
          <p:nvPr>
            <p:ph type="sldNum" sz="quarter" idx="12"/>
          </p:nvPr>
        </p:nvSpPr>
        <p:spPr/>
        <p:txBody>
          <a:bodyPr/>
          <a:lstStyle/>
          <a:p>
            <a:fld id="{47C9E101-E51D-431E-84FA-C029B8655B60}" type="slidenum">
              <a:rPr lang="zh-CN" altLang="en-US" smtClean="0"/>
              <a:pPr/>
              <a:t>26</a:t>
            </a:fld>
            <a:endParaRPr lang="zh-CN" altLang="en-US" dirty="0"/>
          </a:p>
        </p:txBody>
      </p:sp>
    </p:spTree>
    <p:extLst>
      <p:ext uri="{BB962C8B-B14F-4D97-AF65-F5344CB8AC3E}">
        <p14:creationId xmlns:p14="http://schemas.microsoft.com/office/powerpoint/2010/main" val="6667023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存储过程的用户接口（续）</a:t>
            </a:r>
          </a:p>
        </p:txBody>
      </p:sp>
      <p:sp>
        <p:nvSpPr>
          <p:cNvPr id="3" name="内容占位符 2"/>
          <p:cNvSpPr>
            <a:spLocks noGrp="1"/>
          </p:cNvSpPr>
          <p:nvPr>
            <p:ph idx="1"/>
          </p:nvPr>
        </p:nvSpPr>
        <p:spPr/>
        <p:txBody>
          <a:bodyPr/>
          <a:lstStyle/>
          <a:p>
            <a:pPr marL="0" indent="0">
              <a:buNone/>
            </a:pPr>
            <a:r>
              <a:rPr lang="zh-CN" altLang="en-US" dirty="0"/>
              <a:t>（</a:t>
            </a:r>
            <a:r>
              <a:rPr lang="en-US" altLang="zh-CN" dirty="0"/>
              <a:t>2</a:t>
            </a:r>
            <a:r>
              <a:rPr lang="zh-CN" altLang="en-US" dirty="0"/>
              <a:t>）执行存储过程</a:t>
            </a:r>
          </a:p>
          <a:p>
            <a:pPr marL="342900" lvl="1" indent="0">
              <a:buNone/>
            </a:pPr>
            <a:r>
              <a:rPr lang="en-US" altLang="zh-CN" dirty="0">
                <a:solidFill>
                  <a:srgbClr val="C00000"/>
                </a:solidFill>
              </a:rPr>
              <a:t>CALL/PERFORM PROCEDURE </a:t>
            </a:r>
            <a:r>
              <a:rPr lang="zh-CN" altLang="en-US" dirty="0">
                <a:solidFill>
                  <a:srgbClr val="C00000"/>
                </a:solidFill>
              </a:rPr>
              <a:t>过程名</a:t>
            </a:r>
            <a:r>
              <a:rPr lang="en-US" altLang="zh-CN" dirty="0">
                <a:solidFill>
                  <a:srgbClr val="C00000"/>
                </a:solidFill>
              </a:rPr>
              <a:t>([</a:t>
            </a:r>
            <a:r>
              <a:rPr lang="zh-CN" altLang="en-US" dirty="0">
                <a:solidFill>
                  <a:srgbClr val="C00000"/>
                </a:solidFill>
              </a:rPr>
              <a:t>参数</a:t>
            </a:r>
            <a:r>
              <a:rPr lang="en-US" altLang="zh-CN" dirty="0">
                <a:solidFill>
                  <a:srgbClr val="C00000"/>
                </a:solidFill>
              </a:rPr>
              <a:t>1,</a:t>
            </a:r>
            <a:r>
              <a:rPr lang="zh-CN" altLang="en-US" dirty="0">
                <a:solidFill>
                  <a:srgbClr val="C00000"/>
                </a:solidFill>
              </a:rPr>
              <a:t>参数</a:t>
            </a:r>
            <a:r>
              <a:rPr lang="en-US" altLang="zh-CN" dirty="0">
                <a:solidFill>
                  <a:srgbClr val="C00000"/>
                </a:solidFill>
              </a:rPr>
              <a:t>2,...])</a:t>
            </a:r>
            <a:r>
              <a:rPr lang="zh-CN" altLang="en-US" dirty="0">
                <a:solidFill>
                  <a:srgbClr val="C00000"/>
                </a:solidFill>
              </a:rPr>
              <a:t>；</a:t>
            </a:r>
          </a:p>
          <a:p>
            <a:pPr lvl="1"/>
            <a:r>
              <a:rPr lang="zh-CN" altLang="en-US" dirty="0"/>
              <a:t>使用</a:t>
            </a:r>
            <a:r>
              <a:rPr lang="en-US" altLang="zh-CN" dirty="0"/>
              <a:t>CALL</a:t>
            </a:r>
            <a:r>
              <a:rPr lang="zh-CN" altLang="en-US" dirty="0"/>
              <a:t>或者</a:t>
            </a:r>
            <a:r>
              <a:rPr lang="en-US" altLang="zh-CN" dirty="0"/>
              <a:t>PERFORM</a:t>
            </a:r>
            <a:r>
              <a:rPr lang="zh-CN" altLang="en-US" dirty="0"/>
              <a:t>等方式激活存储过程的执行</a:t>
            </a:r>
          </a:p>
          <a:p>
            <a:pPr lvl="1"/>
            <a:r>
              <a:rPr lang="zh-CN" altLang="en-US" dirty="0"/>
              <a:t>在过程化</a:t>
            </a:r>
            <a:r>
              <a:rPr lang="en-US" altLang="zh-CN" dirty="0"/>
              <a:t>SQL</a:t>
            </a:r>
            <a:r>
              <a:rPr lang="zh-CN" altLang="en-US" dirty="0"/>
              <a:t>中，数据库服务器支持在过程体中调用其他存储过程</a:t>
            </a:r>
            <a:endParaRPr lang="en-US" altLang="zh-CN" dirty="0"/>
          </a:p>
          <a:p>
            <a:pPr lvl="1"/>
            <a:endParaRPr lang="en-US" altLang="zh-CN" dirty="0"/>
          </a:p>
          <a:p>
            <a:r>
              <a:rPr lang="en-US" altLang="zh-CN" dirty="0"/>
              <a:t>[</a:t>
            </a:r>
            <a:r>
              <a:rPr lang="zh-CN" altLang="en-US" dirty="0"/>
              <a:t>例</a:t>
            </a:r>
            <a:r>
              <a:rPr lang="en-US" altLang="zh-CN" dirty="0"/>
              <a:t>8.9] </a:t>
            </a:r>
            <a:r>
              <a:rPr lang="zh-CN" altLang="en-US" dirty="0"/>
              <a:t>从账户</a:t>
            </a:r>
            <a:r>
              <a:rPr lang="en-US" altLang="zh-CN" dirty="0"/>
              <a:t>01003815868</a:t>
            </a:r>
            <a:r>
              <a:rPr lang="zh-CN" altLang="en-US" dirty="0"/>
              <a:t>转</a:t>
            </a:r>
            <a:r>
              <a:rPr lang="en-US" altLang="zh-CN" dirty="0"/>
              <a:t>10000</a:t>
            </a:r>
            <a:r>
              <a:rPr lang="zh-CN" altLang="en-US" dirty="0"/>
              <a:t>元到</a:t>
            </a:r>
            <a:r>
              <a:rPr lang="en-US" altLang="zh-CN" dirty="0"/>
              <a:t>01003813828</a:t>
            </a:r>
            <a:r>
              <a:rPr lang="zh-CN" altLang="en-US" dirty="0"/>
              <a:t>账户中。</a:t>
            </a:r>
          </a:p>
          <a:p>
            <a:pPr marL="342900" lvl="1" indent="0">
              <a:buNone/>
            </a:pPr>
            <a:r>
              <a:rPr lang="en-US" altLang="zh-CN" dirty="0">
                <a:solidFill>
                  <a:srgbClr val="C00000"/>
                </a:solidFill>
              </a:rPr>
              <a:t>CALL PROCEDURE TRANSFER</a:t>
            </a:r>
            <a:r>
              <a:rPr lang="en-US" altLang="zh-CN" dirty="0"/>
              <a:t>(01003813828, 01003815868, 10000);</a:t>
            </a:r>
            <a:endParaRPr lang="zh-CN" altLang="en-US" dirty="0"/>
          </a:p>
        </p:txBody>
      </p:sp>
      <p:sp>
        <p:nvSpPr>
          <p:cNvPr id="4" name="灯片编号占位符 3">
            <a:extLst>
              <a:ext uri="{FF2B5EF4-FFF2-40B4-BE49-F238E27FC236}">
                <a16:creationId xmlns:a16="http://schemas.microsoft.com/office/drawing/2014/main" id="{5084EFA7-37EF-46B8-8761-4A274C135539}"/>
              </a:ext>
            </a:extLst>
          </p:cNvPr>
          <p:cNvSpPr>
            <a:spLocks noGrp="1"/>
          </p:cNvSpPr>
          <p:nvPr>
            <p:ph type="sldNum" sz="quarter" idx="12"/>
          </p:nvPr>
        </p:nvSpPr>
        <p:spPr/>
        <p:txBody>
          <a:bodyPr/>
          <a:lstStyle/>
          <a:p>
            <a:fld id="{47C9E101-E51D-431E-84FA-C029B8655B60}" type="slidenum">
              <a:rPr lang="zh-CN" altLang="en-US" smtClean="0"/>
              <a:pPr/>
              <a:t>27</a:t>
            </a:fld>
            <a:endParaRPr lang="zh-CN" altLang="en-US" dirty="0"/>
          </a:p>
        </p:txBody>
      </p:sp>
    </p:spTree>
    <p:extLst>
      <p:ext uri="{BB962C8B-B14F-4D97-AF65-F5344CB8AC3E}">
        <p14:creationId xmlns:p14="http://schemas.microsoft.com/office/powerpoint/2010/main" val="131463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zh-CN" altLang="en-US" dirty="0"/>
              <a:t>存储过程的用户接口（续）</a:t>
            </a:r>
          </a:p>
        </p:txBody>
      </p:sp>
      <p:sp>
        <p:nvSpPr>
          <p:cNvPr id="3" name="内容占位符 2"/>
          <p:cNvSpPr>
            <a:spLocks noGrp="1"/>
          </p:cNvSpPr>
          <p:nvPr>
            <p:ph idx="1"/>
          </p:nvPr>
        </p:nvSpPr>
        <p:spPr/>
        <p:txBody>
          <a:bodyPr/>
          <a:lstStyle/>
          <a:p>
            <a:pPr marL="0" indent="0">
              <a:buNone/>
            </a:pPr>
            <a:r>
              <a:rPr lang="zh-CN" altLang="en-US" dirty="0"/>
              <a:t>（</a:t>
            </a:r>
            <a:r>
              <a:rPr lang="en-US" altLang="zh-CN" dirty="0"/>
              <a:t>3</a:t>
            </a:r>
            <a:r>
              <a:rPr lang="zh-CN" altLang="en-US" dirty="0"/>
              <a:t>）修改存储过程</a:t>
            </a:r>
          </a:p>
          <a:p>
            <a:pPr marL="342900" lvl="1" indent="0">
              <a:buNone/>
            </a:pPr>
            <a:r>
              <a:rPr lang="en-US" altLang="zh-CN" dirty="0">
                <a:solidFill>
                  <a:srgbClr val="C00000"/>
                </a:solidFill>
              </a:rPr>
              <a:t>ALTER PROCEDURE </a:t>
            </a:r>
            <a:r>
              <a:rPr lang="zh-CN" altLang="en-US" dirty="0"/>
              <a:t>过程名</a:t>
            </a:r>
            <a:r>
              <a:rPr lang="en-US" altLang="zh-CN" dirty="0"/>
              <a:t>1 </a:t>
            </a:r>
            <a:r>
              <a:rPr lang="en-US" altLang="zh-CN" dirty="0">
                <a:solidFill>
                  <a:srgbClr val="C00000"/>
                </a:solidFill>
              </a:rPr>
              <a:t>RENAME</a:t>
            </a:r>
            <a:r>
              <a:rPr lang="en-US" altLang="zh-CN" dirty="0"/>
              <a:t> </a:t>
            </a:r>
            <a:r>
              <a:rPr lang="en-US" altLang="zh-CN" dirty="0">
                <a:solidFill>
                  <a:srgbClr val="C00000"/>
                </a:solidFill>
              </a:rPr>
              <a:t>TO</a:t>
            </a:r>
            <a:r>
              <a:rPr lang="en-US" altLang="zh-CN" dirty="0"/>
              <a:t> </a:t>
            </a:r>
            <a:r>
              <a:rPr lang="zh-CN" altLang="en-US" dirty="0"/>
              <a:t>过程名</a:t>
            </a:r>
            <a:r>
              <a:rPr lang="en-US" altLang="zh-CN" dirty="0"/>
              <a:t>2;</a:t>
            </a:r>
          </a:p>
          <a:p>
            <a:pPr lvl="1"/>
            <a:r>
              <a:rPr lang="zh-CN" altLang="en-US" dirty="0"/>
              <a:t>重新命名一个存储过程</a:t>
            </a:r>
            <a:endParaRPr lang="en-US" altLang="zh-CN" dirty="0"/>
          </a:p>
          <a:p>
            <a:pPr marL="342900" lvl="1" indent="0">
              <a:buNone/>
            </a:pPr>
            <a:r>
              <a:rPr lang="en-US" altLang="zh-CN" dirty="0">
                <a:solidFill>
                  <a:srgbClr val="C00000"/>
                </a:solidFill>
              </a:rPr>
              <a:t>ALTER PROCEDURE </a:t>
            </a:r>
            <a:r>
              <a:rPr lang="zh-CN" altLang="en-US" dirty="0"/>
              <a:t>过程名 </a:t>
            </a:r>
            <a:r>
              <a:rPr lang="en-US" altLang="zh-CN" dirty="0">
                <a:solidFill>
                  <a:srgbClr val="C00000"/>
                </a:solidFill>
              </a:rPr>
              <a:t>COMPILEL</a:t>
            </a:r>
            <a:r>
              <a:rPr lang="en-US" altLang="zh-CN" dirty="0"/>
              <a:t>;</a:t>
            </a:r>
          </a:p>
          <a:p>
            <a:pPr lvl="1"/>
            <a:r>
              <a:rPr lang="zh-CN" altLang="en-US" dirty="0"/>
              <a:t>重新编译一个存储过程</a:t>
            </a:r>
            <a:endParaRPr lang="en-US" altLang="zh-CN" dirty="0"/>
          </a:p>
          <a:p>
            <a:pPr marL="0" indent="0">
              <a:buNone/>
            </a:pPr>
            <a:endParaRPr lang="en-US" altLang="zh-CN" dirty="0"/>
          </a:p>
          <a:p>
            <a:pPr marL="0" indent="0">
              <a:buNone/>
            </a:pPr>
            <a:r>
              <a:rPr lang="zh-CN" altLang="en-US" dirty="0"/>
              <a:t>（</a:t>
            </a:r>
            <a:r>
              <a:rPr lang="en-US" altLang="zh-CN" dirty="0"/>
              <a:t>4</a:t>
            </a:r>
            <a:r>
              <a:rPr lang="zh-CN" altLang="en-US" dirty="0"/>
              <a:t>） 删除存储过程</a:t>
            </a:r>
          </a:p>
          <a:p>
            <a:pPr marL="342900" lvl="1" indent="0">
              <a:buNone/>
            </a:pPr>
            <a:r>
              <a:rPr lang="en-US" altLang="zh-CN" dirty="0">
                <a:solidFill>
                  <a:srgbClr val="C00000"/>
                </a:solidFill>
              </a:rPr>
              <a:t>DROP PROCEDURE </a:t>
            </a:r>
            <a:r>
              <a:rPr lang="zh-CN" altLang="en-US" dirty="0"/>
              <a:t>过程名</a:t>
            </a:r>
            <a:r>
              <a:rPr lang="en-US" altLang="zh-CN" dirty="0"/>
              <a:t>()</a:t>
            </a:r>
            <a:r>
              <a:rPr lang="zh-CN" altLang="en-US" dirty="0"/>
              <a:t>；</a:t>
            </a:r>
          </a:p>
        </p:txBody>
      </p:sp>
      <p:sp>
        <p:nvSpPr>
          <p:cNvPr id="7" name="灯片编号占位符 6">
            <a:extLst>
              <a:ext uri="{FF2B5EF4-FFF2-40B4-BE49-F238E27FC236}">
                <a16:creationId xmlns:a16="http://schemas.microsoft.com/office/drawing/2014/main" id="{0962350D-541D-4FE9-AE40-820DE9F81042}"/>
              </a:ext>
            </a:extLst>
          </p:cNvPr>
          <p:cNvSpPr>
            <a:spLocks noGrp="1"/>
          </p:cNvSpPr>
          <p:nvPr>
            <p:ph type="sldNum" sz="quarter" idx="12"/>
          </p:nvPr>
        </p:nvSpPr>
        <p:spPr/>
        <p:txBody>
          <a:bodyPr/>
          <a:lstStyle/>
          <a:p>
            <a:fld id="{47C9E101-E51D-431E-84FA-C029B8655B60}" type="slidenum">
              <a:rPr lang="zh-CN" altLang="en-US" smtClean="0"/>
              <a:pPr/>
              <a:t>28</a:t>
            </a:fld>
            <a:endParaRPr lang="zh-CN" altLang="en-US" dirty="0"/>
          </a:p>
        </p:txBody>
      </p:sp>
    </p:spTree>
    <p:extLst>
      <p:ext uri="{BB962C8B-B14F-4D97-AF65-F5344CB8AC3E}">
        <p14:creationId xmlns:p14="http://schemas.microsoft.com/office/powerpoint/2010/main" val="14937828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48FA20-16C4-49CE-B2F1-A22B4BD5C19D}"/>
              </a:ext>
            </a:extLst>
          </p:cNvPr>
          <p:cNvSpPr>
            <a:spLocks noGrp="1"/>
          </p:cNvSpPr>
          <p:nvPr>
            <p:ph type="title"/>
          </p:nvPr>
        </p:nvSpPr>
        <p:spPr/>
        <p:txBody>
          <a:bodyPr/>
          <a:lstStyle/>
          <a:p>
            <a:r>
              <a:rPr lang="en-US" altLang="zh-CN" dirty="0" err="1"/>
              <a:t>openGauss</a:t>
            </a:r>
            <a:r>
              <a:rPr lang="zh-CN" altLang="en-US" dirty="0"/>
              <a:t>数据库存储过程</a:t>
            </a:r>
          </a:p>
        </p:txBody>
      </p:sp>
      <p:sp>
        <p:nvSpPr>
          <p:cNvPr id="3" name="内容占位符 2">
            <a:extLst>
              <a:ext uri="{FF2B5EF4-FFF2-40B4-BE49-F238E27FC236}">
                <a16:creationId xmlns:a16="http://schemas.microsoft.com/office/drawing/2014/main" id="{E86B6ED7-2421-421F-B17B-39E69CDEF244}"/>
              </a:ext>
            </a:extLst>
          </p:cNvPr>
          <p:cNvSpPr>
            <a:spLocks noGrp="1"/>
          </p:cNvSpPr>
          <p:nvPr>
            <p:ph idx="1"/>
          </p:nvPr>
        </p:nvSpPr>
        <p:spPr/>
        <p:txBody>
          <a:bodyPr/>
          <a:lstStyle/>
          <a:p>
            <a:r>
              <a:rPr lang="en-US" altLang="zh-CN" dirty="0"/>
              <a:t>1.</a:t>
            </a:r>
            <a:r>
              <a:rPr lang="zh-CN" altLang="en-US" dirty="0"/>
              <a:t>存储过程的声明</a:t>
            </a:r>
            <a:endParaRPr lang="en-US" altLang="zh-CN" dirty="0"/>
          </a:p>
          <a:p>
            <a:pPr marL="342900" lvl="1" indent="0">
              <a:buNone/>
            </a:pPr>
            <a:r>
              <a:rPr lang="en-US" altLang="zh-CN" dirty="0">
                <a:highlight>
                  <a:srgbClr val="FFFF00"/>
                </a:highlight>
              </a:rPr>
              <a:t>CREATE [OR REPLACE] PROCEDURE </a:t>
            </a:r>
            <a:r>
              <a:rPr lang="zh-CN" altLang="en-US" dirty="0">
                <a:highlight>
                  <a:srgbClr val="FFFF00"/>
                </a:highlight>
              </a:rPr>
              <a:t>存储过程名</a:t>
            </a:r>
            <a:r>
              <a:rPr lang="en-US" altLang="zh-CN" dirty="0">
                <a:highlight>
                  <a:srgbClr val="FFFF00"/>
                </a:highlight>
              </a:rPr>
              <a:t>(  [IN|OUT] </a:t>
            </a:r>
            <a:r>
              <a:rPr lang="zh-CN" altLang="en-US" dirty="0">
                <a:highlight>
                  <a:srgbClr val="FFFF00"/>
                </a:highlight>
              </a:rPr>
              <a:t>参数</a:t>
            </a:r>
            <a:r>
              <a:rPr lang="en-US" altLang="zh-CN" dirty="0">
                <a:highlight>
                  <a:srgbClr val="FFFF00"/>
                </a:highlight>
              </a:rPr>
              <a:t>1 </a:t>
            </a:r>
            <a:r>
              <a:rPr lang="zh-CN" altLang="en-US" dirty="0">
                <a:highlight>
                  <a:srgbClr val="FFFF00"/>
                </a:highlight>
              </a:rPr>
              <a:t>数据类型</a:t>
            </a:r>
            <a:r>
              <a:rPr lang="en-US" altLang="zh-CN" dirty="0">
                <a:highlight>
                  <a:srgbClr val="FFFF00"/>
                </a:highlight>
              </a:rPr>
              <a:t>, </a:t>
            </a:r>
          </a:p>
          <a:p>
            <a:pPr marL="342900" lvl="1" indent="0">
              <a:buNone/>
            </a:pPr>
            <a:r>
              <a:rPr lang="en-US" altLang="zh-CN" dirty="0"/>
              <a:t>                                                                              </a:t>
            </a:r>
            <a:r>
              <a:rPr lang="en-US" altLang="zh-CN" dirty="0">
                <a:highlight>
                  <a:srgbClr val="FFFF00"/>
                </a:highlight>
              </a:rPr>
              <a:t>[IN|OUT] </a:t>
            </a:r>
            <a:r>
              <a:rPr lang="zh-CN" altLang="en-US" dirty="0">
                <a:highlight>
                  <a:srgbClr val="FFFF00"/>
                </a:highlight>
              </a:rPr>
              <a:t>参数</a:t>
            </a:r>
            <a:r>
              <a:rPr lang="en-US" altLang="zh-CN" dirty="0">
                <a:highlight>
                  <a:srgbClr val="FFFF00"/>
                </a:highlight>
              </a:rPr>
              <a:t>2 </a:t>
            </a:r>
            <a:r>
              <a:rPr lang="zh-CN" altLang="en-US" dirty="0">
                <a:highlight>
                  <a:srgbClr val="FFFF00"/>
                </a:highlight>
              </a:rPr>
              <a:t>数据类型</a:t>
            </a:r>
            <a:r>
              <a:rPr lang="en-US" altLang="zh-CN" dirty="0">
                <a:highlight>
                  <a:srgbClr val="FFFF00"/>
                </a:highlight>
              </a:rPr>
              <a:t>,    ...)</a:t>
            </a:r>
          </a:p>
          <a:p>
            <a:pPr marL="342900" lvl="1" indent="0">
              <a:buNone/>
            </a:pPr>
            <a:r>
              <a:rPr lang="en-US" altLang="zh-CN" dirty="0">
                <a:solidFill>
                  <a:srgbClr val="C00000"/>
                </a:solidFill>
              </a:rPr>
              <a:t>AS DECLARE</a:t>
            </a:r>
          </a:p>
          <a:p>
            <a:pPr marL="342900" lvl="1" indent="0">
              <a:buNone/>
            </a:pPr>
            <a:r>
              <a:rPr lang="en-US" altLang="zh-CN" dirty="0"/>
              <a:t>     </a:t>
            </a:r>
            <a:r>
              <a:rPr lang="zh-CN" altLang="en-US" dirty="0"/>
              <a:t>变量</a:t>
            </a:r>
            <a:r>
              <a:rPr lang="en-US" altLang="zh-CN" dirty="0"/>
              <a:t>1 </a:t>
            </a:r>
            <a:r>
              <a:rPr lang="zh-CN" altLang="en-US" dirty="0"/>
              <a:t>数据类型</a:t>
            </a:r>
            <a:r>
              <a:rPr lang="en-US" altLang="zh-CN" dirty="0"/>
              <a:t>; </a:t>
            </a:r>
          </a:p>
          <a:p>
            <a:pPr marL="342900" lvl="1" indent="0">
              <a:buNone/>
            </a:pPr>
            <a:r>
              <a:rPr lang="en-US" altLang="zh-CN" dirty="0"/>
              <a:t>     </a:t>
            </a:r>
            <a:r>
              <a:rPr lang="zh-CN" altLang="en-US" dirty="0"/>
              <a:t>变量</a:t>
            </a:r>
            <a:r>
              <a:rPr lang="en-US" altLang="zh-CN" dirty="0"/>
              <a:t>2 </a:t>
            </a:r>
            <a:r>
              <a:rPr lang="zh-CN" altLang="en-US" dirty="0"/>
              <a:t>数据类型</a:t>
            </a:r>
            <a:r>
              <a:rPr lang="en-US" altLang="zh-CN" dirty="0"/>
              <a:t>;</a:t>
            </a:r>
          </a:p>
          <a:p>
            <a:pPr marL="342900" lvl="1" indent="0">
              <a:buNone/>
            </a:pPr>
            <a:r>
              <a:rPr lang="en-US" altLang="zh-CN" dirty="0"/>
              <a:t>     ...            </a:t>
            </a:r>
          </a:p>
          <a:p>
            <a:pPr marL="342900" lvl="1" indent="0">
              <a:buNone/>
            </a:pPr>
            <a:r>
              <a:rPr lang="en-US" altLang="zh-CN" dirty="0">
                <a:solidFill>
                  <a:srgbClr val="C00000"/>
                </a:solidFill>
              </a:rPr>
              <a:t>BEGIN</a:t>
            </a:r>
          </a:p>
          <a:p>
            <a:pPr marL="342900" lvl="1" indent="0">
              <a:buNone/>
            </a:pPr>
            <a:r>
              <a:rPr lang="en-US" altLang="zh-CN" dirty="0"/>
              <a:t>    </a:t>
            </a:r>
            <a:r>
              <a:rPr lang="zh-CN" altLang="en-US" dirty="0"/>
              <a:t>存储过程的程序体</a:t>
            </a:r>
            <a:endParaRPr lang="en-US" altLang="zh-CN" dirty="0"/>
          </a:p>
          <a:p>
            <a:pPr marL="342900" lvl="1" indent="0">
              <a:buNone/>
            </a:pPr>
            <a:r>
              <a:rPr lang="en-US" altLang="zh-CN" dirty="0">
                <a:solidFill>
                  <a:srgbClr val="C00000"/>
                </a:solidFill>
              </a:rPr>
              <a:t>END</a:t>
            </a:r>
            <a:r>
              <a:rPr lang="en-US" altLang="zh-CN" dirty="0"/>
              <a:t>;</a:t>
            </a:r>
          </a:p>
        </p:txBody>
      </p:sp>
      <p:sp>
        <p:nvSpPr>
          <p:cNvPr id="4" name="灯片编号占位符 3">
            <a:extLst>
              <a:ext uri="{FF2B5EF4-FFF2-40B4-BE49-F238E27FC236}">
                <a16:creationId xmlns:a16="http://schemas.microsoft.com/office/drawing/2014/main" id="{BF72ED3B-9A75-4849-9B57-EA26A6593F54}"/>
              </a:ext>
            </a:extLst>
          </p:cNvPr>
          <p:cNvSpPr>
            <a:spLocks noGrp="1"/>
          </p:cNvSpPr>
          <p:nvPr>
            <p:ph type="sldNum" sz="quarter" idx="12"/>
          </p:nvPr>
        </p:nvSpPr>
        <p:spPr/>
        <p:txBody>
          <a:bodyPr/>
          <a:lstStyle/>
          <a:p>
            <a:fld id="{47C9E101-E51D-431E-84FA-C029B8655B60}" type="slidenum">
              <a:rPr lang="zh-CN" altLang="en-US" smtClean="0"/>
              <a:pPr/>
              <a:t>29</a:t>
            </a:fld>
            <a:endParaRPr lang="zh-CN" altLang="en-US" dirty="0"/>
          </a:p>
        </p:txBody>
      </p:sp>
      <p:sp>
        <p:nvSpPr>
          <p:cNvPr id="5" name="矩形 4">
            <a:extLst>
              <a:ext uri="{FF2B5EF4-FFF2-40B4-BE49-F238E27FC236}">
                <a16:creationId xmlns:a16="http://schemas.microsoft.com/office/drawing/2014/main" id="{B6419F2E-E0B3-47DF-95B9-51AF00C8488B}"/>
              </a:ext>
            </a:extLst>
          </p:cNvPr>
          <p:cNvSpPr/>
          <p:nvPr/>
        </p:nvSpPr>
        <p:spPr>
          <a:xfrm>
            <a:off x="3995055" y="3537102"/>
            <a:ext cx="8002363" cy="1754326"/>
          </a:xfrm>
          <a:prstGeom prst="rect">
            <a:avLst/>
          </a:prstGeom>
          <a:solidFill>
            <a:schemeClr val="bg1">
              <a:lumMod val="95000"/>
            </a:schemeClr>
          </a:solidFill>
        </p:spPr>
        <p:txBody>
          <a:bodyPr wrap="square">
            <a:spAutoFit/>
          </a:bodyPr>
          <a:lstStyle/>
          <a:p>
            <a:r>
              <a:rPr lang="zh-CN" altLang="en-US" dirty="0"/>
              <a:t>示例：CREATE OR REPLACE PROCEDURE get_name_by_id</a:t>
            </a:r>
            <a:endParaRPr lang="en-US" altLang="zh-CN" dirty="0"/>
          </a:p>
          <a:p>
            <a:r>
              <a:rPr lang="zh-CN" altLang="en-US" dirty="0"/>
              <a:t>                                                               (p_id int, </a:t>
            </a:r>
            <a:r>
              <a:rPr lang="zh-CN" altLang="en-US" dirty="0">
                <a:solidFill>
                  <a:srgbClr val="C00000"/>
                </a:solidFill>
              </a:rPr>
              <a:t>OUT </a:t>
            </a:r>
            <a:r>
              <a:rPr lang="zh-CN" altLang="en-US" dirty="0"/>
              <a:t>result_name text)</a:t>
            </a:r>
            <a:endParaRPr lang="en-US" altLang="zh-CN" dirty="0"/>
          </a:p>
          <a:p>
            <a:r>
              <a:rPr lang="zh-CN" altLang="en-US" dirty="0"/>
              <a:t>AS</a:t>
            </a:r>
            <a:endParaRPr lang="en-US" altLang="zh-CN" dirty="0"/>
          </a:p>
          <a:p>
            <a:r>
              <a:rPr lang="zh-CN" altLang="en-US" dirty="0"/>
              <a:t>BEGIN  </a:t>
            </a:r>
            <a:endParaRPr lang="en-US" altLang="zh-CN" dirty="0"/>
          </a:p>
          <a:p>
            <a:r>
              <a:rPr lang="zh-CN" altLang="en-US" dirty="0"/>
              <a:t>    SELECT name INTO result_name FROM my_table WHERE id = p_id;</a:t>
            </a:r>
            <a:endParaRPr lang="en-US" altLang="zh-CN" dirty="0"/>
          </a:p>
          <a:p>
            <a:r>
              <a:rPr lang="zh-CN" altLang="en-US" dirty="0"/>
              <a:t>END;</a:t>
            </a:r>
          </a:p>
        </p:txBody>
      </p:sp>
    </p:spTree>
    <p:extLst>
      <p:ext uri="{BB962C8B-B14F-4D97-AF65-F5344CB8AC3E}">
        <p14:creationId xmlns:p14="http://schemas.microsoft.com/office/powerpoint/2010/main" val="565921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DB45E01-F9C7-45D2-8466-69E951C97E52}"/>
              </a:ext>
            </a:extLst>
          </p:cNvPr>
          <p:cNvSpPr>
            <a:spLocks noGrp="1"/>
          </p:cNvSpPr>
          <p:nvPr>
            <p:ph idx="1"/>
          </p:nvPr>
        </p:nvSpPr>
        <p:spPr/>
        <p:txBody>
          <a:bodyPr/>
          <a:lstStyle/>
          <a:p>
            <a:r>
              <a:rPr lang="zh-CN" altLang="en-US" dirty="0"/>
              <a:t>存储过程的参数有</a:t>
            </a:r>
            <a:r>
              <a:rPr lang="en-US" altLang="zh-CN" dirty="0"/>
              <a:t>3</a:t>
            </a:r>
            <a:r>
              <a:rPr lang="zh-CN" altLang="en-US" dirty="0"/>
              <a:t>种不同的输入／输出模式：</a:t>
            </a:r>
            <a:r>
              <a:rPr lang="en-US" altLang="zh-CN" dirty="0">
                <a:solidFill>
                  <a:srgbClr val="C00000"/>
                </a:solidFill>
              </a:rPr>
              <a:t>IN</a:t>
            </a:r>
            <a:r>
              <a:rPr lang="zh-CN" altLang="en-US" dirty="0">
                <a:solidFill>
                  <a:srgbClr val="C00000"/>
                </a:solidFill>
              </a:rPr>
              <a:t>、</a:t>
            </a:r>
            <a:r>
              <a:rPr lang="en-US" altLang="zh-CN" dirty="0">
                <a:solidFill>
                  <a:srgbClr val="C00000"/>
                </a:solidFill>
              </a:rPr>
              <a:t>OUT</a:t>
            </a:r>
            <a:r>
              <a:rPr lang="zh-CN" altLang="en-US" dirty="0">
                <a:solidFill>
                  <a:srgbClr val="C00000"/>
                </a:solidFill>
              </a:rPr>
              <a:t>、</a:t>
            </a:r>
            <a:r>
              <a:rPr lang="en-US" altLang="zh-CN" dirty="0">
                <a:solidFill>
                  <a:srgbClr val="C00000"/>
                </a:solidFill>
              </a:rPr>
              <a:t>INOUT</a:t>
            </a:r>
            <a:r>
              <a:rPr lang="zh-CN" altLang="en-US" dirty="0"/>
              <a:t>。</a:t>
            </a:r>
            <a:endParaRPr lang="en-US" altLang="zh-CN" dirty="0"/>
          </a:p>
          <a:p>
            <a:pPr lvl="1"/>
            <a:r>
              <a:rPr lang="en-US" altLang="zh-CN" dirty="0">
                <a:solidFill>
                  <a:srgbClr val="C00000"/>
                </a:solidFill>
              </a:rPr>
              <a:t>IN</a:t>
            </a:r>
            <a:r>
              <a:rPr lang="zh-CN" altLang="en-US" dirty="0">
                <a:solidFill>
                  <a:srgbClr val="C00000"/>
                </a:solidFill>
              </a:rPr>
              <a:t>参数</a:t>
            </a:r>
            <a:r>
              <a:rPr lang="zh-CN" altLang="en-US" dirty="0"/>
              <a:t>是存储过程的输入参数，它将存储过程外部的值传递给存储过程使用，默认不声明的为入参。</a:t>
            </a:r>
            <a:endParaRPr lang="en-US" altLang="zh-CN" dirty="0"/>
          </a:p>
          <a:p>
            <a:pPr lvl="1"/>
            <a:r>
              <a:rPr lang="en-US" altLang="zh-CN" dirty="0">
                <a:solidFill>
                  <a:srgbClr val="C00000"/>
                </a:solidFill>
              </a:rPr>
              <a:t>OUT</a:t>
            </a:r>
            <a:r>
              <a:rPr lang="zh-CN" altLang="en-US" dirty="0">
                <a:solidFill>
                  <a:srgbClr val="C00000"/>
                </a:solidFill>
              </a:rPr>
              <a:t>参数</a:t>
            </a:r>
            <a:r>
              <a:rPr lang="zh-CN" altLang="en-US" dirty="0"/>
              <a:t>是存储过程的输出参数，存储过程在执行时，会将执行的中间结果赋值给</a:t>
            </a:r>
            <a:r>
              <a:rPr lang="en-US" altLang="zh-CN" dirty="0"/>
              <a:t>OUT</a:t>
            </a:r>
            <a:r>
              <a:rPr lang="zh-CN" altLang="en-US" dirty="0"/>
              <a:t>参数，存储过程执行完毕后，外部用户可以通过</a:t>
            </a:r>
            <a:r>
              <a:rPr lang="en-US" altLang="zh-CN" dirty="0"/>
              <a:t>OUT</a:t>
            </a:r>
            <a:r>
              <a:rPr lang="zh-CN" altLang="en-US" dirty="0"/>
              <a:t>参数获得存储过程的执行结果。</a:t>
            </a:r>
            <a:endParaRPr lang="en-US" altLang="zh-CN" dirty="0"/>
          </a:p>
          <a:p>
            <a:pPr lvl="1"/>
            <a:r>
              <a:rPr lang="en-US" altLang="zh-CN" dirty="0">
                <a:solidFill>
                  <a:srgbClr val="C00000"/>
                </a:solidFill>
              </a:rPr>
              <a:t>INOUT</a:t>
            </a:r>
            <a:r>
              <a:rPr lang="zh-CN" altLang="en-US" dirty="0">
                <a:solidFill>
                  <a:srgbClr val="C00000"/>
                </a:solidFill>
              </a:rPr>
              <a:t>参数</a:t>
            </a:r>
            <a:r>
              <a:rPr lang="zh-CN" altLang="en-US" dirty="0"/>
              <a:t>则同时具有</a:t>
            </a:r>
            <a:r>
              <a:rPr lang="en-US" altLang="zh-CN" dirty="0"/>
              <a:t>IN</a:t>
            </a:r>
            <a:r>
              <a:rPr lang="zh-CN" altLang="en-US" dirty="0"/>
              <a:t>参数和</a:t>
            </a:r>
            <a:r>
              <a:rPr lang="en-US" altLang="zh-CN" dirty="0"/>
              <a:t>OUT</a:t>
            </a:r>
            <a:r>
              <a:rPr lang="zh-CN" altLang="en-US" dirty="0"/>
              <a:t>参数的性质，它既是存储过程的输入参数，同时在存储过程执行中也会通过</a:t>
            </a:r>
            <a:r>
              <a:rPr lang="en-US" altLang="zh-CN" dirty="0"/>
              <a:t>INOUT</a:t>
            </a:r>
            <a:r>
              <a:rPr lang="zh-CN" altLang="en-US" dirty="0"/>
              <a:t>参数将中间结果输出给外部用户。</a:t>
            </a:r>
          </a:p>
          <a:p>
            <a:endParaRPr lang="en-US" altLang="zh-CN" dirty="0"/>
          </a:p>
          <a:p>
            <a:r>
              <a:rPr lang="en-US" altLang="zh-CN" dirty="0"/>
              <a:t>2.</a:t>
            </a:r>
            <a:r>
              <a:rPr lang="zh-CN" altLang="en-US" dirty="0"/>
              <a:t>存储过程调用</a:t>
            </a:r>
            <a:endParaRPr lang="en-US" altLang="zh-CN" dirty="0"/>
          </a:p>
          <a:p>
            <a:pPr marL="342900" lvl="1" indent="0">
              <a:buNone/>
            </a:pPr>
            <a:r>
              <a:rPr lang="en-US" altLang="zh-CN" dirty="0">
                <a:solidFill>
                  <a:srgbClr val="C00000"/>
                </a:solidFill>
              </a:rPr>
              <a:t>CALL </a:t>
            </a:r>
            <a:r>
              <a:rPr lang="zh-CN" altLang="en-US" dirty="0"/>
              <a:t>存储过程名</a:t>
            </a:r>
            <a:r>
              <a:rPr lang="en-US" altLang="zh-CN" dirty="0"/>
              <a:t>([</a:t>
            </a:r>
            <a:r>
              <a:rPr lang="zh-CN" altLang="en-US" dirty="0"/>
              <a:t>参数</a:t>
            </a:r>
            <a:r>
              <a:rPr lang="en-US" altLang="zh-CN" dirty="0"/>
              <a:t>,]);</a:t>
            </a:r>
          </a:p>
          <a:p>
            <a:pPr lvl="1"/>
            <a:r>
              <a:rPr lang="zh-CN" altLang="en-US" dirty="0"/>
              <a:t>示例：</a:t>
            </a:r>
            <a:r>
              <a:rPr lang="en-US" altLang="zh-CN" dirty="0"/>
              <a:t>CALL </a:t>
            </a:r>
            <a:r>
              <a:rPr lang="en-US" altLang="zh-CN" dirty="0" err="1"/>
              <a:t>get_name_by_id</a:t>
            </a:r>
            <a:r>
              <a:rPr lang="en-US" altLang="zh-CN" dirty="0"/>
              <a:t>(1, </a:t>
            </a:r>
            <a:r>
              <a:rPr lang="en-US" altLang="zh-CN" dirty="0" err="1"/>
              <a:t>name_value</a:t>
            </a:r>
            <a:r>
              <a:rPr lang="en-US" altLang="zh-CN" dirty="0"/>
              <a:t>);</a:t>
            </a:r>
            <a:endParaRPr lang="zh-CN" altLang="en-US" dirty="0"/>
          </a:p>
        </p:txBody>
      </p:sp>
      <p:sp>
        <p:nvSpPr>
          <p:cNvPr id="4" name="灯片编号占位符 3">
            <a:extLst>
              <a:ext uri="{FF2B5EF4-FFF2-40B4-BE49-F238E27FC236}">
                <a16:creationId xmlns:a16="http://schemas.microsoft.com/office/drawing/2014/main" id="{79360433-CBCD-43AA-8A3E-42F6E8D2CC47}"/>
              </a:ext>
            </a:extLst>
          </p:cNvPr>
          <p:cNvSpPr>
            <a:spLocks noGrp="1"/>
          </p:cNvSpPr>
          <p:nvPr>
            <p:ph type="sldNum" sz="quarter" idx="12"/>
          </p:nvPr>
        </p:nvSpPr>
        <p:spPr/>
        <p:txBody>
          <a:bodyPr/>
          <a:lstStyle/>
          <a:p>
            <a:fld id="{47C9E101-E51D-431E-84FA-C029B8655B60}" type="slidenum">
              <a:rPr lang="zh-CN" altLang="en-US" smtClean="0"/>
              <a:pPr/>
              <a:t>30</a:t>
            </a:fld>
            <a:endParaRPr lang="zh-CN" altLang="en-US" dirty="0"/>
          </a:p>
        </p:txBody>
      </p:sp>
      <p:sp>
        <p:nvSpPr>
          <p:cNvPr id="8" name="矩形 7">
            <a:extLst>
              <a:ext uri="{FF2B5EF4-FFF2-40B4-BE49-F238E27FC236}">
                <a16:creationId xmlns:a16="http://schemas.microsoft.com/office/drawing/2014/main" id="{EDE76FC3-8310-4543-BDA5-69C43BA6DF60}"/>
              </a:ext>
            </a:extLst>
          </p:cNvPr>
          <p:cNvSpPr/>
          <p:nvPr/>
        </p:nvSpPr>
        <p:spPr>
          <a:xfrm>
            <a:off x="970189" y="5673796"/>
            <a:ext cx="9749518" cy="369332"/>
          </a:xfrm>
          <a:prstGeom prst="rect">
            <a:avLst/>
          </a:prstGeom>
          <a:solidFill>
            <a:schemeClr val="accent1">
              <a:lumMod val="60000"/>
              <a:lumOff val="40000"/>
            </a:schemeClr>
          </a:solidFill>
        </p:spPr>
        <p:txBody>
          <a:bodyPr wrap="square">
            <a:spAutoFit/>
          </a:bodyPr>
          <a:lstStyle/>
          <a:p>
            <a:r>
              <a:rPr lang="zh-CN" altLang="en-US" dirty="0">
                <a:latin typeface="-apple-system"/>
              </a:rPr>
              <a:t>参考</a:t>
            </a:r>
            <a:r>
              <a:rPr lang="en-US" altLang="zh-CN" dirty="0" err="1">
                <a:latin typeface="-apple-system"/>
              </a:rPr>
              <a:t>openGauss</a:t>
            </a:r>
            <a:r>
              <a:rPr lang="zh-CN" altLang="en-US" dirty="0">
                <a:latin typeface="-apple-system"/>
              </a:rPr>
              <a:t>使用手册 </a:t>
            </a:r>
            <a:r>
              <a:rPr lang="en-US" altLang="zh-CN" dirty="0">
                <a:latin typeface="-apple-system"/>
              </a:rPr>
              <a:t>https://www.bookstack.cn/read/opengauss-3.1.1-zh/6cab580df94dcc8b.md</a:t>
            </a:r>
            <a:endParaRPr lang="zh-CN" altLang="en-US" dirty="0"/>
          </a:p>
        </p:txBody>
      </p:sp>
      <p:sp>
        <p:nvSpPr>
          <p:cNvPr id="9" name="标题 1">
            <a:extLst>
              <a:ext uri="{FF2B5EF4-FFF2-40B4-BE49-F238E27FC236}">
                <a16:creationId xmlns:a16="http://schemas.microsoft.com/office/drawing/2014/main" id="{EA99E78C-8BDA-424A-9D09-516E1ABC57EB}"/>
              </a:ext>
            </a:extLst>
          </p:cNvPr>
          <p:cNvSpPr>
            <a:spLocks noGrp="1"/>
          </p:cNvSpPr>
          <p:nvPr>
            <p:ph type="title"/>
          </p:nvPr>
        </p:nvSpPr>
        <p:spPr>
          <a:xfrm>
            <a:off x="1281113" y="238125"/>
            <a:ext cx="9553575" cy="512763"/>
          </a:xfrm>
        </p:spPr>
        <p:txBody>
          <a:bodyPr/>
          <a:lstStyle/>
          <a:p>
            <a:r>
              <a:rPr lang="en-US" altLang="zh-CN" dirty="0" err="1"/>
              <a:t>openGauss</a:t>
            </a:r>
            <a:r>
              <a:rPr lang="zh-CN" altLang="en-US" dirty="0"/>
              <a:t>数据库存储过程</a:t>
            </a:r>
          </a:p>
        </p:txBody>
      </p:sp>
    </p:spTree>
    <p:extLst>
      <p:ext uri="{BB962C8B-B14F-4D97-AF65-F5344CB8AC3E}">
        <p14:creationId xmlns:p14="http://schemas.microsoft.com/office/powerpoint/2010/main" val="3164730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anim calcmode="lin" valueType="num">
                                      <p:cBhvr>
                                        <p:cTn id="16" dur="1000" fill="hold"/>
                                        <p:tgtEl>
                                          <p:spTgt spid="8"/>
                                        </p:tgtEl>
                                        <p:attrNameLst>
                                          <p:attrName>ppt_x</p:attrName>
                                        </p:attrNameLst>
                                      </p:cBhvr>
                                      <p:tavLst>
                                        <p:tav tm="0">
                                          <p:val>
                                            <p:strVal val="#ppt_x"/>
                                          </p:val>
                                        </p:tav>
                                        <p:tav tm="100000">
                                          <p:val>
                                            <p:strVal val="#ppt_x"/>
                                          </p:val>
                                        </p:tav>
                                      </p:tavLst>
                                    </p:anim>
                                    <p:anim calcmode="lin" valueType="num">
                                      <p:cBhvr>
                                        <p:cTn id="1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8.3.2 </a:t>
            </a:r>
            <a:r>
              <a:rPr lang="zh-CN" altLang="en-US" dirty="0"/>
              <a:t>函数</a:t>
            </a:r>
          </a:p>
        </p:txBody>
      </p:sp>
      <p:sp>
        <p:nvSpPr>
          <p:cNvPr id="3" name="内容占位符 2"/>
          <p:cNvSpPr>
            <a:spLocks noGrp="1"/>
          </p:cNvSpPr>
          <p:nvPr>
            <p:ph idx="1"/>
          </p:nvPr>
        </p:nvSpPr>
        <p:spPr/>
        <p:txBody>
          <a:bodyPr/>
          <a:lstStyle/>
          <a:p>
            <a:r>
              <a:rPr lang="zh-CN" altLang="en-US" dirty="0"/>
              <a:t>函数和存储过程的异同</a:t>
            </a:r>
          </a:p>
          <a:p>
            <a:pPr lvl="1"/>
            <a:r>
              <a:rPr lang="zh-CN" altLang="en-US" dirty="0"/>
              <a:t>同：都是持久性存储模块</a:t>
            </a:r>
          </a:p>
          <a:p>
            <a:pPr lvl="1"/>
            <a:r>
              <a:rPr lang="zh-CN" altLang="en-US" dirty="0"/>
              <a:t>异：函数必须指定返回的类型</a:t>
            </a:r>
          </a:p>
        </p:txBody>
      </p:sp>
      <p:sp>
        <p:nvSpPr>
          <p:cNvPr id="4" name="灯片编号占位符 3">
            <a:extLst>
              <a:ext uri="{FF2B5EF4-FFF2-40B4-BE49-F238E27FC236}">
                <a16:creationId xmlns:a16="http://schemas.microsoft.com/office/drawing/2014/main" id="{3D57B87E-FF78-4357-973D-182758AFB242}"/>
              </a:ext>
            </a:extLst>
          </p:cNvPr>
          <p:cNvSpPr>
            <a:spLocks noGrp="1"/>
          </p:cNvSpPr>
          <p:nvPr>
            <p:ph type="sldNum" sz="quarter" idx="12"/>
          </p:nvPr>
        </p:nvSpPr>
        <p:spPr/>
        <p:txBody>
          <a:bodyPr/>
          <a:lstStyle/>
          <a:p>
            <a:fld id="{47C9E101-E51D-431E-84FA-C029B8655B60}" type="slidenum">
              <a:rPr lang="zh-CN" altLang="en-US" smtClean="0"/>
              <a:pPr/>
              <a:t>31</a:t>
            </a:fld>
            <a:endParaRPr lang="zh-CN" altLang="en-US" dirty="0"/>
          </a:p>
        </p:txBody>
      </p:sp>
    </p:spTree>
    <p:extLst>
      <p:ext uri="{BB962C8B-B14F-4D97-AF65-F5344CB8AC3E}">
        <p14:creationId xmlns:p14="http://schemas.microsoft.com/office/powerpoint/2010/main" val="10320853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函数（续）</a:t>
            </a:r>
          </a:p>
        </p:txBody>
      </p:sp>
      <p:sp>
        <p:nvSpPr>
          <p:cNvPr id="3" name="内容占位符 2"/>
          <p:cNvSpPr>
            <a:spLocks noGrp="1"/>
          </p:cNvSpPr>
          <p:nvPr>
            <p:ph idx="1"/>
          </p:nvPr>
        </p:nvSpPr>
        <p:spPr/>
        <p:txBody>
          <a:bodyPr/>
          <a:lstStyle/>
          <a:p>
            <a:r>
              <a:rPr lang="en-US" altLang="zh-CN" dirty="0"/>
              <a:t>1. </a:t>
            </a:r>
            <a:r>
              <a:rPr lang="zh-CN" altLang="en-US" dirty="0"/>
              <a:t>函数的定义语句格式</a:t>
            </a:r>
          </a:p>
          <a:p>
            <a:pPr marL="342900" lvl="1" indent="0">
              <a:buNone/>
            </a:pPr>
            <a:r>
              <a:rPr lang="en-US" altLang="zh-CN" dirty="0">
                <a:solidFill>
                  <a:srgbClr val="C00000"/>
                </a:solidFill>
              </a:rPr>
              <a:t>CREATE OR REPLACE FUNCTION </a:t>
            </a:r>
            <a:r>
              <a:rPr lang="zh-CN" altLang="en-US" dirty="0"/>
              <a:t>函数名 </a:t>
            </a:r>
            <a:r>
              <a:rPr lang="en-US" altLang="zh-CN" dirty="0"/>
              <a:t>([</a:t>
            </a:r>
            <a:r>
              <a:rPr lang="zh-CN" altLang="en-US" dirty="0"/>
              <a:t>参数</a:t>
            </a:r>
            <a:r>
              <a:rPr lang="en-US" altLang="zh-CN" dirty="0"/>
              <a:t>1,</a:t>
            </a:r>
            <a:r>
              <a:rPr lang="zh-CN" altLang="en-US" dirty="0"/>
              <a:t>参数</a:t>
            </a:r>
            <a:r>
              <a:rPr lang="en-US" altLang="zh-CN" dirty="0"/>
              <a:t>2,…]) </a:t>
            </a:r>
            <a:r>
              <a:rPr lang="en-US" altLang="zh-CN" dirty="0">
                <a:solidFill>
                  <a:srgbClr val="C00000"/>
                </a:solidFill>
              </a:rPr>
              <a:t>RETURNS </a:t>
            </a:r>
            <a:r>
              <a:rPr lang="en-US" altLang="zh-CN" dirty="0"/>
              <a:t>&lt;</a:t>
            </a:r>
            <a:r>
              <a:rPr lang="zh-CN" altLang="en-US" dirty="0"/>
              <a:t>类型</a:t>
            </a:r>
            <a:r>
              <a:rPr lang="en-US" altLang="zh-CN" dirty="0"/>
              <a:t>&gt; </a:t>
            </a:r>
            <a:r>
              <a:rPr lang="en-US" altLang="zh-CN" dirty="0">
                <a:solidFill>
                  <a:srgbClr val="C00000"/>
                </a:solidFill>
              </a:rPr>
              <a:t>AS </a:t>
            </a:r>
            <a:r>
              <a:rPr lang="en-US" altLang="zh-CN" dirty="0"/>
              <a:t>&lt;</a:t>
            </a:r>
            <a:r>
              <a:rPr lang="zh-CN" altLang="en-US" dirty="0"/>
              <a:t>过程化</a:t>
            </a:r>
            <a:r>
              <a:rPr lang="en-US" altLang="zh-CN" dirty="0"/>
              <a:t>SQL</a:t>
            </a:r>
            <a:r>
              <a:rPr lang="zh-CN" altLang="en-US" dirty="0"/>
              <a:t>块</a:t>
            </a:r>
            <a:r>
              <a:rPr lang="en-US" altLang="zh-CN" dirty="0"/>
              <a:t>&gt;;</a:t>
            </a:r>
          </a:p>
          <a:p>
            <a:endParaRPr lang="en-US" altLang="zh-CN" dirty="0"/>
          </a:p>
          <a:p>
            <a:r>
              <a:rPr lang="en-US" altLang="zh-CN" dirty="0"/>
              <a:t>2. </a:t>
            </a:r>
            <a:r>
              <a:rPr lang="zh-CN" altLang="en-US" dirty="0"/>
              <a:t>函数的执行语句格式</a:t>
            </a:r>
          </a:p>
          <a:p>
            <a:pPr marL="342900" lvl="1" indent="0">
              <a:buNone/>
            </a:pPr>
            <a:r>
              <a:rPr lang="en-US" altLang="zh-CN" dirty="0">
                <a:solidFill>
                  <a:srgbClr val="C00000"/>
                </a:solidFill>
              </a:rPr>
              <a:t>CALL/SELECT </a:t>
            </a:r>
            <a:r>
              <a:rPr lang="zh-CN" altLang="en-US" dirty="0"/>
              <a:t>函数名 </a:t>
            </a:r>
            <a:r>
              <a:rPr lang="en-US" altLang="zh-CN" dirty="0"/>
              <a:t>([</a:t>
            </a:r>
            <a:r>
              <a:rPr lang="zh-CN" altLang="en-US" dirty="0"/>
              <a:t>参数</a:t>
            </a:r>
            <a:r>
              <a:rPr lang="en-US" altLang="zh-CN" dirty="0"/>
              <a:t>1,</a:t>
            </a:r>
            <a:r>
              <a:rPr lang="zh-CN" altLang="en-US" dirty="0"/>
              <a:t>参数</a:t>
            </a:r>
            <a:r>
              <a:rPr lang="en-US" altLang="zh-CN" dirty="0"/>
              <a:t>2,…]);</a:t>
            </a:r>
          </a:p>
          <a:p>
            <a:endParaRPr lang="en-US" altLang="zh-CN" dirty="0"/>
          </a:p>
          <a:p>
            <a:r>
              <a:rPr lang="en-US" altLang="zh-CN" dirty="0"/>
              <a:t>3. </a:t>
            </a:r>
            <a:r>
              <a:rPr lang="zh-CN" altLang="en-US" dirty="0"/>
              <a:t>修改函数</a:t>
            </a:r>
          </a:p>
          <a:p>
            <a:pPr lvl="1"/>
            <a:r>
              <a:rPr lang="zh-CN" altLang="en-US" dirty="0"/>
              <a:t>重命名</a:t>
            </a:r>
          </a:p>
          <a:p>
            <a:pPr marL="342900" lvl="1" indent="0">
              <a:buNone/>
            </a:pPr>
            <a:r>
              <a:rPr lang="en-US" altLang="zh-CN" dirty="0">
                <a:solidFill>
                  <a:srgbClr val="C00000"/>
                </a:solidFill>
              </a:rPr>
              <a:t>ALTER FUNCTION </a:t>
            </a:r>
            <a:r>
              <a:rPr lang="zh-CN" altLang="en-US" dirty="0"/>
              <a:t>过程名</a:t>
            </a:r>
            <a:r>
              <a:rPr lang="en-US" altLang="zh-CN" dirty="0"/>
              <a:t>1 </a:t>
            </a:r>
            <a:r>
              <a:rPr lang="en-US" altLang="zh-CN" dirty="0">
                <a:solidFill>
                  <a:srgbClr val="C00000"/>
                </a:solidFill>
              </a:rPr>
              <a:t>RENAME TO </a:t>
            </a:r>
            <a:r>
              <a:rPr lang="zh-CN" altLang="en-US" dirty="0"/>
              <a:t>过程名</a:t>
            </a:r>
            <a:r>
              <a:rPr lang="en-US" altLang="zh-CN" dirty="0"/>
              <a:t>2;</a:t>
            </a:r>
          </a:p>
          <a:p>
            <a:pPr lvl="1"/>
            <a:r>
              <a:rPr lang="zh-CN" altLang="en-US" dirty="0"/>
              <a:t>重新编译</a:t>
            </a:r>
          </a:p>
          <a:p>
            <a:pPr marL="342900" lvl="1" indent="0">
              <a:buNone/>
            </a:pPr>
            <a:r>
              <a:rPr lang="en-US" altLang="zh-CN" dirty="0">
                <a:solidFill>
                  <a:srgbClr val="C00000"/>
                </a:solidFill>
              </a:rPr>
              <a:t>ALTER FUNCTION </a:t>
            </a:r>
            <a:r>
              <a:rPr lang="zh-CN" altLang="en-US" dirty="0"/>
              <a:t>过程名 </a:t>
            </a:r>
            <a:r>
              <a:rPr lang="en-US" altLang="zh-CN" dirty="0">
                <a:solidFill>
                  <a:srgbClr val="C00000"/>
                </a:solidFill>
              </a:rPr>
              <a:t>COMPILE</a:t>
            </a:r>
            <a:r>
              <a:rPr lang="en-US" altLang="zh-CN" dirty="0"/>
              <a:t>;</a:t>
            </a:r>
            <a:endParaRPr lang="zh-CN" altLang="en-US" dirty="0"/>
          </a:p>
        </p:txBody>
      </p:sp>
      <p:sp>
        <p:nvSpPr>
          <p:cNvPr id="4" name="灯片编号占位符 3">
            <a:extLst>
              <a:ext uri="{FF2B5EF4-FFF2-40B4-BE49-F238E27FC236}">
                <a16:creationId xmlns:a16="http://schemas.microsoft.com/office/drawing/2014/main" id="{FE1BC257-6A3C-4ECB-8404-C8A5A46749D3}"/>
              </a:ext>
            </a:extLst>
          </p:cNvPr>
          <p:cNvSpPr>
            <a:spLocks noGrp="1"/>
          </p:cNvSpPr>
          <p:nvPr>
            <p:ph type="sldNum" sz="quarter" idx="12"/>
          </p:nvPr>
        </p:nvSpPr>
        <p:spPr/>
        <p:txBody>
          <a:bodyPr/>
          <a:lstStyle/>
          <a:p>
            <a:fld id="{47C9E101-E51D-431E-84FA-C029B8655B60}" type="slidenum">
              <a:rPr lang="zh-CN" altLang="en-US" smtClean="0"/>
              <a:pPr/>
              <a:t>32</a:t>
            </a:fld>
            <a:endParaRPr lang="zh-CN" altLang="en-US" dirty="0"/>
          </a:p>
        </p:txBody>
      </p:sp>
    </p:spTree>
    <p:extLst>
      <p:ext uri="{BB962C8B-B14F-4D97-AF65-F5344CB8AC3E}">
        <p14:creationId xmlns:p14="http://schemas.microsoft.com/office/powerpoint/2010/main" val="1042858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9DA187-302D-49B1-8E7D-FE5A3440DD49}"/>
              </a:ext>
            </a:extLst>
          </p:cNvPr>
          <p:cNvSpPr>
            <a:spLocks noGrp="1"/>
          </p:cNvSpPr>
          <p:nvPr>
            <p:ph type="title"/>
          </p:nvPr>
        </p:nvSpPr>
        <p:spPr/>
        <p:txBody>
          <a:bodyPr/>
          <a:lstStyle/>
          <a:p>
            <a:r>
              <a:rPr lang="en-US" altLang="zh-CN" dirty="0"/>
              <a:t>8.4 ODBC</a:t>
            </a:r>
            <a:r>
              <a:rPr lang="zh-CN" altLang="en-US" dirty="0"/>
              <a:t>编程</a:t>
            </a:r>
          </a:p>
        </p:txBody>
      </p:sp>
      <p:sp>
        <p:nvSpPr>
          <p:cNvPr id="3" name="内容占位符 2">
            <a:extLst>
              <a:ext uri="{FF2B5EF4-FFF2-40B4-BE49-F238E27FC236}">
                <a16:creationId xmlns:a16="http://schemas.microsoft.com/office/drawing/2014/main" id="{30098454-2578-44E2-A3F9-6BE93C8E8F77}"/>
              </a:ext>
            </a:extLst>
          </p:cNvPr>
          <p:cNvSpPr>
            <a:spLocks noGrp="1"/>
          </p:cNvSpPr>
          <p:nvPr>
            <p:ph idx="1"/>
          </p:nvPr>
        </p:nvSpPr>
        <p:spPr/>
        <p:txBody>
          <a:bodyPr/>
          <a:lstStyle/>
          <a:p>
            <a:r>
              <a:rPr lang="en-US" altLang="zh-CN" dirty="0"/>
              <a:t>8.4.1  </a:t>
            </a:r>
            <a:r>
              <a:rPr lang="zh-CN" altLang="en-US" dirty="0"/>
              <a:t>数据库互连概述</a:t>
            </a:r>
          </a:p>
          <a:p>
            <a:r>
              <a:rPr lang="en-US" altLang="zh-CN" dirty="0"/>
              <a:t>8.4.2  ODBC</a:t>
            </a:r>
            <a:r>
              <a:rPr lang="zh-CN" altLang="en-US" dirty="0"/>
              <a:t>工作原理概述 </a:t>
            </a:r>
          </a:p>
          <a:p>
            <a:r>
              <a:rPr lang="en-US" altLang="zh-CN" dirty="0"/>
              <a:t>8.4.3  ODBC API </a:t>
            </a:r>
            <a:r>
              <a:rPr lang="zh-CN" altLang="en-US" dirty="0"/>
              <a:t>基础 </a:t>
            </a:r>
          </a:p>
          <a:p>
            <a:r>
              <a:rPr lang="en-US" altLang="zh-CN" dirty="0"/>
              <a:t>8.4.4  ODBC</a:t>
            </a:r>
            <a:r>
              <a:rPr lang="zh-CN" altLang="en-US" dirty="0"/>
              <a:t>的工作流程</a:t>
            </a:r>
          </a:p>
        </p:txBody>
      </p:sp>
      <p:sp>
        <p:nvSpPr>
          <p:cNvPr id="4" name="灯片编号占位符 3">
            <a:extLst>
              <a:ext uri="{FF2B5EF4-FFF2-40B4-BE49-F238E27FC236}">
                <a16:creationId xmlns:a16="http://schemas.microsoft.com/office/drawing/2014/main" id="{2D2C44CD-05D1-4710-9C22-B373E5575728}"/>
              </a:ext>
            </a:extLst>
          </p:cNvPr>
          <p:cNvSpPr>
            <a:spLocks noGrp="1"/>
          </p:cNvSpPr>
          <p:nvPr>
            <p:ph type="sldNum" sz="quarter" idx="12"/>
          </p:nvPr>
        </p:nvSpPr>
        <p:spPr/>
        <p:txBody>
          <a:bodyPr/>
          <a:lstStyle/>
          <a:p>
            <a:fld id="{47C9E101-E51D-431E-84FA-C029B8655B60}" type="slidenum">
              <a:rPr lang="zh-CN" altLang="en-US" smtClean="0"/>
              <a:pPr/>
              <a:t>33</a:t>
            </a:fld>
            <a:endParaRPr lang="zh-CN" altLang="en-US" dirty="0"/>
          </a:p>
        </p:txBody>
      </p:sp>
    </p:spTree>
    <p:extLst>
      <p:ext uri="{BB962C8B-B14F-4D97-AF65-F5344CB8AC3E}">
        <p14:creationId xmlns:p14="http://schemas.microsoft.com/office/powerpoint/2010/main" val="24111850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5C0F7C-FFDE-4D81-8083-585E1CB5C95F}"/>
              </a:ext>
            </a:extLst>
          </p:cNvPr>
          <p:cNvSpPr>
            <a:spLocks noGrp="1"/>
          </p:cNvSpPr>
          <p:nvPr>
            <p:ph type="title"/>
          </p:nvPr>
        </p:nvSpPr>
        <p:spPr/>
        <p:txBody>
          <a:bodyPr/>
          <a:lstStyle/>
          <a:p>
            <a:r>
              <a:rPr lang="en-US" altLang="zh-CN" dirty="0"/>
              <a:t>8.4.1 ODBC</a:t>
            </a:r>
            <a:r>
              <a:rPr lang="zh-CN" altLang="en-US" dirty="0"/>
              <a:t>概述</a:t>
            </a:r>
          </a:p>
        </p:txBody>
      </p:sp>
      <p:sp>
        <p:nvSpPr>
          <p:cNvPr id="3" name="内容占位符 2">
            <a:extLst>
              <a:ext uri="{FF2B5EF4-FFF2-40B4-BE49-F238E27FC236}">
                <a16:creationId xmlns:a16="http://schemas.microsoft.com/office/drawing/2014/main" id="{C47513B0-8CB1-4579-B52C-1227BA5F4B2B}"/>
              </a:ext>
            </a:extLst>
          </p:cNvPr>
          <p:cNvSpPr>
            <a:spLocks noGrp="1"/>
          </p:cNvSpPr>
          <p:nvPr>
            <p:ph idx="1"/>
          </p:nvPr>
        </p:nvSpPr>
        <p:spPr/>
        <p:txBody>
          <a:bodyPr>
            <a:normAutofit/>
          </a:bodyPr>
          <a:lstStyle/>
          <a:p>
            <a:r>
              <a:rPr lang="zh-CN" altLang="en-US" dirty="0"/>
              <a:t>开放数据库连接（</a:t>
            </a:r>
            <a:r>
              <a:rPr lang="en-US" altLang="zh-CN" dirty="0"/>
              <a:t>Open Database Connectivity</a:t>
            </a:r>
            <a:r>
              <a:rPr lang="zh-CN" altLang="en-US" dirty="0"/>
              <a:t>，</a:t>
            </a:r>
            <a:r>
              <a:rPr lang="en-US" altLang="zh-CN" dirty="0">
                <a:solidFill>
                  <a:srgbClr val="C00000"/>
                </a:solidFill>
              </a:rPr>
              <a:t>ODBC</a:t>
            </a:r>
            <a:r>
              <a:rPr lang="zh-CN" altLang="en-US" dirty="0"/>
              <a:t>）</a:t>
            </a:r>
            <a:endParaRPr lang="en-US" altLang="zh-CN" dirty="0"/>
          </a:p>
          <a:p>
            <a:pPr lvl="1"/>
            <a:r>
              <a:rPr lang="zh-CN" altLang="en-US" dirty="0"/>
              <a:t>是微软公司开放服务体系（</a:t>
            </a:r>
            <a:r>
              <a:rPr lang="en-US" altLang="zh-CN" dirty="0"/>
              <a:t>Windows Open Services Architecture</a:t>
            </a:r>
            <a:r>
              <a:rPr lang="zh-CN" altLang="en-US" dirty="0"/>
              <a:t>， </a:t>
            </a:r>
            <a:r>
              <a:rPr lang="en-US" altLang="zh-CN" dirty="0">
                <a:solidFill>
                  <a:srgbClr val="C00000"/>
                </a:solidFill>
              </a:rPr>
              <a:t>WOSA</a:t>
            </a:r>
            <a:r>
              <a:rPr lang="zh-CN" altLang="en-US" dirty="0"/>
              <a:t>）中有关数据库的一个组成部分</a:t>
            </a:r>
          </a:p>
          <a:p>
            <a:pPr lvl="1"/>
            <a:r>
              <a:rPr lang="zh-CN" altLang="en-US" dirty="0"/>
              <a:t>提供了一组访问数据库的应用程序编程接口（</a:t>
            </a:r>
            <a:r>
              <a:rPr lang="en-US" altLang="zh-CN" dirty="0"/>
              <a:t>Application Programming Interface</a:t>
            </a:r>
            <a:r>
              <a:rPr lang="zh-CN" altLang="en-US" dirty="0"/>
              <a:t>， </a:t>
            </a:r>
            <a:r>
              <a:rPr lang="en-US" altLang="zh-CN" dirty="0">
                <a:solidFill>
                  <a:srgbClr val="C00000"/>
                </a:solidFill>
              </a:rPr>
              <a:t>API </a:t>
            </a:r>
            <a:r>
              <a:rPr lang="zh-CN" altLang="en-US" dirty="0"/>
              <a:t>）</a:t>
            </a:r>
            <a:endParaRPr lang="en-US" altLang="zh-CN" dirty="0"/>
          </a:p>
          <a:p>
            <a:endParaRPr lang="en-US" altLang="zh-CN" dirty="0"/>
          </a:p>
          <a:p>
            <a:r>
              <a:rPr lang="en-US" altLang="zh-CN" dirty="0"/>
              <a:t>ODBC</a:t>
            </a:r>
            <a:r>
              <a:rPr lang="zh-CN" altLang="en-US" dirty="0"/>
              <a:t>产生的原因</a:t>
            </a:r>
          </a:p>
          <a:p>
            <a:pPr lvl="1"/>
            <a:r>
              <a:rPr lang="zh-CN" altLang="en-US" dirty="0"/>
              <a:t>由于不同的数据库管理系统的存在，在某个关系数据库管理系统下编写的应用程序就不能在另一个关系数据库管理系统下运行</a:t>
            </a:r>
          </a:p>
          <a:p>
            <a:pPr lvl="1"/>
            <a:r>
              <a:rPr lang="zh-CN" altLang="en-US" dirty="0"/>
              <a:t>许多应用程序需要</a:t>
            </a:r>
            <a:r>
              <a:rPr lang="zh-CN" altLang="en-US" dirty="0">
                <a:solidFill>
                  <a:srgbClr val="C00000"/>
                </a:solidFill>
              </a:rPr>
              <a:t>共享</a:t>
            </a:r>
            <a:r>
              <a:rPr lang="zh-CN" altLang="en-US" dirty="0"/>
              <a:t>多个部门的数据资源，访问不同的关系数据库管理系统</a:t>
            </a:r>
            <a:endParaRPr lang="en-US" altLang="zh-CN" dirty="0"/>
          </a:p>
          <a:p>
            <a:pPr lvl="1"/>
            <a:endParaRPr lang="en-US" altLang="zh-CN" dirty="0"/>
          </a:p>
          <a:p>
            <a:r>
              <a:rPr lang="en-US" altLang="zh-CN" dirty="0"/>
              <a:t>ODBC</a:t>
            </a:r>
            <a:r>
              <a:rPr lang="zh-CN" altLang="en-US" dirty="0"/>
              <a:t>优点：</a:t>
            </a:r>
          </a:p>
          <a:p>
            <a:pPr lvl="1"/>
            <a:r>
              <a:rPr lang="zh-CN" altLang="en-US" dirty="0"/>
              <a:t>移植性好、能同时访问不同的数据库、共享多个数据资源 </a:t>
            </a:r>
          </a:p>
        </p:txBody>
      </p:sp>
      <p:sp>
        <p:nvSpPr>
          <p:cNvPr id="4" name="灯片编号占位符 3">
            <a:extLst>
              <a:ext uri="{FF2B5EF4-FFF2-40B4-BE49-F238E27FC236}">
                <a16:creationId xmlns:a16="http://schemas.microsoft.com/office/drawing/2014/main" id="{D74DD50B-14AA-4BED-B7EF-1B3E2C7B2DC8}"/>
              </a:ext>
            </a:extLst>
          </p:cNvPr>
          <p:cNvSpPr>
            <a:spLocks noGrp="1"/>
          </p:cNvSpPr>
          <p:nvPr>
            <p:ph type="sldNum" sz="quarter" idx="12"/>
          </p:nvPr>
        </p:nvSpPr>
        <p:spPr/>
        <p:txBody>
          <a:bodyPr/>
          <a:lstStyle/>
          <a:p>
            <a:fld id="{47C9E101-E51D-431E-84FA-C029B8655B60}" type="slidenum">
              <a:rPr lang="zh-CN" altLang="en-US" smtClean="0"/>
              <a:pPr/>
              <a:t>34</a:t>
            </a:fld>
            <a:endParaRPr lang="zh-CN" altLang="en-US" dirty="0"/>
          </a:p>
        </p:txBody>
      </p:sp>
    </p:spTree>
    <p:extLst>
      <p:ext uri="{BB962C8B-B14F-4D97-AF65-F5344CB8AC3E}">
        <p14:creationId xmlns:p14="http://schemas.microsoft.com/office/powerpoint/2010/main" val="2757687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charRg st="272" end="28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charRg st="280" end="30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E3F8C1-2A32-4742-A70C-167031A2BE42}"/>
              </a:ext>
            </a:extLst>
          </p:cNvPr>
          <p:cNvSpPr>
            <a:spLocks noGrp="1"/>
          </p:cNvSpPr>
          <p:nvPr>
            <p:ph type="title"/>
          </p:nvPr>
        </p:nvSpPr>
        <p:spPr/>
        <p:txBody>
          <a:bodyPr/>
          <a:lstStyle/>
          <a:p>
            <a:r>
              <a:rPr lang="en-US" altLang="zh-CN" dirty="0"/>
              <a:t>8.4.2 ODBC</a:t>
            </a:r>
            <a:r>
              <a:rPr lang="zh-CN" altLang="en-US" dirty="0"/>
              <a:t>工作原理概述</a:t>
            </a:r>
          </a:p>
        </p:txBody>
      </p:sp>
      <p:sp>
        <p:nvSpPr>
          <p:cNvPr id="3" name="内容占位符 2">
            <a:extLst>
              <a:ext uri="{FF2B5EF4-FFF2-40B4-BE49-F238E27FC236}">
                <a16:creationId xmlns:a16="http://schemas.microsoft.com/office/drawing/2014/main" id="{7B807349-BCE5-4BC1-A686-99C0A64407D0}"/>
              </a:ext>
            </a:extLst>
          </p:cNvPr>
          <p:cNvSpPr>
            <a:spLocks noGrp="1"/>
          </p:cNvSpPr>
          <p:nvPr>
            <p:ph idx="1"/>
          </p:nvPr>
        </p:nvSpPr>
        <p:spPr/>
        <p:txBody>
          <a:bodyPr/>
          <a:lstStyle/>
          <a:p>
            <a:r>
              <a:rPr lang="en-US" altLang="zh-CN" dirty="0"/>
              <a:t>ODBC</a:t>
            </a:r>
            <a:r>
              <a:rPr lang="zh-CN" altLang="en-US" dirty="0"/>
              <a:t>应用系统的体系结构</a:t>
            </a:r>
          </a:p>
          <a:p>
            <a:pPr marL="342900" lvl="1" indent="0">
              <a:buNone/>
            </a:pPr>
            <a:r>
              <a:rPr lang="en-US" altLang="zh-CN" dirty="0"/>
              <a:t>1. </a:t>
            </a:r>
            <a:r>
              <a:rPr lang="zh-CN" altLang="en-US" dirty="0"/>
              <a:t>用户应用程序</a:t>
            </a:r>
          </a:p>
          <a:p>
            <a:pPr marL="342900" lvl="1" indent="0">
              <a:buNone/>
            </a:pPr>
            <a:r>
              <a:rPr lang="en-US" altLang="zh-CN" dirty="0"/>
              <a:t>2. ODBC</a:t>
            </a:r>
            <a:r>
              <a:rPr lang="zh-CN" altLang="en-US" dirty="0"/>
              <a:t>驱动程序管理器</a:t>
            </a:r>
          </a:p>
          <a:p>
            <a:pPr marL="342900" lvl="1" indent="0">
              <a:buNone/>
            </a:pPr>
            <a:r>
              <a:rPr lang="en-US" altLang="zh-CN" dirty="0"/>
              <a:t>3. </a:t>
            </a:r>
            <a:r>
              <a:rPr lang="zh-CN" altLang="en-US" dirty="0"/>
              <a:t>数据库驱动程序</a:t>
            </a:r>
          </a:p>
          <a:p>
            <a:pPr marL="342900" lvl="1" indent="0">
              <a:buNone/>
            </a:pPr>
            <a:r>
              <a:rPr lang="en-US" altLang="zh-CN" dirty="0"/>
              <a:t>4. </a:t>
            </a:r>
            <a:r>
              <a:rPr lang="zh-CN" altLang="en-US" dirty="0"/>
              <a:t>数据源</a:t>
            </a:r>
          </a:p>
        </p:txBody>
      </p:sp>
      <p:sp>
        <p:nvSpPr>
          <p:cNvPr id="4" name="灯片编号占位符 3">
            <a:extLst>
              <a:ext uri="{FF2B5EF4-FFF2-40B4-BE49-F238E27FC236}">
                <a16:creationId xmlns:a16="http://schemas.microsoft.com/office/drawing/2014/main" id="{D262C51C-8109-4734-B8A0-9BB78CA4D674}"/>
              </a:ext>
            </a:extLst>
          </p:cNvPr>
          <p:cNvSpPr>
            <a:spLocks noGrp="1"/>
          </p:cNvSpPr>
          <p:nvPr>
            <p:ph type="sldNum" sz="quarter" idx="12"/>
          </p:nvPr>
        </p:nvSpPr>
        <p:spPr/>
        <p:txBody>
          <a:bodyPr/>
          <a:lstStyle/>
          <a:p>
            <a:fld id="{47C9E101-E51D-431E-84FA-C029B8655B60}" type="slidenum">
              <a:rPr lang="zh-CN" altLang="en-US" smtClean="0"/>
              <a:pPr/>
              <a:t>35</a:t>
            </a:fld>
            <a:endParaRPr lang="zh-CN" altLang="en-US" dirty="0"/>
          </a:p>
        </p:txBody>
      </p:sp>
      <p:pic>
        <p:nvPicPr>
          <p:cNvPr id="7" name="Picture 4" descr="83">
            <a:extLst>
              <a:ext uri="{FF2B5EF4-FFF2-40B4-BE49-F238E27FC236}">
                <a16:creationId xmlns:a16="http://schemas.microsoft.com/office/drawing/2014/main" id="{626DBDD9-290F-470A-A448-C47A15FACB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4103" y="1679575"/>
            <a:ext cx="4531179" cy="3153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66604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66E764-09A7-4DA4-B30B-E033EE7DD451}"/>
              </a:ext>
            </a:extLst>
          </p:cNvPr>
          <p:cNvSpPr>
            <a:spLocks noGrp="1"/>
          </p:cNvSpPr>
          <p:nvPr>
            <p:ph type="title"/>
          </p:nvPr>
        </p:nvSpPr>
        <p:spPr/>
        <p:txBody>
          <a:bodyPr/>
          <a:lstStyle/>
          <a:p>
            <a:r>
              <a:rPr lang="en-US" altLang="zh-CN" dirty="0"/>
              <a:t>1. </a:t>
            </a:r>
            <a:r>
              <a:rPr lang="zh-CN" altLang="en-US" dirty="0"/>
              <a:t>用户应用程序</a:t>
            </a:r>
          </a:p>
        </p:txBody>
      </p:sp>
      <p:sp>
        <p:nvSpPr>
          <p:cNvPr id="3" name="内容占位符 2">
            <a:extLst>
              <a:ext uri="{FF2B5EF4-FFF2-40B4-BE49-F238E27FC236}">
                <a16:creationId xmlns:a16="http://schemas.microsoft.com/office/drawing/2014/main" id="{835AF131-6546-4454-9CDD-66394049CE35}"/>
              </a:ext>
            </a:extLst>
          </p:cNvPr>
          <p:cNvSpPr>
            <a:spLocks noGrp="1"/>
          </p:cNvSpPr>
          <p:nvPr>
            <p:ph idx="1"/>
          </p:nvPr>
        </p:nvSpPr>
        <p:spPr/>
        <p:txBody>
          <a:bodyPr/>
          <a:lstStyle/>
          <a:p>
            <a:r>
              <a:rPr lang="en-US" altLang="zh-CN" dirty="0"/>
              <a:t>ODBC</a:t>
            </a:r>
            <a:r>
              <a:rPr lang="zh-CN" altLang="en-US" dirty="0"/>
              <a:t>应用程序包括的内容</a:t>
            </a:r>
          </a:p>
          <a:p>
            <a:pPr lvl="1"/>
            <a:r>
              <a:rPr lang="zh-CN" altLang="en-US" dirty="0"/>
              <a:t>请求连接数据库</a:t>
            </a:r>
          </a:p>
          <a:p>
            <a:pPr lvl="1"/>
            <a:r>
              <a:rPr lang="zh-CN" altLang="en-US" dirty="0"/>
              <a:t>向数据源发送</a:t>
            </a:r>
            <a:r>
              <a:rPr lang="en-US" altLang="zh-CN" dirty="0"/>
              <a:t>SQL</a:t>
            </a:r>
            <a:r>
              <a:rPr lang="zh-CN" altLang="en-US" dirty="0"/>
              <a:t>语句</a:t>
            </a:r>
          </a:p>
          <a:p>
            <a:pPr lvl="1"/>
            <a:r>
              <a:rPr lang="zh-CN" altLang="en-US" dirty="0"/>
              <a:t>为</a:t>
            </a:r>
            <a:r>
              <a:rPr lang="en-US" altLang="zh-CN" dirty="0"/>
              <a:t>SQL</a:t>
            </a:r>
            <a:r>
              <a:rPr lang="zh-CN" altLang="en-US" dirty="0"/>
              <a:t>语句执行结果分配存储空间，定义所读取的数据格式</a:t>
            </a:r>
            <a:endParaRPr lang="en-US" altLang="zh-CN" dirty="0"/>
          </a:p>
          <a:p>
            <a:pPr lvl="1"/>
            <a:r>
              <a:rPr lang="zh-CN" altLang="en-US" dirty="0"/>
              <a:t>获取数据库操作结果或处理错误</a:t>
            </a:r>
          </a:p>
          <a:p>
            <a:pPr lvl="1"/>
            <a:r>
              <a:rPr lang="zh-CN" altLang="en-US" dirty="0"/>
              <a:t>进行数据处理并向用户提交处理结果</a:t>
            </a:r>
          </a:p>
          <a:p>
            <a:pPr lvl="1"/>
            <a:r>
              <a:rPr lang="zh-CN" altLang="en-US" dirty="0"/>
              <a:t>请求事务的提交和回滚操作</a:t>
            </a:r>
          </a:p>
          <a:p>
            <a:pPr lvl="1"/>
            <a:r>
              <a:rPr lang="zh-CN" altLang="en-US" dirty="0"/>
              <a:t>断开与数据源的连接</a:t>
            </a:r>
          </a:p>
        </p:txBody>
      </p:sp>
      <p:sp>
        <p:nvSpPr>
          <p:cNvPr id="4" name="灯片编号占位符 3">
            <a:extLst>
              <a:ext uri="{FF2B5EF4-FFF2-40B4-BE49-F238E27FC236}">
                <a16:creationId xmlns:a16="http://schemas.microsoft.com/office/drawing/2014/main" id="{520F486F-290A-41BF-891F-9C04EA880E4D}"/>
              </a:ext>
            </a:extLst>
          </p:cNvPr>
          <p:cNvSpPr>
            <a:spLocks noGrp="1"/>
          </p:cNvSpPr>
          <p:nvPr>
            <p:ph type="sldNum" sz="quarter" idx="12"/>
          </p:nvPr>
        </p:nvSpPr>
        <p:spPr/>
        <p:txBody>
          <a:bodyPr/>
          <a:lstStyle/>
          <a:p>
            <a:fld id="{47C9E101-E51D-431E-84FA-C029B8655B60}" type="slidenum">
              <a:rPr lang="zh-CN" altLang="en-US" smtClean="0"/>
              <a:pPr/>
              <a:t>36</a:t>
            </a:fld>
            <a:endParaRPr lang="zh-CN" altLang="en-US" dirty="0"/>
          </a:p>
        </p:txBody>
      </p:sp>
    </p:spTree>
    <p:extLst>
      <p:ext uri="{BB962C8B-B14F-4D97-AF65-F5344CB8AC3E}">
        <p14:creationId xmlns:p14="http://schemas.microsoft.com/office/powerpoint/2010/main" val="19686775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7DFB9A-1C06-46D5-A04A-0805293365BC}"/>
              </a:ext>
            </a:extLst>
          </p:cNvPr>
          <p:cNvSpPr>
            <a:spLocks noGrp="1"/>
          </p:cNvSpPr>
          <p:nvPr>
            <p:ph type="title"/>
          </p:nvPr>
        </p:nvSpPr>
        <p:spPr/>
        <p:txBody>
          <a:bodyPr/>
          <a:lstStyle/>
          <a:p>
            <a:r>
              <a:rPr lang="en-US" altLang="zh-CN" dirty="0"/>
              <a:t>2. ODBC</a:t>
            </a:r>
            <a:r>
              <a:rPr lang="zh-CN" altLang="en-US" dirty="0"/>
              <a:t>驱动程序管理器</a:t>
            </a:r>
          </a:p>
        </p:txBody>
      </p:sp>
      <p:sp>
        <p:nvSpPr>
          <p:cNvPr id="3" name="内容占位符 2">
            <a:extLst>
              <a:ext uri="{FF2B5EF4-FFF2-40B4-BE49-F238E27FC236}">
                <a16:creationId xmlns:a16="http://schemas.microsoft.com/office/drawing/2014/main" id="{3E4B4DD4-569E-4389-BC4C-E021A22C92E0}"/>
              </a:ext>
            </a:extLst>
          </p:cNvPr>
          <p:cNvSpPr>
            <a:spLocks noGrp="1"/>
          </p:cNvSpPr>
          <p:nvPr>
            <p:ph idx="1"/>
          </p:nvPr>
        </p:nvSpPr>
        <p:spPr/>
        <p:txBody>
          <a:bodyPr/>
          <a:lstStyle/>
          <a:p>
            <a:r>
              <a:rPr lang="zh-CN" altLang="en-US" dirty="0"/>
              <a:t>驱动程序管理器：用来管理各种驱动程序</a:t>
            </a:r>
          </a:p>
          <a:p>
            <a:pPr lvl="1"/>
            <a:r>
              <a:rPr lang="zh-CN" altLang="en-US" dirty="0"/>
              <a:t>包含在</a:t>
            </a:r>
            <a:r>
              <a:rPr lang="en-US" altLang="zh-CN" dirty="0"/>
              <a:t>ODBC32.DLL</a:t>
            </a:r>
            <a:r>
              <a:rPr lang="zh-CN" altLang="en-US" dirty="0"/>
              <a:t>中</a:t>
            </a:r>
          </a:p>
          <a:p>
            <a:pPr lvl="1"/>
            <a:r>
              <a:rPr lang="zh-CN" altLang="en-US" dirty="0"/>
              <a:t>管理应用程序和驱动程序之间的通信</a:t>
            </a:r>
          </a:p>
          <a:p>
            <a:pPr lvl="1"/>
            <a:r>
              <a:rPr lang="zh-CN" altLang="en-US" dirty="0"/>
              <a:t>建立、配置或删除数据源，并查看系统当前所安装的数据库</a:t>
            </a:r>
            <a:r>
              <a:rPr lang="en-US" altLang="zh-CN" dirty="0"/>
              <a:t>ODBC</a:t>
            </a:r>
            <a:r>
              <a:rPr lang="zh-CN" altLang="en-US" dirty="0"/>
              <a:t>驱动程序</a:t>
            </a:r>
            <a:endParaRPr lang="en-US" altLang="zh-CN" dirty="0"/>
          </a:p>
          <a:p>
            <a:pPr lvl="1"/>
            <a:endParaRPr lang="en-US" altLang="zh-CN" dirty="0"/>
          </a:p>
          <a:p>
            <a:r>
              <a:rPr lang="zh-CN" altLang="en-US" dirty="0"/>
              <a:t>主要功能：</a:t>
            </a:r>
          </a:p>
          <a:p>
            <a:pPr lvl="1"/>
            <a:r>
              <a:rPr lang="zh-CN" altLang="en-US" dirty="0"/>
              <a:t>装载</a:t>
            </a:r>
            <a:r>
              <a:rPr lang="en-US" altLang="zh-CN" dirty="0"/>
              <a:t>ODBC</a:t>
            </a:r>
            <a:r>
              <a:rPr lang="zh-CN" altLang="en-US" dirty="0"/>
              <a:t>驱动程序</a:t>
            </a:r>
          </a:p>
          <a:p>
            <a:pPr lvl="1"/>
            <a:r>
              <a:rPr lang="zh-CN" altLang="en-US" dirty="0"/>
              <a:t>选择和连接正确的驱动程序</a:t>
            </a:r>
          </a:p>
          <a:p>
            <a:pPr lvl="1"/>
            <a:r>
              <a:rPr lang="zh-CN" altLang="en-US" dirty="0"/>
              <a:t>管理数据源</a:t>
            </a:r>
          </a:p>
          <a:p>
            <a:pPr lvl="1"/>
            <a:r>
              <a:rPr lang="zh-CN" altLang="en-US" dirty="0"/>
              <a:t>检查</a:t>
            </a:r>
            <a:r>
              <a:rPr lang="en-US" altLang="zh-CN" dirty="0"/>
              <a:t>ODBC</a:t>
            </a:r>
            <a:r>
              <a:rPr lang="zh-CN" altLang="en-US" dirty="0"/>
              <a:t>调用参数的合法性</a:t>
            </a:r>
          </a:p>
          <a:p>
            <a:pPr lvl="1"/>
            <a:r>
              <a:rPr lang="zh-CN" altLang="en-US" dirty="0"/>
              <a:t>记录</a:t>
            </a:r>
            <a:r>
              <a:rPr lang="en-US" altLang="zh-CN" dirty="0"/>
              <a:t>ODBC</a:t>
            </a:r>
            <a:r>
              <a:rPr lang="zh-CN" altLang="en-US" dirty="0"/>
              <a:t>函数的调用等</a:t>
            </a:r>
          </a:p>
        </p:txBody>
      </p:sp>
      <p:sp>
        <p:nvSpPr>
          <p:cNvPr id="4" name="灯片编号占位符 3">
            <a:extLst>
              <a:ext uri="{FF2B5EF4-FFF2-40B4-BE49-F238E27FC236}">
                <a16:creationId xmlns:a16="http://schemas.microsoft.com/office/drawing/2014/main" id="{4DE1868B-D954-4E76-8FF5-88977BC5F272}"/>
              </a:ext>
            </a:extLst>
          </p:cNvPr>
          <p:cNvSpPr>
            <a:spLocks noGrp="1"/>
          </p:cNvSpPr>
          <p:nvPr>
            <p:ph type="sldNum" sz="quarter" idx="12"/>
          </p:nvPr>
        </p:nvSpPr>
        <p:spPr/>
        <p:txBody>
          <a:bodyPr/>
          <a:lstStyle/>
          <a:p>
            <a:fld id="{47C9E101-E51D-431E-84FA-C029B8655B60}" type="slidenum">
              <a:rPr lang="zh-CN" altLang="en-US" smtClean="0"/>
              <a:pPr/>
              <a:t>37</a:t>
            </a:fld>
            <a:endParaRPr lang="zh-CN" altLang="en-US" dirty="0"/>
          </a:p>
        </p:txBody>
      </p:sp>
    </p:spTree>
    <p:extLst>
      <p:ext uri="{BB962C8B-B14F-4D97-AF65-F5344CB8AC3E}">
        <p14:creationId xmlns:p14="http://schemas.microsoft.com/office/powerpoint/2010/main" val="41109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F1B6CF-F520-433D-8F1D-B1ECFA427853}"/>
              </a:ext>
            </a:extLst>
          </p:cNvPr>
          <p:cNvSpPr>
            <a:spLocks noGrp="1"/>
          </p:cNvSpPr>
          <p:nvPr>
            <p:ph type="title"/>
          </p:nvPr>
        </p:nvSpPr>
        <p:spPr/>
        <p:txBody>
          <a:bodyPr/>
          <a:lstStyle/>
          <a:p>
            <a:r>
              <a:rPr lang="en-US" altLang="zh-CN" dirty="0"/>
              <a:t>3. </a:t>
            </a:r>
            <a:r>
              <a:rPr lang="zh-CN" altLang="en-US" dirty="0"/>
              <a:t>数据库驱动程序</a:t>
            </a:r>
          </a:p>
        </p:txBody>
      </p:sp>
      <p:sp>
        <p:nvSpPr>
          <p:cNvPr id="3" name="内容占位符 2">
            <a:extLst>
              <a:ext uri="{FF2B5EF4-FFF2-40B4-BE49-F238E27FC236}">
                <a16:creationId xmlns:a16="http://schemas.microsoft.com/office/drawing/2014/main" id="{5202F530-A2A6-4BF4-91E9-156103BF2FED}"/>
              </a:ext>
            </a:extLst>
          </p:cNvPr>
          <p:cNvSpPr>
            <a:spLocks noGrp="1"/>
          </p:cNvSpPr>
          <p:nvPr>
            <p:ph idx="1"/>
          </p:nvPr>
        </p:nvSpPr>
        <p:spPr/>
        <p:txBody>
          <a:bodyPr>
            <a:normAutofit/>
          </a:bodyPr>
          <a:lstStyle/>
          <a:p>
            <a:r>
              <a:rPr lang="en-US" altLang="zh-CN" dirty="0"/>
              <a:t>ODBC</a:t>
            </a:r>
            <a:r>
              <a:rPr lang="zh-CN" altLang="en-US" dirty="0"/>
              <a:t>通过</a:t>
            </a:r>
            <a:r>
              <a:rPr lang="zh-CN" altLang="en-US" dirty="0">
                <a:solidFill>
                  <a:srgbClr val="C00000"/>
                </a:solidFill>
              </a:rPr>
              <a:t>驱动程序</a:t>
            </a:r>
            <a:r>
              <a:rPr lang="zh-CN" altLang="en-US" dirty="0"/>
              <a:t>来提供应用系统与数据库平台的独立性</a:t>
            </a:r>
            <a:endParaRPr lang="en-US" altLang="zh-CN" dirty="0"/>
          </a:p>
          <a:p>
            <a:r>
              <a:rPr lang="en-US" altLang="zh-CN" dirty="0"/>
              <a:t>ODBC</a:t>
            </a:r>
            <a:r>
              <a:rPr lang="zh-CN" altLang="en-US" dirty="0"/>
              <a:t>应用程序不能直接存取数据库</a:t>
            </a:r>
          </a:p>
          <a:p>
            <a:pPr lvl="1"/>
            <a:r>
              <a:rPr lang="zh-CN" altLang="en-US" dirty="0"/>
              <a:t>其各种操作请求由驱动程序管理器提交给某个关系数据库管理系统的</a:t>
            </a:r>
            <a:r>
              <a:rPr lang="en-US" altLang="zh-CN" dirty="0"/>
              <a:t>ODBC</a:t>
            </a:r>
            <a:r>
              <a:rPr lang="zh-CN" altLang="en-US" dirty="0"/>
              <a:t>驱动程序</a:t>
            </a:r>
          </a:p>
          <a:p>
            <a:pPr lvl="1"/>
            <a:r>
              <a:rPr lang="zh-CN" altLang="en-US" dirty="0"/>
              <a:t>通过调用驱动程序所支持的函数来存取数据库</a:t>
            </a:r>
          </a:p>
          <a:p>
            <a:pPr lvl="1"/>
            <a:r>
              <a:rPr lang="zh-CN" altLang="en-US" dirty="0"/>
              <a:t>数据库的操作结果也通过驱动程序返回给应用程序</a:t>
            </a:r>
          </a:p>
          <a:p>
            <a:pPr lvl="1"/>
            <a:r>
              <a:rPr lang="zh-CN" altLang="en-US" dirty="0"/>
              <a:t>如果应用程序要操纵不同的数据库，就要动态地链接到不同的驱动程序</a:t>
            </a:r>
            <a:endParaRPr lang="en-US" altLang="zh-CN" dirty="0"/>
          </a:p>
          <a:p>
            <a:r>
              <a:rPr lang="en-US" altLang="zh-CN" dirty="0"/>
              <a:t>ODBC</a:t>
            </a:r>
            <a:r>
              <a:rPr lang="zh-CN" altLang="en-US" dirty="0"/>
              <a:t>驱动程序类型</a:t>
            </a:r>
            <a:endParaRPr lang="en-US" altLang="zh-CN" dirty="0"/>
          </a:p>
          <a:p>
            <a:pPr lvl="1"/>
            <a:r>
              <a:rPr lang="zh-CN" altLang="en-US" dirty="0">
                <a:solidFill>
                  <a:srgbClr val="C00000"/>
                </a:solidFill>
              </a:rPr>
              <a:t>单束：</a:t>
            </a:r>
            <a:r>
              <a:rPr lang="zh-CN" altLang="en-US" dirty="0"/>
              <a:t>数据源和应用程序在同一台机器上，驱动程序直接完成对数据文件的</a:t>
            </a:r>
            <a:r>
              <a:rPr lang="en-US" altLang="zh-CN" dirty="0"/>
              <a:t>I/O</a:t>
            </a:r>
            <a:r>
              <a:rPr lang="zh-CN" altLang="en-US" dirty="0"/>
              <a:t>操作，驱动程序相当于数据管理器 </a:t>
            </a:r>
            <a:endParaRPr lang="en-US" altLang="zh-CN" dirty="0"/>
          </a:p>
          <a:p>
            <a:pPr lvl="1"/>
            <a:r>
              <a:rPr lang="zh-CN" altLang="en-US" dirty="0">
                <a:solidFill>
                  <a:srgbClr val="C00000"/>
                </a:solidFill>
              </a:rPr>
              <a:t>多束：</a:t>
            </a:r>
            <a:r>
              <a:rPr lang="zh-CN" altLang="en-US" dirty="0"/>
              <a:t>支持客户机</a:t>
            </a:r>
            <a:r>
              <a:rPr lang="en-US" altLang="zh-CN" dirty="0"/>
              <a:t>/</a:t>
            </a:r>
            <a:r>
              <a:rPr lang="zh-CN" altLang="en-US" dirty="0"/>
              <a:t>服务器、客户机</a:t>
            </a:r>
            <a:r>
              <a:rPr lang="en-US" altLang="zh-CN" dirty="0"/>
              <a:t>/</a:t>
            </a:r>
            <a:r>
              <a:rPr lang="zh-CN" altLang="en-US" dirty="0"/>
              <a:t>应用服务器</a:t>
            </a:r>
            <a:r>
              <a:rPr lang="en-US" altLang="zh-CN" dirty="0"/>
              <a:t>/</a:t>
            </a:r>
            <a:r>
              <a:rPr lang="zh-CN" altLang="en-US" dirty="0"/>
              <a:t>数据库服务器等网络环境下的数据访问，由驱动程序完成数据库访问请求的提交和结果集接收，应用程序使用驱动程序提供的结果集管理接口操纵执行后的结果数据 </a:t>
            </a:r>
          </a:p>
        </p:txBody>
      </p:sp>
      <p:sp>
        <p:nvSpPr>
          <p:cNvPr id="4" name="灯片编号占位符 3">
            <a:extLst>
              <a:ext uri="{FF2B5EF4-FFF2-40B4-BE49-F238E27FC236}">
                <a16:creationId xmlns:a16="http://schemas.microsoft.com/office/drawing/2014/main" id="{63A12D9F-EB6E-490D-AF25-95AECBA50205}"/>
              </a:ext>
            </a:extLst>
          </p:cNvPr>
          <p:cNvSpPr>
            <a:spLocks noGrp="1"/>
          </p:cNvSpPr>
          <p:nvPr>
            <p:ph type="sldNum" sz="quarter" idx="12"/>
          </p:nvPr>
        </p:nvSpPr>
        <p:spPr/>
        <p:txBody>
          <a:bodyPr/>
          <a:lstStyle/>
          <a:p>
            <a:fld id="{47C9E101-E51D-431E-84FA-C029B8655B60}" type="slidenum">
              <a:rPr lang="zh-CN" altLang="en-US" smtClean="0"/>
              <a:pPr/>
              <a:t>38</a:t>
            </a:fld>
            <a:endParaRPr lang="zh-CN" altLang="en-US" dirty="0"/>
          </a:p>
        </p:txBody>
      </p:sp>
    </p:spTree>
    <p:extLst>
      <p:ext uri="{BB962C8B-B14F-4D97-AF65-F5344CB8AC3E}">
        <p14:creationId xmlns:p14="http://schemas.microsoft.com/office/powerpoint/2010/main" val="2216603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534DC2-17CC-4AD1-A448-D8379200D020}"/>
              </a:ext>
            </a:extLst>
          </p:cNvPr>
          <p:cNvSpPr>
            <a:spLocks noGrp="1"/>
          </p:cNvSpPr>
          <p:nvPr>
            <p:ph type="title"/>
          </p:nvPr>
        </p:nvSpPr>
        <p:spPr/>
        <p:txBody>
          <a:bodyPr/>
          <a:lstStyle/>
          <a:p>
            <a:r>
              <a:rPr lang="en-US" altLang="zh-CN" dirty="0"/>
              <a:t>4. ODBC</a:t>
            </a:r>
            <a:r>
              <a:rPr lang="zh-CN" altLang="en-US" dirty="0"/>
              <a:t>数据源管理</a:t>
            </a:r>
          </a:p>
        </p:txBody>
      </p:sp>
      <p:sp>
        <p:nvSpPr>
          <p:cNvPr id="3" name="内容占位符 2">
            <a:extLst>
              <a:ext uri="{FF2B5EF4-FFF2-40B4-BE49-F238E27FC236}">
                <a16:creationId xmlns:a16="http://schemas.microsoft.com/office/drawing/2014/main" id="{5DB47CA3-25F1-46B6-989C-05573DD0D055}"/>
              </a:ext>
            </a:extLst>
          </p:cNvPr>
          <p:cNvSpPr>
            <a:spLocks noGrp="1"/>
          </p:cNvSpPr>
          <p:nvPr>
            <p:ph idx="1"/>
          </p:nvPr>
        </p:nvSpPr>
        <p:spPr/>
        <p:txBody>
          <a:bodyPr>
            <a:normAutofit lnSpcReduction="10000"/>
          </a:bodyPr>
          <a:lstStyle/>
          <a:p>
            <a:r>
              <a:rPr lang="zh-CN" altLang="en-US" dirty="0">
                <a:solidFill>
                  <a:srgbClr val="C00000"/>
                </a:solidFill>
              </a:rPr>
              <a:t>数据源：</a:t>
            </a:r>
            <a:r>
              <a:rPr lang="zh-CN" altLang="en-US" dirty="0"/>
              <a:t>是最终用户需要访问的数据，包含了数据库位置和数据库类型等信息，是一种数据连接的抽象</a:t>
            </a:r>
            <a:endParaRPr lang="en-US" altLang="zh-CN" dirty="0"/>
          </a:p>
          <a:p>
            <a:r>
              <a:rPr lang="zh-CN" altLang="en-US" dirty="0"/>
              <a:t>数据源对最终用户是</a:t>
            </a:r>
            <a:r>
              <a:rPr lang="zh-CN" altLang="en-US" dirty="0">
                <a:solidFill>
                  <a:srgbClr val="C00000"/>
                </a:solidFill>
              </a:rPr>
              <a:t>透明</a:t>
            </a:r>
            <a:r>
              <a:rPr lang="zh-CN" altLang="en-US" dirty="0"/>
              <a:t>的</a:t>
            </a:r>
          </a:p>
          <a:p>
            <a:pPr lvl="1"/>
            <a:r>
              <a:rPr lang="en-US" altLang="zh-CN" dirty="0"/>
              <a:t>ODBC</a:t>
            </a:r>
            <a:r>
              <a:rPr lang="zh-CN" altLang="en-US" dirty="0"/>
              <a:t>给每个被访问的数据源指定唯一的数据源名（</a:t>
            </a:r>
            <a:r>
              <a:rPr lang="en-US" altLang="zh-CN" dirty="0"/>
              <a:t>Data Source Name</a:t>
            </a:r>
            <a:r>
              <a:rPr lang="zh-CN" altLang="en-US" dirty="0"/>
              <a:t>，简称</a:t>
            </a:r>
            <a:r>
              <a:rPr lang="en-US" altLang="zh-CN" dirty="0"/>
              <a:t>DSN</a:t>
            </a:r>
            <a:r>
              <a:rPr lang="zh-CN" altLang="en-US" dirty="0"/>
              <a:t>），并映射到所有必要的、用来存取数据的低层软件</a:t>
            </a:r>
          </a:p>
          <a:p>
            <a:pPr lvl="1"/>
            <a:r>
              <a:rPr lang="zh-CN" altLang="en-US" dirty="0"/>
              <a:t>在连接中，用数据源名来代表用户名、服务器名、所连接的数据库名等</a:t>
            </a:r>
          </a:p>
          <a:p>
            <a:pPr lvl="1"/>
            <a:r>
              <a:rPr lang="zh-CN" altLang="en-US" dirty="0"/>
              <a:t>最终用户无须知道数据库管理系统或其他数据管理软件、网络以及有关</a:t>
            </a:r>
            <a:r>
              <a:rPr lang="en-US" altLang="zh-CN" dirty="0"/>
              <a:t>ODBC</a:t>
            </a:r>
            <a:r>
              <a:rPr lang="zh-CN" altLang="en-US" dirty="0"/>
              <a:t>驱动程序的细节</a:t>
            </a:r>
            <a:endParaRPr lang="en-US" altLang="zh-CN" dirty="0"/>
          </a:p>
          <a:p>
            <a:pPr lvl="1"/>
            <a:endParaRPr lang="en-US" altLang="zh-CN" dirty="0"/>
          </a:p>
          <a:p>
            <a:pPr lvl="1"/>
            <a:r>
              <a:rPr lang="zh-CN" altLang="en-US" dirty="0"/>
              <a:t>例如，假设某个学校在</a:t>
            </a:r>
            <a:r>
              <a:rPr lang="en-US" altLang="zh-CN" dirty="0"/>
              <a:t>SQL Server</a:t>
            </a:r>
            <a:r>
              <a:rPr lang="zh-CN" altLang="en-US" dirty="0"/>
              <a:t>和</a:t>
            </a:r>
            <a:r>
              <a:rPr lang="en-US" altLang="zh-CN" dirty="0" err="1"/>
              <a:t>KingbaseES</a:t>
            </a:r>
            <a:r>
              <a:rPr lang="zh-CN" altLang="en-US" dirty="0"/>
              <a:t>上创建了两个数据库：学校人事数据库和教学科研数据库。</a:t>
            </a:r>
          </a:p>
          <a:p>
            <a:pPr lvl="2"/>
            <a:r>
              <a:rPr lang="zh-CN" altLang="en-US" dirty="0"/>
              <a:t>学校的信息系统要从这两个数据库中存取数据</a:t>
            </a:r>
          </a:p>
          <a:p>
            <a:pPr lvl="2"/>
            <a:r>
              <a:rPr lang="zh-CN" altLang="en-US" dirty="0"/>
              <a:t>为了方便地与两个数据库连接，为学校人事数据库创建一个数据源名</a:t>
            </a:r>
            <a:r>
              <a:rPr lang="en-US" altLang="zh-CN" dirty="0"/>
              <a:t>PERSON</a:t>
            </a:r>
            <a:r>
              <a:rPr lang="zh-CN" altLang="en-US" dirty="0"/>
              <a:t>，为教学科研数据库创建一个名为</a:t>
            </a:r>
            <a:r>
              <a:rPr lang="en-US" altLang="zh-CN" dirty="0"/>
              <a:t>EDU</a:t>
            </a:r>
            <a:r>
              <a:rPr lang="zh-CN" altLang="en-US" dirty="0"/>
              <a:t>的数据源</a:t>
            </a:r>
          </a:p>
          <a:p>
            <a:pPr lvl="2"/>
            <a:r>
              <a:rPr lang="zh-CN" altLang="en-US" dirty="0"/>
              <a:t>当要访问每一个数据库时，只要与</a:t>
            </a:r>
            <a:r>
              <a:rPr lang="en-US" altLang="zh-CN" dirty="0"/>
              <a:t>PERSON</a:t>
            </a:r>
            <a:r>
              <a:rPr lang="zh-CN" altLang="en-US" dirty="0"/>
              <a:t>和</a:t>
            </a:r>
            <a:r>
              <a:rPr lang="en-US" altLang="zh-CN" dirty="0"/>
              <a:t>EDU</a:t>
            </a:r>
            <a:r>
              <a:rPr lang="zh-CN" altLang="en-US" dirty="0"/>
              <a:t>连接即可，不需要记住使用的驱动程序、服务器名称、数据库名</a:t>
            </a:r>
          </a:p>
        </p:txBody>
      </p:sp>
      <p:sp>
        <p:nvSpPr>
          <p:cNvPr id="4" name="灯片编号占位符 3">
            <a:extLst>
              <a:ext uri="{FF2B5EF4-FFF2-40B4-BE49-F238E27FC236}">
                <a16:creationId xmlns:a16="http://schemas.microsoft.com/office/drawing/2014/main" id="{AEE739C8-32EC-4C5F-A250-996C955A92DC}"/>
              </a:ext>
            </a:extLst>
          </p:cNvPr>
          <p:cNvSpPr>
            <a:spLocks noGrp="1"/>
          </p:cNvSpPr>
          <p:nvPr>
            <p:ph type="sldNum" sz="quarter" idx="12"/>
          </p:nvPr>
        </p:nvSpPr>
        <p:spPr/>
        <p:txBody>
          <a:bodyPr/>
          <a:lstStyle/>
          <a:p>
            <a:fld id="{47C9E101-E51D-431E-84FA-C029B8655B60}" type="slidenum">
              <a:rPr lang="zh-CN" altLang="en-US" smtClean="0"/>
              <a:pPr/>
              <a:t>39</a:t>
            </a:fld>
            <a:endParaRPr lang="zh-CN" altLang="en-US" dirty="0"/>
          </a:p>
        </p:txBody>
      </p:sp>
    </p:spTree>
    <p:extLst>
      <p:ext uri="{BB962C8B-B14F-4D97-AF65-F5344CB8AC3E}">
        <p14:creationId xmlns:p14="http://schemas.microsoft.com/office/powerpoint/2010/main" val="2409027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101840-7743-4EF8-B1C8-869618041966}"/>
              </a:ext>
            </a:extLst>
          </p:cNvPr>
          <p:cNvSpPr>
            <a:spLocks noGrp="1"/>
          </p:cNvSpPr>
          <p:nvPr>
            <p:ph type="title"/>
          </p:nvPr>
        </p:nvSpPr>
        <p:spPr/>
        <p:txBody>
          <a:bodyPr/>
          <a:lstStyle/>
          <a:p>
            <a:r>
              <a:rPr lang="en-US" altLang="zh-CN" dirty="0"/>
              <a:t>8.4.3 ODBC API </a:t>
            </a:r>
            <a:r>
              <a:rPr lang="zh-CN" altLang="en-US" dirty="0"/>
              <a:t>基础</a:t>
            </a:r>
          </a:p>
        </p:txBody>
      </p:sp>
      <p:sp>
        <p:nvSpPr>
          <p:cNvPr id="3" name="内容占位符 2">
            <a:extLst>
              <a:ext uri="{FF2B5EF4-FFF2-40B4-BE49-F238E27FC236}">
                <a16:creationId xmlns:a16="http://schemas.microsoft.com/office/drawing/2014/main" id="{0C7A37F8-2F25-44C2-9498-A75A6F2EECE1}"/>
              </a:ext>
            </a:extLst>
          </p:cNvPr>
          <p:cNvSpPr>
            <a:spLocks noGrp="1"/>
          </p:cNvSpPr>
          <p:nvPr>
            <p:ph idx="1"/>
          </p:nvPr>
        </p:nvSpPr>
        <p:spPr/>
        <p:txBody>
          <a:bodyPr/>
          <a:lstStyle/>
          <a:p>
            <a:r>
              <a:rPr lang="en-US" altLang="zh-CN" dirty="0"/>
              <a:t>ODBC </a:t>
            </a:r>
            <a:r>
              <a:rPr lang="zh-CN" altLang="en-US" dirty="0"/>
              <a:t>应用程序编程接口的一致性</a:t>
            </a:r>
          </a:p>
          <a:p>
            <a:pPr lvl="1"/>
            <a:r>
              <a:rPr lang="en-US" altLang="zh-CN" dirty="0"/>
              <a:t>API</a:t>
            </a:r>
            <a:r>
              <a:rPr lang="zh-CN" altLang="en-US" dirty="0"/>
              <a:t>一致性</a:t>
            </a:r>
          </a:p>
          <a:p>
            <a:pPr lvl="1"/>
            <a:r>
              <a:rPr lang="zh-CN" altLang="en-US" dirty="0"/>
              <a:t>包含核心级、扩展</a:t>
            </a:r>
            <a:r>
              <a:rPr lang="en-US" altLang="zh-CN" dirty="0"/>
              <a:t>1</a:t>
            </a:r>
            <a:r>
              <a:rPr lang="zh-CN" altLang="en-US" dirty="0"/>
              <a:t>级、扩展</a:t>
            </a:r>
            <a:r>
              <a:rPr lang="en-US" altLang="zh-CN" dirty="0"/>
              <a:t>2</a:t>
            </a:r>
            <a:r>
              <a:rPr lang="zh-CN" altLang="en-US" dirty="0"/>
              <a:t>级</a:t>
            </a:r>
          </a:p>
          <a:p>
            <a:pPr lvl="1"/>
            <a:r>
              <a:rPr lang="zh-CN" altLang="en-US" dirty="0"/>
              <a:t>语法一致性</a:t>
            </a:r>
          </a:p>
          <a:p>
            <a:pPr lvl="1"/>
            <a:r>
              <a:rPr lang="zh-CN" altLang="en-US" dirty="0"/>
              <a:t>包含最低限度</a:t>
            </a:r>
            <a:r>
              <a:rPr lang="en-US" altLang="zh-CN" dirty="0"/>
              <a:t>SQL</a:t>
            </a:r>
            <a:r>
              <a:rPr lang="zh-CN" altLang="en-US" dirty="0"/>
              <a:t>语法级、核心</a:t>
            </a:r>
            <a:r>
              <a:rPr lang="en-US" altLang="zh-CN" dirty="0"/>
              <a:t>SQL</a:t>
            </a:r>
            <a:r>
              <a:rPr lang="zh-CN" altLang="en-US" dirty="0"/>
              <a:t>语法级、扩展</a:t>
            </a:r>
            <a:r>
              <a:rPr lang="en-US" altLang="zh-CN" dirty="0"/>
              <a:t>SQL</a:t>
            </a:r>
            <a:r>
              <a:rPr lang="zh-CN" altLang="en-US" dirty="0"/>
              <a:t>语法级</a:t>
            </a:r>
            <a:endParaRPr lang="en-US" altLang="zh-CN" dirty="0"/>
          </a:p>
          <a:p>
            <a:pPr lvl="1"/>
            <a:endParaRPr lang="en-US" altLang="zh-CN" dirty="0"/>
          </a:p>
          <a:p>
            <a:pPr lvl="1"/>
            <a:r>
              <a:rPr lang="en-US" altLang="zh-CN" dirty="0"/>
              <a:t>1. </a:t>
            </a:r>
            <a:r>
              <a:rPr lang="zh-CN" altLang="en-US" dirty="0"/>
              <a:t>函数概述</a:t>
            </a:r>
          </a:p>
          <a:p>
            <a:pPr lvl="1"/>
            <a:r>
              <a:rPr lang="en-US" altLang="zh-CN" dirty="0"/>
              <a:t>2. </a:t>
            </a:r>
            <a:r>
              <a:rPr lang="zh-CN" altLang="en-US" dirty="0"/>
              <a:t>句柄及其属性</a:t>
            </a:r>
          </a:p>
          <a:p>
            <a:pPr lvl="1"/>
            <a:r>
              <a:rPr lang="en-US" altLang="zh-CN" dirty="0"/>
              <a:t>3. </a:t>
            </a:r>
            <a:r>
              <a:rPr lang="zh-CN" altLang="en-US" dirty="0"/>
              <a:t>数据类型</a:t>
            </a:r>
          </a:p>
        </p:txBody>
      </p:sp>
      <p:sp>
        <p:nvSpPr>
          <p:cNvPr id="4" name="灯片编号占位符 3">
            <a:extLst>
              <a:ext uri="{FF2B5EF4-FFF2-40B4-BE49-F238E27FC236}">
                <a16:creationId xmlns:a16="http://schemas.microsoft.com/office/drawing/2014/main" id="{B6214B96-A665-4106-A9CF-3C4EE981F6AF}"/>
              </a:ext>
            </a:extLst>
          </p:cNvPr>
          <p:cNvSpPr>
            <a:spLocks noGrp="1"/>
          </p:cNvSpPr>
          <p:nvPr>
            <p:ph type="sldNum" sz="quarter" idx="12"/>
          </p:nvPr>
        </p:nvSpPr>
        <p:spPr/>
        <p:txBody>
          <a:bodyPr/>
          <a:lstStyle/>
          <a:p>
            <a:fld id="{47C9E101-E51D-431E-84FA-C029B8655B60}" type="slidenum">
              <a:rPr lang="zh-CN" altLang="en-US" smtClean="0"/>
              <a:pPr/>
              <a:t>40</a:t>
            </a:fld>
            <a:endParaRPr lang="zh-CN" altLang="en-US" dirty="0"/>
          </a:p>
        </p:txBody>
      </p:sp>
    </p:spTree>
    <p:extLst>
      <p:ext uri="{BB962C8B-B14F-4D97-AF65-F5344CB8AC3E}">
        <p14:creationId xmlns:p14="http://schemas.microsoft.com/office/powerpoint/2010/main" val="5623418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4ED5C81-CC06-48E0-9D3C-B70020F56DE1}"/>
              </a:ext>
            </a:extLst>
          </p:cNvPr>
          <p:cNvSpPr>
            <a:spLocks noGrp="1"/>
          </p:cNvSpPr>
          <p:nvPr>
            <p:ph sz="half" idx="1"/>
          </p:nvPr>
        </p:nvSpPr>
        <p:spPr/>
        <p:txBody>
          <a:bodyPr/>
          <a:lstStyle/>
          <a:p>
            <a:r>
              <a:rPr lang="en-US" altLang="zh-CN" dirty="0"/>
              <a:t>ODBC</a:t>
            </a:r>
            <a:r>
              <a:rPr lang="zh-CN" altLang="en-US" dirty="0"/>
              <a:t>的工作流程</a:t>
            </a:r>
            <a:endParaRPr lang="en-US" altLang="zh-CN" dirty="0"/>
          </a:p>
          <a:p>
            <a:pPr marL="342900" lvl="1" indent="0">
              <a:buNone/>
            </a:pPr>
            <a:r>
              <a:rPr lang="en-US" altLang="zh-CN" dirty="0"/>
              <a:t>1. </a:t>
            </a:r>
            <a:r>
              <a:rPr lang="zh-CN" altLang="en-US" dirty="0"/>
              <a:t>配置数据源</a:t>
            </a:r>
          </a:p>
          <a:p>
            <a:pPr marL="342900" lvl="1" indent="0">
              <a:buNone/>
            </a:pPr>
            <a:r>
              <a:rPr lang="en-US" altLang="zh-CN" dirty="0"/>
              <a:t>2. </a:t>
            </a:r>
            <a:r>
              <a:rPr lang="zh-CN" altLang="en-US" dirty="0"/>
              <a:t>初始化环境</a:t>
            </a:r>
          </a:p>
          <a:p>
            <a:pPr marL="342900" lvl="1" indent="0">
              <a:buNone/>
            </a:pPr>
            <a:r>
              <a:rPr lang="en-US" altLang="zh-CN" dirty="0"/>
              <a:t>3. </a:t>
            </a:r>
            <a:r>
              <a:rPr lang="zh-CN" altLang="en-US" dirty="0"/>
              <a:t>建立连接</a:t>
            </a:r>
          </a:p>
          <a:p>
            <a:pPr marL="342900" lvl="1" indent="0">
              <a:buNone/>
            </a:pPr>
            <a:r>
              <a:rPr lang="en-US" altLang="zh-CN" dirty="0"/>
              <a:t>4. </a:t>
            </a:r>
            <a:r>
              <a:rPr lang="zh-CN" altLang="en-US" dirty="0"/>
              <a:t>分配语句句柄</a:t>
            </a:r>
          </a:p>
          <a:p>
            <a:pPr marL="342900" lvl="1" indent="0">
              <a:buNone/>
            </a:pPr>
            <a:r>
              <a:rPr lang="en-US" altLang="zh-CN" dirty="0"/>
              <a:t>5. </a:t>
            </a:r>
            <a:r>
              <a:rPr lang="zh-CN" altLang="en-US" dirty="0"/>
              <a:t>执行</a:t>
            </a:r>
            <a:r>
              <a:rPr lang="en-US" altLang="zh-CN" dirty="0"/>
              <a:t>SQL</a:t>
            </a:r>
            <a:r>
              <a:rPr lang="zh-CN" altLang="en-US" dirty="0"/>
              <a:t>语句</a:t>
            </a:r>
          </a:p>
          <a:p>
            <a:pPr marL="342900" lvl="1" indent="0">
              <a:buNone/>
            </a:pPr>
            <a:r>
              <a:rPr lang="en-US" altLang="zh-CN" dirty="0"/>
              <a:t>6. </a:t>
            </a:r>
            <a:r>
              <a:rPr lang="zh-CN" altLang="en-US" dirty="0"/>
              <a:t>结果集处理</a:t>
            </a:r>
          </a:p>
          <a:p>
            <a:pPr marL="342900" lvl="1" indent="0">
              <a:buNone/>
            </a:pPr>
            <a:r>
              <a:rPr lang="en-US" altLang="zh-CN" dirty="0"/>
              <a:t>7. </a:t>
            </a:r>
            <a:r>
              <a:rPr lang="zh-CN" altLang="en-US" dirty="0"/>
              <a:t>中止处理</a:t>
            </a:r>
          </a:p>
        </p:txBody>
      </p:sp>
      <p:sp>
        <p:nvSpPr>
          <p:cNvPr id="9" name="内容占位符 8">
            <a:extLst>
              <a:ext uri="{FF2B5EF4-FFF2-40B4-BE49-F238E27FC236}">
                <a16:creationId xmlns:a16="http://schemas.microsoft.com/office/drawing/2014/main" id="{9832CD69-19B9-429C-8404-89EEC313E81F}"/>
              </a:ext>
            </a:extLst>
          </p:cNvPr>
          <p:cNvSpPr>
            <a:spLocks noGrp="1"/>
          </p:cNvSpPr>
          <p:nvPr>
            <p:ph sz="half" idx="2"/>
          </p:nvPr>
        </p:nvSpPr>
        <p:spPr>
          <a:xfrm>
            <a:off x="6960765" y="1241870"/>
            <a:ext cx="5181600" cy="5139418"/>
          </a:xfrm>
        </p:spPr>
        <p:txBody>
          <a:bodyPr/>
          <a:lstStyle/>
          <a:p>
            <a:r>
              <a:rPr lang="en-US" altLang="zh-CN" dirty="0"/>
              <a:t>OLE DB</a:t>
            </a:r>
          </a:p>
          <a:p>
            <a:r>
              <a:rPr lang="en-US" altLang="zh-CN" dirty="0"/>
              <a:t>JDBC</a:t>
            </a:r>
            <a:r>
              <a:rPr lang="zh-CN" altLang="en-US" dirty="0"/>
              <a:t>（</a:t>
            </a:r>
            <a:r>
              <a:rPr lang="en-US" altLang="zh-CN" dirty="0"/>
              <a:t>JAVA</a:t>
            </a:r>
            <a:r>
              <a:rPr lang="zh-CN" altLang="en-US" dirty="0"/>
              <a:t>数据库连接技术）</a:t>
            </a:r>
            <a:endParaRPr lang="en-US" altLang="zh-CN" dirty="0"/>
          </a:p>
          <a:p>
            <a:endParaRPr lang="zh-CN" altLang="en-US" dirty="0"/>
          </a:p>
        </p:txBody>
      </p:sp>
      <p:sp>
        <p:nvSpPr>
          <p:cNvPr id="4" name="灯片编号占位符 3">
            <a:extLst>
              <a:ext uri="{FF2B5EF4-FFF2-40B4-BE49-F238E27FC236}">
                <a16:creationId xmlns:a16="http://schemas.microsoft.com/office/drawing/2014/main" id="{C6A324B4-156E-465D-BB8F-40331E0FCB77}"/>
              </a:ext>
            </a:extLst>
          </p:cNvPr>
          <p:cNvSpPr>
            <a:spLocks noGrp="1"/>
          </p:cNvSpPr>
          <p:nvPr>
            <p:ph type="sldNum" sz="quarter" idx="12"/>
          </p:nvPr>
        </p:nvSpPr>
        <p:spPr/>
        <p:txBody>
          <a:bodyPr/>
          <a:lstStyle/>
          <a:p>
            <a:fld id="{47C9E101-E51D-431E-84FA-C029B8655B60}" type="slidenum">
              <a:rPr lang="zh-CN" altLang="en-US" smtClean="0"/>
              <a:pPr/>
              <a:t>41</a:t>
            </a:fld>
            <a:endParaRPr lang="zh-CN" altLang="en-US" dirty="0"/>
          </a:p>
        </p:txBody>
      </p:sp>
      <p:sp>
        <p:nvSpPr>
          <p:cNvPr id="2" name="标题 1">
            <a:extLst>
              <a:ext uri="{FF2B5EF4-FFF2-40B4-BE49-F238E27FC236}">
                <a16:creationId xmlns:a16="http://schemas.microsoft.com/office/drawing/2014/main" id="{23632BE2-EDB1-4022-9D14-6C4369BBF33E}"/>
              </a:ext>
            </a:extLst>
          </p:cNvPr>
          <p:cNvSpPr>
            <a:spLocks noGrp="1"/>
          </p:cNvSpPr>
          <p:nvPr>
            <p:ph type="title"/>
          </p:nvPr>
        </p:nvSpPr>
        <p:spPr/>
        <p:txBody>
          <a:bodyPr/>
          <a:lstStyle/>
          <a:p>
            <a:r>
              <a:rPr lang="en-US" altLang="zh-CN" dirty="0"/>
              <a:t>8.4.4 ODBC</a:t>
            </a:r>
            <a:r>
              <a:rPr lang="zh-CN" altLang="en-US" dirty="0"/>
              <a:t>的工作流程</a:t>
            </a:r>
          </a:p>
        </p:txBody>
      </p:sp>
      <p:pic>
        <p:nvPicPr>
          <p:cNvPr id="5" name="图片 4">
            <a:extLst>
              <a:ext uri="{FF2B5EF4-FFF2-40B4-BE49-F238E27FC236}">
                <a16:creationId xmlns:a16="http://schemas.microsoft.com/office/drawing/2014/main" id="{693A0AF3-4A72-4938-BC26-071BCE3390F8}"/>
              </a:ext>
            </a:extLst>
          </p:cNvPr>
          <p:cNvPicPr>
            <a:picLocks noChangeAspect="1"/>
          </p:cNvPicPr>
          <p:nvPr/>
        </p:nvPicPr>
        <p:blipFill>
          <a:blip r:embed="rId2"/>
          <a:stretch>
            <a:fillRect/>
          </a:stretch>
        </p:blipFill>
        <p:spPr>
          <a:xfrm>
            <a:off x="4099003" y="828375"/>
            <a:ext cx="2307278" cy="5603847"/>
          </a:xfrm>
          <a:prstGeom prst="rect">
            <a:avLst/>
          </a:prstGeom>
        </p:spPr>
      </p:pic>
      <p:sp>
        <p:nvSpPr>
          <p:cNvPr id="7" name="矩形 6">
            <a:extLst>
              <a:ext uri="{FF2B5EF4-FFF2-40B4-BE49-F238E27FC236}">
                <a16:creationId xmlns:a16="http://schemas.microsoft.com/office/drawing/2014/main" id="{CE88B466-7FE8-49E8-A299-E826F8C11724}"/>
              </a:ext>
            </a:extLst>
          </p:cNvPr>
          <p:cNvSpPr/>
          <p:nvPr/>
        </p:nvSpPr>
        <p:spPr>
          <a:xfrm>
            <a:off x="7133062" y="2654433"/>
            <a:ext cx="3713903" cy="923330"/>
          </a:xfrm>
          <a:prstGeom prst="rect">
            <a:avLst/>
          </a:prstGeom>
          <a:solidFill>
            <a:schemeClr val="accent1">
              <a:lumMod val="60000"/>
              <a:lumOff val="40000"/>
            </a:schemeClr>
          </a:solidFill>
        </p:spPr>
        <p:txBody>
          <a:bodyPr wrap="square">
            <a:spAutoFit/>
          </a:bodyPr>
          <a:lstStyle/>
          <a:p>
            <a:r>
              <a:rPr lang="zh-CN" altLang="en-US" dirty="0"/>
              <a:t>利用</a:t>
            </a:r>
            <a:r>
              <a:rPr lang="en-US" altLang="zh-CN" dirty="0"/>
              <a:t>JDBC</a:t>
            </a:r>
            <a:r>
              <a:rPr lang="zh-CN" altLang="en-US" dirty="0"/>
              <a:t>连接</a:t>
            </a:r>
            <a:r>
              <a:rPr lang="en-US" altLang="zh-CN" dirty="0" err="1"/>
              <a:t>openGauss</a:t>
            </a:r>
            <a:endParaRPr lang="en-US" altLang="zh-CN" dirty="0"/>
          </a:p>
          <a:p>
            <a:r>
              <a:rPr lang="en-US" altLang="zh-CN" dirty="0"/>
              <a:t>https://blog.csdn.net/qq_45955628/article/details/118513760</a:t>
            </a:r>
            <a:endParaRPr lang="zh-CN" altLang="en-US" dirty="0"/>
          </a:p>
        </p:txBody>
      </p:sp>
      <p:sp>
        <p:nvSpPr>
          <p:cNvPr id="8" name="内容占位符 2">
            <a:extLst>
              <a:ext uri="{FF2B5EF4-FFF2-40B4-BE49-F238E27FC236}">
                <a16:creationId xmlns:a16="http://schemas.microsoft.com/office/drawing/2014/main" id="{6FE3EC50-E1CD-4071-8FF8-341BD1A37059}"/>
              </a:ext>
            </a:extLst>
          </p:cNvPr>
          <p:cNvSpPr txBox="1">
            <a:spLocks/>
          </p:cNvSpPr>
          <p:nvPr/>
        </p:nvSpPr>
        <p:spPr>
          <a:xfrm>
            <a:off x="7471095" y="1580516"/>
            <a:ext cx="4227352" cy="1179464"/>
          </a:xfrm>
          <a:prstGeom prst="rect">
            <a:avLst/>
          </a:prstGeom>
        </p:spPr>
        <p:txBody>
          <a:bodyPr vert="horz" lIns="91440" tIns="45720" rIns="91440" bIns="45720" rtlCol="0">
            <a:normAutofit/>
          </a:bodyPr>
          <a:lstStyle>
            <a:lvl1pPr marL="171450" indent="-171450" algn="l" defTabSz="685800" rtl="0" eaLnBrk="1" latinLnBrk="0" hangingPunct="1">
              <a:lnSpc>
                <a:spcPct val="100000"/>
              </a:lnSpc>
              <a:spcBef>
                <a:spcPts val="450"/>
              </a:spcBef>
              <a:spcAft>
                <a:spcPts val="45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100000"/>
              </a:lnSpc>
              <a:spcBef>
                <a:spcPts val="450"/>
              </a:spcBef>
              <a:spcAft>
                <a:spcPts val="450"/>
              </a:spcAft>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100000"/>
              </a:lnSpc>
              <a:spcBef>
                <a:spcPts val="450"/>
              </a:spcBef>
              <a:spcAft>
                <a:spcPts val="45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100000"/>
              </a:lnSpc>
              <a:spcBef>
                <a:spcPts val="450"/>
              </a:spcBef>
              <a:spcAft>
                <a:spcPts val="450"/>
              </a:spcAft>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100000"/>
              </a:lnSpc>
              <a:spcBef>
                <a:spcPts val="450"/>
              </a:spcBef>
              <a:spcAft>
                <a:spcPts val="450"/>
              </a:spcAft>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endParaRPr lang="en-US" altLang="zh-CN" dirty="0"/>
          </a:p>
        </p:txBody>
      </p:sp>
    </p:spTree>
    <p:extLst>
      <p:ext uri="{BB962C8B-B14F-4D97-AF65-F5344CB8AC3E}">
        <p14:creationId xmlns:p14="http://schemas.microsoft.com/office/powerpoint/2010/main" val="224223570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830685-EC64-4E10-AE5D-BF5D44717079}"/>
              </a:ext>
            </a:extLst>
          </p:cNvPr>
          <p:cNvSpPr>
            <a:spLocks noGrp="1"/>
          </p:cNvSpPr>
          <p:nvPr>
            <p:ph type="title"/>
          </p:nvPr>
        </p:nvSpPr>
        <p:spPr/>
        <p:txBody>
          <a:bodyPr/>
          <a:lstStyle/>
          <a:p>
            <a:r>
              <a:rPr lang="en-US" altLang="zh-CN" dirty="0"/>
              <a:t>8.7 </a:t>
            </a:r>
            <a:r>
              <a:rPr lang="zh-CN" altLang="en-US" dirty="0"/>
              <a:t>小结</a:t>
            </a:r>
          </a:p>
        </p:txBody>
      </p:sp>
      <p:sp>
        <p:nvSpPr>
          <p:cNvPr id="3" name="内容占位符 2">
            <a:extLst>
              <a:ext uri="{FF2B5EF4-FFF2-40B4-BE49-F238E27FC236}">
                <a16:creationId xmlns:a16="http://schemas.microsoft.com/office/drawing/2014/main" id="{0286BB7A-891F-4988-A7A6-60A00B5ABFCD}"/>
              </a:ext>
            </a:extLst>
          </p:cNvPr>
          <p:cNvSpPr>
            <a:spLocks noGrp="1"/>
          </p:cNvSpPr>
          <p:nvPr>
            <p:ph idx="1"/>
          </p:nvPr>
        </p:nvSpPr>
        <p:spPr/>
        <p:txBody>
          <a:bodyPr/>
          <a:lstStyle/>
          <a:p>
            <a:r>
              <a:rPr lang="zh-CN" altLang="en-US" dirty="0"/>
              <a:t>交互式</a:t>
            </a:r>
            <a:r>
              <a:rPr lang="en-US" altLang="zh-CN" dirty="0"/>
              <a:t>SQL</a:t>
            </a:r>
            <a:r>
              <a:rPr lang="zh-CN" altLang="en-US" dirty="0"/>
              <a:t>与嵌入式</a:t>
            </a:r>
            <a:r>
              <a:rPr lang="en-US" altLang="zh-CN" dirty="0"/>
              <a:t>SQL</a:t>
            </a:r>
          </a:p>
          <a:p>
            <a:r>
              <a:rPr lang="zh-CN" altLang="en-US" dirty="0"/>
              <a:t>宿主语言的使用</a:t>
            </a:r>
          </a:p>
          <a:p>
            <a:r>
              <a:rPr lang="zh-CN" altLang="en-US" dirty="0"/>
              <a:t>存储过程的含义</a:t>
            </a:r>
          </a:p>
          <a:p>
            <a:r>
              <a:rPr lang="zh-CN" altLang="en-US" dirty="0"/>
              <a:t>数据库连接技术</a:t>
            </a:r>
          </a:p>
        </p:txBody>
      </p:sp>
      <p:sp>
        <p:nvSpPr>
          <p:cNvPr id="4" name="灯片编号占位符 3">
            <a:extLst>
              <a:ext uri="{FF2B5EF4-FFF2-40B4-BE49-F238E27FC236}">
                <a16:creationId xmlns:a16="http://schemas.microsoft.com/office/drawing/2014/main" id="{64B93C6A-4C14-40E3-A5A6-ADE59739267A}"/>
              </a:ext>
            </a:extLst>
          </p:cNvPr>
          <p:cNvSpPr>
            <a:spLocks noGrp="1"/>
          </p:cNvSpPr>
          <p:nvPr>
            <p:ph type="sldNum" sz="quarter" idx="12"/>
          </p:nvPr>
        </p:nvSpPr>
        <p:spPr/>
        <p:txBody>
          <a:bodyPr/>
          <a:lstStyle/>
          <a:p>
            <a:fld id="{47C9E101-E51D-431E-84FA-C029B8655B60}" type="slidenum">
              <a:rPr lang="zh-CN" altLang="en-US" smtClean="0"/>
              <a:pPr/>
              <a:t>42</a:t>
            </a:fld>
            <a:endParaRPr lang="zh-CN" altLang="en-US" dirty="0"/>
          </a:p>
        </p:txBody>
      </p:sp>
    </p:spTree>
    <p:extLst>
      <p:ext uri="{BB962C8B-B14F-4D97-AF65-F5344CB8AC3E}">
        <p14:creationId xmlns:p14="http://schemas.microsoft.com/office/powerpoint/2010/main" val="1064072704"/>
      </p:ext>
    </p:extLst>
  </p:cSld>
  <p:clrMapOvr>
    <a:masterClrMapping/>
  </p:clrMapOvr>
</p:sld>
</file>

<file path=ppt/theme/theme1.xml><?xml version="1.0" encoding="utf-8"?>
<a:theme xmlns:a="http://schemas.openxmlformats.org/drawingml/2006/main" name="Office 主题">
  <a:themeElements>
    <a:clrScheme name="自定义 4">
      <a:dk1>
        <a:sysClr val="windowText" lastClr="000000"/>
      </a:dk1>
      <a:lt1>
        <a:sysClr val="window" lastClr="FFFFFF"/>
      </a:lt1>
      <a:dk2>
        <a:srgbClr val="44546A"/>
      </a:dk2>
      <a:lt2>
        <a:srgbClr val="E7E6E6"/>
      </a:lt2>
      <a:accent1>
        <a:srgbClr val="0070C0"/>
      </a:accent1>
      <a:accent2>
        <a:srgbClr val="07C1CC"/>
      </a:accent2>
      <a:accent3>
        <a:srgbClr val="839192"/>
      </a:accent3>
      <a:accent4>
        <a:srgbClr val="156595"/>
      </a:accent4>
      <a:accent5>
        <a:srgbClr val="FBD78D"/>
      </a:accent5>
      <a:accent6>
        <a:srgbClr val="F25237"/>
      </a:accent6>
      <a:hlink>
        <a:srgbClr val="0563C1"/>
      </a:hlink>
      <a:folHlink>
        <a:srgbClr val="954F72"/>
      </a:folHlink>
    </a:clrScheme>
    <a:fontScheme name="自定义 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B.potx" id="{71FE36DE-E8EE-4572-B7AD-2FD59B46D774}" vid="{27F9D4F0-F007-4654-8CDF-2D6BB615FE1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Template>
  <TotalTime>1675</TotalTime>
  <Words>3439</Words>
  <Application>Microsoft Office PowerPoint</Application>
  <PresentationFormat>宽屏</PresentationFormat>
  <Paragraphs>439</Paragraphs>
  <Slides>42</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42</vt:i4>
      </vt:variant>
    </vt:vector>
  </HeadingPairs>
  <TitlesOfParts>
    <vt:vector size="47" baseType="lpstr">
      <vt:lpstr>-apple-system</vt:lpstr>
      <vt:lpstr>等线</vt:lpstr>
      <vt:lpstr>微软雅黑</vt:lpstr>
      <vt:lpstr>Arial</vt:lpstr>
      <vt:lpstr>Office 主题</vt:lpstr>
      <vt:lpstr>第八章 数据库编程</vt:lpstr>
      <vt:lpstr>第八章 数据库编程</vt:lpstr>
      <vt:lpstr>数据库原理、应用与设计之间的联系</vt:lpstr>
      <vt:lpstr>8.1 嵌入式SQL</vt:lpstr>
      <vt:lpstr>8.1.1 嵌入式SQL的处理过程</vt:lpstr>
      <vt:lpstr>8.1.2 嵌入式SQL语句与主语言之间的通信</vt:lpstr>
      <vt:lpstr>1、SQL通信区</vt:lpstr>
      <vt:lpstr>2、主变量 </vt:lpstr>
      <vt:lpstr>主变量（续） </vt:lpstr>
      <vt:lpstr>3、游标（cursor）</vt:lpstr>
      <vt:lpstr>4、建立和关闭数据库连接</vt:lpstr>
      <vt:lpstr>8.2 过程化SQL</vt:lpstr>
      <vt:lpstr>8.2.1 过程化SQL的块结构</vt:lpstr>
      <vt:lpstr>8.2.2 变量和常量的定义</vt:lpstr>
      <vt:lpstr>8.2.3 流程控制</vt:lpstr>
      <vt:lpstr>流程控制（续）</vt:lpstr>
      <vt:lpstr>流程控制（续）</vt:lpstr>
      <vt:lpstr>流程控制（续）</vt:lpstr>
      <vt:lpstr>流程控制（续）</vt:lpstr>
      <vt:lpstr>流程控制（续）</vt:lpstr>
      <vt:lpstr>8.3 存储过程和函数</vt:lpstr>
      <vt:lpstr>8.3.1 存储过程</vt:lpstr>
      <vt:lpstr>存储过程（续）</vt:lpstr>
      <vt:lpstr>2. 存储过程的用户接口</vt:lpstr>
      <vt:lpstr>存储过程的用户接口（续）</vt:lpstr>
      <vt:lpstr>存储过程的用户接口（续）</vt:lpstr>
      <vt:lpstr>存储过程的用户接口（续）</vt:lpstr>
      <vt:lpstr>存储过程的用户接口（续）</vt:lpstr>
      <vt:lpstr>openGauss数据库存储过程</vt:lpstr>
      <vt:lpstr>openGauss数据库存储过程</vt:lpstr>
      <vt:lpstr>8.3.2 函数</vt:lpstr>
      <vt:lpstr>函数（续）</vt:lpstr>
      <vt:lpstr>8.4 ODBC编程</vt:lpstr>
      <vt:lpstr>8.4.1 ODBC概述</vt:lpstr>
      <vt:lpstr>8.4.2 ODBC工作原理概述</vt:lpstr>
      <vt:lpstr>1. 用户应用程序</vt:lpstr>
      <vt:lpstr>2. ODBC驱动程序管理器</vt:lpstr>
      <vt:lpstr>3. 数据库驱动程序</vt:lpstr>
      <vt:lpstr>4. ODBC数据源管理</vt:lpstr>
      <vt:lpstr>8.4.3 ODBC API 基础</vt:lpstr>
      <vt:lpstr>8.4.4 ODBC的工作流程</vt:lpstr>
      <vt:lpstr>8.7 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数据库原理及应用</dc:title>
  <dc:creator>Miao</dc:creator>
  <cp:lastModifiedBy>HENUCS-MR</cp:lastModifiedBy>
  <cp:revision>155</cp:revision>
  <cp:lastPrinted>2021-09-06T10:51:44Z</cp:lastPrinted>
  <dcterms:created xsi:type="dcterms:W3CDTF">2021-08-17T08:04:31Z</dcterms:created>
  <dcterms:modified xsi:type="dcterms:W3CDTF">2023-12-06T11:18:21Z</dcterms:modified>
</cp:coreProperties>
</file>